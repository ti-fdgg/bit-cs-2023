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80"/>
  </p:notesMasterIdLst>
  <p:handoutMasterIdLst>
    <p:handoutMasterId r:id="rId81"/>
  </p:handoutMasterIdLst>
  <p:sldIdLst>
    <p:sldId id="654" r:id="rId2"/>
    <p:sldId id="559" r:id="rId3"/>
    <p:sldId id="655" r:id="rId4"/>
    <p:sldId id="571" r:id="rId5"/>
    <p:sldId id="574" r:id="rId6"/>
    <p:sldId id="689" r:id="rId7"/>
    <p:sldId id="657" r:id="rId8"/>
    <p:sldId id="576" r:id="rId9"/>
    <p:sldId id="578" r:id="rId10"/>
    <p:sldId id="579" r:id="rId11"/>
    <p:sldId id="658" r:id="rId12"/>
    <p:sldId id="581" r:id="rId13"/>
    <p:sldId id="583" r:id="rId14"/>
    <p:sldId id="659" r:id="rId15"/>
    <p:sldId id="660" r:id="rId16"/>
    <p:sldId id="588" r:id="rId17"/>
    <p:sldId id="676" r:id="rId18"/>
    <p:sldId id="589" r:id="rId19"/>
    <p:sldId id="590" r:id="rId20"/>
    <p:sldId id="591" r:id="rId21"/>
    <p:sldId id="600" r:id="rId22"/>
    <p:sldId id="602" r:id="rId23"/>
    <p:sldId id="603" r:id="rId24"/>
    <p:sldId id="592" r:id="rId25"/>
    <p:sldId id="688" r:id="rId26"/>
    <p:sldId id="693" r:id="rId27"/>
    <p:sldId id="694" r:id="rId28"/>
    <p:sldId id="663" r:id="rId29"/>
    <p:sldId id="598" r:id="rId30"/>
    <p:sldId id="691" r:id="rId31"/>
    <p:sldId id="604" r:id="rId32"/>
    <p:sldId id="692" r:id="rId33"/>
    <p:sldId id="605" r:id="rId34"/>
    <p:sldId id="661" r:id="rId35"/>
    <p:sldId id="610" r:id="rId36"/>
    <p:sldId id="611" r:id="rId37"/>
    <p:sldId id="662" r:id="rId38"/>
    <p:sldId id="613" r:id="rId39"/>
    <p:sldId id="614" r:id="rId40"/>
    <p:sldId id="664" r:id="rId41"/>
    <p:sldId id="665" r:id="rId42"/>
    <p:sldId id="666" r:id="rId43"/>
    <p:sldId id="620" r:id="rId44"/>
    <p:sldId id="621" r:id="rId45"/>
    <p:sldId id="622" r:id="rId46"/>
    <p:sldId id="679" r:id="rId47"/>
    <p:sldId id="667" r:id="rId48"/>
    <p:sldId id="625" r:id="rId49"/>
    <p:sldId id="626" r:id="rId50"/>
    <p:sldId id="627" r:id="rId51"/>
    <p:sldId id="629" r:id="rId52"/>
    <p:sldId id="630" r:id="rId53"/>
    <p:sldId id="631" r:id="rId54"/>
    <p:sldId id="634" r:id="rId55"/>
    <p:sldId id="637" r:id="rId56"/>
    <p:sldId id="638" r:id="rId57"/>
    <p:sldId id="698" r:id="rId58"/>
    <p:sldId id="686" r:id="rId59"/>
    <p:sldId id="687" r:id="rId60"/>
    <p:sldId id="685" r:id="rId61"/>
    <p:sldId id="684" r:id="rId62"/>
    <p:sldId id="639" r:id="rId63"/>
    <p:sldId id="640" r:id="rId64"/>
    <p:sldId id="680" r:id="rId65"/>
    <p:sldId id="668" r:id="rId66"/>
    <p:sldId id="642" r:id="rId67"/>
    <p:sldId id="643" r:id="rId68"/>
    <p:sldId id="644" r:id="rId69"/>
    <p:sldId id="645" r:id="rId70"/>
    <p:sldId id="669" r:id="rId71"/>
    <p:sldId id="670" r:id="rId72"/>
    <p:sldId id="647" r:id="rId73"/>
    <p:sldId id="648" r:id="rId74"/>
    <p:sldId id="649" r:id="rId75"/>
    <p:sldId id="697" r:id="rId76"/>
    <p:sldId id="650" r:id="rId77"/>
    <p:sldId id="671" r:id="rId78"/>
    <p:sldId id="652" r:id="rId79"/>
  </p:sldIdLst>
  <p:sldSz cx="9906000" cy="6858000" type="A4"/>
  <p:notesSz cx="9923463" cy="6856413"/>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1pPr>
    <a:lvl2pPr marL="4572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2pPr>
    <a:lvl3pPr marL="9144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3pPr>
    <a:lvl4pPr marL="13716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4pPr>
    <a:lvl5pPr marL="1828800" algn="ctr" rtl="0" eaLnBrk="0" fontAlgn="base" hangingPunct="0">
      <a:spcBef>
        <a:spcPct val="0"/>
      </a:spcBef>
      <a:spcAft>
        <a:spcPct val="0"/>
      </a:spcAft>
      <a:defRPr sz="2000" b="1" i="1" kern="1200">
        <a:solidFill>
          <a:schemeClr val="tx1"/>
        </a:solidFill>
        <a:latin typeface="Arial" pitchFamily="34" charset="0"/>
        <a:ea typeface="宋体" pitchFamily="2" charset="-122"/>
        <a:cs typeface="+mn-cs"/>
      </a:defRPr>
    </a:lvl5pPr>
    <a:lvl6pPr marL="2286000" algn="l" defTabSz="914400" rtl="0" eaLnBrk="1" latinLnBrk="0" hangingPunct="1">
      <a:defRPr sz="2000" b="1" i="1" kern="1200">
        <a:solidFill>
          <a:schemeClr val="tx1"/>
        </a:solidFill>
        <a:latin typeface="Arial" pitchFamily="34" charset="0"/>
        <a:ea typeface="宋体" pitchFamily="2" charset="-122"/>
        <a:cs typeface="+mn-cs"/>
      </a:defRPr>
    </a:lvl6pPr>
    <a:lvl7pPr marL="2743200" algn="l" defTabSz="914400" rtl="0" eaLnBrk="1" latinLnBrk="0" hangingPunct="1">
      <a:defRPr sz="2000" b="1" i="1" kern="1200">
        <a:solidFill>
          <a:schemeClr val="tx1"/>
        </a:solidFill>
        <a:latin typeface="Arial" pitchFamily="34" charset="0"/>
        <a:ea typeface="宋体" pitchFamily="2" charset="-122"/>
        <a:cs typeface="+mn-cs"/>
      </a:defRPr>
    </a:lvl7pPr>
    <a:lvl8pPr marL="3200400" algn="l" defTabSz="914400" rtl="0" eaLnBrk="1" latinLnBrk="0" hangingPunct="1">
      <a:defRPr sz="2000" b="1" i="1" kern="1200">
        <a:solidFill>
          <a:schemeClr val="tx1"/>
        </a:solidFill>
        <a:latin typeface="Arial" pitchFamily="34" charset="0"/>
        <a:ea typeface="宋体" pitchFamily="2" charset="-122"/>
        <a:cs typeface="+mn-cs"/>
      </a:defRPr>
    </a:lvl8pPr>
    <a:lvl9pPr marL="3657600" algn="l" defTabSz="914400" rtl="0" eaLnBrk="1" latinLnBrk="0" hangingPunct="1">
      <a:defRPr sz="2000" b="1" i="1"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160">
          <p15:clr>
            <a:srgbClr val="A4A3A4"/>
          </p15:clr>
        </p15:guide>
        <p15:guide id="2" pos="31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C376C"/>
    <a:srgbClr val="CDD2ED"/>
    <a:srgbClr val="D3D8EF"/>
    <a:srgbClr val="B5BEE3"/>
    <a:srgbClr val="969696"/>
    <a:srgbClr val="00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34587" autoAdjust="0"/>
    <p:restoredTop sz="86441" autoAdjust="0"/>
  </p:normalViewPr>
  <p:slideViewPr>
    <p:cSldViewPr>
      <p:cViewPr>
        <p:scale>
          <a:sx n="50" d="100"/>
          <a:sy n="50" d="100"/>
        </p:scale>
        <p:origin x="1397" y="63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8326"/>
    </p:cViewPr>
  </p:sorterViewPr>
  <p:notesViewPr>
    <p:cSldViewPr>
      <p:cViewPr varScale="1">
        <p:scale>
          <a:sx n="90" d="100"/>
          <a:sy n="90" d="100"/>
        </p:scale>
        <p:origin x="1747" y="53"/>
      </p:cViewPr>
      <p:guideLst>
        <p:guide orient="horz" pos="2160"/>
        <p:guide pos="312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5" Type="http://schemas.openxmlformats.org/officeDocument/2006/relationships/image" Target="../media/image11.wmf"/><Relationship Id="rId4"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emf"/><Relationship Id="rId4" Type="http://schemas.openxmlformats.org/officeDocument/2006/relationships/image" Target="../media/image26.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image" Target="../media/image5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image" Target="../media/image54.emf"/><Relationship Id="rId6" Type="http://schemas.openxmlformats.org/officeDocument/2006/relationships/image" Target="../media/image59.emf"/><Relationship Id="rId5" Type="http://schemas.openxmlformats.org/officeDocument/2006/relationships/image" Target="../media/image58.emf"/><Relationship Id="rId4" Type="http://schemas.openxmlformats.org/officeDocument/2006/relationships/image" Target="../media/image57.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emf"/><Relationship Id="rId4" Type="http://schemas.openxmlformats.org/officeDocument/2006/relationships/image" Target="../media/image63.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image" Target="../media/image64.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image" Target="../media/image74.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image" Target="../media/image78.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4" Type="http://schemas.openxmlformats.org/officeDocument/2006/relationships/image" Target="../media/image8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 Id="rId6" Type="http://schemas.openxmlformats.org/officeDocument/2006/relationships/image" Target="../media/image89.emf"/><Relationship Id="rId5" Type="http://schemas.openxmlformats.org/officeDocument/2006/relationships/image" Target="../media/image88.emf"/><Relationship Id="rId4" Type="http://schemas.openxmlformats.org/officeDocument/2006/relationships/image" Target="../media/image8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4386" name="Rectangle 3"/>
          <p:cNvSpPr>
            <a:spLocks noChangeArrowheads="1"/>
          </p:cNvSpPr>
          <p:nvPr/>
        </p:nvSpPr>
        <p:spPr bwMode="auto">
          <a:xfrm>
            <a:off x="5272088" y="6429375"/>
            <a:ext cx="43005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pPr algn="r"/>
            <a:fld id="{8C21E105-8BAB-4D5D-A1AF-58A03111F370}" type="slidenum">
              <a:rPr lang="zh-CN" altLang="en-US" sz="1200" b="0" i="0"/>
              <a:pPr algn="r"/>
              <a:t>‹#›</a:t>
            </a:fld>
            <a:endParaRPr lang="en-US" altLang="zh-CN" sz="1200" b="0" i="0"/>
          </a:p>
        </p:txBody>
      </p:sp>
    </p:spTree>
    <p:extLst>
      <p:ext uri="{BB962C8B-B14F-4D97-AF65-F5344CB8AC3E}">
        <p14:creationId xmlns:p14="http://schemas.microsoft.com/office/powerpoint/2010/main" val="3467145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1028"/>
          <p:cNvSpPr>
            <a:spLocks noGrp="1" noRot="1" noChangeAspect="1" noChangeArrowheads="1" noTextEdit="1"/>
          </p:cNvSpPr>
          <p:nvPr>
            <p:ph type="sldImg" idx="2"/>
          </p:nvPr>
        </p:nvSpPr>
        <p:spPr bwMode="auto">
          <a:xfrm>
            <a:off x="1228725" y="533400"/>
            <a:ext cx="3714750" cy="25717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108549" name="Rectangle 1029"/>
          <p:cNvSpPr>
            <a:spLocks noGrp="1" noChangeArrowheads="1"/>
          </p:cNvSpPr>
          <p:nvPr>
            <p:ph type="body" sz="quarter" idx="3"/>
          </p:nvPr>
        </p:nvSpPr>
        <p:spPr bwMode="auto">
          <a:xfrm>
            <a:off x="5056188" y="533400"/>
            <a:ext cx="3859212" cy="2514600"/>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108550" name="Rectangle 1030"/>
          <p:cNvSpPr>
            <a:spLocks noGrp="1" noChangeArrowheads="1"/>
          </p:cNvSpPr>
          <p:nvPr>
            <p:ph type="ftr" sz="quarter" idx="4"/>
          </p:nvPr>
        </p:nvSpPr>
        <p:spPr bwMode="auto">
          <a:xfrm>
            <a:off x="0" y="6513513"/>
            <a:ext cx="4300538" cy="342900"/>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gn="l">
              <a:defRPr sz="1200" i="0"/>
            </a:lvl1pPr>
          </a:lstStyle>
          <a:p>
            <a:pPr>
              <a:defRPr/>
            </a:pPr>
            <a:r>
              <a:rPr lang="zh-CN" altLang="en-US"/>
              <a:t>Confidential, for review only</a:t>
            </a:r>
            <a:endParaRPr lang="en-US" altLang="en-US"/>
          </a:p>
        </p:txBody>
      </p:sp>
      <p:sp>
        <p:nvSpPr>
          <p:cNvPr id="108551" name="Rectangle 1031"/>
          <p:cNvSpPr>
            <a:spLocks noGrp="1" noChangeArrowheads="1"/>
          </p:cNvSpPr>
          <p:nvPr>
            <p:ph type="sldNum" sz="quarter" idx="5"/>
          </p:nvPr>
        </p:nvSpPr>
        <p:spPr bwMode="auto">
          <a:xfrm>
            <a:off x="5622925" y="6513513"/>
            <a:ext cx="4300538" cy="342900"/>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gn="r">
              <a:defRPr sz="1200" i="0"/>
            </a:lvl1pPr>
          </a:lstStyle>
          <a:p>
            <a:pPr>
              <a:defRPr/>
            </a:pPr>
            <a:fld id="{B10F5EAB-3E30-47D7-B420-AB3149573639}" type="slidenum">
              <a:rPr lang="zh-CN" altLang="en-US"/>
              <a:pPr>
                <a:defRPr/>
              </a:pPr>
              <a:t>‹#›</a:t>
            </a:fld>
            <a:endParaRPr lang="en-US" altLang="zh-CN"/>
          </a:p>
        </p:txBody>
      </p:sp>
    </p:spTree>
    <p:extLst>
      <p:ext uri="{BB962C8B-B14F-4D97-AF65-F5344CB8AC3E}">
        <p14:creationId xmlns:p14="http://schemas.microsoft.com/office/powerpoint/2010/main" val="2707548630"/>
      </p:ext>
    </p:extLst>
  </p:cSld>
  <p:clrMap bg1="lt1" tx1="dk1" bg2="lt2" tx2="dk2" accent1="accent1" accent2="accent2" accent3="accent3" accent4="accent4" accent5="accent5" accent6="accent6" hlink="hlink" folHlink="folHlink"/>
  <p:hf hdr="0" dt="0"/>
  <p:notesStyle>
    <a:lvl1pPr marL="222250" indent="-2222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1pPr>
    <a:lvl2pPr marL="520700" indent="-1841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2pPr>
    <a:lvl3pPr marL="9144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3pPr>
    <a:lvl4pPr marL="13716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4pPr>
    <a:lvl5pPr marL="18288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7782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FBC314-9321-4B5F-A387-C48116128545}" type="slidenum">
              <a:rPr lang="zh-CN" altLang="en-US" sz="1200" i="0" smtClean="0"/>
              <a:pPr/>
              <a:t>1</a:t>
            </a:fld>
            <a:endParaRPr lang="en-US" altLang="zh-CN" sz="1200" i="0" smtClean="0"/>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651888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7885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BCD5353-E800-426E-B937-B9398683645C}" type="slidenum">
              <a:rPr lang="zh-CN" altLang="en-US" sz="1200" i="0" smtClean="0"/>
              <a:pPr/>
              <a:t>2</a:t>
            </a:fld>
            <a:endParaRPr lang="en-US" altLang="zh-CN" sz="1200" i="0" smtClean="0"/>
          </a:p>
        </p:txBody>
      </p:sp>
      <p:sp>
        <p:nvSpPr>
          <p:cNvPr id="7885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7885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198601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7987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31AD9A0-3602-4FB3-B3B8-CCCF5BEB70EC}" type="slidenum">
              <a:rPr lang="zh-CN" altLang="en-US" sz="1200" i="0" smtClean="0"/>
              <a:pPr/>
              <a:t>3</a:t>
            </a:fld>
            <a:endParaRPr lang="en-US" altLang="zh-CN" sz="1200" i="0" smtClean="0"/>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758070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089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DE8E8C3-1C95-482C-8C23-61ECF9358B9B}" type="slidenum">
              <a:rPr lang="zh-CN" altLang="en-US" sz="1200" i="0" smtClean="0"/>
              <a:pPr/>
              <a:t>4</a:t>
            </a:fld>
            <a:endParaRPr lang="en-US" altLang="zh-CN" sz="1200" i="0" smtClean="0"/>
          </a:p>
        </p:txBody>
      </p:sp>
      <p:sp>
        <p:nvSpPr>
          <p:cNvPr id="8090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090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833352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192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388C034-C85D-466C-A3E3-B17390CCD06B}" type="slidenum">
              <a:rPr lang="zh-CN" altLang="en-US" sz="1200" i="0" smtClean="0"/>
              <a:pPr/>
              <a:t>5</a:t>
            </a:fld>
            <a:endParaRPr lang="en-US" altLang="zh-CN" sz="1200" i="0" smtClean="0"/>
          </a:p>
        </p:txBody>
      </p:sp>
      <p:sp>
        <p:nvSpPr>
          <p:cNvPr id="8192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192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684522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192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388C034-C85D-466C-A3E3-B17390CCD06B}" type="slidenum">
              <a:rPr lang="zh-CN" altLang="en-US" sz="1200" i="0" smtClean="0"/>
              <a:pPr/>
              <a:t>6</a:t>
            </a:fld>
            <a:endParaRPr lang="en-US" altLang="zh-CN" sz="1200" i="0" smtClean="0"/>
          </a:p>
        </p:txBody>
      </p:sp>
      <p:sp>
        <p:nvSpPr>
          <p:cNvPr id="8192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192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4138787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294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2FFDE86-8601-46F2-97C4-52D139A36707}" type="slidenum">
              <a:rPr lang="zh-CN" altLang="en-US" sz="1200" i="0" smtClean="0"/>
              <a:pPr/>
              <a:t>7</a:t>
            </a:fld>
            <a:endParaRPr lang="en-US" altLang="zh-CN" sz="1200" i="0" smtClean="0"/>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2247324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397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3F37DE8-B306-4B11-A817-061A7EC58A8A}" type="slidenum">
              <a:rPr lang="zh-CN" altLang="en-US" sz="1200" i="0" smtClean="0"/>
              <a:pPr/>
              <a:t>8</a:t>
            </a:fld>
            <a:endParaRPr lang="en-US" altLang="zh-CN" sz="1200" i="0" smtClean="0"/>
          </a:p>
        </p:txBody>
      </p:sp>
      <p:sp>
        <p:nvSpPr>
          <p:cNvPr id="8397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397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181421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499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41EF7E1-01AE-4FA2-BA64-218BC1B64C4C}" type="slidenum">
              <a:rPr lang="zh-CN" altLang="en-US" sz="1200" i="0" smtClean="0"/>
              <a:pPr/>
              <a:t>9</a:t>
            </a:fld>
            <a:endParaRPr lang="en-US" altLang="zh-CN" sz="1200" i="0" smtClean="0"/>
          </a:p>
        </p:txBody>
      </p:sp>
      <p:sp>
        <p:nvSpPr>
          <p:cNvPr id="8499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499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992316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601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409F61E-67C3-4E35-82AB-1512AF143D4B}" type="slidenum">
              <a:rPr lang="zh-CN" altLang="en-US" sz="1200" i="0" smtClean="0"/>
              <a:pPr/>
              <a:t>10</a:t>
            </a:fld>
            <a:endParaRPr lang="en-US" altLang="zh-CN" sz="1200" i="0" smtClean="0"/>
          </a:p>
        </p:txBody>
      </p:sp>
      <p:sp>
        <p:nvSpPr>
          <p:cNvPr id="8602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602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109722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704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16A615F-DE5D-4A9C-B12E-092D852FF427}" type="slidenum">
              <a:rPr lang="zh-CN" altLang="en-US" sz="1200" i="0" smtClean="0"/>
              <a:pPr/>
              <a:t>11</a:t>
            </a:fld>
            <a:endParaRPr lang="en-US" altLang="zh-CN" sz="1200" i="0" smtClean="0"/>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873074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806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9E1F727-0CDF-4388-82C8-7964B4443ACE}" type="slidenum">
              <a:rPr lang="zh-CN" altLang="en-US" sz="1200" i="0" smtClean="0"/>
              <a:pPr/>
              <a:t>12</a:t>
            </a:fld>
            <a:endParaRPr lang="en-US" altLang="zh-CN" sz="1200" i="0" smtClean="0"/>
          </a:p>
        </p:txBody>
      </p:sp>
      <p:sp>
        <p:nvSpPr>
          <p:cNvPr id="88068"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8069"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853083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8909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74C00EA-D068-4FE5-8C94-74900E2505AB}" type="slidenum">
              <a:rPr lang="zh-CN" altLang="en-US" sz="1200" i="0" smtClean="0"/>
              <a:pPr/>
              <a:t>13</a:t>
            </a:fld>
            <a:endParaRPr lang="en-US" altLang="zh-CN" sz="1200" i="0" smtClean="0"/>
          </a:p>
        </p:txBody>
      </p:sp>
      <p:sp>
        <p:nvSpPr>
          <p:cNvPr id="8909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909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083020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011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8EAEE5D-7D6A-4B42-9AA6-963617F73E31}" type="slidenum">
              <a:rPr lang="zh-CN" altLang="en-US" sz="1200" i="0" smtClean="0"/>
              <a:pPr/>
              <a:t>14</a:t>
            </a:fld>
            <a:endParaRPr lang="en-US" altLang="zh-CN" sz="1200" i="0" smtClean="0"/>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2742923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113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688CD27-A390-4B90-BA82-F94DCEEE65F5}" type="slidenum">
              <a:rPr lang="zh-CN" altLang="en-US" sz="1200" i="0" smtClean="0"/>
              <a:pPr/>
              <a:t>15</a:t>
            </a:fld>
            <a:endParaRPr lang="en-US" altLang="zh-CN" sz="1200" i="0" smtClean="0"/>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892992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216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E57C63A-B88C-405A-81F3-0B838276E0FC}" type="slidenum">
              <a:rPr lang="zh-CN" altLang="en-US" sz="1200" i="0" smtClean="0"/>
              <a:pPr/>
              <a:t>16</a:t>
            </a:fld>
            <a:endParaRPr lang="en-US" altLang="zh-CN" sz="1200" i="0" smtClean="0"/>
          </a:p>
        </p:txBody>
      </p:sp>
      <p:sp>
        <p:nvSpPr>
          <p:cNvPr id="92164" name="Rectangle 2"/>
          <p:cNvSpPr>
            <a:spLocks noGrp="1" noRot="1" noChangeAspect="1" noChangeArrowheads="1" noTextEdit="1"/>
          </p:cNvSpPr>
          <p:nvPr>
            <p:ph type="sldImg"/>
          </p:nvPr>
        </p:nvSpPr>
        <p:spPr>
          <a:ln/>
        </p:spPr>
      </p:sp>
      <p:sp>
        <p:nvSpPr>
          <p:cNvPr id="9216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323274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318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99F6543-175F-4286-8267-84EF385DD9C3}" type="slidenum">
              <a:rPr lang="zh-CN" altLang="en-US" sz="1200" i="0" smtClean="0"/>
              <a:pPr/>
              <a:t>17</a:t>
            </a:fld>
            <a:endParaRPr lang="en-US" altLang="zh-CN" sz="1200" i="0" smtClean="0"/>
          </a:p>
        </p:txBody>
      </p:sp>
      <p:sp>
        <p:nvSpPr>
          <p:cNvPr id="93188" name="Rectangle 2"/>
          <p:cNvSpPr>
            <a:spLocks noGrp="1" noRot="1" noChangeAspect="1" noChangeArrowheads="1" noTextEdit="1"/>
          </p:cNvSpPr>
          <p:nvPr>
            <p:ph type="sldImg"/>
          </p:nvPr>
        </p:nvSpPr>
        <p:spPr>
          <a:ln/>
        </p:spPr>
      </p:sp>
      <p:sp>
        <p:nvSpPr>
          <p:cNvPr id="9318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210509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421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6E664FC-82F0-4881-850A-C9A022787BF0}" type="slidenum">
              <a:rPr lang="zh-CN" altLang="en-US" sz="1200" i="0" smtClean="0"/>
              <a:pPr/>
              <a:t>18</a:t>
            </a:fld>
            <a:endParaRPr lang="en-US" altLang="zh-CN" sz="1200" i="0" smtClean="0"/>
          </a:p>
        </p:txBody>
      </p:sp>
      <p:sp>
        <p:nvSpPr>
          <p:cNvPr id="94212" name="Rectangle 2"/>
          <p:cNvSpPr>
            <a:spLocks noGrp="1" noRot="1" noChangeAspect="1" noChangeArrowheads="1" noTextEdit="1"/>
          </p:cNvSpPr>
          <p:nvPr>
            <p:ph type="sldImg"/>
          </p:nvPr>
        </p:nvSpPr>
        <p:spPr>
          <a:ln/>
        </p:spPr>
      </p:sp>
      <p:sp>
        <p:nvSpPr>
          <p:cNvPr id="9421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2571553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523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1FB91DD-19E5-4CBC-AF19-48442A00D841}" type="slidenum">
              <a:rPr lang="zh-CN" altLang="en-US" sz="1200" i="0" smtClean="0"/>
              <a:pPr/>
              <a:t>19</a:t>
            </a:fld>
            <a:endParaRPr lang="en-US" altLang="zh-CN" sz="1200" i="0" smtClean="0"/>
          </a:p>
        </p:txBody>
      </p:sp>
      <p:sp>
        <p:nvSpPr>
          <p:cNvPr id="9523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9523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906124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625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C6576CF-F1F0-42E3-9363-CD6778547A15}" type="slidenum">
              <a:rPr lang="zh-CN" altLang="en-US" sz="1200" i="0" smtClean="0"/>
              <a:pPr/>
              <a:t>20</a:t>
            </a:fld>
            <a:endParaRPr lang="en-US" altLang="zh-CN" sz="1200" i="0" smtClean="0"/>
          </a:p>
        </p:txBody>
      </p:sp>
      <p:sp>
        <p:nvSpPr>
          <p:cNvPr id="9626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9626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4664015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728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01A7163-C774-4D32-AEC4-8C277EBA8761}" type="slidenum">
              <a:rPr lang="zh-CN" altLang="en-US" sz="1200" i="0" smtClean="0"/>
              <a:pPr/>
              <a:t>21</a:t>
            </a:fld>
            <a:endParaRPr lang="en-US" altLang="zh-CN" sz="1200" i="0" smtClean="0"/>
          </a:p>
        </p:txBody>
      </p:sp>
      <p:sp>
        <p:nvSpPr>
          <p:cNvPr id="97284" name="Rectangle 2"/>
          <p:cNvSpPr>
            <a:spLocks noGrp="1" noRot="1" noChangeAspect="1" noChangeArrowheads="1" noTextEdit="1"/>
          </p:cNvSpPr>
          <p:nvPr>
            <p:ph type="sldImg"/>
          </p:nvPr>
        </p:nvSpPr>
        <p:spPr>
          <a:ln/>
        </p:spPr>
      </p:sp>
      <p:sp>
        <p:nvSpPr>
          <p:cNvPr id="9728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866281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830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F6DAFC5-E403-45AE-BEE3-2DB4D47642AF}" type="slidenum">
              <a:rPr lang="zh-CN" altLang="en-US" sz="1200" i="0" smtClean="0"/>
              <a:pPr/>
              <a:t>22</a:t>
            </a:fld>
            <a:endParaRPr lang="en-US" altLang="zh-CN" sz="1200" i="0" smtClean="0"/>
          </a:p>
        </p:txBody>
      </p:sp>
      <p:sp>
        <p:nvSpPr>
          <p:cNvPr id="98308" name="Rectangle 2"/>
          <p:cNvSpPr>
            <a:spLocks noGrp="1" noRot="1" noChangeAspect="1" noChangeArrowheads="1" noTextEdit="1"/>
          </p:cNvSpPr>
          <p:nvPr>
            <p:ph type="sldImg"/>
          </p:nvPr>
        </p:nvSpPr>
        <p:spPr>
          <a:ln/>
        </p:spPr>
      </p:sp>
      <p:sp>
        <p:nvSpPr>
          <p:cNvPr id="9830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930206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9933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80631DC-63D8-44DB-B7CA-25F538A2A9AC}" type="slidenum">
              <a:rPr lang="zh-CN" altLang="en-US" sz="1200" i="0" smtClean="0"/>
              <a:pPr/>
              <a:t>23</a:t>
            </a:fld>
            <a:endParaRPr lang="en-US" altLang="zh-CN" sz="1200" i="0" smtClean="0"/>
          </a:p>
        </p:txBody>
      </p:sp>
      <p:sp>
        <p:nvSpPr>
          <p:cNvPr id="99332" name="Rectangle 2"/>
          <p:cNvSpPr>
            <a:spLocks noGrp="1" noRot="1" noChangeAspect="1" noChangeArrowheads="1" noTextEdit="1"/>
          </p:cNvSpPr>
          <p:nvPr>
            <p:ph type="sldImg"/>
          </p:nvPr>
        </p:nvSpPr>
        <p:spPr>
          <a:ln/>
        </p:spPr>
      </p:sp>
      <p:sp>
        <p:nvSpPr>
          <p:cNvPr id="9933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5361477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035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A980CC8-BFD1-457E-9E1A-5248BCE65A7F}" type="slidenum">
              <a:rPr lang="zh-CN" altLang="en-US" sz="1200" i="0" smtClean="0"/>
              <a:pPr/>
              <a:t>24</a:t>
            </a:fld>
            <a:endParaRPr lang="en-US" altLang="zh-CN" sz="1200" i="0" smtClean="0"/>
          </a:p>
        </p:txBody>
      </p:sp>
      <p:sp>
        <p:nvSpPr>
          <p:cNvPr id="10035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035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z="2800" b="1" smtClean="0"/>
          </a:p>
        </p:txBody>
      </p:sp>
    </p:spTree>
    <p:extLst>
      <p:ext uri="{BB962C8B-B14F-4D97-AF65-F5344CB8AC3E}">
        <p14:creationId xmlns:p14="http://schemas.microsoft.com/office/powerpoint/2010/main" val="21683312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035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A980CC8-BFD1-457E-9E1A-5248BCE65A7F}" type="slidenum">
              <a:rPr lang="zh-CN" altLang="en-US" sz="1200" i="0" smtClean="0"/>
              <a:pPr/>
              <a:t>25</a:t>
            </a:fld>
            <a:endParaRPr lang="en-US" altLang="zh-CN" sz="1200" i="0" smtClean="0"/>
          </a:p>
        </p:txBody>
      </p:sp>
      <p:sp>
        <p:nvSpPr>
          <p:cNvPr id="10035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035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z="2800" b="1" smtClean="0"/>
          </a:p>
        </p:txBody>
      </p:sp>
    </p:spTree>
    <p:extLst>
      <p:ext uri="{BB962C8B-B14F-4D97-AF65-F5344CB8AC3E}">
        <p14:creationId xmlns:p14="http://schemas.microsoft.com/office/powerpoint/2010/main" val="1902447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137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9291659-ACF2-4894-B85B-2E4177EC5A83}" type="slidenum">
              <a:rPr lang="zh-CN" altLang="en-US" sz="1200" i="0" smtClean="0"/>
              <a:pPr/>
              <a:t>28</a:t>
            </a:fld>
            <a:endParaRPr lang="en-US" altLang="zh-CN" sz="1200" i="0" smtClean="0"/>
          </a:p>
        </p:txBody>
      </p:sp>
      <p:sp>
        <p:nvSpPr>
          <p:cNvPr id="10138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138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en-US" altLang="zh-CN" sz="2800" dirty="0" smtClean="0"/>
          </a:p>
        </p:txBody>
      </p:sp>
    </p:spTree>
    <p:extLst>
      <p:ext uri="{BB962C8B-B14F-4D97-AF65-F5344CB8AC3E}">
        <p14:creationId xmlns:p14="http://schemas.microsoft.com/office/powerpoint/2010/main" val="39378862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240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DFDD026-CA92-461A-A4BA-5B87FEAE7531}" type="slidenum">
              <a:rPr lang="zh-CN" altLang="en-US" sz="1200" i="0" smtClean="0"/>
              <a:pPr/>
              <a:t>29</a:t>
            </a:fld>
            <a:endParaRPr lang="en-US" altLang="zh-CN" sz="1200" i="0" smtClean="0"/>
          </a:p>
        </p:txBody>
      </p:sp>
      <p:sp>
        <p:nvSpPr>
          <p:cNvPr id="10240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240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7590949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342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7A53652-189A-4271-82C2-17C6BC45501D}" type="slidenum">
              <a:rPr lang="zh-CN" altLang="en-US" sz="1200" i="0" smtClean="0"/>
              <a:pPr/>
              <a:t>31</a:t>
            </a:fld>
            <a:endParaRPr lang="en-US" altLang="zh-CN" sz="1200" i="0" smtClean="0"/>
          </a:p>
        </p:txBody>
      </p:sp>
      <p:sp>
        <p:nvSpPr>
          <p:cNvPr id="103428"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3429"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3824383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342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7A53652-189A-4271-82C2-17C6BC45501D}" type="slidenum">
              <a:rPr lang="zh-CN" altLang="en-US" sz="1200" i="0" smtClean="0"/>
              <a:pPr/>
              <a:t>32</a:t>
            </a:fld>
            <a:endParaRPr lang="en-US" altLang="zh-CN" sz="1200" i="0" smtClean="0"/>
          </a:p>
        </p:txBody>
      </p:sp>
      <p:sp>
        <p:nvSpPr>
          <p:cNvPr id="103428"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3429"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3879950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445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5766E66-3478-4C49-9D70-AC8F3FF7924E}" type="slidenum">
              <a:rPr lang="zh-CN" altLang="en-US" sz="1200" i="0" smtClean="0"/>
              <a:pPr/>
              <a:t>33</a:t>
            </a:fld>
            <a:endParaRPr lang="en-US" altLang="zh-CN" sz="1200" i="0" smtClean="0"/>
          </a:p>
        </p:txBody>
      </p:sp>
      <p:sp>
        <p:nvSpPr>
          <p:cNvPr id="104452" name="Rectangle 2"/>
          <p:cNvSpPr>
            <a:spLocks noGrp="1" noRot="1" noChangeAspect="1" noChangeArrowheads="1" noTextEdit="1"/>
          </p:cNvSpPr>
          <p:nvPr>
            <p:ph type="sldImg"/>
          </p:nvPr>
        </p:nvSpPr>
        <p:spPr>
          <a:ln/>
        </p:spPr>
      </p:sp>
      <p:sp>
        <p:nvSpPr>
          <p:cNvPr id="10445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42116826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547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A0A862C-FBE8-4F99-8F5D-F8AC552C0298}" type="slidenum">
              <a:rPr lang="zh-CN" altLang="en-US" sz="1200" i="0" smtClean="0"/>
              <a:pPr/>
              <a:t>34</a:t>
            </a:fld>
            <a:endParaRPr lang="en-US" altLang="zh-CN" sz="1200" i="0" smtClean="0"/>
          </a:p>
        </p:txBody>
      </p:sp>
      <p:sp>
        <p:nvSpPr>
          <p:cNvPr id="105476" name="Rectangle 2"/>
          <p:cNvSpPr>
            <a:spLocks noGrp="1" noRot="1" noChangeAspect="1" noChangeArrowheads="1" noTextEdit="1"/>
          </p:cNvSpPr>
          <p:nvPr>
            <p:ph type="sldImg"/>
          </p:nvPr>
        </p:nvSpPr>
        <p:spPr>
          <a:ln/>
        </p:spPr>
      </p:sp>
      <p:sp>
        <p:nvSpPr>
          <p:cNvPr id="10547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832706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649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4E28E27-E866-4D1E-A394-E3AF6089FD14}" type="slidenum">
              <a:rPr lang="zh-CN" altLang="en-US" sz="1200" i="0" smtClean="0"/>
              <a:pPr/>
              <a:t>35</a:t>
            </a:fld>
            <a:endParaRPr lang="en-US" altLang="zh-CN" sz="1200" i="0" smtClean="0"/>
          </a:p>
        </p:txBody>
      </p:sp>
      <p:sp>
        <p:nvSpPr>
          <p:cNvPr id="10650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650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pPr marL="228600" indent="-228600" defTabSz="917575"/>
            <a:endParaRPr lang="zh-CN" altLang="en-US" smtClean="0"/>
          </a:p>
        </p:txBody>
      </p:sp>
    </p:spTree>
    <p:extLst>
      <p:ext uri="{BB962C8B-B14F-4D97-AF65-F5344CB8AC3E}">
        <p14:creationId xmlns:p14="http://schemas.microsoft.com/office/powerpoint/2010/main" val="200524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752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8A0BD3F-F289-45D8-95D4-7A9421ABF017}" type="slidenum">
              <a:rPr lang="zh-CN" altLang="en-US" sz="1200" i="0" smtClean="0"/>
              <a:pPr/>
              <a:t>36</a:t>
            </a:fld>
            <a:endParaRPr lang="en-US" altLang="zh-CN" sz="1200" i="0" smtClean="0"/>
          </a:p>
        </p:txBody>
      </p:sp>
      <p:sp>
        <p:nvSpPr>
          <p:cNvPr id="107524" name="Rectangle 2"/>
          <p:cNvSpPr>
            <a:spLocks noGrp="1" noRot="1" noChangeAspect="1" noChangeArrowheads="1" noTextEdit="1"/>
          </p:cNvSpPr>
          <p:nvPr>
            <p:ph type="sldImg"/>
          </p:nvPr>
        </p:nvSpPr>
        <p:spPr>
          <a:ln/>
        </p:spPr>
      </p:sp>
      <p:sp>
        <p:nvSpPr>
          <p:cNvPr id="10752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21180378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854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6083C2B-4113-4BBB-9EEA-8F9C6F444901}" type="slidenum">
              <a:rPr lang="zh-CN" altLang="en-US" sz="1200" i="0" smtClean="0"/>
              <a:pPr/>
              <a:t>37</a:t>
            </a:fld>
            <a:endParaRPr lang="en-US" altLang="zh-CN" sz="1200" i="0" smtClean="0"/>
          </a:p>
        </p:txBody>
      </p:sp>
      <p:sp>
        <p:nvSpPr>
          <p:cNvPr id="108548" name="Rectangle 2"/>
          <p:cNvSpPr>
            <a:spLocks noGrp="1" noRot="1" noChangeAspect="1" noChangeArrowheads="1" noTextEdit="1"/>
          </p:cNvSpPr>
          <p:nvPr>
            <p:ph type="sldImg"/>
          </p:nvPr>
        </p:nvSpPr>
        <p:spPr>
          <a:ln/>
        </p:spPr>
      </p:sp>
      <p:sp>
        <p:nvSpPr>
          <p:cNvPr id="10854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9780770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0957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D577DC1-6C36-41FA-951D-1FEAE9D6FD56}" type="slidenum">
              <a:rPr lang="zh-CN" altLang="en-US" sz="1200" i="0" smtClean="0"/>
              <a:pPr/>
              <a:t>38</a:t>
            </a:fld>
            <a:endParaRPr lang="en-US" altLang="zh-CN" sz="1200" i="0" smtClean="0"/>
          </a:p>
        </p:txBody>
      </p:sp>
      <p:sp>
        <p:nvSpPr>
          <p:cNvPr id="10957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0957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r>
              <a:rPr lang="zh-CN" altLang="en-US" sz="900" smtClean="0"/>
              <a:t>所以</a:t>
            </a:r>
            <a:r>
              <a:rPr lang="en-US" altLang="zh-CN" sz="900" smtClean="0"/>
              <a:t>D</a:t>
            </a:r>
            <a:r>
              <a:rPr lang="zh-CN" altLang="en-US" sz="900" smtClean="0"/>
              <a:t>只准确到小数后一位</a:t>
            </a:r>
          </a:p>
        </p:txBody>
      </p:sp>
    </p:spTree>
    <p:extLst>
      <p:ext uri="{BB962C8B-B14F-4D97-AF65-F5344CB8AC3E}">
        <p14:creationId xmlns:p14="http://schemas.microsoft.com/office/powerpoint/2010/main" val="17731363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059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0BAEEAD-2E5E-4782-99A8-243A5AAA591E}" type="slidenum">
              <a:rPr lang="zh-CN" altLang="en-US" sz="1200" i="0" smtClean="0"/>
              <a:pPr/>
              <a:t>39</a:t>
            </a:fld>
            <a:endParaRPr lang="en-US" altLang="zh-CN" sz="1200" i="0" smtClean="0"/>
          </a:p>
        </p:txBody>
      </p:sp>
      <p:sp>
        <p:nvSpPr>
          <p:cNvPr id="11059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059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9468895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161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B6DE4B7-6E64-4EC4-AC52-5365356AC203}" type="slidenum">
              <a:rPr lang="zh-CN" altLang="en-US" sz="1200" i="0" smtClean="0"/>
              <a:pPr/>
              <a:t>40</a:t>
            </a:fld>
            <a:endParaRPr lang="en-US" altLang="zh-CN" sz="1200" i="0" smtClean="0"/>
          </a:p>
        </p:txBody>
      </p:sp>
      <p:sp>
        <p:nvSpPr>
          <p:cNvPr id="11162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162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6316361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264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7A91083-F7BC-4183-9CA1-C702A76C5CD7}" type="slidenum">
              <a:rPr lang="zh-CN" altLang="en-US" sz="1200" i="0" smtClean="0"/>
              <a:pPr/>
              <a:t>41</a:t>
            </a:fld>
            <a:endParaRPr lang="en-US" altLang="zh-CN" sz="1200" i="0" smtClean="0"/>
          </a:p>
        </p:txBody>
      </p:sp>
      <p:sp>
        <p:nvSpPr>
          <p:cNvPr id="11264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264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0621843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366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2A81DDD-9241-47DB-A785-CD02C5513069}" type="slidenum">
              <a:rPr lang="zh-CN" altLang="en-US" sz="1200" i="0" smtClean="0"/>
              <a:pPr/>
              <a:t>42</a:t>
            </a:fld>
            <a:endParaRPr lang="en-US" altLang="zh-CN" sz="1200" i="0" smtClean="0"/>
          </a:p>
        </p:txBody>
      </p:sp>
      <p:sp>
        <p:nvSpPr>
          <p:cNvPr id="113668"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3669"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8178971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469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E8410BB-A20E-494C-AC91-21601EA9038F}" type="slidenum">
              <a:rPr lang="zh-CN" altLang="en-US" sz="1200" i="0" smtClean="0"/>
              <a:pPr/>
              <a:t>43</a:t>
            </a:fld>
            <a:endParaRPr lang="en-US" altLang="zh-CN" sz="1200" i="0" smtClean="0"/>
          </a:p>
        </p:txBody>
      </p:sp>
      <p:sp>
        <p:nvSpPr>
          <p:cNvPr id="114692" name="Rectangle 2"/>
          <p:cNvSpPr>
            <a:spLocks noGrp="1" noRot="1" noChangeAspect="1" noChangeArrowheads="1" noTextEdit="1"/>
          </p:cNvSpPr>
          <p:nvPr>
            <p:ph type="sldImg"/>
          </p:nvPr>
        </p:nvSpPr>
        <p:spPr>
          <a:ln/>
        </p:spPr>
      </p:sp>
      <p:sp>
        <p:nvSpPr>
          <p:cNvPr id="11469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0892086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571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F568F99-4F01-4271-AFF3-5CA32A859A18}" type="slidenum">
              <a:rPr lang="zh-CN" altLang="en-US" sz="1200" i="0" smtClean="0"/>
              <a:pPr/>
              <a:t>44</a:t>
            </a:fld>
            <a:endParaRPr lang="en-US" altLang="zh-CN" sz="1200" i="0" smtClean="0"/>
          </a:p>
        </p:txBody>
      </p:sp>
      <p:sp>
        <p:nvSpPr>
          <p:cNvPr id="11571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571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40572863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673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8423099-5FB0-4F6D-9507-7127E87882A5}" type="slidenum">
              <a:rPr lang="zh-CN" altLang="en-US" sz="1200" i="0" smtClean="0"/>
              <a:pPr/>
              <a:t>45</a:t>
            </a:fld>
            <a:endParaRPr lang="en-US" altLang="zh-CN" sz="1200" i="0" smtClean="0"/>
          </a:p>
        </p:txBody>
      </p:sp>
      <p:sp>
        <p:nvSpPr>
          <p:cNvPr id="11674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674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9862707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776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0D6EBC7-66AE-4D6E-88C1-969858D1143E}" type="slidenum">
              <a:rPr lang="zh-CN" altLang="en-US" sz="1200" i="0" smtClean="0"/>
              <a:pPr/>
              <a:t>47</a:t>
            </a:fld>
            <a:endParaRPr lang="en-US" altLang="zh-CN" sz="1200" i="0" smtClean="0"/>
          </a:p>
        </p:txBody>
      </p:sp>
      <p:sp>
        <p:nvSpPr>
          <p:cNvPr id="117764" name="Rectangle 2"/>
          <p:cNvSpPr>
            <a:spLocks noGrp="1" noRot="1" noChangeAspect="1" noChangeArrowheads="1" noTextEdit="1"/>
          </p:cNvSpPr>
          <p:nvPr>
            <p:ph type="sldImg"/>
          </p:nvPr>
        </p:nvSpPr>
        <p:spPr>
          <a:ln/>
        </p:spPr>
      </p:sp>
      <p:sp>
        <p:nvSpPr>
          <p:cNvPr id="11776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969693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878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60E781B-4C31-41E5-A622-C2182515FCB2}" type="slidenum">
              <a:rPr lang="zh-CN" altLang="en-US" sz="1200" i="0" smtClean="0"/>
              <a:pPr/>
              <a:t>48</a:t>
            </a:fld>
            <a:endParaRPr lang="en-US" altLang="zh-CN" sz="1200" i="0" smtClean="0"/>
          </a:p>
        </p:txBody>
      </p:sp>
      <p:sp>
        <p:nvSpPr>
          <p:cNvPr id="118788"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8789"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pPr marL="228600" indent="-228600" defTabSz="917575"/>
            <a:endParaRPr lang="zh-CN" altLang="en-US" smtClean="0"/>
          </a:p>
        </p:txBody>
      </p:sp>
    </p:spTree>
    <p:extLst>
      <p:ext uri="{BB962C8B-B14F-4D97-AF65-F5344CB8AC3E}">
        <p14:creationId xmlns:p14="http://schemas.microsoft.com/office/powerpoint/2010/main" val="166006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1981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8CB6230-34C6-4AFC-A8E8-B71DB623EB49}" type="slidenum">
              <a:rPr lang="zh-CN" altLang="en-US" sz="1200" i="0" smtClean="0"/>
              <a:pPr/>
              <a:t>49</a:t>
            </a:fld>
            <a:endParaRPr lang="en-US" altLang="zh-CN" sz="1200" i="0" smtClean="0"/>
          </a:p>
        </p:txBody>
      </p:sp>
      <p:sp>
        <p:nvSpPr>
          <p:cNvPr id="11981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1981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pPr lvl="1">
              <a:lnSpc>
                <a:spcPct val="120000"/>
              </a:lnSpc>
            </a:pPr>
            <a:endParaRPr lang="zh-CN" altLang="en-US" sz="900" smtClean="0"/>
          </a:p>
        </p:txBody>
      </p:sp>
    </p:spTree>
    <p:extLst>
      <p:ext uri="{BB962C8B-B14F-4D97-AF65-F5344CB8AC3E}">
        <p14:creationId xmlns:p14="http://schemas.microsoft.com/office/powerpoint/2010/main" val="3174950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083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9E50B69-B4A7-4A36-BDF1-E227CD8280A7}" type="slidenum">
              <a:rPr lang="zh-CN" altLang="en-US" sz="1200" i="0" smtClean="0"/>
              <a:pPr/>
              <a:t>50</a:t>
            </a:fld>
            <a:endParaRPr lang="en-US" altLang="zh-CN" sz="1200" i="0" smtClean="0"/>
          </a:p>
        </p:txBody>
      </p:sp>
      <p:sp>
        <p:nvSpPr>
          <p:cNvPr id="12083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083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r>
              <a:rPr lang="zh-CN" altLang="en-US" sz="1200" b="1" dirty="0" smtClean="0">
                <a:solidFill>
                  <a:schemeClr val="hlink"/>
                </a:solidFill>
              </a:rPr>
              <a:t>思考题</a:t>
            </a:r>
            <a:endParaRPr lang="zh-CN" altLang="en-US" dirty="0" smtClean="0"/>
          </a:p>
          <a:p>
            <a:r>
              <a:rPr lang="en-US" altLang="zh-CN" b="1" dirty="0" smtClean="0"/>
              <a:t>1</a:t>
            </a:r>
            <a:r>
              <a:rPr lang="zh-CN" altLang="en-US" b="1" dirty="0" smtClean="0"/>
              <a:t>．什么叫数值方法？数值方法的基本思想及其优劣的评价标准如何？</a:t>
            </a:r>
          </a:p>
          <a:p>
            <a:r>
              <a:rPr lang="en-US" altLang="zh-CN" b="1" dirty="0" smtClean="0"/>
              <a:t>2</a:t>
            </a:r>
            <a:r>
              <a:rPr lang="zh-CN" altLang="en-US" b="1" dirty="0" smtClean="0"/>
              <a:t>．试举一个你所遇到的例子，来说明什么是模型误差？什么是截断误差？</a:t>
            </a:r>
          </a:p>
          <a:p>
            <a:endParaRPr lang="zh-CN" altLang="en-US" dirty="0" smtClean="0"/>
          </a:p>
        </p:txBody>
      </p:sp>
    </p:spTree>
    <p:extLst>
      <p:ext uri="{BB962C8B-B14F-4D97-AF65-F5344CB8AC3E}">
        <p14:creationId xmlns:p14="http://schemas.microsoft.com/office/powerpoint/2010/main" val="9470339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185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CFEE3D8-3224-4B96-85FC-F95C14741EF3}" type="slidenum">
              <a:rPr lang="zh-CN" altLang="en-US" sz="1200" i="0" smtClean="0"/>
              <a:pPr/>
              <a:t>51</a:t>
            </a:fld>
            <a:endParaRPr lang="en-US" altLang="zh-CN" sz="1200" i="0" smtClean="0"/>
          </a:p>
        </p:txBody>
      </p:sp>
      <p:sp>
        <p:nvSpPr>
          <p:cNvPr id="12186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186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8218665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288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A399127-4B9C-4B2D-B87C-CDFEACA852C9}" type="slidenum">
              <a:rPr lang="zh-CN" altLang="en-US" sz="1200" i="0" smtClean="0"/>
              <a:pPr/>
              <a:t>52</a:t>
            </a:fld>
            <a:endParaRPr lang="en-US" altLang="zh-CN" sz="1200" i="0" smtClean="0"/>
          </a:p>
        </p:txBody>
      </p:sp>
      <p:sp>
        <p:nvSpPr>
          <p:cNvPr id="12288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288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4055348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390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5A6D4E5-D63B-4B47-8FAB-17EA5EE53E6D}" type="slidenum">
              <a:rPr lang="zh-CN" altLang="en-US" sz="1200" i="0" smtClean="0"/>
              <a:pPr/>
              <a:t>53</a:t>
            </a:fld>
            <a:endParaRPr lang="en-US" altLang="zh-CN" sz="1200" i="0" smtClean="0"/>
          </a:p>
        </p:txBody>
      </p:sp>
      <p:sp>
        <p:nvSpPr>
          <p:cNvPr id="123908"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3909"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25212915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493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9FDFD09-0C70-493A-A368-09E365965B31}" type="slidenum">
              <a:rPr lang="zh-CN" altLang="en-US" sz="1200" i="0" smtClean="0"/>
              <a:pPr/>
              <a:t>54</a:t>
            </a:fld>
            <a:endParaRPr lang="en-US" altLang="zh-CN" sz="1200" i="0" smtClean="0"/>
          </a:p>
        </p:txBody>
      </p:sp>
      <p:sp>
        <p:nvSpPr>
          <p:cNvPr id="124932" name="Rectangle 2"/>
          <p:cNvSpPr>
            <a:spLocks noGrp="1" noRot="1" noChangeAspect="1" noChangeArrowheads="1" noTextEdit="1"/>
          </p:cNvSpPr>
          <p:nvPr>
            <p:ph type="sldImg"/>
          </p:nvPr>
        </p:nvSpPr>
        <p:spPr>
          <a:ln/>
        </p:spPr>
      </p:sp>
      <p:sp>
        <p:nvSpPr>
          <p:cNvPr id="12493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811752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595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01CFB88-B273-4FDC-938C-20A134BDCF5F}" type="slidenum">
              <a:rPr lang="zh-CN" altLang="en-US" sz="1200" i="0" smtClean="0"/>
              <a:pPr/>
              <a:t>55</a:t>
            </a:fld>
            <a:endParaRPr lang="en-US" altLang="zh-CN" sz="1200" i="0" smtClean="0"/>
          </a:p>
        </p:txBody>
      </p:sp>
      <p:sp>
        <p:nvSpPr>
          <p:cNvPr id="12595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595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3648700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697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60858FB-FE8B-42C0-86C3-F6AF8E03859D}" type="slidenum">
              <a:rPr lang="zh-CN" altLang="en-US" sz="1200" i="0" smtClean="0"/>
              <a:pPr/>
              <a:t>56</a:t>
            </a:fld>
            <a:endParaRPr lang="en-US" altLang="zh-CN" sz="1200" i="0" smtClean="0"/>
          </a:p>
        </p:txBody>
      </p:sp>
      <p:sp>
        <p:nvSpPr>
          <p:cNvPr id="12698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698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4353025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697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60858FB-FE8B-42C0-86C3-F6AF8E03859D}" type="slidenum">
              <a:rPr lang="zh-CN" altLang="en-US" sz="1200" i="0" smtClean="0"/>
              <a:pPr/>
              <a:t>57</a:t>
            </a:fld>
            <a:endParaRPr lang="en-US" altLang="zh-CN" sz="1200" i="0" smtClean="0"/>
          </a:p>
        </p:txBody>
      </p:sp>
      <p:sp>
        <p:nvSpPr>
          <p:cNvPr id="12698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698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7754561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800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8AC159C-DBE6-42B7-B5D8-F9C549F1A5D3}" type="slidenum">
              <a:rPr lang="zh-CN" altLang="en-US" sz="1200" i="0" smtClean="0"/>
              <a:pPr/>
              <a:t>61</a:t>
            </a:fld>
            <a:endParaRPr lang="en-US" altLang="zh-CN" sz="1200" i="0" smtClean="0"/>
          </a:p>
        </p:txBody>
      </p:sp>
      <p:sp>
        <p:nvSpPr>
          <p:cNvPr id="12800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800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640713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2902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706A0C0-8958-4877-8736-51D69B145C7B}" type="slidenum">
              <a:rPr lang="zh-CN" altLang="en-US" sz="1200" i="0" smtClean="0"/>
              <a:pPr/>
              <a:t>62</a:t>
            </a:fld>
            <a:endParaRPr lang="en-US" altLang="zh-CN" sz="1200" i="0" smtClean="0"/>
          </a:p>
        </p:txBody>
      </p:sp>
      <p:sp>
        <p:nvSpPr>
          <p:cNvPr id="129028"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29029"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850900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005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5A87ACB-6BBD-4FE1-979A-8CAE8457370E}" type="slidenum">
              <a:rPr lang="zh-CN" altLang="en-US" sz="1200" i="0" smtClean="0"/>
              <a:pPr/>
              <a:t>63</a:t>
            </a:fld>
            <a:endParaRPr lang="en-US" altLang="zh-CN" sz="1200" i="0" smtClean="0"/>
          </a:p>
        </p:txBody>
      </p:sp>
      <p:sp>
        <p:nvSpPr>
          <p:cNvPr id="13005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3005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7643285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107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2E2F85A-BE87-4860-BB8F-F71190D478B0}" type="slidenum">
              <a:rPr lang="zh-CN" altLang="en-US" sz="1200" i="0" smtClean="0"/>
              <a:pPr/>
              <a:t>65</a:t>
            </a:fld>
            <a:endParaRPr lang="en-US" altLang="zh-CN" sz="1200" i="0" smtClean="0"/>
          </a:p>
        </p:txBody>
      </p:sp>
      <p:sp>
        <p:nvSpPr>
          <p:cNvPr id="131076" name="Rectangle 2"/>
          <p:cNvSpPr>
            <a:spLocks noGrp="1" noRot="1" noChangeAspect="1" noChangeArrowheads="1" noTextEdit="1"/>
          </p:cNvSpPr>
          <p:nvPr>
            <p:ph type="sldImg"/>
          </p:nvPr>
        </p:nvSpPr>
        <p:spPr>
          <a:ln/>
        </p:spPr>
      </p:sp>
      <p:sp>
        <p:nvSpPr>
          <p:cNvPr id="13107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9013643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209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BB58BC6-DEA7-413E-B41A-C00C7EE8B5F3}" type="slidenum">
              <a:rPr lang="zh-CN" altLang="en-US" sz="1200" i="0" smtClean="0"/>
              <a:pPr/>
              <a:t>66</a:t>
            </a:fld>
            <a:endParaRPr lang="en-US" altLang="zh-CN" sz="1200" i="0" smtClean="0"/>
          </a:p>
        </p:txBody>
      </p:sp>
      <p:sp>
        <p:nvSpPr>
          <p:cNvPr id="132100"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32101"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z="1200" smtClean="0"/>
          </a:p>
        </p:txBody>
      </p:sp>
    </p:spTree>
    <p:extLst>
      <p:ext uri="{BB962C8B-B14F-4D97-AF65-F5344CB8AC3E}">
        <p14:creationId xmlns:p14="http://schemas.microsoft.com/office/powerpoint/2010/main" val="1527163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312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E20630E-5431-4A86-9798-5C63AC9ED105}" type="slidenum">
              <a:rPr lang="zh-CN" altLang="en-US" sz="1200" i="0" smtClean="0"/>
              <a:pPr/>
              <a:t>67</a:t>
            </a:fld>
            <a:endParaRPr lang="en-US" altLang="zh-CN" sz="1200" i="0" smtClean="0"/>
          </a:p>
        </p:txBody>
      </p:sp>
      <p:sp>
        <p:nvSpPr>
          <p:cNvPr id="13312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3312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10363777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414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541E35B-D26A-461E-B725-0857974A8AE1}" type="slidenum">
              <a:rPr lang="zh-CN" altLang="en-US" sz="1200" i="0" smtClean="0"/>
              <a:pPr/>
              <a:t>68</a:t>
            </a:fld>
            <a:endParaRPr lang="en-US" altLang="zh-CN" sz="1200" i="0" smtClean="0"/>
          </a:p>
        </p:txBody>
      </p:sp>
      <p:sp>
        <p:nvSpPr>
          <p:cNvPr id="134148" name="Rectangle 2"/>
          <p:cNvSpPr>
            <a:spLocks noGrp="1" noRot="1" noChangeAspect="1" noChangeArrowheads="1" noTextEdit="1"/>
          </p:cNvSpPr>
          <p:nvPr>
            <p:ph type="sldImg"/>
          </p:nvPr>
        </p:nvSpPr>
        <p:spPr>
          <a:ln/>
        </p:spPr>
      </p:sp>
      <p:sp>
        <p:nvSpPr>
          <p:cNvPr id="13414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3743517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517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C8D4E2B-88E6-4169-BF20-07CD105C0F11}" type="slidenum">
              <a:rPr lang="zh-CN" altLang="en-US" sz="1200" i="0" smtClean="0"/>
              <a:pPr/>
              <a:t>69</a:t>
            </a:fld>
            <a:endParaRPr lang="en-US" altLang="zh-CN" sz="1200" i="0" smtClean="0"/>
          </a:p>
        </p:txBody>
      </p:sp>
      <p:sp>
        <p:nvSpPr>
          <p:cNvPr id="13517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3517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7251765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619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F8DE1B5-1853-4ADE-8CC8-733671340AE8}" type="slidenum">
              <a:rPr lang="zh-CN" altLang="en-US" sz="1200" i="0" smtClean="0"/>
              <a:pPr/>
              <a:t>70</a:t>
            </a:fld>
            <a:endParaRPr lang="en-US" altLang="zh-CN" sz="1200" i="0" smtClean="0"/>
          </a:p>
        </p:txBody>
      </p:sp>
      <p:sp>
        <p:nvSpPr>
          <p:cNvPr id="136196" name="Rectangle 2"/>
          <p:cNvSpPr>
            <a:spLocks noGrp="1" noRot="1" noChangeAspect="1" noChangeArrowheads="1" noTextEdit="1"/>
          </p:cNvSpPr>
          <p:nvPr>
            <p:ph type="sldImg"/>
          </p:nvPr>
        </p:nvSpPr>
        <p:spPr>
          <a:ln/>
        </p:spPr>
      </p:sp>
      <p:sp>
        <p:nvSpPr>
          <p:cNvPr id="13619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42089895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721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E49E1F3-A315-4C69-8F87-0E0CF71B16C2}" type="slidenum">
              <a:rPr lang="zh-CN" altLang="en-US" sz="1200" i="0" smtClean="0"/>
              <a:pPr/>
              <a:t>71</a:t>
            </a:fld>
            <a:endParaRPr lang="en-US" altLang="zh-CN" sz="1200" i="0" smtClean="0"/>
          </a:p>
        </p:txBody>
      </p:sp>
      <p:sp>
        <p:nvSpPr>
          <p:cNvPr id="137220" name="Rectangle 2"/>
          <p:cNvSpPr>
            <a:spLocks noGrp="1" noRot="1" noChangeAspect="1" noChangeArrowheads="1" noTextEdit="1"/>
          </p:cNvSpPr>
          <p:nvPr>
            <p:ph type="sldImg"/>
          </p:nvPr>
        </p:nvSpPr>
        <p:spPr>
          <a:solidFill>
            <a:srgbClr val="FFFFFF"/>
          </a:solidFill>
          <a:ln/>
        </p:spPr>
      </p:sp>
      <p:sp>
        <p:nvSpPr>
          <p:cNvPr id="137221" name="Rectangle 3"/>
          <p:cNvSpPr>
            <a:spLocks noGrp="1" noChangeArrowheads="1"/>
          </p:cNvSpPr>
          <p:nvPr>
            <p:ph type="body" idx="1"/>
          </p:nvPr>
        </p:nvSpPr>
        <p:spPr>
          <a:solidFill>
            <a:srgbClr val="FFFFFF"/>
          </a:solidFill>
          <a:ln>
            <a:solidFill>
              <a:srgbClr val="000000"/>
            </a:solidFill>
          </a:ln>
        </p:spPr>
        <p:txBody>
          <a:bodyPr/>
          <a:lstStyle/>
          <a:p>
            <a:r>
              <a:rPr lang="zh-CN" altLang="en-US" sz="1200" smtClean="0"/>
              <a:t>用四位小数计算得</a:t>
            </a:r>
          </a:p>
        </p:txBody>
      </p:sp>
    </p:spTree>
    <p:extLst>
      <p:ext uri="{BB962C8B-B14F-4D97-AF65-F5344CB8AC3E}">
        <p14:creationId xmlns:p14="http://schemas.microsoft.com/office/powerpoint/2010/main" val="1321768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824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74D6CB5-5E6E-4076-A133-8E539ADD6517}" type="slidenum">
              <a:rPr lang="zh-CN" altLang="en-US" sz="1200" i="0" smtClean="0"/>
              <a:pPr/>
              <a:t>72</a:t>
            </a:fld>
            <a:endParaRPr lang="en-US" altLang="zh-CN" sz="1200" i="0" smtClean="0"/>
          </a:p>
        </p:txBody>
      </p:sp>
      <p:sp>
        <p:nvSpPr>
          <p:cNvPr id="138244"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38245"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5856928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39267"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CF16148-650C-4EBB-9923-0DF05D941742}" type="slidenum">
              <a:rPr lang="zh-CN" altLang="en-US" sz="1200" i="0" smtClean="0"/>
              <a:pPr/>
              <a:t>73</a:t>
            </a:fld>
            <a:endParaRPr lang="en-US" altLang="zh-CN" sz="1200" i="0" smtClean="0"/>
          </a:p>
        </p:txBody>
      </p:sp>
      <p:sp>
        <p:nvSpPr>
          <p:cNvPr id="139268" name="Rectangle 2"/>
          <p:cNvSpPr>
            <a:spLocks noGrp="1" noRot="1" noChangeAspect="1" noChangeArrowheads="1" noTextEdit="1"/>
          </p:cNvSpPr>
          <p:nvPr>
            <p:ph type="sldImg"/>
          </p:nvPr>
        </p:nvSpPr>
        <p:spPr>
          <a:ln/>
        </p:spPr>
      </p:sp>
      <p:sp>
        <p:nvSpPr>
          <p:cNvPr id="13926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810641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40291"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1B5DC74-3FA1-41F4-BE4E-EC25DA0D3CBA}" type="slidenum">
              <a:rPr lang="zh-CN" altLang="en-US" sz="1200" i="0" smtClean="0"/>
              <a:pPr/>
              <a:t>74</a:t>
            </a:fld>
            <a:endParaRPr lang="en-US" altLang="zh-CN" sz="1200" i="0" smtClean="0"/>
          </a:p>
        </p:txBody>
      </p:sp>
      <p:sp>
        <p:nvSpPr>
          <p:cNvPr id="140292"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140293"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endParaRPr lang="zh-CN" altLang="en-US" smtClean="0"/>
          </a:p>
        </p:txBody>
      </p:sp>
    </p:spTree>
    <p:extLst>
      <p:ext uri="{BB962C8B-B14F-4D97-AF65-F5344CB8AC3E}">
        <p14:creationId xmlns:p14="http://schemas.microsoft.com/office/powerpoint/2010/main" val="35428312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4131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E958032-8F17-4727-8278-1ADCA2A6A2ED}" type="slidenum">
              <a:rPr lang="zh-CN" altLang="en-US" sz="1200" i="0" smtClean="0"/>
              <a:pPr/>
              <a:t>76</a:t>
            </a:fld>
            <a:endParaRPr lang="en-US" altLang="zh-CN" sz="1200" i="0" smtClean="0"/>
          </a:p>
        </p:txBody>
      </p:sp>
      <p:sp>
        <p:nvSpPr>
          <p:cNvPr id="141316" name="Rectangle 2"/>
          <p:cNvSpPr>
            <a:spLocks noGrp="1" noRot="1" noChangeAspect="1" noChangeArrowheads="1" noTextEdit="1"/>
          </p:cNvSpPr>
          <p:nvPr>
            <p:ph type="sldImg"/>
          </p:nvPr>
        </p:nvSpPr>
        <p:spPr>
          <a:xfrm>
            <a:off x="3109913" y="517525"/>
            <a:ext cx="3703637" cy="2563813"/>
          </a:xfrm>
          <a:solidFill>
            <a:srgbClr val="FFFFFF"/>
          </a:solidFill>
          <a:ln/>
        </p:spPr>
      </p:sp>
      <p:sp>
        <p:nvSpPr>
          <p:cNvPr id="850947" name="Rectangle 3"/>
          <p:cNvSpPr>
            <a:spLocks noGrp="1" noChangeArrowheads="1"/>
          </p:cNvSpPr>
          <p:nvPr>
            <p:ph type="body" idx="1"/>
          </p:nvPr>
        </p:nvSpPr>
        <p:spPr>
          <a:xfrm>
            <a:off x="1325563" y="3255963"/>
            <a:ext cx="7272337" cy="3089275"/>
          </a:xfrm>
          <a:solidFill>
            <a:srgbClr val="FFFFFF"/>
          </a:solidFill>
          <a:ln>
            <a:solidFill>
              <a:srgbClr val="000000"/>
            </a:solidFill>
          </a:ln>
        </p:spPr>
        <p:txBody>
          <a:bodyPr/>
          <a:lstStyle/>
          <a:p>
            <a:pPr>
              <a:defRPr/>
            </a:pPr>
            <a:endParaRPr kumimoji="1" lang="zh-CN" altLang="en-US" sz="2000" b="1" smtClean="0">
              <a:solidFill>
                <a:srgbClr val="FF3300"/>
              </a:solidFill>
              <a:effectLst>
                <a:outerShdw blurRad="38100" dist="38100" dir="2700000" algn="tl">
                  <a:srgbClr val="C0C0C0"/>
                </a:outerShdw>
              </a:effectLst>
              <a:ea typeface="楷体_GB2312" pitchFamily="49" charset="-122"/>
              <a:sym typeface="Symbol" pitchFamily="18" charset="2"/>
            </a:endParaRPr>
          </a:p>
        </p:txBody>
      </p:sp>
    </p:spTree>
    <p:extLst>
      <p:ext uri="{BB962C8B-B14F-4D97-AF65-F5344CB8AC3E}">
        <p14:creationId xmlns:p14="http://schemas.microsoft.com/office/powerpoint/2010/main" val="21942226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42339"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246A4CD-50B0-4BD9-B6D0-D40E1656D04C}" type="slidenum">
              <a:rPr lang="zh-CN" altLang="en-US" sz="1200" i="0" smtClean="0"/>
              <a:pPr/>
              <a:t>77</a:t>
            </a:fld>
            <a:endParaRPr lang="en-US" altLang="zh-CN" sz="1200" i="0" smtClean="0"/>
          </a:p>
        </p:txBody>
      </p:sp>
      <p:sp>
        <p:nvSpPr>
          <p:cNvPr id="142340" name="Rectangle 2"/>
          <p:cNvSpPr>
            <a:spLocks noGrp="1" noRot="1" noChangeAspect="1" noChangeArrowheads="1" noTextEdit="1"/>
          </p:cNvSpPr>
          <p:nvPr>
            <p:ph type="sldImg"/>
          </p:nvPr>
        </p:nvSpPr>
        <p:spPr>
          <a:ln/>
        </p:spPr>
      </p:sp>
      <p:sp>
        <p:nvSpPr>
          <p:cNvPr id="14234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12317530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1200" i="0" smtClean="0"/>
              <a:t>Confidential, for review only</a:t>
            </a:r>
            <a:endParaRPr lang="en-US" altLang="en-US" sz="1200" i="0" smtClean="0"/>
          </a:p>
        </p:txBody>
      </p:sp>
      <p:sp>
        <p:nvSpPr>
          <p:cNvPr id="14336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C2FF63F-51F9-4926-92F1-1CAEEA351C66}" type="slidenum">
              <a:rPr lang="zh-CN" altLang="en-US" sz="1200" i="0" smtClean="0"/>
              <a:pPr/>
              <a:t>78</a:t>
            </a:fld>
            <a:endParaRPr lang="en-US" altLang="zh-CN" sz="1200" i="0" smtClean="0"/>
          </a:p>
        </p:txBody>
      </p:sp>
      <p:sp>
        <p:nvSpPr>
          <p:cNvPr id="143364" name="Rectangle 2"/>
          <p:cNvSpPr>
            <a:spLocks noGrp="1" noRot="1" noChangeAspect="1" noChangeArrowheads="1" noTextEdit="1"/>
          </p:cNvSpPr>
          <p:nvPr>
            <p:ph type="sldImg"/>
          </p:nvPr>
        </p:nvSpPr>
        <p:spPr>
          <a:xfrm>
            <a:off x="3103563" y="514350"/>
            <a:ext cx="3714750" cy="2571750"/>
          </a:xfrm>
          <a:solidFill>
            <a:srgbClr val="FFFFFF"/>
          </a:solidFill>
          <a:ln/>
        </p:spPr>
      </p:sp>
      <p:sp>
        <p:nvSpPr>
          <p:cNvPr id="143365" name="Rectangle 3"/>
          <p:cNvSpPr>
            <a:spLocks noGrp="1" noChangeArrowheads="1"/>
          </p:cNvSpPr>
          <p:nvPr>
            <p:ph type="body" idx="1"/>
          </p:nvPr>
        </p:nvSpPr>
        <p:spPr>
          <a:xfrm>
            <a:off x="1322388" y="3255963"/>
            <a:ext cx="7278687" cy="3086100"/>
          </a:xfrm>
          <a:solidFill>
            <a:srgbClr val="FFFFFF"/>
          </a:solidFill>
          <a:ln>
            <a:solidFill>
              <a:srgbClr val="000000"/>
            </a:solidFill>
          </a:ln>
        </p:spPr>
        <p:txBody>
          <a:bodyPr/>
          <a:lstStyle/>
          <a:p>
            <a:endParaRPr lang="zh-TW" altLang="en-US" smtClean="0"/>
          </a:p>
        </p:txBody>
      </p:sp>
    </p:spTree>
    <p:extLst>
      <p:ext uri="{BB962C8B-B14F-4D97-AF65-F5344CB8AC3E}">
        <p14:creationId xmlns:p14="http://schemas.microsoft.com/office/powerpoint/2010/main" val="9638250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1" descr="BorlandTitle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8651"/>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Rectangle 3"/>
          <p:cNvSpPr>
            <a:spLocks noGrp="1" noChangeArrowheads="1"/>
          </p:cNvSpPr>
          <p:nvPr>
            <p:ph type="subTitle" sz="quarter" idx="1"/>
          </p:nvPr>
        </p:nvSpPr>
        <p:spPr>
          <a:xfrm>
            <a:off x="2146300" y="3505200"/>
            <a:ext cx="5745163" cy="976313"/>
          </a:xfrm>
        </p:spPr>
        <p:txBody>
          <a:bodyPr/>
          <a:lstStyle>
            <a:lvl1pPr marL="0" indent="0" algn="ctr">
              <a:lnSpc>
                <a:spcPct val="95000"/>
              </a:lnSpc>
              <a:spcBef>
                <a:spcPct val="10000"/>
              </a:spcBef>
              <a:buFont typeface="Wingdings" pitchFamily="2" charset="2"/>
              <a:buNone/>
              <a:defRPr sz="3200">
                <a:solidFill>
                  <a:srgbClr val="C1C4DD"/>
                </a:solidFill>
              </a:defRPr>
            </a:lvl1pPr>
          </a:lstStyle>
          <a:p>
            <a:r>
              <a:rPr lang="en-US" altLang="en-US"/>
              <a:t>Speaker’s Name,</a:t>
            </a:r>
          </a:p>
          <a:p>
            <a:r>
              <a:rPr lang="en-US" altLang="en-US"/>
              <a:t>Speaker’s Title</a:t>
            </a:r>
          </a:p>
        </p:txBody>
      </p:sp>
      <p:sp>
        <p:nvSpPr>
          <p:cNvPr id="105476" name="Rectangle 4"/>
          <p:cNvSpPr>
            <a:spLocks noGrp="1" noChangeArrowheads="1"/>
          </p:cNvSpPr>
          <p:nvPr>
            <p:ph type="ctrTitle" sz="quarter"/>
          </p:nvPr>
        </p:nvSpPr>
        <p:spPr>
          <a:xfrm>
            <a:off x="1096963" y="2136775"/>
            <a:ext cx="7608887" cy="1390650"/>
          </a:xfrm>
          <a:effectLst/>
        </p:spPr>
        <p:txBody>
          <a:bodyPr anchor="t"/>
          <a:lstStyle>
            <a:lvl1pPr algn="ctr">
              <a:lnSpc>
                <a:spcPct val="95000"/>
              </a:lnSpc>
              <a:buClr>
                <a:schemeClr val="folHlink"/>
              </a:buClr>
              <a:buSzPct val="95000"/>
              <a:defRPr/>
            </a:lvl1pPr>
          </a:lstStyle>
          <a:p>
            <a:r>
              <a:rPr lang="en-US" altLang="en-US"/>
              <a:t>Click to edit Master title style</a:t>
            </a:r>
          </a:p>
        </p:txBody>
      </p:sp>
    </p:spTree>
    <p:extLst>
      <p:ext uri="{BB962C8B-B14F-4D97-AF65-F5344CB8AC3E}">
        <p14:creationId xmlns:p14="http://schemas.microsoft.com/office/powerpoint/2010/main" val="249819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sldNum" sz="quarter" idx="10"/>
          </p:nvPr>
        </p:nvSpPr>
        <p:spPr>
          <a:ln/>
        </p:spPr>
        <p:txBody>
          <a:bodyPr/>
          <a:lstStyle>
            <a:lvl1pPr>
              <a:defRPr/>
            </a:lvl1pPr>
          </a:lstStyle>
          <a:p>
            <a:pPr>
              <a:defRPr/>
            </a:pPr>
            <a:fld id="{FBEF6608-732B-46ED-B376-E45B0524B459}"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4D993B8C-E18E-4992-B994-9EE8A9916AEC}" type="datetime1">
              <a:rPr lang="zh-CN" altLang="en-US"/>
              <a:pPr>
                <a:defRPr/>
              </a:pPr>
              <a:t>2024/9/8</a:t>
            </a:fld>
            <a:endParaRPr lang="en-US" altLang="zh-CN" sz="1000"/>
          </a:p>
        </p:txBody>
      </p:sp>
    </p:spTree>
    <p:extLst>
      <p:ext uri="{BB962C8B-B14F-4D97-AF65-F5344CB8AC3E}">
        <p14:creationId xmlns:p14="http://schemas.microsoft.com/office/powerpoint/2010/main" val="381637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0AEBD82A-DC1A-4615-ABF0-E0B8D239E542}"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C7B7383E-6AF2-402B-A48C-17550B580C72}" type="datetime1">
              <a:rPr lang="zh-CN" altLang="en-US"/>
              <a:pPr>
                <a:defRPr/>
              </a:pPr>
              <a:t>2024/9/8</a:t>
            </a:fld>
            <a:endParaRPr lang="en-US" altLang="zh-CN" sz="1000"/>
          </a:p>
        </p:txBody>
      </p:sp>
    </p:spTree>
    <p:extLst>
      <p:ext uri="{BB962C8B-B14F-4D97-AF65-F5344CB8AC3E}">
        <p14:creationId xmlns:p14="http://schemas.microsoft.com/office/powerpoint/2010/main" val="3734714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50875"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37150"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
          <p:cNvSpPr>
            <a:spLocks noGrp="1" noChangeArrowheads="1"/>
          </p:cNvSpPr>
          <p:nvPr>
            <p:ph type="sldNum" sz="quarter" idx="10"/>
          </p:nvPr>
        </p:nvSpPr>
        <p:spPr>
          <a:ln/>
        </p:spPr>
        <p:txBody>
          <a:bodyPr/>
          <a:lstStyle>
            <a:lvl1pPr>
              <a:defRPr/>
            </a:lvl1pPr>
          </a:lstStyle>
          <a:p>
            <a:pPr>
              <a:defRPr/>
            </a:pPr>
            <a:fld id="{D0EC7393-841B-4085-AFCA-3A1CAFC7641F}"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0F3A73C4-D4A2-4569-B770-DE9DE794863A}" type="datetime1">
              <a:rPr lang="zh-CN" altLang="en-US"/>
              <a:pPr>
                <a:defRPr/>
              </a:pPr>
              <a:t>2024/9/8</a:t>
            </a:fld>
            <a:endParaRPr lang="en-US" altLang="zh-CN" sz="1000"/>
          </a:p>
        </p:txBody>
      </p:sp>
    </p:spTree>
    <p:extLst>
      <p:ext uri="{BB962C8B-B14F-4D97-AF65-F5344CB8AC3E}">
        <p14:creationId xmlns:p14="http://schemas.microsoft.com/office/powerpoint/2010/main" val="3431643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8"/>
          <p:cNvSpPr>
            <a:spLocks noGrp="1" noChangeArrowheads="1"/>
          </p:cNvSpPr>
          <p:nvPr>
            <p:ph type="sldNum" sz="quarter" idx="10"/>
          </p:nvPr>
        </p:nvSpPr>
        <p:spPr>
          <a:ln/>
        </p:spPr>
        <p:txBody>
          <a:bodyPr/>
          <a:lstStyle>
            <a:lvl1pPr>
              <a:defRPr/>
            </a:lvl1pPr>
          </a:lstStyle>
          <a:p>
            <a:pPr>
              <a:defRPr/>
            </a:pPr>
            <a:fld id="{C1BEC5D1-9419-4DD5-BA1F-142FCFA4AB46}" type="slidenum">
              <a:rPr lang="zh-CN" altLang="en-US"/>
              <a:pPr>
                <a:defRPr/>
              </a:pPr>
              <a:t>‹#›</a:t>
            </a:fld>
            <a:endParaRPr lang="en-US" altLang="zh-CN"/>
          </a:p>
        </p:txBody>
      </p:sp>
      <p:sp>
        <p:nvSpPr>
          <p:cNvPr id="4" name="Rectangle 7"/>
          <p:cNvSpPr>
            <a:spLocks noGrp="1" noChangeArrowheads="1"/>
          </p:cNvSpPr>
          <p:nvPr>
            <p:ph type="dt" sz="half" idx="11"/>
          </p:nvPr>
        </p:nvSpPr>
        <p:spPr>
          <a:ln/>
        </p:spPr>
        <p:txBody>
          <a:bodyPr/>
          <a:lstStyle>
            <a:lvl1pPr>
              <a:defRPr/>
            </a:lvl1pPr>
          </a:lstStyle>
          <a:p>
            <a:pPr>
              <a:defRPr/>
            </a:pPr>
            <a:fld id="{48B7423E-AAA3-49F0-9D54-0726C3E731D1}" type="datetime1">
              <a:rPr lang="zh-CN" altLang="en-US"/>
              <a:pPr>
                <a:defRPr/>
              </a:pPr>
              <a:t>2024/9/8</a:t>
            </a:fld>
            <a:endParaRPr lang="en-US" altLang="zh-CN" sz="1000"/>
          </a:p>
        </p:txBody>
      </p:sp>
    </p:spTree>
    <p:extLst>
      <p:ext uri="{BB962C8B-B14F-4D97-AF65-F5344CB8AC3E}">
        <p14:creationId xmlns:p14="http://schemas.microsoft.com/office/powerpoint/2010/main" val="24692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9D1CEE54-DDF3-4E94-AECB-FBB7C64FB2A4}" type="slidenum">
              <a:rPr lang="zh-CN" altLang="en-US"/>
              <a:pPr>
                <a:defRPr/>
              </a:pPr>
              <a:t>‹#›</a:t>
            </a:fld>
            <a:endParaRPr lang="en-US" altLang="zh-CN"/>
          </a:p>
        </p:txBody>
      </p:sp>
      <p:sp>
        <p:nvSpPr>
          <p:cNvPr id="3" name="Rectangle 7"/>
          <p:cNvSpPr>
            <a:spLocks noGrp="1" noChangeArrowheads="1"/>
          </p:cNvSpPr>
          <p:nvPr>
            <p:ph type="dt" sz="half" idx="11"/>
          </p:nvPr>
        </p:nvSpPr>
        <p:spPr>
          <a:ln/>
        </p:spPr>
        <p:txBody>
          <a:bodyPr/>
          <a:lstStyle>
            <a:lvl1pPr>
              <a:defRPr/>
            </a:lvl1pPr>
          </a:lstStyle>
          <a:p>
            <a:pPr>
              <a:defRPr/>
            </a:pPr>
            <a:fld id="{C0DED347-EF20-4D67-BCBC-44A411417AC0}" type="datetime1">
              <a:rPr lang="zh-CN" altLang="en-US"/>
              <a:pPr>
                <a:defRPr/>
              </a:pPr>
              <a:t>2024/9/8</a:t>
            </a:fld>
            <a:endParaRPr lang="en-US" altLang="zh-CN" sz="1000"/>
          </a:p>
        </p:txBody>
      </p:sp>
    </p:spTree>
    <p:extLst>
      <p:ext uri="{BB962C8B-B14F-4D97-AF65-F5344CB8AC3E}">
        <p14:creationId xmlns:p14="http://schemas.microsoft.com/office/powerpoint/2010/main" val="3108036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650875" y="1143000"/>
            <a:ext cx="882015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ltLang="en-US" smtClean="0"/>
              <a:t>Body Text</a:t>
            </a:r>
          </a:p>
          <a:p>
            <a:pPr lvl="1"/>
            <a:r>
              <a:rPr lang="en-US" altLang="en-US" smtClean="0"/>
              <a:t> Second Level</a:t>
            </a:r>
          </a:p>
          <a:p>
            <a:pPr lvl="2"/>
            <a:r>
              <a:rPr lang="en-US" altLang="en-US" smtClean="0"/>
              <a:t>Third Level</a:t>
            </a:r>
          </a:p>
          <a:p>
            <a:pPr lvl="3"/>
            <a:r>
              <a:rPr lang="en-US" altLang="en-US" smtClean="0"/>
              <a:t>Fourth Level</a:t>
            </a:r>
          </a:p>
          <a:p>
            <a:pPr lvl="4"/>
            <a:r>
              <a:rPr lang="en-US" altLang="en-US" smtClean="0"/>
              <a:t>Fifth Level</a:t>
            </a:r>
          </a:p>
        </p:txBody>
      </p:sp>
      <p:sp>
        <p:nvSpPr>
          <p:cNvPr id="104452" name="Rectangle 4"/>
          <p:cNvSpPr>
            <a:spLocks noGrp="1" noChangeArrowheads="1"/>
          </p:cNvSpPr>
          <p:nvPr>
            <p:ph type="title"/>
          </p:nvPr>
        </p:nvSpPr>
        <p:spPr bwMode="auto">
          <a:xfrm>
            <a:off x="650875" y="255588"/>
            <a:ext cx="8820150" cy="658812"/>
          </a:xfrm>
          <a:prstGeom prst="rect">
            <a:avLst/>
          </a:prstGeom>
          <a:noFill/>
          <a:ln w="12700">
            <a:noFill/>
            <a:miter lim="800000"/>
            <a:headEnd/>
            <a:tailEnd/>
          </a:ln>
          <a:effectLst>
            <a:outerShdw dist="17961" dir="2700000" algn="ctr" rotWithShape="0">
              <a:schemeClr val="bg2"/>
            </a:outerShdw>
          </a:effectLst>
        </p:spPr>
        <p:txBody>
          <a:bodyPr vert="horz" wrap="square" lIns="0" tIns="0" rIns="0" bIns="0" numCol="1" anchor="b" anchorCtr="0" compatLnSpc="1">
            <a:prstTxWarp prst="textNoShape">
              <a:avLst/>
            </a:prstTxWarp>
            <a:spAutoFit/>
          </a:bodyPr>
          <a:lstStyle/>
          <a:p>
            <a:pPr lvl="0"/>
            <a:r>
              <a:rPr lang="en-US" altLang="en-US" smtClean="0"/>
              <a:t>Slide Title</a:t>
            </a:r>
          </a:p>
        </p:txBody>
      </p:sp>
      <p:sp>
        <p:nvSpPr>
          <p:cNvPr id="104456" name="Rectangle 8"/>
          <p:cNvSpPr>
            <a:spLocks noGrp="1" noChangeArrowheads="1"/>
          </p:cNvSpPr>
          <p:nvPr>
            <p:ph type="sldNum" sz="quarter" idx="4"/>
          </p:nvPr>
        </p:nvSpPr>
        <p:spPr bwMode="auto">
          <a:xfrm>
            <a:off x="7321550" y="6324600"/>
            <a:ext cx="2501900" cy="527050"/>
          </a:xfrm>
          <a:prstGeom prst="rect">
            <a:avLst/>
          </a:prstGeom>
          <a:noFill/>
          <a:ln w="12700">
            <a:noFill/>
            <a:miter lim="800000"/>
            <a:headEnd/>
            <a:tailEnd/>
          </a:ln>
          <a:effectLst/>
        </p:spPr>
        <p:txBody>
          <a:bodyPr vert="horz" wrap="square" lIns="115646" tIns="57824" rIns="115646" bIns="57824" numCol="1" anchor="t" anchorCtr="0" compatLnSpc="1">
            <a:prstTxWarp prst="textNoShape">
              <a:avLst/>
            </a:prstTxWarp>
          </a:bodyPr>
          <a:lstStyle>
            <a:lvl1pPr algn="r">
              <a:defRPr i="0"/>
            </a:lvl1pPr>
          </a:lstStyle>
          <a:p>
            <a:pPr>
              <a:defRPr/>
            </a:pPr>
            <a:fld id="{28352C0C-293C-4BCC-B672-2BD400DF49A2}" type="slidenum">
              <a:rPr lang="zh-CN" altLang="en-US"/>
              <a:pPr>
                <a:defRPr/>
              </a:pPr>
              <a:t>‹#›</a:t>
            </a:fld>
            <a:endParaRPr lang="en-US" altLang="zh-CN"/>
          </a:p>
        </p:txBody>
      </p:sp>
      <p:sp>
        <p:nvSpPr>
          <p:cNvPr id="104455" name="Rectangle 7"/>
          <p:cNvSpPr>
            <a:spLocks noGrp="1" noChangeArrowheads="1"/>
          </p:cNvSpPr>
          <p:nvPr>
            <p:ph type="dt" sz="half" idx="2"/>
          </p:nvPr>
        </p:nvSpPr>
        <p:spPr bwMode="auto">
          <a:xfrm>
            <a:off x="14288" y="6350000"/>
            <a:ext cx="2297112" cy="577850"/>
          </a:xfrm>
          <a:prstGeom prst="rect">
            <a:avLst/>
          </a:prstGeom>
          <a:noFill/>
          <a:ln w="12700">
            <a:noFill/>
            <a:miter lim="800000"/>
            <a:headEnd/>
            <a:tailEnd/>
          </a:ln>
          <a:effectLst/>
        </p:spPr>
        <p:txBody>
          <a:bodyPr vert="horz" wrap="square" lIns="115646" tIns="57824" rIns="115646" bIns="57824" numCol="1" anchor="t" anchorCtr="0" compatLnSpc="1">
            <a:prstTxWarp prst="textNoShape">
              <a:avLst/>
            </a:prstTxWarp>
          </a:bodyPr>
          <a:lstStyle>
            <a:lvl1pPr algn="l">
              <a:defRPr sz="1800" i="0"/>
            </a:lvl1pPr>
          </a:lstStyle>
          <a:p>
            <a:pPr>
              <a:defRPr/>
            </a:pPr>
            <a:fld id="{691D5A6B-4D12-4E70-836A-59805453956A}" type="datetime1">
              <a:rPr lang="zh-CN" altLang="en-US"/>
              <a:pPr>
                <a:defRPr/>
              </a:pPr>
              <a:t>2024/9/8</a:t>
            </a:fld>
            <a:endParaRPr lang="en-US" altLang="zh-CN" sz="1000"/>
          </a:p>
        </p:txBody>
      </p:sp>
    </p:spTree>
  </p:cSld>
  <p:clrMap bg1="lt1" tx1="dk1" bg2="lt2" tx2="dk2" accent1="accent1" accent2="accent2" accent3="accent3" accent4="accent4" accent5="accent5" accent6="accent6" hlink="hlink" folHlink="folHlink"/>
  <p:sldLayoutIdLst>
    <p:sldLayoutId id="2147483697" r:id="rId1"/>
    <p:sldLayoutId id="2147483687" r:id="rId2"/>
    <p:sldLayoutId id="2147483688" r:id="rId3"/>
    <p:sldLayoutId id="2147483689" r:id="rId4"/>
    <p:sldLayoutId id="2147483691" r:id="rId5"/>
    <p:sldLayoutId id="2147483692" r:id="rId6"/>
  </p:sldLayoutIdLst>
  <p:timing>
    <p:tnLst>
      <p:par>
        <p:cTn id="1" dur="indefinite" restart="never" nodeType="tmRoot"/>
      </p:par>
    </p:tnLst>
  </p:timing>
  <p:hf hdr="0" ftr="0"/>
  <p:txStyles>
    <p:titleStyle>
      <a:lvl1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mj-lt"/>
          <a:ea typeface="+mj-ea"/>
          <a:cs typeface="+mj-cs"/>
        </a:defRPr>
      </a:lvl1pPr>
      <a:lvl2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2pPr>
      <a:lvl3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3pPr>
      <a:lvl4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4pPr>
      <a:lvl5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5pPr>
      <a:lvl6pPr marL="4572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6pPr>
      <a:lvl7pPr marL="9144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7pPr>
      <a:lvl8pPr marL="13716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8pPr>
      <a:lvl9pPr marL="18288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2" charset="-122"/>
        </a:defRPr>
      </a:lvl9pPr>
    </p:titleStyle>
    <p:body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jpeg"/><Relationship Id="rId2" Type="http://schemas.openxmlformats.org/officeDocument/2006/relationships/tags" Target="../tags/tag1.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7.bin"/><Relationship Id="rId3" Type="http://schemas.openxmlformats.org/officeDocument/2006/relationships/slideLayout" Target="../slideLayouts/slideLayout2.xml"/><Relationship Id="rId7" Type="http://schemas.openxmlformats.org/officeDocument/2006/relationships/oleObject" Target="../embeddings/oleObject4.bin"/><Relationship Id="rId12" Type="http://schemas.openxmlformats.org/officeDocument/2006/relationships/image" Target="../media/image10.wmf"/><Relationship Id="rId2" Type="http://schemas.openxmlformats.org/officeDocument/2006/relationships/tags" Target="../tags/tag2.xml"/><Relationship Id="rId1" Type="http://schemas.openxmlformats.org/officeDocument/2006/relationships/vmlDrawing" Target="../drawings/vmlDrawing3.vml"/><Relationship Id="rId6" Type="http://schemas.openxmlformats.org/officeDocument/2006/relationships/image" Target="../media/image7.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9.wmf"/><Relationship Id="rId4" Type="http://schemas.openxmlformats.org/officeDocument/2006/relationships/notesSlide" Target="../notesSlides/notesSlide7.xml"/><Relationship Id="rId9" Type="http://schemas.openxmlformats.org/officeDocument/2006/relationships/oleObject" Target="../embeddings/oleObject5.bin"/><Relationship Id="rId14" Type="http://schemas.openxmlformats.org/officeDocument/2006/relationships/image" Target="../media/image11.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11.xml"/><Relationship Id="rId7"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13.xml"/><Relationship Id="rId7" Type="http://schemas.openxmlformats.org/officeDocument/2006/relationships/image" Target="../media/image17.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image" Target="../media/image16.emf"/><Relationship Id="rId4" Type="http://schemas.openxmlformats.org/officeDocument/2006/relationships/oleObject" Target="../embeddings/oleObject12.bin"/><Relationship Id="rId9" Type="http://schemas.openxmlformats.org/officeDocument/2006/relationships/image" Target="../media/image18.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notesSlide" Target="../notesSlides/notesSlide21.xml"/><Relationship Id="rId7" Type="http://schemas.openxmlformats.org/officeDocument/2006/relationships/image" Target="../media/image21.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6.bin"/><Relationship Id="rId5" Type="http://schemas.openxmlformats.org/officeDocument/2006/relationships/image" Target="../media/image20.emf"/><Relationship Id="rId10" Type="http://schemas.openxmlformats.org/officeDocument/2006/relationships/image" Target="../media/image22.emf"/><Relationship Id="rId4" Type="http://schemas.openxmlformats.org/officeDocument/2006/relationships/oleObject" Target="../embeddings/oleObject15.bin"/><Relationship Id="rId9" Type="http://schemas.openxmlformats.org/officeDocument/2006/relationships/oleObject" Target="../embeddings/oleObject17.bin"/></Relationships>
</file>

<file path=ppt/slides/_rels/slide22.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notesSlide" Target="../notesSlides/notesSlide22.xml"/><Relationship Id="rId7" Type="http://schemas.openxmlformats.org/officeDocument/2006/relationships/oleObject" Target="../embeddings/oleObject19.bin"/><Relationship Id="rId12" Type="http://schemas.openxmlformats.org/officeDocument/2006/relationships/image" Target="../media/image26.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6.jpeg"/><Relationship Id="rId11" Type="http://schemas.openxmlformats.org/officeDocument/2006/relationships/oleObject" Target="../embeddings/oleObject21.bin"/><Relationship Id="rId5" Type="http://schemas.openxmlformats.org/officeDocument/2006/relationships/image" Target="../media/image23.emf"/><Relationship Id="rId10" Type="http://schemas.openxmlformats.org/officeDocument/2006/relationships/image" Target="../media/image25.emf"/><Relationship Id="rId4" Type="http://schemas.openxmlformats.org/officeDocument/2006/relationships/oleObject" Target="../embeddings/oleObject18.bin"/><Relationship Id="rId9"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notesSlide" Target="../notesSlides/notesSlide24.xml"/><Relationship Id="rId7" Type="http://schemas.openxmlformats.org/officeDocument/2006/relationships/image" Target="../media/image27.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2.bin"/><Relationship Id="rId5" Type="http://schemas.openxmlformats.org/officeDocument/2006/relationships/audio" Target="../media/audio2.wav"/><Relationship Id="rId10" Type="http://schemas.openxmlformats.org/officeDocument/2006/relationships/image" Target="../media/image6.jpeg"/><Relationship Id="rId4" Type="http://schemas.openxmlformats.org/officeDocument/2006/relationships/audio" Target="../media/audio1.wav"/><Relationship Id="rId9" Type="http://schemas.openxmlformats.org/officeDocument/2006/relationships/image" Target="../media/image28.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audio" Target="../media/audio3.wav"/><Relationship Id="rId7" Type="http://schemas.openxmlformats.org/officeDocument/2006/relationships/oleObject" Target="../embeddings/oleObject25.bin"/><Relationship Id="rId12"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9.w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31.wmf"/><Relationship Id="rId4" Type="http://schemas.openxmlformats.org/officeDocument/2006/relationships/audio" Target="../media/audio2.wav"/><Relationship Id="rId9" Type="http://schemas.openxmlformats.org/officeDocument/2006/relationships/oleObject" Target="../embeddings/oleObject26.bin"/></Relationships>
</file>

<file path=ppt/slides/_rels/slide2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audio" Target="../media/audio2.wav"/><Relationship Id="rId7"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9.bin"/><Relationship Id="rId5" Type="http://schemas.openxmlformats.org/officeDocument/2006/relationships/image" Target="../media/image33.wmf"/><Relationship Id="rId4" Type="http://schemas.openxmlformats.org/officeDocument/2006/relationships/oleObject" Target="../embeddings/oleObject28.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jpeg"/><Relationship Id="rId5" Type="http://schemas.openxmlformats.org/officeDocument/2006/relationships/image" Target="../media/image35.emf"/><Relationship Id="rId4" Type="http://schemas.openxmlformats.org/officeDocument/2006/relationships/oleObject" Target="../embeddings/oleObject30.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37.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32.bin"/><Relationship Id="rId5" Type="http://schemas.openxmlformats.org/officeDocument/2006/relationships/image" Target="../media/image36.emf"/><Relationship Id="rId4" Type="http://schemas.openxmlformats.org/officeDocument/2006/relationships/oleObject" Target="../embeddings/oleObject31.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audio" Target="../media/audio4.wav"/><Relationship Id="rId7"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34.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40.wmf"/></Relationships>
</file>

<file path=ppt/slides/_rels/slide31.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image" Target="../media/image46.wmf"/><Relationship Id="rId3" Type="http://schemas.openxmlformats.org/officeDocument/2006/relationships/notesSlide" Target="../notesSlides/notesSlide28.xml"/><Relationship Id="rId7" Type="http://schemas.openxmlformats.org/officeDocument/2006/relationships/oleObject" Target="../embeddings/oleObject38.bin"/><Relationship Id="rId12" Type="http://schemas.openxmlformats.org/officeDocument/2006/relationships/image" Target="../media/image45.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2.wmf"/><Relationship Id="rId11" Type="http://schemas.openxmlformats.org/officeDocument/2006/relationships/oleObject" Target="../embeddings/oleObject40.bin"/><Relationship Id="rId5" Type="http://schemas.openxmlformats.org/officeDocument/2006/relationships/oleObject" Target="../embeddings/oleObject37.bin"/><Relationship Id="rId10" Type="http://schemas.openxmlformats.org/officeDocument/2006/relationships/image" Target="../media/image44.wmf"/><Relationship Id="rId4" Type="http://schemas.openxmlformats.org/officeDocument/2006/relationships/audio" Target="../media/audio5.wav"/><Relationship Id="rId9" Type="http://schemas.openxmlformats.org/officeDocument/2006/relationships/oleObject" Target="../embeddings/oleObject39.bin"/></Relationships>
</file>

<file path=ppt/slides/_rels/slide32.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notesSlide" Target="../notesSlides/notesSlide29.xml"/><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jpeg"/><Relationship Id="rId5" Type="http://schemas.openxmlformats.org/officeDocument/2006/relationships/image" Target="../media/image47.emf"/><Relationship Id="rId10" Type="http://schemas.openxmlformats.org/officeDocument/2006/relationships/image" Target="../media/image49.emf"/><Relationship Id="rId4" Type="http://schemas.openxmlformats.org/officeDocument/2006/relationships/oleObject" Target="../embeddings/oleObject41.bin"/><Relationship Id="rId9" Type="http://schemas.openxmlformats.org/officeDocument/2006/relationships/oleObject" Target="../embeddings/oleObject43.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6.jpeg"/><Relationship Id="rId5" Type="http://schemas.openxmlformats.org/officeDocument/2006/relationships/image" Target="../media/image50.emf"/><Relationship Id="rId4" Type="http://schemas.openxmlformats.org/officeDocument/2006/relationships/oleObject" Target="../embeddings/oleObject44.bin"/></Relationships>
</file>

<file path=ppt/slides/_rels/slide34.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notesSlide" Target="../notesSlides/notesSlide31.xml"/><Relationship Id="rId7"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jpeg"/><Relationship Id="rId5" Type="http://schemas.openxmlformats.org/officeDocument/2006/relationships/image" Target="../media/image51.emf"/><Relationship Id="rId4" Type="http://schemas.openxmlformats.org/officeDocument/2006/relationships/oleObject" Target="../embeddings/oleObject45.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6.jpeg"/><Relationship Id="rId5" Type="http://schemas.openxmlformats.org/officeDocument/2006/relationships/image" Target="../media/image53.emf"/><Relationship Id="rId4" Type="http://schemas.openxmlformats.org/officeDocument/2006/relationships/oleObject" Target="../embeddings/oleObject47.bin"/></Relationships>
</file>

<file path=ppt/slides/_rels/slide36.xml.rels><?xml version="1.0" encoding="UTF-8" standalone="yes"?>
<Relationships xmlns="http://schemas.openxmlformats.org/package/2006/relationships"><Relationship Id="rId8" Type="http://schemas.openxmlformats.org/officeDocument/2006/relationships/image" Target="../media/image55.emf"/><Relationship Id="rId13" Type="http://schemas.openxmlformats.org/officeDocument/2006/relationships/oleObject" Target="../embeddings/oleObject52.bin"/><Relationship Id="rId3" Type="http://schemas.openxmlformats.org/officeDocument/2006/relationships/notesSlide" Target="../notesSlides/notesSlide33.xml"/><Relationship Id="rId7" Type="http://schemas.openxmlformats.org/officeDocument/2006/relationships/oleObject" Target="../embeddings/oleObject49.bin"/><Relationship Id="rId12" Type="http://schemas.openxmlformats.org/officeDocument/2006/relationships/image" Target="../media/image57.emf"/><Relationship Id="rId2" Type="http://schemas.openxmlformats.org/officeDocument/2006/relationships/slideLayout" Target="../slideLayouts/slideLayout2.xml"/><Relationship Id="rId16" Type="http://schemas.openxmlformats.org/officeDocument/2006/relationships/image" Target="../media/image59.emf"/><Relationship Id="rId1" Type="http://schemas.openxmlformats.org/officeDocument/2006/relationships/vmlDrawing" Target="../drawings/vmlDrawing19.vml"/><Relationship Id="rId6" Type="http://schemas.openxmlformats.org/officeDocument/2006/relationships/image" Target="../media/image6.jpeg"/><Relationship Id="rId11" Type="http://schemas.openxmlformats.org/officeDocument/2006/relationships/oleObject" Target="../embeddings/oleObject51.bin"/><Relationship Id="rId5" Type="http://schemas.openxmlformats.org/officeDocument/2006/relationships/image" Target="../media/image54.emf"/><Relationship Id="rId15" Type="http://schemas.openxmlformats.org/officeDocument/2006/relationships/oleObject" Target="../embeddings/oleObject53.bin"/><Relationship Id="rId10" Type="http://schemas.openxmlformats.org/officeDocument/2006/relationships/image" Target="../media/image56.emf"/><Relationship Id="rId4" Type="http://schemas.openxmlformats.org/officeDocument/2006/relationships/oleObject" Target="../embeddings/oleObject48.bin"/><Relationship Id="rId9" Type="http://schemas.openxmlformats.org/officeDocument/2006/relationships/oleObject" Target="../embeddings/oleObject50.bin"/><Relationship Id="rId14" Type="http://schemas.openxmlformats.org/officeDocument/2006/relationships/image" Target="../media/image58.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notesSlide" Target="../notesSlides/notesSlide35.xml"/><Relationship Id="rId7" Type="http://schemas.openxmlformats.org/officeDocument/2006/relationships/oleObject" Target="../embeddings/oleObject55.bin"/><Relationship Id="rId12" Type="http://schemas.openxmlformats.org/officeDocument/2006/relationships/image" Target="../media/image63.e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6.jpeg"/><Relationship Id="rId11" Type="http://schemas.openxmlformats.org/officeDocument/2006/relationships/oleObject" Target="../embeddings/oleObject57.bin"/><Relationship Id="rId5" Type="http://schemas.openxmlformats.org/officeDocument/2006/relationships/image" Target="../media/image60.emf"/><Relationship Id="rId10" Type="http://schemas.openxmlformats.org/officeDocument/2006/relationships/image" Target="../media/image62.emf"/><Relationship Id="rId4" Type="http://schemas.openxmlformats.org/officeDocument/2006/relationships/oleObject" Target="../embeddings/oleObject54.bin"/><Relationship Id="rId9" Type="http://schemas.openxmlformats.org/officeDocument/2006/relationships/oleObject" Target="../embeddings/oleObject56.bin"/></Relationships>
</file>

<file path=ppt/slides/_rels/slide39.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notesSlide" Target="../notesSlides/notesSlide36.xml"/><Relationship Id="rId7"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6.jpeg"/><Relationship Id="rId5" Type="http://schemas.openxmlformats.org/officeDocument/2006/relationships/image" Target="../media/image64.wmf"/><Relationship Id="rId10" Type="http://schemas.openxmlformats.org/officeDocument/2006/relationships/image" Target="../media/image66.emf"/><Relationship Id="rId4" Type="http://schemas.openxmlformats.org/officeDocument/2006/relationships/oleObject" Target="../embeddings/oleObject58.bin"/><Relationship Id="rId9" Type="http://schemas.openxmlformats.org/officeDocument/2006/relationships/oleObject" Target="../embeddings/oleObject60.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notesSlide" Target="../notesSlides/notesSlide37.xml"/><Relationship Id="rId7" Type="http://schemas.openxmlformats.org/officeDocument/2006/relationships/image" Target="../media/image68.wmf"/><Relationship Id="rId12"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62.bin"/><Relationship Id="rId11" Type="http://schemas.openxmlformats.org/officeDocument/2006/relationships/oleObject" Target="../embeddings/oleObject66.bin"/><Relationship Id="rId5" Type="http://schemas.openxmlformats.org/officeDocument/2006/relationships/image" Target="../media/image67.wmf"/><Relationship Id="rId10" Type="http://schemas.openxmlformats.org/officeDocument/2006/relationships/oleObject" Target="../embeddings/oleObject65.bin"/><Relationship Id="rId4" Type="http://schemas.openxmlformats.org/officeDocument/2006/relationships/oleObject" Target="../embeddings/oleObject61.bin"/><Relationship Id="rId9" Type="http://schemas.openxmlformats.org/officeDocument/2006/relationships/oleObject" Target="../embeddings/oleObject64.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notesSlide" Target="../notesSlides/notesSlide38.xml"/><Relationship Id="rId7" Type="http://schemas.openxmlformats.org/officeDocument/2006/relationships/image" Target="../media/image68.wmf"/><Relationship Id="rId12"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68.bin"/><Relationship Id="rId11" Type="http://schemas.openxmlformats.org/officeDocument/2006/relationships/oleObject" Target="../embeddings/oleObject72.bin"/><Relationship Id="rId5" Type="http://schemas.openxmlformats.org/officeDocument/2006/relationships/image" Target="../media/image67.wmf"/><Relationship Id="rId10" Type="http://schemas.openxmlformats.org/officeDocument/2006/relationships/oleObject" Target="../embeddings/oleObject71.bin"/><Relationship Id="rId4" Type="http://schemas.openxmlformats.org/officeDocument/2006/relationships/oleObject" Target="../embeddings/oleObject67.bin"/><Relationship Id="rId9" Type="http://schemas.openxmlformats.org/officeDocument/2006/relationships/oleObject" Target="../embeddings/oleObject70.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notesSlide" Target="../notesSlides/notesSlide39.xml"/><Relationship Id="rId7"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74.bin"/><Relationship Id="rId11" Type="http://schemas.openxmlformats.org/officeDocument/2006/relationships/oleObject" Target="../embeddings/oleObject78.bin"/><Relationship Id="rId5" Type="http://schemas.openxmlformats.org/officeDocument/2006/relationships/image" Target="../media/image67.wmf"/><Relationship Id="rId10" Type="http://schemas.openxmlformats.org/officeDocument/2006/relationships/oleObject" Target="../embeddings/oleObject77.bin"/><Relationship Id="rId4" Type="http://schemas.openxmlformats.org/officeDocument/2006/relationships/oleObject" Target="../embeddings/oleObject73.bin"/><Relationship Id="rId9" Type="http://schemas.openxmlformats.org/officeDocument/2006/relationships/oleObject" Target="../embeddings/oleObject76.bin"/></Relationships>
</file>

<file path=ppt/slides/_rels/slide43.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notesSlide" Target="../notesSlides/notesSlide44.xml"/><Relationship Id="rId7" Type="http://schemas.openxmlformats.org/officeDocument/2006/relationships/oleObject" Target="../embeddings/oleObject81.bin"/><Relationship Id="rId12"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80.bin"/><Relationship Id="rId11" Type="http://schemas.openxmlformats.org/officeDocument/2006/relationships/oleObject" Target="../embeddings/oleObject84.bin"/><Relationship Id="rId5" Type="http://schemas.openxmlformats.org/officeDocument/2006/relationships/image" Target="../media/image71.wmf"/><Relationship Id="rId10" Type="http://schemas.openxmlformats.org/officeDocument/2006/relationships/oleObject" Target="../embeddings/oleObject83.bin"/><Relationship Id="rId4" Type="http://schemas.openxmlformats.org/officeDocument/2006/relationships/oleObject" Target="../embeddings/oleObject79.bin"/><Relationship Id="rId9" Type="http://schemas.openxmlformats.org/officeDocument/2006/relationships/image" Target="../media/image72.w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73.wmf"/><Relationship Id="rId4" Type="http://schemas.openxmlformats.org/officeDocument/2006/relationships/oleObject" Target="../embeddings/oleObject86.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notesSlide" Target="../notesSlides/notesSlide48.xml"/><Relationship Id="rId7" Type="http://schemas.openxmlformats.org/officeDocument/2006/relationships/image" Target="../media/image75.emf"/><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88.bin"/><Relationship Id="rId5" Type="http://schemas.openxmlformats.org/officeDocument/2006/relationships/image" Target="../media/image74.emf"/><Relationship Id="rId4" Type="http://schemas.openxmlformats.org/officeDocument/2006/relationships/oleObject" Target="../embeddings/oleObject87.bin"/><Relationship Id="rId9" Type="http://schemas.openxmlformats.org/officeDocument/2006/relationships/image" Target="../media/image76.e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4.wav"/><Relationship Id="rId1" Type="http://schemas.openxmlformats.org/officeDocument/2006/relationships/slideLayout" Target="../slideLayouts/slideLayout2.xml"/><Relationship Id="rId5" Type="http://schemas.openxmlformats.org/officeDocument/2006/relationships/audio" Target="../media/audio7.wav"/><Relationship Id="rId4" Type="http://schemas.openxmlformats.org/officeDocument/2006/relationships/audio" Target="../media/audio5.wav"/></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79.emf"/><Relationship Id="rId3" Type="http://schemas.openxmlformats.org/officeDocument/2006/relationships/notesSlide" Target="../notesSlides/notesSlide59.xml"/><Relationship Id="rId7" Type="http://schemas.openxmlformats.org/officeDocument/2006/relationships/oleObject" Target="../embeddings/oleObject91.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6.jpeg"/><Relationship Id="rId5" Type="http://schemas.openxmlformats.org/officeDocument/2006/relationships/image" Target="../media/image78.emf"/><Relationship Id="rId4" Type="http://schemas.openxmlformats.org/officeDocument/2006/relationships/oleObject" Target="../embeddings/oleObject90.bin"/></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notesSlide" Target="../notesSlides/notesSlide62.xml"/><Relationship Id="rId7" Type="http://schemas.openxmlformats.org/officeDocument/2006/relationships/oleObject" Target="../embeddings/oleObject93.bin"/><Relationship Id="rId12"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6.jpeg"/><Relationship Id="rId11" Type="http://schemas.openxmlformats.org/officeDocument/2006/relationships/oleObject" Target="../embeddings/oleObject95.bin"/><Relationship Id="rId5" Type="http://schemas.openxmlformats.org/officeDocument/2006/relationships/image" Target="../media/image80.wmf"/><Relationship Id="rId10" Type="http://schemas.openxmlformats.org/officeDocument/2006/relationships/image" Target="../media/image82.wmf"/><Relationship Id="rId4" Type="http://schemas.openxmlformats.org/officeDocument/2006/relationships/oleObject" Target="../embeddings/oleObject92.bin"/><Relationship Id="rId9" Type="http://schemas.openxmlformats.org/officeDocument/2006/relationships/oleObject" Target="../embeddings/oleObject94.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85.emf"/><Relationship Id="rId13" Type="http://schemas.openxmlformats.org/officeDocument/2006/relationships/oleObject" Target="../embeddings/oleObject100.bin"/><Relationship Id="rId3" Type="http://schemas.openxmlformats.org/officeDocument/2006/relationships/notesSlide" Target="../notesSlides/notesSlide64.xml"/><Relationship Id="rId7" Type="http://schemas.openxmlformats.org/officeDocument/2006/relationships/oleObject" Target="../embeddings/oleObject97.bin"/><Relationship Id="rId12" Type="http://schemas.openxmlformats.org/officeDocument/2006/relationships/image" Target="../media/image87.emf"/><Relationship Id="rId2" Type="http://schemas.openxmlformats.org/officeDocument/2006/relationships/slideLayout" Target="../slideLayouts/slideLayout2.xml"/><Relationship Id="rId16" Type="http://schemas.openxmlformats.org/officeDocument/2006/relationships/image" Target="../media/image89.emf"/><Relationship Id="rId1" Type="http://schemas.openxmlformats.org/officeDocument/2006/relationships/vmlDrawing" Target="../drawings/vmlDrawing30.vml"/><Relationship Id="rId6" Type="http://schemas.openxmlformats.org/officeDocument/2006/relationships/image" Target="../media/image6.jpeg"/><Relationship Id="rId11" Type="http://schemas.openxmlformats.org/officeDocument/2006/relationships/oleObject" Target="../embeddings/oleObject99.bin"/><Relationship Id="rId5" Type="http://schemas.openxmlformats.org/officeDocument/2006/relationships/image" Target="../media/image84.emf"/><Relationship Id="rId15" Type="http://schemas.openxmlformats.org/officeDocument/2006/relationships/oleObject" Target="../embeddings/oleObject101.bin"/><Relationship Id="rId10" Type="http://schemas.openxmlformats.org/officeDocument/2006/relationships/image" Target="../media/image86.emf"/><Relationship Id="rId4" Type="http://schemas.openxmlformats.org/officeDocument/2006/relationships/oleObject" Target="../embeddings/oleObject96.bin"/><Relationship Id="rId9" Type="http://schemas.openxmlformats.org/officeDocument/2006/relationships/oleObject" Target="../embeddings/oleObject98.bin"/><Relationship Id="rId14" Type="http://schemas.openxmlformats.org/officeDocument/2006/relationships/image" Target="../media/image88.e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Rectangle 2"/>
          <p:cNvSpPr>
            <a:spLocks noGrp="1" noChangeArrowheads="1"/>
          </p:cNvSpPr>
          <p:nvPr>
            <p:ph type="ctrTitle"/>
          </p:nvPr>
        </p:nvSpPr>
        <p:spPr>
          <a:xfrm>
            <a:off x="1096963" y="2136775"/>
            <a:ext cx="7608887" cy="1911350"/>
          </a:xfrm>
        </p:spPr>
        <p:txBody>
          <a:bodyPr/>
          <a:lstStyle/>
          <a:p>
            <a:pPr>
              <a:defRPr/>
            </a:pPr>
            <a:r>
              <a:rPr lang="zh-CN" altLang="en-US" sz="6600" dirty="0" smtClean="0"/>
              <a:t>第一章 </a:t>
            </a:r>
            <a:br>
              <a:rPr lang="zh-CN" altLang="en-US" sz="6600" dirty="0" smtClean="0"/>
            </a:br>
            <a:r>
              <a:rPr lang="zh-CN" altLang="en-US" sz="6600" dirty="0" smtClean="0"/>
              <a:t>数值计算中的误差</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742631D-DEEA-42D4-818C-B2C41365BD8D}" type="slidenum">
              <a:rPr lang="zh-CN" altLang="en-US" i="0" smtClean="0"/>
              <a:pPr/>
              <a:t>2</a:t>
            </a:fld>
            <a:endParaRPr lang="en-US" altLang="zh-CN" i="0" smtClean="0"/>
          </a:p>
        </p:txBody>
      </p:sp>
      <p:sp>
        <p:nvSpPr>
          <p:cNvPr id="40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D21EE7F-8152-488E-BA37-3489FEEFD25D}" type="datetime1">
              <a:rPr lang="zh-CN" altLang="en-US" sz="1800" i="0" smtClean="0"/>
              <a:pPr/>
              <a:t>2024/9/8</a:t>
            </a:fld>
            <a:endParaRPr lang="en-US" altLang="zh-CN" sz="1000" i="0" smtClean="0"/>
          </a:p>
        </p:txBody>
      </p:sp>
      <p:sp>
        <p:nvSpPr>
          <p:cNvPr id="686082" name="Rectangle 2"/>
          <p:cNvSpPr>
            <a:spLocks noGrp="1" noChangeArrowheads="1"/>
          </p:cNvSpPr>
          <p:nvPr>
            <p:ph type="title"/>
          </p:nvPr>
        </p:nvSpPr>
        <p:spPr/>
        <p:txBody>
          <a:bodyPr/>
          <a:lstStyle/>
          <a:p>
            <a:pPr>
              <a:defRPr/>
            </a:pPr>
            <a:r>
              <a:rPr lang="zh-CN" altLang="en-US" dirty="0" smtClean="0"/>
              <a:t>本章内容</a:t>
            </a:r>
          </a:p>
        </p:txBody>
      </p:sp>
      <p:sp>
        <p:nvSpPr>
          <p:cNvPr id="4101" name="Rectangle 3"/>
          <p:cNvSpPr>
            <a:spLocks noGrp="1" noChangeArrowheads="1"/>
          </p:cNvSpPr>
          <p:nvPr>
            <p:ph type="body" idx="1"/>
          </p:nvPr>
        </p:nvSpPr>
        <p:spPr>
          <a:xfrm>
            <a:off x="838200" y="1524000"/>
            <a:ext cx="7772400" cy="3051175"/>
          </a:xfrm>
        </p:spPr>
        <p:txBody>
          <a:bodyPr/>
          <a:lstStyle/>
          <a:p>
            <a:pPr>
              <a:buFont typeface="Wingdings" pitchFamily="2" charset="2"/>
              <a:buNone/>
            </a:pPr>
            <a:r>
              <a:rPr lang="zh-CN" altLang="en-US" smtClean="0"/>
              <a:t>§1  </a:t>
            </a:r>
            <a:r>
              <a:rPr lang="zh-CN" altLang="zh-CN" smtClean="0"/>
              <a:t>计数与数值</a:t>
            </a:r>
          </a:p>
          <a:p>
            <a:pPr>
              <a:buFont typeface="Wingdings" pitchFamily="2" charset="2"/>
              <a:buNone/>
            </a:pPr>
            <a:r>
              <a:rPr lang="zh-CN" altLang="en-US" smtClean="0"/>
              <a:t>§2  </a:t>
            </a:r>
            <a:r>
              <a:rPr lang="zh-CN" altLang="en-US" smtClean="0">
                <a:latin typeface="Arial" pitchFamily="34" charset="0"/>
              </a:rPr>
              <a:t>舍入方法与有效数字</a:t>
            </a:r>
          </a:p>
          <a:p>
            <a:pPr>
              <a:buFont typeface="Wingdings" pitchFamily="2" charset="2"/>
              <a:buNone/>
            </a:pPr>
            <a:r>
              <a:rPr lang="zh-CN" altLang="en-US" smtClean="0"/>
              <a:t>§3  </a:t>
            </a:r>
            <a:r>
              <a:rPr lang="zh-CN" altLang="en-US" smtClean="0">
                <a:latin typeface="Arial" pitchFamily="34" charset="0"/>
              </a:rPr>
              <a:t>算术运算中的误差</a:t>
            </a:r>
          </a:p>
          <a:p>
            <a:pPr>
              <a:buFont typeface="Wingdings" pitchFamily="2" charset="2"/>
              <a:buNone/>
            </a:pPr>
            <a:r>
              <a:rPr lang="zh-CN" altLang="en-US" smtClean="0"/>
              <a:t>§4  </a:t>
            </a:r>
            <a:r>
              <a:rPr lang="zh-CN" altLang="en-US" smtClean="0">
                <a:latin typeface="Arial" pitchFamily="34" charset="0"/>
              </a:rPr>
              <a:t>算法举例</a:t>
            </a:r>
          </a:p>
          <a:p>
            <a:pPr>
              <a:buFont typeface="Wingdings" pitchFamily="2" charset="2"/>
              <a:buNone/>
            </a:pPr>
            <a:r>
              <a:rPr lang="zh-CN" altLang="en-US" smtClean="0"/>
              <a:t>§5  </a:t>
            </a:r>
            <a:r>
              <a:rPr lang="zh-CN" altLang="en-US" smtClean="0">
                <a:latin typeface="Arial" pitchFamily="34" charset="0"/>
              </a:rPr>
              <a:t>数值计算中的误差</a:t>
            </a:r>
          </a:p>
          <a:p>
            <a:pPr>
              <a:buFont typeface="Wingdings" pitchFamily="2" charset="2"/>
              <a:buNone/>
            </a:pPr>
            <a:r>
              <a:rPr lang="zh-CN" altLang="en-US" smtClean="0"/>
              <a:t>§6  </a:t>
            </a:r>
            <a:r>
              <a:rPr lang="zh-CN" altLang="en-US" smtClean="0">
                <a:latin typeface="Arial" pitchFamily="34" charset="0"/>
              </a:rPr>
              <a:t>误差分配原则与处理方法</a:t>
            </a:r>
            <a:endParaRPr lang="zh-CN" altLang="zh-CN" smtClean="0">
              <a:latin typeface="Arial" pitchFamily="34" charset="0"/>
            </a:endParaRPr>
          </a:p>
        </p:txBody>
      </p:sp>
      <p:pic>
        <p:nvPicPr>
          <p:cNvPr id="4102" name="Picture 4" descr="BS0055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0400" y="4648200"/>
            <a:ext cx="2114550"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p:cNvSpPr>
            <a:spLocks noGrp="1" noChangeArrowheads="1"/>
          </p:cNvSpPr>
          <p:nvPr>
            <p:ph type="ctrTitle"/>
          </p:nvPr>
        </p:nvSpPr>
        <p:spPr>
          <a:xfrm>
            <a:off x="1096963" y="2136775"/>
            <a:ext cx="7608887" cy="1736725"/>
          </a:xfrm>
        </p:spPr>
        <p:txBody>
          <a:bodyPr/>
          <a:lstStyle/>
          <a:p>
            <a:pPr>
              <a:defRPr/>
            </a:pPr>
            <a:r>
              <a:rPr lang="zh-CN" altLang="en-US" sz="6000" dirty="0" smtClean="0"/>
              <a:t>§2  舍入方法</a:t>
            </a:r>
            <a:br>
              <a:rPr lang="zh-CN" altLang="en-US" sz="6000" dirty="0" smtClean="0"/>
            </a:br>
            <a:r>
              <a:rPr lang="zh-CN" altLang="en-US" sz="6000" dirty="0" smtClean="0"/>
              <a:t>与有效数字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D4892E8-9F68-4943-97C9-FE95037BAB3C}" type="slidenum">
              <a:rPr lang="zh-CN" altLang="en-US" i="0" smtClean="0"/>
              <a:pPr/>
              <a:t>4</a:t>
            </a:fld>
            <a:endParaRPr lang="en-US" altLang="zh-CN" i="0" smtClean="0"/>
          </a:p>
        </p:txBody>
      </p:sp>
      <p:sp>
        <p:nvSpPr>
          <p:cNvPr id="61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D6AB4F9-867D-4345-8066-43A8BE298C9A}" type="datetime1">
              <a:rPr lang="zh-CN" altLang="en-US" sz="1800" i="0" smtClean="0"/>
              <a:pPr/>
              <a:t>2024/9/8</a:t>
            </a:fld>
            <a:endParaRPr lang="en-US" altLang="zh-CN" sz="1000" i="0" smtClean="0"/>
          </a:p>
        </p:txBody>
      </p:sp>
      <p:sp>
        <p:nvSpPr>
          <p:cNvPr id="710658" name="Rectangle 2"/>
          <p:cNvSpPr>
            <a:spLocks noGrp="1" noChangeArrowheads="1"/>
          </p:cNvSpPr>
          <p:nvPr>
            <p:ph type="title"/>
          </p:nvPr>
        </p:nvSpPr>
        <p:spPr/>
        <p:txBody>
          <a:bodyPr/>
          <a:lstStyle/>
          <a:p>
            <a:pPr>
              <a:defRPr/>
            </a:pPr>
            <a:r>
              <a:rPr lang="zh-CN" altLang="en-US" dirty="0" smtClean="0"/>
              <a:t>2.1   绝对误差与相对误差</a:t>
            </a:r>
          </a:p>
        </p:txBody>
      </p:sp>
      <p:sp>
        <p:nvSpPr>
          <p:cNvPr id="6149" name="Rectangle 3"/>
          <p:cNvSpPr>
            <a:spLocks noGrp="1" noChangeArrowheads="1"/>
          </p:cNvSpPr>
          <p:nvPr>
            <p:ph type="body" idx="1"/>
          </p:nvPr>
        </p:nvSpPr>
        <p:spPr>
          <a:xfrm>
            <a:off x="577850" y="1371600"/>
            <a:ext cx="8915400" cy="1984375"/>
          </a:xfrm>
        </p:spPr>
        <p:txBody>
          <a:bodyPr/>
          <a:lstStyle/>
          <a:p>
            <a:r>
              <a:rPr lang="zh-CN" altLang="en-US" dirty="0" smtClean="0"/>
              <a:t>设</a:t>
            </a:r>
            <a:r>
              <a:rPr lang="en-US" altLang="zh-CN" dirty="0" smtClean="0"/>
              <a:t>A</a:t>
            </a:r>
            <a:r>
              <a:rPr lang="zh-CN" altLang="en-US" dirty="0" smtClean="0"/>
              <a:t>是精确值，</a:t>
            </a:r>
            <a:r>
              <a:rPr lang="en-US" altLang="zh-CN" dirty="0" smtClean="0"/>
              <a:t>a</a:t>
            </a:r>
            <a:r>
              <a:rPr lang="zh-CN" altLang="en-US" dirty="0" smtClean="0"/>
              <a:t>是近似值，则定义两者之差是</a:t>
            </a:r>
            <a:r>
              <a:rPr lang="zh-CN" altLang="en-US" u="sng" dirty="0" smtClean="0">
                <a:solidFill>
                  <a:srgbClr val="FF3300"/>
                </a:solidFill>
              </a:rPr>
              <a:t>绝对误差</a:t>
            </a:r>
            <a:endParaRPr lang="zh-CN" altLang="en-US" dirty="0" smtClean="0"/>
          </a:p>
          <a:p>
            <a:pPr lvl="1">
              <a:buFontTx/>
              <a:buNone/>
            </a:pPr>
            <a:r>
              <a:rPr lang="zh-CN" altLang="en-US" dirty="0" smtClean="0">
                <a:sym typeface="Symbol" pitchFamily="18" charset="2"/>
              </a:rPr>
              <a:t>      </a:t>
            </a:r>
            <a:r>
              <a:rPr lang="en-US" altLang="zh-CN" dirty="0" smtClean="0">
                <a:latin typeface="宋体" pitchFamily="2" charset="-122"/>
              </a:rPr>
              <a:t>=a-A</a:t>
            </a:r>
            <a:r>
              <a:rPr lang="zh-CN" altLang="en-US" dirty="0" smtClean="0">
                <a:latin typeface="宋体" pitchFamily="2" charset="-122"/>
              </a:rPr>
              <a:t>为近似数</a:t>
            </a:r>
            <a:r>
              <a:rPr lang="en-US" altLang="zh-CN" dirty="0" smtClean="0">
                <a:latin typeface="宋体" pitchFamily="2" charset="-122"/>
              </a:rPr>
              <a:t>a</a:t>
            </a:r>
            <a:r>
              <a:rPr lang="zh-CN" altLang="en-US" dirty="0" smtClean="0">
                <a:latin typeface="宋体" pitchFamily="2" charset="-122"/>
              </a:rPr>
              <a:t>的绝对误差，简称</a:t>
            </a:r>
            <a:r>
              <a:rPr lang="zh-CN" altLang="en-US" u="sng" dirty="0" smtClean="0">
                <a:latin typeface="宋体" pitchFamily="2" charset="-122"/>
              </a:rPr>
              <a:t>误差</a:t>
            </a:r>
          </a:p>
          <a:p>
            <a:r>
              <a:rPr lang="zh-CN" altLang="zh-CN" dirty="0" smtClean="0">
                <a:latin typeface="宋体" pitchFamily="2" charset="-122"/>
              </a:rPr>
              <a:t>|</a:t>
            </a:r>
            <a:r>
              <a:rPr lang="zh-CN" altLang="en-US" dirty="0" smtClean="0">
                <a:sym typeface="Symbol" pitchFamily="18" charset="2"/>
              </a:rPr>
              <a:t></a:t>
            </a:r>
            <a:r>
              <a:rPr lang="en-US" altLang="zh-CN" dirty="0" smtClean="0">
                <a:latin typeface="宋体" pitchFamily="2" charset="-122"/>
              </a:rPr>
              <a:t>|=|a-A|&lt;</a:t>
            </a:r>
            <a:r>
              <a:rPr lang="en-US" altLang="zh-CN" dirty="0" smtClean="0">
                <a:latin typeface="宋体" pitchFamily="2" charset="-122"/>
                <a:sym typeface="Symbol" pitchFamily="18" charset="2"/>
              </a:rPr>
              <a:t></a:t>
            </a:r>
            <a:r>
              <a:rPr lang="en-US" altLang="zh-CN" dirty="0" smtClean="0">
                <a:latin typeface="宋体" pitchFamily="2" charset="-122"/>
              </a:rPr>
              <a:t>(</a:t>
            </a:r>
            <a:r>
              <a:rPr lang="zh-CN" altLang="en-US" dirty="0" smtClean="0">
                <a:latin typeface="宋体" pitchFamily="2" charset="-122"/>
              </a:rPr>
              <a:t>上界)，称为</a:t>
            </a:r>
            <a:r>
              <a:rPr lang="zh-CN" altLang="en-US" dirty="0" smtClean="0">
                <a:solidFill>
                  <a:srgbClr val="FF3300"/>
                </a:solidFill>
                <a:latin typeface="宋体" pitchFamily="2" charset="-122"/>
              </a:rPr>
              <a:t>绝对误差限</a:t>
            </a:r>
            <a:r>
              <a:rPr lang="zh-CN" altLang="en-US" dirty="0" smtClean="0">
                <a:latin typeface="宋体" pitchFamily="2" charset="-122"/>
              </a:rPr>
              <a:t>。</a:t>
            </a:r>
          </a:p>
          <a:p>
            <a:r>
              <a:rPr lang="zh-CN" altLang="en-US" dirty="0" smtClean="0">
                <a:latin typeface="宋体" pitchFamily="2" charset="-122"/>
              </a:rPr>
              <a:t>由上式可推知 </a:t>
            </a:r>
            <a:r>
              <a:rPr lang="en-US" altLang="zh-CN" dirty="0" smtClean="0">
                <a:latin typeface="宋体" pitchFamily="2" charset="-122"/>
              </a:rPr>
              <a:t>a-</a:t>
            </a:r>
            <a:r>
              <a:rPr lang="en-US" altLang="zh-CN" dirty="0" smtClean="0">
                <a:latin typeface="宋体" pitchFamily="2" charset="-122"/>
                <a:sym typeface="Symbol" pitchFamily="18" charset="2"/>
              </a:rPr>
              <a:t></a:t>
            </a:r>
            <a:r>
              <a:rPr lang="en-US" altLang="zh-CN" dirty="0" smtClean="0">
                <a:latin typeface="宋体" pitchFamily="2" charset="-122"/>
              </a:rPr>
              <a:t>&lt; A &lt; a+</a:t>
            </a:r>
            <a:r>
              <a:rPr lang="en-US" altLang="zh-CN" dirty="0" smtClean="0">
                <a:latin typeface="宋体" pitchFamily="2" charset="-122"/>
                <a:sym typeface="Symbol" pitchFamily="18" charset="2"/>
              </a:rPr>
              <a:t></a:t>
            </a:r>
            <a:r>
              <a:rPr lang="en-US" altLang="zh-CN" dirty="0" smtClean="0">
                <a:latin typeface="宋体" pitchFamily="2" charset="-122"/>
              </a:rPr>
              <a:t>,</a:t>
            </a:r>
            <a:r>
              <a:rPr lang="zh-CN" altLang="en-US" dirty="0" smtClean="0">
                <a:latin typeface="宋体" pitchFamily="2" charset="-122"/>
              </a:rPr>
              <a:t>或 </a:t>
            </a:r>
            <a:r>
              <a:rPr lang="en-US" altLang="zh-CN" dirty="0" smtClean="0">
                <a:latin typeface="宋体" pitchFamily="2" charset="-122"/>
              </a:rPr>
              <a:t>A=a</a:t>
            </a:r>
            <a:r>
              <a:rPr lang="en-US" altLang="zh-CN" dirty="0" smtClean="0">
                <a:latin typeface="宋体" pitchFamily="2" charset="-122"/>
                <a:sym typeface="Symbol" pitchFamily="18" charset="2"/>
              </a:rPr>
              <a:t></a:t>
            </a:r>
            <a:endParaRPr lang="zh-CN" altLang="en-US" dirty="0" smtClean="0">
              <a:latin typeface="宋体" pitchFamily="2" charset="-122"/>
              <a:sym typeface="Symbol" pitchFamily="18" charset="2"/>
            </a:endParaRPr>
          </a:p>
        </p:txBody>
      </p:sp>
      <p:graphicFrame>
        <p:nvGraphicFramePr>
          <p:cNvPr id="6150" name="Object 4"/>
          <p:cNvGraphicFramePr>
            <a:graphicFrameLocks noChangeAspect="1"/>
          </p:cNvGraphicFramePr>
          <p:nvPr/>
        </p:nvGraphicFramePr>
        <p:xfrm>
          <a:off x="1427163" y="3886200"/>
          <a:ext cx="2763837" cy="2286000"/>
        </p:xfrm>
        <a:graphic>
          <a:graphicData uri="http://schemas.openxmlformats.org/presentationml/2006/ole">
            <mc:AlternateContent xmlns:mc="http://schemas.openxmlformats.org/markup-compatibility/2006">
              <mc:Choice xmlns:v="urn:schemas-microsoft-com:vml" Requires="v">
                <p:oleObj spid="_x0000_s6183" name="剪辑" r:id="rId4" imgW="3025775" imgH="3252788" progId="MS_ClipArt_Gallery.2">
                  <p:embed/>
                </p:oleObj>
              </mc:Choice>
              <mc:Fallback>
                <p:oleObj name="剪辑" r:id="rId4" imgW="3025775" imgH="3252788" progId="MS_ClipArt_Gallery.2">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7163" y="3886200"/>
                        <a:ext cx="2763837" cy="228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51" name="Group 5"/>
          <p:cNvGrpSpPr>
            <a:grpSpLocks/>
          </p:cNvGrpSpPr>
          <p:nvPr/>
        </p:nvGrpSpPr>
        <p:grpSpPr bwMode="auto">
          <a:xfrm>
            <a:off x="4914900" y="3633788"/>
            <a:ext cx="3467100" cy="1243012"/>
            <a:chOff x="3216" y="3086"/>
            <a:chExt cx="2016" cy="783"/>
          </a:xfrm>
        </p:grpSpPr>
        <p:sp>
          <p:nvSpPr>
            <p:cNvPr id="6152" name="Line 6"/>
            <p:cNvSpPr>
              <a:spLocks noChangeShapeType="1"/>
            </p:cNvSpPr>
            <p:nvPr/>
          </p:nvSpPr>
          <p:spPr bwMode="auto">
            <a:xfrm>
              <a:off x="3216" y="3590"/>
              <a:ext cx="201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 name="Line 7"/>
            <p:cNvSpPr>
              <a:spLocks noChangeShapeType="1"/>
            </p:cNvSpPr>
            <p:nvPr/>
          </p:nvSpPr>
          <p:spPr bwMode="auto">
            <a:xfrm>
              <a:off x="3504" y="3542"/>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Line 8"/>
            <p:cNvSpPr>
              <a:spLocks noChangeShapeType="1"/>
            </p:cNvSpPr>
            <p:nvPr/>
          </p:nvSpPr>
          <p:spPr bwMode="auto">
            <a:xfrm>
              <a:off x="4176" y="3542"/>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5" name="Line 9"/>
            <p:cNvSpPr>
              <a:spLocks noChangeShapeType="1"/>
            </p:cNvSpPr>
            <p:nvPr/>
          </p:nvSpPr>
          <p:spPr bwMode="auto">
            <a:xfrm>
              <a:off x="4848" y="3542"/>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Text Box 10"/>
            <p:cNvSpPr txBox="1">
              <a:spLocks noChangeArrowheads="1"/>
            </p:cNvSpPr>
            <p:nvPr/>
          </p:nvSpPr>
          <p:spPr bwMode="auto">
            <a:xfrm>
              <a:off x="3216" y="3542"/>
              <a:ext cx="5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800" i="0">
                  <a:latin typeface="宋体" pitchFamily="2" charset="-122"/>
                </a:rPr>
                <a:t>a-</a:t>
              </a:r>
              <a:r>
                <a:rPr lang="en-US" altLang="zh-CN" sz="2800" i="0">
                  <a:latin typeface="宋体" pitchFamily="2" charset="-122"/>
                  <a:sym typeface="Symbol" pitchFamily="18" charset="2"/>
                </a:rPr>
                <a:t></a:t>
              </a:r>
            </a:p>
          </p:txBody>
        </p:sp>
        <p:sp>
          <p:nvSpPr>
            <p:cNvPr id="6157" name="Text Box 11"/>
            <p:cNvSpPr txBox="1">
              <a:spLocks noChangeArrowheads="1"/>
            </p:cNvSpPr>
            <p:nvPr/>
          </p:nvSpPr>
          <p:spPr bwMode="auto">
            <a:xfrm>
              <a:off x="4704" y="3542"/>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800" i="0">
                  <a:latin typeface="宋体" pitchFamily="2" charset="-122"/>
                </a:rPr>
                <a:t>a+</a:t>
              </a:r>
              <a:r>
                <a:rPr lang="en-US" altLang="zh-CN" sz="2800" i="0">
                  <a:latin typeface="宋体" pitchFamily="2" charset="-122"/>
                  <a:sym typeface="Symbol" pitchFamily="18" charset="2"/>
                </a:rPr>
                <a:t></a:t>
              </a:r>
            </a:p>
          </p:txBody>
        </p:sp>
        <p:sp>
          <p:nvSpPr>
            <p:cNvPr id="6158" name="Text Box 12"/>
            <p:cNvSpPr txBox="1">
              <a:spLocks noChangeArrowheads="1"/>
            </p:cNvSpPr>
            <p:nvPr/>
          </p:nvSpPr>
          <p:spPr bwMode="auto">
            <a:xfrm>
              <a:off x="4080" y="354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宋体" pitchFamily="2" charset="-122"/>
                </a:rPr>
                <a:t>a</a:t>
              </a:r>
              <a:endParaRPr lang="en-US" altLang="zh-CN" sz="2400" b="0" i="0">
                <a:latin typeface="宋体" pitchFamily="2" charset="-122"/>
              </a:endParaRPr>
            </a:p>
          </p:txBody>
        </p:sp>
        <p:sp>
          <p:nvSpPr>
            <p:cNvPr id="6159" name="AutoShape 13"/>
            <p:cNvSpPr>
              <a:spLocks/>
            </p:cNvSpPr>
            <p:nvPr/>
          </p:nvSpPr>
          <p:spPr bwMode="auto">
            <a:xfrm rot="-5400000">
              <a:off x="4080" y="2726"/>
              <a:ext cx="192" cy="1344"/>
            </a:xfrm>
            <a:prstGeom prst="rightBrace">
              <a:avLst>
                <a:gd name="adj1" fmla="val 58333"/>
                <a:gd name="adj2" fmla="val 49847"/>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60" name="Text Box 14"/>
            <p:cNvSpPr txBox="1">
              <a:spLocks noChangeArrowheads="1"/>
            </p:cNvSpPr>
            <p:nvPr/>
          </p:nvSpPr>
          <p:spPr bwMode="auto">
            <a:xfrm>
              <a:off x="4076" y="3086"/>
              <a:ext cx="2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en-US" altLang="zh-CN" sz="1600" b="0" i="0">
                  <a:latin typeface="Arial Black" pitchFamily="34" charset="0"/>
                </a:rPr>
                <a:t>A</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02" name="Rectangle 2"/>
          <p:cNvSpPr>
            <a:spLocks noGrp="1" noChangeArrowheads="1"/>
          </p:cNvSpPr>
          <p:nvPr>
            <p:ph type="title"/>
          </p:nvPr>
        </p:nvSpPr>
        <p:spPr/>
        <p:txBody>
          <a:bodyPr/>
          <a:lstStyle/>
          <a:p>
            <a:pPr>
              <a:defRPr/>
            </a:pPr>
            <a:r>
              <a:rPr lang="zh-CN" altLang="en-US" dirty="0" smtClean="0"/>
              <a:t>2.1   绝对误差与相对误差</a:t>
            </a:r>
          </a:p>
        </p:txBody>
      </p:sp>
      <p:sp>
        <p:nvSpPr>
          <p:cNvPr id="7173" name="Rectangle 3"/>
          <p:cNvSpPr>
            <a:spLocks noGrp="1" noChangeArrowheads="1"/>
          </p:cNvSpPr>
          <p:nvPr>
            <p:ph type="body" idx="1"/>
          </p:nvPr>
        </p:nvSpPr>
        <p:spPr>
          <a:xfrm>
            <a:off x="650875" y="1143000"/>
            <a:ext cx="8820150" cy="3619452"/>
          </a:xfrm>
        </p:spPr>
        <p:txBody>
          <a:bodyPr/>
          <a:lstStyle/>
          <a:p>
            <a:r>
              <a:rPr lang="zh-CN" altLang="en-US" u="sng" dirty="0" smtClean="0">
                <a:solidFill>
                  <a:srgbClr val="FF3300"/>
                </a:solidFill>
                <a:latin typeface="宋体" pitchFamily="2" charset="-122"/>
              </a:rPr>
              <a:t>相对误差</a:t>
            </a:r>
            <a:r>
              <a:rPr lang="zh-CN" altLang="en-US" dirty="0" smtClean="0">
                <a:latin typeface="宋体" pitchFamily="2" charset="-122"/>
              </a:rPr>
              <a:t>定义为绝对误差与精确值之比：</a:t>
            </a:r>
            <a:endParaRPr lang="en-US" altLang="zh-CN" dirty="0" smtClean="0">
              <a:latin typeface="宋体" pitchFamily="2" charset="-122"/>
            </a:endParaRPr>
          </a:p>
          <a:p>
            <a:pPr marL="768350" lvl="2" indent="0">
              <a:buNone/>
            </a:pPr>
            <a:r>
              <a:rPr lang="zh-CN" altLang="en-US" dirty="0" smtClean="0">
                <a:latin typeface="宋体" pitchFamily="2" charset="-122"/>
              </a:rPr>
              <a:t> </a:t>
            </a:r>
            <a:r>
              <a:rPr lang="zh-CN" altLang="en-US" dirty="0" smtClean="0">
                <a:latin typeface="宋体" pitchFamily="2" charset="-122"/>
                <a:sym typeface="Symbol" pitchFamily="18" charset="2"/>
              </a:rPr>
              <a:t></a:t>
            </a:r>
            <a:r>
              <a:rPr lang="en-US" altLang="zh-CN" dirty="0" smtClean="0">
                <a:latin typeface="宋体" pitchFamily="2" charset="-122"/>
              </a:rPr>
              <a:t>A=</a:t>
            </a:r>
            <a:r>
              <a:rPr lang="zh-CN" altLang="en-US" dirty="0" smtClean="0">
                <a:sym typeface="Symbol" pitchFamily="18" charset="2"/>
              </a:rPr>
              <a:t>  </a:t>
            </a:r>
            <a:r>
              <a:rPr lang="en-US" altLang="zh-CN" dirty="0" smtClean="0">
                <a:latin typeface="宋体" pitchFamily="2" charset="-122"/>
              </a:rPr>
              <a:t>/ </a:t>
            </a:r>
            <a:r>
              <a:rPr lang="en-US" altLang="zh-CN" dirty="0" smtClean="0">
                <a:solidFill>
                  <a:srgbClr val="0033CC"/>
                </a:solidFill>
                <a:latin typeface="宋体" pitchFamily="2" charset="-122"/>
              </a:rPr>
              <a:t>A</a:t>
            </a:r>
            <a:endParaRPr lang="en-US" altLang="zh-CN" dirty="0" smtClean="0">
              <a:latin typeface="宋体" pitchFamily="2" charset="-122"/>
            </a:endParaRPr>
          </a:p>
          <a:p>
            <a:endParaRPr lang="en-US" altLang="zh-CN" dirty="0" smtClean="0">
              <a:latin typeface="宋体" pitchFamily="2" charset="-122"/>
            </a:endParaRPr>
          </a:p>
          <a:p>
            <a:endParaRPr lang="en-US" altLang="zh-CN" dirty="0">
              <a:latin typeface="宋体" pitchFamily="2" charset="-122"/>
            </a:endParaRPr>
          </a:p>
          <a:p>
            <a:endParaRPr lang="en-US" altLang="zh-CN" dirty="0" smtClean="0">
              <a:latin typeface="宋体" pitchFamily="2" charset="-122"/>
            </a:endParaRPr>
          </a:p>
          <a:p>
            <a:r>
              <a:rPr lang="zh-CN" altLang="en-US" dirty="0" smtClean="0">
                <a:latin typeface="宋体" pitchFamily="2" charset="-122"/>
              </a:rPr>
              <a:t>实际计算时用</a:t>
            </a:r>
            <a:r>
              <a:rPr lang="en-US" altLang="zh-CN" dirty="0" smtClean="0">
                <a:latin typeface="宋体" pitchFamily="2" charset="-122"/>
                <a:sym typeface="Symbol" pitchFamily="18" charset="2"/>
              </a:rPr>
              <a:t></a:t>
            </a:r>
            <a:r>
              <a:rPr lang="en-US" altLang="zh-CN" dirty="0" smtClean="0">
                <a:latin typeface="宋体" pitchFamily="2" charset="-122"/>
              </a:rPr>
              <a:t>A</a:t>
            </a:r>
            <a:r>
              <a:rPr lang="en-US" altLang="zh-CN" dirty="0" smtClean="0">
                <a:latin typeface="Symbol" pitchFamily="18" charset="2"/>
                <a:sym typeface="Symbol" pitchFamily="18" charset="2"/>
              </a:rPr>
              <a:t></a:t>
            </a:r>
            <a:r>
              <a:rPr lang="en-US" altLang="zh-CN" dirty="0" smtClean="0">
                <a:latin typeface="宋体" pitchFamily="2" charset="-122"/>
                <a:sym typeface="Symbol" pitchFamily="18" charset="2"/>
              </a:rPr>
              <a:t></a:t>
            </a:r>
            <a:r>
              <a:rPr lang="en-US" altLang="zh-CN" dirty="0" smtClean="0">
                <a:latin typeface="宋体" pitchFamily="2" charset="-122"/>
              </a:rPr>
              <a:t>/</a:t>
            </a:r>
            <a:r>
              <a:rPr lang="en-US" altLang="zh-CN" dirty="0" smtClean="0">
                <a:solidFill>
                  <a:srgbClr val="0033CC"/>
                </a:solidFill>
                <a:latin typeface="宋体" pitchFamily="2" charset="-122"/>
              </a:rPr>
              <a:t>a</a:t>
            </a:r>
            <a:r>
              <a:rPr lang="zh-CN" altLang="en-US" dirty="0" smtClean="0">
                <a:latin typeface="宋体" pitchFamily="2" charset="-122"/>
              </a:rPr>
              <a:t>代替.</a:t>
            </a:r>
          </a:p>
          <a:p>
            <a:pPr lvl="1"/>
            <a:r>
              <a:rPr lang="zh-CN" altLang="en-US" dirty="0" smtClean="0">
                <a:latin typeface="宋体" pitchFamily="2" charset="-122"/>
              </a:rPr>
              <a:t>这样代替后,误差是</a:t>
            </a:r>
          </a:p>
        </p:txBody>
      </p:sp>
      <p:graphicFrame>
        <p:nvGraphicFramePr>
          <p:cNvPr id="7174" name="Object 4" descr="再生纸"/>
          <p:cNvGraphicFramePr>
            <a:graphicFrameLocks noChangeAspect="1"/>
          </p:cNvGraphicFramePr>
          <p:nvPr>
            <p:extLst>
              <p:ext uri="{D42A27DB-BD31-4B8C-83A1-F6EECF244321}">
                <p14:modId xmlns:p14="http://schemas.microsoft.com/office/powerpoint/2010/main" val="2712172561"/>
              </p:ext>
            </p:extLst>
          </p:nvPr>
        </p:nvGraphicFramePr>
        <p:xfrm>
          <a:off x="1856656" y="4725144"/>
          <a:ext cx="5118100" cy="1004888"/>
        </p:xfrm>
        <a:graphic>
          <a:graphicData uri="http://schemas.openxmlformats.org/presentationml/2006/ole">
            <mc:AlternateContent xmlns:mc="http://schemas.openxmlformats.org/markup-compatibility/2006">
              <mc:Choice xmlns:v="urn:schemas-microsoft-com:vml" Requires="v">
                <p:oleObj spid="_x0000_s7198" name="Equation" r:id="rId5" imgW="1546869" imgH="380930" progId="Equation.3">
                  <p:embed/>
                </p:oleObj>
              </mc:Choice>
              <mc:Fallback>
                <p:oleObj name="Equation" r:id="rId5" imgW="1546869" imgH="380930" progId="Equation.3">
                  <p:embed/>
                  <p:pic>
                    <p:nvPicPr>
                      <p:cNvPr id="0" name="Object 4" descr="再生纸"/>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6656" y="4725144"/>
                        <a:ext cx="5118100" cy="1004888"/>
                      </a:xfrm>
                      <a:prstGeom prst="rect">
                        <a:avLst/>
                      </a:prstGeom>
                      <a:noFill/>
                      <a:ln>
                        <a:noFill/>
                      </a:ln>
                      <a:effectLst/>
                      <a:extLst>
                        <a:ext uri="{909E8E84-426E-40DD-AFC4-6F175D3DCCD1}">
                          <a14:hiddenFill xmlns:a14="http://schemas.microsoft.com/office/drawing/2010/main">
                            <a:blipFill dpi="0" rotWithShape="0">
                              <a:blip r:embed="rId7"/>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1"/>
          <p:cNvGrpSpPr/>
          <p:nvPr/>
        </p:nvGrpSpPr>
        <p:grpSpPr>
          <a:xfrm>
            <a:off x="2648744" y="1556792"/>
            <a:ext cx="3805880" cy="1794693"/>
            <a:chOff x="2648744" y="1556792"/>
            <a:chExt cx="3805880" cy="1794693"/>
          </a:xfrm>
        </p:grpSpPr>
        <p:sp>
          <p:nvSpPr>
            <p:cNvPr id="8" name="Oval 14"/>
            <p:cNvSpPr>
              <a:spLocks noChangeArrowheads="1"/>
            </p:cNvSpPr>
            <p:nvPr/>
          </p:nvSpPr>
          <p:spPr bwMode="auto">
            <a:xfrm>
              <a:off x="2648744" y="1556792"/>
              <a:ext cx="648072" cy="504056"/>
            </a:xfrm>
            <a:prstGeom prst="ellipse">
              <a:avLst/>
            </a:prstGeom>
            <a:noFill/>
            <a:ln w="9525" cmpd="sng">
              <a:solidFill>
                <a:srgbClr val="FF0000"/>
              </a:solidFill>
              <a:round/>
              <a:headEnd/>
              <a:tailEn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9" name="AutoShape 15"/>
            <p:cNvSpPr>
              <a:spLocks noChangeArrowheads="1"/>
            </p:cNvSpPr>
            <p:nvPr/>
          </p:nvSpPr>
          <p:spPr bwMode="auto">
            <a:xfrm>
              <a:off x="3664891" y="2125935"/>
              <a:ext cx="2789733" cy="1225550"/>
            </a:xfrm>
            <a:prstGeom prst="wedgeEllipseCallout">
              <a:avLst>
                <a:gd name="adj1" fmla="val -61416"/>
                <a:gd name="adj2" fmla="val -59844"/>
              </a:avLst>
            </a:prstGeom>
            <a:gradFill rotWithShape="1">
              <a:gsLst>
                <a:gs pos="0">
                  <a:srgbClr val="99CCFF"/>
                </a:gs>
                <a:gs pos="100000">
                  <a:srgbClr val="FFFFFF"/>
                </a:gs>
              </a:gsLst>
              <a:lin ang="5400000" scaled="1"/>
            </a:gra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effectLst>
                  <a:outerShdw blurRad="38100" dist="38100" dir="2700000" algn="tl">
                    <a:srgbClr val="000000"/>
                  </a:outerShdw>
                </a:effectLst>
              </a:endParaRPr>
            </a:p>
          </p:txBody>
        </p:sp>
        <p:sp>
          <p:nvSpPr>
            <p:cNvPr id="10" name="Text Box 16"/>
            <p:cNvSpPr txBox="1">
              <a:spLocks noChangeArrowheads="1"/>
            </p:cNvSpPr>
            <p:nvPr/>
          </p:nvSpPr>
          <p:spPr bwMode="auto">
            <a:xfrm>
              <a:off x="3772840" y="2323211"/>
              <a:ext cx="2573833" cy="83099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effectLst>
                    <a:outerShdw blurRad="38100" dist="38100" dir="2700000" algn="tl">
                      <a:srgbClr val="C0C0C0"/>
                    </a:outerShdw>
                  </a:effectLst>
                  <a:ea typeface="楷体_GB2312" pitchFamily="49" charset="-122"/>
                </a:rPr>
                <a:t>  一般情况</a:t>
              </a:r>
              <a:r>
                <a:rPr lang="zh-CN" altLang="en-US" sz="2400" dirty="0" smtClean="0">
                  <a:effectLst>
                    <a:outerShdw blurRad="38100" dist="38100" dir="2700000" algn="tl">
                      <a:srgbClr val="C0C0C0"/>
                    </a:outerShdw>
                  </a:effectLst>
                  <a:ea typeface="楷体_GB2312" pitchFamily="49" charset="-122"/>
                </a:rPr>
                <a:t>下不知道 ，</a:t>
              </a:r>
              <a:r>
                <a:rPr lang="zh-CN" altLang="en-US" sz="2400" dirty="0">
                  <a:effectLst>
                    <a:outerShdw blurRad="38100" dist="38100" dir="2700000" algn="tl">
                      <a:srgbClr val="C0C0C0"/>
                    </a:outerShdw>
                  </a:effectLst>
                  <a:ea typeface="楷体_GB2312" pitchFamily="49" charset="-122"/>
                </a:rPr>
                <a:t>怎么办？</a:t>
              </a:r>
            </a:p>
          </p:txBody>
        </p:sp>
      </p:gr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173">
                                            <p:txEl>
                                              <p:pRg st="5" end="5"/>
                                            </p:txEl>
                                          </p:spTgt>
                                        </p:tgtEl>
                                        <p:attrNameLst>
                                          <p:attrName>style.visibility</p:attrName>
                                        </p:attrNameLst>
                                      </p:cBhvr>
                                      <p:to>
                                        <p:strVal val="visible"/>
                                      </p:to>
                                    </p:set>
                                    <p:animEffect transition="in" filter="wipe(up)">
                                      <p:cBhvr>
                                        <p:cTn id="12" dur="500"/>
                                        <p:tgtEl>
                                          <p:spTgt spid="7173">
                                            <p:txEl>
                                              <p:pRg st="5" end="5"/>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7173">
                                            <p:txEl>
                                              <p:pRg st="6" end="6"/>
                                            </p:txEl>
                                          </p:spTgt>
                                        </p:tgtEl>
                                        <p:attrNameLst>
                                          <p:attrName>style.visibility</p:attrName>
                                        </p:attrNameLst>
                                      </p:cBhvr>
                                      <p:to>
                                        <p:strVal val="visible"/>
                                      </p:to>
                                    </p:set>
                                    <p:animEffect transition="in" filter="wipe(up)">
                                      <p:cBhvr>
                                        <p:cTn id="15" dur="500"/>
                                        <p:tgtEl>
                                          <p:spTgt spid="717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174"/>
                                        </p:tgtEl>
                                        <p:attrNameLst>
                                          <p:attrName>style.visibility</p:attrName>
                                        </p:attrNameLst>
                                      </p:cBhvr>
                                      <p:to>
                                        <p:strVal val="visible"/>
                                      </p:to>
                                    </p:set>
                                    <p:animEffect transition="in" filter="wipe(up)">
                                      <p:cBhvr>
                                        <p:cTn id="20" dur="500"/>
                                        <p:tgtEl>
                                          <p:spTgt spid="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62C78C3-6059-4A94-A399-FCA37FD30D02}" type="slidenum">
              <a:rPr lang="zh-CN" altLang="en-US" i="0" smtClean="0"/>
              <a:pPr/>
              <a:t>6</a:t>
            </a:fld>
            <a:endParaRPr lang="en-US" altLang="zh-CN" i="0" smtClean="0"/>
          </a:p>
        </p:txBody>
      </p:sp>
      <p:sp>
        <p:nvSpPr>
          <p:cNvPr id="717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587075-0744-4310-BC30-85152C6C5396}" type="datetime1">
              <a:rPr lang="zh-CN" altLang="en-US" sz="1800" i="0" smtClean="0"/>
              <a:pPr/>
              <a:t>2024/9/8</a:t>
            </a:fld>
            <a:endParaRPr lang="en-US" altLang="zh-CN" sz="1000" i="0" smtClean="0"/>
          </a:p>
        </p:txBody>
      </p:sp>
      <p:sp>
        <p:nvSpPr>
          <p:cNvPr id="716802" name="Rectangle 2"/>
          <p:cNvSpPr>
            <a:spLocks noGrp="1" noChangeArrowheads="1"/>
          </p:cNvSpPr>
          <p:nvPr>
            <p:ph type="title"/>
          </p:nvPr>
        </p:nvSpPr>
        <p:spPr/>
        <p:txBody>
          <a:bodyPr/>
          <a:lstStyle/>
          <a:p>
            <a:pPr>
              <a:defRPr/>
            </a:pPr>
            <a:r>
              <a:rPr lang="zh-CN" altLang="en-US" dirty="0" smtClean="0"/>
              <a:t>2.1   绝对误差与相对误差</a:t>
            </a:r>
          </a:p>
        </p:txBody>
      </p:sp>
      <p:sp>
        <p:nvSpPr>
          <p:cNvPr id="2" name="内容占位符 1"/>
          <p:cNvSpPr>
            <a:spLocks noGrp="1"/>
          </p:cNvSpPr>
          <p:nvPr>
            <p:ph idx="1"/>
          </p:nvPr>
        </p:nvSpPr>
        <p:spPr>
          <a:xfrm>
            <a:off x="650875" y="1143000"/>
            <a:ext cx="8820150" cy="4675126"/>
          </a:xfrm>
        </p:spPr>
        <p:txBody>
          <a:bodyPr/>
          <a:lstStyle/>
          <a:p>
            <a:pPr>
              <a:lnSpc>
                <a:spcPct val="150000"/>
              </a:lnSpc>
            </a:pPr>
            <a:r>
              <a:rPr lang="zh-CN" altLang="zh-CN" dirty="0">
                <a:latin typeface="宋体" pitchFamily="2" charset="-122"/>
                <a:ea typeface="黑体" pitchFamily="49" charset="-122"/>
              </a:rPr>
              <a:t>|</a:t>
            </a:r>
            <a:r>
              <a:rPr lang="en-US" altLang="zh-CN" dirty="0">
                <a:latin typeface="宋体" pitchFamily="2" charset="-122"/>
                <a:ea typeface="黑体" pitchFamily="49" charset="-122"/>
                <a:sym typeface="Symbol" pitchFamily="18" charset="2"/>
              </a:rPr>
              <a:t></a:t>
            </a:r>
            <a:r>
              <a:rPr lang="en-US" altLang="zh-CN" dirty="0">
                <a:latin typeface="宋体" pitchFamily="2" charset="-122"/>
                <a:ea typeface="黑体" pitchFamily="49" charset="-122"/>
              </a:rPr>
              <a:t>A|=|</a:t>
            </a:r>
            <a:r>
              <a:rPr lang="en-US" altLang="zh-CN" dirty="0">
                <a:latin typeface="宋体" pitchFamily="2" charset="-122"/>
                <a:ea typeface="黑体" pitchFamily="49" charset="-122"/>
                <a:sym typeface="Symbol" pitchFamily="18" charset="2"/>
              </a:rPr>
              <a:t></a:t>
            </a:r>
            <a:r>
              <a:rPr lang="en-US" altLang="zh-CN" dirty="0">
                <a:latin typeface="宋体" pitchFamily="2" charset="-122"/>
                <a:ea typeface="黑体" pitchFamily="49" charset="-122"/>
              </a:rPr>
              <a:t>/A|&lt;</a:t>
            </a:r>
            <a:r>
              <a:rPr lang="en-US" altLang="zh-CN" dirty="0">
                <a:latin typeface="宋体" pitchFamily="2" charset="-122"/>
                <a:ea typeface="黑体" pitchFamily="49" charset="-122"/>
                <a:sym typeface="Symbol" pitchFamily="18" charset="2"/>
              </a:rPr>
              <a:t></a:t>
            </a:r>
            <a:r>
              <a:rPr lang="en-US" altLang="zh-CN" dirty="0">
                <a:latin typeface="Times New Roman" pitchFamily="18" charset="0"/>
                <a:ea typeface="黑体" pitchFamily="49" charset="-122"/>
              </a:rPr>
              <a:t>(</a:t>
            </a:r>
            <a:r>
              <a:rPr lang="zh-CN" altLang="en-US" dirty="0">
                <a:latin typeface="宋体" pitchFamily="2" charset="-122"/>
                <a:ea typeface="黑体" pitchFamily="49" charset="-122"/>
              </a:rPr>
              <a:t>上界</a:t>
            </a:r>
            <a:r>
              <a:rPr lang="zh-CN" altLang="zh-CN" dirty="0">
                <a:latin typeface="Times New Roman" pitchFamily="18" charset="0"/>
                <a:ea typeface="黑体" pitchFamily="49" charset="-122"/>
              </a:rPr>
              <a:t>)，</a:t>
            </a:r>
            <a:r>
              <a:rPr lang="zh-CN" altLang="en-US" dirty="0">
                <a:latin typeface="Times New Roman" pitchFamily="18" charset="0"/>
                <a:ea typeface="黑体" pitchFamily="49" charset="-122"/>
              </a:rPr>
              <a:t>称为</a:t>
            </a:r>
            <a:r>
              <a:rPr lang="zh-CN" altLang="en-US" dirty="0">
                <a:solidFill>
                  <a:srgbClr val="FF3300"/>
                </a:solidFill>
                <a:latin typeface="Times New Roman" pitchFamily="18" charset="0"/>
                <a:ea typeface="黑体" pitchFamily="49" charset="-122"/>
              </a:rPr>
              <a:t>相对误差限</a:t>
            </a:r>
          </a:p>
          <a:p>
            <a:pPr>
              <a:lnSpc>
                <a:spcPct val="150000"/>
              </a:lnSpc>
            </a:pPr>
            <a:r>
              <a:rPr lang="zh-CN" altLang="en-US" dirty="0">
                <a:latin typeface="Times New Roman" pitchFamily="18" charset="0"/>
                <a:ea typeface="黑体" pitchFamily="49" charset="-122"/>
              </a:rPr>
              <a:t>绝对误差是有量纲的量，相对误差没有量纲,有时亦用百分比、千分比表示</a:t>
            </a:r>
          </a:p>
          <a:p>
            <a:pPr marL="0" indent="0">
              <a:lnSpc>
                <a:spcPct val="100000"/>
              </a:lnSpc>
              <a:spcBef>
                <a:spcPts val="0"/>
              </a:spcBef>
              <a:buNone/>
            </a:pPr>
            <a:r>
              <a:rPr lang="en-US" altLang="zh-CN" dirty="0" smtClean="0">
                <a:latin typeface="宋体" pitchFamily="2" charset="-122"/>
                <a:ea typeface="黑体" pitchFamily="49" charset="-122"/>
              </a:rPr>
              <a:t>      a=0.3000*10</a:t>
            </a:r>
            <a:r>
              <a:rPr lang="en-US" altLang="zh-CN" baseline="30000" dirty="0" smtClean="0">
                <a:latin typeface="宋体" pitchFamily="2" charset="-122"/>
                <a:ea typeface="黑体" pitchFamily="49" charset="-122"/>
              </a:rPr>
              <a:t>1</a:t>
            </a:r>
            <a:r>
              <a:rPr lang="en-US" altLang="zh-CN" dirty="0" smtClean="0">
                <a:latin typeface="宋体" pitchFamily="2" charset="-122"/>
                <a:ea typeface="黑体" pitchFamily="49" charset="-122"/>
              </a:rPr>
              <a:t>,A=0.3100*10</a:t>
            </a:r>
            <a:r>
              <a:rPr lang="en-US" altLang="zh-CN" baseline="30000" dirty="0" smtClean="0">
                <a:latin typeface="宋体" pitchFamily="2" charset="-122"/>
                <a:ea typeface="黑体" pitchFamily="49" charset="-122"/>
              </a:rPr>
              <a:t>1</a:t>
            </a:r>
            <a:r>
              <a:rPr lang="en-US" altLang="zh-CN" dirty="0">
                <a:latin typeface="宋体" pitchFamily="2" charset="-122"/>
                <a:ea typeface="黑体" pitchFamily="49" charset="-122"/>
              </a:rPr>
              <a:t>, </a:t>
            </a:r>
            <a:endParaRPr lang="en-US" altLang="zh-CN" dirty="0" smtClean="0">
              <a:latin typeface="宋体" pitchFamily="2" charset="-122"/>
              <a:ea typeface="黑体" pitchFamily="49" charset="-122"/>
            </a:endParaRPr>
          </a:p>
          <a:p>
            <a:pPr marL="0" indent="0">
              <a:lnSpc>
                <a:spcPct val="100000"/>
              </a:lnSpc>
              <a:spcBef>
                <a:spcPts val="0"/>
              </a:spcBef>
              <a:buNone/>
            </a:pPr>
            <a:r>
              <a:rPr lang="en-US" altLang="zh-CN" dirty="0">
                <a:latin typeface="宋体" pitchFamily="2" charset="-122"/>
                <a:ea typeface="黑体" pitchFamily="49" charset="-122"/>
              </a:rPr>
              <a:t> </a:t>
            </a:r>
            <a:r>
              <a:rPr lang="en-US" altLang="zh-CN" dirty="0" smtClean="0">
                <a:latin typeface="宋体" pitchFamily="2" charset="-122"/>
                <a:ea typeface="黑体" pitchFamily="49" charset="-122"/>
              </a:rPr>
              <a:t>   </a:t>
            </a:r>
            <a:r>
              <a:rPr lang="zh-CN" altLang="en-US" dirty="0" smtClean="0">
                <a:latin typeface="宋体" pitchFamily="2" charset="-122"/>
                <a:ea typeface="黑体" pitchFamily="49" charset="-122"/>
              </a:rPr>
              <a:t>则</a:t>
            </a:r>
            <a:r>
              <a:rPr lang="en-US" altLang="zh-CN" dirty="0">
                <a:latin typeface="宋体" pitchFamily="2" charset="-122"/>
                <a:ea typeface="黑体" pitchFamily="49" charset="-122"/>
                <a:sym typeface="Symbol" pitchFamily="18" charset="2"/>
              </a:rPr>
              <a:t></a:t>
            </a:r>
            <a:r>
              <a:rPr lang="en-US" altLang="zh-CN" dirty="0">
                <a:latin typeface="宋体" pitchFamily="2" charset="-122"/>
                <a:ea typeface="黑体" pitchFamily="49" charset="-122"/>
              </a:rPr>
              <a:t>=0.1, </a:t>
            </a:r>
            <a:r>
              <a:rPr lang="en-US" altLang="zh-CN" dirty="0" smtClean="0">
                <a:latin typeface="宋体" pitchFamily="2" charset="-122"/>
                <a:ea typeface="黑体" pitchFamily="49" charset="-122"/>
                <a:sym typeface="Symbol" pitchFamily="18" charset="2"/>
              </a:rPr>
              <a:t></a:t>
            </a:r>
            <a:r>
              <a:rPr lang="en-US" altLang="zh-CN" dirty="0">
                <a:latin typeface="宋体" pitchFamily="2" charset="-122"/>
                <a:ea typeface="黑体" pitchFamily="49" charset="-122"/>
              </a:rPr>
              <a:t>A=0.3333*10</a:t>
            </a:r>
            <a:r>
              <a:rPr lang="en-US" altLang="zh-CN" baseline="30000" dirty="0">
                <a:latin typeface="宋体" pitchFamily="2" charset="-122"/>
                <a:ea typeface="黑体" pitchFamily="49" charset="-122"/>
              </a:rPr>
              <a:t>-1</a:t>
            </a:r>
          </a:p>
          <a:p>
            <a:pPr marL="0" indent="0">
              <a:lnSpc>
                <a:spcPct val="100000"/>
              </a:lnSpc>
              <a:spcBef>
                <a:spcPts val="0"/>
              </a:spcBef>
              <a:buNone/>
            </a:pPr>
            <a:r>
              <a:rPr lang="en-US" altLang="zh-CN" dirty="0" smtClean="0">
                <a:latin typeface="宋体" pitchFamily="2" charset="-122"/>
                <a:ea typeface="黑体" pitchFamily="49" charset="-122"/>
              </a:rPr>
              <a:t> </a:t>
            </a:r>
          </a:p>
          <a:p>
            <a:pPr marL="0" indent="0">
              <a:lnSpc>
                <a:spcPct val="100000"/>
              </a:lnSpc>
              <a:spcBef>
                <a:spcPts val="0"/>
              </a:spcBef>
              <a:buNone/>
            </a:pPr>
            <a:r>
              <a:rPr lang="en-US" altLang="zh-CN" dirty="0">
                <a:latin typeface="宋体" pitchFamily="2" charset="-122"/>
                <a:ea typeface="黑体" pitchFamily="49" charset="-122"/>
              </a:rPr>
              <a:t> </a:t>
            </a:r>
            <a:r>
              <a:rPr lang="en-US" altLang="zh-CN" dirty="0" smtClean="0">
                <a:latin typeface="宋体" pitchFamily="2" charset="-122"/>
                <a:ea typeface="黑体" pitchFamily="49" charset="-122"/>
              </a:rPr>
              <a:t>     a=0.3000*10</a:t>
            </a:r>
            <a:r>
              <a:rPr lang="en-US" altLang="zh-CN" baseline="30000" dirty="0" smtClean="0">
                <a:latin typeface="宋体" pitchFamily="2" charset="-122"/>
                <a:ea typeface="黑体" pitchFamily="49" charset="-122"/>
              </a:rPr>
              <a:t>-3</a:t>
            </a:r>
            <a:r>
              <a:rPr lang="en-US" altLang="zh-CN" dirty="0" smtClean="0">
                <a:latin typeface="宋体" pitchFamily="2" charset="-122"/>
                <a:ea typeface="黑体" pitchFamily="49" charset="-122"/>
              </a:rPr>
              <a:t>,A=0.3100*10</a:t>
            </a:r>
            <a:r>
              <a:rPr lang="en-US" altLang="zh-CN" baseline="30000" dirty="0" smtClean="0">
                <a:latin typeface="宋体" pitchFamily="2" charset="-122"/>
                <a:ea typeface="黑体" pitchFamily="49" charset="-122"/>
              </a:rPr>
              <a:t>-3</a:t>
            </a:r>
            <a:r>
              <a:rPr lang="en-US" altLang="zh-CN" dirty="0" smtClean="0">
                <a:latin typeface="宋体" pitchFamily="2" charset="-122"/>
                <a:ea typeface="黑体" pitchFamily="49" charset="-122"/>
              </a:rPr>
              <a:t>,</a:t>
            </a:r>
          </a:p>
          <a:p>
            <a:pPr marL="0" indent="0">
              <a:lnSpc>
                <a:spcPct val="100000"/>
              </a:lnSpc>
              <a:spcBef>
                <a:spcPts val="0"/>
              </a:spcBef>
              <a:buNone/>
            </a:pPr>
            <a:r>
              <a:rPr lang="en-US" altLang="zh-CN" dirty="0">
                <a:latin typeface="宋体" pitchFamily="2" charset="-122"/>
                <a:ea typeface="黑体" pitchFamily="49" charset="-122"/>
              </a:rPr>
              <a:t> </a:t>
            </a:r>
            <a:r>
              <a:rPr lang="en-US" altLang="zh-CN" dirty="0" smtClean="0">
                <a:latin typeface="宋体" pitchFamily="2" charset="-122"/>
                <a:ea typeface="黑体" pitchFamily="49" charset="-122"/>
              </a:rPr>
              <a:t>   </a:t>
            </a:r>
            <a:r>
              <a:rPr lang="zh-CN" altLang="en-US" dirty="0" smtClean="0">
                <a:latin typeface="宋体" pitchFamily="2" charset="-122"/>
                <a:ea typeface="黑体" pitchFamily="49" charset="-122"/>
              </a:rPr>
              <a:t>则</a:t>
            </a:r>
            <a:r>
              <a:rPr lang="en-US" altLang="zh-CN" dirty="0">
                <a:latin typeface="宋体" pitchFamily="2" charset="-122"/>
                <a:ea typeface="黑体" pitchFamily="49" charset="-122"/>
                <a:sym typeface="Symbol" pitchFamily="18" charset="2"/>
              </a:rPr>
              <a:t></a:t>
            </a:r>
            <a:r>
              <a:rPr lang="en-US" altLang="zh-CN" dirty="0">
                <a:latin typeface="宋体" pitchFamily="2" charset="-122"/>
                <a:ea typeface="黑体" pitchFamily="49" charset="-122"/>
              </a:rPr>
              <a:t>=0.1*10</a:t>
            </a:r>
            <a:r>
              <a:rPr lang="en-US" altLang="zh-CN" baseline="30000" dirty="0">
                <a:latin typeface="宋体" pitchFamily="2" charset="-122"/>
                <a:ea typeface="黑体" pitchFamily="49" charset="-122"/>
              </a:rPr>
              <a:t>-4</a:t>
            </a:r>
            <a:r>
              <a:rPr lang="en-US" altLang="zh-CN" dirty="0">
                <a:latin typeface="宋体" pitchFamily="2" charset="-122"/>
                <a:ea typeface="黑体" pitchFamily="49" charset="-122"/>
              </a:rPr>
              <a:t>, </a:t>
            </a:r>
            <a:r>
              <a:rPr lang="en-US" altLang="zh-CN" dirty="0">
                <a:latin typeface="宋体" pitchFamily="2" charset="-122"/>
                <a:ea typeface="黑体" pitchFamily="49" charset="-122"/>
                <a:sym typeface="Symbol" pitchFamily="18" charset="2"/>
              </a:rPr>
              <a:t></a:t>
            </a:r>
            <a:r>
              <a:rPr lang="en-US" altLang="zh-CN" dirty="0">
                <a:latin typeface="宋体" pitchFamily="2" charset="-122"/>
                <a:ea typeface="黑体" pitchFamily="49" charset="-122"/>
              </a:rPr>
              <a:t>A=0.3333*10</a:t>
            </a:r>
            <a:r>
              <a:rPr lang="en-US" altLang="zh-CN" baseline="30000" dirty="0">
                <a:latin typeface="宋体" pitchFamily="2" charset="-122"/>
                <a:ea typeface="黑体" pitchFamily="49" charset="-122"/>
              </a:rPr>
              <a:t>-1</a:t>
            </a:r>
            <a:endParaRPr lang="zh-CN" altLang="en-US" dirty="0">
              <a:latin typeface="Times New Roman" pitchFamily="18" charset="0"/>
              <a:ea typeface="黑体" pitchFamily="49" charset="-122"/>
            </a:endParaRPr>
          </a:p>
          <a:p>
            <a:pPr>
              <a:lnSpc>
                <a:spcPct val="100000"/>
              </a:lnSpc>
              <a:spcBef>
                <a:spcPts val="0"/>
              </a:spcBef>
            </a:pPr>
            <a:endParaRPr lang="zh-CN" altLang="en-US" dirty="0"/>
          </a:p>
        </p:txBody>
      </p:sp>
    </p:spTree>
    <p:extLst>
      <p:ext uri="{BB962C8B-B14F-4D97-AF65-F5344CB8AC3E}">
        <p14:creationId xmlns:p14="http://schemas.microsoft.com/office/powerpoint/2010/main" val="39445759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85AC7E0-D266-4210-A657-7CFCD2CF93DA}" type="slidenum">
              <a:rPr lang="zh-CN" altLang="en-US" i="0" smtClean="0"/>
              <a:pPr/>
              <a:t>7</a:t>
            </a:fld>
            <a:endParaRPr lang="en-US" altLang="zh-CN" i="0" smtClean="0"/>
          </a:p>
        </p:txBody>
      </p:sp>
      <p:sp>
        <p:nvSpPr>
          <p:cNvPr id="819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BDC1709-9883-4E8B-A0B9-5CCE0BD8B3A0}" type="datetime1">
              <a:rPr lang="zh-CN" altLang="en-US" sz="1800" i="0" smtClean="0"/>
              <a:pPr/>
              <a:t>2024/9/8</a:t>
            </a:fld>
            <a:endParaRPr lang="en-US" altLang="zh-CN" sz="1000" i="0" smtClean="0"/>
          </a:p>
        </p:txBody>
      </p:sp>
      <p:sp>
        <p:nvSpPr>
          <p:cNvPr id="860162" name="Rectangle 2"/>
          <p:cNvSpPr>
            <a:spLocks noGrp="1" noChangeArrowheads="1"/>
          </p:cNvSpPr>
          <p:nvPr>
            <p:ph type="title"/>
          </p:nvPr>
        </p:nvSpPr>
        <p:spPr/>
        <p:txBody>
          <a:bodyPr/>
          <a:lstStyle/>
          <a:p>
            <a:pPr>
              <a:defRPr/>
            </a:pPr>
            <a:r>
              <a:rPr lang="zh-CN" altLang="en-US" dirty="0" smtClean="0"/>
              <a:t>2.1   绝对误差与相对误差</a:t>
            </a:r>
          </a:p>
        </p:txBody>
      </p:sp>
      <p:sp>
        <p:nvSpPr>
          <p:cNvPr id="8197" name="Rectangle 3"/>
          <p:cNvSpPr>
            <a:spLocks noGrp="1" noChangeArrowheads="1"/>
          </p:cNvSpPr>
          <p:nvPr>
            <p:ph type="body" idx="1"/>
          </p:nvPr>
        </p:nvSpPr>
        <p:spPr>
          <a:xfrm>
            <a:off x="650875" y="1143000"/>
            <a:ext cx="8820150" cy="1536700"/>
          </a:xfrm>
        </p:spPr>
        <p:txBody>
          <a:bodyPr/>
          <a:lstStyle/>
          <a:p>
            <a:r>
              <a:rPr lang="zh-CN" altLang="en-US" smtClean="0"/>
              <a:t>例：用最小刻度为毫米的卡尺测量直杆甲和直杆乙，分别读出长度</a:t>
            </a:r>
            <a:r>
              <a:rPr lang="en-US" altLang="zh-CN" smtClean="0"/>
              <a:t>a=312mm</a:t>
            </a:r>
            <a:r>
              <a:rPr lang="zh-CN" altLang="en-US" smtClean="0"/>
              <a:t>和</a:t>
            </a:r>
            <a:r>
              <a:rPr lang="en-US" altLang="zh-CN" smtClean="0"/>
              <a:t>b=24mm，</a:t>
            </a:r>
            <a:r>
              <a:rPr lang="zh-CN" altLang="en-US" smtClean="0"/>
              <a:t>问： </a:t>
            </a:r>
            <a:r>
              <a:rPr lang="en-US" altLang="zh-CN" smtClean="0"/>
              <a:t>a、b</a:t>
            </a:r>
            <a:r>
              <a:rPr lang="zh-CN" altLang="en-US" smtClean="0"/>
              <a:t>的绝对误差、相对误差各是多少？两直杆实际长度</a:t>
            </a:r>
            <a:r>
              <a:rPr lang="en-US" altLang="zh-CN" smtClean="0"/>
              <a:t>A</a:t>
            </a:r>
            <a:r>
              <a:rPr lang="zh-CN" altLang="en-US" smtClean="0"/>
              <a:t>和</a:t>
            </a:r>
            <a:r>
              <a:rPr lang="en-US" altLang="zh-CN" smtClean="0"/>
              <a:t>B</a:t>
            </a:r>
            <a:r>
              <a:rPr lang="zh-CN" altLang="en-US" smtClean="0"/>
              <a:t>在什么范围内？</a:t>
            </a:r>
          </a:p>
        </p:txBody>
      </p:sp>
      <p:graphicFrame>
        <p:nvGraphicFramePr>
          <p:cNvPr id="860164" name="Object 4"/>
          <p:cNvGraphicFramePr>
            <a:graphicFrameLocks noChangeAspect="1"/>
          </p:cNvGraphicFramePr>
          <p:nvPr/>
        </p:nvGraphicFramePr>
        <p:xfrm>
          <a:off x="2763838" y="5926138"/>
          <a:ext cx="3635375" cy="357187"/>
        </p:xfrm>
        <a:graphic>
          <a:graphicData uri="http://schemas.openxmlformats.org/presentationml/2006/ole">
            <mc:AlternateContent xmlns:mc="http://schemas.openxmlformats.org/markup-compatibility/2006">
              <mc:Choice xmlns:v="urn:schemas-microsoft-com:vml" Requires="v">
                <p:oleObj spid="_x0000_s8314" name="公式" r:id="rId5" imgW="1548728" imgH="165028" progId="Equation.3">
                  <p:embed/>
                </p:oleObj>
              </mc:Choice>
              <mc:Fallback>
                <p:oleObj name="公式" r:id="rId5" imgW="1548728" imgH="165028"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3838" y="5926138"/>
                        <a:ext cx="3635375" cy="357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165" name="Text Box 5"/>
          <p:cNvSpPr txBox="1">
            <a:spLocks noChangeArrowheads="1"/>
          </p:cNvSpPr>
          <p:nvPr/>
        </p:nvSpPr>
        <p:spPr bwMode="auto">
          <a:xfrm>
            <a:off x="704850" y="2819400"/>
            <a:ext cx="1352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2800" i="0">
                <a:latin typeface="Times New Roman" pitchFamily="18" charset="0"/>
              </a:rPr>
              <a:t>解：</a:t>
            </a:r>
          </a:p>
        </p:txBody>
      </p:sp>
      <p:graphicFrame>
        <p:nvGraphicFramePr>
          <p:cNvPr id="860166" name="Object 6"/>
          <p:cNvGraphicFramePr>
            <a:graphicFrameLocks noChangeAspect="1"/>
          </p:cNvGraphicFramePr>
          <p:nvPr/>
        </p:nvGraphicFramePr>
        <p:xfrm>
          <a:off x="2878138" y="2971800"/>
          <a:ext cx="2968625" cy="439738"/>
        </p:xfrm>
        <a:graphic>
          <a:graphicData uri="http://schemas.openxmlformats.org/presentationml/2006/ole">
            <mc:AlternateContent xmlns:mc="http://schemas.openxmlformats.org/markup-compatibility/2006">
              <mc:Choice xmlns:v="urn:schemas-microsoft-com:vml" Requires="v">
                <p:oleObj spid="_x0000_s8315" name="Equation" r:id="rId7" imgW="1371600" imgH="203200" progId="Equation.3">
                  <p:embed/>
                </p:oleObj>
              </mc:Choice>
              <mc:Fallback>
                <p:oleObj name="Equation" r:id="rId7" imgW="1371600" imgH="2032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38" y="2971800"/>
                        <a:ext cx="2968625"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0167" name="Object 7"/>
          <p:cNvGraphicFramePr>
            <a:graphicFrameLocks noChangeAspect="1"/>
          </p:cNvGraphicFramePr>
          <p:nvPr/>
        </p:nvGraphicFramePr>
        <p:xfrm>
          <a:off x="2854325" y="3505200"/>
          <a:ext cx="3851275" cy="962025"/>
        </p:xfrm>
        <a:graphic>
          <a:graphicData uri="http://schemas.openxmlformats.org/presentationml/2006/ole">
            <mc:AlternateContent xmlns:mc="http://schemas.openxmlformats.org/markup-compatibility/2006">
              <mc:Choice xmlns:v="urn:schemas-microsoft-com:vml" Requires="v">
                <p:oleObj spid="_x0000_s8316" name="Equation" r:id="rId9" imgW="1777229" imgH="444307" progId="Equation.3">
                  <p:embed/>
                </p:oleObj>
              </mc:Choice>
              <mc:Fallback>
                <p:oleObj name="Equation" r:id="rId9" imgW="1777229" imgH="444307"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54325" y="3505200"/>
                        <a:ext cx="3851275"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0168" name="Object 8"/>
          <p:cNvGraphicFramePr>
            <a:graphicFrameLocks noChangeAspect="1"/>
          </p:cNvGraphicFramePr>
          <p:nvPr/>
        </p:nvGraphicFramePr>
        <p:xfrm>
          <a:off x="2886075" y="4370388"/>
          <a:ext cx="3743325" cy="963612"/>
        </p:xfrm>
        <a:graphic>
          <a:graphicData uri="http://schemas.openxmlformats.org/presentationml/2006/ole">
            <mc:AlternateContent xmlns:mc="http://schemas.openxmlformats.org/markup-compatibility/2006">
              <mc:Choice xmlns:v="urn:schemas-microsoft-com:vml" Requires="v">
                <p:oleObj spid="_x0000_s8317" name="Equation" r:id="rId11" imgW="1726451" imgH="444307" progId="Equation.3">
                  <p:embed/>
                </p:oleObj>
              </mc:Choice>
              <mc:Fallback>
                <p:oleObj name="Equation" r:id="rId11" imgW="1726451" imgH="444307"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86075" y="4370388"/>
                        <a:ext cx="3743325" cy="96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0169" name="Object 9"/>
          <p:cNvGraphicFramePr>
            <a:graphicFrameLocks noChangeAspect="1"/>
          </p:cNvGraphicFramePr>
          <p:nvPr/>
        </p:nvGraphicFramePr>
        <p:xfrm>
          <a:off x="2800350" y="5346700"/>
          <a:ext cx="3656013" cy="358775"/>
        </p:xfrm>
        <a:graphic>
          <a:graphicData uri="http://schemas.openxmlformats.org/presentationml/2006/ole">
            <mc:AlternateContent xmlns:mc="http://schemas.openxmlformats.org/markup-compatibility/2006">
              <mc:Choice xmlns:v="urn:schemas-microsoft-com:vml" Requires="v">
                <p:oleObj spid="_x0000_s8318" name="公式" r:id="rId13" imgW="1688367" imgH="165028" progId="Equation.3">
                  <p:embed/>
                </p:oleObj>
              </mc:Choice>
              <mc:Fallback>
                <p:oleObj name="公式" r:id="rId13" imgW="1688367" imgH="16502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00350" y="5346700"/>
                        <a:ext cx="3656013"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60165"/>
                                        </p:tgtEl>
                                        <p:attrNameLst>
                                          <p:attrName>style.visibility</p:attrName>
                                        </p:attrNameLst>
                                      </p:cBhvr>
                                      <p:to>
                                        <p:strVal val="visible"/>
                                      </p:to>
                                    </p:set>
                                    <p:animEffect transition="in" filter="wipe(up)">
                                      <p:cBhvr>
                                        <p:cTn id="7" dur="500"/>
                                        <p:tgtEl>
                                          <p:spTgt spid="8601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60166"/>
                                        </p:tgtEl>
                                        <p:attrNameLst>
                                          <p:attrName>style.visibility</p:attrName>
                                        </p:attrNameLst>
                                      </p:cBhvr>
                                      <p:to>
                                        <p:strVal val="visible"/>
                                      </p:to>
                                    </p:set>
                                    <p:animEffect transition="in" filter="wipe(up)">
                                      <p:cBhvr>
                                        <p:cTn id="12" dur="500"/>
                                        <p:tgtEl>
                                          <p:spTgt spid="8601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60167"/>
                                        </p:tgtEl>
                                        <p:attrNameLst>
                                          <p:attrName>style.visibility</p:attrName>
                                        </p:attrNameLst>
                                      </p:cBhvr>
                                      <p:to>
                                        <p:strVal val="visible"/>
                                      </p:to>
                                    </p:set>
                                    <p:animEffect transition="in" filter="wipe(up)">
                                      <p:cBhvr>
                                        <p:cTn id="17" dur="500"/>
                                        <p:tgtEl>
                                          <p:spTgt spid="8601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60168"/>
                                        </p:tgtEl>
                                        <p:attrNameLst>
                                          <p:attrName>style.visibility</p:attrName>
                                        </p:attrNameLst>
                                      </p:cBhvr>
                                      <p:to>
                                        <p:strVal val="visible"/>
                                      </p:to>
                                    </p:set>
                                    <p:animEffect transition="in" filter="wipe(up)">
                                      <p:cBhvr>
                                        <p:cTn id="22" dur="500"/>
                                        <p:tgtEl>
                                          <p:spTgt spid="8601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60169"/>
                                        </p:tgtEl>
                                        <p:attrNameLst>
                                          <p:attrName>style.visibility</p:attrName>
                                        </p:attrNameLst>
                                      </p:cBhvr>
                                      <p:to>
                                        <p:strVal val="visible"/>
                                      </p:to>
                                    </p:set>
                                    <p:animEffect transition="in" filter="wipe(up)">
                                      <p:cBhvr>
                                        <p:cTn id="27" dur="500"/>
                                        <p:tgtEl>
                                          <p:spTgt spid="8601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60164"/>
                                        </p:tgtEl>
                                        <p:attrNameLst>
                                          <p:attrName>style.visibility</p:attrName>
                                        </p:attrNameLst>
                                      </p:cBhvr>
                                      <p:to>
                                        <p:strVal val="visible"/>
                                      </p:to>
                                    </p:set>
                                    <p:animEffect transition="in" filter="wipe(up)">
                                      <p:cBhvr>
                                        <p:cTn id="32" dur="500"/>
                                        <p:tgtEl>
                                          <p:spTgt spid="860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5"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09487A7-0A59-4DF5-BC15-70932CF4EFE1}" type="slidenum">
              <a:rPr lang="zh-CN" altLang="en-US" i="0" smtClean="0"/>
              <a:pPr/>
              <a:t>8</a:t>
            </a:fld>
            <a:endParaRPr lang="en-US" altLang="zh-CN" i="0" smtClean="0"/>
          </a:p>
        </p:txBody>
      </p:sp>
      <p:sp>
        <p:nvSpPr>
          <p:cNvPr id="92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FA4842D-86F1-426F-9CD1-1616CCED24CD}" type="datetime1">
              <a:rPr lang="zh-CN" altLang="en-US" sz="1800" i="0" smtClean="0"/>
              <a:pPr/>
              <a:t>2024/9/8</a:t>
            </a:fld>
            <a:endParaRPr lang="en-US" altLang="zh-CN" sz="1000" i="0" smtClean="0"/>
          </a:p>
        </p:txBody>
      </p:sp>
      <p:sp>
        <p:nvSpPr>
          <p:cNvPr id="720898" name="Rectangle 2"/>
          <p:cNvSpPr>
            <a:spLocks noGrp="1" noChangeArrowheads="1"/>
          </p:cNvSpPr>
          <p:nvPr>
            <p:ph type="title"/>
          </p:nvPr>
        </p:nvSpPr>
        <p:spPr/>
        <p:txBody>
          <a:bodyPr/>
          <a:lstStyle/>
          <a:p>
            <a:pPr>
              <a:defRPr/>
            </a:pPr>
            <a:r>
              <a:rPr lang="zh-CN" altLang="en-US" smtClean="0"/>
              <a:t>2.2 舍入方法</a:t>
            </a:r>
          </a:p>
        </p:txBody>
      </p:sp>
      <p:sp>
        <p:nvSpPr>
          <p:cNvPr id="9221" name="Rectangle 3"/>
          <p:cNvSpPr>
            <a:spLocks noChangeArrowheads="1"/>
          </p:cNvSpPr>
          <p:nvPr/>
        </p:nvSpPr>
        <p:spPr bwMode="auto">
          <a:xfrm>
            <a:off x="660400" y="1066800"/>
            <a:ext cx="89979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将无限位字长的精确数处理成有限位字长近似数的处理方法称为</a:t>
            </a:r>
            <a:r>
              <a:rPr lang="zh-CN" altLang="en-US" sz="2800" i="0" u="sng">
                <a:solidFill>
                  <a:srgbClr val="FF3300"/>
                </a:solidFill>
                <a:latin typeface="Times New Roman" pitchFamily="18" charset="0"/>
                <a:ea typeface="黑体" pitchFamily="49" charset="-122"/>
              </a:rPr>
              <a:t>舍入方法</a:t>
            </a:r>
            <a:endParaRPr lang="en-US" altLang="zh-CN" sz="2800" i="0" u="sng">
              <a:solidFill>
                <a:srgbClr val="FF3300"/>
              </a:solidFill>
              <a:latin typeface="Times New Roman" pitchFamily="18" charset="0"/>
              <a:ea typeface="黑体" pitchFamily="49" charset="-122"/>
            </a:endParaRPr>
          </a:p>
          <a:p>
            <a:pPr marL="258763" indent="-258763" algn="l" defTabSz="814388">
              <a:lnSpc>
                <a:spcPct val="90000"/>
              </a:lnSpc>
              <a:spcBef>
                <a:spcPct val="35000"/>
              </a:spcBef>
              <a:buClr>
                <a:srgbClr val="27305F"/>
              </a:buClr>
              <a:buSzPct val="60000"/>
              <a:buFont typeface="Wingdings" pitchFamily="2" charset="2"/>
              <a:buChar char="n"/>
            </a:pPr>
            <a:r>
              <a:rPr lang="zh-CN" altLang="en-US" sz="2800" u="sng">
                <a:solidFill>
                  <a:srgbClr val="FF0000"/>
                </a:solidFill>
              </a:rPr>
              <a:t>截断法</a:t>
            </a:r>
            <a:endParaRPr lang="zh-CN" altLang="en-US" sz="2800" i="0">
              <a:solidFill>
                <a:srgbClr val="FF3300"/>
              </a:solidFill>
              <a:latin typeface="Times New Roman" pitchFamily="18" charset="0"/>
              <a:ea typeface="黑体" pitchFamily="49" charset="-122"/>
            </a:endParaRPr>
          </a:p>
        </p:txBody>
      </p:sp>
      <p:sp>
        <p:nvSpPr>
          <p:cNvPr id="9222" name="Text Box 6"/>
          <p:cNvSpPr txBox="1">
            <a:spLocks noChangeArrowheads="1"/>
          </p:cNvSpPr>
          <p:nvPr/>
        </p:nvSpPr>
        <p:spPr bwMode="auto">
          <a:xfrm>
            <a:off x="2387600" y="1966913"/>
            <a:ext cx="6438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2800" i="0">
                <a:latin typeface="Times New Roman" pitchFamily="18" charset="0"/>
              </a:rPr>
              <a:t>     </a:t>
            </a:r>
            <a:r>
              <a:rPr lang="zh-CN" altLang="zh-CN" sz="2800" i="0">
                <a:latin typeface="Times New Roman" pitchFamily="18" charset="0"/>
              </a:rPr>
              <a:t>A=a</a:t>
            </a:r>
            <a:r>
              <a:rPr lang="zh-CN" altLang="zh-CN" sz="2800" i="0" baseline="-25000">
                <a:latin typeface="Times New Roman" pitchFamily="18" charset="0"/>
              </a:rPr>
              <a:t>0 </a:t>
            </a:r>
            <a:r>
              <a:rPr lang="zh-CN" altLang="zh-CN" sz="2800" i="0">
                <a:latin typeface="Times New Roman" pitchFamily="18" charset="0"/>
              </a:rPr>
              <a:t>a</a:t>
            </a:r>
            <a:r>
              <a:rPr lang="zh-CN" altLang="zh-CN" sz="2800" i="0" baseline="-25000">
                <a:latin typeface="Times New Roman" pitchFamily="18" charset="0"/>
              </a:rPr>
              <a:t>1 </a:t>
            </a:r>
            <a:r>
              <a:rPr lang="zh-CN" altLang="zh-CN" sz="2800" i="0">
                <a:latin typeface="Times New Roman" pitchFamily="18" charset="0"/>
              </a:rPr>
              <a:t>…</a:t>
            </a:r>
            <a:r>
              <a:rPr lang="zh-CN" altLang="zh-CN" sz="2800" i="0" baseline="-25000">
                <a:latin typeface="Times New Roman" pitchFamily="18" charset="0"/>
              </a:rPr>
              <a:t> </a:t>
            </a:r>
            <a:r>
              <a:rPr lang="zh-CN" altLang="zh-CN" sz="2800" i="0">
                <a:latin typeface="Times New Roman" pitchFamily="18" charset="0"/>
              </a:rPr>
              <a:t>a</a:t>
            </a:r>
            <a:r>
              <a:rPr lang="zh-CN" altLang="zh-CN" sz="2800" i="0" baseline="-25000">
                <a:latin typeface="Times New Roman" pitchFamily="18" charset="0"/>
              </a:rPr>
              <a:t>m. </a:t>
            </a:r>
            <a:r>
              <a:rPr lang="zh-CN" altLang="zh-CN" sz="2800" i="0">
                <a:latin typeface="Times New Roman" pitchFamily="18" charset="0"/>
              </a:rPr>
              <a:t>a</a:t>
            </a:r>
            <a:r>
              <a:rPr lang="zh-CN" altLang="zh-CN" sz="2800" i="0" baseline="-25000">
                <a:latin typeface="Times New Roman" pitchFamily="18" charset="0"/>
              </a:rPr>
              <a:t>m+1 </a:t>
            </a:r>
            <a:r>
              <a:rPr lang="zh-CN" altLang="zh-CN" sz="2800" i="0">
                <a:latin typeface="Times New Roman" pitchFamily="18" charset="0"/>
              </a:rPr>
              <a:t>…</a:t>
            </a:r>
            <a:r>
              <a:rPr lang="zh-CN" altLang="zh-CN" sz="2800" i="0" baseline="-25000">
                <a:latin typeface="Times New Roman" pitchFamily="18" charset="0"/>
              </a:rPr>
              <a:t> </a:t>
            </a:r>
            <a:r>
              <a:rPr lang="zh-CN" altLang="zh-CN" sz="2800" i="0">
                <a:latin typeface="Times New Roman" pitchFamily="18" charset="0"/>
              </a:rPr>
              <a:t>a</a:t>
            </a:r>
            <a:r>
              <a:rPr lang="zh-CN" altLang="zh-CN" sz="2800" i="0" baseline="-25000">
                <a:latin typeface="Times New Roman" pitchFamily="18" charset="0"/>
              </a:rPr>
              <a:t>m+n   </a:t>
            </a:r>
            <a:r>
              <a:rPr lang="zh-CN" altLang="zh-CN" sz="2800" i="0">
                <a:latin typeface="Times New Roman" pitchFamily="18" charset="0"/>
              </a:rPr>
              <a:t>a</a:t>
            </a:r>
            <a:r>
              <a:rPr lang="zh-CN" altLang="zh-CN" sz="2800" i="0" baseline="-25000">
                <a:latin typeface="Times New Roman" pitchFamily="18" charset="0"/>
              </a:rPr>
              <a:t>m+n+1 </a:t>
            </a:r>
            <a:r>
              <a:rPr lang="zh-CN" altLang="zh-CN" sz="2800" i="0">
                <a:latin typeface="Times New Roman" pitchFamily="18" charset="0"/>
              </a:rPr>
              <a:t>…</a:t>
            </a:r>
            <a:endParaRPr lang="en-US" altLang="zh-CN" sz="2800" i="0">
              <a:latin typeface="Times New Roman" pitchFamily="18" charset="0"/>
            </a:endParaRPr>
          </a:p>
        </p:txBody>
      </p:sp>
      <p:sp>
        <p:nvSpPr>
          <p:cNvPr id="9223" name="Line 7"/>
          <p:cNvSpPr>
            <a:spLocks noChangeShapeType="1"/>
          </p:cNvSpPr>
          <p:nvPr/>
        </p:nvSpPr>
        <p:spPr bwMode="auto">
          <a:xfrm>
            <a:off x="6842125" y="1997075"/>
            <a:ext cx="3175" cy="638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4" name="AutoShape 8"/>
          <p:cNvSpPr>
            <a:spLocks/>
          </p:cNvSpPr>
          <p:nvPr/>
        </p:nvSpPr>
        <p:spPr bwMode="auto">
          <a:xfrm rot="5400000">
            <a:off x="4746625" y="1125538"/>
            <a:ext cx="184150" cy="3022600"/>
          </a:xfrm>
          <a:prstGeom prst="rightBrace">
            <a:avLst>
              <a:gd name="adj1" fmla="val 136782"/>
              <a:gd name="adj2" fmla="val 478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25" name="Text Box 9"/>
          <p:cNvSpPr txBox="1">
            <a:spLocks noChangeArrowheads="1"/>
          </p:cNvSpPr>
          <p:nvPr/>
        </p:nvSpPr>
        <p:spPr bwMode="auto">
          <a:xfrm>
            <a:off x="4322763" y="2667000"/>
            <a:ext cx="2001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2400" i="0">
                <a:latin typeface="Arial Black" pitchFamily="34" charset="0"/>
              </a:rPr>
              <a:t>高位部分</a:t>
            </a:r>
            <a:endParaRPr lang="zh-CN" altLang="en-US" sz="1600" i="0">
              <a:latin typeface="Arial Black" pitchFamily="34" charset="0"/>
            </a:endParaRPr>
          </a:p>
        </p:txBody>
      </p:sp>
      <p:sp>
        <p:nvSpPr>
          <p:cNvPr id="9226" name="AutoShape 10"/>
          <p:cNvSpPr>
            <a:spLocks/>
          </p:cNvSpPr>
          <p:nvPr/>
        </p:nvSpPr>
        <p:spPr bwMode="auto">
          <a:xfrm rot="5400000">
            <a:off x="7608888" y="2000250"/>
            <a:ext cx="304800" cy="1304925"/>
          </a:xfrm>
          <a:prstGeom prst="rightBrace">
            <a:avLst>
              <a:gd name="adj1" fmla="val 36192"/>
              <a:gd name="adj2" fmla="val 4828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27" name="Text Box 11"/>
          <p:cNvSpPr txBox="1">
            <a:spLocks noChangeArrowheads="1"/>
          </p:cNvSpPr>
          <p:nvPr/>
        </p:nvSpPr>
        <p:spPr bwMode="auto">
          <a:xfrm>
            <a:off x="7072313" y="2743200"/>
            <a:ext cx="2001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2400" i="0">
                <a:latin typeface="Arial Black" pitchFamily="34" charset="0"/>
              </a:rPr>
              <a:t>低位部分</a:t>
            </a:r>
            <a:endParaRPr lang="zh-CN" altLang="en-US" sz="1600" i="0">
              <a:latin typeface="Arial Black" pitchFamily="34" charset="0"/>
            </a:endParaRPr>
          </a:p>
        </p:txBody>
      </p:sp>
      <p:sp>
        <p:nvSpPr>
          <p:cNvPr id="9228" name="Freeform 12"/>
          <p:cNvSpPr>
            <a:spLocks/>
          </p:cNvSpPr>
          <p:nvPr/>
        </p:nvSpPr>
        <p:spPr bwMode="auto">
          <a:xfrm>
            <a:off x="1285875" y="3462338"/>
            <a:ext cx="1127125" cy="317500"/>
          </a:xfrm>
          <a:custGeom>
            <a:avLst/>
            <a:gdLst>
              <a:gd name="T0" fmla="*/ 0 w 541"/>
              <a:gd name="T1" fmla="*/ 159040883 h 167"/>
              <a:gd name="T2" fmla="*/ 1601680043 w 541"/>
              <a:gd name="T3" fmla="*/ 159040883 h 167"/>
              <a:gd name="T4" fmla="*/ 1601680043 w 541"/>
              <a:gd name="T5" fmla="*/ 0 h 167"/>
              <a:gd name="T6" fmla="*/ 2147483647 w 541"/>
              <a:gd name="T7" fmla="*/ 300007081 h 167"/>
              <a:gd name="T8" fmla="*/ 1601680043 w 541"/>
              <a:gd name="T9" fmla="*/ 600016063 h 167"/>
              <a:gd name="T10" fmla="*/ 1601680043 w 541"/>
              <a:gd name="T11" fmla="*/ 444589356 h 167"/>
              <a:gd name="T12" fmla="*/ 0 w 541"/>
              <a:gd name="T13" fmla="*/ 444589356 h 167"/>
              <a:gd name="T14" fmla="*/ 0 w 541"/>
              <a:gd name="T15" fmla="*/ 159040883 h 167"/>
              <a:gd name="T16" fmla="*/ 0 60000 65536"/>
              <a:gd name="T17" fmla="*/ 0 60000 65536"/>
              <a:gd name="T18" fmla="*/ 0 60000 65536"/>
              <a:gd name="T19" fmla="*/ 0 60000 65536"/>
              <a:gd name="T20" fmla="*/ 0 60000 65536"/>
              <a:gd name="T21" fmla="*/ 0 60000 65536"/>
              <a:gd name="T22" fmla="*/ 0 60000 65536"/>
              <a:gd name="T23" fmla="*/ 0 60000 65536"/>
              <a:gd name="T24" fmla="*/ 0 w 541"/>
              <a:gd name="T25" fmla="*/ 0 h 167"/>
              <a:gd name="T26" fmla="*/ 541 w 541"/>
              <a:gd name="T27" fmla="*/ 167 h 1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1" h="167">
                <a:moveTo>
                  <a:pt x="0" y="44"/>
                </a:moveTo>
                <a:lnTo>
                  <a:pt x="369" y="44"/>
                </a:lnTo>
                <a:lnTo>
                  <a:pt x="369" y="0"/>
                </a:lnTo>
                <a:lnTo>
                  <a:pt x="540" y="83"/>
                </a:lnTo>
                <a:lnTo>
                  <a:pt x="369" y="166"/>
                </a:lnTo>
                <a:lnTo>
                  <a:pt x="369" y="123"/>
                </a:lnTo>
                <a:lnTo>
                  <a:pt x="0" y="123"/>
                </a:lnTo>
                <a:lnTo>
                  <a:pt x="0" y="44"/>
                </a:lnTo>
              </a:path>
            </a:pathLst>
          </a:custGeom>
          <a:solidFill>
            <a:srgbClr val="FF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9229" name="Freeform 13"/>
          <p:cNvSpPr>
            <a:spLocks/>
          </p:cNvSpPr>
          <p:nvPr/>
        </p:nvSpPr>
        <p:spPr bwMode="auto">
          <a:xfrm>
            <a:off x="1285875" y="3459163"/>
            <a:ext cx="769938" cy="88900"/>
          </a:xfrm>
          <a:custGeom>
            <a:avLst/>
            <a:gdLst>
              <a:gd name="T0" fmla="*/ 99594602 w 370"/>
              <a:gd name="T1" fmla="*/ 0 h 27"/>
              <a:gd name="T2" fmla="*/ 1597844008 w 370"/>
              <a:gd name="T3" fmla="*/ 0 h 27"/>
              <a:gd name="T4" fmla="*/ 1597844008 w 370"/>
              <a:gd name="T5" fmla="*/ 281868974 h 27"/>
              <a:gd name="T6" fmla="*/ 0 w 370"/>
              <a:gd name="T7" fmla="*/ 281868974 h 27"/>
              <a:gd name="T8" fmla="*/ 99594602 w 370"/>
              <a:gd name="T9" fmla="*/ 0 h 27"/>
              <a:gd name="T10" fmla="*/ 0 60000 65536"/>
              <a:gd name="T11" fmla="*/ 0 60000 65536"/>
              <a:gd name="T12" fmla="*/ 0 60000 65536"/>
              <a:gd name="T13" fmla="*/ 0 60000 65536"/>
              <a:gd name="T14" fmla="*/ 0 60000 65536"/>
              <a:gd name="T15" fmla="*/ 0 w 370"/>
              <a:gd name="T16" fmla="*/ 0 h 27"/>
              <a:gd name="T17" fmla="*/ 370 w 370"/>
              <a:gd name="T18" fmla="*/ 27 h 27"/>
            </a:gdLst>
            <a:ahLst/>
            <a:cxnLst>
              <a:cxn ang="T10">
                <a:pos x="T0" y="T1"/>
              </a:cxn>
              <a:cxn ang="T11">
                <a:pos x="T2" y="T3"/>
              </a:cxn>
              <a:cxn ang="T12">
                <a:pos x="T4" y="T5"/>
              </a:cxn>
              <a:cxn ang="T13">
                <a:pos x="T6" y="T7"/>
              </a:cxn>
              <a:cxn ang="T14">
                <a:pos x="T8" y="T9"/>
              </a:cxn>
            </a:cxnLst>
            <a:rect l="T15" t="T16" r="T17" b="T18"/>
            <a:pathLst>
              <a:path w="370" h="27">
                <a:moveTo>
                  <a:pt x="23" y="0"/>
                </a:moveTo>
                <a:lnTo>
                  <a:pt x="369" y="0"/>
                </a:lnTo>
                <a:lnTo>
                  <a:pt x="369" y="26"/>
                </a:lnTo>
                <a:lnTo>
                  <a:pt x="0" y="26"/>
                </a:lnTo>
                <a:lnTo>
                  <a:pt x="23" y="0"/>
                </a:lnTo>
              </a:path>
            </a:pathLst>
          </a:custGeom>
          <a:gradFill rotWithShape="0">
            <a:gsLst>
              <a:gs pos="0">
                <a:srgbClr val="FF0000"/>
              </a:gs>
              <a:gs pos="100000">
                <a:srgbClr val="B20000"/>
              </a:gs>
            </a:gsLst>
            <a:lin ang="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9230" name="Freeform 14"/>
          <p:cNvSpPr>
            <a:spLocks/>
          </p:cNvSpPr>
          <p:nvPr/>
        </p:nvSpPr>
        <p:spPr bwMode="auto">
          <a:xfrm>
            <a:off x="2054225" y="3413125"/>
            <a:ext cx="401638" cy="209550"/>
          </a:xfrm>
          <a:custGeom>
            <a:avLst/>
            <a:gdLst>
              <a:gd name="T0" fmla="*/ 103936839 w 193"/>
              <a:gd name="T1" fmla="*/ 0 h 110"/>
              <a:gd name="T2" fmla="*/ 831488468 w 193"/>
              <a:gd name="T3" fmla="*/ 304838100 h 110"/>
              <a:gd name="T4" fmla="*/ 731882244 w 193"/>
              <a:gd name="T5" fmla="*/ 395563725 h 110"/>
              <a:gd name="T6" fmla="*/ 0 w 193"/>
              <a:gd name="T7" fmla="*/ 90725625 h 110"/>
              <a:gd name="T8" fmla="*/ 103936839 w 193"/>
              <a:gd name="T9" fmla="*/ 0 h 110"/>
              <a:gd name="T10" fmla="*/ 0 60000 65536"/>
              <a:gd name="T11" fmla="*/ 0 60000 65536"/>
              <a:gd name="T12" fmla="*/ 0 60000 65536"/>
              <a:gd name="T13" fmla="*/ 0 60000 65536"/>
              <a:gd name="T14" fmla="*/ 0 60000 65536"/>
              <a:gd name="T15" fmla="*/ 0 w 193"/>
              <a:gd name="T16" fmla="*/ 0 h 110"/>
              <a:gd name="T17" fmla="*/ 193 w 193"/>
              <a:gd name="T18" fmla="*/ 110 h 110"/>
            </a:gdLst>
            <a:ahLst/>
            <a:cxnLst>
              <a:cxn ang="T10">
                <a:pos x="T0" y="T1"/>
              </a:cxn>
              <a:cxn ang="T11">
                <a:pos x="T2" y="T3"/>
              </a:cxn>
              <a:cxn ang="T12">
                <a:pos x="T4" y="T5"/>
              </a:cxn>
              <a:cxn ang="T13">
                <a:pos x="T6" y="T7"/>
              </a:cxn>
              <a:cxn ang="T14">
                <a:pos x="T8" y="T9"/>
              </a:cxn>
            </a:cxnLst>
            <a:rect l="T15" t="T16" r="T17" b="T18"/>
            <a:pathLst>
              <a:path w="193" h="110">
                <a:moveTo>
                  <a:pt x="24" y="0"/>
                </a:moveTo>
                <a:lnTo>
                  <a:pt x="192" y="84"/>
                </a:lnTo>
                <a:lnTo>
                  <a:pt x="169" y="109"/>
                </a:lnTo>
                <a:lnTo>
                  <a:pt x="0" y="25"/>
                </a:lnTo>
                <a:lnTo>
                  <a:pt x="24" y="0"/>
                </a:lnTo>
              </a:path>
            </a:pathLst>
          </a:custGeom>
          <a:gradFill rotWithShape="0">
            <a:gsLst>
              <a:gs pos="0">
                <a:srgbClr val="B20000"/>
              </a:gs>
              <a:gs pos="50000">
                <a:srgbClr val="FF0000"/>
              </a:gs>
              <a:gs pos="100000">
                <a:srgbClr val="B20000"/>
              </a:gs>
            </a:gsLst>
            <a:lin ang="270000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9231" name="Text Box 16"/>
          <p:cNvSpPr txBox="1">
            <a:spLocks noChangeArrowheads="1"/>
          </p:cNvSpPr>
          <p:nvPr/>
        </p:nvSpPr>
        <p:spPr bwMode="auto">
          <a:xfrm>
            <a:off x="1084263" y="3048000"/>
            <a:ext cx="180181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2400" i="0">
                <a:latin typeface="Arial Black" pitchFamily="34" charset="0"/>
              </a:rPr>
              <a:t>表示成</a:t>
            </a:r>
          </a:p>
        </p:txBody>
      </p:sp>
      <p:sp>
        <p:nvSpPr>
          <p:cNvPr id="9232" name="Text Box 17"/>
          <p:cNvSpPr txBox="1">
            <a:spLocks noChangeArrowheads="1"/>
          </p:cNvSpPr>
          <p:nvPr/>
        </p:nvSpPr>
        <p:spPr bwMode="auto">
          <a:xfrm>
            <a:off x="2586038" y="3230563"/>
            <a:ext cx="6405562"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lnSpc>
                <a:spcPct val="80000"/>
              </a:lnSpc>
              <a:spcBef>
                <a:spcPct val="50000"/>
              </a:spcBef>
            </a:pPr>
            <a:r>
              <a:rPr lang="zh-CN" altLang="zh-CN" sz="2800" i="0">
                <a:latin typeface="Times New Roman" pitchFamily="18" charset="0"/>
              </a:rPr>
              <a:t>A=a</a:t>
            </a:r>
            <a:r>
              <a:rPr lang="zh-CN" altLang="zh-CN" sz="2800" i="0" baseline="-25000">
                <a:latin typeface="Times New Roman" pitchFamily="18" charset="0"/>
              </a:rPr>
              <a:t>0 </a:t>
            </a:r>
            <a:r>
              <a:rPr lang="zh-CN" altLang="zh-CN" sz="2800" i="0">
                <a:latin typeface="Times New Roman" pitchFamily="18" charset="0"/>
              </a:rPr>
              <a:t>a</a:t>
            </a:r>
            <a:r>
              <a:rPr lang="zh-CN" altLang="zh-CN" sz="2800" i="0" baseline="-25000">
                <a:latin typeface="Times New Roman" pitchFamily="18" charset="0"/>
              </a:rPr>
              <a:t>1 </a:t>
            </a:r>
            <a:r>
              <a:rPr lang="zh-CN" altLang="zh-CN" sz="2800" i="0">
                <a:latin typeface="Times New Roman" pitchFamily="18" charset="0"/>
              </a:rPr>
              <a:t>… a</a:t>
            </a:r>
            <a:r>
              <a:rPr lang="zh-CN" altLang="zh-CN" sz="2800" i="0" baseline="-25000">
                <a:latin typeface="Times New Roman" pitchFamily="18" charset="0"/>
              </a:rPr>
              <a:t>m </a:t>
            </a:r>
            <a:r>
              <a:rPr lang="zh-CN" altLang="zh-CN" sz="2800" i="0">
                <a:latin typeface="Times New Roman" pitchFamily="18" charset="0"/>
              </a:rPr>
              <a:t>.</a:t>
            </a:r>
            <a:r>
              <a:rPr lang="zh-CN" altLang="zh-CN" sz="2800" i="0" baseline="-25000">
                <a:latin typeface="Times New Roman" pitchFamily="18" charset="0"/>
              </a:rPr>
              <a:t> </a:t>
            </a:r>
            <a:r>
              <a:rPr lang="zh-CN" altLang="zh-CN" sz="2800" i="0">
                <a:latin typeface="Times New Roman" pitchFamily="18" charset="0"/>
              </a:rPr>
              <a:t>a</a:t>
            </a:r>
            <a:r>
              <a:rPr lang="zh-CN" altLang="zh-CN" sz="2800" i="0" baseline="-25000">
                <a:latin typeface="Times New Roman" pitchFamily="18" charset="0"/>
              </a:rPr>
              <a:t>m+1 </a:t>
            </a:r>
            <a:r>
              <a:rPr lang="zh-CN" altLang="zh-CN" sz="2800" i="0">
                <a:latin typeface="Times New Roman" pitchFamily="18" charset="0"/>
              </a:rPr>
              <a:t>…</a:t>
            </a:r>
            <a:r>
              <a:rPr lang="zh-CN" altLang="zh-CN" sz="2800" i="0" baseline="-25000">
                <a:latin typeface="Times New Roman" pitchFamily="18" charset="0"/>
              </a:rPr>
              <a:t> </a:t>
            </a:r>
            <a:r>
              <a:rPr lang="zh-CN" altLang="zh-CN" sz="2800" i="0">
                <a:latin typeface="Times New Roman" pitchFamily="18" charset="0"/>
              </a:rPr>
              <a:t>a</a:t>
            </a:r>
            <a:r>
              <a:rPr lang="zh-CN" altLang="zh-CN" sz="2800" i="0" baseline="-25000">
                <a:latin typeface="Times New Roman" pitchFamily="18" charset="0"/>
              </a:rPr>
              <a:t>m+n </a:t>
            </a:r>
          </a:p>
          <a:p>
            <a:pPr algn="l">
              <a:lnSpc>
                <a:spcPct val="80000"/>
              </a:lnSpc>
              <a:spcBef>
                <a:spcPct val="50000"/>
              </a:spcBef>
            </a:pPr>
            <a:r>
              <a:rPr lang="zh-CN" altLang="zh-CN" sz="2800" i="0">
                <a:latin typeface="Times New Roman" pitchFamily="18" charset="0"/>
              </a:rPr>
              <a:t>   +</a:t>
            </a:r>
            <a:r>
              <a:rPr lang="zh-CN" altLang="zh-CN" sz="2800" i="0" baseline="-25000">
                <a:latin typeface="Times New Roman" pitchFamily="18" charset="0"/>
              </a:rPr>
              <a:t>       </a:t>
            </a:r>
            <a:r>
              <a:rPr lang="zh-CN" altLang="zh-CN" sz="2800" i="0">
                <a:latin typeface="Times New Roman" pitchFamily="18" charset="0"/>
              </a:rPr>
              <a:t>0 …   0 .   0   …    0   a</a:t>
            </a:r>
            <a:r>
              <a:rPr lang="zh-CN" altLang="zh-CN" sz="2800" i="0" baseline="-25000">
                <a:latin typeface="Times New Roman" pitchFamily="18" charset="0"/>
              </a:rPr>
              <a:t>m+n+1 </a:t>
            </a:r>
            <a:r>
              <a:rPr lang="zh-CN" altLang="zh-CN" sz="2800" i="0">
                <a:latin typeface="Times New Roman" pitchFamily="18" charset="0"/>
              </a:rPr>
              <a:t>…</a:t>
            </a:r>
            <a:endParaRPr lang="en-US" altLang="zh-CN" sz="2800" i="0">
              <a:latin typeface="Times New Roman" pitchFamily="18" charset="0"/>
            </a:endParaRPr>
          </a:p>
        </p:txBody>
      </p:sp>
      <p:sp>
        <p:nvSpPr>
          <p:cNvPr id="9233" name="Text Box 19"/>
          <p:cNvSpPr txBox="1">
            <a:spLocks noChangeArrowheads="1"/>
          </p:cNvSpPr>
          <p:nvPr/>
        </p:nvSpPr>
        <p:spPr bwMode="auto">
          <a:xfrm>
            <a:off x="457200" y="4343400"/>
            <a:ext cx="8915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000" b="1" i="1">
                <a:solidFill>
                  <a:schemeClr val="tx1"/>
                </a:solidFill>
                <a:latin typeface="Arial" pitchFamily="34" charset="0"/>
                <a:ea typeface="宋体" pitchFamily="2" charset="-122"/>
              </a:defRPr>
            </a:lvl1pPr>
            <a:lvl2pPr>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lvl="1" algn="l"/>
            <a:r>
              <a:rPr lang="zh-CN" altLang="zh-CN" sz="2400" i="0">
                <a:latin typeface="宋体" pitchFamily="2" charset="-122"/>
              </a:rPr>
              <a:t>|</a:t>
            </a:r>
            <a:r>
              <a:rPr lang="en-US" altLang="zh-CN" sz="2400" i="0">
                <a:latin typeface="宋体" pitchFamily="2" charset="-122"/>
              </a:rPr>
              <a:t>Δ|=| a-A </a:t>
            </a:r>
            <a:r>
              <a:rPr lang="en-US" altLang="zh-CN" sz="2400" i="0">
                <a:latin typeface="Times New Roman" pitchFamily="18" charset="0"/>
                <a:ea typeface="PMingLiU" pitchFamily="18" charset="-120"/>
              </a:rPr>
              <a:t>|</a:t>
            </a:r>
          </a:p>
          <a:p>
            <a:pPr lvl="1" algn="l"/>
            <a:r>
              <a:rPr lang="en-US" altLang="zh-CN" sz="2400" i="0">
                <a:latin typeface="Times New Roman" pitchFamily="18" charset="0"/>
                <a:ea typeface="PMingLiU" pitchFamily="18" charset="-120"/>
              </a:rPr>
              <a:t>      = </a:t>
            </a:r>
            <a:r>
              <a:rPr lang="zh-CN" altLang="zh-CN" sz="2400" i="0">
                <a:latin typeface="Times New Roman" pitchFamily="18" charset="0"/>
              </a:rPr>
              <a:t>0 . 0 … 0 a</a:t>
            </a:r>
            <a:r>
              <a:rPr lang="zh-CN" altLang="zh-CN" sz="2400" i="0" baseline="-25000">
                <a:latin typeface="Times New Roman" pitchFamily="18" charset="0"/>
              </a:rPr>
              <a:t>m+n+1 </a:t>
            </a:r>
            <a:r>
              <a:rPr lang="zh-CN" altLang="zh-CN" sz="2400" i="0">
                <a:latin typeface="Times New Roman" pitchFamily="18" charset="0"/>
              </a:rPr>
              <a:t>…</a:t>
            </a:r>
            <a:r>
              <a:rPr lang="zh-CN" altLang="en-US" sz="2400" i="0">
                <a:latin typeface="宋体" pitchFamily="2" charset="-122"/>
              </a:rPr>
              <a:t>≤</a:t>
            </a:r>
            <a:r>
              <a:rPr lang="zh-CN" altLang="en-US" sz="2400" i="0">
                <a:latin typeface="Times New Roman" pitchFamily="18" charset="0"/>
              </a:rPr>
              <a:t> </a:t>
            </a:r>
            <a:r>
              <a:rPr lang="zh-CN" altLang="zh-CN" sz="2400" i="0">
                <a:latin typeface="Times New Roman" pitchFamily="18" charset="0"/>
              </a:rPr>
              <a:t>0 . 0 … 0 999... &lt; 0 . 0 … 0 1=1x10</a:t>
            </a:r>
            <a:r>
              <a:rPr lang="zh-CN" altLang="zh-CN" sz="2400" i="0" baseline="30000">
                <a:latin typeface="Times New Roman" pitchFamily="18" charset="0"/>
              </a:rPr>
              <a:t>-n</a:t>
            </a:r>
            <a:endParaRPr lang="zh-CN" altLang="zh-CN" sz="2400" i="0">
              <a:latin typeface="Times New Roman" pitchFamily="18" charset="0"/>
            </a:endParaRPr>
          </a:p>
        </p:txBody>
      </p:sp>
      <p:sp>
        <p:nvSpPr>
          <p:cNvPr id="720923" name="Rectangle 27"/>
          <p:cNvSpPr>
            <a:spLocks noGrp="1" noChangeArrowheads="1"/>
          </p:cNvSpPr>
          <p:nvPr>
            <p:ph type="body" idx="1"/>
          </p:nvPr>
        </p:nvSpPr>
        <p:spPr>
          <a:xfrm>
            <a:off x="762000" y="5476875"/>
            <a:ext cx="8915400" cy="768350"/>
          </a:xfrm>
          <a:noFill/>
        </p:spPr>
        <p:txBody>
          <a:bodyPr/>
          <a:lstStyle/>
          <a:p>
            <a:r>
              <a:rPr lang="zh-CN" altLang="en-US" u="sng" smtClean="0">
                <a:solidFill>
                  <a:srgbClr val="FF0000"/>
                </a:solidFill>
              </a:rPr>
              <a:t>截断法</a:t>
            </a:r>
            <a:r>
              <a:rPr lang="zh-CN" altLang="en-US" smtClean="0"/>
              <a:t>产生的绝对误差限不超过近似数</a:t>
            </a:r>
            <a:r>
              <a:rPr lang="en-US" altLang="zh-CN" smtClean="0"/>
              <a:t>a</a:t>
            </a:r>
            <a:r>
              <a:rPr lang="zh-CN" altLang="en-US" smtClean="0"/>
              <a:t>最末位的1个单位</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720923">
                                            <p:txEl>
                                              <p:pRg st="0" end="0"/>
                                            </p:txEl>
                                          </p:spTgt>
                                        </p:tgtEl>
                                        <p:attrNameLst>
                                          <p:attrName>style.visibility</p:attrName>
                                        </p:attrNameLst>
                                      </p:cBhvr>
                                      <p:to>
                                        <p:strVal val="visible"/>
                                      </p:to>
                                    </p:set>
                                    <p:animEffect transition="in" filter="wipe(left)">
                                      <p:cBhvr>
                                        <p:cTn id="7" dur="75"/>
                                        <p:tgtEl>
                                          <p:spTgt spid="720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92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4E6C90A-FDEF-4A90-89CF-DDAD820D507D}" type="slidenum">
              <a:rPr lang="zh-CN" altLang="en-US" i="0" smtClean="0"/>
              <a:pPr/>
              <a:t>9</a:t>
            </a:fld>
            <a:endParaRPr lang="en-US" altLang="zh-CN" i="0" smtClean="0"/>
          </a:p>
        </p:txBody>
      </p:sp>
      <p:sp>
        <p:nvSpPr>
          <p:cNvPr id="1024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8A7E4ED-CF79-4EA7-B676-530BD46E7180}" type="datetime1">
              <a:rPr lang="zh-CN" altLang="en-US" sz="1800" i="0" smtClean="0"/>
              <a:pPr/>
              <a:t>2024/9/8</a:t>
            </a:fld>
            <a:endParaRPr lang="en-US" altLang="zh-CN" sz="1000" i="0" smtClean="0"/>
          </a:p>
        </p:txBody>
      </p:sp>
      <p:sp>
        <p:nvSpPr>
          <p:cNvPr id="724994" name="Rectangle 2"/>
          <p:cNvSpPr>
            <a:spLocks noGrp="1" noChangeArrowheads="1"/>
          </p:cNvSpPr>
          <p:nvPr>
            <p:ph type="title"/>
          </p:nvPr>
        </p:nvSpPr>
        <p:spPr/>
        <p:txBody>
          <a:bodyPr/>
          <a:lstStyle/>
          <a:p>
            <a:pPr>
              <a:defRPr/>
            </a:pPr>
            <a:r>
              <a:rPr lang="zh-CN" altLang="en-US" smtClean="0"/>
              <a:t>2.2.2   四舍五入法</a:t>
            </a:r>
          </a:p>
        </p:txBody>
      </p:sp>
      <p:sp>
        <p:nvSpPr>
          <p:cNvPr id="10245" name="Rectangle 3"/>
          <p:cNvSpPr>
            <a:spLocks noGrp="1" noChangeArrowheads="1"/>
          </p:cNvSpPr>
          <p:nvPr>
            <p:ph type="body" idx="1"/>
          </p:nvPr>
        </p:nvSpPr>
        <p:spPr>
          <a:xfrm>
            <a:off x="495300" y="2895600"/>
            <a:ext cx="8915400" cy="1025525"/>
          </a:xfrm>
        </p:spPr>
        <p:txBody>
          <a:bodyPr/>
          <a:lstStyle/>
          <a:p>
            <a:pPr>
              <a:lnSpc>
                <a:spcPct val="120000"/>
              </a:lnSpc>
            </a:pPr>
            <a:r>
              <a:rPr lang="zh-CN" altLang="en-US" smtClean="0"/>
              <a:t>四舍情况，当</a:t>
            </a:r>
            <a:r>
              <a:rPr lang="zh-CN" altLang="zh-CN" smtClean="0"/>
              <a:t>a</a:t>
            </a:r>
            <a:r>
              <a:rPr lang="zh-CN" altLang="zh-CN" baseline="-25000" smtClean="0"/>
              <a:t>m+n+1 </a:t>
            </a:r>
            <a:r>
              <a:rPr lang="en-US" altLang="zh-CN" smtClean="0"/>
              <a:t>=1,2,3,4</a:t>
            </a:r>
            <a:r>
              <a:rPr lang="zh-CN" altLang="en-US" smtClean="0"/>
              <a:t>时，取 </a:t>
            </a:r>
            <a:r>
              <a:rPr lang="en-US" altLang="zh-CN" smtClean="0"/>
              <a:t>a= </a:t>
            </a:r>
            <a:r>
              <a:rPr lang="zh-CN" altLang="zh-CN" smtClean="0"/>
              <a:t>a</a:t>
            </a:r>
            <a:r>
              <a:rPr lang="zh-CN" altLang="zh-CN" baseline="-25000" smtClean="0"/>
              <a:t>0 </a:t>
            </a:r>
            <a:r>
              <a:rPr lang="zh-CN" altLang="zh-CN" smtClean="0"/>
              <a:t>a</a:t>
            </a:r>
            <a:r>
              <a:rPr lang="zh-CN" altLang="zh-CN" baseline="-25000" smtClean="0"/>
              <a:t>1 </a:t>
            </a:r>
            <a:r>
              <a:rPr lang="zh-CN" altLang="zh-CN" smtClean="0"/>
              <a:t>… a</a:t>
            </a:r>
            <a:r>
              <a:rPr lang="zh-CN" altLang="zh-CN" baseline="-25000" smtClean="0"/>
              <a:t>m </a:t>
            </a:r>
            <a:r>
              <a:rPr lang="zh-CN" altLang="zh-CN" smtClean="0"/>
              <a:t>.</a:t>
            </a:r>
            <a:r>
              <a:rPr lang="zh-CN" altLang="zh-CN" baseline="-25000" smtClean="0"/>
              <a:t> </a:t>
            </a:r>
            <a:r>
              <a:rPr lang="zh-CN" altLang="zh-CN" smtClean="0"/>
              <a:t>a</a:t>
            </a:r>
            <a:r>
              <a:rPr lang="zh-CN" altLang="zh-CN" baseline="-25000" smtClean="0"/>
              <a:t>m+1 </a:t>
            </a:r>
            <a:r>
              <a:rPr lang="zh-CN" altLang="zh-CN" smtClean="0"/>
              <a:t>…</a:t>
            </a:r>
            <a:r>
              <a:rPr lang="zh-CN" altLang="zh-CN" baseline="-25000" smtClean="0"/>
              <a:t> </a:t>
            </a:r>
            <a:r>
              <a:rPr lang="zh-CN" altLang="zh-CN" smtClean="0"/>
              <a:t>a</a:t>
            </a:r>
            <a:r>
              <a:rPr lang="zh-CN" altLang="zh-CN" baseline="-25000" smtClean="0"/>
              <a:t>m+n </a:t>
            </a:r>
            <a:r>
              <a:rPr lang="zh-CN" altLang="en-US" smtClean="0"/>
              <a:t>，那么</a:t>
            </a:r>
          </a:p>
        </p:txBody>
      </p:sp>
      <p:grpSp>
        <p:nvGrpSpPr>
          <p:cNvPr id="10246" name="Group 24"/>
          <p:cNvGrpSpPr>
            <a:grpSpLocks/>
          </p:cNvGrpSpPr>
          <p:nvPr/>
        </p:nvGrpSpPr>
        <p:grpSpPr bwMode="auto">
          <a:xfrm>
            <a:off x="-82550" y="4191000"/>
            <a:ext cx="9906000" cy="1371600"/>
            <a:chOff x="-52" y="2976"/>
            <a:chExt cx="6240" cy="864"/>
          </a:xfrm>
        </p:grpSpPr>
        <p:sp>
          <p:nvSpPr>
            <p:cNvPr id="10254" name="Text Box 6"/>
            <p:cNvSpPr txBox="1">
              <a:spLocks noChangeArrowheads="1"/>
            </p:cNvSpPr>
            <p:nvPr/>
          </p:nvSpPr>
          <p:spPr bwMode="auto">
            <a:xfrm>
              <a:off x="-52" y="2976"/>
              <a:ext cx="6240"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000" b="1" i="1">
                  <a:solidFill>
                    <a:schemeClr val="tx1"/>
                  </a:solidFill>
                  <a:latin typeface="Arial" pitchFamily="34" charset="0"/>
                  <a:ea typeface="宋体" pitchFamily="2" charset="-122"/>
                </a:defRPr>
              </a:lvl1pPr>
              <a:lvl2pPr>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lvl="1" algn="l"/>
              <a:r>
                <a:rPr lang="zh-CN" altLang="en-US" sz="2800" i="0">
                  <a:latin typeface="宋体" pitchFamily="2" charset="-122"/>
                </a:rPr>
                <a:t>  </a:t>
              </a:r>
              <a:r>
                <a:rPr lang="zh-CN" altLang="zh-CN" sz="2800" i="0">
                  <a:latin typeface="宋体" pitchFamily="2" charset="-122"/>
                </a:rPr>
                <a:t>|</a:t>
              </a:r>
              <a:r>
                <a:rPr lang="en-US" altLang="zh-CN" sz="2800" i="0">
                  <a:latin typeface="宋体" pitchFamily="2" charset="-122"/>
                </a:rPr>
                <a:t>Δ|=|a-A</a:t>
              </a:r>
              <a:r>
                <a:rPr lang="en-US" altLang="zh-CN" sz="2800" i="0">
                  <a:latin typeface="Times New Roman" pitchFamily="18" charset="0"/>
                  <a:ea typeface="PMingLiU" pitchFamily="18" charset="-120"/>
                </a:rPr>
                <a:t>|</a:t>
              </a:r>
            </a:p>
            <a:p>
              <a:pPr lvl="1" algn="l"/>
              <a:r>
                <a:rPr lang="en-US" altLang="zh-CN" sz="2400" i="0">
                  <a:latin typeface="Times New Roman" pitchFamily="18" charset="0"/>
                  <a:ea typeface="PMingLiU" pitchFamily="18" charset="-120"/>
                </a:rPr>
                <a:t>              = </a:t>
              </a:r>
              <a:r>
                <a:rPr lang="zh-CN" altLang="zh-CN" sz="2400" i="0">
                  <a:latin typeface="Times New Roman" pitchFamily="18" charset="0"/>
                </a:rPr>
                <a:t>0 . 0 … 0 a</a:t>
              </a:r>
              <a:r>
                <a:rPr lang="zh-CN" altLang="zh-CN" sz="2400" i="0" baseline="-25000">
                  <a:latin typeface="Times New Roman" pitchFamily="18" charset="0"/>
                </a:rPr>
                <a:t>m+n+1 </a:t>
              </a:r>
              <a:r>
                <a:rPr lang="zh-CN" altLang="zh-CN" sz="2400" i="0">
                  <a:latin typeface="Times New Roman" pitchFamily="18" charset="0"/>
                </a:rPr>
                <a:t>…</a:t>
              </a:r>
              <a:r>
                <a:rPr lang="zh-CN" altLang="en-US" sz="2400" i="0">
                  <a:latin typeface="宋体" pitchFamily="2" charset="-122"/>
                </a:rPr>
                <a:t>≤</a:t>
              </a:r>
              <a:r>
                <a:rPr lang="zh-CN" altLang="en-US" sz="2400" i="0">
                  <a:latin typeface="Times New Roman" pitchFamily="18" charset="0"/>
                </a:rPr>
                <a:t> </a:t>
              </a:r>
              <a:r>
                <a:rPr lang="zh-CN" altLang="zh-CN" sz="2400" i="0">
                  <a:latin typeface="Times New Roman" pitchFamily="18" charset="0"/>
                </a:rPr>
                <a:t>0 . 0 … 0 499... &lt; 0 . 0 … 0 5=0.5x10</a:t>
              </a:r>
              <a:r>
                <a:rPr lang="zh-CN" altLang="zh-CN" sz="2400" i="0" baseline="30000">
                  <a:latin typeface="Times New Roman" pitchFamily="18" charset="0"/>
                </a:rPr>
                <a:t>-n</a:t>
              </a:r>
              <a:endParaRPr lang="en-US" altLang="zh-CN" sz="2400" i="0">
                <a:latin typeface="Times New Roman" pitchFamily="18" charset="0"/>
                <a:ea typeface="PMingLiU" pitchFamily="18" charset="-120"/>
              </a:endParaRPr>
            </a:p>
            <a:p>
              <a:pPr lvl="1" algn="l"/>
              <a:endParaRPr lang="zh-CN" altLang="zh-CN" i="0">
                <a:latin typeface="Times New Roman" pitchFamily="18" charset="0"/>
              </a:endParaRPr>
            </a:p>
          </p:txBody>
        </p:sp>
        <p:sp>
          <p:nvSpPr>
            <p:cNvPr id="10255" name="AutoShape 7"/>
            <p:cNvSpPr>
              <a:spLocks noChangeArrowheads="1"/>
            </p:cNvSpPr>
            <p:nvPr/>
          </p:nvSpPr>
          <p:spPr bwMode="auto">
            <a:xfrm>
              <a:off x="1976" y="2976"/>
              <a:ext cx="728" cy="240"/>
            </a:xfrm>
            <a:prstGeom prst="wedgeRoundRectCallout">
              <a:avLst>
                <a:gd name="adj1" fmla="val -38097"/>
                <a:gd name="adj2" fmla="val 70000"/>
                <a:gd name="adj3" fmla="val 16667"/>
              </a:avLst>
            </a:prstGeom>
            <a:solidFill>
              <a:schemeClr val="accent2"/>
            </a:solidFill>
            <a:ln w="9525">
              <a:solidFill>
                <a:schemeClr val="tx1"/>
              </a:solidFill>
              <a:miter lim="800000"/>
              <a:headEnd/>
              <a:tailEnd/>
            </a:ln>
          </p:spPr>
          <p:txBody>
            <a:bodyPr wrap="none" anchor="ctr"/>
            <a:lstStyle/>
            <a:p>
              <a:r>
                <a:rPr lang="zh-CN" altLang="en-US" b="0" i="0">
                  <a:latin typeface="Arial Black" pitchFamily="34" charset="0"/>
                </a:rPr>
                <a:t>1,2,3,4</a:t>
              </a:r>
            </a:p>
          </p:txBody>
        </p:sp>
        <p:grpSp>
          <p:nvGrpSpPr>
            <p:cNvPr id="10256" name="Group 8"/>
            <p:cNvGrpSpPr>
              <a:grpSpLocks/>
            </p:cNvGrpSpPr>
            <p:nvPr/>
          </p:nvGrpSpPr>
          <p:grpSpPr bwMode="auto">
            <a:xfrm>
              <a:off x="1196" y="3504"/>
              <a:ext cx="624" cy="328"/>
              <a:chOff x="1200" y="2236"/>
              <a:chExt cx="624" cy="551"/>
            </a:xfrm>
          </p:grpSpPr>
          <p:sp>
            <p:nvSpPr>
              <p:cNvPr id="10263" name="AutoShape 9"/>
              <p:cNvSpPr>
                <a:spLocks/>
              </p:cNvSpPr>
              <p:nvPr/>
            </p:nvSpPr>
            <p:spPr bwMode="auto">
              <a:xfrm rot="5400000">
                <a:off x="1382" y="2054"/>
                <a:ext cx="116" cy="480"/>
              </a:xfrm>
              <a:prstGeom prst="rightBrace">
                <a:avLst>
                  <a:gd name="adj1" fmla="val 70038"/>
                  <a:gd name="adj2" fmla="val 4722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4" name="Text Box 10"/>
              <p:cNvSpPr txBox="1">
                <a:spLocks noChangeArrowheads="1"/>
              </p:cNvSpPr>
              <p:nvPr/>
            </p:nvSpPr>
            <p:spPr bwMode="auto">
              <a:xfrm>
                <a:off x="1248" y="2303"/>
                <a:ext cx="576"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Arial Black" pitchFamily="34" charset="0"/>
                  </a:rPr>
                  <a:t>n</a:t>
                </a:r>
                <a:r>
                  <a:rPr lang="zh-CN" altLang="en-US" sz="2400" i="0">
                    <a:latin typeface="Arial Black" pitchFamily="34" charset="0"/>
                  </a:rPr>
                  <a:t>位</a:t>
                </a:r>
                <a:endParaRPr lang="zh-CN" altLang="en-US" sz="1600" i="0">
                  <a:latin typeface="Arial Black" pitchFamily="34" charset="0"/>
                </a:endParaRPr>
              </a:p>
            </p:txBody>
          </p:sp>
        </p:grpSp>
        <p:grpSp>
          <p:nvGrpSpPr>
            <p:cNvPr id="10257" name="Group 11"/>
            <p:cNvGrpSpPr>
              <a:grpSpLocks/>
            </p:cNvGrpSpPr>
            <p:nvPr/>
          </p:nvGrpSpPr>
          <p:grpSpPr bwMode="auto">
            <a:xfrm>
              <a:off x="3068" y="3456"/>
              <a:ext cx="572" cy="356"/>
              <a:chOff x="1200" y="2236"/>
              <a:chExt cx="624" cy="356"/>
            </a:xfrm>
          </p:grpSpPr>
          <p:sp>
            <p:nvSpPr>
              <p:cNvPr id="10261" name="AutoShape 12"/>
              <p:cNvSpPr>
                <a:spLocks/>
              </p:cNvSpPr>
              <p:nvPr/>
            </p:nvSpPr>
            <p:spPr bwMode="auto">
              <a:xfrm rot="5400000">
                <a:off x="1382" y="2054"/>
                <a:ext cx="116" cy="480"/>
              </a:xfrm>
              <a:prstGeom prst="rightBrace">
                <a:avLst>
                  <a:gd name="adj1" fmla="val 70038"/>
                  <a:gd name="adj2" fmla="val 4722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2" name="Text Box 13"/>
              <p:cNvSpPr txBox="1">
                <a:spLocks noChangeArrowheads="1"/>
              </p:cNvSpPr>
              <p:nvPr/>
            </p:nvSpPr>
            <p:spPr bwMode="auto">
              <a:xfrm>
                <a:off x="1248" y="230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Arial Black" pitchFamily="34" charset="0"/>
                  </a:rPr>
                  <a:t>n</a:t>
                </a:r>
                <a:r>
                  <a:rPr lang="zh-CN" altLang="en-US" sz="2400" i="0">
                    <a:latin typeface="Arial Black" pitchFamily="34" charset="0"/>
                  </a:rPr>
                  <a:t>位</a:t>
                </a:r>
                <a:endParaRPr lang="zh-CN" altLang="en-US" sz="1600" i="0">
                  <a:latin typeface="Arial Black" pitchFamily="34" charset="0"/>
                </a:endParaRPr>
              </a:p>
            </p:txBody>
          </p:sp>
        </p:grpSp>
        <p:grpSp>
          <p:nvGrpSpPr>
            <p:cNvPr id="10258" name="Group 14"/>
            <p:cNvGrpSpPr>
              <a:grpSpLocks/>
            </p:cNvGrpSpPr>
            <p:nvPr/>
          </p:nvGrpSpPr>
          <p:grpSpPr bwMode="auto">
            <a:xfrm>
              <a:off x="4576" y="3484"/>
              <a:ext cx="624" cy="356"/>
              <a:chOff x="1200" y="2236"/>
              <a:chExt cx="624" cy="356"/>
            </a:xfrm>
          </p:grpSpPr>
          <p:sp>
            <p:nvSpPr>
              <p:cNvPr id="10259" name="AutoShape 15"/>
              <p:cNvSpPr>
                <a:spLocks/>
              </p:cNvSpPr>
              <p:nvPr/>
            </p:nvSpPr>
            <p:spPr bwMode="auto">
              <a:xfrm rot="5400000">
                <a:off x="1382" y="2054"/>
                <a:ext cx="116" cy="480"/>
              </a:xfrm>
              <a:prstGeom prst="rightBrace">
                <a:avLst>
                  <a:gd name="adj1" fmla="val 70038"/>
                  <a:gd name="adj2" fmla="val 4722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0" name="Text Box 16"/>
              <p:cNvSpPr txBox="1">
                <a:spLocks noChangeArrowheads="1"/>
              </p:cNvSpPr>
              <p:nvPr/>
            </p:nvSpPr>
            <p:spPr bwMode="auto">
              <a:xfrm>
                <a:off x="1248" y="230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Arial Black" pitchFamily="34" charset="0"/>
                  </a:rPr>
                  <a:t>n</a:t>
                </a:r>
                <a:r>
                  <a:rPr lang="zh-CN" altLang="en-US" sz="2400" i="0">
                    <a:latin typeface="Arial Black" pitchFamily="34" charset="0"/>
                  </a:rPr>
                  <a:t>位</a:t>
                </a:r>
                <a:endParaRPr lang="zh-CN" altLang="en-US" sz="1600" i="0">
                  <a:latin typeface="Arial Black" pitchFamily="34" charset="0"/>
                </a:endParaRPr>
              </a:p>
            </p:txBody>
          </p:sp>
        </p:grpSp>
      </p:grpSp>
      <p:grpSp>
        <p:nvGrpSpPr>
          <p:cNvPr id="10247" name="Group 17"/>
          <p:cNvGrpSpPr>
            <a:grpSpLocks/>
          </p:cNvGrpSpPr>
          <p:nvPr/>
        </p:nvGrpSpPr>
        <p:grpSpPr bwMode="auto">
          <a:xfrm>
            <a:off x="1485900" y="1511300"/>
            <a:ext cx="6769100" cy="1308100"/>
            <a:chOff x="1008" y="912"/>
            <a:chExt cx="3936" cy="824"/>
          </a:xfrm>
        </p:grpSpPr>
        <p:sp>
          <p:nvSpPr>
            <p:cNvPr id="10248" name="Text Box 18"/>
            <p:cNvSpPr txBox="1">
              <a:spLocks noChangeArrowheads="1"/>
            </p:cNvSpPr>
            <p:nvPr/>
          </p:nvSpPr>
          <p:spPr bwMode="auto">
            <a:xfrm>
              <a:off x="1008" y="912"/>
              <a:ext cx="37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2800" i="0">
                  <a:latin typeface="Times New Roman" pitchFamily="18" charset="0"/>
                </a:rPr>
                <a:t>    </a:t>
              </a:r>
              <a:r>
                <a:rPr lang="zh-CN" altLang="zh-CN" sz="2800" i="0">
                  <a:latin typeface="Times New Roman" pitchFamily="18" charset="0"/>
                </a:rPr>
                <a:t>A=a</a:t>
              </a:r>
              <a:r>
                <a:rPr lang="zh-CN" altLang="zh-CN" sz="2800" i="0" baseline="-25000">
                  <a:latin typeface="Times New Roman" pitchFamily="18" charset="0"/>
                </a:rPr>
                <a:t>0 </a:t>
              </a:r>
              <a:r>
                <a:rPr lang="zh-CN" altLang="zh-CN" sz="2800" i="0">
                  <a:latin typeface="Times New Roman" pitchFamily="18" charset="0"/>
                </a:rPr>
                <a:t>a</a:t>
              </a:r>
              <a:r>
                <a:rPr lang="zh-CN" altLang="zh-CN" sz="2800" i="0" baseline="-25000">
                  <a:latin typeface="Times New Roman" pitchFamily="18" charset="0"/>
                </a:rPr>
                <a:t>1 </a:t>
              </a:r>
              <a:r>
                <a:rPr lang="zh-CN" altLang="zh-CN" sz="2800" i="0">
                  <a:latin typeface="Times New Roman" pitchFamily="18" charset="0"/>
                </a:rPr>
                <a:t>…</a:t>
              </a:r>
              <a:r>
                <a:rPr lang="zh-CN" altLang="zh-CN" sz="2800" i="0" baseline="-25000">
                  <a:latin typeface="Times New Roman" pitchFamily="18" charset="0"/>
                </a:rPr>
                <a:t> </a:t>
              </a:r>
              <a:r>
                <a:rPr lang="zh-CN" altLang="zh-CN" sz="2800" i="0">
                  <a:latin typeface="Times New Roman" pitchFamily="18" charset="0"/>
                </a:rPr>
                <a:t>a</a:t>
              </a:r>
              <a:r>
                <a:rPr lang="zh-CN" altLang="zh-CN" sz="2800" i="0" baseline="-25000">
                  <a:latin typeface="Times New Roman" pitchFamily="18" charset="0"/>
                </a:rPr>
                <a:t>m. </a:t>
              </a:r>
              <a:r>
                <a:rPr lang="zh-CN" altLang="zh-CN" sz="2800" i="0">
                  <a:latin typeface="Times New Roman" pitchFamily="18" charset="0"/>
                </a:rPr>
                <a:t>a</a:t>
              </a:r>
              <a:r>
                <a:rPr lang="zh-CN" altLang="zh-CN" sz="2800" i="0" baseline="-25000">
                  <a:latin typeface="Times New Roman" pitchFamily="18" charset="0"/>
                </a:rPr>
                <a:t>m+1 </a:t>
              </a:r>
              <a:r>
                <a:rPr lang="zh-CN" altLang="zh-CN" sz="2800" i="0">
                  <a:latin typeface="Times New Roman" pitchFamily="18" charset="0"/>
                </a:rPr>
                <a:t>…</a:t>
              </a:r>
              <a:r>
                <a:rPr lang="zh-CN" altLang="zh-CN" sz="2800" i="0" baseline="-25000">
                  <a:latin typeface="Times New Roman" pitchFamily="18" charset="0"/>
                </a:rPr>
                <a:t> </a:t>
              </a:r>
              <a:r>
                <a:rPr lang="zh-CN" altLang="zh-CN" sz="2800" i="0">
                  <a:latin typeface="Times New Roman" pitchFamily="18" charset="0"/>
                </a:rPr>
                <a:t>a</a:t>
              </a:r>
              <a:r>
                <a:rPr lang="zh-CN" altLang="zh-CN" sz="2800" i="0" baseline="-25000">
                  <a:latin typeface="Times New Roman" pitchFamily="18" charset="0"/>
                </a:rPr>
                <a:t>m+n   </a:t>
              </a:r>
              <a:r>
                <a:rPr lang="zh-CN" altLang="zh-CN" sz="2800" i="0">
                  <a:latin typeface="Times New Roman" pitchFamily="18" charset="0"/>
                </a:rPr>
                <a:t>a</a:t>
              </a:r>
              <a:r>
                <a:rPr lang="zh-CN" altLang="zh-CN" sz="2800" i="0" baseline="-25000">
                  <a:latin typeface="Times New Roman" pitchFamily="18" charset="0"/>
                </a:rPr>
                <a:t>m+n+1 </a:t>
              </a:r>
              <a:r>
                <a:rPr lang="zh-CN" altLang="zh-CN" sz="2800" i="0">
                  <a:latin typeface="Times New Roman" pitchFamily="18" charset="0"/>
                </a:rPr>
                <a:t>…</a:t>
              </a:r>
              <a:endParaRPr lang="en-US" altLang="zh-CN" sz="2800" i="0">
                <a:latin typeface="Times New Roman" pitchFamily="18" charset="0"/>
              </a:endParaRPr>
            </a:p>
          </p:txBody>
        </p:sp>
        <p:sp>
          <p:nvSpPr>
            <p:cNvPr id="10249" name="Line 19"/>
            <p:cNvSpPr>
              <a:spLocks noChangeShapeType="1"/>
            </p:cNvSpPr>
            <p:nvPr/>
          </p:nvSpPr>
          <p:spPr bwMode="auto">
            <a:xfrm>
              <a:off x="3552" y="931"/>
              <a:ext cx="2" cy="4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0" name="AutoShape 20"/>
            <p:cNvSpPr>
              <a:spLocks/>
            </p:cNvSpPr>
            <p:nvPr/>
          </p:nvSpPr>
          <p:spPr bwMode="auto">
            <a:xfrm rot="5400000">
              <a:off x="2167" y="663"/>
              <a:ext cx="172" cy="1397"/>
            </a:xfrm>
            <a:prstGeom prst="rightBrace">
              <a:avLst>
                <a:gd name="adj1" fmla="val 67684"/>
                <a:gd name="adj2" fmla="val 478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51" name="Text Box 21"/>
            <p:cNvSpPr txBox="1">
              <a:spLocks noChangeArrowheads="1"/>
            </p:cNvSpPr>
            <p:nvPr/>
          </p:nvSpPr>
          <p:spPr bwMode="auto">
            <a:xfrm>
              <a:off x="1845" y="1448"/>
              <a:ext cx="11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2400" i="0">
                  <a:latin typeface="Arial Black" pitchFamily="34" charset="0"/>
                </a:rPr>
                <a:t>高位部分</a:t>
              </a:r>
              <a:endParaRPr lang="zh-CN" altLang="en-US" sz="1600" i="0">
                <a:latin typeface="Arial Black" pitchFamily="34" charset="0"/>
              </a:endParaRPr>
            </a:p>
          </p:txBody>
        </p:sp>
        <p:sp>
          <p:nvSpPr>
            <p:cNvPr id="10252" name="AutoShape 22"/>
            <p:cNvSpPr>
              <a:spLocks/>
            </p:cNvSpPr>
            <p:nvPr/>
          </p:nvSpPr>
          <p:spPr bwMode="auto">
            <a:xfrm rot="5400000">
              <a:off x="4131" y="867"/>
              <a:ext cx="229" cy="1047"/>
            </a:xfrm>
            <a:prstGeom prst="rightBrace">
              <a:avLst>
                <a:gd name="adj1" fmla="val 38651"/>
                <a:gd name="adj2" fmla="val 4828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53" name="Text Box 23"/>
            <p:cNvSpPr txBox="1">
              <a:spLocks noChangeArrowheads="1"/>
            </p:cNvSpPr>
            <p:nvPr/>
          </p:nvSpPr>
          <p:spPr bwMode="auto">
            <a:xfrm>
              <a:off x="3780" y="1448"/>
              <a:ext cx="11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2400" i="0">
                  <a:latin typeface="Arial Black" pitchFamily="34" charset="0"/>
                </a:rPr>
                <a:t>低位部分</a:t>
              </a:r>
              <a:endParaRPr lang="zh-CN" altLang="en-US" sz="1600" i="0">
                <a:latin typeface="Arial Black"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CB3B770-C6E6-4E32-8E62-D6C7FCEBD6CD}" type="slidenum">
              <a:rPr lang="zh-CN" altLang="en-US" i="0" smtClean="0"/>
              <a:pPr/>
              <a:t>10</a:t>
            </a:fld>
            <a:endParaRPr lang="en-US" altLang="zh-CN" i="0" smtClean="0"/>
          </a:p>
        </p:txBody>
      </p:sp>
      <p:sp>
        <p:nvSpPr>
          <p:cNvPr id="112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0B15695-28FF-4125-AD47-5E9C2F992AA5}" type="datetime1">
              <a:rPr lang="zh-CN" altLang="en-US" sz="1800" i="0" smtClean="0"/>
              <a:pPr/>
              <a:t>2024/9/8</a:t>
            </a:fld>
            <a:endParaRPr lang="en-US" altLang="zh-CN" sz="1000" i="0" smtClean="0"/>
          </a:p>
        </p:txBody>
      </p:sp>
      <p:sp>
        <p:nvSpPr>
          <p:cNvPr id="727042" name="Rectangle 2"/>
          <p:cNvSpPr>
            <a:spLocks noGrp="1" noChangeArrowheads="1"/>
          </p:cNvSpPr>
          <p:nvPr>
            <p:ph type="title"/>
          </p:nvPr>
        </p:nvSpPr>
        <p:spPr/>
        <p:txBody>
          <a:bodyPr/>
          <a:lstStyle/>
          <a:p>
            <a:pPr>
              <a:defRPr/>
            </a:pPr>
            <a:r>
              <a:rPr lang="zh-CN" altLang="en-US" smtClean="0"/>
              <a:t>2.2.2   四舍五入法</a:t>
            </a:r>
          </a:p>
        </p:txBody>
      </p:sp>
      <p:sp>
        <p:nvSpPr>
          <p:cNvPr id="11269" name="Rectangle 3"/>
          <p:cNvSpPr>
            <a:spLocks noGrp="1" noChangeArrowheads="1"/>
          </p:cNvSpPr>
          <p:nvPr>
            <p:ph type="body" idx="1"/>
          </p:nvPr>
        </p:nvSpPr>
        <p:spPr>
          <a:xfrm>
            <a:off x="412750" y="1371600"/>
            <a:ext cx="9328150" cy="1450975"/>
          </a:xfrm>
        </p:spPr>
        <p:txBody>
          <a:bodyPr/>
          <a:lstStyle/>
          <a:p>
            <a:r>
              <a:rPr lang="zh-CN" altLang="en-US" smtClean="0"/>
              <a:t>五入情况</a:t>
            </a:r>
          </a:p>
          <a:p>
            <a:pPr lvl="1"/>
            <a:r>
              <a:rPr lang="zh-CN" altLang="en-US" smtClean="0"/>
              <a:t>当</a:t>
            </a:r>
            <a:r>
              <a:rPr lang="zh-CN" altLang="zh-CN" smtClean="0"/>
              <a:t>a</a:t>
            </a:r>
            <a:r>
              <a:rPr lang="zh-CN" altLang="zh-CN" baseline="-25000" smtClean="0"/>
              <a:t>m+n+1 </a:t>
            </a:r>
            <a:r>
              <a:rPr lang="en-US" altLang="zh-CN" smtClean="0"/>
              <a:t>=5,6,7,8,9</a:t>
            </a:r>
            <a:r>
              <a:rPr lang="zh-CN" altLang="en-US" smtClean="0"/>
              <a:t>时，取 </a:t>
            </a:r>
          </a:p>
          <a:p>
            <a:pPr lvl="1">
              <a:buFontTx/>
              <a:buNone/>
            </a:pPr>
            <a:r>
              <a:rPr lang="en-US" altLang="zh-CN" smtClean="0"/>
              <a:t>a= </a:t>
            </a:r>
            <a:r>
              <a:rPr lang="zh-CN" altLang="zh-CN" smtClean="0"/>
              <a:t>a</a:t>
            </a:r>
            <a:r>
              <a:rPr lang="zh-CN" altLang="zh-CN" baseline="-25000" smtClean="0"/>
              <a:t>0 </a:t>
            </a:r>
            <a:r>
              <a:rPr lang="zh-CN" altLang="zh-CN" smtClean="0"/>
              <a:t>a</a:t>
            </a:r>
            <a:r>
              <a:rPr lang="zh-CN" altLang="zh-CN" baseline="-25000" smtClean="0"/>
              <a:t>1 </a:t>
            </a:r>
            <a:r>
              <a:rPr lang="zh-CN" altLang="zh-CN" smtClean="0"/>
              <a:t>… a</a:t>
            </a:r>
            <a:r>
              <a:rPr lang="zh-CN" altLang="zh-CN" baseline="-25000" smtClean="0"/>
              <a:t>m </a:t>
            </a:r>
            <a:r>
              <a:rPr lang="zh-CN" altLang="zh-CN" smtClean="0"/>
              <a:t>.</a:t>
            </a:r>
            <a:r>
              <a:rPr lang="zh-CN" altLang="zh-CN" baseline="-25000" smtClean="0"/>
              <a:t> </a:t>
            </a:r>
            <a:r>
              <a:rPr lang="zh-CN" altLang="zh-CN" smtClean="0"/>
              <a:t>a</a:t>
            </a:r>
            <a:r>
              <a:rPr lang="zh-CN" altLang="zh-CN" baseline="-25000" smtClean="0"/>
              <a:t>m+1 </a:t>
            </a:r>
            <a:r>
              <a:rPr lang="zh-CN" altLang="zh-CN" smtClean="0"/>
              <a:t>…</a:t>
            </a:r>
            <a:r>
              <a:rPr lang="zh-CN" altLang="zh-CN" baseline="-25000" smtClean="0"/>
              <a:t> </a:t>
            </a:r>
            <a:r>
              <a:rPr lang="zh-CN" altLang="en-US" smtClean="0"/>
              <a:t>(</a:t>
            </a:r>
            <a:r>
              <a:rPr lang="zh-CN" altLang="zh-CN" smtClean="0"/>
              <a:t>a</a:t>
            </a:r>
            <a:r>
              <a:rPr lang="zh-CN" altLang="zh-CN" baseline="-25000" smtClean="0"/>
              <a:t>m+n</a:t>
            </a:r>
            <a:r>
              <a:rPr lang="zh-CN" altLang="en-US" smtClean="0"/>
              <a:t>+1) ,那么</a:t>
            </a:r>
          </a:p>
        </p:txBody>
      </p:sp>
      <p:sp>
        <p:nvSpPr>
          <p:cNvPr id="11270" name="Text Box 6"/>
          <p:cNvSpPr txBox="1">
            <a:spLocks noChangeArrowheads="1"/>
          </p:cNvSpPr>
          <p:nvPr/>
        </p:nvSpPr>
        <p:spPr bwMode="auto">
          <a:xfrm>
            <a:off x="247650" y="3060700"/>
            <a:ext cx="9410700"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000" b="1" i="1">
                <a:solidFill>
                  <a:schemeClr val="tx1"/>
                </a:solidFill>
                <a:latin typeface="Arial" pitchFamily="34" charset="0"/>
                <a:ea typeface="宋体" pitchFamily="2" charset="-122"/>
              </a:defRPr>
            </a:lvl1pPr>
            <a:lvl2pPr>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lvl="1" algn="l"/>
            <a:r>
              <a:rPr lang="zh-CN" altLang="en-US" sz="2400" i="0">
                <a:latin typeface="宋体" pitchFamily="2" charset="-122"/>
              </a:rPr>
              <a:t>   </a:t>
            </a:r>
            <a:r>
              <a:rPr lang="zh-CN" altLang="zh-CN" sz="2400" i="0">
                <a:latin typeface="宋体" pitchFamily="2" charset="-122"/>
              </a:rPr>
              <a:t>|</a:t>
            </a:r>
            <a:r>
              <a:rPr lang="en-US" altLang="zh-CN" sz="2400" i="0">
                <a:latin typeface="宋体" pitchFamily="2" charset="-122"/>
              </a:rPr>
              <a:t>Δ|=| a-A </a:t>
            </a:r>
            <a:r>
              <a:rPr lang="en-US" altLang="zh-CN" sz="2400" i="0">
                <a:latin typeface="Times New Roman" pitchFamily="18" charset="0"/>
                <a:ea typeface="PMingLiU" pitchFamily="18" charset="-120"/>
              </a:rPr>
              <a:t>|= </a:t>
            </a:r>
            <a:r>
              <a:rPr lang="zh-CN" altLang="zh-CN" sz="2400" i="0">
                <a:latin typeface="Times New Roman" pitchFamily="18" charset="0"/>
              </a:rPr>
              <a:t>0 . 0 … 0</a:t>
            </a:r>
            <a:r>
              <a:rPr lang="en-US" altLang="zh-CN" sz="2400" i="0">
                <a:latin typeface="Times New Roman" pitchFamily="18" charset="0"/>
                <a:ea typeface="PMingLiU" pitchFamily="18" charset="-120"/>
              </a:rPr>
              <a:t> 1 - </a:t>
            </a:r>
            <a:r>
              <a:rPr lang="zh-CN" altLang="zh-CN" sz="2400" i="0">
                <a:latin typeface="Times New Roman" pitchFamily="18" charset="0"/>
              </a:rPr>
              <a:t>0 . 0 … 0 a</a:t>
            </a:r>
            <a:r>
              <a:rPr lang="zh-CN" altLang="zh-CN" sz="2400" i="0" baseline="-25000">
                <a:latin typeface="Times New Roman" pitchFamily="18" charset="0"/>
              </a:rPr>
              <a:t>m+n+1 </a:t>
            </a:r>
            <a:r>
              <a:rPr lang="zh-CN" altLang="zh-CN" sz="2400" i="0">
                <a:latin typeface="Times New Roman" pitchFamily="18" charset="0"/>
              </a:rPr>
              <a:t>…</a:t>
            </a:r>
          </a:p>
          <a:p>
            <a:pPr lvl="1" algn="l"/>
            <a:endParaRPr lang="zh-CN" altLang="zh-CN" sz="2400" i="0">
              <a:latin typeface="Times New Roman" pitchFamily="18" charset="0"/>
            </a:endParaRPr>
          </a:p>
          <a:p>
            <a:pPr lvl="1" algn="l"/>
            <a:r>
              <a:rPr lang="zh-CN" altLang="zh-CN" sz="2400" i="0">
                <a:latin typeface="Times New Roman" pitchFamily="18" charset="0"/>
              </a:rPr>
              <a:t>                    </a:t>
            </a:r>
            <a:r>
              <a:rPr lang="zh-CN" altLang="en-US" sz="2400" i="0">
                <a:latin typeface="Times New Roman" pitchFamily="18" charset="0"/>
              </a:rPr>
              <a:t>    </a:t>
            </a:r>
            <a:r>
              <a:rPr lang="zh-CN" altLang="zh-CN" sz="2400" i="0">
                <a:latin typeface="Times New Roman" pitchFamily="18" charset="0"/>
              </a:rPr>
              <a:t> </a:t>
            </a:r>
            <a:r>
              <a:rPr lang="zh-CN" altLang="en-US" sz="2400" i="0">
                <a:latin typeface="Times New Roman" pitchFamily="18" charset="0"/>
              </a:rPr>
              <a:t> </a:t>
            </a:r>
            <a:r>
              <a:rPr lang="zh-CN" altLang="en-US" sz="2400" i="0">
                <a:latin typeface="宋体" pitchFamily="2" charset="-122"/>
              </a:rPr>
              <a:t>≤</a:t>
            </a:r>
            <a:r>
              <a:rPr lang="zh-CN" altLang="en-US" sz="2400" i="0">
                <a:latin typeface="Times New Roman" pitchFamily="18" charset="0"/>
              </a:rPr>
              <a:t> </a:t>
            </a:r>
            <a:r>
              <a:rPr lang="zh-CN" altLang="zh-CN" sz="2400" i="0">
                <a:latin typeface="Times New Roman" pitchFamily="18" charset="0"/>
              </a:rPr>
              <a:t>0 . 0 … 0</a:t>
            </a:r>
            <a:r>
              <a:rPr lang="en-US" altLang="zh-CN" sz="2400" i="0">
                <a:latin typeface="Times New Roman" pitchFamily="18" charset="0"/>
                <a:ea typeface="PMingLiU" pitchFamily="18" charset="-120"/>
              </a:rPr>
              <a:t> 1 - </a:t>
            </a:r>
            <a:r>
              <a:rPr lang="zh-CN" altLang="zh-CN" sz="2400" i="0">
                <a:latin typeface="Times New Roman" pitchFamily="18" charset="0"/>
              </a:rPr>
              <a:t>0 . 0 … 0 50...  = 0.5x10</a:t>
            </a:r>
            <a:r>
              <a:rPr lang="zh-CN" altLang="zh-CN" sz="2400" i="0" baseline="30000">
                <a:latin typeface="Times New Roman" pitchFamily="18" charset="0"/>
              </a:rPr>
              <a:t>-n</a:t>
            </a:r>
            <a:endParaRPr lang="en-US" altLang="zh-CN" sz="2400" i="0">
              <a:latin typeface="Times New Roman" pitchFamily="18" charset="0"/>
              <a:ea typeface="PMingLiU" pitchFamily="18" charset="-120"/>
            </a:endParaRPr>
          </a:p>
          <a:p>
            <a:pPr lvl="1" algn="l"/>
            <a:endParaRPr lang="zh-CN" altLang="zh-CN" i="0">
              <a:latin typeface="Times New Roman" pitchFamily="18" charset="0"/>
            </a:endParaRPr>
          </a:p>
        </p:txBody>
      </p:sp>
      <p:sp>
        <p:nvSpPr>
          <p:cNvPr id="11271" name="AutoShape 7"/>
          <p:cNvSpPr>
            <a:spLocks noChangeArrowheads="1"/>
          </p:cNvSpPr>
          <p:nvPr/>
        </p:nvSpPr>
        <p:spPr bwMode="auto">
          <a:xfrm>
            <a:off x="6108700" y="2362200"/>
            <a:ext cx="1238250" cy="533400"/>
          </a:xfrm>
          <a:prstGeom prst="wedgeRoundRectCallout">
            <a:avLst>
              <a:gd name="adj1" fmla="val -39167"/>
              <a:gd name="adj2" fmla="val 80954"/>
              <a:gd name="adj3" fmla="val 16667"/>
            </a:avLst>
          </a:prstGeom>
          <a:solidFill>
            <a:schemeClr val="accent2"/>
          </a:solidFill>
          <a:ln w="9525">
            <a:solidFill>
              <a:schemeClr val="tx1"/>
            </a:solidFill>
            <a:miter lim="800000"/>
            <a:headEnd/>
            <a:tailEnd/>
          </a:ln>
        </p:spPr>
        <p:txBody>
          <a:bodyPr wrap="none" anchor="ctr"/>
          <a:lstStyle/>
          <a:p>
            <a:r>
              <a:rPr lang="zh-CN" altLang="zh-CN" sz="2400" i="0">
                <a:latin typeface="Times New Roman" pitchFamily="18" charset="0"/>
                <a:ea typeface="PMingLiU" pitchFamily="18" charset="-120"/>
              </a:rPr>
              <a:t>5,6,7,8,9</a:t>
            </a:r>
            <a:endParaRPr lang="zh-CN" altLang="en-US" sz="2400" i="0">
              <a:latin typeface="Times New Roman" pitchFamily="18" charset="0"/>
              <a:ea typeface="PMingLiU" pitchFamily="18" charset="-120"/>
            </a:endParaRPr>
          </a:p>
        </p:txBody>
      </p:sp>
      <p:grpSp>
        <p:nvGrpSpPr>
          <p:cNvPr id="11272" name="Group 8"/>
          <p:cNvGrpSpPr>
            <a:grpSpLocks/>
          </p:cNvGrpSpPr>
          <p:nvPr/>
        </p:nvGrpSpPr>
        <p:grpSpPr bwMode="auto">
          <a:xfrm>
            <a:off x="3467100" y="3429000"/>
            <a:ext cx="908050" cy="565150"/>
            <a:chOff x="1200" y="2236"/>
            <a:chExt cx="624" cy="356"/>
          </a:xfrm>
        </p:grpSpPr>
        <p:sp>
          <p:nvSpPr>
            <p:cNvPr id="11283" name="AutoShape 9"/>
            <p:cNvSpPr>
              <a:spLocks/>
            </p:cNvSpPr>
            <p:nvPr/>
          </p:nvSpPr>
          <p:spPr bwMode="auto">
            <a:xfrm rot="5400000">
              <a:off x="1382" y="2054"/>
              <a:ext cx="116" cy="480"/>
            </a:xfrm>
            <a:prstGeom prst="rightBrace">
              <a:avLst>
                <a:gd name="adj1" fmla="val 70038"/>
                <a:gd name="adj2" fmla="val 4722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84" name="Text Box 10"/>
            <p:cNvSpPr txBox="1">
              <a:spLocks noChangeArrowheads="1"/>
            </p:cNvSpPr>
            <p:nvPr/>
          </p:nvSpPr>
          <p:spPr bwMode="auto">
            <a:xfrm>
              <a:off x="1248" y="230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Arial Black" pitchFamily="34" charset="0"/>
                </a:rPr>
                <a:t>n</a:t>
              </a:r>
              <a:r>
                <a:rPr lang="zh-CN" altLang="en-US" sz="2400" i="0">
                  <a:latin typeface="Arial Black" pitchFamily="34" charset="0"/>
                </a:rPr>
                <a:t>位</a:t>
              </a:r>
              <a:endParaRPr lang="zh-CN" altLang="en-US" sz="1600" i="0">
                <a:latin typeface="Arial Black" pitchFamily="34" charset="0"/>
              </a:endParaRPr>
            </a:p>
          </p:txBody>
        </p:sp>
      </p:grpSp>
      <p:grpSp>
        <p:nvGrpSpPr>
          <p:cNvPr id="11273" name="Group 11"/>
          <p:cNvGrpSpPr>
            <a:grpSpLocks/>
          </p:cNvGrpSpPr>
          <p:nvPr/>
        </p:nvGrpSpPr>
        <p:grpSpPr bwMode="auto">
          <a:xfrm>
            <a:off x="5283200" y="3473450"/>
            <a:ext cx="908050" cy="515938"/>
            <a:chOff x="1200" y="2236"/>
            <a:chExt cx="624" cy="581"/>
          </a:xfrm>
        </p:grpSpPr>
        <p:sp>
          <p:nvSpPr>
            <p:cNvPr id="11281" name="AutoShape 12"/>
            <p:cNvSpPr>
              <a:spLocks/>
            </p:cNvSpPr>
            <p:nvPr/>
          </p:nvSpPr>
          <p:spPr bwMode="auto">
            <a:xfrm rot="5400000">
              <a:off x="1382" y="2054"/>
              <a:ext cx="116" cy="480"/>
            </a:xfrm>
            <a:prstGeom prst="rightBrace">
              <a:avLst>
                <a:gd name="adj1" fmla="val 70038"/>
                <a:gd name="adj2" fmla="val 4722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82" name="Text Box 13"/>
            <p:cNvSpPr txBox="1">
              <a:spLocks noChangeArrowheads="1"/>
            </p:cNvSpPr>
            <p:nvPr/>
          </p:nvSpPr>
          <p:spPr bwMode="auto">
            <a:xfrm>
              <a:off x="1248" y="2302"/>
              <a:ext cx="576" cy="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Arial Black" pitchFamily="34" charset="0"/>
                </a:rPr>
                <a:t>n</a:t>
              </a:r>
              <a:r>
                <a:rPr lang="zh-CN" altLang="en-US" sz="2400" i="0">
                  <a:latin typeface="Arial Black" pitchFamily="34" charset="0"/>
                </a:rPr>
                <a:t>位</a:t>
              </a:r>
              <a:endParaRPr lang="zh-CN" altLang="en-US" sz="1600" i="0">
                <a:latin typeface="Arial Black" pitchFamily="34" charset="0"/>
              </a:endParaRPr>
            </a:p>
          </p:txBody>
        </p:sp>
      </p:grpSp>
      <p:grpSp>
        <p:nvGrpSpPr>
          <p:cNvPr id="11274" name="Group 14"/>
          <p:cNvGrpSpPr>
            <a:grpSpLocks/>
          </p:cNvGrpSpPr>
          <p:nvPr/>
        </p:nvGrpSpPr>
        <p:grpSpPr bwMode="auto">
          <a:xfrm>
            <a:off x="3467100" y="4114800"/>
            <a:ext cx="825500" cy="544513"/>
            <a:chOff x="1200" y="2236"/>
            <a:chExt cx="624" cy="424"/>
          </a:xfrm>
        </p:grpSpPr>
        <p:sp>
          <p:nvSpPr>
            <p:cNvPr id="11279" name="AutoShape 15"/>
            <p:cNvSpPr>
              <a:spLocks/>
            </p:cNvSpPr>
            <p:nvPr/>
          </p:nvSpPr>
          <p:spPr bwMode="auto">
            <a:xfrm rot="5400000">
              <a:off x="1382" y="2054"/>
              <a:ext cx="116" cy="480"/>
            </a:xfrm>
            <a:prstGeom prst="rightBrace">
              <a:avLst>
                <a:gd name="adj1" fmla="val 70038"/>
                <a:gd name="adj2" fmla="val 4722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80" name="Text Box 16"/>
            <p:cNvSpPr txBox="1">
              <a:spLocks noChangeArrowheads="1"/>
            </p:cNvSpPr>
            <p:nvPr/>
          </p:nvSpPr>
          <p:spPr bwMode="auto">
            <a:xfrm>
              <a:off x="1248" y="2304"/>
              <a:ext cx="576"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Arial Black" pitchFamily="34" charset="0"/>
                </a:rPr>
                <a:t>n</a:t>
              </a:r>
              <a:r>
                <a:rPr lang="zh-CN" altLang="en-US" sz="2400" i="0">
                  <a:latin typeface="Arial Black" pitchFamily="34" charset="0"/>
                </a:rPr>
                <a:t>位</a:t>
              </a:r>
              <a:endParaRPr lang="zh-CN" altLang="en-US" sz="1600" i="0">
                <a:latin typeface="Arial Black" pitchFamily="34" charset="0"/>
              </a:endParaRPr>
            </a:p>
          </p:txBody>
        </p:sp>
      </p:grpSp>
      <p:grpSp>
        <p:nvGrpSpPr>
          <p:cNvPr id="11275" name="Group 17"/>
          <p:cNvGrpSpPr>
            <a:grpSpLocks/>
          </p:cNvGrpSpPr>
          <p:nvPr/>
        </p:nvGrpSpPr>
        <p:grpSpPr bwMode="auto">
          <a:xfrm>
            <a:off x="5200650" y="4159250"/>
            <a:ext cx="908050" cy="536575"/>
            <a:chOff x="1200" y="2236"/>
            <a:chExt cx="624" cy="463"/>
          </a:xfrm>
        </p:grpSpPr>
        <p:sp>
          <p:nvSpPr>
            <p:cNvPr id="11277" name="AutoShape 18"/>
            <p:cNvSpPr>
              <a:spLocks/>
            </p:cNvSpPr>
            <p:nvPr/>
          </p:nvSpPr>
          <p:spPr bwMode="auto">
            <a:xfrm rot="5400000">
              <a:off x="1382" y="2054"/>
              <a:ext cx="116" cy="480"/>
            </a:xfrm>
            <a:prstGeom prst="rightBrace">
              <a:avLst>
                <a:gd name="adj1" fmla="val 70038"/>
                <a:gd name="adj2" fmla="val 4722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78" name="Text Box 19"/>
            <p:cNvSpPr txBox="1">
              <a:spLocks noChangeArrowheads="1"/>
            </p:cNvSpPr>
            <p:nvPr/>
          </p:nvSpPr>
          <p:spPr bwMode="auto">
            <a:xfrm>
              <a:off x="1248" y="2304"/>
              <a:ext cx="576"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en-US" altLang="zh-CN" sz="2400" i="0">
                  <a:latin typeface="Arial Black" pitchFamily="34" charset="0"/>
                </a:rPr>
                <a:t>n</a:t>
              </a:r>
              <a:r>
                <a:rPr lang="zh-CN" altLang="en-US" sz="2400" i="0">
                  <a:latin typeface="Arial Black" pitchFamily="34" charset="0"/>
                </a:rPr>
                <a:t>位</a:t>
              </a:r>
              <a:endParaRPr lang="zh-CN" altLang="en-US" sz="1600" i="0">
                <a:latin typeface="Arial Black" pitchFamily="34" charset="0"/>
              </a:endParaRPr>
            </a:p>
          </p:txBody>
        </p:sp>
      </p:grpSp>
      <p:sp>
        <p:nvSpPr>
          <p:cNvPr id="727060" name="Rectangle 20"/>
          <p:cNvSpPr>
            <a:spLocks noChangeArrowheads="1"/>
          </p:cNvSpPr>
          <p:nvPr/>
        </p:nvSpPr>
        <p:spPr bwMode="auto">
          <a:xfrm>
            <a:off x="577850" y="4724400"/>
            <a:ext cx="89979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四舍五入法的</a:t>
            </a:r>
            <a:r>
              <a:rPr lang="zh-CN" altLang="zh-CN" sz="2800" i="0">
                <a:latin typeface="宋体" pitchFamily="2" charset="-122"/>
                <a:ea typeface="黑体" pitchFamily="49" charset="-122"/>
              </a:rPr>
              <a:t>|</a:t>
            </a:r>
            <a:r>
              <a:rPr lang="en-US" altLang="zh-CN" sz="2800" i="0">
                <a:latin typeface="宋体" pitchFamily="2" charset="-122"/>
                <a:ea typeface="黑体" pitchFamily="49" charset="-122"/>
              </a:rPr>
              <a:t>Δ|</a:t>
            </a:r>
            <a:r>
              <a:rPr lang="zh-CN" altLang="en-US" sz="2800" i="0">
                <a:latin typeface="宋体" pitchFamily="2" charset="-122"/>
                <a:ea typeface="黑体" pitchFamily="49" charset="-122"/>
              </a:rPr>
              <a:t>≤</a:t>
            </a:r>
            <a:r>
              <a:rPr lang="zh-CN" altLang="zh-CN" sz="2800" i="0">
                <a:latin typeface="Times New Roman" pitchFamily="18" charset="0"/>
                <a:ea typeface="黑体" pitchFamily="49" charset="-122"/>
              </a:rPr>
              <a:t>0.5x10</a:t>
            </a:r>
            <a:r>
              <a:rPr lang="zh-CN" altLang="zh-CN" sz="2800" i="0" baseline="30000">
                <a:latin typeface="Times New Roman" pitchFamily="18" charset="0"/>
                <a:ea typeface="黑体" pitchFamily="49" charset="-122"/>
              </a:rPr>
              <a:t>-n</a:t>
            </a:r>
            <a:r>
              <a:rPr lang="zh-CN" altLang="en-US" sz="2800" i="0">
                <a:latin typeface="Times New Roman" pitchFamily="18" charset="0"/>
                <a:ea typeface="黑体" pitchFamily="49" charset="-122"/>
              </a:rPr>
              <a:t>，</a:t>
            </a:r>
          </a:p>
          <a:p>
            <a:pPr marL="258763" indent="-258763" algn="l" defTabSz="814388">
              <a:lnSpc>
                <a:spcPct val="90000"/>
              </a:lnSpc>
              <a:spcBef>
                <a:spcPct val="35000"/>
              </a:spcBef>
              <a:buClr>
                <a:srgbClr val="27305F"/>
              </a:buClr>
              <a:buSzPct val="60000"/>
              <a:buFont typeface="Wingdings" pitchFamily="2" charset="2"/>
              <a:buChar char="n"/>
            </a:pPr>
            <a:r>
              <a:rPr lang="zh-CN" altLang="zh-CN" sz="2800" i="0">
                <a:solidFill>
                  <a:srgbClr val="FF3300"/>
                </a:solidFill>
                <a:latin typeface="Times New Roman" pitchFamily="18" charset="0"/>
                <a:ea typeface="黑体" pitchFamily="49" charset="-122"/>
              </a:rPr>
              <a:t>结论：凡是由准确值经过四舍五入而得到的近似值，其绝对误差限等于该近似值末位的半个单位。</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iterate type="lt">
                                    <p:tmPct val="100000"/>
                                  </p:iterate>
                                  <p:childTnLst>
                                    <p:set>
                                      <p:cBhvr>
                                        <p:cTn id="6" dur="1" fill="hold">
                                          <p:stCondLst>
                                            <p:cond delay="0"/>
                                          </p:stCondLst>
                                        </p:cTn>
                                        <p:tgtEl>
                                          <p:spTgt spid="727060"/>
                                        </p:tgtEl>
                                        <p:attrNameLst>
                                          <p:attrName>style.visibility</p:attrName>
                                        </p:attrNameLst>
                                      </p:cBhvr>
                                      <p:to>
                                        <p:strVal val="visible"/>
                                      </p:to>
                                    </p:set>
                                    <p:anim calcmode="lin" valueType="num">
                                      <p:cBhvr>
                                        <p:cTn id="7" dur="75" fill="hold"/>
                                        <p:tgtEl>
                                          <p:spTgt spid="727060"/>
                                        </p:tgtEl>
                                        <p:attrNameLst>
                                          <p:attrName>ppt_x</p:attrName>
                                        </p:attrNameLst>
                                      </p:cBhvr>
                                      <p:tavLst>
                                        <p:tav tm="0">
                                          <p:val>
                                            <p:strVal val="#ppt_x-#ppt_w/2"/>
                                          </p:val>
                                        </p:tav>
                                        <p:tav tm="100000">
                                          <p:val>
                                            <p:strVal val="#ppt_x"/>
                                          </p:val>
                                        </p:tav>
                                      </p:tavLst>
                                    </p:anim>
                                    <p:anim calcmode="lin" valueType="num">
                                      <p:cBhvr>
                                        <p:cTn id="8" dur="75" fill="hold"/>
                                        <p:tgtEl>
                                          <p:spTgt spid="727060"/>
                                        </p:tgtEl>
                                        <p:attrNameLst>
                                          <p:attrName>ppt_y</p:attrName>
                                        </p:attrNameLst>
                                      </p:cBhvr>
                                      <p:tavLst>
                                        <p:tav tm="0">
                                          <p:val>
                                            <p:strVal val="#ppt_y"/>
                                          </p:val>
                                        </p:tav>
                                        <p:tav tm="100000">
                                          <p:val>
                                            <p:strVal val="#ppt_y"/>
                                          </p:val>
                                        </p:tav>
                                      </p:tavLst>
                                    </p:anim>
                                    <p:anim calcmode="lin" valueType="num">
                                      <p:cBhvr>
                                        <p:cTn id="9" dur="75" fill="hold"/>
                                        <p:tgtEl>
                                          <p:spTgt spid="727060"/>
                                        </p:tgtEl>
                                        <p:attrNameLst>
                                          <p:attrName>ppt_w</p:attrName>
                                        </p:attrNameLst>
                                      </p:cBhvr>
                                      <p:tavLst>
                                        <p:tav tm="0">
                                          <p:val>
                                            <p:fltVal val="0"/>
                                          </p:val>
                                        </p:tav>
                                        <p:tav tm="100000">
                                          <p:val>
                                            <p:strVal val="#ppt_w"/>
                                          </p:val>
                                        </p:tav>
                                      </p:tavLst>
                                    </p:anim>
                                    <p:anim calcmode="lin" valueType="num">
                                      <p:cBhvr>
                                        <p:cTn id="10" dur="75" fill="hold"/>
                                        <p:tgtEl>
                                          <p:spTgt spid="7270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0" grpId="0" autoUpdateAnimBg="0" rev="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D8FD9F3-8DD1-49DA-87A9-4FD912EBDD32}" type="slidenum">
              <a:rPr lang="zh-CN" altLang="en-US" i="0" smtClean="0"/>
              <a:pPr/>
              <a:t>11</a:t>
            </a:fld>
            <a:endParaRPr lang="en-US" altLang="zh-CN" i="0" smtClean="0"/>
          </a:p>
        </p:txBody>
      </p:sp>
      <p:sp>
        <p:nvSpPr>
          <p:cNvPr id="1229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75B7D25-0F95-410E-8C39-ACE7F5F748F4}" type="datetime1">
              <a:rPr lang="zh-CN" altLang="en-US" sz="1800" i="0" smtClean="0"/>
              <a:pPr/>
              <a:t>2024/9/8</a:t>
            </a:fld>
            <a:endParaRPr lang="en-US" altLang="zh-CN" sz="1000" i="0" smtClean="0"/>
          </a:p>
        </p:txBody>
      </p:sp>
      <p:sp>
        <p:nvSpPr>
          <p:cNvPr id="861186" name="Rectangle 2"/>
          <p:cNvSpPr>
            <a:spLocks noGrp="1" noChangeArrowheads="1"/>
          </p:cNvSpPr>
          <p:nvPr>
            <p:ph type="title"/>
          </p:nvPr>
        </p:nvSpPr>
        <p:spPr/>
        <p:txBody>
          <a:bodyPr/>
          <a:lstStyle/>
          <a:p>
            <a:pPr>
              <a:defRPr/>
            </a:pPr>
            <a:r>
              <a:rPr lang="zh-CN" altLang="en-US" smtClean="0"/>
              <a:t>2.2.2   四舍五入法</a:t>
            </a:r>
          </a:p>
        </p:txBody>
      </p:sp>
      <p:sp>
        <p:nvSpPr>
          <p:cNvPr id="12293" name="Rectangle 3"/>
          <p:cNvSpPr>
            <a:spLocks noGrp="1" noChangeArrowheads="1"/>
          </p:cNvSpPr>
          <p:nvPr>
            <p:ph type="body" idx="1"/>
          </p:nvPr>
        </p:nvSpPr>
        <p:spPr>
          <a:xfrm>
            <a:off x="650875" y="1143000"/>
            <a:ext cx="8820150" cy="1152525"/>
          </a:xfrm>
        </p:spPr>
        <p:txBody>
          <a:bodyPr/>
          <a:lstStyle/>
          <a:p>
            <a:r>
              <a:rPr lang="zh-CN" altLang="en-US" smtClean="0"/>
              <a:t>例：设</a:t>
            </a:r>
            <a:r>
              <a:rPr lang="en-US" altLang="zh-CN" smtClean="0"/>
              <a:t>a=-2.18</a:t>
            </a:r>
            <a:r>
              <a:rPr lang="zh-CN" altLang="en-US" smtClean="0"/>
              <a:t>和</a:t>
            </a:r>
            <a:r>
              <a:rPr lang="en-US" altLang="zh-CN" smtClean="0"/>
              <a:t>b=2.1200</a:t>
            </a:r>
            <a:r>
              <a:rPr lang="zh-CN" altLang="en-US" smtClean="0"/>
              <a:t>是分别由准确值</a:t>
            </a:r>
            <a:r>
              <a:rPr lang="en-US" altLang="zh-CN" smtClean="0"/>
              <a:t>A</a:t>
            </a:r>
            <a:r>
              <a:rPr lang="zh-CN" altLang="en-US" smtClean="0"/>
              <a:t>和</a:t>
            </a:r>
            <a:r>
              <a:rPr lang="en-US" altLang="zh-CN" smtClean="0"/>
              <a:t>B</a:t>
            </a:r>
            <a:r>
              <a:rPr lang="zh-CN" altLang="en-US" smtClean="0"/>
              <a:t>经过四舍五入而得到的近似值，问: </a:t>
            </a:r>
            <a:r>
              <a:rPr lang="en-US" altLang="zh-CN" smtClean="0"/>
              <a:t>a、b</a:t>
            </a:r>
            <a:r>
              <a:rPr lang="zh-CN" altLang="en-US" smtClean="0"/>
              <a:t>的绝对误差、相对误差各是多少？</a:t>
            </a:r>
          </a:p>
        </p:txBody>
      </p:sp>
      <p:graphicFrame>
        <p:nvGraphicFramePr>
          <p:cNvPr id="861188" name="Object 4"/>
          <p:cNvGraphicFramePr>
            <a:graphicFrameLocks noChangeAspect="1"/>
          </p:cNvGraphicFramePr>
          <p:nvPr/>
        </p:nvGraphicFramePr>
        <p:xfrm>
          <a:off x="2344738" y="2974975"/>
          <a:ext cx="2298700" cy="439738"/>
        </p:xfrm>
        <a:graphic>
          <a:graphicData uri="http://schemas.openxmlformats.org/presentationml/2006/ole">
            <mc:AlternateContent xmlns:mc="http://schemas.openxmlformats.org/markup-compatibility/2006">
              <mc:Choice xmlns:v="urn:schemas-microsoft-com:vml" Requires="v">
                <p:oleObj spid="_x0000_s12387" name="Equation" r:id="rId4" imgW="812447" imgH="203112" progId="Equation.3">
                  <p:embed/>
                </p:oleObj>
              </mc:Choice>
              <mc:Fallback>
                <p:oleObj name="Equation" r:id="rId4" imgW="812447" imgH="20311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4738" y="2974975"/>
                        <a:ext cx="2298700"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1189" name="Text Box 5"/>
          <p:cNvSpPr txBox="1">
            <a:spLocks noChangeArrowheads="1"/>
          </p:cNvSpPr>
          <p:nvPr/>
        </p:nvSpPr>
        <p:spPr bwMode="auto">
          <a:xfrm>
            <a:off x="1371600" y="2514600"/>
            <a:ext cx="114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pPr>
            <a:r>
              <a:rPr kumimoji="1" lang="zh-CN" altLang="en-US" sz="2800" i="0">
                <a:solidFill>
                  <a:srgbClr val="ED5F2D"/>
                </a:solidFill>
                <a:latin typeface="Times New Roman" pitchFamily="18" charset="0"/>
                <a:ea typeface="华文彩云" pitchFamily="2" charset="-122"/>
              </a:rPr>
              <a:t>解：</a:t>
            </a:r>
          </a:p>
        </p:txBody>
      </p:sp>
      <p:graphicFrame>
        <p:nvGraphicFramePr>
          <p:cNvPr id="861190" name="Object 6"/>
          <p:cNvGraphicFramePr>
            <a:graphicFrameLocks noChangeAspect="1"/>
          </p:cNvGraphicFramePr>
          <p:nvPr/>
        </p:nvGraphicFramePr>
        <p:xfrm>
          <a:off x="4708525" y="2957513"/>
          <a:ext cx="2630488" cy="442912"/>
        </p:xfrm>
        <a:graphic>
          <a:graphicData uri="http://schemas.openxmlformats.org/presentationml/2006/ole">
            <mc:AlternateContent xmlns:mc="http://schemas.openxmlformats.org/markup-compatibility/2006">
              <mc:Choice xmlns:v="urn:schemas-microsoft-com:vml" Requires="v">
                <p:oleObj spid="_x0000_s12388" name="Equation" r:id="rId6" imgW="1206500" imgH="203200" progId="Equation.3">
                  <p:embed/>
                </p:oleObj>
              </mc:Choice>
              <mc:Fallback>
                <p:oleObj name="Equation" r:id="rId6" imgW="1206500" imgH="2032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8525" y="2957513"/>
                        <a:ext cx="2630488"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1191" name="Object 7"/>
          <p:cNvGraphicFramePr>
            <a:graphicFrameLocks noChangeAspect="1"/>
          </p:cNvGraphicFramePr>
          <p:nvPr/>
        </p:nvGraphicFramePr>
        <p:xfrm>
          <a:off x="2393950" y="3627438"/>
          <a:ext cx="4132263" cy="968375"/>
        </p:xfrm>
        <a:graphic>
          <a:graphicData uri="http://schemas.openxmlformats.org/presentationml/2006/ole">
            <mc:AlternateContent xmlns:mc="http://schemas.openxmlformats.org/markup-compatibility/2006">
              <mc:Choice xmlns:v="urn:schemas-microsoft-com:vml" Requires="v">
                <p:oleObj spid="_x0000_s12389" name="Equation" r:id="rId8" imgW="1905000" imgH="444500" progId="Equation.3">
                  <p:embed/>
                </p:oleObj>
              </mc:Choice>
              <mc:Fallback>
                <p:oleObj name="Equation" r:id="rId8" imgW="1905000" imgH="4445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93950" y="3627438"/>
                        <a:ext cx="41322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1192" name="Object 8"/>
          <p:cNvGraphicFramePr>
            <a:graphicFrameLocks noChangeAspect="1"/>
          </p:cNvGraphicFramePr>
          <p:nvPr/>
        </p:nvGraphicFramePr>
        <p:xfrm>
          <a:off x="2308225" y="4729163"/>
          <a:ext cx="4792663" cy="968375"/>
        </p:xfrm>
        <a:graphic>
          <a:graphicData uri="http://schemas.openxmlformats.org/presentationml/2006/ole">
            <mc:AlternateContent xmlns:mc="http://schemas.openxmlformats.org/markup-compatibility/2006">
              <mc:Choice xmlns:v="urn:schemas-microsoft-com:vml" Requires="v">
                <p:oleObj spid="_x0000_s12390" name="Equation" r:id="rId10" imgW="2209800" imgH="444500" progId="Equation.3">
                  <p:embed/>
                </p:oleObj>
              </mc:Choice>
              <mc:Fallback>
                <p:oleObj name="Equation" r:id="rId10" imgW="2209800" imgH="4445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08225" y="4729163"/>
                        <a:ext cx="47926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61189"/>
                                        </p:tgtEl>
                                        <p:attrNameLst>
                                          <p:attrName>style.visibility</p:attrName>
                                        </p:attrNameLst>
                                      </p:cBhvr>
                                      <p:to>
                                        <p:strVal val="visible"/>
                                      </p:to>
                                    </p:set>
                                    <p:animEffect transition="in" filter="wipe(up)">
                                      <p:cBhvr>
                                        <p:cTn id="7" dur="500"/>
                                        <p:tgtEl>
                                          <p:spTgt spid="8611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61188"/>
                                        </p:tgtEl>
                                        <p:attrNameLst>
                                          <p:attrName>style.visibility</p:attrName>
                                        </p:attrNameLst>
                                      </p:cBhvr>
                                      <p:to>
                                        <p:strVal val="visible"/>
                                      </p:to>
                                    </p:set>
                                    <p:animEffect transition="in" filter="wipe(up)">
                                      <p:cBhvr>
                                        <p:cTn id="12" dur="500"/>
                                        <p:tgtEl>
                                          <p:spTgt spid="861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61190"/>
                                        </p:tgtEl>
                                        <p:attrNameLst>
                                          <p:attrName>style.visibility</p:attrName>
                                        </p:attrNameLst>
                                      </p:cBhvr>
                                      <p:to>
                                        <p:strVal val="visible"/>
                                      </p:to>
                                    </p:set>
                                    <p:animEffect transition="in" filter="wipe(up)">
                                      <p:cBhvr>
                                        <p:cTn id="17" dur="500"/>
                                        <p:tgtEl>
                                          <p:spTgt spid="8611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61191"/>
                                        </p:tgtEl>
                                        <p:attrNameLst>
                                          <p:attrName>style.visibility</p:attrName>
                                        </p:attrNameLst>
                                      </p:cBhvr>
                                      <p:to>
                                        <p:strVal val="visible"/>
                                      </p:to>
                                    </p:set>
                                    <p:animEffect transition="in" filter="wipe(up)">
                                      <p:cBhvr>
                                        <p:cTn id="22" dur="500"/>
                                        <p:tgtEl>
                                          <p:spTgt spid="8611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61192"/>
                                        </p:tgtEl>
                                        <p:attrNameLst>
                                          <p:attrName>style.visibility</p:attrName>
                                        </p:attrNameLst>
                                      </p:cBhvr>
                                      <p:to>
                                        <p:strVal val="visible"/>
                                      </p:to>
                                    </p:set>
                                    <p:animEffect transition="in" filter="wipe(up)">
                                      <p:cBhvr>
                                        <p:cTn id="27" dur="500"/>
                                        <p:tgtEl>
                                          <p:spTgt spid="861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18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B620B64-637D-4237-9FD2-B65154F7F460}" type="slidenum">
              <a:rPr lang="zh-CN" altLang="en-US" i="0" smtClean="0"/>
              <a:pPr/>
              <a:t>12</a:t>
            </a:fld>
            <a:endParaRPr lang="en-US" altLang="zh-CN" i="0" smtClean="0"/>
          </a:p>
        </p:txBody>
      </p:sp>
      <p:sp>
        <p:nvSpPr>
          <p:cNvPr id="1331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7A00FA1-4C61-4E2A-BC8D-ADFE4E4BFF3C}" type="datetime1">
              <a:rPr lang="zh-CN" altLang="en-US" sz="1800" i="0" smtClean="0"/>
              <a:pPr/>
              <a:t>2024/9/8</a:t>
            </a:fld>
            <a:endParaRPr lang="en-US" altLang="zh-CN" sz="1000" i="0" smtClean="0"/>
          </a:p>
        </p:txBody>
      </p:sp>
      <p:sp>
        <p:nvSpPr>
          <p:cNvPr id="731138" name="Rectangle 2"/>
          <p:cNvSpPr>
            <a:spLocks noGrp="1" noChangeArrowheads="1"/>
          </p:cNvSpPr>
          <p:nvPr>
            <p:ph type="title"/>
          </p:nvPr>
        </p:nvSpPr>
        <p:spPr/>
        <p:txBody>
          <a:bodyPr/>
          <a:lstStyle/>
          <a:p>
            <a:pPr>
              <a:defRPr/>
            </a:pPr>
            <a:r>
              <a:rPr lang="zh-CN" altLang="en-US" smtClean="0"/>
              <a:t>2.3   有效数字 </a:t>
            </a:r>
          </a:p>
        </p:txBody>
      </p:sp>
      <p:sp>
        <p:nvSpPr>
          <p:cNvPr id="13317" name="Rectangle 3"/>
          <p:cNvSpPr>
            <a:spLocks noGrp="1" noChangeArrowheads="1"/>
          </p:cNvSpPr>
          <p:nvPr>
            <p:ph type="body" idx="1"/>
          </p:nvPr>
        </p:nvSpPr>
        <p:spPr>
          <a:xfrm>
            <a:off x="660400" y="1371600"/>
            <a:ext cx="8973120" cy="4737100"/>
          </a:xfrm>
        </p:spPr>
        <p:txBody>
          <a:bodyPr/>
          <a:lstStyle/>
          <a:p>
            <a:r>
              <a:rPr lang="zh-CN" altLang="en-US" dirty="0" smtClean="0">
                <a:latin typeface="宋体" pitchFamily="2" charset="-122"/>
              </a:rPr>
              <a:t>定义：</a:t>
            </a:r>
          </a:p>
          <a:p>
            <a:pPr lvl="1"/>
            <a:r>
              <a:rPr lang="zh-CN" altLang="en-US" dirty="0" smtClean="0">
                <a:latin typeface="宋体" pitchFamily="2" charset="-122"/>
              </a:rPr>
              <a:t>如果数</a:t>
            </a:r>
            <a:r>
              <a:rPr lang="en-US" altLang="zh-CN" i="1" dirty="0" smtClean="0"/>
              <a:t>x</a:t>
            </a:r>
            <a:r>
              <a:rPr lang="zh-CN" altLang="en-US" dirty="0" smtClean="0">
                <a:latin typeface="宋体" pitchFamily="2" charset="-122"/>
              </a:rPr>
              <a:t>的绝对误差不超过某一位数字的半个单位，若该位数字到</a:t>
            </a:r>
            <a:r>
              <a:rPr lang="en-US" altLang="zh-CN" i="1" dirty="0" smtClean="0"/>
              <a:t>x</a:t>
            </a:r>
            <a:r>
              <a:rPr lang="zh-CN" altLang="en-US" dirty="0" smtClean="0">
                <a:latin typeface="宋体" pitchFamily="2" charset="-122"/>
              </a:rPr>
              <a:t>的第一位非零数字共有</a:t>
            </a:r>
            <a:r>
              <a:rPr lang="en-US" altLang="zh-CN" dirty="0" smtClean="0">
                <a:latin typeface="宋体" pitchFamily="2" charset="-122"/>
              </a:rPr>
              <a:t>n</a:t>
            </a:r>
            <a:r>
              <a:rPr lang="zh-CN" altLang="en-US" dirty="0" smtClean="0">
                <a:latin typeface="宋体" pitchFamily="2" charset="-122"/>
              </a:rPr>
              <a:t>位，则称</a:t>
            </a:r>
            <a:r>
              <a:rPr lang="en-US" altLang="zh-CN" i="1" dirty="0" smtClean="0"/>
              <a:t>x</a:t>
            </a:r>
            <a:r>
              <a:rPr lang="zh-CN" altLang="en-US" dirty="0" smtClean="0">
                <a:latin typeface="宋体" pitchFamily="2" charset="-122"/>
              </a:rPr>
              <a:t>具有</a:t>
            </a:r>
            <a:r>
              <a:rPr lang="en-US" altLang="zh-CN" dirty="0" smtClean="0">
                <a:latin typeface="宋体" pitchFamily="2" charset="-122"/>
              </a:rPr>
              <a:t>n</a:t>
            </a:r>
            <a:r>
              <a:rPr lang="zh-CN" altLang="en-US" dirty="0" smtClean="0">
                <a:latin typeface="宋体" pitchFamily="2" charset="-122"/>
              </a:rPr>
              <a:t>位</a:t>
            </a:r>
            <a:r>
              <a:rPr lang="zh-CN" altLang="zh-CN" dirty="0" smtClean="0">
                <a:solidFill>
                  <a:srgbClr val="FF3300"/>
                </a:solidFill>
                <a:latin typeface="宋体" pitchFamily="2" charset="-122"/>
              </a:rPr>
              <a:t>有效数字</a:t>
            </a:r>
            <a:endParaRPr lang="zh-CN" altLang="en-US" u="sng" dirty="0" smtClean="0">
              <a:solidFill>
                <a:srgbClr val="FF3300"/>
              </a:solidFill>
            </a:endParaRPr>
          </a:p>
          <a:p>
            <a:pPr algn="just"/>
            <a:r>
              <a:rPr lang="zh-CN" altLang="en-US" dirty="0" smtClean="0">
                <a:latin typeface="宋体" pitchFamily="2" charset="-122"/>
              </a:rPr>
              <a:t>例</a:t>
            </a:r>
            <a:r>
              <a:rPr lang="zh-CN" altLang="en-US" dirty="0" smtClean="0">
                <a:latin typeface="宋体" pitchFamily="2" charset="-122"/>
                <a:sym typeface="Symbol" pitchFamily="18" charset="2"/>
              </a:rPr>
              <a:t>=3.1415926535,</a:t>
            </a:r>
          </a:p>
          <a:p>
            <a:pPr lvl="1" algn="just"/>
            <a:r>
              <a:rPr lang="zh-CN" altLang="en-US" dirty="0" smtClean="0">
                <a:latin typeface="宋体" pitchFamily="2" charset="-122"/>
                <a:sym typeface="Symbol" pitchFamily="18" charset="2"/>
              </a:rPr>
              <a:t>如果取作</a:t>
            </a:r>
            <a:r>
              <a:rPr lang="en-US" altLang="zh-CN" dirty="0" smtClean="0">
                <a:cs typeface="Times New Roman" pitchFamily="18" charset="0"/>
              </a:rPr>
              <a:t>3.14</a:t>
            </a:r>
            <a:r>
              <a:rPr lang="en-US" altLang="zh-CN" dirty="0" smtClean="0"/>
              <a:t>，</a:t>
            </a:r>
            <a:r>
              <a:rPr lang="zh-CN" altLang="en-US" dirty="0" smtClean="0"/>
              <a:t>则</a:t>
            </a:r>
            <a:r>
              <a:rPr lang="zh-CN" altLang="en-US" dirty="0" smtClean="0">
                <a:latin typeface="宋体" pitchFamily="2" charset="-122"/>
              </a:rPr>
              <a:t>有三位有效数字,误差限</a:t>
            </a:r>
            <a:r>
              <a:rPr lang="zh-CN" altLang="en-US" dirty="0" smtClean="0">
                <a:latin typeface="宋体" pitchFamily="2" charset="-122"/>
                <a:sym typeface="Symbol" pitchFamily="18" charset="2"/>
              </a:rPr>
              <a:t>0.005</a:t>
            </a:r>
            <a:r>
              <a:rPr lang="zh-CN" altLang="en-US" dirty="0" smtClean="0">
                <a:latin typeface="宋体" pitchFamily="2" charset="-122"/>
              </a:rPr>
              <a:t>;</a:t>
            </a:r>
          </a:p>
          <a:p>
            <a:pPr lvl="1" algn="just"/>
            <a:r>
              <a:rPr lang="zh-CN" altLang="en-US" dirty="0" smtClean="0">
                <a:latin typeface="宋体" pitchFamily="2" charset="-122"/>
                <a:sym typeface="Symbol" pitchFamily="18" charset="2"/>
              </a:rPr>
              <a:t>如果取作</a:t>
            </a:r>
            <a:r>
              <a:rPr lang="zh-CN" altLang="en-US" dirty="0" smtClean="0">
                <a:cs typeface="Times New Roman" pitchFamily="18" charset="0"/>
              </a:rPr>
              <a:t>3.1416</a:t>
            </a:r>
            <a:r>
              <a:rPr lang="en-US" altLang="zh-CN" dirty="0" smtClean="0"/>
              <a:t>，</a:t>
            </a:r>
            <a:r>
              <a:rPr lang="zh-CN" altLang="en-US" dirty="0" smtClean="0"/>
              <a:t>则</a:t>
            </a:r>
            <a:r>
              <a:rPr lang="zh-CN" altLang="en-US" dirty="0" smtClean="0">
                <a:latin typeface="宋体" pitchFamily="2" charset="-122"/>
              </a:rPr>
              <a:t>有五位有效数字,误差限为</a:t>
            </a:r>
            <a:r>
              <a:rPr lang="zh-CN" altLang="en-US" dirty="0" smtClean="0">
                <a:latin typeface="宋体" pitchFamily="2" charset="-122"/>
                <a:sym typeface="Symbol" pitchFamily="18" charset="2"/>
              </a:rPr>
              <a:t>0.00005</a:t>
            </a:r>
            <a:r>
              <a:rPr lang="zh-CN" altLang="en-US" dirty="0" smtClean="0">
                <a:latin typeface="宋体" pitchFamily="2" charset="-122"/>
              </a:rPr>
              <a:t>。</a:t>
            </a:r>
          </a:p>
          <a:p>
            <a:pPr algn="just"/>
            <a:r>
              <a:rPr lang="zh-CN" altLang="en-US" dirty="0" smtClean="0">
                <a:cs typeface="Times New Roman" pitchFamily="18" charset="0"/>
              </a:rPr>
              <a:t>0.003529</a:t>
            </a:r>
          </a:p>
          <a:p>
            <a:pPr algn="just"/>
            <a:r>
              <a:rPr lang="zh-CN" altLang="en-US" dirty="0" smtClean="0">
                <a:cs typeface="Times New Roman" pitchFamily="18" charset="0"/>
              </a:rPr>
              <a:t>0.00352900</a:t>
            </a:r>
            <a:endParaRPr lang="en-US" altLang="zh-CN" dirty="0" smtClean="0">
              <a:cs typeface="Times New Roman" pitchFamily="18" charset="0"/>
            </a:endParaRPr>
          </a:p>
        </p:txBody>
      </p:sp>
    </p:spTree>
  </p:cSld>
  <p:clrMapOvr>
    <a:masterClrMapping/>
  </p:clrMapOvr>
  <p:transition>
    <p:randomBa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EA9F842-D70F-4CD1-8DBD-38AB08E9EB9F}" type="slidenum">
              <a:rPr lang="zh-CN" altLang="en-US" i="0" smtClean="0"/>
              <a:pPr/>
              <a:t>13</a:t>
            </a:fld>
            <a:endParaRPr lang="en-US" altLang="zh-CN" i="0" smtClean="0"/>
          </a:p>
        </p:txBody>
      </p:sp>
      <p:sp>
        <p:nvSpPr>
          <p:cNvPr id="1433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E14E667-D227-4498-8C4B-01E9CDAACBC1}" type="datetime1">
              <a:rPr lang="zh-CN" altLang="en-US" sz="1800" i="0" smtClean="0"/>
              <a:pPr/>
              <a:t>2024/9/8</a:t>
            </a:fld>
            <a:endParaRPr lang="en-US" altLang="zh-CN" sz="1000" i="0" smtClean="0"/>
          </a:p>
        </p:txBody>
      </p:sp>
      <p:graphicFrame>
        <p:nvGraphicFramePr>
          <p:cNvPr id="735234" name="Object 2"/>
          <p:cNvGraphicFramePr>
            <a:graphicFrameLocks noChangeAspect="1"/>
          </p:cNvGraphicFramePr>
          <p:nvPr>
            <p:extLst>
              <p:ext uri="{D42A27DB-BD31-4B8C-83A1-F6EECF244321}">
                <p14:modId xmlns:p14="http://schemas.microsoft.com/office/powerpoint/2010/main" val="1700140494"/>
              </p:ext>
            </p:extLst>
          </p:nvPr>
        </p:nvGraphicFramePr>
        <p:xfrm>
          <a:off x="1966913" y="4290112"/>
          <a:ext cx="4803501" cy="1066800"/>
        </p:xfrm>
        <a:graphic>
          <a:graphicData uri="http://schemas.openxmlformats.org/presentationml/2006/ole">
            <mc:AlternateContent xmlns:mc="http://schemas.openxmlformats.org/markup-compatibility/2006">
              <mc:Choice xmlns:v="urn:schemas-microsoft-com:vml" Requires="v">
                <p:oleObj spid="_x0000_s14414" name="公式" r:id="rId4" imgW="2110722" imgH="449601" progId="Equation.3">
                  <p:embed/>
                </p:oleObj>
              </mc:Choice>
              <mc:Fallback>
                <p:oleObj name="公式" r:id="rId4" imgW="2110722" imgH="449601"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6913" y="4290112"/>
                        <a:ext cx="4803501" cy="1066800"/>
                      </a:xfrm>
                      <a:prstGeom prst="rect">
                        <a:avLst/>
                      </a:prstGeom>
                      <a:noFill/>
                      <a:ln>
                        <a:noFill/>
                      </a:ln>
                      <a:extLst/>
                    </p:spPr>
                  </p:pic>
                </p:oleObj>
              </mc:Fallback>
            </mc:AlternateContent>
          </a:graphicData>
        </a:graphic>
      </p:graphicFrame>
      <p:sp>
        <p:nvSpPr>
          <p:cNvPr id="735235" name="Rectangle 3"/>
          <p:cNvSpPr>
            <a:spLocks noGrp="1" noChangeArrowheads="1"/>
          </p:cNvSpPr>
          <p:nvPr>
            <p:ph type="title"/>
          </p:nvPr>
        </p:nvSpPr>
        <p:spPr/>
        <p:txBody>
          <a:bodyPr/>
          <a:lstStyle/>
          <a:p>
            <a:pPr>
              <a:defRPr/>
            </a:pPr>
            <a:r>
              <a:rPr lang="zh-CN" altLang="en-US" smtClean="0"/>
              <a:t>2.3   有效数字 </a:t>
            </a:r>
          </a:p>
        </p:txBody>
      </p:sp>
      <p:sp>
        <p:nvSpPr>
          <p:cNvPr id="735236" name="Rectangle 4"/>
          <p:cNvSpPr>
            <a:spLocks noChangeArrowheads="1"/>
          </p:cNvSpPr>
          <p:nvPr/>
        </p:nvSpPr>
        <p:spPr bwMode="auto">
          <a:xfrm>
            <a:off x="412750" y="1295400"/>
            <a:ext cx="90805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推论1  对于给出的有效数，其绝对误差限不大于其最末数字的半个单位</a:t>
            </a:r>
          </a:p>
        </p:txBody>
      </p:sp>
      <p:sp>
        <p:nvSpPr>
          <p:cNvPr id="735237" name="Rectangle 5"/>
          <p:cNvSpPr>
            <a:spLocks noChangeArrowheads="1"/>
          </p:cNvSpPr>
          <p:nvPr/>
        </p:nvSpPr>
        <p:spPr bwMode="auto">
          <a:xfrm>
            <a:off x="412750" y="2895600"/>
            <a:ext cx="924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推论2  对于给出的一个有效数，其相对误差限可估计如下：</a:t>
            </a:r>
            <a:endParaRPr lang="zh-CN" altLang="zh-CN" sz="2800" i="0">
              <a:latin typeface="Times New Roman" pitchFamily="18" charset="0"/>
              <a:ea typeface="黑体" pitchFamily="49" charset="-122"/>
            </a:endParaRPr>
          </a:p>
        </p:txBody>
      </p:sp>
      <p:graphicFrame>
        <p:nvGraphicFramePr>
          <p:cNvPr id="735238" name="Object 6"/>
          <p:cNvGraphicFramePr>
            <a:graphicFrameLocks noChangeAspect="1"/>
          </p:cNvGraphicFramePr>
          <p:nvPr>
            <p:extLst>
              <p:ext uri="{D42A27DB-BD31-4B8C-83A1-F6EECF244321}">
                <p14:modId xmlns:p14="http://schemas.microsoft.com/office/powerpoint/2010/main" val="1189108438"/>
              </p:ext>
            </p:extLst>
          </p:nvPr>
        </p:nvGraphicFramePr>
        <p:xfrm>
          <a:off x="1497013" y="3371850"/>
          <a:ext cx="5328195" cy="944563"/>
        </p:xfrm>
        <a:graphic>
          <a:graphicData uri="http://schemas.openxmlformats.org/presentationml/2006/ole">
            <mc:AlternateContent xmlns:mc="http://schemas.openxmlformats.org/markup-compatibility/2006">
              <mc:Choice xmlns:v="urn:schemas-microsoft-com:vml" Requires="v">
                <p:oleObj spid="_x0000_s14415" name="公式" r:id="rId6" imgW="2392756" imgH="449601" progId="Equation.3">
                  <p:embed/>
                </p:oleObj>
              </mc:Choice>
              <mc:Fallback>
                <p:oleObj name="公式" r:id="rId6" imgW="2392756" imgH="449601"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97013" y="3371850"/>
                        <a:ext cx="5328195" cy="944563"/>
                      </a:xfrm>
                      <a:prstGeom prst="rect">
                        <a:avLst/>
                      </a:prstGeom>
                      <a:noFill/>
                      <a:ln>
                        <a:noFill/>
                      </a:ln>
                      <a:extLst/>
                    </p:spPr>
                  </p:pic>
                </p:oleObj>
              </mc:Fallback>
            </mc:AlternateContent>
          </a:graphicData>
        </a:graphic>
      </p:graphicFrame>
      <p:graphicFrame>
        <p:nvGraphicFramePr>
          <p:cNvPr id="735239" name="Object 7"/>
          <p:cNvGraphicFramePr>
            <a:graphicFrameLocks noChangeAspect="1"/>
          </p:cNvGraphicFramePr>
          <p:nvPr/>
        </p:nvGraphicFramePr>
        <p:xfrm>
          <a:off x="1966913" y="5572125"/>
          <a:ext cx="2744787" cy="904875"/>
        </p:xfrm>
        <a:graphic>
          <a:graphicData uri="http://schemas.openxmlformats.org/presentationml/2006/ole">
            <mc:AlternateContent xmlns:mc="http://schemas.openxmlformats.org/markup-compatibility/2006">
              <mc:Choice xmlns:v="urn:schemas-microsoft-com:vml" Requires="v">
                <p:oleObj spid="_x0000_s14416" name="Equation" r:id="rId8" imgW="998133" imgH="419153" progId="Equation.3">
                  <p:embed/>
                </p:oleObj>
              </mc:Choice>
              <mc:Fallback>
                <p:oleObj name="Equation" r:id="rId8" imgW="998133" imgH="419153"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6913" y="5572125"/>
                        <a:ext cx="2744787"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43" name="Text Box 11"/>
          <p:cNvSpPr txBox="1">
            <a:spLocks noChangeArrowheads="1"/>
          </p:cNvSpPr>
          <p:nvPr/>
        </p:nvSpPr>
        <p:spPr bwMode="auto">
          <a:xfrm>
            <a:off x="5029200" y="5181600"/>
            <a:ext cx="4495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buClr>
                <a:srgbClr val="ED5F2D"/>
              </a:buClr>
              <a:buFont typeface="Wingdings" pitchFamily="2" charset="2"/>
              <a:buChar char="Ø"/>
            </a:pPr>
            <a:r>
              <a:rPr kumimoji="1" lang="zh-CN" altLang="en-US" sz="2800" i="0">
                <a:solidFill>
                  <a:srgbClr val="FF0000"/>
                </a:solidFill>
                <a:latin typeface="楷体_GB2312" pitchFamily="49" charset="-122"/>
                <a:ea typeface="楷体_GB2312" pitchFamily="49" charset="-122"/>
              </a:rPr>
              <a:t>同一准确值的不同近似值，有效数字越多，它的绝对误差和相对误差都越小</a:t>
            </a:r>
            <a:r>
              <a:rPr kumimoji="1" lang="zh-CN" altLang="en-US" sz="2800" b="0" i="0">
                <a:solidFill>
                  <a:srgbClr val="FF0000"/>
                </a:solidFill>
                <a:latin typeface="楷体_GB2312" pitchFamily="49" charset="-122"/>
                <a:ea typeface="楷体_GB2312" pitchFamily="49" charset="-122"/>
              </a:rPr>
              <a:t>。 </a:t>
            </a:r>
          </a:p>
        </p:txBody>
      </p:sp>
      <p:sp>
        <p:nvSpPr>
          <p:cNvPr id="735245" name="Text Box 13"/>
          <p:cNvSpPr txBox="1">
            <a:spLocks noChangeArrowheads="1"/>
          </p:cNvSpPr>
          <p:nvPr/>
        </p:nvSpPr>
        <p:spPr bwMode="auto">
          <a:xfrm>
            <a:off x="4343400" y="1598613"/>
            <a:ext cx="55626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eaLnBrk="1" hangingPunct="1">
              <a:spcBef>
                <a:spcPct val="50000"/>
              </a:spcBef>
              <a:buClr>
                <a:srgbClr val="ED5F2D"/>
              </a:buClr>
              <a:buFont typeface="Wingdings" pitchFamily="2" charset="2"/>
              <a:buChar char="Ø"/>
            </a:pPr>
            <a:r>
              <a:rPr kumimoji="1" lang="zh-CN" altLang="en-US" sz="2800" i="0">
                <a:solidFill>
                  <a:srgbClr val="FF0000"/>
                </a:solidFill>
                <a:latin typeface="隶书" pitchFamily="49" charset="-122"/>
                <a:ea typeface="楷体_GB2312" pitchFamily="49" charset="-122"/>
              </a:rPr>
              <a:t>由准确值经过四舍五入的得到近似值，从它的末位数字到第一位非零数字都是有效数字。</a:t>
            </a:r>
            <a:r>
              <a:rPr kumimoji="1" lang="zh-CN" altLang="en-US" sz="2800" i="0">
                <a:solidFill>
                  <a:srgbClr val="FF0000"/>
                </a:solidFill>
                <a:latin typeface="Times New Roman" pitchFamily="18" charset="0"/>
                <a:ea typeface="楷体_GB2312" pitchFamily="49"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grpId="0" nodeType="afterEffect">
                                  <p:stCondLst>
                                    <p:cond delay="0"/>
                                  </p:stCondLst>
                                  <p:iterate type="lt">
                                    <p:tmPct val="100000"/>
                                  </p:iterate>
                                  <p:childTnLst>
                                    <p:set>
                                      <p:cBhvr>
                                        <p:cTn id="6" dur="1" fill="hold">
                                          <p:stCondLst>
                                            <p:cond delay="0"/>
                                          </p:stCondLst>
                                        </p:cTn>
                                        <p:tgtEl>
                                          <p:spTgt spid="735236"/>
                                        </p:tgtEl>
                                        <p:attrNameLst>
                                          <p:attrName>style.visibility</p:attrName>
                                        </p:attrNameLst>
                                      </p:cBhvr>
                                      <p:to>
                                        <p:strVal val="visible"/>
                                      </p:to>
                                    </p:set>
                                    <p:anim calcmode="lin" valueType="num">
                                      <p:cBhvr>
                                        <p:cTn id="7" dur="75" fill="hold"/>
                                        <p:tgtEl>
                                          <p:spTgt spid="735236"/>
                                        </p:tgtEl>
                                        <p:attrNameLst>
                                          <p:attrName>ppt_x</p:attrName>
                                        </p:attrNameLst>
                                      </p:cBhvr>
                                      <p:tavLst>
                                        <p:tav tm="0">
                                          <p:val>
                                            <p:strVal val="#ppt_x-#ppt_w/2"/>
                                          </p:val>
                                        </p:tav>
                                        <p:tav tm="100000">
                                          <p:val>
                                            <p:strVal val="#ppt_x"/>
                                          </p:val>
                                        </p:tav>
                                      </p:tavLst>
                                    </p:anim>
                                    <p:anim calcmode="lin" valueType="num">
                                      <p:cBhvr>
                                        <p:cTn id="8" dur="75" fill="hold"/>
                                        <p:tgtEl>
                                          <p:spTgt spid="735236"/>
                                        </p:tgtEl>
                                        <p:attrNameLst>
                                          <p:attrName>ppt_y</p:attrName>
                                        </p:attrNameLst>
                                      </p:cBhvr>
                                      <p:tavLst>
                                        <p:tav tm="0">
                                          <p:val>
                                            <p:strVal val="#ppt_y"/>
                                          </p:val>
                                        </p:tav>
                                        <p:tav tm="100000">
                                          <p:val>
                                            <p:strVal val="#ppt_y"/>
                                          </p:val>
                                        </p:tav>
                                      </p:tavLst>
                                    </p:anim>
                                    <p:anim calcmode="lin" valueType="num">
                                      <p:cBhvr>
                                        <p:cTn id="9" dur="75" fill="hold"/>
                                        <p:tgtEl>
                                          <p:spTgt spid="735236"/>
                                        </p:tgtEl>
                                        <p:attrNameLst>
                                          <p:attrName>ppt_w</p:attrName>
                                        </p:attrNameLst>
                                      </p:cBhvr>
                                      <p:tavLst>
                                        <p:tav tm="0">
                                          <p:val>
                                            <p:fltVal val="0"/>
                                          </p:val>
                                        </p:tav>
                                        <p:tav tm="100000">
                                          <p:val>
                                            <p:strVal val="#ppt_w"/>
                                          </p:val>
                                        </p:tav>
                                      </p:tavLst>
                                    </p:anim>
                                    <p:anim calcmode="lin" valueType="num">
                                      <p:cBhvr>
                                        <p:cTn id="10" dur="75" fill="hold"/>
                                        <p:tgtEl>
                                          <p:spTgt spid="735236"/>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735245"/>
                                        </p:tgtEl>
                                        <p:attrNameLst>
                                          <p:attrName>style.visibility</p:attrName>
                                        </p:attrNameLst>
                                      </p:cBhvr>
                                      <p:to>
                                        <p:strVal val="visible"/>
                                      </p:to>
                                    </p:set>
                                    <p:anim calcmode="lin" valueType="num">
                                      <p:cBhvr additive="base">
                                        <p:cTn id="15" dur="500" fill="hold"/>
                                        <p:tgtEl>
                                          <p:spTgt spid="735245"/>
                                        </p:tgtEl>
                                        <p:attrNameLst>
                                          <p:attrName>ppt_x</p:attrName>
                                        </p:attrNameLst>
                                      </p:cBhvr>
                                      <p:tavLst>
                                        <p:tav tm="0">
                                          <p:val>
                                            <p:strVal val="0-#ppt_w/2"/>
                                          </p:val>
                                        </p:tav>
                                        <p:tav tm="100000">
                                          <p:val>
                                            <p:strVal val="#ppt_x"/>
                                          </p:val>
                                        </p:tav>
                                      </p:tavLst>
                                    </p:anim>
                                    <p:anim calcmode="lin" valueType="num">
                                      <p:cBhvr additive="base">
                                        <p:cTn id="16" dur="500" fill="hold"/>
                                        <p:tgtEl>
                                          <p:spTgt spid="735245"/>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8" fill="hold" grpId="0" nodeType="clickEffect">
                                  <p:stCondLst>
                                    <p:cond delay="0"/>
                                  </p:stCondLst>
                                  <p:iterate type="lt">
                                    <p:tmPct val="100000"/>
                                  </p:iterate>
                                  <p:childTnLst>
                                    <p:set>
                                      <p:cBhvr>
                                        <p:cTn id="20" dur="1" fill="hold">
                                          <p:stCondLst>
                                            <p:cond delay="0"/>
                                          </p:stCondLst>
                                        </p:cTn>
                                        <p:tgtEl>
                                          <p:spTgt spid="735237"/>
                                        </p:tgtEl>
                                        <p:attrNameLst>
                                          <p:attrName>style.visibility</p:attrName>
                                        </p:attrNameLst>
                                      </p:cBhvr>
                                      <p:to>
                                        <p:strVal val="visible"/>
                                      </p:to>
                                    </p:set>
                                    <p:anim calcmode="lin" valueType="num">
                                      <p:cBhvr>
                                        <p:cTn id="21" dur="75" fill="hold"/>
                                        <p:tgtEl>
                                          <p:spTgt spid="735237"/>
                                        </p:tgtEl>
                                        <p:attrNameLst>
                                          <p:attrName>ppt_x</p:attrName>
                                        </p:attrNameLst>
                                      </p:cBhvr>
                                      <p:tavLst>
                                        <p:tav tm="0">
                                          <p:val>
                                            <p:strVal val="#ppt_x-#ppt_w/2"/>
                                          </p:val>
                                        </p:tav>
                                        <p:tav tm="100000">
                                          <p:val>
                                            <p:strVal val="#ppt_x"/>
                                          </p:val>
                                        </p:tav>
                                      </p:tavLst>
                                    </p:anim>
                                    <p:anim calcmode="lin" valueType="num">
                                      <p:cBhvr>
                                        <p:cTn id="22" dur="75" fill="hold"/>
                                        <p:tgtEl>
                                          <p:spTgt spid="735237"/>
                                        </p:tgtEl>
                                        <p:attrNameLst>
                                          <p:attrName>ppt_y</p:attrName>
                                        </p:attrNameLst>
                                      </p:cBhvr>
                                      <p:tavLst>
                                        <p:tav tm="0">
                                          <p:val>
                                            <p:strVal val="#ppt_y"/>
                                          </p:val>
                                        </p:tav>
                                        <p:tav tm="100000">
                                          <p:val>
                                            <p:strVal val="#ppt_y"/>
                                          </p:val>
                                        </p:tav>
                                      </p:tavLst>
                                    </p:anim>
                                    <p:anim calcmode="lin" valueType="num">
                                      <p:cBhvr>
                                        <p:cTn id="23" dur="75" fill="hold"/>
                                        <p:tgtEl>
                                          <p:spTgt spid="735237"/>
                                        </p:tgtEl>
                                        <p:attrNameLst>
                                          <p:attrName>ppt_w</p:attrName>
                                        </p:attrNameLst>
                                      </p:cBhvr>
                                      <p:tavLst>
                                        <p:tav tm="0">
                                          <p:val>
                                            <p:fltVal val="0"/>
                                          </p:val>
                                        </p:tav>
                                        <p:tav tm="100000">
                                          <p:val>
                                            <p:strVal val="#ppt_w"/>
                                          </p:val>
                                        </p:tav>
                                      </p:tavLst>
                                    </p:anim>
                                    <p:anim calcmode="lin" valueType="num">
                                      <p:cBhvr>
                                        <p:cTn id="24" dur="75" fill="hold"/>
                                        <p:tgtEl>
                                          <p:spTgt spid="735237"/>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735238"/>
                                        </p:tgtEl>
                                        <p:attrNameLst>
                                          <p:attrName>style.visibility</p:attrName>
                                        </p:attrNameLst>
                                      </p:cBhvr>
                                      <p:to>
                                        <p:strVal val="visible"/>
                                      </p:to>
                                    </p:set>
                                    <p:animEffect transition="in" filter="wipe(up)">
                                      <p:cBhvr>
                                        <p:cTn id="29" dur="500"/>
                                        <p:tgtEl>
                                          <p:spTgt spid="735238"/>
                                        </p:tgtEl>
                                      </p:cBhvr>
                                    </p:animEffect>
                                  </p:childTnLst>
                                </p:cTn>
                              </p:par>
                            </p:childTnLst>
                          </p:cTn>
                        </p:par>
                        <p:par>
                          <p:cTn id="30" fill="hold" nodeType="afterGroup">
                            <p:stCondLst>
                              <p:cond delay="500"/>
                            </p:stCondLst>
                            <p:childTnLst>
                              <p:par>
                                <p:cTn id="31" presetID="22" presetClass="entr" presetSubtype="1" fill="hold" nodeType="afterEffect">
                                  <p:stCondLst>
                                    <p:cond delay="2000"/>
                                  </p:stCondLst>
                                  <p:childTnLst>
                                    <p:set>
                                      <p:cBhvr>
                                        <p:cTn id="32" dur="1" fill="hold">
                                          <p:stCondLst>
                                            <p:cond delay="0"/>
                                          </p:stCondLst>
                                        </p:cTn>
                                        <p:tgtEl>
                                          <p:spTgt spid="735234"/>
                                        </p:tgtEl>
                                        <p:attrNameLst>
                                          <p:attrName>style.visibility</p:attrName>
                                        </p:attrNameLst>
                                      </p:cBhvr>
                                      <p:to>
                                        <p:strVal val="visible"/>
                                      </p:to>
                                    </p:set>
                                    <p:animEffect transition="in" filter="wipe(up)">
                                      <p:cBhvr>
                                        <p:cTn id="33" dur="500"/>
                                        <p:tgtEl>
                                          <p:spTgt spid="735234"/>
                                        </p:tgtEl>
                                      </p:cBhvr>
                                    </p:animEffect>
                                  </p:childTnLst>
                                </p:cTn>
                              </p:par>
                            </p:childTnLst>
                          </p:cTn>
                        </p:par>
                        <p:par>
                          <p:cTn id="34" fill="hold" nodeType="afterGroup">
                            <p:stCondLst>
                              <p:cond delay="3000"/>
                            </p:stCondLst>
                            <p:childTnLst>
                              <p:par>
                                <p:cTn id="35" presetID="22" presetClass="entr" presetSubtype="1" fill="hold" nodeType="afterEffect">
                                  <p:stCondLst>
                                    <p:cond delay="2000"/>
                                  </p:stCondLst>
                                  <p:childTnLst>
                                    <p:set>
                                      <p:cBhvr>
                                        <p:cTn id="36" dur="1" fill="hold">
                                          <p:stCondLst>
                                            <p:cond delay="0"/>
                                          </p:stCondLst>
                                        </p:cTn>
                                        <p:tgtEl>
                                          <p:spTgt spid="735239"/>
                                        </p:tgtEl>
                                        <p:attrNameLst>
                                          <p:attrName>style.visibility</p:attrName>
                                        </p:attrNameLst>
                                      </p:cBhvr>
                                      <p:to>
                                        <p:strVal val="visible"/>
                                      </p:to>
                                    </p:set>
                                    <p:animEffect transition="in" filter="wipe(up)">
                                      <p:cBhvr>
                                        <p:cTn id="37" dur="500"/>
                                        <p:tgtEl>
                                          <p:spTgt spid="73523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735243"/>
                                        </p:tgtEl>
                                        <p:attrNameLst>
                                          <p:attrName>style.visibility</p:attrName>
                                        </p:attrNameLst>
                                      </p:cBhvr>
                                      <p:to>
                                        <p:strVal val="visible"/>
                                      </p:to>
                                    </p:set>
                                    <p:animEffect transition="in" filter="randombar(horizontal)">
                                      <p:cBhvr>
                                        <p:cTn id="42" dur="500"/>
                                        <p:tgtEl>
                                          <p:spTgt spid="735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36" grpId="0" autoUpdateAnimBg="0"/>
      <p:bldP spid="735237" grpId="0" autoUpdateAnimBg="0" rev="1"/>
      <p:bldP spid="735243" grpId="0" autoUpdateAnimBg="0"/>
      <p:bldP spid="73524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777A356-F227-488B-9B5E-47036F7728C2}" type="slidenum">
              <a:rPr lang="zh-CN" altLang="en-US" i="0" smtClean="0"/>
              <a:pPr/>
              <a:t>14</a:t>
            </a:fld>
            <a:endParaRPr lang="en-US" altLang="zh-CN" i="0" smtClean="0"/>
          </a:p>
        </p:txBody>
      </p:sp>
      <p:sp>
        <p:nvSpPr>
          <p:cNvPr id="1536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5A1F911-75A7-4038-9C1A-61DF743ED84D}" type="datetime1">
              <a:rPr lang="zh-CN" altLang="en-US" sz="1800" i="0" smtClean="0"/>
              <a:pPr/>
              <a:t>2024/9/8</a:t>
            </a:fld>
            <a:endParaRPr lang="en-US" altLang="zh-CN" sz="1000" i="0" smtClean="0"/>
          </a:p>
        </p:txBody>
      </p:sp>
      <p:sp>
        <p:nvSpPr>
          <p:cNvPr id="862210" name="Rectangle 2"/>
          <p:cNvSpPr>
            <a:spLocks noGrp="1" noChangeArrowheads="1"/>
          </p:cNvSpPr>
          <p:nvPr>
            <p:ph type="title"/>
          </p:nvPr>
        </p:nvSpPr>
        <p:spPr/>
        <p:txBody>
          <a:bodyPr/>
          <a:lstStyle/>
          <a:p>
            <a:pPr>
              <a:defRPr/>
            </a:pPr>
            <a:r>
              <a:rPr lang="zh-CN" altLang="en-US" smtClean="0"/>
              <a:t>2.3   有效数字</a:t>
            </a:r>
          </a:p>
        </p:txBody>
      </p:sp>
      <p:sp>
        <p:nvSpPr>
          <p:cNvPr id="862211" name="Rectangle 3"/>
          <p:cNvSpPr>
            <a:spLocks noGrp="1" noChangeArrowheads="1"/>
          </p:cNvSpPr>
          <p:nvPr>
            <p:ph type="body" idx="1"/>
          </p:nvPr>
        </p:nvSpPr>
        <p:spPr>
          <a:xfrm>
            <a:off x="650875" y="1143000"/>
            <a:ext cx="8820150" cy="5105400"/>
          </a:xfrm>
        </p:spPr>
        <p:txBody>
          <a:bodyPr/>
          <a:lstStyle/>
          <a:p>
            <a:r>
              <a:rPr kumimoji="1" lang="zh-CN" altLang="en-US" sz="3200" smtClean="0">
                <a:latin typeface="宋体" pitchFamily="2" charset="-122"/>
              </a:rPr>
              <a:t>例：下列近似值的绝对误差限都是0.005, </a:t>
            </a:r>
            <a:r>
              <a:rPr kumimoji="1" lang="en-US" altLang="zh-CN" sz="3200" smtClean="0">
                <a:latin typeface="宋体" pitchFamily="2" charset="-122"/>
              </a:rPr>
              <a:t>a=1.38, b=-0.0312,c=0.000086</a:t>
            </a:r>
            <a:r>
              <a:rPr kumimoji="1" lang="en-US" altLang="zh-CN" sz="3200" baseline="30000" smtClean="0">
                <a:latin typeface="宋体" pitchFamily="2" charset="-122"/>
                <a:sym typeface="Symbol" pitchFamily="18" charset="2"/>
              </a:rPr>
              <a:t> </a:t>
            </a:r>
            <a:r>
              <a:rPr kumimoji="1" lang="zh-CN" altLang="en-US" sz="3200" smtClean="0">
                <a:latin typeface="宋体" pitchFamily="2" charset="-122"/>
              </a:rPr>
              <a:t>,问：各个近似值有几个有效数字？</a:t>
            </a:r>
          </a:p>
          <a:p>
            <a:r>
              <a:rPr lang="zh-CN" altLang="en-US" smtClean="0">
                <a:solidFill>
                  <a:srgbClr val="FF0000"/>
                </a:solidFill>
                <a:latin typeface="宋体" pitchFamily="2" charset="-122"/>
              </a:rPr>
              <a:t>定义：如果数</a:t>
            </a:r>
            <a:r>
              <a:rPr lang="en-US" altLang="zh-CN" smtClean="0">
                <a:solidFill>
                  <a:srgbClr val="FF0000"/>
                </a:solidFill>
                <a:latin typeface="宋体" pitchFamily="2" charset="-122"/>
              </a:rPr>
              <a:t>x</a:t>
            </a:r>
            <a:r>
              <a:rPr lang="zh-CN" altLang="en-US" smtClean="0">
                <a:solidFill>
                  <a:srgbClr val="FF0000"/>
                </a:solidFill>
                <a:latin typeface="宋体" pitchFamily="2" charset="-122"/>
              </a:rPr>
              <a:t>的绝对误差不超过某一位数字的半个单位，若该位数字到</a:t>
            </a:r>
            <a:r>
              <a:rPr lang="en-US" altLang="zh-CN" smtClean="0">
                <a:solidFill>
                  <a:srgbClr val="FF0000"/>
                </a:solidFill>
                <a:latin typeface="宋体" pitchFamily="2" charset="-122"/>
              </a:rPr>
              <a:t>x</a:t>
            </a:r>
            <a:r>
              <a:rPr lang="zh-CN" altLang="en-US" smtClean="0">
                <a:solidFill>
                  <a:srgbClr val="FF0000"/>
                </a:solidFill>
                <a:latin typeface="宋体" pitchFamily="2" charset="-122"/>
              </a:rPr>
              <a:t>的第一位非零数字共有</a:t>
            </a:r>
            <a:r>
              <a:rPr lang="en-US" altLang="zh-CN" smtClean="0">
                <a:solidFill>
                  <a:srgbClr val="FF0000"/>
                </a:solidFill>
                <a:latin typeface="宋体" pitchFamily="2" charset="-122"/>
              </a:rPr>
              <a:t>n</a:t>
            </a:r>
            <a:r>
              <a:rPr lang="zh-CN" altLang="en-US" smtClean="0">
                <a:solidFill>
                  <a:srgbClr val="FF0000"/>
                </a:solidFill>
                <a:latin typeface="宋体" pitchFamily="2" charset="-122"/>
              </a:rPr>
              <a:t>位，则称</a:t>
            </a:r>
            <a:r>
              <a:rPr lang="en-US" altLang="zh-CN" smtClean="0">
                <a:solidFill>
                  <a:srgbClr val="FF0000"/>
                </a:solidFill>
                <a:latin typeface="宋体" pitchFamily="2" charset="-122"/>
              </a:rPr>
              <a:t>x</a:t>
            </a:r>
            <a:r>
              <a:rPr lang="zh-CN" altLang="en-US" smtClean="0">
                <a:solidFill>
                  <a:srgbClr val="FF0000"/>
                </a:solidFill>
                <a:latin typeface="宋体" pitchFamily="2" charset="-122"/>
              </a:rPr>
              <a:t>具有</a:t>
            </a:r>
            <a:r>
              <a:rPr lang="en-US" altLang="zh-CN" smtClean="0">
                <a:solidFill>
                  <a:srgbClr val="FF0000"/>
                </a:solidFill>
                <a:latin typeface="宋体" pitchFamily="2" charset="-122"/>
              </a:rPr>
              <a:t>n</a:t>
            </a:r>
            <a:r>
              <a:rPr lang="zh-CN" altLang="en-US" smtClean="0">
                <a:solidFill>
                  <a:srgbClr val="FF0000"/>
                </a:solidFill>
                <a:latin typeface="宋体" pitchFamily="2" charset="-122"/>
              </a:rPr>
              <a:t>位</a:t>
            </a:r>
            <a:r>
              <a:rPr lang="zh-CN" altLang="zh-CN" smtClean="0">
                <a:solidFill>
                  <a:srgbClr val="FF0000"/>
                </a:solidFill>
                <a:latin typeface="宋体" pitchFamily="2" charset="-122"/>
              </a:rPr>
              <a:t>有效数字</a:t>
            </a:r>
            <a:endParaRPr lang="zh-CN" altLang="en-US" smtClean="0">
              <a:solidFill>
                <a:srgbClr val="FF0000"/>
              </a:solidFill>
              <a:latin typeface="宋体" pitchFamily="2" charset="-122"/>
            </a:endParaRPr>
          </a:p>
          <a:p>
            <a:r>
              <a:rPr kumimoji="1" lang="zh-CN" altLang="en-US" sz="3200" smtClean="0">
                <a:latin typeface="宋体" pitchFamily="2" charset="-122"/>
              </a:rPr>
              <a:t>答案</a:t>
            </a:r>
          </a:p>
          <a:p>
            <a:pPr lvl="1"/>
            <a:r>
              <a:rPr kumimoji="1" lang="en-US" altLang="zh-CN" sz="3200" smtClean="0">
                <a:latin typeface="宋体" pitchFamily="2" charset="-122"/>
              </a:rPr>
              <a:t>a</a:t>
            </a:r>
            <a:r>
              <a:rPr kumimoji="1" lang="zh-CN" altLang="en-US" sz="3200" smtClean="0">
                <a:latin typeface="宋体" pitchFamily="2" charset="-122"/>
              </a:rPr>
              <a:t>有</a:t>
            </a:r>
            <a:r>
              <a:rPr kumimoji="1" lang="en-US" altLang="zh-CN" sz="3200" smtClean="0">
                <a:latin typeface="宋体" pitchFamily="2" charset="-122"/>
              </a:rPr>
              <a:t>3</a:t>
            </a:r>
            <a:r>
              <a:rPr kumimoji="1" lang="zh-CN" altLang="en-US" sz="3200" smtClean="0">
                <a:latin typeface="宋体" pitchFamily="2" charset="-122"/>
              </a:rPr>
              <a:t>位有效数字，分别为：</a:t>
            </a:r>
            <a:r>
              <a:rPr kumimoji="1" lang="en-US" altLang="zh-CN" sz="3200" smtClean="0">
                <a:latin typeface="宋体" pitchFamily="2" charset="-122"/>
              </a:rPr>
              <a:t>1,3,8</a:t>
            </a:r>
          </a:p>
          <a:p>
            <a:pPr lvl="1"/>
            <a:r>
              <a:rPr kumimoji="1" lang="en-US" altLang="zh-CN" sz="3200" smtClean="0">
                <a:latin typeface="宋体" pitchFamily="2" charset="-122"/>
              </a:rPr>
              <a:t>b</a:t>
            </a:r>
            <a:r>
              <a:rPr kumimoji="1" lang="zh-CN" altLang="en-US" sz="3200" smtClean="0">
                <a:latin typeface="宋体" pitchFamily="2" charset="-122"/>
              </a:rPr>
              <a:t>有</a:t>
            </a:r>
            <a:r>
              <a:rPr kumimoji="1" lang="en-US" altLang="zh-CN" sz="3200" smtClean="0">
                <a:latin typeface="宋体" pitchFamily="2" charset="-122"/>
              </a:rPr>
              <a:t>1</a:t>
            </a:r>
            <a:r>
              <a:rPr kumimoji="1" lang="zh-CN" altLang="en-US" sz="3200" smtClean="0">
                <a:latin typeface="宋体" pitchFamily="2" charset="-122"/>
              </a:rPr>
              <a:t>位有效数字，为： </a:t>
            </a:r>
            <a:r>
              <a:rPr kumimoji="1" lang="en-US" altLang="zh-CN" sz="3200" smtClean="0">
                <a:latin typeface="宋体" pitchFamily="2" charset="-122"/>
              </a:rPr>
              <a:t>3</a:t>
            </a:r>
          </a:p>
          <a:p>
            <a:pPr lvl="1"/>
            <a:r>
              <a:rPr kumimoji="1" lang="en-US" altLang="zh-CN" sz="3200" smtClean="0">
                <a:latin typeface="宋体" pitchFamily="2" charset="-122"/>
              </a:rPr>
              <a:t>c</a:t>
            </a:r>
            <a:r>
              <a:rPr kumimoji="1" lang="zh-CN" altLang="en-US" sz="3200" smtClean="0">
                <a:latin typeface="宋体" pitchFamily="2" charset="-122"/>
              </a:rPr>
              <a:t>没有有效数字</a:t>
            </a:r>
            <a:endParaRPr kumimoji="1" lang="en-US" altLang="zh-CN" sz="3200" smtClean="0">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62211">
                                            <p:txEl>
                                              <p:pRg st="2" end="2"/>
                                            </p:txEl>
                                          </p:spTgt>
                                        </p:tgtEl>
                                        <p:attrNameLst>
                                          <p:attrName>style.visibility</p:attrName>
                                        </p:attrNameLst>
                                      </p:cBhvr>
                                      <p:to>
                                        <p:strVal val="visible"/>
                                      </p:to>
                                    </p:set>
                                    <p:animEffect transition="in" filter="wipe(up)">
                                      <p:cBhvr>
                                        <p:cTn id="7" dur="500"/>
                                        <p:tgtEl>
                                          <p:spTgt spid="862211">
                                            <p:txEl>
                                              <p:pRg st="2" end="2"/>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862211">
                                            <p:txEl>
                                              <p:pRg st="3" end="3"/>
                                            </p:txEl>
                                          </p:spTgt>
                                        </p:tgtEl>
                                        <p:attrNameLst>
                                          <p:attrName>style.visibility</p:attrName>
                                        </p:attrNameLst>
                                      </p:cBhvr>
                                      <p:to>
                                        <p:strVal val="visible"/>
                                      </p:to>
                                    </p:set>
                                    <p:animEffect transition="in" filter="wipe(up)">
                                      <p:cBhvr>
                                        <p:cTn id="10" dur="500"/>
                                        <p:tgtEl>
                                          <p:spTgt spid="862211">
                                            <p:txEl>
                                              <p:pRg st="3" end="3"/>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862211">
                                            <p:txEl>
                                              <p:pRg st="4" end="4"/>
                                            </p:txEl>
                                          </p:spTgt>
                                        </p:tgtEl>
                                        <p:attrNameLst>
                                          <p:attrName>style.visibility</p:attrName>
                                        </p:attrNameLst>
                                      </p:cBhvr>
                                      <p:to>
                                        <p:strVal val="visible"/>
                                      </p:to>
                                    </p:set>
                                    <p:animEffect transition="in" filter="wipe(up)">
                                      <p:cBhvr>
                                        <p:cTn id="13" dur="500"/>
                                        <p:tgtEl>
                                          <p:spTgt spid="862211">
                                            <p:txEl>
                                              <p:pRg st="4" end="4"/>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862211">
                                            <p:txEl>
                                              <p:pRg st="5" end="5"/>
                                            </p:txEl>
                                          </p:spTgt>
                                        </p:tgtEl>
                                        <p:attrNameLst>
                                          <p:attrName>style.visibility</p:attrName>
                                        </p:attrNameLst>
                                      </p:cBhvr>
                                      <p:to>
                                        <p:strVal val="visible"/>
                                      </p:to>
                                    </p:set>
                                    <p:animEffect transition="in" filter="wipe(up)">
                                      <p:cBhvr>
                                        <p:cTn id="16" dur="500"/>
                                        <p:tgtEl>
                                          <p:spTgt spid="8622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p:cNvSpPr>
            <a:spLocks noGrp="1" noChangeArrowheads="1"/>
          </p:cNvSpPr>
          <p:nvPr>
            <p:ph type="ctrTitle"/>
          </p:nvPr>
        </p:nvSpPr>
        <p:spPr>
          <a:xfrm>
            <a:off x="1096963" y="2136775"/>
            <a:ext cx="8047037" cy="868363"/>
          </a:xfrm>
        </p:spPr>
        <p:txBody>
          <a:bodyPr/>
          <a:lstStyle/>
          <a:p>
            <a:pPr>
              <a:defRPr/>
            </a:pPr>
            <a:r>
              <a:rPr lang="zh-CN" altLang="en-US" sz="6000" smtClean="0"/>
              <a:t>§3  算术运算中的误差</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B543B22-35CB-4882-9CC8-2975DB4309A3}" type="slidenum">
              <a:rPr lang="zh-CN" altLang="en-US" i="0" smtClean="0"/>
              <a:pPr/>
              <a:t>16</a:t>
            </a:fld>
            <a:endParaRPr lang="en-US" altLang="zh-CN" i="0" smtClean="0"/>
          </a:p>
        </p:txBody>
      </p:sp>
      <p:sp>
        <p:nvSpPr>
          <p:cNvPr id="194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8F092B8-61E2-434D-80DC-459AC1EDFF4B}" type="datetime1">
              <a:rPr lang="zh-CN" altLang="en-US" sz="1800" i="0" smtClean="0"/>
              <a:pPr/>
              <a:t>2024/9/8</a:t>
            </a:fld>
            <a:endParaRPr lang="en-US" altLang="zh-CN" sz="1000" i="0" smtClean="0"/>
          </a:p>
        </p:txBody>
      </p:sp>
      <p:pic>
        <p:nvPicPr>
          <p:cNvPr id="744457" name="Picture 9" descr="a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838" y="2817813"/>
            <a:ext cx="6840537" cy="404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8"/>
          <p:cNvSpPr>
            <a:spLocks noGrp="1" noChangeArrowheads="1"/>
          </p:cNvSpPr>
          <p:nvPr>
            <p:ph type="body" idx="1"/>
          </p:nvPr>
        </p:nvSpPr>
        <p:spPr>
          <a:xfrm>
            <a:off x="650875" y="1143000"/>
            <a:ext cx="8820150" cy="2647950"/>
          </a:xfrm>
        </p:spPr>
        <p:txBody>
          <a:bodyPr/>
          <a:lstStyle/>
          <a:p>
            <a:pPr eaLnBrk="1" hangingPunct="1">
              <a:spcBef>
                <a:spcPct val="20000"/>
              </a:spcBef>
              <a:buClr>
                <a:srgbClr val="FF0066"/>
              </a:buClr>
              <a:buSzTx/>
              <a:buFont typeface="Wingdings" pitchFamily="2" charset="2"/>
              <a:buChar char="v"/>
            </a:pPr>
            <a:r>
              <a:rPr kumimoji="1" lang="zh-CN" altLang="en-US" smtClean="0"/>
              <a:t>考虑数据误差在算术运算中的传播规律并对结果的误差进行估计</a:t>
            </a:r>
          </a:p>
          <a:p>
            <a:pPr eaLnBrk="1" hangingPunct="1">
              <a:spcBef>
                <a:spcPct val="20000"/>
              </a:spcBef>
              <a:buClr>
                <a:srgbClr val="FF0066"/>
              </a:buClr>
              <a:buSzTx/>
              <a:buFont typeface="Wingdings" pitchFamily="2" charset="2"/>
              <a:buChar char="v"/>
            </a:pPr>
            <a:r>
              <a:rPr kumimoji="1" lang="en-US" altLang="zh-CN" i="1" smtClean="0"/>
              <a:t>x*, y*</a:t>
            </a:r>
            <a:r>
              <a:rPr kumimoji="1" lang="zh-CN" altLang="en-US" smtClean="0">
                <a:latin typeface="楷体_GB2312" pitchFamily="49" charset="-122"/>
              </a:rPr>
              <a:t>为准确值, </a:t>
            </a:r>
            <a:r>
              <a:rPr lang="en-US" altLang="zh-CN" i="1" smtClean="0"/>
              <a:t>x</a:t>
            </a:r>
            <a:r>
              <a:rPr kumimoji="1" lang="en-US" altLang="zh-CN" smtClean="0">
                <a:latin typeface="楷体_GB2312" pitchFamily="49" charset="-122"/>
              </a:rPr>
              <a:t>, </a:t>
            </a:r>
            <a:r>
              <a:rPr lang="en-US" altLang="zh-CN" i="1" smtClean="0"/>
              <a:t>y</a:t>
            </a:r>
            <a:r>
              <a:rPr kumimoji="1" lang="zh-CN" altLang="en-US" smtClean="0">
                <a:latin typeface="楷体_GB2312" pitchFamily="49" charset="-122"/>
              </a:rPr>
              <a:t>分别为其近似值，</a:t>
            </a:r>
          </a:p>
          <a:p>
            <a:pPr eaLnBrk="1" hangingPunct="1">
              <a:spcBef>
                <a:spcPct val="20000"/>
              </a:spcBef>
              <a:buClr>
                <a:srgbClr val="FF0066"/>
              </a:buClr>
              <a:buSzTx/>
              <a:buFont typeface="Wingdings" pitchFamily="2" charset="2"/>
              <a:buNone/>
            </a:pPr>
            <a:r>
              <a:rPr kumimoji="1" lang="zh-CN" altLang="en-US" smtClean="0">
                <a:latin typeface="楷体_GB2312" pitchFamily="49" charset="-122"/>
              </a:rPr>
              <a:t>  绝对误差为:</a:t>
            </a:r>
            <a:r>
              <a:rPr kumimoji="1" lang="zh-CN" altLang="en-US" smtClean="0">
                <a:sym typeface="Symbol" pitchFamily="18" charset="2"/>
              </a:rPr>
              <a:t></a:t>
            </a:r>
            <a:r>
              <a:rPr kumimoji="1" lang="en-US" altLang="zh-CN" i="1" smtClean="0">
                <a:sym typeface="Symbol" pitchFamily="18" charset="2"/>
              </a:rPr>
              <a:t>x=x-x*,</a:t>
            </a:r>
            <a:r>
              <a:rPr kumimoji="1" lang="en-US" altLang="zh-CN" smtClean="0">
                <a:sym typeface="Symbol" pitchFamily="18" charset="2"/>
              </a:rPr>
              <a:t></a:t>
            </a:r>
            <a:r>
              <a:rPr kumimoji="1" lang="en-US" altLang="zh-CN" i="1" smtClean="0">
                <a:sym typeface="Symbol" pitchFamily="18" charset="2"/>
              </a:rPr>
              <a:t>y=y-y*</a:t>
            </a:r>
          </a:p>
          <a:p>
            <a:pPr eaLnBrk="1" hangingPunct="1">
              <a:spcBef>
                <a:spcPct val="20000"/>
              </a:spcBef>
              <a:buClr>
                <a:srgbClr val="FF0066"/>
              </a:buClr>
              <a:buSzTx/>
              <a:buFont typeface="Wingdings" pitchFamily="2" charset="2"/>
              <a:buChar char="v"/>
            </a:pPr>
            <a:r>
              <a:rPr kumimoji="1" lang="zh-CN" altLang="en-US" smtClean="0">
                <a:sym typeface="Symbol" pitchFamily="18" charset="2"/>
              </a:rPr>
              <a:t>用微分来近似绝对误差，</a:t>
            </a:r>
          </a:p>
          <a:p>
            <a:pPr eaLnBrk="1" hangingPunct="1">
              <a:spcBef>
                <a:spcPct val="20000"/>
              </a:spcBef>
              <a:buClr>
                <a:srgbClr val="FF0066"/>
              </a:buClr>
              <a:buSzTx/>
              <a:buFont typeface="Wingdings" pitchFamily="2" charset="2"/>
              <a:buNone/>
            </a:pPr>
            <a:r>
              <a:rPr kumimoji="1" lang="zh-CN" altLang="en-US" smtClean="0">
                <a:sym typeface="Symbol" pitchFamily="18" charset="2"/>
              </a:rPr>
              <a:t>即 </a:t>
            </a:r>
            <a:r>
              <a:rPr kumimoji="1" lang="en-US" altLang="zh-CN" i="1" smtClean="0">
                <a:sym typeface="Symbol" pitchFamily="18" charset="2"/>
              </a:rPr>
              <a:t>dx </a:t>
            </a:r>
            <a:r>
              <a:rPr kumimoji="1" lang="en-US" altLang="zh-CN" smtClean="0">
                <a:sym typeface="Symbol" pitchFamily="18" charset="2"/>
              </a:rPr>
              <a:t></a:t>
            </a:r>
            <a:r>
              <a:rPr kumimoji="1" lang="en-US" altLang="zh-CN" i="1" smtClean="0">
                <a:sym typeface="Symbol" pitchFamily="18" charset="2"/>
              </a:rPr>
              <a:t> </a:t>
            </a:r>
            <a:r>
              <a:rPr kumimoji="1" lang="en-US" altLang="zh-CN" smtClean="0">
                <a:sym typeface="Symbol" pitchFamily="18" charset="2"/>
              </a:rPr>
              <a:t></a:t>
            </a:r>
            <a:r>
              <a:rPr kumimoji="1" lang="en-US" altLang="zh-CN" i="1" smtClean="0">
                <a:sym typeface="Symbol" pitchFamily="18" charset="2"/>
              </a:rPr>
              <a:t>x, dy </a:t>
            </a:r>
            <a:r>
              <a:rPr kumimoji="1" lang="en-US" altLang="zh-CN" smtClean="0">
                <a:sym typeface="Symbol" pitchFamily="18" charset="2"/>
              </a:rPr>
              <a:t></a:t>
            </a:r>
            <a:r>
              <a:rPr kumimoji="1" lang="en-US" altLang="zh-CN" i="1" smtClean="0">
                <a:sym typeface="Symbol" pitchFamily="18" charset="2"/>
              </a:rPr>
              <a:t> </a:t>
            </a:r>
            <a:r>
              <a:rPr kumimoji="1" lang="en-US" altLang="zh-CN" smtClean="0">
                <a:sym typeface="Symbol" pitchFamily="18" charset="2"/>
              </a:rPr>
              <a:t></a:t>
            </a:r>
            <a:r>
              <a:rPr kumimoji="1" lang="en-US" altLang="zh-CN" i="1" smtClean="0">
                <a:sym typeface="Symbol" pitchFamily="18" charset="2"/>
              </a:rPr>
              <a:t>y</a:t>
            </a:r>
          </a:p>
        </p:txBody>
      </p:sp>
      <p:sp>
        <p:nvSpPr>
          <p:cNvPr id="744450" name="Rectangle 2"/>
          <p:cNvSpPr>
            <a:spLocks noGrp="1" noChangeArrowheads="1"/>
          </p:cNvSpPr>
          <p:nvPr>
            <p:ph type="title"/>
          </p:nvPr>
        </p:nvSpPr>
        <p:spPr/>
        <p:txBody>
          <a:bodyPr/>
          <a:lstStyle/>
          <a:p>
            <a:pPr>
              <a:defRPr/>
            </a:pPr>
            <a:r>
              <a:rPr lang="en-US" altLang="zh-CN" smtClean="0"/>
              <a:t>§3  </a:t>
            </a:r>
            <a:r>
              <a:rPr lang="zh-CN" altLang="en-US" smtClean="0"/>
              <a:t>算术运算中的误差</a:t>
            </a:r>
          </a:p>
        </p:txBody>
      </p:sp>
      <p:sp>
        <p:nvSpPr>
          <p:cNvPr id="744459" name="Rectangle 11"/>
          <p:cNvSpPr>
            <a:spLocks noChangeArrowheads="1"/>
          </p:cNvSpPr>
          <p:nvPr/>
        </p:nvSpPr>
        <p:spPr bwMode="auto">
          <a:xfrm>
            <a:off x="493713" y="3883025"/>
            <a:ext cx="3954462"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txBody>
          <a:bodyPr wrap="none">
            <a:spAutoFit/>
          </a:bodyPr>
          <a:lstStyle/>
          <a:p>
            <a:pPr algn="l">
              <a:buFont typeface="Wingdings" pitchFamily="2" charset="2"/>
              <a:buNone/>
            </a:pPr>
            <a:r>
              <a:rPr kumimoji="1" lang="zh-CN" altLang="en-US" sz="2800" i="0">
                <a:solidFill>
                  <a:srgbClr val="0000FF"/>
                </a:solidFill>
                <a:latin typeface="Times New Roman" pitchFamily="18" charset="0"/>
                <a:ea typeface="黑体" pitchFamily="49" charset="-122"/>
              </a:rPr>
              <a:t>当</a:t>
            </a:r>
            <a:r>
              <a:rPr kumimoji="1" lang="en-US" altLang="zh-CN" sz="2800">
                <a:solidFill>
                  <a:srgbClr val="0000FF"/>
                </a:solidFill>
                <a:latin typeface="Times New Roman" pitchFamily="18" charset="0"/>
                <a:ea typeface="黑体" pitchFamily="49" charset="-122"/>
              </a:rPr>
              <a:t>x</a:t>
            </a:r>
            <a:r>
              <a:rPr kumimoji="1" lang="zh-CN" altLang="en-US" sz="2800" i="0">
                <a:solidFill>
                  <a:srgbClr val="0000FF"/>
                </a:solidFill>
                <a:latin typeface="Times New Roman" pitchFamily="18" charset="0"/>
                <a:ea typeface="黑体" pitchFamily="49" charset="-122"/>
              </a:rPr>
              <a:t>从</a:t>
            </a:r>
            <a:r>
              <a:rPr kumimoji="1" lang="en-US" altLang="zh-CN" sz="2800">
                <a:solidFill>
                  <a:srgbClr val="0000FF"/>
                </a:solidFill>
                <a:latin typeface="Times New Roman" pitchFamily="18" charset="0"/>
                <a:ea typeface="黑体" pitchFamily="49" charset="-122"/>
              </a:rPr>
              <a:t>x</a:t>
            </a:r>
            <a:r>
              <a:rPr kumimoji="1" lang="en-US" altLang="zh-CN" sz="2800" i="0" baseline="-25000">
                <a:solidFill>
                  <a:srgbClr val="0000FF"/>
                </a:solidFill>
                <a:latin typeface="Times New Roman" pitchFamily="18" charset="0"/>
                <a:ea typeface="黑体" pitchFamily="49" charset="-122"/>
              </a:rPr>
              <a:t>0</a:t>
            </a:r>
            <a:r>
              <a:rPr kumimoji="1" lang="zh-CN" altLang="en-US" sz="2800" i="0">
                <a:solidFill>
                  <a:srgbClr val="0000FF"/>
                </a:solidFill>
                <a:latin typeface="Times New Roman" pitchFamily="18" charset="0"/>
                <a:ea typeface="黑体" pitchFamily="49" charset="-122"/>
              </a:rPr>
              <a:t>变到</a:t>
            </a:r>
            <a:r>
              <a:rPr kumimoji="1" lang="en-US" altLang="zh-CN" sz="2800">
                <a:solidFill>
                  <a:srgbClr val="0000FF"/>
                </a:solidFill>
                <a:latin typeface="Times New Roman" pitchFamily="18" charset="0"/>
                <a:ea typeface="黑体" pitchFamily="49" charset="-122"/>
              </a:rPr>
              <a:t>x</a:t>
            </a:r>
            <a:r>
              <a:rPr kumimoji="1" lang="en-US" altLang="zh-CN" sz="2800" i="0" baseline="-25000">
                <a:solidFill>
                  <a:srgbClr val="0000FF"/>
                </a:solidFill>
                <a:latin typeface="Times New Roman" pitchFamily="18" charset="0"/>
                <a:ea typeface="黑体" pitchFamily="49" charset="-122"/>
              </a:rPr>
              <a:t>0</a:t>
            </a:r>
            <a:r>
              <a:rPr kumimoji="1" lang="en-US" altLang="zh-CN" sz="2800" i="0">
                <a:solidFill>
                  <a:srgbClr val="0000FF"/>
                </a:solidFill>
                <a:latin typeface="Times New Roman" pitchFamily="18" charset="0"/>
                <a:ea typeface="黑体" pitchFamily="49" charset="-122"/>
              </a:rPr>
              <a:t>+</a:t>
            </a:r>
            <a:r>
              <a:rPr kumimoji="1" lang="en-US" altLang="zh-CN" sz="2800" i="0">
                <a:solidFill>
                  <a:srgbClr val="0000FF"/>
                </a:solidFill>
                <a:latin typeface="Symbol" pitchFamily="18" charset="2"/>
                <a:ea typeface="黑体" pitchFamily="49" charset="-122"/>
              </a:rPr>
              <a:t>D</a:t>
            </a:r>
            <a:r>
              <a:rPr kumimoji="1" lang="en-US" altLang="zh-CN" sz="2800">
                <a:solidFill>
                  <a:srgbClr val="0000FF"/>
                </a:solidFill>
                <a:latin typeface="Times New Roman" pitchFamily="18" charset="0"/>
                <a:ea typeface="黑体" pitchFamily="49" charset="-122"/>
              </a:rPr>
              <a:t>x</a:t>
            </a:r>
            <a:r>
              <a:rPr kumimoji="1" lang="zh-CN" altLang="en-US" sz="2800" i="0">
                <a:solidFill>
                  <a:srgbClr val="0000FF"/>
                </a:solidFill>
                <a:latin typeface="Times New Roman" pitchFamily="18" charset="0"/>
                <a:ea typeface="黑体" pitchFamily="49" charset="-122"/>
              </a:rPr>
              <a:t>时</a:t>
            </a:r>
          </a:p>
          <a:p>
            <a:pPr algn="l" eaLnBrk="1" hangingPunct="1">
              <a:lnSpc>
                <a:spcPct val="120000"/>
              </a:lnSpc>
              <a:buFont typeface="Wingdings" pitchFamily="2" charset="2"/>
              <a:buChar char="ü"/>
            </a:pPr>
            <a:r>
              <a:rPr kumimoji="1" lang="en-US" altLang="zh-CN" sz="2800" i="0">
                <a:solidFill>
                  <a:srgbClr val="0000FF"/>
                </a:solidFill>
                <a:latin typeface="Symbol" pitchFamily="18" charset="2"/>
                <a:ea typeface="黑体" pitchFamily="49" charset="-122"/>
              </a:rPr>
              <a:t>D</a:t>
            </a:r>
            <a:r>
              <a:rPr kumimoji="1" lang="en-US" altLang="zh-CN" sz="2800">
                <a:solidFill>
                  <a:srgbClr val="0000FF"/>
                </a:solidFill>
                <a:latin typeface="Times New Roman" pitchFamily="18" charset="0"/>
                <a:ea typeface="黑体" pitchFamily="49" charset="-122"/>
              </a:rPr>
              <a:t>y</a:t>
            </a:r>
            <a:r>
              <a:rPr kumimoji="1" lang="zh-CN" altLang="en-US" sz="2800" i="0">
                <a:solidFill>
                  <a:srgbClr val="0000FF"/>
                </a:solidFill>
                <a:latin typeface="Times New Roman" pitchFamily="18" charset="0"/>
                <a:ea typeface="黑体" pitchFamily="49" charset="-122"/>
              </a:rPr>
              <a:t>是曲线上点的纵坐</a:t>
            </a:r>
          </a:p>
          <a:p>
            <a:pPr algn="l" eaLnBrk="1" hangingPunct="1">
              <a:lnSpc>
                <a:spcPct val="120000"/>
              </a:lnSpc>
              <a:buFont typeface="Wingdings" pitchFamily="2" charset="2"/>
              <a:buNone/>
            </a:pPr>
            <a:r>
              <a:rPr kumimoji="1" lang="zh-CN" altLang="en-US" sz="2800" i="0">
                <a:solidFill>
                  <a:srgbClr val="0000FF"/>
                </a:solidFill>
                <a:latin typeface="Times New Roman" pitchFamily="18" charset="0"/>
                <a:ea typeface="黑体" pitchFamily="49" charset="-122"/>
              </a:rPr>
              <a:t>标的增量</a:t>
            </a:r>
          </a:p>
          <a:p>
            <a:pPr algn="l" eaLnBrk="1" hangingPunct="1">
              <a:lnSpc>
                <a:spcPct val="120000"/>
              </a:lnSpc>
              <a:buFont typeface="Wingdings" pitchFamily="2" charset="2"/>
              <a:buChar char="ü"/>
            </a:pPr>
            <a:r>
              <a:rPr kumimoji="1" lang="en-US" altLang="zh-CN" sz="2800">
                <a:solidFill>
                  <a:srgbClr val="0000FF"/>
                </a:solidFill>
                <a:latin typeface="Times New Roman" pitchFamily="18" charset="0"/>
                <a:ea typeface="黑体" pitchFamily="49" charset="-122"/>
              </a:rPr>
              <a:t>dy</a:t>
            </a:r>
            <a:r>
              <a:rPr kumimoji="1" lang="zh-CN" altLang="en-US" sz="2800" i="0">
                <a:solidFill>
                  <a:srgbClr val="0000FF"/>
                </a:solidFill>
                <a:latin typeface="Times New Roman" pitchFamily="18" charset="0"/>
                <a:ea typeface="黑体" pitchFamily="49" charset="-122"/>
              </a:rPr>
              <a:t>是过点</a:t>
            </a:r>
            <a:r>
              <a:rPr kumimoji="1" lang="en-US" altLang="zh-CN" sz="2800" i="0">
                <a:solidFill>
                  <a:srgbClr val="0000FF"/>
                </a:solidFill>
                <a:latin typeface="Times New Roman" pitchFamily="18" charset="0"/>
                <a:ea typeface="黑体" pitchFamily="49" charset="-122"/>
              </a:rPr>
              <a:t>(</a:t>
            </a:r>
            <a:r>
              <a:rPr kumimoji="1" lang="en-US" altLang="zh-CN" sz="2800">
                <a:solidFill>
                  <a:srgbClr val="0000FF"/>
                </a:solidFill>
                <a:latin typeface="Times New Roman" pitchFamily="18" charset="0"/>
                <a:ea typeface="黑体" pitchFamily="49" charset="-122"/>
              </a:rPr>
              <a:t>x</a:t>
            </a:r>
            <a:r>
              <a:rPr kumimoji="1" lang="en-US" altLang="zh-CN" sz="2800" i="0" baseline="-25000">
                <a:solidFill>
                  <a:srgbClr val="0000FF"/>
                </a:solidFill>
                <a:latin typeface="Times New Roman" pitchFamily="18" charset="0"/>
                <a:ea typeface="黑体" pitchFamily="49" charset="-122"/>
              </a:rPr>
              <a:t>0</a:t>
            </a:r>
            <a:r>
              <a:rPr kumimoji="1" lang="en-US" altLang="zh-CN" sz="2800" i="0">
                <a:solidFill>
                  <a:srgbClr val="0000FF"/>
                </a:solidFill>
                <a:latin typeface="Times New Roman" pitchFamily="18" charset="0"/>
                <a:ea typeface="黑体" pitchFamily="49" charset="-122"/>
                <a:sym typeface="Symbol" pitchFamily="18" charset="2"/>
              </a:rPr>
              <a:t> </a:t>
            </a:r>
            <a:r>
              <a:rPr kumimoji="1" lang="en-US" altLang="zh-CN" sz="2800">
                <a:solidFill>
                  <a:srgbClr val="0000FF"/>
                </a:solidFill>
                <a:latin typeface="Times New Roman" pitchFamily="18" charset="0"/>
                <a:ea typeface="黑体" pitchFamily="49" charset="-122"/>
                <a:sym typeface="Symbol" pitchFamily="18" charset="2"/>
              </a:rPr>
              <a:t>f</a:t>
            </a:r>
            <a:r>
              <a:rPr kumimoji="1" lang="en-US" altLang="zh-CN" sz="2800" i="0">
                <a:solidFill>
                  <a:srgbClr val="0000FF"/>
                </a:solidFill>
                <a:latin typeface="Times New Roman" pitchFamily="18" charset="0"/>
                <a:ea typeface="黑体" pitchFamily="49" charset="-122"/>
                <a:sym typeface="Symbol" pitchFamily="18" charset="2"/>
              </a:rPr>
              <a:t>(</a:t>
            </a:r>
            <a:r>
              <a:rPr kumimoji="1" lang="en-US" altLang="zh-CN" sz="2800">
                <a:solidFill>
                  <a:srgbClr val="0000FF"/>
                </a:solidFill>
                <a:latin typeface="Times New Roman" pitchFamily="18" charset="0"/>
                <a:ea typeface="黑体" pitchFamily="49" charset="-122"/>
              </a:rPr>
              <a:t>x</a:t>
            </a:r>
            <a:r>
              <a:rPr kumimoji="1" lang="en-US" altLang="zh-CN" sz="2800" i="0" baseline="-25000">
                <a:solidFill>
                  <a:srgbClr val="0000FF"/>
                </a:solidFill>
                <a:latin typeface="Times New Roman" pitchFamily="18" charset="0"/>
                <a:ea typeface="黑体" pitchFamily="49" charset="-122"/>
              </a:rPr>
              <a:t>0</a:t>
            </a:r>
            <a:r>
              <a:rPr kumimoji="1" lang="en-US" altLang="zh-CN" sz="2800" i="0">
                <a:solidFill>
                  <a:srgbClr val="0000FF"/>
                </a:solidFill>
                <a:latin typeface="Times New Roman" pitchFamily="18" charset="0"/>
                <a:ea typeface="黑体" pitchFamily="49" charset="-122"/>
                <a:sym typeface="Symbol" pitchFamily="18" charset="2"/>
              </a:rPr>
              <a:t>)</a:t>
            </a:r>
            <a:r>
              <a:rPr kumimoji="1" lang="en-US" altLang="zh-CN" sz="2800" i="0">
                <a:solidFill>
                  <a:srgbClr val="0000FF"/>
                </a:solidFill>
                <a:latin typeface="Times New Roman" pitchFamily="18" charset="0"/>
                <a:ea typeface="黑体" pitchFamily="49" charset="-122"/>
              </a:rPr>
              <a:t>)</a:t>
            </a:r>
            <a:r>
              <a:rPr kumimoji="1" lang="zh-CN" altLang="en-US" sz="2800" i="0">
                <a:solidFill>
                  <a:srgbClr val="0000FF"/>
                </a:solidFill>
                <a:latin typeface="Times New Roman" pitchFamily="18" charset="0"/>
                <a:ea typeface="黑体" pitchFamily="49" charset="-122"/>
              </a:rPr>
              <a:t>的切</a:t>
            </a:r>
          </a:p>
          <a:p>
            <a:pPr algn="l" eaLnBrk="1" hangingPunct="1">
              <a:lnSpc>
                <a:spcPct val="120000"/>
              </a:lnSpc>
              <a:buFont typeface="Wingdings" pitchFamily="2" charset="2"/>
              <a:buNone/>
            </a:pPr>
            <a:r>
              <a:rPr kumimoji="1" lang="zh-CN" altLang="en-US" sz="2800" i="0">
                <a:solidFill>
                  <a:srgbClr val="0000FF"/>
                </a:solidFill>
                <a:latin typeface="Times New Roman" pitchFamily="18" charset="0"/>
                <a:ea typeface="黑体" pitchFamily="49" charset="-122"/>
              </a:rPr>
              <a:t>线上点的纵坐标的增量</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44457"/>
                                        </p:tgtEl>
                                        <p:attrNameLst>
                                          <p:attrName>style.visibility</p:attrName>
                                        </p:attrNameLst>
                                      </p:cBhvr>
                                      <p:to>
                                        <p:strVal val="visible"/>
                                      </p:to>
                                    </p:set>
                                    <p:animEffect transition="in" filter="wipe(up)">
                                      <p:cBhvr>
                                        <p:cTn id="7" dur="500"/>
                                        <p:tgtEl>
                                          <p:spTgt spid="7444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44459"/>
                                        </p:tgtEl>
                                        <p:attrNameLst>
                                          <p:attrName>style.visibility</p:attrName>
                                        </p:attrNameLst>
                                      </p:cBhvr>
                                      <p:to>
                                        <p:strVal val="visible"/>
                                      </p:to>
                                    </p:set>
                                    <p:animEffect transition="in" filter="wipe(up)">
                                      <p:cBhvr>
                                        <p:cTn id="12" dur="500"/>
                                        <p:tgtEl>
                                          <p:spTgt spid="74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45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9C0CA1B-324A-4D69-A9C7-0197E31BCBAB}" type="slidenum">
              <a:rPr lang="zh-CN" altLang="en-US" i="0" smtClean="0"/>
              <a:pPr/>
              <a:t>17</a:t>
            </a:fld>
            <a:endParaRPr lang="en-US" altLang="zh-CN" i="0" smtClean="0"/>
          </a:p>
        </p:txBody>
      </p:sp>
      <p:sp>
        <p:nvSpPr>
          <p:cNvPr id="204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F11DA63-10EA-4E2E-B67F-7209087B1B1D}" type="datetime1">
              <a:rPr lang="zh-CN" altLang="en-US" sz="1800" i="0" smtClean="0"/>
              <a:pPr/>
              <a:t>2024/9/8</a:t>
            </a:fld>
            <a:endParaRPr lang="en-US" altLang="zh-CN" sz="1000" i="0" smtClean="0"/>
          </a:p>
        </p:txBody>
      </p:sp>
      <p:sp>
        <p:nvSpPr>
          <p:cNvPr id="20484" name="Rectangle 2"/>
          <p:cNvSpPr>
            <a:spLocks noGrp="1" noChangeArrowheads="1"/>
          </p:cNvSpPr>
          <p:nvPr>
            <p:ph type="body" idx="1"/>
          </p:nvPr>
        </p:nvSpPr>
        <p:spPr>
          <a:xfrm>
            <a:off x="650875" y="1143000"/>
            <a:ext cx="8820150" cy="2311400"/>
          </a:xfrm>
        </p:spPr>
        <p:txBody>
          <a:bodyPr/>
          <a:lstStyle/>
          <a:p>
            <a:pPr eaLnBrk="1" hangingPunct="1">
              <a:lnSpc>
                <a:spcPct val="100000"/>
              </a:lnSpc>
              <a:spcBef>
                <a:spcPct val="50000"/>
              </a:spcBef>
              <a:buClr>
                <a:srgbClr val="FF0066"/>
              </a:buClr>
              <a:buSzTx/>
              <a:buFont typeface="Wingdings" pitchFamily="2" charset="2"/>
              <a:buChar char="v"/>
            </a:pPr>
            <a:r>
              <a:rPr lang="zh-CN" altLang="zh-CN" sz="3200" smtClean="0"/>
              <a:t>C= </a:t>
            </a:r>
            <a:r>
              <a:rPr lang="en-US" altLang="zh-CN" i="1" smtClean="0"/>
              <a:t>x</a:t>
            </a:r>
            <a:r>
              <a:rPr lang="zh-CN" altLang="zh-CN" sz="3200" smtClean="0"/>
              <a:t> </a:t>
            </a:r>
            <a:r>
              <a:rPr lang="zh-CN" altLang="zh-CN" sz="3200" smtClean="0">
                <a:sym typeface="Symbol" pitchFamily="18" charset="2"/>
              </a:rPr>
              <a:t> </a:t>
            </a:r>
            <a:r>
              <a:rPr lang="en-US" altLang="zh-CN" i="1" smtClean="0"/>
              <a:t>y</a:t>
            </a:r>
            <a:endParaRPr lang="en-US" altLang="zh-CN" sz="3200" smtClean="0">
              <a:latin typeface="宋体" pitchFamily="2" charset="-122"/>
              <a:sym typeface="Symbol" pitchFamily="18" charset="2"/>
            </a:endParaRPr>
          </a:p>
          <a:p>
            <a:pPr lvl="1"/>
            <a:r>
              <a:rPr lang="en-US" altLang="zh-CN" sz="3200" smtClean="0">
                <a:latin typeface="宋体" pitchFamily="2" charset="-122"/>
                <a:sym typeface="Symbol" pitchFamily="18" charset="2"/>
              </a:rPr>
              <a:t></a:t>
            </a:r>
            <a:r>
              <a:rPr lang="en-US" altLang="zh-CN" sz="3200" smtClean="0"/>
              <a:t>C=C-C*</a:t>
            </a:r>
            <a:r>
              <a:rPr lang="en-US" altLang="zh-CN" sz="3200" smtClean="0">
                <a:sym typeface="Symbol" pitchFamily="18" charset="2"/>
              </a:rPr>
              <a:t></a:t>
            </a:r>
            <a:r>
              <a:rPr lang="en-US" altLang="zh-CN" i="1" smtClean="0"/>
              <a:t>d </a:t>
            </a:r>
            <a:r>
              <a:rPr lang="en-US" altLang="zh-CN" sz="3200" smtClean="0">
                <a:latin typeface="宋体" pitchFamily="2" charset="-122"/>
              </a:rPr>
              <a:t>C</a:t>
            </a:r>
          </a:p>
          <a:p>
            <a:pPr>
              <a:buFont typeface="Wingdings" pitchFamily="2" charset="2"/>
              <a:buNone/>
            </a:pPr>
            <a:r>
              <a:rPr lang="zh-CN" altLang="en-US" sz="3200" b="0" smtClean="0">
                <a:latin typeface="宋体" pitchFamily="2" charset="-122"/>
              </a:rPr>
              <a:t>	∴</a:t>
            </a:r>
            <a:r>
              <a:rPr lang="en-US" altLang="zh-CN" i="1" smtClean="0"/>
              <a:t>d</a:t>
            </a:r>
            <a:r>
              <a:rPr lang="en-US" altLang="zh-CN" sz="3200" smtClean="0">
                <a:latin typeface="宋体" pitchFamily="2" charset="-122"/>
              </a:rPr>
              <a:t>C</a:t>
            </a:r>
            <a:r>
              <a:rPr lang="en-US" altLang="zh-CN" sz="3200" smtClean="0">
                <a:latin typeface="宋体" pitchFamily="2" charset="-122"/>
                <a:sym typeface="Symbol" pitchFamily="18" charset="2"/>
              </a:rPr>
              <a:t></a:t>
            </a:r>
            <a:r>
              <a:rPr lang="zh-CN" altLang="en-US" sz="3200" smtClean="0">
                <a:latin typeface="宋体" pitchFamily="2" charset="-122"/>
              </a:rPr>
              <a:t>|</a:t>
            </a:r>
            <a:r>
              <a:rPr lang="en-US" altLang="zh-CN" i="1" smtClean="0"/>
              <a:t>dx </a:t>
            </a:r>
            <a:r>
              <a:rPr lang="zh-CN" altLang="zh-CN" sz="3200" smtClean="0">
                <a:sym typeface="Symbol" pitchFamily="18" charset="2"/>
              </a:rPr>
              <a:t></a:t>
            </a:r>
            <a:r>
              <a:rPr lang="zh-CN" altLang="en-US" sz="3200" smtClean="0">
                <a:sym typeface="Symbol" pitchFamily="18" charset="2"/>
              </a:rPr>
              <a:t> </a:t>
            </a:r>
            <a:r>
              <a:rPr lang="en-US" altLang="zh-CN" i="1" smtClean="0"/>
              <a:t>dy</a:t>
            </a:r>
            <a:r>
              <a:rPr lang="en-US" altLang="zh-CN" sz="3200" smtClean="0">
                <a:latin typeface="宋体" pitchFamily="2" charset="-122"/>
              </a:rPr>
              <a:t>| </a:t>
            </a:r>
            <a:r>
              <a:rPr lang="en-US" altLang="zh-CN" sz="3200" smtClean="0">
                <a:latin typeface="宋体" pitchFamily="2" charset="-122"/>
                <a:sym typeface="Symbol" pitchFamily="18" charset="2"/>
              </a:rPr>
              <a:t></a:t>
            </a:r>
            <a:r>
              <a:rPr lang="zh-CN" altLang="en-US" sz="3200" smtClean="0">
                <a:latin typeface="宋体" pitchFamily="2" charset="-122"/>
              </a:rPr>
              <a:t> </a:t>
            </a:r>
            <a:r>
              <a:rPr lang="en-US" altLang="zh-CN" sz="3200" smtClean="0">
                <a:latin typeface="宋体" pitchFamily="2" charset="-122"/>
              </a:rPr>
              <a:t>|</a:t>
            </a:r>
            <a:r>
              <a:rPr lang="en-US" altLang="zh-CN" i="1" smtClean="0"/>
              <a:t>dx</a:t>
            </a:r>
            <a:r>
              <a:rPr lang="en-US" altLang="zh-CN" sz="3200" smtClean="0">
                <a:latin typeface="宋体" pitchFamily="2" charset="-122"/>
              </a:rPr>
              <a:t>|+|</a:t>
            </a:r>
            <a:r>
              <a:rPr lang="en-US" altLang="zh-CN" i="1" smtClean="0"/>
              <a:t>dy</a:t>
            </a:r>
            <a:r>
              <a:rPr lang="en-US" altLang="zh-CN" sz="3200" smtClean="0">
                <a:latin typeface="宋体" pitchFamily="2" charset="-122"/>
              </a:rPr>
              <a:t>| </a:t>
            </a:r>
            <a:r>
              <a:rPr lang="en-US" altLang="zh-CN" sz="3200" smtClean="0">
                <a:latin typeface="宋体" pitchFamily="2" charset="-122"/>
                <a:sym typeface="Symbol" pitchFamily="18" charset="2"/>
              </a:rPr>
              <a:t></a:t>
            </a:r>
            <a:r>
              <a:rPr lang="zh-CN" altLang="en-US" sz="3200" smtClean="0">
                <a:latin typeface="宋体" pitchFamily="2" charset="-122"/>
              </a:rPr>
              <a:t> </a:t>
            </a:r>
            <a:r>
              <a:rPr lang="en-US" altLang="zh-CN" sz="3200" i="1" smtClean="0">
                <a:sym typeface="Symbol" pitchFamily="18" charset="2"/>
              </a:rPr>
              <a:t></a:t>
            </a:r>
            <a:r>
              <a:rPr lang="en-US" altLang="zh-CN" sz="3200" i="1" baseline="-25000" smtClean="0"/>
              <a:t>x</a:t>
            </a:r>
            <a:r>
              <a:rPr lang="en-US" altLang="zh-CN" sz="3200" smtClean="0">
                <a:latin typeface="宋体" pitchFamily="2" charset="-122"/>
              </a:rPr>
              <a:t>+ </a:t>
            </a:r>
            <a:r>
              <a:rPr lang="en-US" altLang="zh-CN" sz="3200" i="1" smtClean="0">
                <a:sym typeface="Symbol" pitchFamily="18" charset="2"/>
              </a:rPr>
              <a:t></a:t>
            </a:r>
            <a:r>
              <a:rPr lang="en-US" altLang="zh-CN" sz="3200" i="1" baseline="-25000" smtClean="0"/>
              <a:t>y</a:t>
            </a:r>
            <a:endParaRPr lang="en-US" altLang="zh-CN" sz="3200" i="1" smtClean="0"/>
          </a:p>
          <a:p>
            <a:pPr>
              <a:buFont typeface="Wingdings" pitchFamily="2" charset="2"/>
              <a:buNone/>
            </a:pPr>
            <a:r>
              <a:rPr lang="zh-CN" altLang="en-US" sz="3200" smtClean="0">
                <a:latin typeface="宋体" pitchFamily="2" charset="-122"/>
              </a:rPr>
              <a:t>	其中|</a:t>
            </a:r>
            <a:r>
              <a:rPr lang="en-US" altLang="zh-CN" i="1" smtClean="0"/>
              <a:t>x</a:t>
            </a:r>
            <a:r>
              <a:rPr lang="en-US" altLang="zh-CN" sz="3200" smtClean="0"/>
              <a:t>-</a:t>
            </a:r>
            <a:r>
              <a:rPr lang="en-US" altLang="zh-CN" i="1" smtClean="0"/>
              <a:t>x</a:t>
            </a:r>
            <a:r>
              <a:rPr lang="en-US" altLang="zh-CN" sz="3200" smtClean="0"/>
              <a:t>*</a:t>
            </a:r>
            <a:r>
              <a:rPr lang="zh-CN" altLang="en-US" sz="3200" smtClean="0">
                <a:latin typeface="宋体" pitchFamily="2" charset="-122"/>
              </a:rPr>
              <a:t>| </a:t>
            </a:r>
            <a:r>
              <a:rPr lang="en-US" altLang="zh-CN" sz="3200" smtClean="0">
                <a:latin typeface="宋体" pitchFamily="2" charset="-122"/>
                <a:sym typeface="Symbol" pitchFamily="18" charset="2"/>
              </a:rPr>
              <a:t></a:t>
            </a:r>
            <a:r>
              <a:rPr lang="zh-CN" altLang="en-US" sz="3200" smtClean="0">
                <a:latin typeface="宋体" pitchFamily="2" charset="-122"/>
              </a:rPr>
              <a:t> </a:t>
            </a:r>
            <a:r>
              <a:rPr lang="en-US" altLang="zh-CN" sz="3200" i="1" smtClean="0">
                <a:sym typeface="Symbol" pitchFamily="18" charset="2"/>
              </a:rPr>
              <a:t></a:t>
            </a:r>
            <a:r>
              <a:rPr lang="en-US" altLang="zh-CN" sz="3200" i="1" baseline="-25000" smtClean="0"/>
              <a:t>x</a:t>
            </a:r>
            <a:r>
              <a:rPr lang="en-US" altLang="zh-CN" sz="3200" baseline="-25000" smtClean="0">
                <a:latin typeface="宋体" pitchFamily="2" charset="-122"/>
              </a:rPr>
              <a:t> </a:t>
            </a:r>
            <a:r>
              <a:rPr lang="en-US" altLang="zh-CN" sz="3200" smtClean="0">
                <a:latin typeface="宋体" pitchFamily="2" charset="-122"/>
              </a:rPr>
              <a:t>,</a:t>
            </a:r>
            <a:r>
              <a:rPr lang="zh-CN" altLang="en-US" sz="3200" smtClean="0">
                <a:latin typeface="宋体" pitchFamily="2" charset="-122"/>
              </a:rPr>
              <a:t>|</a:t>
            </a:r>
            <a:r>
              <a:rPr lang="en-US" altLang="zh-CN" i="1" smtClean="0"/>
              <a:t>y</a:t>
            </a:r>
            <a:r>
              <a:rPr lang="en-US" altLang="zh-CN" sz="3200" smtClean="0"/>
              <a:t>-</a:t>
            </a:r>
            <a:r>
              <a:rPr lang="en-US" altLang="zh-CN" i="1" smtClean="0"/>
              <a:t>y</a:t>
            </a:r>
            <a:r>
              <a:rPr lang="en-US" altLang="zh-CN" sz="3200" smtClean="0"/>
              <a:t>*</a:t>
            </a:r>
            <a:r>
              <a:rPr lang="zh-CN" altLang="en-US" sz="3200" smtClean="0">
                <a:latin typeface="宋体" pitchFamily="2" charset="-122"/>
              </a:rPr>
              <a:t>| </a:t>
            </a:r>
            <a:r>
              <a:rPr lang="en-US" altLang="zh-CN" sz="3200" smtClean="0">
                <a:latin typeface="宋体" pitchFamily="2" charset="-122"/>
                <a:sym typeface="Symbol" pitchFamily="18" charset="2"/>
              </a:rPr>
              <a:t></a:t>
            </a:r>
            <a:r>
              <a:rPr lang="zh-CN" altLang="en-US" sz="3200" smtClean="0">
                <a:latin typeface="宋体" pitchFamily="2" charset="-122"/>
              </a:rPr>
              <a:t> </a:t>
            </a:r>
            <a:r>
              <a:rPr lang="en-US" altLang="zh-CN" sz="3200" i="1" smtClean="0">
                <a:sym typeface="Symbol" pitchFamily="18" charset="2"/>
              </a:rPr>
              <a:t></a:t>
            </a:r>
            <a:r>
              <a:rPr lang="en-US" altLang="zh-CN" sz="3200" i="1" baseline="-25000" smtClean="0"/>
              <a:t>y</a:t>
            </a:r>
            <a:endParaRPr lang="zh-CN" altLang="en-US" sz="3200" i="1" baseline="-25000" smtClean="0"/>
          </a:p>
        </p:txBody>
      </p:sp>
      <p:sp>
        <p:nvSpPr>
          <p:cNvPr id="910339" name="Rectangle 3"/>
          <p:cNvSpPr>
            <a:spLocks noGrp="1" noChangeArrowheads="1"/>
          </p:cNvSpPr>
          <p:nvPr>
            <p:ph type="title"/>
          </p:nvPr>
        </p:nvSpPr>
        <p:spPr/>
        <p:txBody>
          <a:bodyPr/>
          <a:lstStyle/>
          <a:p>
            <a:pPr>
              <a:defRPr/>
            </a:pPr>
            <a:r>
              <a:rPr lang="zh-CN" altLang="en-US" smtClean="0"/>
              <a:t>3.1   加减运算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4D691C8-3AEF-4FA0-9BF2-44716EAFC9F9}" type="slidenum">
              <a:rPr lang="zh-CN" altLang="en-US" i="0" smtClean="0"/>
              <a:pPr/>
              <a:t>18</a:t>
            </a:fld>
            <a:endParaRPr lang="en-US" altLang="zh-CN" i="0" smtClean="0"/>
          </a:p>
        </p:txBody>
      </p:sp>
      <p:sp>
        <p:nvSpPr>
          <p:cNvPr id="215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052B12A-CD7A-4C3E-B2B2-F3D053EAB62D}" type="datetime1">
              <a:rPr lang="zh-CN" altLang="en-US" sz="1800" i="0" smtClean="0"/>
              <a:pPr/>
              <a:t>2024/9/8</a:t>
            </a:fld>
            <a:endParaRPr lang="en-US" altLang="zh-CN" sz="1000" i="0" smtClean="0"/>
          </a:p>
        </p:txBody>
      </p:sp>
      <p:sp>
        <p:nvSpPr>
          <p:cNvPr id="745477" name="Rectangle 5"/>
          <p:cNvSpPr>
            <a:spLocks noGrp="1" noChangeArrowheads="1"/>
          </p:cNvSpPr>
          <p:nvPr>
            <p:ph type="body" idx="1"/>
          </p:nvPr>
        </p:nvSpPr>
        <p:spPr>
          <a:xfrm>
            <a:off x="165100" y="1295400"/>
            <a:ext cx="9575800" cy="822325"/>
          </a:xfrm>
        </p:spPr>
        <p:txBody>
          <a:bodyPr/>
          <a:lstStyle/>
          <a:p>
            <a:pPr>
              <a:spcBef>
                <a:spcPct val="50000"/>
              </a:spcBef>
              <a:buFont typeface="Wingdings" pitchFamily="2" charset="2"/>
              <a:buNone/>
            </a:pPr>
            <a:r>
              <a:rPr lang="zh-CN" altLang="en-US" sz="3200" b="0" smtClean="0">
                <a:latin typeface="宋体" pitchFamily="2" charset="-122"/>
              </a:rPr>
              <a:t>	</a:t>
            </a:r>
            <a:r>
              <a:rPr lang="zh-CN" altLang="en-US" smtClean="0">
                <a:latin typeface="宋体" pitchFamily="2" charset="-122"/>
              </a:rPr>
              <a:t>例1.1求近似数285.35,196.87,58.43,4.96的和,其中每个数的绝对误差限为0.5*10</a:t>
            </a:r>
            <a:r>
              <a:rPr lang="zh-CN" altLang="en-US" baseline="30000" smtClean="0">
                <a:latin typeface="宋体" pitchFamily="2" charset="-122"/>
              </a:rPr>
              <a:t>-2</a:t>
            </a:r>
            <a:endParaRPr lang="zh-CN" altLang="en-US" sz="2000" smtClean="0"/>
          </a:p>
        </p:txBody>
      </p:sp>
      <p:sp>
        <p:nvSpPr>
          <p:cNvPr id="745478" name="Text Box 6"/>
          <p:cNvSpPr txBox="1">
            <a:spLocks noChangeArrowheads="1"/>
          </p:cNvSpPr>
          <p:nvPr/>
        </p:nvSpPr>
        <p:spPr bwMode="auto">
          <a:xfrm>
            <a:off x="1981200" y="2513013"/>
            <a:ext cx="6356350" cy="4089400"/>
          </a:xfrm>
          <a:prstGeom prst="rect">
            <a:avLst/>
          </a:prstGeom>
          <a:noFill/>
          <a:ln w="349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3200" i="0">
                <a:latin typeface="宋体" pitchFamily="2" charset="-122"/>
              </a:rPr>
              <a:t>解：</a:t>
            </a:r>
          </a:p>
          <a:p>
            <a:pPr algn="l">
              <a:spcBef>
                <a:spcPct val="50000"/>
              </a:spcBef>
            </a:pPr>
            <a:endParaRPr lang="zh-CN" altLang="en-US" sz="3200" i="0">
              <a:latin typeface="宋体" pitchFamily="2" charset="-122"/>
            </a:endParaRPr>
          </a:p>
          <a:p>
            <a:pPr>
              <a:spcBef>
                <a:spcPct val="50000"/>
              </a:spcBef>
            </a:pPr>
            <a:endParaRPr lang="zh-CN" altLang="en-US" sz="3200" i="0">
              <a:latin typeface="宋体" pitchFamily="2" charset="-122"/>
            </a:endParaRPr>
          </a:p>
          <a:p>
            <a:pPr>
              <a:spcBef>
                <a:spcPct val="50000"/>
              </a:spcBef>
            </a:pPr>
            <a:endParaRPr lang="zh-CN" altLang="en-US" sz="3200" i="0">
              <a:latin typeface="宋体" pitchFamily="2" charset="-122"/>
            </a:endParaRPr>
          </a:p>
          <a:p>
            <a:pPr>
              <a:spcBef>
                <a:spcPct val="50000"/>
              </a:spcBef>
            </a:pPr>
            <a:endParaRPr lang="zh-CN" altLang="en-US" sz="3200" i="0">
              <a:latin typeface="宋体" pitchFamily="2" charset="-122"/>
            </a:endParaRPr>
          </a:p>
          <a:p>
            <a:pPr>
              <a:spcBef>
                <a:spcPct val="50000"/>
              </a:spcBef>
            </a:pPr>
            <a:endParaRPr lang="zh-CN" altLang="en-US" sz="2400" b="0" i="0">
              <a:latin typeface="宋体" pitchFamily="2" charset="-122"/>
            </a:endParaRPr>
          </a:p>
        </p:txBody>
      </p:sp>
      <p:sp>
        <p:nvSpPr>
          <p:cNvPr id="745479" name="Text Box 7"/>
          <p:cNvSpPr txBox="1">
            <a:spLocks noChangeArrowheads="1"/>
          </p:cNvSpPr>
          <p:nvPr/>
        </p:nvSpPr>
        <p:spPr bwMode="auto">
          <a:xfrm>
            <a:off x="4335463" y="2941638"/>
            <a:ext cx="1365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latin typeface="宋体" pitchFamily="2" charset="-122"/>
              </a:rPr>
              <a:t>285.35</a:t>
            </a:r>
            <a:endParaRPr lang="zh-CN" altLang="en-US" sz="2800" b="0" i="0">
              <a:latin typeface="宋体" pitchFamily="2" charset="-122"/>
            </a:endParaRPr>
          </a:p>
        </p:txBody>
      </p:sp>
      <p:sp>
        <p:nvSpPr>
          <p:cNvPr id="745480" name="Text Box 8"/>
          <p:cNvSpPr txBox="1">
            <a:spLocks noChangeArrowheads="1"/>
          </p:cNvSpPr>
          <p:nvPr/>
        </p:nvSpPr>
        <p:spPr bwMode="auto">
          <a:xfrm>
            <a:off x="4335463" y="3290888"/>
            <a:ext cx="1365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latin typeface="宋体" pitchFamily="2" charset="-122"/>
              </a:rPr>
              <a:t>196.87</a:t>
            </a:r>
            <a:endParaRPr lang="zh-CN" altLang="en-US" sz="2400" b="0" i="0">
              <a:latin typeface="宋体" pitchFamily="2" charset="-122"/>
            </a:endParaRPr>
          </a:p>
        </p:txBody>
      </p:sp>
      <p:sp>
        <p:nvSpPr>
          <p:cNvPr id="745481" name="Text Box 9"/>
          <p:cNvSpPr txBox="1">
            <a:spLocks noChangeArrowheads="1"/>
          </p:cNvSpPr>
          <p:nvPr/>
        </p:nvSpPr>
        <p:spPr bwMode="auto">
          <a:xfrm>
            <a:off x="4516438" y="3671888"/>
            <a:ext cx="1171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latin typeface="宋体" pitchFamily="2" charset="-122"/>
              </a:rPr>
              <a:t>58.43</a:t>
            </a:r>
            <a:endParaRPr lang="zh-CN" altLang="en-US" sz="2400" b="0" i="0">
              <a:latin typeface="宋体" pitchFamily="2" charset="-122"/>
            </a:endParaRPr>
          </a:p>
        </p:txBody>
      </p:sp>
      <p:sp>
        <p:nvSpPr>
          <p:cNvPr id="745482" name="Text Box 10"/>
          <p:cNvSpPr txBox="1">
            <a:spLocks noChangeArrowheads="1"/>
          </p:cNvSpPr>
          <p:nvPr/>
        </p:nvSpPr>
        <p:spPr bwMode="auto">
          <a:xfrm>
            <a:off x="3384550" y="4052888"/>
            <a:ext cx="233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u="sng">
                <a:latin typeface="宋体" pitchFamily="2" charset="-122"/>
              </a:rPr>
              <a:t>+)     4.96</a:t>
            </a:r>
          </a:p>
        </p:txBody>
      </p:sp>
      <p:sp>
        <p:nvSpPr>
          <p:cNvPr id="745483" name="Text Box 11"/>
          <p:cNvSpPr txBox="1">
            <a:spLocks noChangeArrowheads="1"/>
          </p:cNvSpPr>
          <p:nvPr/>
        </p:nvSpPr>
        <p:spPr bwMode="auto">
          <a:xfrm>
            <a:off x="4375150" y="4419600"/>
            <a:ext cx="1365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latin typeface="宋体" pitchFamily="2" charset="-122"/>
              </a:rPr>
              <a:t>545.61</a:t>
            </a:r>
            <a:endParaRPr lang="zh-CN" altLang="en-US" sz="2400" b="0" i="0">
              <a:latin typeface="宋体" pitchFamily="2" charset="-122"/>
            </a:endParaRPr>
          </a:p>
        </p:txBody>
      </p:sp>
      <p:sp>
        <p:nvSpPr>
          <p:cNvPr id="745484" name="Text Box 12"/>
          <p:cNvSpPr txBox="1">
            <a:spLocks noChangeArrowheads="1"/>
          </p:cNvSpPr>
          <p:nvPr/>
        </p:nvSpPr>
        <p:spPr bwMode="auto">
          <a:xfrm>
            <a:off x="2063750" y="4906963"/>
            <a:ext cx="5067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3200" i="0">
                <a:latin typeface="宋体" pitchFamily="2" charset="-122"/>
              </a:rPr>
              <a:t>和545.61的绝对误差限为</a:t>
            </a:r>
            <a:endParaRPr lang="zh-CN" altLang="en-US" sz="2400" b="0" i="0">
              <a:latin typeface="宋体" pitchFamily="2" charset="-122"/>
            </a:endParaRPr>
          </a:p>
        </p:txBody>
      </p:sp>
      <p:sp>
        <p:nvSpPr>
          <p:cNvPr id="745485" name="Text Box 13"/>
          <p:cNvSpPr txBox="1">
            <a:spLocks noChangeArrowheads="1"/>
          </p:cNvSpPr>
          <p:nvPr/>
        </p:nvSpPr>
        <p:spPr bwMode="auto">
          <a:xfrm>
            <a:off x="2343150" y="5410200"/>
            <a:ext cx="566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3200" i="0">
                <a:latin typeface="宋体" pitchFamily="2" charset="-122"/>
              </a:rPr>
              <a:t>4*(0.5*10</a:t>
            </a:r>
            <a:r>
              <a:rPr lang="zh-CN" altLang="en-US" sz="3200" i="0" baseline="30000">
                <a:latin typeface="宋体" pitchFamily="2" charset="-122"/>
              </a:rPr>
              <a:t>-2</a:t>
            </a:r>
            <a:r>
              <a:rPr lang="zh-CN" altLang="en-US" sz="3200" i="0">
                <a:latin typeface="宋体" pitchFamily="2" charset="-122"/>
              </a:rPr>
              <a:t>)=0.02&lt;0.5*10</a:t>
            </a:r>
            <a:r>
              <a:rPr lang="zh-CN" altLang="en-US" sz="3200" i="0" baseline="30000">
                <a:latin typeface="宋体" pitchFamily="2" charset="-122"/>
              </a:rPr>
              <a:t>-1</a:t>
            </a:r>
            <a:endParaRPr lang="zh-CN" altLang="en-US" sz="2400" b="0" i="0">
              <a:latin typeface="宋体" pitchFamily="2" charset="-122"/>
            </a:endParaRPr>
          </a:p>
        </p:txBody>
      </p:sp>
      <p:sp>
        <p:nvSpPr>
          <p:cNvPr id="745486" name="Text Box 14"/>
          <p:cNvSpPr txBox="1">
            <a:spLocks noChangeArrowheads="1"/>
          </p:cNvSpPr>
          <p:nvPr/>
        </p:nvSpPr>
        <p:spPr bwMode="auto">
          <a:xfrm>
            <a:off x="2025650" y="5943600"/>
            <a:ext cx="57340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3200" i="0">
                <a:latin typeface="宋体" pitchFamily="2" charset="-122"/>
              </a:rPr>
              <a:t>因此和545.61应舍入为545.6</a:t>
            </a:r>
            <a:endParaRPr lang="zh-CN" altLang="en-US" sz="2400" b="0" i="0">
              <a:latin typeface="宋体" pitchFamily="2" charset="-122"/>
            </a:endParaRPr>
          </a:p>
        </p:txBody>
      </p:sp>
      <p:sp>
        <p:nvSpPr>
          <p:cNvPr id="745487" name="Rectangle 15"/>
          <p:cNvSpPr>
            <a:spLocks noGrp="1" noChangeArrowheads="1"/>
          </p:cNvSpPr>
          <p:nvPr>
            <p:ph type="title"/>
          </p:nvPr>
        </p:nvSpPr>
        <p:spPr>
          <a:effectLst>
            <a:outerShdw dist="53882" dir="2700000" algn="ctr" rotWithShape="0">
              <a:schemeClr val="bg2"/>
            </a:outerShdw>
          </a:effectLst>
        </p:spPr>
        <p:txBody>
          <a:bodyPr lIns="92075" tIns="46038" rIns="92075" bIns="46038" anchor="ctr"/>
          <a:lstStyle/>
          <a:p>
            <a:pPr>
              <a:defRPr/>
            </a:pPr>
            <a:r>
              <a:rPr lang="zh-CN" altLang="en-US" smtClean="0"/>
              <a:t>3.1   加减运算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grpId="0" nodeType="afterEffect">
                                  <p:stCondLst>
                                    <p:cond delay="0"/>
                                  </p:stCondLst>
                                  <p:iterate type="lt">
                                    <p:tmPct val="100000"/>
                                  </p:iterate>
                                  <p:childTnLst>
                                    <p:set>
                                      <p:cBhvr>
                                        <p:cTn id="6" dur="1" fill="hold">
                                          <p:stCondLst>
                                            <p:cond delay="0"/>
                                          </p:stCondLst>
                                        </p:cTn>
                                        <p:tgtEl>
                                          <p:spTgt spid="745477">
                                            <p:txEl>
                                              <p:pRg st="0" end="0"/>
                                            </p:txEl>
                                          </p:spTgt>
                                        </p:tgtEl>
                                        <p:attrNameLst>
                                          <p:attrName>style.visibility</p:attrName>
                                        </p:attrNameLst>
                                      </p:cBhvr>
                                      <p:to>
                                        <p:strVal val="visible"/>
                                      </p:to>
                                    </p:set>
                                    <p:anim calcmode="lin" valueType="num">
                                      <p:cBhvr>
                                        <p:cTn id="7" dur="75" fill="hold"/>
                                        <p:tgtEl>
                                          <p:spTgt spid="745477">
                                            <p:txEl>
                                              <p:pRg st="0" end="0"/>
                                            </p:txEl>
                                          </p:spTgt>
                                        </p:tgtEl>
                                        <p:attrNameLst>
                                          <p:attrName>ppt_x</p:attrName>
                                        </p:attrNameLst>
                                      </p:cBhvr>
                                      <p:tavLst>
                                        <p:tav tm="0">
                                          <p:val>
                                            <p:strVal val="#ppt_x-#ppt_w/2"/>
                                          </p:val>
                                        </p:tav>
                                        <p:tav tm="100000">
                                          <p:val>
                                            <p:strVal val="#ppt_x"/>
                                          </p:val>
                                        </p:tav>
                                      </p:tavLst>
                                    </p:anim>
                                    <p:anim calcmode="lin" valueType="num">
                                      <p:cBhvr>
                                        <p:cTn id="8" dur="75" fill="hold"/>
                                        <p:tgtEl>
                                          <p:spTgt spid="745477">
                                            <p:txEl>
                                              <p:pRg st="0" end="0"/>
                                            </p:txEl>
                                          </p:spTgt>
                                        </p:tgtEl>
                                        <p:attrNameLst>
                                          <p:attrName>ppt_y</p:attrName>
                                        </p:attrNameLst>
                                      </p:cBhvr>
                                      <p:tavLst>
                                        <p:tav tm="0">
                                          <p:val>
                                            <p:strVal val="#ppt_y"/>
                                          </p:val>
                                        </p:tav>
                                        <p:tav tm="100000">
                                          <p:val>
                                            <p:strVal val="#ppt_y"/>
                                          </p:val>
                                        </p:tav>
                                      </p:tavLst>
                                    </p:anim>
                                    <p:anim calcmode="lin" valueType="num">
                                      <p:cBhvr>
                                        <p:cTn id="9" dur="75" fill="hold"/>
                                        <p:tgtEl>
                                          <p:spTgt spid="745477">
                                            <p:txEl>
                                              <p:pRg st="0" end="0"/>
                                            </p:txEl>
                                          </p:spTgt>
                                        </p:tgtEl>
                                        <p:attrNameLst>
                                          <p:attrName>ppt_w</p:attrName>
                                        </p:attrNameLst>
                                      </p:cBhvr>
                                      <p:tavLst>
                                        <p:tav tm="0">
                                          <p:val>
                                            <p:fltVal val="0"/>
                                          </p:val>
                                        </p:tav>
                                        <p:tav tm="100000">
                                          <p:val>
                                            <p:strVal val="#ppt_w"/>
                                          </p:val>
                                        </p:tav>
                                      </p:tavLst>
                                    </p:anim>
                                    <p:anim calcmode="lin" valueType="num">
                                      <p:cBhvr>
                                        <p:cTn id="10" dur="75" fill="hold"/>
                                        <p:tgtEl>
                                          <p:spTgt spid="74547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745478"/>
                                        </p:tgtEl>
                                        <p:attrNameLst>
                                          <p:attrName>style.visibility</p:attrName>
                                        </p:attrNameLst>
                                      </p:cBhvr>
                                      <p:to>
                                        <p:strVal val="visible"/>
                                      </p:to>
                                    </p:set>
                                    <p:anim calcmode="lin" valueType="num">
                                      <p:cBhvr additive="base">
                                        <p:cTn id="15" dur="500" fill="hold"/>
                                        <p:tgtEl>
                                          <p:spTgt spid="745478"/>
                                        </p:tgtEl>
                                        <p:attrNameLst>
                                          <p:attrName>ppt_x</p:attrName>
                                        </p:attrNameLst>
                                      </p:cBhvr>
                                      <p:tavLst>
                                        <p:tav tm="0">
                                          <p:val>
                                            <p:strVal val="0-#ppt_w/2"/>
                                          </p:val>
                                        </p:tav>
                                        <p:tav tm="100000">
                                          <p:val>
                                            <p:strVal val="#ppt_x"/>
                                          </p:val>
                                        </p:tav>
                                      </p:tavLst>
                                    </p:anim>
                                    <p:anim calcmode="lin" valueType="num">
                                      <p:cBhvr additive="base">
                                        <p:cTn id="16" dur="500" fill="hold"/>
                                        <p:tgtEl>
                                          <p:spTgt spid="745478"/>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45479"/>
                                        </p:tgtEl>
                                        <p:attrNameLst>
                                          <p:attrName>style.visibility</p:attrName>
                                        </p:attrNameLst>
                                      </p:cBhvr>
                                      <p:to>
                                        <p:strVal val="visible"/>
                                      </p:to>
                                    </p:set>
                                    <p:animEffect transition="in" filter="dissolve">
                                      <p:cBhvr>
                                        <p:cTn id="20" dur="500"/>
                                        <p:tgtEl>
                                          <p:spTgt spid="745479"/>
                                        </p:tgtEl>
                                      </p:cBhvr>
                                    </p:animEffect>
                                  </p:childTnLst>
                                </p:cTn>
                              </p:par>
                            </p:childTnLst>
                          </p:cTn>
                        </p:par>
                        <p:par>
                          <p:cTn id="21" fill="hold" nodeType="afterGroup">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745480"/>
                                        </p:tgtEl>
                                        <p:attrNameLst>
                                          <p:attrName>style.visibility</p:attrName>
                                        </p:attrNameLst>
                                      </p:cBhvr>
                                      <p:to>
                                        <p:strVal val="visible"/>
                                      </p:to>
                                    </p:set>
                                    <p:animEffect transition="in" filter="dissolve">
                                      <p:cBhvr>
                                        <p:cTn id="24" dur="500"/>
                                        <p:tgtEl>
                                          <p:spTgt spid="745480"/>
                                        </p:tgtEl>
                                      </p:cBhvr>
                                    </p:animEffect>
                                  </p:childTnLst>
                                </p:cTn>
                              </p:par>
                            </p:childTnLst>
                          </p:cTn>
                        </p:par>
                        <p:par>
                          <p:cTn id="25" fill="hold" nodeType="afterGroup">
                            <p:stCondLst>
                              <p:cond delay="1500"/>
                            </p:stCondLst>
                            <p:childTnLst>
                              <p:par>
                                <p:cTn id="26" presetID="9" presetClass="entr" presetSubtype="0" fill="hold" grpId="0" nodeType="afterEffect">
                                  <p:stCondLst>
                                    <p:cond delay="0"/>
                                  </p:stCondLst>
                                  <p:childTnLst>
                                    <p:set>
                                      <p:cBhvr>
                                        <p:cTn id="27" dur="1" fill="hold">
                                          <p:stCondLst>
                                            <p:cond delay="0"/>
                                          </p:stCondLst>
                                        </p:cTn>
                                        <p:tgtEl>
                                          <p:spTgt spid="745481"/>
                                        </p:tgtEl>
                                        <p:attrNameLst>
                                          <p:attrName>style.visibility</p:attrName>
                                        </p:attrNameLst>
                                      </p:cBhvr>
                                      <p:to>
                                        <p:strVal val="visible"/>
                                      </p:to>
                                    </p:set>
                                    <p:animEffect transition="in" filter="dissolve">
                                      <p:cBhvr>
                                        <p:cTn id="28" dur="500"/>
                                        <p:tgtEl>
                                          <p:spTgt spid="745481"/>
                                        </p:tgtEl>
                                      </p:cBhvr>
                                    </p:animEffect>
                                  </p:childTnLst>
                                </p:cTn>
                              </p:par>
                            </p:childTnLst>
                          </p:cTn>
                        </p:par>
                        <p:par>
                          <p:cTn id="29" fill="hold" nodeType="afterGroup">
                            <p:stCondLst>
                              <p:cond delay="2000"/>
                            </p:stCondLst>
                            <p:childTnLst>
                              <p:par>
                                <p:cTn id="30" presetID="9" presetClass="entr" presetSubtype="0" fill="hold" grpId="0" nodeType="afterEffect">
                                  <p:stCondLst>
                                    <p:cond delay="0"/>
                                  </p:stCondLst>
                                  <p:childTnLst>
                                    <p:set>
                                      <p:cBhvr>
                                        <p:cTn id="31" dur="1" fill="hold">
                                          <p:stCondLst>
                                            <p:cond delay="0"/>
                                          </p:stCondLst>
                                        </p:cTn>
                                        <p:tgtEl>
                                          <p:spTgt spid="745482"/>
                                        </p:tgtEl>
                                        <p:attrNameLst>
                                          <p:attrName>style.visibility</p:attrName>
                                        </p:attrNameLst>
                                      </p:cBhvr>
                                      <p:to>
                                        <p:strVal val="visible"/>
                                      </p:to>
                                    </p:set>
                                    <p:animEffect transition="in" filter="dissolve">
                                      <p:cBhvr>
                                        <p:cTn id="32" dur="500"/>
                                        <p:tgtEl>
                                          <p:spTgt spid="745482"/>
                                        </p:tgtEl>
                                      </p:cBhvr>
                                    </p:animEffect>
                                  </p:childTnLst>
                                </p:cTn>
                              </p:par>
                            </p:childTnLst>
                          </p:cTn>
                        </p:par>
                        <p:par>
                          <p:cTn id="33" fill="hold" nodeType="afterGroup">
                            <p:stCondLst>
                              <p:cond delay="2500"/>
                            </p:stCondLst>
                            <p:childTnLst>
                              <p:par>
                                <p:cTn id="34" presetID="9" presetClass="entr" presetSubtype="0" fill="hold" grpId="0" nodeType="afterEffect">
                                  <p:stCondLst>
                                    <p:cond delay="0"/>
                                  </p:stCondLst>
                                  <p:childTnLst>
                                    <p:set>
                                      <p:cBhvr>
                                        <p:cTn id="35" dur="1" fill="hold">
                                          <p:stCondLst>
                                            <p:cond delay="0"/>
                                          </p:stCondLst>
                                        </p:cTn>
                                        <p:tgtEl>
                                          <p:spTgt spid="745483"/>
                                        </p:tgtEl>
                                        <p:attrNameLst>
                                          <p:attrName>style.visibility</p:attrName>
                                        </p:attrNameLst>
                                      </p:cBhvr>
                                      <p:to>
                                        <p:strVal val="visible"/>
                                      </p:to>
                                    </p:set>
                                    <p:animEffect transition="in" filter="dissolve">
                                      <p:cBhvr>
                                        <p:cTn id="36" dur="500"/>
                                        <p:tgtEl>
                                          <p:spTgt spid="74548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1" fill="hold" grpId="0" nodeType="clickEffect">
                                  <p:stCondLst>
                                    <p:cond delay="0"/>
                                  </p:stCondLst>
                                  <p:childTnLst>
                                    <p:set>
                                      <p:cBhvr>
                                        <p:cTn id="40" dur="1" fill="hold">
                                          <p:stCondLst>
                                            <p:cond delay="0"/>
                                          </p:stCondLst>
                                        </p:cTn>
                                        <p:tgtEl>
                                          <p:spTgt spid="745484"/>
                                        </p:tgtEl>
                                        <p:attrNameLst>
                                          <p:attrName>style.visibility</p:attrName>
                                        </p:attrNameLst>
                                      </p:cBhvr>
                                      <p:to>
                                        <p:strVal val="visible"/>
                                      </p:to>
                                    </p:set>
                                    <p:animEffect transition="in" filter="slide(fromTop)">
                                      <p:cBhvr>
                                        <p:cTn id="41" dur="500"/>
                                        <p:tgtEl>
                                          <p:spTgt spid="74548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745485"/>
                                        </p:tgtEl>
                                        <p:attrNameLst>
                                          <p:attrName>style.visibility</p:attrName>
                                        </p:attrNameLst>
                                      </p:cBhvr>
                                      <p:to>
                                        <p:strVal val="visible"/>
                                      </p:to>
                                    </p:set>
                                    <p:animEffect transition="in" filter="slide(fromBottom)">
                                      <p:cBhvr>
                                        <p:cTn id="46" dur="500"/>
                                        <p:tgtEl>
                                          <p:spTgt spid="74548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745486"/>
                                        </p:tgtEl>
                                        <p:attrNameLst>
                                          <p:attrName>style.visibility</p:attrName>
                                        </p:attrNameLst>
                                      </p:cBhvr>
                                      <p:to>
                                        <p:strVal val="visible"/>
                                      </p:to>
                                    </p:set>
                                    <p:animEffect transition="in" filter="wipe(up)">
                                      <p:cBhvr>
                                        <p:cTn id="51" dur="500"/>
                                        <p:tgtEl>
                                          <p:spTgt spid="745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7" grpId="0" build="p" autoUpdateAnimBg="0" advAuto="0"/>
      <p:bldP spid="745478" grpId="0" animBg="1" autoUpdateAnimBg="0"/>
      <p:bldP spid="745479" grpId="0" autoUpdateAnimBg="0"/>
      <p:bldP spid="745480" grpId="0" autoUpdateAnimBg="0"/>
      <p:bldP spid="745481" grpId="0" autoUpdateAnimBg="0"/>
      <p:bldP spid="745482" grpId="0" autoUpdateAnimBg="0"/>
      <p:bldP spid="745483" grpId="0" autoUpdateAnimBg="0"/>
      <p:bldP spid="745484" grpId="0" autoUpdateAnimBg="0"/>
      <p:bldP spid="745485" grpId="0" autoUpdateAnimBg="0"/>
      <p:bldP spid="74548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692DE95-4875-4160-9BA3-37A7DAD664D9}" type="slidenum">
              <a:rPr lang="zh-CN" altLang="en-US" i="0" smtClean="0"/>
              <a:pPr/>
              <a:t>19</a:t>
            </a:fld>
            <a:endParaRPr lang="en-US" altLang="zh-CN" i="0" smtClean="0"/>
          </a:p>
        </p:txBody>
      </p:sp>
      <p:sp>
        <p:nvSpPr>
          <p:cNvPr id="225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FB364CD-56BD-40E8-910F-631F0F0FA6D0}" type="datetime1">
              <a:rPr lang="zh-CN" altLang="en-US" sz="1800" i="0" smtClean="0"/>
              <a:pPr/>
              <a:t>2024/9/8</a:t>
            </a:fld>
            <a:endParaRPr lang="en-US" altLang="zh-CN" sz="1000" i="0" smtClean="0"/>
          </a:p>
        </p:txBody>
      </p:sp>
      <p:sp>
        <p:nvSpPr>
          <p:cNvPr id="746501" name="Rectangle 5"/>
          <p:cNvSpPr>
            <a:spLocks noGrp="1" noChangeArrowheads="1"/>
          </p:cNvSpPr>
          <p:nvPr>
            <p:ph type="body" idx="1"/>
          </p:nvPr>
        </p:nvSpPr>
        <p:spPr>
          <a:xfrm>
            <a:off x="330200" y="1371600"/>
            <a:ext cx="9328150" cy="384175"/>
          </a:xfrm>
        </p:spPr>
        <p:txBody>
          <a:bodyPr/>
          <a:lstStyle/>
          <a:p>
            <a:pPr>
              <a:buFont typeface="Wingdings" pitchFamily="2" charset="2"/>
              <a:buNone/>
            </a:pPr>
            <a:r>
              <a:rPr lang="zh-CN" altLang="en-US" sz="2400" smtClean="0">
                <a:latin typeface="宋体" pitchFamily="2" charset="-122"/>
              </a:rPr>
              <a:t>	</a:t>
            </a:r>
            <a:r>
              <a:rPr lang="zh-CN" altLang="en-US" smtClean="0">
                <a:latin typeface="宋体" pitchFamily="2" charset="-122"/>
              </a:rPr>
              <a:t>例1.2  求3.150950,15.426463,568.3758, 7684.388的和</a:t>
            </a:r>
          </a:p>
        </p:txBody>
      </p:sp>
      <p:sp>
        <p:nvSpPr>
          <p:cNvPr id="746502" name="Rectangle 6"/>
          <p:cNvSpPr>
            <a:spLocks noGrp="1" noChangeArrowheads="1"/>
          </p:cNvSpPr>
          <p:nvPr>
            <p:ph type="title"/>
          </p:nvPr>
        </p:nvSpPr>
        <p:spPr/>
        <p:txBody>
          <a:bodyPr/>
          <a:lstStyle/>
          <a:p>
            <a:pPr>
              <a:defRPr/>
            </a:pPr>
            <a:r>
              <a:rPr lang="zh-CN" altLang="en-US" smtClean="0"/>
              <a:t>3.1   加减运算</a:t>
            </a:r>
          </a:p>
        </p:txBody>
      </p:sp>
      <p:grpSp>
        <p:nvGrpSpPr>
          <p:cNvPr id="2" name="Group 7"/>
          <p:cNvGrpSpPr>
            <a:grpSpLocks/>
          </p:cNvGrpSpPr>
          <p:nvPr/>
        </p:nvGrpSpPr>
        <p:grpSpPr bwMode="auto">
          <a:xfrm>
            <a:off x="908050" y="1981200"/>
            <a:ext cx="8853488" cy="3608388"/>
            <a:chOff x="816" y="1680"/>
            <a:chExt cx="4397" cy="2256"/>
          </a:xfrm>
        </p:grpSpPr>
        <p:grpSp>
          <p:nvGrpSpPr>
            <p:cNvPr id="22549" name="Group 8"/>
            <p:cNvGrpSpPr>
              <a:grpSpLocks/>
            </p:cNvGrpSpPr>
            <p:nvPr/>
          </p:nvGrpSpPr>
          <p:grpSpPr bwMode="auto">
            <a:xfrm>
              <a:off x="816" y="1680"/>
              <a:ext cx="3378" cy="2256"/>
              <a:chOff x="2080" y="960"/>
              <a:chExt cx="1945" cy="2663"/>
            </a:xfrm>
          </p:grpSpPr>
          <p:sp>
            <p:nvSpPr>
              <p:cNvPr id="22555" name="Freeform 9"/>
              <p:cNvSpPr>
                <a:spLocks/>
              </p:cNvSpPr>
              <p:nvPr/>
            </p:nvSpPr>
            <p:spPr bwMode="auto">
              <a:xfrm>
                <a:off x="2080" y="1003"/>
                <a:ext cx="1903" cy="2620"/>
              </a:xfrm>
              <a:custGeom>
                <a:avLst/>
                <a:gdLst>
                  <a:gd name="T0" fmla="*/ 0 w 1903"/>
                  <a:gd name="T1" fmla="*/ 0 h 2620"/>
                  <a:gd name="T2" fmla="*/ 950 w 1903"/>
                  <a:gd name="T3" fmla="*/ 0 h 2620"/>
                  <a:gd name="T4" fmla="*/ 1902 w 1903"/>
                  <a:gd name="T5" fmla="*/ 0 h 2620"/>
                  <a:gd name="T6" fmla="*/ 1902 w 1903"/>
                  <a:gd name="T7" fmla="*/ 653 h 2620"/>
                  <a:gd name="T8" fmla="*/ 1902 w 1903"/>
                  <a:gd name="T9" fmla="*/ 1309 h 2620"/>
                  <a:gd name="T10" fmla="*/ 1902 w 1903"/>
                  <a:gd name="T11" fmla="*/ 1962 h 2620"/>
                  <a:gd name="T12" fmla="*/ 1902 w 1903"/>
                  <a:gd name="T13" fmla="*/ 2619 h 2620"/>
                  <a:gd name="T14" fmla="*/ 950 w 1903"/>
                  <a:gd name="T15" fmla="*/ 2619 h 2620"/>
                  <a:gd name="T16" fmla="*/ 0 w 1903"/>
                  <a:gd name="T17" fmla="*/ 2619 h 2620"/>
                  <a:gd name="T18" fmla="*/ 0 w 1903"/>
                  <a:gd name="T19" fmla="*/ 1962 h 2620"/>
                  <a:gd name="T20" fmla="*/ 0 w 1903"/>
                  <a:gd name="T21" fmla="*/ 1309 h 2620"/>
                  <a:gd name="T22" fmla="*/ 0 w 1903"/>
                  <a:gd name="T23" fmla="*/ 653 h 2620"/>
                  <a:gd name="T24" fmla="*/ 0 w 1903"/>
                  <a:gd name="T25" fmla="*/ 0 h 26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3"/>
                  <a:gd name="T40" fmla="*/ 0 h 2620"/>
                  <a:gd name="T41" fmla="*/ 1903 w 1903"/>
                  <a:gd name="T42" fmla="*/ 2620 h 26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3" h="2620">
                    <a:moveTo>
                      <a:pt x="0" y="0"/>
                    </a:moveTo>
                    <a:lnTo>
                      <a:pt x="950" y="0"/>
                    </a:lnTo>
                    <a:lnTo>
                      <a:pt x="1902" y="0"/>
                    </a:lnTo>
                    <a:lnTo>
                      <a:pt x="1902" y="653"/>
                    </a:lnTo>
                    <a:lnTo>
                      <a:pt x="1902" y="1309"/>
                    </a:lnTo>
                    <a:lnTo>
                      <a:pt x="1902" y="1962"/>
                    </a:lnTo>
                    <a:lnTo>
                      <a:pt x="1902" y="2619"/>
                    </a:lnTo>
                    <a:lnTo>
                      <a:pt x="950" y="2619"/>
                    </a:lnTo>
                    <a:lnTo>
                      <a:pt x="0" y="2619"/>
                    </a:lnTo>
                    <a:lnTo>
                      <a:pt x="0" y="1962"/>
                    </a:lnTo>
                    <a:lnTo>
                      <a:pt x="0" y="1309"/>
                    </a:lnTo>
                    <a:lnTo>
                      <a:pt x="0" y="653"/>
                    </a:lnTo>
                    <a:lnTo>
                      <a:pt x="0" y="0"/>
                    </a:lnTo>
                  </a:path>
                </a:pathLst>
              </a:custGeom>
              <a:solidFill>
                <a:srgbClr val="008080"/>
              </a:solidFill>
              <a:ln>
                <a:noFill/>
              </a:ln>
              <a:effectLst>
                <a:prstShdw prst="shdw17" dist="17961" dir="2700000">
                  <a:srgbClr val="004D4D"/>
                </a:prstShdw>
              </a:effectLst>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sp>
            <p:nvSpPr>
              <p:cNvPr id="22556" name="Freeform 10"/>
              <p:cNvSpPr>
                <a:spLocks/>
              </p:cNvSpPr>
              <p:nvPr/>
            </p:nvSpPr>
            <p:spPr bwMode="auto">
              <a:xfrm>
                <a:off x="2080" y="960"/>
                <a:ext cx="1945" cy="44"/>
              </a:xfrm>
              <a:custGeom>
                <a:avLst/>
                <a:gdLst>
                  <a:gd name="T0" fmla="*/ 41 w 1945"/>
                  <a:gd name="T1" fmla="*/ 0 h 44"/>
                  <a:gd name="T2" fmla="*/ 993 w 1945"/>
                  <a:gd name="T3" fmla="*/ 0 h 44"/>
                  <a:gd name="T4" fmla="*/ 1944 w 1945"/>
                  <a:gd name="T5" fmla="*/ 0 h 44"/>
                  <a:gd name="T6" fmla="*/ 1902 w 1945"/>
                  <a:gd name="T7" fmla="*/ 43 h 44"/>
                  <a:gd name="T8" fmla="*/ 950 w 1945"/>
                  <a:gd name="T9" fmla="*/ 43 h 44"/>
                  <a:gd name="T10" fmla="*/ 0 w 1945"/>
                  <a:gd name="T11" fmla="*/ 43 h 44"/>
                  <a:gd name="T12" fmla="*/ 41 w 1945"/>
                  <a:gd name="T13" fmla="*/ 0 h 44"/>
                  <a:gd name="T14" fmla="*/ 0 60000 65536"/>
                  <a:gd name="T15" fmla="*/ 0 60000 65536"/>
                  <a:gd name="T16" fmla="*/ 0 60000 65536"/>
                  <a:gd name="T17" fmla="*/ 0 60000 65536"/>
                  <a:gd name="T18" fmla="*/ 0 60000 65536"/>
                  <a:gd name="T19" fmla="*/ 0 60000 65536"/>
                  <a:gd name="T20" fmla="*/ 0 60000 65536"/>
                  <a:gd name="T21" fmla="*/ 0 w 1945"/>
                  <a:gd name="T22" fmla="*/ 0 h 44"/>
                  <a:gd name="T23" fmla="*/ 1945 w 1945"/>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5" h="44">
                    <a:moveTo>
                      <a:pt x="41" y="0"/>
                    </a:moveTo>
                    <a:lnTo>
                      <a:pt x="993" y="0"/>
                    </a:lnTo>
                    <a:lnTo>
                      <a:pt x="1944" y="0"/>
                    </a:lnTo>
                    <a:lnTo>
                      <a:pt x="1902" y="43"/>
                    </a:lnTo>
                    <a:lnTo>
                      <a:pt x="950" y="43"/>
                    </a:lnTo>
                    <a:lnTo>
                      <a:pt x="0" y="43"/>
                    </a:lnTo>
                    <a:lnTo>
                      <a:pt x="41" y="0"/>
                    </a:lnTo>
                  </a:path>
                </a:pathLst>
              </a:custGeom>
              <a:solidFill>
                <a:srgbClr val="008080"/>
              </a:solidFill>
              <a:ln>
                <a:noFill/>
              </a:ln>
              <a:effectLst>
                <a:prstShdw prst="shdw17" dist="17961" dir="2700000">
                  <a:srgbClr val="004D4D"/>
                </a:prstShdw>
              </a:effectLst>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sp>
            <p:nvSpPr>
              <p:cNvPr id="22557" name="Freeform 11"/>
              <p:cNvSpPr>
                <a:spLocks/>
              </p:cNvSpPr>
              <p:nvPr/>
            </p:nvSpPr>
            <p:spPr bwMode="auto">
              <a:xfrm>
                <a:off x="3982" y="960"/>
                <a:ext cx="43" cy="2663"/>
              </a:xfrm>
              <a:custGeom>
                <a:avLst/>
                <a:gdLst>
                  <a:gd name="T0" fmla="*/ 0 w 43"/>
                  <a:gd name="T1" fmla="*/ 42 h 2663"/>
                  <a:gd name="T2" fmla="*/ 42 w 43"/>
                  <a:gd name="T3" fmla="*/ 0 h 2663"/>
                  <a:gd name="T4" fmla="*/ 42 w 43"/>
                  <a:gd name="T5" fmla="*/ 653 h 2663"/>
                  <a:gd name="T6" fmla="*/ 42 w 43"/>
                  <a:gd name="T7" fmla="*/ 1309 h 2663"/>
                  <a:gd name="T8" fmla="*/ 42 w 43"/>
                  <a:gd name="T9" fmla="*/ 1965 h 2663"/>
                  <a:gd name="T10" fmla="*/ 42 w 43"/>
                  <a:gd name="T11" fmla="*/ 2620 h 2663"/>
                  <a:gd name="T12" fmla="*/ 0 w 43"/>
                  <a:gd name="T13" fmla="*/ 2662 h 2663"/>
                  <a:gd name="T14" fmla="*/ 0 w 43"/>
                  <a:gd name="T15" fmla="*/ 2005 h 2663"/>
                  <a:gd name="T16" fmla="*/ 0 w 43"/>
                  <a:gd name="T17" fmla="*/ 1352 h 2663"/>
                  <a:gd name="T18" fmla="*/ 0 w 43"/>
                  <a:gd name="T19" fmla="*/ 696 h 2663"/>
                  <a:gd name="T20" fmla="*/ 0 w 43"/>
                  <a:gd name="T21" fmla="*/ 42 h 26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
                  <a:gd name="T34" fmla="*/ 0 h 2663"/>
                  <a:gd name="T35" fmla="*/ 43 w 43"/>
                  <a:gd name="T36" fmla="*/ 2663 h 26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 h="2663">
                    <a:moveTo>
                      <a:pt x="0" y="42"/>
                    </a:moveTo>
                    <a:lnTo>
                      <a:pt x="42" y="0"/>
                    </a:lnTo>
                    <a:lnTo>
                      <a:pt x="42" y="653"/>
                    </a:lnTo>
                    <a:lnTo>
                      <a:pt x="42" y="1309"/>
                    </a:lnTo>
                    <a:lnTo>
                      <a:pt x="42" y="1965"/>
                    </a:lnTo>
                    <a:lnTo>
                      <a:pt x="42" y="2620"/>
                    </a:lnTo>
                    <a:lnTo>
                      <a:pt x="0" y="2662"/>
                    </a:lnTo>
                    <a:lnTo>
                      <a:pt x="0" y="2005"/>
                    </a:lnTo>
                    <a:lnTo>
                      <a:pt x="0" y="1352"/>
                    </a:lnTo>
                    <a:lnTo>
                      <a:pt x="0" y="696"/>
                    </a:lnTo>
                    <a:lnTo>
                      <a:pt x="0" y="42"/>
                    </a:lnTo>
                  </a:path>
                </a:pathLst>
              </a:custGeom>
              <a:solidFill>
                <a:srgbClr val="008080"/>
              </a:solidFill>
              <a:ln>
                <a:noFill/>
              </a:ln>
              <a:effectLst>
                <a:prstShdw prst="shdw17" dist="17961" dir="2700000">
                  <a:srgbClr val="004D4D"/>
                </a:prstShdw>
              </a:effectLst>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grpSp>
        <p:grpSp>
          <p:nvGrpSpPr>
            <p:cNvPr id="22550" name="Group 12"/>
            <p:cNvGrpSpPr>
              <a:grpSpLocks/>
            </p:cNvGrpSpPr>
            <p:nvPr/>
          </p:nvGrpSpPr>
          <p:grpSpPr bwMode="auto">
            <a:xfrm>
              <a:off x="882" y="2016"/>
              <a:ext cx="4331" cy="1920"/>
              <a:chOff x="925" y="1451"/>
              <a:chExt cx="4331" cy="2041"/>
            </a:xfrm>
          </p:grpSpPr>
          <p:sp>
            <p:nvSpPr>
              <p:cNvPr id="22552" name="Rectangle 13"/>
              <p:cNvSpPr>
                <a:spLocks noChangeArrowheads="1"/>
              </p:cNvSpPr>
              <p:nvPr/>
            </p:nvSpPr>
            <p:spPr bwMode="auto">
              <a:xfrm>
                <a:off x="926" y="1526"/>
                <a:ext cx="4222" cy="1961"/>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1"/>
              <a:lstStyle/>
              <a:p>
                <a:endParaRPr lang="zh-CN" altLang="zh-CN" sz="3000" b="0" i="0">
                  <a:solidFill>
                    <a:schemeClr val="bg1"/>
                  </a:solidFill>
                </a:endParaRPr>
              </a:p>
            </p:txBody>
          </p:sp>
          <p:sp>
            <p:nvSpPr>
              <p:cNvPr id="22553" name="Freeform 14"/>
              <p:cNvSpPr>
                <a:spLocks/>
              </p:cNvSpPr>
              <p:nvPr/>
            </p:nvSpPr>
            <p:spPr bwMode="auto">
              <a:xfrm>
                <a:off x="925" y="1458"/>
                <a:ext cx="4331" cy="69"/>
              </a:xfrm>
              <a:custGeom>
                <a:avLst/>
                <a:gdLst>
                  <a:gd name="T0" fmla="*/ 59 w 4331"/>
                  <a:gd name="T1" fmla="*/ 45 h 69"/>
                  <a:gd name="T2" fmla="*/ 3252 w 4331"/>
                  <a:gd name="T3" fmla="*/ 45 h 69"/>
                  <a:gd name="T4" fmla="*/ 3265 w 4331"/>
                  <a:gd name="T5" fmla="*/ 37 h 69"/>
                  <a:gd name="T6" fmla="*/ 3315 w 4331"/>
                  <a:gd name="T7" fmla="*/ 0 h 69"/>
                  <a:gd name="T8" fmla="*/ 4331 w 4331"/>
                  <a:gd name="T9" fmla="*/ 2 h 69"/>
                  <a:gd name="T10" fmla="*/ 4229 w 4331"/>
                  <a:gd name="T11" fmla="*/ 67 h 69"/>
                  <a:gd name="T12" fmla="*/ 3690 w 4331"/>
                  <a:gd name="T13" fmla="*/ 69 h 69"/>
                  <a:gd name="T14" fmla="*/ 2805 w 4331"/>
                  <a:gd name="T15" fmla="*/ 69 h 69"/>
                  <a:gd name="T16" fmla="*/ 1919 w 4331"/>
                  <a:gd name="T17" fmla="*/ 69 h 69"/>
                  <a:gd name="T18" fmla="*/ 0 w 4331"/>
                  <a:gd name="T19" fmla="*/ 53 h 69"/>
                  <a:gd name="T20" fmla="*/ 66 w 4331"/>
                  <a:gd name="T21" fmla="*/ 38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31"/>
                  <a:gd name="T34" fmla="*/ 0 h 69"/>
                  <a:gd name="T35" fmla="*/ 4331 w 4331"/>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31" h="69">
                    <a:moveTo>
                      <a:pt x="59" y="45"/>
                    </a:moveTo>
                    <a:lnTo>
                      <a:pt x="3252" y="45"/>
                    </a:lnTo>
                    <a:lnTo>
                      <a:pt x="3265" y="37"/>
                    </a:lnTo>
                    <a:lnTo>
                      <a:pt x="3315" y="0"/>
                    </a:lnTo>
                    <a:lnTo>
                      <a:pt x="4331" y="2"/>
                    </a:lnTo>
                    <a:lnTo>
                      <a:pt x="4229" y="67"/>
                    </a:lnTo>
                    <a:lnTo>
                      <a:pt x="3690" y="69"/>
                    </a:lnTo>
                    <a:lnTo>
                      <a:pt x="2805" y="69"/>
                    </a:lnTo>
                    <a:lnTo>
                      <a:pt x="1919" y="69"/>
                    </a:lnTo>
                    <a:lnTo>
                      <a:pt x="0" y="53"/>
                    </a:lnTo>
                    <a:lnTo>
                      <a:pt x="66" y="38"/>
                    </a:lnTo>
                  </a:path>
                </a:pathLst>
              </a:custGeom>
              <a:solidFill>
                <a:srgbClr val="00CCFF"/>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sp>
            <p:nvSpPr>
              <p:cNvPr id="22554" name="Freeform 15"/>
              <p:cNvSpPr>
                <a:spLocks/>
              </p:cNvSpPr>
              <p:nvPr/>
            </p:nvSpPr>
            <p:spPr bwMode="auto">
              <a:xfrm>
                <a:off x="5148" y="1451"/>
                <a:ext cx="102" cy="2041"/>
              </a:xfrm>
              <a:custGeom>
                <a:avLst/>
                <a:gdLst>
                  <a:gd name="T0" fmla="*/ 0 w 102"/>
                  <a:gd name="T1" fmla="*/ 73 h 2041"/>
                  <a:gd name="T2" fmla="*/ 102 w 102"/>
                  <a:gd name="T3" fmla="*/ 0 h 2041"/>
                  <a:gd name="T4" fmla="*/ 95 w 102"/>
                  <a:gd name="T5" fmla="*/ 1830 h 2041"/>
                  <a:gd name="T6" fmla="*/ 7 w 102"/>
                  <a:gd name="T7" fmla="*/ 2041 h 2041"/>
                  <a:gd name="T8" fmla="*/ 7 w 102"/>
                  <a:gd name="T9" fmla="*/ 328 h 2041"/>
                  <a:gd name="T10" fmla="*/ 0 60000 65536"/>
                  <a:gd name="T11" fmla="*/ 0 60000 65536"/>
                  <a:gd name="T12" fmla="*/ 0 60000 65536"/>
                  <a:gd name="T13" fmla="*/ 0 60000 65536"/>
                  <a:gd name="T14" fmla="*/ 0 60000 65536"/>
                  <a:gd name="T15" fmla="*/ 0 w 102"/>
                  <a:gd name="T16" fmla="*/ 0 h 2041"/>
                  <a:gd name="T17" fmla="*/ 102 w 102"/>
                  <a:gd name="T18" fmla="*/ 2041 h 2041"/>
                </a:gdLst>
                <a:ahLst/>
                <a:cxnLst>
                  <a:cxn ang="T10">
                    <a:pos x="T0" y="T1"/>
                  </a:cxn>
                  <a:cxn ang="T11">
                    <a:pos x="T2" y="T3"/>
                  </a:cxn>
                  <a:cxn ang="T12">
                    <a:pos x="T4" y="T5"/>
                  </a:cxn>
                  <a:cxn ang="T13">
                    <a:pos x="T6" y="T7"/>
                  </a:cxn>
                  <a:cxn ang="T14">
                    <a:pos x="T8" y="T9"/>
                  </a:cxn>
                </a:cxnLst>
                <a:rect l="T15" t="T16" r="T17" b="T18"/>
                <a:pathLst>
                  <a:path w="102" h="2041">
                    <a:moveTo>
                      <a:pt x="0" y="73"/>
                    </a:moveTo>
                    <a:lnTo>
                      <a:pt x="102" y="0"/>
                    </a:lnTo>
                    <a:lnTo>
                      <a:pt x="95" y="1830"/>
                    </a:lnTo>
                    <a:lnTo>
                      <a:pt x="7" y="2041"/>
                    </a:lnTo>
                    <a:lnTo>
                      <a:pt x="7" y="328"/>
                    </a:lnTo>
                  </a:path>
                </a:pathLst>
              </a:custGeom>
              <a:solidFill>
                <a:schemeClr val="tx1"/>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grpSp>
        <p:sp>
          <p:nvSpPr>
            <p:cNvPr id="22551" name="Text Box 16"/>
            <p:cNvSpPr txBox="1">
              <a:spLocks noChangeArrowheads="1"/>
            </p:cNvSpPr>
            <p:nvPr/>
          </p:nvSpPr>
          <p:spPr bwMode="auto">
            <a:xfrm>
              <a:off x="882" y="1728"/>
              <a:ext cx="3192" cy="401"/>
            </a:xfrm>
            <a:prstGeom prst="rect">
              <a:avLst/>
            </a:prstGeom>
            <a:solidFill>
              <a:srgbClr val="008080"/>
            </a:solidFill>
            <a:ln>
              <a:noFill/>
            </a:ln>
            <a:effectLst>
              <a:prstShdw prst="shdw17" dist="17961" dir="2700000">
                <a:srgbClr val="004D4D"/>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3600" i="0">
                  <a:solidFill>
                    <a:schemeClr val="bg1"/>
                  </a:solidFill>
                  <a:latin typeface="Arial Narrow" pitchFamily="34" charset="0"/>
                </a:rPr>
                <a:t>例题1.2  求和</a:t>
              </a:r>
            </a:p>
          </p:txBody>
        </p:sp>
      </p:grpSp>
      <p:grpSp>
        <p:nvGrpSpPr>
          <p:cNvPr id="5" name="Group 17"/>
          <p:cNvGrpSpPr>
            <a:grpSpLocks/>
          </p:cNvGrpSpPr>
          <p:nvPr/>
        </p:nvGrpSpPr>
        <p:grpSpPr bwMode="auto">
          <a:xfrm>
            <a:off x="990600" y="2819400"/>
            <a:ext cx="2724150" cy="2514600"/>
            <a:chOff x="912" y="2256"/>
            <a:chExt cx="1338" cy="1344"/>
          </a:xfrm>
        </p:grpSpPr>
        <p:sp>
          <p:nvSpPr>
            <p:cNvPr id="22547" name="Rectangle 18"/>
            <p:cNvSpPr>
              <a:spLocks noChangeArrowheads="1"/>
            </p:cNvSpPr>
            <p:nvPr/>
          </p:nvSpPr>
          <p:spPr bwMode="auto">
            <a:xfrm>
              <a:off x="912" y="2256"/>
              <a:ext cx="1338" cy="1344"/>
            </a:xfrm>
            <a:prstGeom prst="rect">
              <a:avLst/>
            </a:prstGeom>
            <a:solidFill>
              <a:srgbClr val="000080"/>
            </a:solidFill>
            <a:ln>
              <a:noFill/>
            </a:ln>
            <a:effectLst>
              <a:outerShdw dist="35921" dir="2700000" algn="ctr" rotWithShape="0">
                <a:schemeClr val="tx1"/>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40000"/>
                </a:lnSpc>
                <a:spcBef>
                  <a:spcPct val="50000"/>
                </a:spcBef>
              </a:pPr>
              <a:r>
                <a:rPr lang="zh-CN" altLang="en-US" b="0" i="0">
                  <a:latin typeface="Arial Black" pitchFamily="34" charset="0"/>
                </a:rPr>
                <a:t>        </a:t>
              </a:r>
              <a:r>
                <a:rPr lang="zh-CN" altLang="en-US" sz="2800" i="0">
                  <a:solidFill>
                    <a:schemeClr val="bg1"/>
                  </a:solidFill>
                  <a:latin typeface="Times New Roman" pitchFamily="18" charset="0"/>
                </a:rPr>
                <a:t>3.150950</a:t>
              </a:r>
            </a:p>
            <a:p>
              <a:pPr algn="l">
                <a:lnSpc>
                  <a:spcPct val="40000"/>
                </a:lnSpc>
                <a:spcBef>
                  <a:spcPct val="50000"/>
                </a:spcBef>
              </a:pPr>
              <a:r>
                <a:rPr lang="zh-CN" altLang="en-US" sz="2800" i="0">
                  <a:solidFill>
                    <a:schemeClr val="bg1"/>
                  </a:solidFill>
                  <a:latin typeface="Times New Roman" pitchFamily="18" charset="0"/>
                </a:rPr>
                <a:t>      15.426463</a:t>
              </a:r>
            </a:p>
            <a:p>
              <a:pPr algn="l">
                <a:lnSpc>
                  <a:spcPct val="40000"/>
                </a:lnSpc>
                <a:spcBef>
                  <a:spcPct val="50000"/>
                </a:spcBef>
              </a:pPr>
              <a:r>
                <a:rPr lang="zh-CN" altLang="en-US" sz="2800" i="0">
                  <a:solidFill>
                    <a:schemeClr val="bg1"/>
                  </a:solidFill>
                  <a:latin typeface="Times New Roman" pitchFamily="18" charset="0"/>
                </a:rPr>
                <a:t>    568.3758</a:t>
              </a:r>
            </a:p>
            <a:p>
              <a:pPr algn="l">
                <a:lnSpc>
                  <a:spcPct val="40000"/>
                </a:lnSpc>
                <a:spcBef>
                  <a:spcPct val="50000"/>
                </a:spcBef>
              </a:pPr>
              <a:r>
                <a:rPr lang="zh-CN" altLang="en-US" sz="2800" i="0">
                  <a:solidFill>
                    <a:schemeClr val="bg1"/>
                  </a:solidFill>
                  <a:latin typeface="Times New Roman" pitchFamily="18" charset="0"/>
                </a:rPr>
                <a:t>+7684.388</a:t>
              </a:r>
            </a:p>
            <a:p>
              <a:pPr algn="l">
                <a:lnSpc>
                  <a:spcPct val="40000"/>
                </a:lnSpc>
                <a:spcBef>
                  <a:spcPct val="50000"/>
                </a:spcBef>
              </a:pPr>
              <a:r>
                <a:rPr lang="zh-CN" altLang="en-US" sz="2800" i="0">
                  <a:solidFill>
                    <a:schemeClr val="bg1"/>
                  </a:solidFill>
                  <a:latin typeface="Times New Roman" pitchFamily="18" charset="0"/>
                </a:rPr>
                <a:t>  8271.341213</a:t>
              </a:r>
              <a:endParaRPr lang="zh-CN" altLang="zh-CN" sz="2800" i="0">
                <a:solidFill>
                  <a:schemeClr val="bg1"/>
                </a:solidFill>
                <a:latin typeface="Times New Roman" pitchFamily="18" charset="0"/>
              </a:endParaRPr>
            </a:p>
          </p:txBody>
        </p:sp>
        <p:sp>
          <p:nvSpPr>
            <p:cNvPr id="22548" name="Line 19"/>
            <p:cNvSpPr>
              <a:spLocks noChangeShapeType="1"/>
            </p:cNvSpPr>
            <p:nvPr/>
          </p:nvSpPr>
          <p:spPr bwMode="auto">
            <a:xfrm>
              <a:off x="960" y="3264"/>
              <a:ext cx="12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20"/>
          <p:cNvGrpSpPr>
            <a:grpSpLocks/>
          </p:cNvGrpSpPr>
          <p:nvPr/>
        </p:nvGrpSpPr>
        <p:grpSpPr bwMode="auto">
          <a:xfrm>
            <a:off x="6308725" y="2667000"/>
            <a:ext cx="2827338" cy="2514600"/>
            <a:chOff x="3714" y="2304"/>
            <a:chExt cx="1338" cy="1344"/>
          </a:xfrm>
        </p:grpSpPr>
        <p:sp>
          <p:nvSpPr>
            <p:cNvPr id="22545" name="Rectangle 21"/>
            <p:cNvSpPr>
              <a:spLocks noChangeArrowheads="1"/>
            </p:cNvSpPr>
            <p:nvPr/>
          </p:nvSpPr>
          <p:spPr bwMode="auto">
            <a:xfrm>
              <a:off x="3714" y="2304"/>
              <a:ext cx="1338" cy="1344"/>
            </a:xfrm>
            <a:prstGeom prst="rect">
              <a:avLst/>
            </a:prstGeom>
            <a:solidFill>
              <a:srgbClr val="000080"/>
            </a:solidFill>
            <a:ln>
              <a:noFill/>
            </a:ln>
            <a:effectLst>
              <a:outerShdw dist="35921" dir="2700000" algn="ctr" rotWithShape="0">
                <a:schemeClr val="tx1"/>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50000"/>
                </a:lnSpc>
                <a:spcBef>
                  <a:spcPct val="50000"/>
                </a:spcBef>
              </a:pPr>
              <a:r>
                <a:rPr lang="zh-CN" altLang="en-US" sz="1600" b="0" i="0">
                  <a:latin typeface="Arial Black" pitchFamily="34" charset="0"/>
                </a:rPr>
                <a:t>        </a:t>
              </a:r>
              <a:r>
                <a:rPr lang="zh-CN" altLang="en-US" sz="2800" i="0">
                  <a:solidFill>
                    <a:schemeClr val="bg1"/>
                  </a:solidFill>
                  <a:latin typeface="Times New Roman" pitchFamily="18" charset="0"/>
                </a:rPr>
                <a:t>0.0000005</a:t>
              </a:r>
            </a:p>
            <a:p>
              <a:pPr algn="l">
                <a:lnSpc>
                  <a:spcPct val="50000"/>
                </a:lnSpc>
                <a:spcBef>
                  <a:spcPct val="50000"/>
                </a:spcBef>
              </a:pPr>
              <a:r>
                <a:rPr lang="zh-CN" altLang="en-US" sz="2800" i="0">
                  <a:solidFill>
                    <a:schemeClr val="bg1"/>
                  </a:solidFill>
                  <a:latin typeface="Times New Roman" pitchFamily="18" charset="0"/>
                </a:rPr>
                <a:t>      0.0000005</a:t>
              </a:r>
            </a:p>
            <a:p>
              <a:pPr algn="l">
                <a:lnSpc>
                  <a:spcPct val="50000"/>
                </a:lnSpc>
                <a:spcBef>
                  <a:spcPct val="50000"/>
                </a:spcBef>
              </a:pPr>
              <a:r>
                <a:rPr lang="zh-CN" altLang="en-US" sz="2800" i="0">
                  <a:solidFill>
                    <a:schemeClr val="bg1"/>
                  </a:solidFill>
                  <a:latin typeface="Times New Roman" pitchFamily="18" charset="0"/>
                </a:rPr>
                <a:t>      0.00005</a:t>
              </a:r>
            </a:p>
            <a:p>
              <a:pPr algn="l">
                <a:lnSpc>
                  <a:spcPct val="50000"/>
                </a:lnSpc>
                <a:spcBef>
                  <a:spcPct val="50000"/>
                </a:spcBef>
              </a:pPr>
              <a:r>
                <a:rPr lang="zh-CN" altLang="en-US" sz="2800" i="0">
                  <a:solidFill>
                    <a:schemeClr val="bg1"/>
                  </a:solidFill>
                  <a:latin typeface="Times New Roman" pitchFamily="18" charset="0"/>
                </a:rPr>
                <a:t>  +  0.0005</a:t>
              </a:r>
            </a:p>
            <a:p>
              <a:pPr algn="l">
                <a:lnSpc>
                  <a:spcPct val="50000"/>
                </a:lnSpc>
                <a:spcBef>
                  <a:spcPct val="50000"/>
                </a:spcBef>
              </a:pPr>
              <a:r>
                <a:rPr lang="zh-CN" altLang="en-US" sz="2800" i="0">
                  <a:solidFill>
                    <a:schemeClr val="bg1"/>
                  </a:solidFill>
                  <a:latin typeface="Times New Roman" pitchFamily="18" charset="0"/>
                </a:rPr>
                <a:t>      0.0005510</a:t>
              </a:r>
              <a:endParaRPr lang="zh-CN" altLang="zh-CN" sz="2800" i="0">
                <a:solidFill>
                  <a:schemeClr val="bg1"/>
                </a:solidFill>
                <a:latin typeface="Times New Roman" pitchFamily="18" charset="0"/>
              </a:endParaRPr>
            </a:p>
          </p:txBody>
        </p:sp>
        <p:sp>
          <p:nvSpPr>
            <p:cNvPr id="22546" name="Line 22"/>
            <p:cNvSpPr>
              <a:spLocks noChangeShapeType="1"/>
            </p:cNvSpPr>
            <p:nvPr/>
          </p:nvSpPr>
          <p:spPr bwMode="auto">
            <a:xfrm>
              <a:off x="3762" y="3312"/>
              <a:ext cx="12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46519" name="Rectangle 23"/>
          <p:cNvSpPr>
            <a:spLocks noChangeArrowheads="1"/>
          </p:cNvSpPr>
          <p:nvPr/>
        </p:nvSpPr>
        <p:spPr bwMode="auto">
          <a:xfrm>
            <a:off x="6721475" y="4648200"/>
            <a:ext cx="2324100" cy="914400"/>
          </a:xfrm>
          <a:prstGeom prst="rect">
            <a:avLst/>
          </a:prstGeom>
          <a:noFill/>
          <a:ln w="50800">
            <a:solidFill>
              <a:srgbClr val="CC0000"/>
            </a:solidFill>
            <a:prstDash val="dash"/>
            <a:miter lim="800000"/>
            <a:headEnd/>
            <a:tailEnd/>
          </a:ln>
          <a:effectLst/>
        </p:spPr>
        <p:txBody>
          <a:bodyPr wrap="none" anchor="ctr"/>
          <a:lstStyle/>
          <a:p>
            <a:pPr algn="l">
              <a:defRPr/>
            </a:pPr>
            <a:endParaRPr lang="zh-CN" altLang="en-US" sz="1600" i="0">
              <a:effectLst>
                <a:outerShdw blurRad="38100" dist="38100" dir="2700000" algn="tl">
                  <a:srgbClr val="C0C0C0"/>
                </a:outerShdw>
              </a:effectLst>
              <a:latin typeface="Arial Black" pitchFamily="34" charset="0"/>
            </a:endParaRPr>
          </a:p>
          <a:p>
            <a:pPr algn="l">
              <a:defRPr/>
            </a:pPr>
            <a:endParaRPr lang="zh-CN" altLang="en-US" sz="1600" i="0">
              <a:effectLst>
                <a:outerShdw blurRad="38100" dist="38100" dir="2700000" algn="tl">
                  <a:srgbClr val="C0C0C0"/>
                </a:outerShdw>
              </a:effectLst>
              <a:latin typeface="Arial Black" pitchFamily="34" charset="0"/>
            </a:endParaRPr>
          </a:p>
          <a:p>
            <a:pPr algn="l">
              <a:defRPr/>
            </a:pPr>
            <a:r>
              <a:rPr lang="en-US" altLang="zh-CN" sz="3600" i="0">
                <a:solidFill>
                  <a:schemeClr val="bg1"/>
                </a:solidFill>
                <a:latin typeface="Times New Roman" pitchFamily="18" charset="0"/>
                <a:sym typeface="Symbol" pitchFamily="18" charset="2"/>
              </a:rPr>
              <a:t></a:t>
            </a:r>
            <a:r>
              <a:rPr lang="zh-CN" altLang="en-US" sz="3600" i="0">
                <a:solidFill>
                  <a:schemeClr val="bg1"/>
                </a:solidFill>
                <a:latin typeface="宋体" pitchFamily="2" charset="-122"/>
              </a:rPr>
              <a:t>0.5*10</a:t>
            </a:r>
            <a:r>
              <a:rPr lang="zh-CN" altLang="en-US" sz="3600" i="0" baseline="30000">
                <a:solidFill>
                  <a:schemeClr val="bg1"/>
                </a:solidFill>
                <a:latin typeface="宋体" pitchFamily="2" charset="-122"/>
              </a:rPr>
              <a:t>-3</a:t>
            </a:r>
            <a:endParaRPr lang="zh-CN" altLang="zh-CN" sz="3600" i="0" baseline="30000">
              <a:solidFill>
                <a:schemeClr val="bg1"/>
              </a:solidFill>
              <a:latin typeface="宋体" pitchFamily="2" charset="-122"/>
            </a:endParaRPr>
          </a:p>
        </p:txBody>
      </p:sp>
      <p:sp>
        <p:nvSpPr>
          <p:cNvPr id="746520" name="Rectangle 24"/>
          <p:cNvSpPr>
            <a:spLocks noChangeArrowheads="1"/>
          </p:cNvSpPr>
          <p:nvPr/>
        </p:nvSpPr>
        <p:spPr bwMode="auto">
          <a:xfrm>
            <a:off x="1073150" y="4572000"/>
            <a:ext cx="2771775" cy="1143000"/>
          </a:xfrm>
          <a:prstGeom prst="rect">
            <a:avLst/>
          </a:prstGeom>
          <a:noFill/>
          <a:ln w="50800">
            <a:solidFill>
              <a:srgbClr val="CC0000"/>
            </a:solidFill>
            <a:prstDash val="dash"/>
            <a:miter lim="800000"/>
            <a:headEnd/>
            <a:tailEnd/>
          </a:ln>
          <a:effectLst/>
        </p:spPr>
        <p:txBody>
          <a:bodyPr wrap="none" anchor="ctr"/>
          <a:lstStyle/>
          <a:p>
            <a:pPr algn="l">
              <a:defRPr/>
            </a:pPr>
            <a:endParaRPr lang="zh-CN" altLang="en-US" sz="1600" i="0">
              <a:effectLst>
                <a:outerShdw blurRad="38100" dist="38100" dir="2700000" algn="tl">
                  <a:srgbClr val="C0C0C0"/>
                </a:outerShdw>
              </a:effectLst>
              <a:latin typeface="Arial Black" pitchFamily="34" charset="0"/>
            </a:endParaRPr>
          </a:p>
          <a:p>
            <a:pPr algn="l">
              <a:defRPr/>
            </a:pPr>
            <a:endParaRPr lang="zh-CN" altLang="en-US" sz="1200" i="0">
              <a:effectLst>
                <a:outerShdw blurRad="38100" dist="38100" dir="2700000" algn="tl">
                  <a:srgbClr val="C0C0C0"/>
                </a:outerShdw>
              </a:effectLst>
              <a:latin typeface="Arial Black" pitchFamily="34" charset="0"/>
            </a:endParaRPr>
          </a:p>
          <a:p>
            <a:pPr algn="l">
              <a:defRPr/>
            </a:pPr>
            <a:r>
              <a:rPr lang="en-US" altLang="zh-CN" sz="3600" i="0">
                <a:solidFill>
                  <a:schemeClr val="bg1"/>
                </a:solidFill>
                <a:latin typeface="宋体" pitchFamily="2" charset="-122"/>
              </a:rPr>
              <a:t>C=8271.341</a:t>
            </a:r>
          </a:p>
        </p:txBody>
      </p:sp>
      <p:grpSp>
        <p:nvGrpSpPr>
          <p:cNvPr id="7" name="Group 25"/>
          <p:cNvGrpSpPr>
            <a:grpSpLocks/>
          </p:cNvGrpSpPr>
          <p:nvPr/>
        </p:nvGrpSpPr>
        <p:grpSpPr bwMode="auto">
          <a:xfrm>
            <a:off x="2620963" y="2514600"/>
            <a:ext cx="2408237" cy="1676400"/>
            <a:chOff x="2016" y="2016"/>
            <a:chExt cx="978" cy="816"/>
          </a:xfrm>
        </p:grpSpPr>
        <p:sp>
          <p:nvSpPr>
            <p:cNvPr id="22543" name="Rectangle 26"/>
            <p:cNvSpPr>
              <a:spLocks noChangeArrowheads="1"/>
            </p:cNvSpPr>
            <p:nvPr/>
          </p:nvSpPr>
          <p:spPr bwMode="auto">
            <a:xfrm>
              <a:off x="2016" y="2160"/>
              <a:ext cx="258" cy="672"/>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44" name="AutoShape 27"/>
            <p:cNvSpPr>
              <a:spLocks noChangeArrowheads="1"/>
            </p:cNvSpPr>
            <p:nvPr/>
          </p:nvSpPr>
          <p:spPr bwMode="auto">
            <a:xfrm>
              <a:off x="2274" y="2016"/>
              <a:ext cx="720" cy="384"/>
            </a:xfrm>
            <a:prstGeom prst="wedgeRoundRectCallout">
              <a:avLst>
                <a:gd name="adj1" fmla="val -45000"/>
                <a:gd name="adj2" fmla="val 65106"/>
                <a:gd name="adj3" fmla="val 16667"/>
              </a:avLst>
            </a:prstGeom>
            <a:solidFill>
              <a:srgbClr val="800000"/>
            </a:solidFill>
            <a:ln w="9525">
              <a:solidFill>
                <a:schemeClr val="tx1"/>
              </a:solidFill>
              <a:miter lim="800000"/>
              <a:headEnd/>
              <a:tailEnd/>
            </a:ln>
          </p:spPr>
          <p:txBody>
            <a:bodyPr wrap="none" anchor="ctr"/>
            <a:lstStyle/>
            <a:p>
              <a:r>
                <a:rPr lang="zh-CN" altLang="en-US" sz="2800" i="0">
                  <a:solidFill>
                    <a:schemeClr val="bg1"/>
                  </a:solidFill>
                  <a:latin typeface="Arial Black" pitchFamily="34" charset="0"/>
                </a:rPr>
                <a:t>没有意义</a:t>
              </a:r>
            </a:p>
          </p:txBody>
        </p:sp>
      </p:grpSp>
      <p:grpSp>
        <p:nvGrpSpPr>
          <p:cNvPr id="8" name="Group 28"/>
          <p:cNvGrpSpPr>
            <a:grpSpLocks/>
          </p:cNvGrpSpPr>
          <p:nvPr/>
        </p:nvGrpSpPr>
        <p:grpSpPr bwMode="auto">
          <a:xfrm>
            <a:off x="3859213" y="3276600"/>
            <a:ext cx="2381250" cy="1447800"/>
            <a:chOff x="2610" y="1776"/>
            <a:chExt cx="864" cy="672"/>
          </a:xfrm>
        </p:grpSpPr>
        <p:sp>
          <p:nvSpPr>
            <p:cNvPr id="22541" name="Rectangle 29"/>
            <p:cNvSpPr>
              <a:spLocks noChangeArrowheads="1"/>
            </p:cNvSpPr>
            <p:nvPr/>
          </p:nvSpPr>
          <p:spPr bwMode="auto">
            <a:xfrm>
              <a:off x="2610" y="1776"/>
              <a:ext cx="864" cy="432"/>
            </a:xfrm>
            <a:prstGeom prst="rect">
              <a:avLst/>
            </a:prstGeom>
            <a:gradFill rotWithShape="0">
              <a:gsLst>
                <a:gs pos="0">
                  <a:srgbClr val="000076"/>
                </a:gs>
                <a:gs pos="100000">
                  <a:srgbClr val="0000FF"/>
                </a:gs>
              </a:gsLst>
              <a:lin ang="18900000" scaled="1"/>
            </a:gradFill>
            <a:ln>
              <a:noFill/>
            </a:ln>
            <a:effectLst>
              <a:outerShdw dist="35921" dir="2700000" algn="ctr" rotWithShape="0">
                <a:schemeClr val="tx1"/>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r>
                <a:rPr lang="zh-CN" altLang="en-US" sz="2800" i="0">
                  <a:solidFill>
                    <a:schemeClr val="bg1"/>
                  </a:solidFill>
                  <a:latin typeface="Arial Black" pitchFamily="34" charset="0"/>
                </a:rPr>
                <a:t>按最坏情况</a:t>
              </a:r>
            </a:p>
            <a:p>
              <a:r>
                <a:rPr lang="zh-CN" altLang="en-US" sz="2800" i="0">
                  <a:solidFill>
                    <a:schemeClr val="bg1"/>
                  </a:solidFill>
                  <a:latin typeface="Arial Black" pitchFamily="34" charset="0"/>
                </a:rPr>
                <a:t>估算误差</a:t>
              </a:r>
              <a:endParaRPr lang="zh-CN" altLang="zh-CN" sz="2800" i="0">
                <a:solidFill>
                  <a:schemeClr val="bg1"/>
                </a:solidFill>
                <a:latin typeface="Arial Black" pitchFamily="34" charset="0"/>
              </a:endParaRPr>
            </a:p>
          </p:txBody>
        </p:sp>
        <p:sp>
          <p:nvSpPr>
            <p:cNvPr id="22542" name="Freeform 30"/>
            <p:cNvSpPr>
              <a:spLocks/>
            </p:cNvSpPr>
            <p:nvPr/>
          </p:nvSpPr>
          <p:spPr bwMode="auto">
            <a:xfrm>
              <a:off x="2610" y="2208"/>
              <a:ext cx="864" cy="240"/>
            </a:xfrm>
            <a:custGeom>
              <a:avLst/>
              <a:gdLst>
                <a:gd name="T0" fmla="*/ 0 w 541"/>
                <a:gd name="T1" fmla="*/ 91 h 167"/>
                <a:gd name="T2" fmla="*/ 941 w 541"/>
                <a:gd name="T3" fmla="*/ 91 h 167"/>
                <a:gd name="T4" fmla="*/ 941 w 541"/>
                <a:gd name="T5" fmla="*/ 0 h 167"/>
                <a:gd name="T6" fmla="*/ 1377 w 541"/>
                <a:gd name="T7" fmla="*/ 171 h 167"/>
                <a:gd name="T8" fmla="*/ 941 w 541"/>
                <a:gd name="T9" fmla="*/ 343 h 167"/>
                <a:gd name="T10" fmla="*/ 941 w 541"/>
                <a:gd name="T11" fmla="*/ 254 h 167"/>
                <a:gd name="T12" fmla="*/ 0 w 541"/>
                <a:gd name="T13" fmla="*/ 254 h 167"/>
                <a:gd name="T14" fmla="*/ 0 w 541"/>
                <a:gd name="T15" fmla="*/ 91 h 167"/>
                <a:gd name="T16" fmla="*/ 0 60000 65536"/>
                <a:gd name="T17" fmla="*/ 0 60000 65536"/>
                <a:gd name="T18" fmla="*/ 0 60000 65536"/>
                <a:gd name="T19" fmla="*/ 0 60000 65536"/>
                <a:gd name="T20" fmla="*/ 0 60000 65536"/>
                <a:gd name="T21" fmla="*/ 0 60000 65536"/>
                <a:gd name="T22" fmla="*/ 0 60000 65536"/>
                <a:gd name="T23" fmla="*/ 0 60000 65536"/>
                <a:gd name="T24" fmla="*/ 0 w 541"/>
                <a:gd name="T25" fmla="*/ 0 h 167"/>
                <a:gd name="T26" fmla="*/ 541 w 541"/>
                <a:gd name="T27" fmla="*/ 167 h 1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1" h="167">
                  <a:moveTo>
                    <a:pt x="0" y="44"/>
                  </a:moveTo>
                  <a:lnTo>
                    <a:pt x="369" y="44"/>
                  </a:lnTo>
                  <a:lnTo>
                    <a:pt x="369" y="0"/>
                  </a:lnTo>
                  <a:lnTo>
                    <a:pt x="540" y="83"/>
                  </a:lnTo>
                  <a:lnTo>
                    <a:pt x="369" y="166"/>
                  </a:lnTo>
                  <a:lnTo>
                    <a:pt x="369" y="123"/>
                  </a:lnTo>
                  <a:lnTo>
                    <a:pt x="0" y="123"/>
                  </a:lnTo>
                  <a:lnTo>
                    <a:pt x="0" y="44"/>
                  </a:lnTo>
                </a:path>
              </a:pathLst>
            </a:custGeom>
            <a:solidFill>
              <a:srgbClr val="FF0000"/>
            </a:solidFill>
            <a:ln w="9525">
              <a:round/>
              <a:headEnd/>
              <a:tailEnd/>
            </a:ln>
            <a:scene3d>
              <a:camera prst="legacyObliqueTopRight"/>
              <a:lightRig rig="legacyFlat3" dir="b"/>
            </a:scene3d>
            <a:sp3d extrusionH="125400" prstMaterial="legacyMatte">
              <a:bevelT w="13500" h="13500" prst="angle"/>
              <a:bevelB w="13500" h="13500" prst="angle"/>
              <a:extrusionClr>
                <a:srgbClr val="FF0000"/>
              </a:extrusionClr>
            </a:sp3d>
          </p:spPr>
          <p:txBody>
            <a:bodyPr>
              <a:flatTx/>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grpId="0" nodeType="afterEffect">
                                  <p:stCondLst>
                                    <p:cond delay="0"/>
                                  </p:stCondLst>
                                  <p:iterate type="lt">
                                    <p:tmPct val="100000"/>
                                  </p:iterate>
                                  <p:childTnLst>
                                    <p:set>
                                      <p:cBhvr>
                                        <p:cTn id="6" dur="1" fill="hold">
                                          <p:stCondLst>
                                            <p:cond delay="0"/>
                                          </p:stCondLst>
                                        </p:cTn>
                                        <p:tgtEl>
                                          <p:spTgt spid="746501">
                                            <p:txEl>
                                              <p:pRg st="0" end="0"/>
                                            </p:txEl>
                                          </p:spTgt>
                                        </p:tgtEl>
                                        <p:attrNameLst>
                                          <p:attrName>style.visibility</p:attrName>
                                        </p:attrNameLst>
                                      </p:cBhvr>
                                      <p:to>
                                        <p:strVal val="visible"/>
                                      </p:to>
                                    </p:set>
                                    <p:anim calcmode="lin" valueType="num">
                                      <p:cBhvr>
                                        <p:cTn id="7" dur="75" fill="hold"/>
                                        <p:tgtEl>
                                          <p:spTgt spid="746501">
                                            <p:txEl>
                                              <p:pRg st="0" end="0"/>
                                            </p:txEl>
                                          </p:spTgt>
                                        </p:tgtEl>
                                        <p:attrNameLst>
                                          <p:attrName>ppt_x</p:attrName>
                                        </p:attrNameLst>
                                      </p:cBhvr>
                                      <p:tavLst>
                                        <p:tav tm="0">
                                          <p:val>
                                            <p:strVal val="#ppt_x-#ppt_w/2"/>
                                          </p:val>
                                        </p:tav>
                                        <p:tav tm="100000">
                                          <p:val>
                                            <p:strVal val="#ppt_x"/>
                                          </p:val>
                                        </p:tav>
                                      </p:tavLst>
                                    </p:anim>
                                    <p:anim calcmode="lin" valueType="num">
                                      <p:cBhvr>
                                        <p:cTn id="8" dur="75" fill="hold"/>
                                        <p:tgtEl>
                                          <p:spTgt spid="746501">
                                            <p:txEl>
                                              <p:pRg st="0" end="0"/>
                                            </p:txEl>
                                          </p:spTgt>
                                        </p:tgtEl>
                                        <p:attrNameLst>
                                          <p:attrName>ppt_y</p:attrName>
                                        </p:attrNameLst>
                                      </p:cBhvr>
                                      <p:tavLst>
                                        <p:tav tm="0">
                                          <p:val>
                                            <p:strVal val="#ppt_y"/>
                                          </p:val>
                                        </p:tav>
                                        <p:tav tm="100000">
                                          <p:val>
                                            <p:strVal val="#ppt_y"/>
                                          </p:val>
                                        </p:tav>
                                      </p:tavLst>
                                    </p:anim>
                                    <p:anim calcmode="lin" valueType="num">
                                      <p:cBhvr>
                                        <p:cTn id="9" dur="75" fill="hold"/>
                                        <p:tgtEl>
                                          <p:spTgt spid="746501">
                                            <p:txEl>
                                              <p:pRg st="0" end="0"/>
                                            </p:txEl>
                                          </p:spTgt>
                                        </p:tgtEl>
                                        <p:attrNameLst>
                                          <p:attrName>ppt_w</p:attrName>
                                        </p:attrNameLst>
                                      </p:cBhvr>
                                      <p:tavLst>
                                        <p:tav tm="0">
                                          <p:val>
                                            <p:fltVal val="0"/>
                                          </p:val>
                                        </p:tav>
                                        <p:tav tm="100000">
                                          <p:val>
                                            <p:strVal val="#ppt_w"/>
                                          </p:val>
                                        </p:tav>
                                      </p:tavLst>
                                    </p:anim>
                                    <p:anim calcmode="lin" valueType="num">
                                      <p:cBhvr>
                                        <p:cTn id="10" dur="75" fill="hold"/>
                                        <p:tgtEl>
                                          <p:spTgt spid="74650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slide(fromLeft)">
                                      <p:cBhvr>
                                        <p:cTn id="25" dur="500"/>
                                        <p:tgtEl>
                                          <p:spTgt spid="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746519"/>
                                        </p:tgtEl>
                                        <p:attrNameLst>
                                          <p:attrName>style.visibility</p:attrName>
                                        </p:attrNameLst>
                                      </p:cBhvr>
                                      <p:to>
                                        <p:strVal val="visible"/>
                                      </p:to>
                                    </p:set>
                                    <p:anim calcmode="lin" valueType="num">
                                      <p:cBhvr>
                                        <p:cTn id="35" dur="500" fill="hold"/>
                                        <p:tgtEl>
                                          <p:spTgt spid="746519"/>
                                        </p:tgtEl>
                                        <p:attrNameLst>
                                          <p:attrName>ppt_w</p:attrName>
                                        </p:attrNameLst>
                                      </p:cBhvr>
                                      <p:tavLst>
                                        <p:tav tm="0">
                                          <p:val>
                                            <p:fltVal val="0"/>
                                          </p:val>
                                        </p:tav>
                                        <p:tav tm="100000">
                                          <p:val>
                                            <p:strVal val="#ppt_w"/>
                                          </p:val>
                                        </p:tav>
                                      </p:tavLst>
                                    </p:anim>
                                    <p:anim calcmode="lin" valueType="num">
                                      <p:cBhvr>
                                        <p:cTn id="36" dur="500" fill="hold"/>
                                        <p:tgtEl>
                                          <p:spTgt spid="746519"/>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746520"/>
                                        </p:tgtEl>
                                        <p:attrNameLst>
                                          <p:attrName>style.visibility</p:attrName>
                                        </p:attrNameLst>
                                      </p:cBhvr>
                                      <p:to>
                                        <p:strVal val="visible"/>
                                      </p:to>
                                    </p:set>
                                    <p:anim calcmode="lin" valueType="num">
                                      <p:cBhvr>
                                        <p:cTn id="41" dur="500" fill="hold"/>
                                        <p:tgtEl>
                                          <p:spTgt spid="746520"/>
                                        </p:tgtEl>
                                        <p:attrNameLst>
                                          <p:attrName>ppt_w</p:attrName>
                                        </p:attrNameLst>
                                      </p:cBhvr>
                                      <p:tavLst>
                                        <p:tav tm="0">
                                          <p:val>
                                            <p:fltVal val="0"/>
                                          </p:val>
                                        </p:tav>
                                        <p:tav tm="100000">
                                          <p:val>
                                            <p:strVal val="#ppt_w"/>
                                          </p:val>
                                        </p:tav>
                                      </p:tavLst>
                                    </p:anim>
                                    <p:anim calcmode="lin" valueType="num">
                                      <p:cBhvr>
                                        <p:cTn id="42" dur="500" fill="hold"/>
                                        <p:tgtEl>
                                          <p:spTgt spid="746520"/>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ppt_w</p:attrName>
                                        </p:attrNameLst>
                                      </p:cBhvr>
                                      <p:tavLst>
                                        <p:tav tm="0">
                                          <p:val>
                                            <p:fltVal val="0"/>
                                          </p:val>
                                        </p:tav>
                                        <p:tav tm="100000">
                                          <p:val>
                                            <p:strVal val="#ppt_w"/>
                                          </p:val>
                                        </p:tav>
                                      </p:tavLst>
                                    </p:anim>
                                    <p:anim calcmode="lin" valueType="num">
                                      <p:cBhvr>
                                        <p:cTn id="48" dur="500" fill="hold"/>
                                        <p:tgtEl>
                                          <p:spTgt spid="7"/>
                                        </p:tgtEl>
                                        <p:attrNameLst>
                                          <p:attrName>ppt_h</p:attrName>
                                        </p:attrNameLst>
                                      </p:cBhvr>
                                      <p:tavLst>
                                        <p:tav tm="0">
                                          <p:val>
                                            <p:fltVal val="0"/>
                                          </p:val>
                                        </p:tav>
                                        <p:tav tm="100000">
                                          <p:val>
                                            <p:strVal val="#ppt_h"/>
                                          </p:val>
                                        </p:tav>
                                      </p:tavLst>
                                    </p:anim>
                                    <p:anim calcmode="lin" valueType="num">
                                      <p:cBhvr>
                                        <p:cTn id="49" dur="500" fill="hold"/>
                                        <p:tgtEl>
                                          <p:spTgt spid="7"/>
                                        </p:tgtEl>
                                        <p:attrNameLst>
                                          <p:attrName>ppt_x</p:attrName>
                                        </p:attrNameLst>
                                      </p:cBhvr>
                                      <p:tavLst>
                                        <p:tav tm="0">
                                          <p:val>
                                            <p:fltVal val="0.5"/>
                                          </p:val>
                                        </p:tav>
                                        <p:tav tm="100000">
                                          <p:val>
                                            <p:strVal val="#ppt_x"/>
                                          </p:val>
                                        </p:tav>
                                      </p:tavLst>
                                    </p:anim>
                                    <p:anim calcmode="lin" valueType="num">
                                      <p:cBhvr>
                                        <p:cTn id="50" dur="500" fill="hold"/>
                                        <p:tgtEl>
                                          <p:spTgt spid="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501" grpId="0" build="p" autoUpdateAnimBg="0" advAuto="0"/>
      <p:bldP spid="746519" grpId="0" animBg="1" autoUpdateAnimBg="0"/>
      <p:bldP spid="746520"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0EB6F80-EE78-452D-AB2E-7273D3551E66}" type="slidenum">
              <a:rPr lang="zh-CN" altLang="en-US" i="0" smtClean="0"/>
              <a:pPr/>
              <a:t>20</a:t>
            </a:fld>
            <a:endParaRPr lang="en-US" altLang="zh-CN" i="0" smtClean="0"/>
          </a:p>
        </p:txBody>
      </p:sp>
      <p:sp>
        <p:nvSpPr>
          <p:cNvPr id="235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623D75D-CB2A-42B3-B06B-FEAC2BF8AA36}" type="datetime1">
              <a:rPr lang="zh-CN" altLang="en-US" sz="1800" i="0" smtClean="0"/>
              <a:pPr/>
              <a:t>2024/9/8</a:t>
            </a:fld>
            <a:endParaRPr lang="en-US" altLang="zh-CN" sz="1000" i="0" smtClean="0"/>
          </a:p>
        </p:txBody>
      </p:sp>
      <p:grpSp>
        <p:nvGrpSpPr>
          <p:cNvPr id="23556" name="Group 2"/>
          <p:cNvGrpSpPr>
            <a:grpSpLocks/>
          </p:cNvGrpSpPr>
          <p:nvPr/>
        </p:nvGrpSpPr>
        <p:grpSpPr bwMode="auto">
          <a:xfrm>
            <a:off x="1155700" y="1600200"/>
            <a:ext cx="8089900" cy="3505200"/>
            <a:chOff x="816" y="1680"/>
            <a:chExt cx="4397" cy="2256"/>
          </a:xfrm>
        </p:grpSpPr>
        <p:grpSp>
          <p:nvGrpSpPr>
            <p:cNvPr id="23569" name="Group 3"/>
            <p:cNvGrpSpPr>
              <a:grpSpLocks/>
            </p:cNvGrpSpPr>
            <p:nvPr/>
          </p:nvGrpSpPr>
          <p:grpSpPr bwMode="auto">
            <a:xfrm>
              <a:off x="816" y="1680"/>
              <a:ext cx="3378" cy="2256"/>
              <a:chOff x="2080" y="960"/>
              <a:chExt cx="1945" cy="2663"/>
            </a:xfrm>
          </p:grpSpPr>
          <p:sp>
            <p:nvSpPr>
              <p:cNvPr id="23575" name="Freeform 4"/>
              <p:cNvSpPr>
                <a:spLocks/>
              </p:cNvSpPr>
              <p:nvPr/>
            </p:nvSpPr>
            <p:spPr bwMode="auto">
              <a:xfrm>
                <a:off x="2080" y="1003"/>
                <a:ext cx="1903" cy="2620"/>
              </a:xfrm>
              <a:custGeom>
                <a:avLst/>
                <a:gdLst>
                  <a:gd name="T0" fmla="*/ 0 w 1903"/>
                  <a:gd name="T1" fmla="*/ 0 h 2620"/>
                  <a:gd name="T2" fmla="*/ 950 w 1903"/>
                  <a:gd name="T3" fmla="*/ 0 h 2620"/>
                  <a:gd name="T4" fmla="*/ 1902 w 1903"/>
                  <a:gd name="T5" fmla="*/ 0 h 2620"/>
                  <a:gd name="T6" fmla="*/ 1902 w 1903"/>
                  <a:gd name="T7" fmla="*/ 653 h 2620"/>
                  <a:gd name="T8" fmla="*/ 1902 w 1903"/>
                  <a:gd name="T9" fmla="*/ 1309 h 2620"/>
                  <a:gd name="T10" fmla="*/ 1902 w 1903"/>
                  <a:gd name="T11" fmla="*/ 1962 h 2620"/>
                  <a:gd name="T12" fmla="*/ 1902 w 1903"/>
                  <a:gd name="T13" fmla="*/ 2619 h 2620"/>
                  <a:gd name="T14" fmla="*/ 950 w 1903"/>
                  <a:gd name="T15" fmla="*/ 2619 h 2620"/>
                  <a:gd name="T16" fmla="*/ 0 w 1903"/>
                  <a:gd name="T17" fmla="*/ 2619 h 2620"/>
                  <a:gd name="T18" fmla="*/ 0 w 1903"/>
                  <a:gd name="T19" fmla="*/ 1962 h 2620"/>
                  <a:gd name="T20" fmla="*/ 0 w 1903"/>
                  <a:gd name="T21" fmla="*/ 1309 h 2620"/>
                  <a:gd name="T22" fmla="*/ 0 w 1903"/>
                  <a:gd name="T23" fmla="*/ 653 h 2620"/>
                  <a:gd name="T24" fmla="*/ 0 w 1903"/>
                  <a:gd name="T25" fmla="*/ 0 h 26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3"/>
                  <a:gd name="T40" fmla="*/ 0 h 2620"/>
                  <a:gd name="T41" fmla="*/ 1903 w 1903"/>
                  <a:gd name="T42" fmla="*/ 2620 h 26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3" h="2620">
                    <a:moveTo>
                      <a:pt x="0" y="0"/>
                    </a:moveTo>
                    <a:lnTo>
                      <a:pt x="950" y="0"/>
                    </a:lnTo>
                    <a:lnTo>
                      <a:pt x="1902" y="0"/>
                    </a:lnTo>
                    <a:lnTo>
                      <a:pt x="1902" y="653"/>
                    </a:lnTo>
                    <a:lnTo>
                      <a:pt x="1902" y="1309"/>
                    </a:lnTo>
                    <a:lnTo>
                      <a:pt x="1902" y="1962"/>
                    </a:lnTo>
                    <a:lnTo>
                      <a:pt x="1902" y="2619"/>
                    </a:lnTo>
                    <a:lnTo>
                      <a:pt x="950" y="2619"/>
                    </a:lnTo>
                    <a:lnTo>
                      <a:pt x="0" y="2619"/>
                    </a:lnTo>
                    <a:lnTo>
                      <a:pt x="0" y="1962"/>
                    </a:lnTo>
                    <a:lnTo>
                      <a:pt x="0" y="1309"/>
                    </a:lnTo>
                    <a:lnTo>
                      <a:pt x="0" y="653"/>
                    </a:lnTo>
                    <a:lnTo>
                      <a:pt x="0" y="0"/>
                    </a:lnTo>
                  </a:path>
                </a:pathLst>
              </a:custGeom>
              <a:solidFill>
                <a:srgbClr val="008080"/>
              </a:solidFill>
              <a:ln>
                <a:noFill/>
              </a:ln>
              <a:effectLst>
                <a:prstShdw prst="shdw17" dist="17961" dir="2700000">
                  <a:srgbClr val="004D4D"/>
                </a:prstShdw>
              </a:effectLst>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sp>
            <p:nvSpPr>
              <p:cNvPr id="23576" name="Freeform 5"/>
              <p:cNvSpPr>
                <a:spLocks/>
              </p:cNvSpPr>
              <p:nvPr/>
            </p:nvSpPr>
            <p:spPr bwMode="auto">
              <a:xfrm>
                <a:off x="2080" y="960"/>
                <a:ext cx="1945" cy="44"/>
              </a:xfrm>
              <a:custGeom>
                <a:avLst/>
                <a:gdLst>
                  <a:gd name="T0" fmla="*/ 41 w 1945"/>
                  <a:gd name="T1" fmla="*/ 0 h 44"/>
                  <a:gd name="T2" fmla="*/ 993 w 1945"/>
                  <a:gd name="T3" fmla="*/ 0 h 44"/>
                  <a:gd name="T4" fmla="*/ 1944 w 1945"/>
                  <a:gd name="T5" fmla="*/ 0 h 44"/>
                  <a:gd name="T6" fmla="*/ 1902 w 1945"/>
                  <a:gd name="T7" fmla="*/ 43 h 44"/>
                  <a:gd name="T8" fmla="*/ 950 w 1945"/>
                  <a:gd name="T9" fmla="*/ 43 h 44"/>
                  <a:gd name="T10" fmla="*/ 0 w 1945"/>
                  <a:gd name="T11" fmla="*/ 43 h 44"/>
                  <a:gd name="T12" fmla="*/ 41 w 1945"/>
                  <a:gd name="T13" fmla="*/ 0 h 44"/>
                  <a:gd name="T14" fmla="*/ 0 60000 65536"/>
                  <a:gd name="T15" fmla="*/ 0 60000 65536"/>
                  <a:gd name="T16" fmla="*/ 0 60000 65536"/>
                  <a:gd name="T17" fmla="*/ 0 60000 65536"/>
                  <a:gd name="T18" fmla="*/ 0 60000 65536"/>
                  <a:gd name="T19" fmla="*/ 0 60000 65536"/>
                  <a:gd name="T20" fmla="*/ 0 60000 65536"/>
                  <a:gd name="T21" fmla="*/ 0 w 1945"/>
                  <a:gd name="T22" fmla="*/ 0 h 44"/>
                  <a:gd name="T23" fmla="*/ 1945 w 1945"/>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5" h="44">
                    <a:moveTo>
                      <a:pt x="41" y="0"/>
                    </a:moveTo>
                    <a:lnTo>
                      <a:pt x="993" y="0"/>
                    </a:lnTo>
                    <a:lnTo>
                      <a:pt x="1944" y="0"/>
                    </a:lnTo>
                    <a:lnTo>
                      <a:pt x="1902" y="43"/>
                    </a:lnTo>
                    <a:lnTo>
                      <a:pt x="950" y="43"/>
                    </a:lnTo>
                    <a:lnTo>
                      <a:pt x="0" y="43"/>
                    </a:lnTo>
                    <a:lnTo>
                      <a:pt x="41" y="0"/>
                    </a:lnTo>
                  </a:path>
                </a:pathLst>
              </a:custGeom>
              <a:solidFill>
                <a:srgbClr val="008080"/>
              </a:solidFill>
              <a:ln>
                <a:noFill/>
              </a:ln>
              <a:effectLst>
                <a:prstShdw prst="shdw17" dist="17961" dir="2700000">
                  <a:srgbClr val="004D4D"/>
                </a:prstShdw>
              </a:effectLst>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sp>
            <p:nvSpPr>
              <p:cNvPr id="23577" name="Freeform 6"/>
              <p:cNvSpPr>
                <a:spLocks/>
              </p:cNvSpPr>
              <p:nvPr/>
            </p:nvSpPr>
            <p:spPr bwMode="auto">
              <a:xfrm>
                <a:off x="3982" y="960"/>
                <a:ext cx="43" cy="2663"/>
              </a:xfrm>
              <a:custGeom>
                <a:avLst/>
                <a:gdLst>
                  <a:gd name="T0" fmla="*/ 0 w 43"/>
                  <a:gd name="T1" fmla="*/ 42 h 2663"/>
                  <a:gd name="T2" fmla="*/ 42 w 43"/>
                  <a:gd name="T3" fmla="*/ 0 h 2663"/>
                  <a:gd name="T4" fmla="*/ 42 w 43"/>
                  <a:gd name="T5" fmla="*/ 653 h 2663"/>
                  <a:gd name="T6" fmla="*/ 42 w 43"/>
                  <a:gd name="T7" fmla="*/ 1309 h 2663"/>
                  <a:gd name="T8" fmla="*/ 42 w 43"/>
                  <a:gd name="T9" fmla="*/ 1965 h 2663"/>
                  <a:gd name="T10" fmla="*/ 42 w 43"/>
                  <a:gd name="T11" fmla="*/ 2620 h 2663"/>
                  <a:gd name="T12" fmla="*/ 0 w 43"/>
                  <a:gd name="T13" fmla="*/ 2662 h 2663"/>
                  <a:gd name="T14" fmla="*/ 0 w 43"/>
                  <a:gd name="T15" fmla="*/ 2005 h 2663"/>
                  <a:gd name="T16" fmla="*/ 0 w 43"/>
                  <a:gd name="T17" fmla="*/ 1352 h 2663"/>
                  <a:gd name="T18" fmla="*/ 0 w 43"/>
                  <a:gd name="T19" fmla="*/ 696 h 2663"/>
                  <a:gd name="T20" fmla="*/ 0 w 43"/>
                  <a:gd name="T21" fmla="*/ 42 h 26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
                  <a:gd name="T34" fmla="*/ 0 h 2663"/>
                  <a:gd name="T35" fmla="*/ 43 w 43"/>
                  <a:gd name="T36" fmla="*/ 2663 h 26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 h="2663">
                    <a:moveTo>
                      <a:pt x="0" y="42"/>
                    </a:moveTo>
                    <a:lnTo>
                      <a:pt x="42" y="0"/>
                    </a:lnTo>
                    <a:lnTo>
                      <a:pt x="42" y="653"/>
                    </a:lnTo>
                    <a:lnTo>
                      <a:pt x="42" y="1309"/>
                    </a:lnTo>
                    <a:lnTo>
                      <a:pt x="42" y="1965"/>
                    </a:lnTo>
                    <a:lnTo>
                      <a:pt x="42" y="2620"/>
                    </a:lnTo>
                    <a:lnTo>
                      <a:pt x="0" y="2662"/>
                    </a:lnTo>
                    <a:lnTo>
                      <a:pt x="0" y="2005"/>
                    </a:lnTo>
                    <a:lnTo>
                      <a:pt x="0" y="1352"/>
                    </a:lnTo>
                    <a:lnTo>
                      <a:pt x="0" y="696"/>
                    </a:lnTo>
                    <a:lnTo>
                      <a:pt x="0" y="42"/>
                    </a:lnTo>
                  </a:path>
                </a:pathLst>
              </a:custGeom>
              <a:solidFill>
                <a:srgbClr val="008080"/>
              </a:solidFill>
              <a:ln>
                <a:noFill/>
              </a:ln>
              <a:effectLst>
                <a:prstShdw prst="shdw17" dist="17961" dir="2700000">
                  <a:srgbClr val="004D4D"/>
                </a:prstShdw>
              </a:effectLst>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grpSp>
        <p:grpSp>
          <p:nvGrpSpPr>
            <p:cNvPr id="23570" name="Group 7"/>
            <p:cNvGrpSpPr>
              <a:grpSpLocks/>
            </p:cNvGrpSpPr>
            <p:nvPr/>
          </p:nvGrpSpPr>
          <p:grpSpPr bwMode="auto">
            <a:xfrm>
              <a:off x="882" y="2016"/>
              <a:ext cx="4331" cy="1920"/>
              <a:chOff x="925" y="1451"/>
              <a:chExt cx="4331" cy="2041"/>
            </a:xfrm>
          </p:grpSpPr>
          <p:sp>
            <p:nvSpPr>
              <p:cNvPr id="23572" name="Rectangle 8"/>
              <p:cNvSpPr>
                <a:spLocks noChangeArrowheads="1"/>
              </p:cNvSpPr>
              <p:nvPr/>
            </p:nvSpPr>
            <p:spPr bwMode="auto">
              <a:xfrm>
                <a:off x="926" y="1526"/>
                <a:ext cx="4222" cy="1961"/>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1"/>
              <a:lstStyle/>
              <a:p>
                <a:endParaRPr lang="zh-CN" altLang="zh-CN" sz="3000" b="0" i="0">
                  <a:solidFill>
                    <a:schemeClr val="bg1"/>
                  </a:solidFill>
                </a:endParaRPr>
              </a:p>
            </p:txBody>
          </p:sp>
          <p:sp>
            <p:nvSpPr>
              <p:cNvPr id="23573" name="Freeform 9"/>
              <p:cNvSpPr>
                <a:spLocks/>
              </p:cNvSpPr>
              <p:nvPr/>
            </p:nvSpPr>
            <p:spPr bwMode="auto">
              <a:xfrm>
                <a:off x="925" y="1458"/>
                <a:ext cx="4331" cy="69"/>
              </a:xfrm>
              <a:custGeom>
                <a:avLst/>
                <a:gdLst>
                  <a:gd name="T0" fmla="*/ 59 w 4331"/>
                  <a:gd name="T1" fmla="*/ 45 h 69"/>
                  <a:gd name="T2" fmla="*/ 3252 w 4331"/>
                  <a:gd name="T3" fmla="*/ 45 h 69"/>
                  <a:gd name="T4" fmla="*/ 3265 w 4331"/>
                  <a:gd name="T5" fmla="*/ 37 h 69"/>
                  <a:gd name="T6" fmla="*/ 3315 w 4331"/>
                  <a:gd name="T7" fmla="*/ 0 h 69"/>
                  <a:gd name="T8" fmla="*/ 4331 w 4331"/>
                  <a:gd name="T9" fmla="*/ 2 h 69"/>
                  <a:gd name="T10" fmla="*/ 4229 w 4331"/>
                  <a:gd name="T11" fmla="*/ 67 h 69"/>
                  <a:gd name="T12" fmla="*/ 3690 w 4331"/>
                  <a:gd name="T13" fmla="*/ 69 h 69"/>
                  <a:gd name="T14" fmla="*/ 2805 w 4331"/>
                  <a:gd name="T15" fmla="*/ 69 h 69"/>
                  <a:gd name="T16" fmla="*/ 1919 w 4331"/>
                  <a:gd name="T17" fmla="*/ 69 h 69"/>
                  <a:gd name="T18" fmla="*/ 0 w 4331"/>
                  <a:gd name="T19" fmla="*/ 53 h 69"/>
                  <a:gd name="T20" fmla="*/ 66 w 4331"/>
                  <a:gd name="T21" fmla="*/ 38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31"/>
                  <a:gd name="T34" fmla="*/ 0 h 69"/>
                  <a:gd name="T35" fmla="*/ 4331 w 4331"/>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31" h="69">
                    <a:moveTo>
                      <a:pt x="59" y="45"/>
                    </a:moveTo>
                    <a:lnTo>
                      <a:pt x="3252" y="45"/>
                    </a:lnTo>
                    <a:lnTo>
                      <a:pt x="3265" y="37"/>
                    </a:lnTo>
                    <a:lnTo>
                      <a:pt x="3315" y="0"/>
                    </a:lnTo>
                    <a:lnTo>
                      <a:pt x="4331" y="2"/>
                    </a:lnTo>
                    <a:lnTo>
                      <a:pt x="4229" y="67"/>
                    </a:lnTo>
                    <a:lnTo>
                      <a:pt x="3690" y="69"/>
                    </a:lnTo>
                    <a:lnTo>
                      <a:pt x="2805" y="69"/>
                    </a:lnTo>
                    <a:lnTo>
                      <a:pt x="1919" y="69"/>
                    </a:lnTo>
                    <a:lnTo>
                      <a:pt x="0" y="53"/>
                    </a:lnTo>
                    <a:lnTo>
                      <a:pt x="66" y="38"/>
                    </a:lnTo>
                  </a:path>
                </a:pathLst>
              </a:custGeom>
              <a:solidFill>
                <a:srgbClr val="00CCFF"/>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sp>
            <p:nvSpPr>
              <p:cNvPr id="23574" name="Freeform 10"/>
              <p:cNvSpPr>
                <a:spLocks/>
              </p:cNvSpPr>
              <p:nvPr/>
            </p:nvSpPr>
            <p:spPr bwMode="auto">
              <a:xfrm>
                <a:off x="5148" y="1451"/>
                <a:ext cx="102" cy="2041"/>
              </a:xfrm>
              <a:custGeom>
                <a:avLst/>
                <a:gdLst>
                  <a:gd name="T0" fmla="*/ 0 w 102"/>
                  <a:gd name="T1" fmla="*/ 73 h 2041"/>
                  <a:gd name="T2" fmla="*/ 102 w 102"/>
                  <a:gd name="T3" fmla="*/ 0 h 2041"/>
                  <a:gd name="T4" fmla="*/ 95 w 102"/>
                  <a:gd name="T5" fmla="*/ 1830 h 2041"/>
                  <a:gd name="T6" fmla="*/ 7 w 102"/>
                  <a:gd name="T7" fmla="*/ 2041 h 2041"/>
                  <a:gd name="T8" fmla="*/ 7 w 102"/>
                  <a:gd name="T9" fmla="*/ 328 h 2041"/>
                  <a:gd name="T10" fmla="*/ 0 60000 65536"/>
                  <a:gd name="T11" fmla="*/ 0 60000 65536"/>
                  <a:gd name="T12" fmla="*/ 0 60000 65536"/>
                  <a:gd name="T13" fmla="*/ 0 60000 65536"/>
                  <a:gd name="T14" fmla="*/ 0 60000 65536"/>
                  <a:gd name="T15" fmla="*/ 0 w 102"/>
                  <a:gd name="T16" fmla="*/ 0 h 2041"/>
                  <a:gd name="T17" fmla="*/ 102 w 102"/>
                  <a:gd name="T18" fmla="*/ 2041 h 2041"/>
                </a:gdLst>
                <a:ahLst/>
                <a:cxnLst>
                  <a:cxn ang="T10">
                    <a:pos x="T0" y="T1"/>
                  </a:cxn>
                  <a:cxn ang="T11">
                    <a:pos x="T2" y="T3"/>
                  </a:cxn>
                  <a:cxn ang="T12">
                    <a:pos x="T4" y="T5"/>
                  </a:cxn>
                  <a:cxn ang="T13">
                    <a:pos x="T6" y="T7"/>
                  </a:cxn>
                  <a:cxn ang="T14">
                    <a:pos x="T8" y="T9"/>
                  </a:cxn>
                </a:cxnLst>
                <a:rect l="T15" t="T16" r="T17" b="T18"/>
                <a:pathLst>
                  <a:path w="102" h="2041">
                    <a:moveTo>
                      <a:pt x="0" y="73"/>
                    </a:moveTo>
                    <a:lnTo>
                      <a:pt x="102" y="0"/>
                    </a:lnTo>
                    <a:lnTo>
                      <a:pt x="95" y="1830"/>
                    </a:lnTo>
                    <a:lnTo>
                      <a:pt x="7" y="2041"/>
                    </a:lnTo>
                    <a:lnTo>
                      <a:pt x="7" y="328"/>
                    </a:lnTo>
                  </a:path>
                </a:pathLst>
              </a:custGeom>
              <a:solidFill>
                <a:schemeClr val="tx1"/>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grpSp>
        <p:sp>
          <p:nvSpPr>
            <p:cNvPr id="748555" name="Text Box 11"/>
            <p:cNvSpPr txBox="1">
              <a:spLocks noChangeArrowheads="1"/>
            </p:cNvSpPr>
            <p:nvPr/>
          </p:nvSpPr>
          <p:spPr bwMode="auto">
            <a:xfrm>
              <a:off x="882" y="1728"/>
              <a:ext cx="3192" cy="373"/>
            </a:xfrm>
            <a:prstGeom prst="rect">
              <a:avLst/>
            </a:prstGeom>
            <a:solidFill>
              <a:srgbClr val="008080"/>
            </a:solidFill>
            <a:ln w="9525">
              <a:noFill/>
              <a:miter lim="800000"/>
              <a:headEnd/>
              <a:tailEnd/>
            </a:ln>
            <a:effectLst>
              <a:prstShdw prst="shdw17" dist="17961" dir="2700000">
                <a:srgbClr val="008080">
                  <a:gamma/>
                  <a:shade val="60000"/>
                  <a:invGamma/>
                </a:srgbClr>
              </a:prstShdw>
            </a:effectLst>
          </p:spPr>
          <p:txBody>
            <a:bodyPr>
              <a:spAutoFit/>
            </a:bodyPr>
            <a:lstStyle/>
            <a:p>
              <a:pPr>
                <a:defRPr/>
              </a:pPr>
              <a:r>
                <a:rPr lang="zh-CN" altLang="en-US" sz="3200" i="0">
                  <a:solidFill>
                    <a:schemeClr val="bg1"/>
                  </a:solidFill>
                  <a:effectLst>
                    <a:outerShdw blurRad="38100" dist="38100" dir="2700000" algn="tl">
                      <a:srgbClr val="000000"/>
                    </a:outerShdw>
                  </a:effectLst>
                  <a:latin typeface="Arial Narrow" pitchFamily="34" charset="0"/>
                </a:rPr>
                <a:t>例题1.2  求和</a:t>
              </a:r>
            </a:p>
          </p:txBody>
        </p:sp>
      </p:grpSp>
      <p:sp>
        <p:nvSpPr>
          <p:cNvPr id="748556" name="Rectangle 12"/>
          <p:cNvSpPr>
            <a:spLocks noGrp="1" noChangeArrowheads="1"/>
          </p:cNvSpPr>
          <p:nvPr>
            <p:ph type="title"/>
          </p:nvPr>
        </p:nvSpPr>
        <p:spPr/>
        <p:txBody>
          <a:bodyPr/>
          <a:lstStyle/>
          <a:p>
            <a:pPr>
              <a:defRPr/>
            </a:pPr>
            <a:r>
              <a:rPr lang="zh-CN" altLang="en-US" smtClean="0"/>
              <a:t>3.1   加减运算</a:t>
            </a:r>
          </a:p>
        </p:txBody>
      </p:sp>
      <p:grpSp>
        <p:nvGrpSpPr>
          <p:cNvPr id="23558" name="Group 13"/>
          <p:cNvGrpSpPr>
            <a:grpSpLocks/>
          </p:cNvGrpSpPr>
          <p:nvPr/>
        </p:nvGrpSpPr>
        <p:grpSpPr bwMode="auto">
          <a:xfrm>
            <a:off x="1238250" y="2667000"/>
            <a:ext cx="3219450" cy="2286000"/>
            <a:chOff x="912" y="2256"/>
            <a:chExt cx="1338" cy="1344"/>
          </a:xfrm>
        </p:grpSpPr>
        <p:sp>
          <p:nvSpPr>
            <p:cNvPr id="23567" name="Rectangle 14"/>
            <p:cNvSpPr>
              <a:spLocks noChangeArrowheads="1"/>
            </p:cNvSpPr>
            <p:nvPr/>
          </p:nvSpPr>
          <p:spPr bwMode="auto">
            <a:xfrm>
              <a:off x="912" y="2256"/>
              <a:ext cx="1338" cy="1344"/>
            </a:xfrm>
            <a:prstGeom prst="rect">
              <a:avLst/>
            </a:prstGeom>
            <a:solidFill>
              <a:srgbClr val="000080"/>
            </a:solidFill>
            <a:ln>
              <a:noFill/>
            </a:ln>
            <a:effectLst>
              <a:outerShdw dist="35921" dir="2700000" algn="ctr" rotWithShape="0">
                <a:schemeClr val="tx1"/>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70000"/>
                </a:lnSpc>
                <a:spcBef>
                  <a:spcPct val="50000"/>
                </a:spcBef>
              </a:pPr>
              <a:r>
                <a:rPr lang="zh-CN" altLang="en-US" b="0" i="0">
                  <a:latin typeface="Arial Black" pitchFamily="34" charset="0"/>
                </a:rPr>
                <a:t>            </a:t>
              </a:r>
              <a:r>
                <a:rPr lang="zh-CN" altLang="en-US" sz="2800" b="0" i="0">
                  <a:solidFill>
                    <a:schemeClr val="bg1"/>
                  </a:solidFill>
                  <a:latin typeface="Arial Black" pitchFamily="34" charset="0"/>
                </a:rPr>
                <a:t>3.150950</a:t>
              </a:r>
            </a:p>
            <a:p>
              <a:pPr algn="l">
                <a:lnSpc>
                  <a:spcPct val="70000"/>
                </a:lnSpc>
                <a:spcBef>
                  <a:spcPct val="50000"/>
                </a:spcBef>
              </a:pPr>
              <a:r>
                <a:rPr lang="zh-CN" altLang="en-US" sz="2800" b="0" i="0">
                  <a:solidFill>
                    <a:schemeClr val="bg1"/>
                  </a:solidFill>
                  <a:latin typeface="Arial Black" pitchFamily="34" charset="0"/>
                </a:rPr>
                <a:t>      15.426463</a:t>
              </a:r>
            </a:p>
            <a:p>
              <a:pPr algn="l">
                <a:lnSpc>
                  <a:spcPct val="70000"/>
                </a:lnSpc>
                <a:spcBef>
                  <a:spcPct val="50000"/>
                </a:spcBef>
              </a:pPr>
              <a:r>
                <a:rPr lang="zh-CN" altLang="en-US" sz="2800" b="0" i="0">
                  <a:solidFill>
                    <a:schemeClr val="bg1"/>
                  </a:solidFill>
                  <a:latin typeface="Arial Black" pitchFamily="34" charset="0"/>
                </a:rPr>
                <a:t>    568.3758</a:t>
              </a:r>
            </a:p>
            <a:p>
              <a:pPr algn="l">
                <a:lnSpc>
                  <a:spcPct val="70000"/>
                </a:lnSpc>
                <a:spcBef>
                  <a:spcPct val="50000"/>
                </a:spcBef>
              </a:pPr>
              <a:r>
                <a:rPr lang="zh-CN" altLang="en-US" sz="2800" b="0" i="0">
                  <a:solidFill>
                    <a:schemeClr val="bg1"/>
                  </a:solidFill>
                  <a:latin typeface="Arial Black" pitchFamily="34" charset="0"/>
                </a:rPr>
                <a:t>+7684.388</a:t>
              </a:r>
              <a:endParaRPr lang="zh-CN" altLang="zh-CN" sz="2800" b="0" i="0">
                <a:solidFill>
                  <a:schemeClr val="bg1"/>
                </a:solidFill>
                <a:latin typeface="Arial Black" pitchFamily="34" charset="0"/>
              </a:endParaRPr>
            </a:p>
          </p:txBody>
        </p:sp>
        <p:sp>
          <p:nvSpPr>
            <p:cNvPr id="23568" name="Line 15"/>
            <p:cNvSpPr>
              <a:spLocks noChangeShapeType="1"/>
            </p:cNvSpPr>
            <p:nvPr/>
          </p:nvSpPr>
          <p:spPr bwMode="auto">
            <a:xfrm>
              <a:off x="960" y="3264"/>
              <a:ext cx="124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grpSp>
        <p:nvGrpSpPr>
          <p:cNvPr id="6" name="Group 16"/>
          <p:cNvGrpSpPr>
            <a:grpSpLocks/>
          </p:cNvGrpSpPr>
          <p:nvPr/>
        </p:nvGrpSpPr>
        <p:grpSpPr bwMode="auto">
          <a:xfrm>
            <a:off x="6223000" y="2590800"/>
            <a:ext cx="2692400" cy="2362200"/>
            <a:chOff x="3714" y="2304"/>
            <a:chExt cx="1338" cy="1344"/>
          </a:xfrm>
        </p:grpSpPr>
        <p:sp>
          <p:nvSpPr>
            <p:cNvPr id="23565" name="Rectangle 17"/>
            <p:cNvSpPr>
              <a:spLocks noChangeArrowheads="1"/>
            </p:cNvSpPr>
            <p:nvPr/>
          </p:nvSpPr>
          <p:spPr bwMode="auto">
            <a:xfrm>
              <a:off x="3714" y="2304"/>
              <a:ext cx="1338" cy="1344"/>
            </a:xfrm>
            <a:prstGeom prst="rect">
              <a:avLst/>
            </a:prstGeom>
            <a:solidFill>
              <a:srgbClr val="000080"/>
            </a:solidFill>
            <a:ln>
              <a:noFill/>
            </a:ln>
            <a:effectLst>
              <a:outerShdw dist="35921" dir="2700000" algn="ctr" rotWithShape="0">
                <a:schemeClr val="tx1"/>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lnSpc>
                  <a:spcPct val="50000"/>
                </a:lnSpc>
                <a:spcBef>
                  <a:spcPct val="50000"/>
                </a:spcBef>
              </a:pPr>
              <a:r>
                <a:rPr lang="zh-CN" altLang="en-US" sz="1600" b="0" i="0">
                  <a:latin typeface="Arial Black" pitchFamily="34" charset="0"/>
                </a:rPr>
                <a:t>              </a:t>
              </a:r>
              <a:r>
                <a:rPr lang="zh-CN" altLang="en-US" sz="2800" b="0" i="0">
                  <a:solidFill>
                    <a:schemeClr val="bg1"/>
                  </a:solidFill>
                  <a:latin typeface="Arial Black" pitchFamily="34" charset="0"/>
                </a:rPr>
                <a:t>3.1510</a:t>
              </a:r>
            </a:p>
            <a:p>
              <a:pPr algn="l">
                <a:lnSpc>
                  <a:spcPct val="50000"/>
                </a:lnSpc>
                <a:spcBef>
                  <a:spcPct val="50000"/>
                </a:spcBef>
              </a:pPr>
              <a:r>
                <a:rPr lang="zh-CN" altLang="en-US" sz="2800" b="0" i="0">
                  <a:solidFill>
                    <a:schemeClr val="bg1"/>
                  </a:solidFill>
                  <a:latin typeface="Arial Black" pitchFamily="34" charset="0"/>
                </a:rPr>
                <a:t>      15.4265</a:t>
              </a:r>
            </a:p>
            <a:p>
              <a:pPr algn="l">
                <a:lnSpc>
                  <a:spcPct val="50000"/>
                </a:lnSpc>
                <a:spcBef>
                  <a:spcPct val="50000"/>
                </a:spcBef>
              </a:pPr>
              <a:r>
                <a:rPr lang="zh-CN" altLang="en-US" sz="2800" b="0" i="0">
                  <a:solidFill>
                    <a:schemeClr val="bg1"/>
                  </a:solidFill>
                  <a:latin typeface="Arial Black" pitchFamily="34" charset="0"/>
                </a:rPr>
                <a:t>    568.3758</a:t>
              </a:r>
            </a:p>
            <a:p>
              <a:pPr algn="l">
                <a:lnSpc>
                  <a:spcPct val="50000"/>
                </a:lnSpc>
                <a:spcBef>
                  <a:spcPct val="50000"/>
                </a:spcBef>
              </a:pPr>
              <a:r>
                <a:rPr lang="zh-CN" altLang="en-US" sz="2800" b="0" i="0">
                  <a:solidFill>
                    <a:schemeClr val="bg1"/>
                  </a:solidFill>
                  <a:latin typeface="Arial Black" pitchFamily="34" charset="0"/>
                </a:rPr>
                <a:t>+7684.388</a:t>
              </a:r>
            </a:p>
            <a:p>
              <a:pPr algn="l">
                <a:lnSpc>
                  <a:spcPct val="50000"/>
                </a:lnSpc>
                <a:spcBef>
                  <a:spcPct val="50000"/>
                </a:spcBef>
              </a:pPr>
              <a:r>
                <a:rPr lang="zh-CN" altLang="en-US" sz="2800" b="0" i="0">
                  <a:solidFill>
                    <a:schemeClr val="bg1"/>
                  </a:solidFill>
                  <a:latin typeface="Arial Black" pitchFamily="34" charset="0"/>
                </a:rPr>
                <a:t>  8271.3413</a:t>
              </a:r>
              <a:endParaRPr lang="zh-CN" altLang="zh-CN" sz="2800" b="0" i="0">
                <a:solidFill>
                  <a:schemeClr val="bg1"/>
                </a:solidFill>
                <a:latin typeface="Arial Black" pitchFamily="34" charset="0"/>
              </a:endParaRPr>
            </a:p>
          </p:txBody>
        </p:sp>
        <p:sp>
          <p:nvSpPr>
            <p:cNvPr id="23566" name="Line 18"/>
            <p:cNvSpPr>
              <a:spLocks noChangeShapeType="1"/>
            </p:cNvSpPr>
            <p:nvPr/>
          </p:nvSpPr>
          <p:spPr bwMode="auto">
            <a:xfrm>
              <a:off x="3762" y="3312"/>
              <a:ext cx="12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19"/>
          <p:cNvGrpSpPr>
            <a:grpSpLocks/>
          </p:cNvGrpSpPr>
          <p:nvPr/>
        </p:nvGrpSpPr>
        <p:grpSpPr bwMode="auto">
          <a:xfrm>
            <a:off x="4622800" y="2895600"/>
            <a:ext cx="1485900" cy="1066800"/>
            <a:chOff x="2610" y="1776"/>
            <a:chExt cx="864" cy="672"/>
          </a:xfrm>
        </p:grpSpPr>
        <p:sp>
          <p:nvSpPr>
            <p:cNvPr id="23563" name="Rectangle 20"/>
            <p:cNvSpPr>
              <a:spLocks noChangeArrowheads="1"/>
            </p:cNvSpPr>
            <p:nvPr/>
          </p:nvSpPr>
          <p:spPr bwMode="auto">
            <a:xfrm>
              <a:off x="2610" y="1776"/>
              <a:ext cx="864" cy="432"/>
            </a:xfrm>
            <a:prstGeom prst="rect">
              <a:avLst/>
            </a:prstGeom>
            <a:gradFill rotWithShape="0">
              <a:gsLst>
                <a:gs pos="0">
                  <a:srgbClr val="000076"/>
                </a:gs>
                <a:gs pos="100000">
                  <a:srgbClr val="0000FF"/>
                </a:gs>
              </a:gsLst>
              <a:lin ang="18900000" scaled="1"/>
            </a:gradFill>
            <a:ln>
              <a:noFill/>
            </a:ln>
            <a:effectLst>
              <a:outerShdw dist="35921" dir="2700000" algn="ctr" rotWithShape="0">
                <a:schemeClr val="tx1"/>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r>
                <a:rPr lang="zh-CN" altLang="en-US" sz="2400" i="0">
                  <a:solidFill>
                    <a:schemeClr val="bg1"/>
                  </a:solidFill>
                  <a:latin typeface="Arial Narrow" pitchFamily="34" charset="0"/>
                </a:rPr>
                <a:t>作舍入</a:t>
              </a:r>
            </a:p>
            <a:p>
              <a:r>
                <a:rPr lang="zh-CN" altLang="en-US" sz="2400" i="0">
                  <a:solidFill>
                    <a:schemeClr val="bg1"/>
                  </a:solidFill>
                  <a:latin typeface="Arial Narrow" pitchFamily="34" charset="0"/>
                </a:rPr>
                <a:t>处理</a:t>
              </a:r>
              <a:endParaRPr lang="zh-CN" altLang="zh-CN" sz="2400" i="0">
                <a:solidFill>
                  <a:schemeClr val="bg1"/>
                </a:solidFill>
                <a:latin typeface="Arial Narrow" pitchFamily="34" charset="0"/>
              </a:endParaRPr>
            </a:p>
          </p:txBody>
        </p:sp>
        <p:sp>
          <p:nvSpPr>
            <p:cNvPr id="23564" name="Freeform 21"/>
            <p:cNvSpPr>
              <a:spLocks/>
            </p:cNvSpPr>
            <p:nvPr/>
          </p:nvSpPr>
          <p:spPr bwMode="auto">
            <a:xfrm>
              <a:off x="2610" y="2208"/>
              <a:ext cx="864" cy="240"/>
            </a:xfrm>
            <a:custGeom>
              <a:avLst/>
              <a:gdLst>
                <a:gd name="T0" fmla="*/ 0 w 541"/>
                <a:gd name="T1" fmla="*/ 91 h 167"/>
                <a:gd name="T2" fmla="*/ 941 w 541"/>
                <a:gd name="T3" fmla="*/ 91 h 167"/>
                <a:gd name="T4" fmla="*/ 941 w 541"/>
                <a:gd name="T5" fmla="*/ 0 h 167"/>
                <a:gd name="T6" fmla="*/ 1377 w 541"/>
                <a:gd name="T7" fmla="*/ 171 h 167"/>
                <a:gd name="T8" fmla="*/ 941 w 541"/>
                <a:gd name="T9" fmla="*/ 343 h 167"/>
                <a:gd name="T10" fmla="*/ 941 w 541"/>
                <a:gd name="T11" fmla="*/ 254 h 167"/>
                <a:gd name="T12" fmla="*/ 0 w 541"/>
                <a:gd name="T13" fmla="*/ 254 h 167"/>
                <a:gd name="T14" fmla="*/ 0 w 541"/>
                <a:gd name="T15" fmla="*/ 91 h 167"/>
                <a:gd name="T16" fmla="*/ 0 60000 65536"/>
                <a:gd name="T17" fmla="*/ 0 60000 65536"/>
                <a:gd name="T18" fmla="*/ 0 60000 65536"/>
                <a:gd name="T19" fmla="*/ 0 60000 65536"/>
                <a:gd name="T20" fmla="*/ 0 60000 65536"/>
                <a:gd name="T21" fmla="*/ 0 60000 65536"/>
                <a:gd name="T22" fmla="*/ 0 60000 65536"/>
                <a:gd name="T23" fmla="*/ 0 60000 65536"/>
                <a:gd name="T24" fmla="*/ 0 w 541"/>
                <a:gd name="T25" fmla="*/ 0 h 167"/>
                <a:gd name="T26" fmla="*/ 541 w 541"/>
                <a:gd name="T27" fmla="*/ 167 h 1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1" h="167">
                  <a:moveTo>
                    <a:pt x="0" y="44"/>
                  </a:moveTo>
                  <a:lnTo>
                    <a:pt x="369" y="44"/>
                  </a:lnTo>
                  <a:lnTo>
                    <a:pt x="369" y="0"/>
                  </a:lnTo>
                  <a:lnTo>
                    <a:pt x="540" y="83"/>
                  </a:lnTo>
                  <a:lnTo>
                    <a:pt x="369" y="166"/>
                  </a:lnTo>
                  <a:lnTo>
                    <a:pt x="369" y="123"/>
                  </a:lnTo>
                  <a:lnTo>
                    <a:pt x="0" y="123"/>
                  </a:lnTo>
                  <a:lnTo>
                    <a:pt x="0" y="44"/>
                  </a:lnTo>
                </a:path>
              </a:pathLst>
            </a:custGeom>
            <a:solidFill>
              <a:srgbClr val="FF0000"/>
            </a:solidFill>
            <a:ln w="9525">
              <a:round/>
              <a:headEnd/>
              <a:tailEnd/>
            </a:ln>
            <a:scene3d>
              <a:camera prst="legacyObliqueTopRight"/>
              <a:lightRig rig="legacyFlat3" dir="b"/>
            </a:scene3d>
            <a:sp3d extrusionH="125400" prstMaterial="legacyMatte">
              <a:bevelT w="13500" h="13500" prst="angle"/>
              <a:bevelB w="13500" h="13500" prst="angle"/>
              <a:extrusionClr>
                <a:srgbClr val="FF0000"/>
              </a:extrusionClr>
            </a:sp3d>
          </p:spPr>
          <p:txBody>
            <a:bodyPr>
              <a:flatTx/>
            </a:bodyPr>
            <a:lstStyle/>
            <a:p>
              <a:endParaRPr lang="zh-CN" altLang="en-US"/>
            </a:p>
          </p:txBody>
        </p:sp>
      </p:grpSp>
      <p:sp>
        <p:nvSpPr>
          <p:cNvPr id="748566" name="Rectangle 22"/>
          <p:cNvSpPr>
            <a:spLocks noChangeArrowheads="1"/>
          </p:cNvSpPr>
          <p:nvPr/>
        </p:nvSpPr>
        <p:spPr bwMode="auto">
          <a:xfrm>
            <a:off x="8266113" y="2722563"/>
            <a:ext cx="412750" cy="1066800"/>
          </a:xfrm>
          <a:prstGeom prst="rect">
            <a:avLst/>
          </a:prstGeom>
          <a:noFill/>
          <a:ln w="31750">
            <a:solidFill>
              <a:srgbClr val="F60A0A"/>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48567" name="Rectangle 23"/>
          <p:cNvSpPr>
            <a:spLocks noChangeArrowheads="1"/>
          </p:cNvSpPr>
          <p:nvPr/>
        </p:nvSpPr>
        <p:spPr bwMode="auto">
          <a:xfrm>
            <a:off x="412750" y="5257800"/>
            <a:ext cx="924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和的绝对误差限为3*(0.5*10</a:t>
            </a:r>
            <a:r>
              <a:rPr lang="zh-CN" altLang="en-US" sz="2800" i="0" baseline="30000">
                <a:latin typeface="Times New Roman" pitchFamily="18" charset="0"/>
                <a:ea typeface="黑体" pitchFamily="49" charset="-122"/>
              </a:rPr>
              <a:t>-4</a:t>
            </a:r>
            <a:r>
              <a:rPr lang="zh-CN" altLang="en-US" sz="2800" i="0">
                <a:latin typeface="Times New Roman" pitchFamily="18" charset="0"/>
                <a:ea typeface="黑体" pitchFamily="49" charset="-122"/>
              </a:rPr>
              <a:t>)+0.5*10</a:t>
            </a:r>
            <a:r>
              <a:rPr lang="zh-CN" altLang="en-US" sz="2800" i="0" baseline="30000">
                <a:latin typeface="Times New Roman" pitchFamily="18" charset="0"/>
                <a:ea typeface="黑体" pitchFamily="49" charset="-122"/>
              </a:rPr>
              <a:t>-3</a:t>
            </a:r>
            <a:r>
              <a:rPr lang="zh-CN" altLang="en-US" sz="2800" i="0">
                <a:latin typeface="Times New Roman" pitchFamily="18" charset="0"/>
                <a:ea typeface="黑体" pitchFamily="49" charset="-122"/>
              </a:rPr>
              <a:t>=0.00065</a:t>
            </a:r>
            <a:endParaRPr lang="zh-CN" altLang="zh-CN" sz="2800" i="0">
              <a:latin typeface="Times New Roman" pitchFamily="18" charset="0"/>
              <a:ea typeface="黑体"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748566"/>
                                        </p:tgtEl>
                                        <p:attrNameLst>
                                          <p:attrName>style.visibility</p:attrName>
                                        </p:attrNameLst>
                                      </p:cBhvr>
                                      <p:to>
                                        <p:strVal val="visible"/>
                                      </p:to>
                                    </p:set>
                                    <p:anim calcmode="lin" valueType="num">
                                      <p:cBhvr>
                                        <p:cTn id="17" dur="500" fill="hold"/>
                                        <p:tgtEl>
                                          <p:spTgt spid="748566"/>
                                        </p:tgtEl>
                                        <p:attrNameLst>
                                          <p:attrName>ppt_w</p:attrName>
                                        </p:attrNameLst>
                                      </p:cBhvr>
                                      <p:tavLst>
                                        <p:tav tm="0">
                                          <p:val>
                                            <p:fltVal val="0"/>
                                          </p:val>
                                        </p:tav>
                                        <p:tav tm="100000">
                                          <p:val>
                                            <p:strVal val="#ppt_w"/>
                                          </p:val>
                                        </p:tav>
                                      </p:tavLst>
                                    </p:anim>
                                    <p:anim calcmode="lin" valueType="num">
                                      <p:cBhvr>
                                        <p:cTn id="18" dur="500" fill="hold"/>
                                        <p:tgtEl>
                                          <p:spTgt spid="748566"/>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iterate type="lt">
                                    <p:tmPct val="100000"/>
                                  </p:iterate>
                                  <p:childTnLst>
                                    <p:set>
                                      <p:cBhvr>
                                        <p:cTn id="22" dur="1" fill="hold">
                                          <p:stCondLst>
                                            <p:cond delay="0"/>
                                          </p:stCondLst>
                                        </p:cTn>
                                        <p:tgtEl>
                                          <p:spTgt spid="748567"/>
                                        </p:tgtEl>
                                        <p:attrNameLst>
                                          <p:attrName>style.visibility</p:attrName>
                                        </p:attrNameLst>
                                      </p:cBhvr>
                                      <p:to>
                                        <p:strVal val="visible"/>
                                      </p:to>
                                    </p:set>
                                    <p:anim calcmode="lin" valueType="num">
                                      <p:cBhvr>
                                        <p:cTn id="23" dur="75" fill="hold"/>
                                        <p:tgtEl>
                                          <p:spTgt spid="748567"/>
                                        </p:tgtEl>
                                        <p:attrNameLst>
                                          <p:attrName>ppt_x</p:attrName>
                                        </p:attrNameLst>
                                      </p:cBhvr>
                                      <p:tavLst>
                                        <p:tav tm="0">
                                          <p:val>
                                            <p:strVal val="#ppt_x-#ppt_w/2"/>
                                          </p:val>
                                        </p:tav>
                                        <p:tav tm="100000">
                                          <p:val>
                                            <p:strVal val="#ppt_x"/>
                                          </p:val>
                                        </p:tav>
                                      </p:tavLst>
                                    </p:anim>
                                    <p:anim calcmode="lin" valueType="num">
                                      <p:cBhvr>
                                        <p:cTn id="24" dur="75" fill="hold"/>
                                        <p:tgtEl>
                                          <p:spTgt spid="748567"/>
                                        </p:tgtEl>
                                        <p:attrNameLst>
                                          <p:attrName>ppt_y</p:attrName>
                                        </p:attrNameLst>
                                      </p:cBhvr>
                                      <p:tavLst>
                                        <p:tav tm="0">
                                          <p:val>
                                            <p:strVal val="#ppt_y"/>
                                          </p:val>
                                        </p:tav>
                                        <p:tav tm="100000">
                                          <p:val>
                                            <p:strVal val="#ppt_y"/>
                                          </p:val>
                                        </p:tav>
                                      </p:tavLst>
                                    </p:anim>
                                    <p:anim calcmode="lin" valueType="num">
                                      <p:cBhvr>
                                        <p:cTn id="25" dur="75" fill="hold"/>
                                        <p:tgtEl>
                                          <p:spTgt spid="748567"/>
                                        </p:tgtEl>
                                        <p:attrNameLst>
                                          <p:attrName>ppt_w</p:attrName>
                                        </p:attrNameLst>
                                      </p:cBhvr>
                                      <p:tavLst>
                                        <p:tav tm="0">
                                          <p:val>
                                            <p:fltVal val="0"/>
                                          </p:val>
                                        </p:tav>
                                        <p:tav tm="100000">
                                          <p:val>
                                            <p:strVal val="#ppt_w"/>
                                          </p:val>
                                        </p:tav>
                                      </p:tavLst>
                                    </p:anim>
                                    <p:anim calcmode="lin" valueType="num">
                                      <p:cBhvr>
                                        <p:cTn id="26" dur="75" fill="hold"/>
                                        <p:tgtEl>
                                          <p:spTgt spid="74856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566" grpId="0" animBg="1"/>
      <p:bldP spid="748567" grpId="0" autoUpdateAnimBg="0" rev="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11449FD-9F4D-4430-9C85-A9A7E7906146}" type="slidenum">
              <a:rPr lang="zh-CN" altLang="en-US" i="0" smtClean="0"/>
              <a:pPr/>
              <a:t>21</a:t>
            </a:fld>
            <a:endParaRPr lang="en-US" altLang="zh-CN" i="0" smtClean="0"/>
          </a:p>
        </p:txBody>
      </p:sp>
      <p:sp>
        <p:nvSpPr>
          <p:cNvPr id="2457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0FF40B8-62A0-42E6-9E6B-19708B29A377}" type="datetime1">
              <a:rPr lang="zh-CN" altLang="en-US" sz="1800" i="0" smtClean="0"/>
              <a:pPr/>
              <a:t>2024/9/8</a:t>
            </a:fld>
            <a:endParaRPr lang="en-US" altLang="zh-CN" sz="1000" i="0" smtClean="0"/>
          </a:p>
        </p:txBody>
      </p:sp>
      <p:sp>
        <p:nvSpPr>
          <p:cNvPr id="765954" name="Rectangle 2"/>
          <p:cNvSpPr>
            <a:spLocks noGrp="1" noChangeArrowheads="1"/>
          </p:cNvSpPr>
          <p:nvPr>
            <p:ph type="title"/>
          </p:nvPr>
        </p:nvSpPr>
        <p:spPr/>
        <p:txBody>
          <a:bodyPr/>
          <a:lstStyle/>
          <a:p>
            <a:pPr>
              <a:defRPr/>
            </a:pPr>
            <a:r>
              <a:rPr lang="zh-CN" altLang="en-US" smtClean="0"/>
              <a:t>3.2   乘积运算</a:t>
            </a:r>
          </a:p>
        </p:txBody>
      </p:sp>
      <p:sp>
        <p:nvSpPr>
          <p:cNvPr id="24581" name="Rectangle 3"/>
          <p:cNvSpPr>
            <a:spLocks noGrp="1" noChangeArrowheads="1"/>
          </p:cNvSpPr>
          <p:nvPr>
            <p:ph type="body" idx="1"/>
          </p:nvPr>
        </p:nvSpPr>
        <p:spPr>
          <a:xfrm>
            <a:off x="650875" y="1143000"/>
            <a:ext cx="8820150" cy="768350"/>
          </a:xfrm>
        </p:spPr>
        <p:txBody>
          <a:bodyPr/>
          <a:lstStyle/>
          <a:p>
            <a:r>
              <a:rPr lang="zh-CN" altLang="en-US" smtClean="0">
                <a:latin typeface="宋体" pitchFamily="2" charset="-122"/>
              </a:rPr>
              <a:t>乘积运算的相对误差为各乘数的相对误差之和，其相对误差限等于各乘数相对误差限之和</a:t>
            </a:r>
            <a:endParaRPr lang="zh-CN" altLang="en-US" smtClean="0"/>
          </a:p>
        </p:txBody>
      </p:sp>
      <p:graphicFrame>
        <p:nvGraphicFramePr>
          <p:cNvPr id="765956" name="Object 4" descr="再生纸"/>
          <p:cNvGraphicFramePr>
            <a:graphicFrameLocks noChangeAspect="1"/>
          </p:cNvGraphicFramePr>
          <p:nvPr>
            <p:extLst>
              <p:ext uri="{D42A27DB-BD31-4B8C-83A1-F6EECF244321}">
                <p14:modId xmlns:p14="http://schemas.microsoft.com/office/powerpoint/2010/main" val="677180931"/>
              </p:ext>
            </p:extLst>
          </p:nvPr>
        </p:nvGraphicFramePr>
        <p:xfrm>
          <a:off x="1424609" y="2286000"/>
          <a:ext cx="6480720" cy="706438"/>
        </p:xfrm>
        <a:graphic>
          <a:graphicData uri="http://schemas.openxmlformats.org/presentationml/2006/ole">
            <mc:AlternateContent xmlns:mc="http://schemas.openxmlformats.org/markup-compatibility/2006">
              <mc:Choice xmlns:v="urn:schemas-microsoft-com:vml" Requires="v">
                <p:oleObj spid="_x0000_s24651" name="Equation" r:id="rId4" imgW="2064940" imgH="228688" progId="Equation.3">
                  <p:embed/>
                </p:oleObj>
              </mc:Choice>
              <mc:Fallback>
                <p:oleObj name="Equation" r:id="rId4" imgW="2064940" imgH="228688" progId="Equation.3">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4609" y="2286000"/>
                        <a:ext cx="6480720" cy="706438"/>
                      </a:xfrm>
                      <a:prstGeom prst="rect">
                        <a:avLst/>
                      </a:prstGeom>
                      <a:noFill/>
                      <a:ln>
                        <a:noFill/>
                      </a:ln>
                      <a:effectLst/>
                      <a:extLst/>
                    </p:spPr>
                  </p:pic>
                </p:oleObj>
              </mc:Fallback>
            </mc:AlternateContent>
          </a:graphicData>
        </a:graphic>
      </p:graphicFrame>
      <p:graphicFrame>
        <p:nvGraphicFramePr>
          <p:cNvPr id="765957" name="Object 5" descr="再生纸"/>
          <p:cNvGraphicFramePr>
            <a:graphicFrameLocks noChangeAspect="1"/>
          </p:cNvGraphicFramePr>
          <p:nvPr/>
        </p:nvGraphicFramePr>
        <p:xfrm>
          <a:off x="457200" y="3124200"/>
          <a:ext cx="8439150" cy="674688"/>
        </p:xfrm>
        <a:graphic>
          <a:graphicData uri="http://schemas.openxmlformats.org/presentationml/2006/ole">
            <mc:AlternateContent xmlns:mc="http://schemas.openxmlformats.org/markup-compatibility/2006">
              <mc:Choice xmlns:v="urn:schemas-microsoft-com:vml" Requires="v">
                <p:oleObj spid="_x0000_s24652" name="Equation" r:id="rId6" imgW="2842153" imgH="228688" progId="Equation.3">
                  <p:embed/>
                </p:oleObj>
              </mc:Choice>
              <mc:Fallback>
                <p:oleObj name="Equation" r:id="rId6" imgW="2842153" imgH="228688" progId="Equation.3">
                  <p:embed/>
                  <p:pic>
                    <p:nvPicPr>
                      <p:cNvPr id="0" name="Object 5" descr="再生纸"/>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3124200"/>
                        <a:ext cx="8439150" cy="674688"/>
                      </a:xfrm>
                      <a:prstGeom prst="rect">
                        <a:avLst/>
                      </a:prstGeom>
                      <a:noFill/>
                      <a:ln>
                        <a:noFill/>
                      </a:ln>
                      <a:effectLst/>
                      <a:extLst>
                        <a:ext uri="{909E8E84-426E-40DD-AFC4-6F175D3DCCD1}">
                          <a14:hiddenFill xmlns:a14="http://schemas.microsoft.com/office/drawing/2010/main">
                            <a:blipFill dpi="0" rotWithShape="0">
                              <a:blip r:embed="rId8"/>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5958" name="Object 6" descr="再生纸"/>
          <p:cNvGraphicFramePr>
            <a:graphicFrameLocks noChangeAspect="1"/>
          </p:cNvGraphicFramePr>
          <p:nvPr/>
        </p:nvGraphicFramePr>
        <p:xfrm>
          <a:off x="609600" y="3886200"/>
          <a:ext cx="8147050" cy="1778000"/>
        </p:xfrm>
        <a:graphic>
          <a:graphicData uri="http://schemas.openxmlformats.org/presentationml/2006/ole">
            <mc:AlternateContent xmlns:mc="http://schemas.openxmlformats.org/markup-compatibility/2006">
              <mc:Choice xmlns:v="urn:schemas-microsoft-com:vml" Requires="v">
                <p:oleObj spid="_x0000_s24653" name="Equation" r:id="rId9" imgW="2994616" imgH="647625" progId="Equation.3">
                  <p:embed/>
                </p:oleObj>
              </mc:Choice>
              <mc:Fallback>
                <p:oleObj name="Equation" r:id="rId9" imgW="2994616" imgH="647625" progId="Equation.3">
                  <p:embed/>
                  <p:pic>
                    <p:nvPicPr>
                      <p:cNvPr id="0" name="Object 6" descr="再生纸"/>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3886200"/>
                        <a:ext cx="8147050" cy="1778000"/>
                      </a:xfrm>
                      <a:prstGeom prst="rect">
                        <a:avLst/>
                      </a:prstGeom>
                      <a:noFill/>
                      <a:ln>
                        <a:noFill/>
                      </a:ln>
                      <a:effectLst/>
                      <a:extLst>
                        <a:ext uri="{909E8E84-426E-40DD-AFC4-6F175D3DCCD1}">
                          <a14:hiddenFill xmlns:a14="http://schemas.microsoft.com/office/drawing/2010/main">
                            <a:blipFill dpi="0" rotWithShape="0">
                              <a:blip r:embed="rId8"/>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65956"/>
                                        </p:tgtEl>
                                        <p:attrNameLst>
                                          <p:attrName>style.visibility</p:attrName>
                                        </p:attrNameLst>
                                      </p:cBhvr>
                                      <p:to>
                                        <p:strVal val="visible"/>
                                      </p:to>
                                    </p:set>
                                    <p:animEffect transition="in" filter="wipe(up)">
                                      <p:cBhvr>
                                        <p:cTn id="7" dur="500"/>
                                        <p:tgtEl>
                                          <p:spTgt spid="7659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65957"/>
                                        </p:tgtEl>
                                        <p:attrNameLst>
                                          <p:attrName>style.visibility</p:attrName>
                                        </p:attrNameLst>
                                      </p:cBhvr>
                                      <p:to>
                                        <p:strVal val="visible"/>
                                      </p:to>
                                    </p:set>
                                    <p:animEffect transition="in" filter="wipe(up)">
                                      <p:cBhvr>
                                        <p:cTn id="12" dur="500"/>
                                        <p:tgtEl>
                                          <p:spTgt spid="7659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65958"/>
                                        </p:tgtEl>
                                        <p:attrNameLst>
                                          <p:attrName>style.visibility</p:attrName>
                                        </p:attrNameLst>
                                      </p:cBhvr>
                                      <p:to>
                                        <p:strVal val="visible"/>
                                      </p:to>
                                    </p:set>
                                    <p:animEffect transition="in" filter="wipe(up)">
                                      <p:cBhvr>
                                        <p:cTn id="17" dur="500"/>
                                        <p:tgtEl>
                                          <p:spTgt spid="765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8722B60-66F8-4DCE-85C7-FFEC372937CC}" type="slidenum">
              <a:rPr lang="zh-CN" altLang="en-US" i="0" smtClean="0"/>
              <a:pPr/>
              <a:t>22</a:t>
            </a:fld>
            <a:endParaRPr lang="en-US" altLang="zh-CN" i="0" smtClean="0"/>
          </a:p>
        </p:txBody>
      </p:sp>
      <p:sp>
        <p:nvSpPr>
          <p:cNvPr id="256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57EE4CB-182E-49BA-B396-BF889A3D8185}" type="datetime1">
              <a:rPr lang="zh-CN" altLang="en-US" sz="1800" i="0" smtClean="0"/>
              <a:pPr/>
              <a:t>2024/9/8</a:t>
            </a:fld>
            <a:endParaRPr lang="en-US" altLang="zh-CN" sz="1000" i="0" smtClean="0"/>
          </a:p>
        </p:txBody>
      </p:sp>
      <p:sp>
        <p:nvSpPr>
          <p:cNvPr id="768002" name="Rectangle 2"/>
          <p:cNvSpPr>
            <a:spLocks noGrp="1" noChangeArrowheads="1"/>
          </p:cNvSpPr>
          <p:nvPr>
            <p:ph type="title"/>
          </p:nvPr>
        </p:nvSpPr>
        <p:spPr/>
        <p:txBody>
          <a:bodyPr/>
          <a:lstStyle/>
          <a:p>
            <a:pPr>
              <a:defRPr/>
            </a:pPr>
            <a:r>
              <a:rPr lang="zh-CN" altLang="en-US" smtClean="0"/>
              <a:t>3.3   商运算</a:t>
            </a:r>
          </a:p>
        </p:txBody>
      </p:sp>
      <p:sp>
        <p:nvSpPr>
          <p:cNvPr id="25605" name="Rectangle 3"/>
          <p:cNvSpPr>
            <a:spLocks noGrp="1" noChangeArrowheads="1"/>
          </p:cNvSpPr>
          <p:nvPr>
            <p:ph type="body" idx="1"/>
          </p:nvPr>
        </p:nvSpPr>
        <p:spPr>
          <a:xfrm>
            <a:off x="650875" y="1143000"/>
            <a:ext cx="8820150" cy="768350"/>
          </a:xfrm>
        </p:spPr>
        <p:txBody>
          <a:bodyPr/>
          <a:lstStyle/>
          <a:p>
            <a:r>
              <a:rPr lang="zh-CN" altLang="en-US" smtClean="0">
                <a:latin typeface="宋体" pitchFamily="2" charset="-122"/>
              </a:rPr>
              <a:t>商运算的相对误差限等于除数与被除数的相对误差限之和</a:t>
            </a:r>
          </a:p>
        </p:txBody>
      </p:sp>
      <p:graphicFrame>
        <p:nvGraphicFramePr>
          <p:cNvPr id="768004" name="Object 4" descr="再生纸"/>
          <p:cNvGraphicFramePr>
            <a:graphicFrameLocks noChangeAspect="1"/>
          </p:cNvGraphicFramePr>
          <p:nvPr/>
        </p:nvGraphicFramePr>
        <p:xfrm>
          <a:off x="1039813" y="1981200"/>
          <a:ext cx="1106487" cy="1158875"/>
        </p:xfrm>
        <a:graphic>
          <a:graphicData uri="http://schemas.openxmlformats.org/presentationml/2006/ole">
            <mc:AlternateContent xmlns:mc="http://schemas.openxmlformats.org/markup-compatibility/2006">
              <mc:Choice xmlns:v="urn:schemas-microsoft-com:vml" Requires="v">
                <p:oleObj spid="_x0000_s25698" name="Equation" r:id="rId4" imgW="380941" imgH="403821" progId="Equation.3">
                  <p:embed/>
                </p:oleObj>
              </mc:Choice>
              <mc:Fallback>
                <p:oleObj name="Equation" r:id="rId4" imgW="380941" imgH="403821" progId="Equation.3">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9813" y="1981200"/>
                        <a:ext cx="1106487" cy="115887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05" name="Object 5" descr="再生纸"/>
          <p:cNvGraphicFramePr>
            <a:graphicFrameLocks noChangeAspect="1"/>
          </p:cNvGraphicFramePr>
          <p:nvPr/>
        </p:nvGraphicFramePr>
        <p:xfrm>
          <a:off x="3343275" y="1981200"/>
          <a:ext cx="3756025" cy="1208088"/>
        </p:xfrm>
        <a:graphic>
          <a:graphicData uri="http://schemas.openxmlformats.org/presentationml/2006/ole">
            <mc:AlternateContent xmlns:mc="http://schemas.openxmlformats.org/markup-compatibility/2006">
              <mc:Choice xmlns:v="urn:schemas-microsoft-com:vml" Requires="v">
                <p:oleObj spid="_x0000_s25699" name="Equation" r:id="rId7" imgW="1127705" imgH="403821" progId="Equation.3">
                  <p:embed/>
                </p:oleObj>
              </mc:Choice>
              <mc:Fallback>
                <p:oleObj name="Equation" r:id="rId7" imgW="1127705" imgH="403821" progId="Equation.3">
                  <p:embed/>
                  <p:pic>
                    <p:nvPicPr>
                      <p:cNvPr id="0" name="Object 5" descr="再生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3275" y="1981200"/>
                        <a:ext cx="3756025" cy="1208088"/>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06" name="Object 6" descr="再生纸"/>
          <p:cNvGraphicFramePr>
            <a:graphicFrameLocks noChangeAspect="1"/>
          </p:cNvGraphicFramePr>
          <p:nvPr/>
        </p:nvGraphicFramePr>
        <p:xfrm>
          <a:off x="3378200" y="3106738"/>
          <a:ext cx="5543550" cy="1744662"/>
        </p:xfrm>
        <a:graphic>
          <a:graphicData uri="http://schemas.openxmlformats.org/presentationml/2006/ole">
            <mc:AlternateContent xmlns:mc="http://schemas.openxmlformats.org/markup-compatibility/2006">
              <mc:Choice xmlns:v="urn:schemas-microsoft-com:vml" Requires="v">
                <p:oleObj spid="_x0000_s25700" name="Equation" r:id="rId9" imgW="1950701" imgH="609618" progId="Equation.3">
                  <p:embed/>
                </p:oleObj>
              </mc:Choice>
              <mc:Fallback>
                <p:oleObj name="Equation" r:id="rId9" imgW="1950701" imgH="609618" progId="Equation.3">
                  <p:embed/>
                  <p:pic>
                    <p:nvPicPr>
                      <p:cNvPr id="0" name="Object 6" descr="再生纸"/>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8200" y="3106738"/>
                        <a:ext cx="5543550" cy="1744662"/>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07" name="Object 7" descr="再生纸"/>
          <p:cNvGraphicFramePr>
            <a:graphicFrameLocks noChangeAspect="1"/>
          </p:cNvGraphicFramePr>
          <p:nvPr/>
        </p:nvGraphicFramePr>
        <p:xfrm>
          <a:off x="2000250" y="4941888"/>
          <a:ext cx="5497513" cy="1285875"/>
        </p:xfrm>
        <a:graphic>
          <a:graphicData uri="http://schemas.openxmlformats.org/presentationml/2006/ole">
            <mc:AlternateContent xmlns:mc="http://schemas.openxmlformats.org/markup-compatibility/2006">
              <mc:Choice xmlns:v="urn:schemas-microsoft-com:vml" Requires="v">
                <p:oleObj spid="_x0000_s25701" name="Equation" r:id="rId11" imgW="1562202" imgH="403821" progId="Equation.3">
                  <p:embed/>
                </p:oleObj>
              </mc:Choice>
              <mc:Fallback>
                <p:oleObj name="Equation" r:id="rId11" imgW="1562202" imgH="403821" progId="Equation.3">
                  <p:embed/>
                  <p:pic>
                    <p:nvPicPr>
                      <p:cNvPr id="0" name="Object 7" descr="再生纸"/>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0250" y="4941888"/>
                        <a:ext cx="5497513" cy="128587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68004"/>
                                        </p:tgtEl>
                                        <p:attrNameLst>
                                          <p:attrName>style.visibility</p:attrName>
                                        </p:attrNameLst>
                                      </p:cBhvr>
                                      <p:to>
                                        <p:strVal val="visible"/>
                                      </p:to>
                                    </p:set>
                                    <p:animEffect transition="in" filter="wipe(up)">
                                      <p:cBhvr>
                                        <p:cTn id="7" dur="500"/>
                                        <p:tgtEl>
                                          <p:spTgt spid="7680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68005"/>
                                        </p:tgtEl>
                                        <p:attrNameLst>
                                          <p:attrName>style.visibility</p:attrName>
                                        </p:attrNameLst>
                                      </p:cBhvr>
                                      <p:to>
                                        <p:strVal val="visible"/>
                                      </p:to>
                                    </p:set>
                                    <p:animEffect transition="in" filter="wipe(up)">
                                      <p:cBhvr>
                                        <p:cTn id="12" dur="500"/>
                                        <p:tgtEl>
                                          <p:spTgt spid="7680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68006"/>
                                        </p:tgtEl>
                                        <p:attrNameLst>
                                          <p:attrName>style.visibility</p:attrName>
                                        </p:attrNameLst>
                                      </p:cBhvr>
                                      <p:to>
                                        <p:strVal val="visible"/>
                                      </p:to>
                                    </p:set>
                                    <p:animEffect transition="in" filter="wipe(up)">
                                      <p:cBhvr>
                                        <p:cTn id="17" dur="500"/>
                                        <p:tgtEl>
                                          <p:spTgt spid="7680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68007"/>
                                        </p:tgtEl>
                                        <p:attrNameLst>
                                          <p:attrName>style.visibility</p:attrName>
                                        </p:attrNameLst>
                                      </p:cBhvr>
                                      <p:to>
                                        <p:strVal val="visible"/>
                                      </p:to>
                                    </p:set>
                                    <p:animEffect transition="in" filter="wipe(up)">
                                      <p:cBhvr>
                                        <p:cTn id="22" dur="500"/>
                                        <p:tgtEl>
                                          <p:spTgt spid="768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CAAE1A7-6537-4858-A3CF-253BB67DD2B9}" type="slidenum">
              <a:rPr lang="zh-CN" altLang="en-US" i="0" smtClean="0"/>
              <a:pPr/>
              <a:t>23</a:t>
            </a:fld>
            <a:endParaRPr lang="en-US" altLang="zh-CN" i="0" smtClean="0"/>
          </a:p>
        </p:txBody>
      </p:sp>
      <p:sp>
        <p:nvSpPr>
          <p:cNvPr id="266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5CB5319-938B-48DB-8510-DAE192FD3036}" type="datetime1">
              <a:rPr lang="zh-CN" altLang="en-US" sz="1800" i="0" smtClean="0"/>
              <a:pPr/>
              <a:t>2024/9/8</a:t>
            </a:fld>
            <a:endParaRPr lang="en-US" altLang="zh-CN" sz="1000" i="0" smtClean="0"/>
          </a:p>
        </p:txBody>
      </p:sp>
      <p:sp>
        <p:nvSpPr>
          <p:cNvPr id="769029" name="Rectangle 5"/>
          <p:cNvSpPr>
            <a:spLocks noGrp="1" noChangeArrowheads="1"/>
          </p:cNvSpPr>
          <p:nvPr>
            <p:ph type="title"/>
          </p:nvPr>
        </p:nvSpPr>
        <p:spPr/>
        <p:txBody>
          <a:bodyPr/>
          <a:lstStyle/>
          <a:p>
            <a:pPr>
              <a:defRPr/>
            </a:pPr>
            <a:r>
              <a:rPr lang="zh-CN" altLang="en-US" smtClean="0"/>
              <a:t>3.3   商运算</a:t>
            </a:r>
          </a:p>
        </p:txBody>
      </p:sp>
      <p:sp>
        <p:nvSpPr>
          <p:cNvPr id="26629" name="Rectangle 6"/>
          <p:cNvSpPr>
            <a:spLocks noGrp="1" noChangeArrowheads="1"/>
          </p:cNvSpPr>
          <p:nvPr>
            <p:ph type="body" idx="1"/>
          </p:nvPr>
        </p:nvSpPr>
        <p:spPr>
          <a:xfrm>
            <a:off x="650875" y="1143000"/>
            <a:ext cx="8820150" cy="384175"/>
          </a:xfrm>
        </p:spPr>
        <p:txBody>
          <a:bodyPr/>
          <a:lstStyle/>
          <a:p>
            <a:pPr>
              <a:buFont typeface="Wingdings" pitchFamily="2" charset="2"/>
              <a:buNone/>
            </a:pPr>
            <a:r>
              <a:rPr lang="zh-CN" altLang="en-US" smtClean="0">
                <a:latin typeface="宋体" pitchFamily="2" charset="-122"/>
              </a:rPr>
              <a:t>	例1.4 求</a:t>
            </a:r>
            <a:r>
              <a:rPr lang="en-US" altLang="zh-CN" smtClean="0">
                <a:latin typeface="宋体" pitchFamily="2" charset="-122"/>
              </a:rPr>
              <a:t>c=25.7/3.6</a:t>
            </a:r>
            <a:r>
              <a:rPr lang="zh-CN" altLang="en-US" smtClean="0">
                <a:latin typeface="宋体" pitchFamily="2" charset="-122"/>
              </a:rPr>
              <a:t>的相对误差限和绝对误差限</a:t>
            </a:r>
          </a:p>
        </p:txBody>
      </p:sp>
      <p:sp>
        <p:nvSpPr>
          <p:cNvPr id="769031" name="Text Box 7"/>
          <p:cNvSpPr txBox="1">
            <a:spLocks noChangeArrowheads="1"/>
          </p:cNvSpPr>
          <p:nvPr/>
        </p:nvSpPr>
        <p:spPr bwMode="auto">
          <a:xfrm>
            <a:off x="1238250" y="1828800"/>
            <a:ext cx="7759700" cy="335121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3200" i="0">
                <a:latin typeface="宋体" pitchFamily="2" charset="-122"/>
              </a:rPr>
              <a:t>解：</a:t>
            </a:r>
          </a:p>
          <a:p>
            <a:pPr algn="l">
              <a:spcBef>
                <a:spcPct val="50000"/>
              </a:spcBef>
            </a:pPr>
            <a:endParaRPr lang="zh-CN" altLang="en-US" sz="3200" i="0">
              <a:latin typeface="宋体" pitchFamily="2" charset="-122"/>
            </a:endParaRPr>
          </a:p>
          <a:p>
            <a:pPr>
              <a:spcBef>
                <a:spcPct val="50000"/>
              </a:spcBef>
            </a:pPr>
            <a:endParaRPr lang="zh-CN" altLang="en-US" sz="3200" i="0">
              <a:latin typeface="宋体" pitchFamily="2" charset="-122"/>
            </a:endParaRPr>
          </a:p>
          <a:p>
            <a:pPr>
              <a:spcBef>
                <a:spcPct val="50000"/>
              </a:spcBef>
            </a:pPr>
            <a:endParaRPr lang="zh-CN" altLang="en-US" sz="3200" i="0">
              <a:latin typeface="宋体" pitchFamily="2" charset="-122"/>
            </a:endParaRPr>
          </a:p>
          <a:p>
            <a:pPr>
              <a:spcBef>
                <a:spcPct val="50000"/>
              </a:spcBef>
            </a:pPr>
            <a:endParaRPr lang="zh-CN" altLang="en-US" sz="2400" b="0" i="0">
              <a:latin typeface="宋体" pitchFamily="2" charset="-122"/>
            </a:endParaRPr>
          </a:p>
        </p:txBody>
      </p:sp>
      <p:sp>
        <p:nvSpPr>
          <p:cNvPr id="769032" name="Text Box 8"/>
          <p:cNvSpPr txBox="1">
            <a:spLocks noChangeArrowheads="1"/>
          </p:cNvSpPr>
          <p:nvPr/>
        </p:nvSpPr>
        <p:spPr bwMode="auto">
          <a:xfrm>
            <a:off x="1836738" y="2376488"/>
            <a:ext cx="57864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zh-CN" sz="2800" i="0">
                <a:latin typeface="宋体" pitchFamily="2" charset="-122"/>
              </a:rPr>
              <a:t>|</a:t>
            </a:r>
            <a:r>
              <a:rPr lang="zh-CN" altLang="en-US" sz="2800" i="0">
                <a:latin typeface="宋体" pitchFamily="2" charset="-122"/>
                <a:sym typeface="Symbol" pitchFamily="18" charset="2"/>
              </a:rPr>
              <a:t></a:t>
            </a:r>
            <a:r>
              <a:rPr lang="en-US" altLang="zh-CN" sz="2800" i="0">
                <a:latin typeface="宋体" pitchFamily="2" charset="-122"/>
              </a:rPr>
              <a:t>c| </a:t>
            </a:r>
            <a:r>
              <a:rPr lang="zh-CN" altLang="en-US" sz="3200" i="0">
                <a:latin typeface="宋体" pitchFamily="2" charset="-122"/>
                <a:sym typeface="Symbol" pitchFamily="18" charset="2"/>
              </a:rPr>
              <a:t></a:t>
            </a:r>
            <a:r>
              <a:rPr lang="zh-CN" altLang="en-US" sz="2800" i="0">
                <a:latin typeface="宋体" pitchFamily="2" charset="-122"/>
              </a:rPr>
              <a:t> 0.05/25.7+0.05/3.6=0.016</a:t>
            </a:r>
          </a:p>
        </p:txBody>
      </p:sp>
      <p:sp>
        <p:nvSpPr>
          <p:cNvPr id="769033" name="Text Box 9"/>
          <p:cNvSpPr txBox="1">
            <a:spLocks noChangeArrowheads="1"/>
          </p:cNvSpPr>
          <p:nvPr/>
        </p:nvSpPr>
        <p:spPr bwMode="auto">
          <a:xfrm>
            <a:off x="2058988" y="2971800"/>
            <a:ext cx="3870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en-US" altLang="zh-CN" sz="3200" i="0">
                <a:latin typeface="宋体" pitchFamily="2" charset="-122"/>
              </a:rPr>
              <a:t>C=25.7/3.6=7.13889</a:t>
            </a:r>
            <a:endParaRPr lang="en-US" altLang="zh-CN" sz="2400" b="0" i="0">
              <a:latin typeface="宋体" pitchFamily="2" charset="-122"/>
            </a:endParaRPr>
          </a:p>
        </p:txBody>
      </p:sp>
      <p:sp>
        <p:nvSpPr>
          <p:cNvPr id="769034" name="Text Box 10"/>
          <p:cNvSpPr txBox="1">
            <a:spLocks noChangeArrowheads="1"/>
          </p:cNvSpPr>
          <p:nvPr/>
        </p:nvSpPr>
        <p:spPr bwMode="auto">
          <a:xfrm>
            <a:off x="2109788" y="3551238"/>
            <a:ext cx="63960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zh-CN" sz="3200" i="0">
                <a:latin typeface="宋体" pitchFamily="2" charset="-122"/>
              </a:rPr>
              <a:t>|</a:t>
            </a:r>
            <a:r>
              <a:rPr lang="en-US" altLang="zh-CN" sz="3200" i="0">
                <a:latin typeface="宋体" pitchFamily="2" charset="-122"/>
              </a:rPr>
              <a:t>dc| </a:t>
            </a:r>
            <a:r>
              <a:rPr lang="zh-CN" altLang="en-US" sz="3200" i="0">
                <a:latin typeface="宋体" pitchFamily="2" charset="-122"/>
                <a:sym typeface="Symbol" pitchFamily="18" charset="2"/>
              </a:rPr>
              <a:t></a:t>
            </a:r>
            <a:r>
              <a:rPr lang="zh-CN" altLang="en-US" sz="2800" i="0">
                <a:latin typeface="宋体" pitchFamily="2" charset="-122"/>
              </a:rPr>
              <a:t> </a:t>
            </a:r>
            <a:r>
              <a:rPr lang="en-US" altLang="zh-CN" sz="3200" i="0">
                <a:latin typeface="宋体" pitchFamily="2" charset="-122"/>
              </a:rPr>
              <a:t>7.13889</a:t>
            </a:r>
            <a:r>
              <a:rPr lang="zh-CN" altLang="en-US" sz="2800" i="0">
                <a:latin typeface="宋体" pitchFamily="2" charset="-122"/>
              </a:rPr>
              <a:t>*0.016=0.11&lt;0.5*10</a:t>
            </a:r>
            <a:r>
              <a:rPr lang="zh-CN" altLang="en-US" sz="2800" i="0" baseline="30000">
                <a:latin typeface="宋体" pitchFamily="2" charset="-122"/>
              </a:rPr>
              <a:t>0</a:t>
            </a:r>
            <a:endParaRPr lang="en-US" altLang="zh-CN" sz="2800" i="0" baseline="30000">
              <a:latin typeface="宋体" pitchFamily="2" charset="-122"/>
            </a:endParaRPr>
          </a:p>
        </p:txBody>
      </p:sp>
      <p:sp>
        <p:nvSpPr>
          <p:cNvPr id="769035" name="Text Box 11"/>
          <p:cNvSpPr txBox="1">
            <a:spLocks noChangeArrowheads="1"/>
          </p:cNvSpPr>
          <p:nvPr/>
        </p:nvSpPr>
        <p:spPr bwMode="auto">
          <a:xfrm>
            <a:off x="2022475" y="4267200"/>
            <a:ext cx="2994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3200" i="0">
                <a:latin typeface="宋体" pitchFamily="2" charset="-122"/>
              </a:rPr>
              <a:t>按</a:t>
            </a:r>
            <a:r>
              <a:rPr lang="en-US" altLang="zh-CN" sz="3200" i="0">
                <a:latin typeface="宋体" pitchFamily="2" charset="-122"/>
              </a:rPr>
              <a:t>dc</a:t>
            </a:r>
            <a:r>
              <a:rPr lang="zh-CN" altLang="en-US" sz="3200" i="0">
                <a:latin typeface="宋体" pitchFamily="2" charset="-122"/>
              </a:rPr>
              <a:t>将</a:t>
            </a:r>
            <a:r>
              <a:rPr lang="en-US" altLang="zh-CN" sz="3200" i="0">
                <a:latin typeface="宋体" pitchFamily="2" charset="-122"/>
              </a:rPr>
              <a:t>c</a:t>
            </a:r>
            <a:r>
              <a:rPr lang="zh-CN" altLang="en-US" sz="3200" i="0">
                <a:latin typeface="宋体" pitchFamily="2" charset="-122"/>
              </a:rPr>
              <a:t>舍成</a:t>
            </a:r>
            <a:r>
              <a:rPr lang="en-US" altLang="zh-CN" sz="3200" i="0">
                <a:latin typeface="宋体" pitchFamily="2" charset="-122"/>
              </a:rPr>
              <a:t>c</a:t>
            </a:r>
            <a:r>
              <a:rPr lang="en-US" altLang="zh-CN" sz="2800" i="0">
                <a:latin typeface="宋体" pitchFamily="2" charset="-122"/>
              </a:rPr>
              <a:t>=7</a:t>
            </a:r>
            <a:endParaRPr lang="en-US" altLang="zh-CN" sz="2400" b="0" i="0">
              <a:latin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9031"/>
                                        </p:tgtEl>
                                        <p:attrNameLst>
                                          <p:attrName>style.visibility</p:attrName>
                                        </p:attrNameLst>
                                      </p:cBhvr>
                                      <p:to>
                                        <p:strVal val="visible"/>
                                      </p:to>
                                    </p:set>
                                    <p:anim calcmode="lin" valueType="num">
                                      <p:cBhvr additive="base">
                                        <p:cTn id="7" dur="500" fill="hold"/>
                                        <p:tgtEl>
                                          <p:spTgt spid="769031"/>
                                        </p:tgtEl>
                                        <p:attrNameLst>
                                          <p:attrName>ppt_x</p:attrName>
                                        </p:attrNameLst>
                                      </p:cBhvr>
                                      <p:tavLst>
                                        <p:tav tm="0">
                                          <p:val>
                                            <p:strVal val="0-#ppt_w/2"/>
                                          </p:val>
                                        </p:tav>
                                        <p:tav tm="100000">
                                          <p:val>
                                            <p:strVal val="#ppt_x"/>
                                          </p:val>
                                        </p:tav>
                                      </p:tavLst>
                                    </p:anim>
                                    <p:anim calcmode="lin" valueType="num">
                                      <p:cBhvr additive="base">
                                        <p:cTn id="8" dur="500" fill="hold"/>
                                        <p:tgtEl>
                                          <p:spTgt spid="7690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769032"/>
                                        </p:tgtEl>
                                        <p:attrNameLst>
                                          <p:attrName>style.visibility</p:attrName>
                                        </p:attrNameLst>
                                      </p:cBhvr>
                                      <p:to>
                                        <p:strVal val="visible"/>
                                      </p:to>
                                    </p:set>
                                    <p:animEffect transition="in" filter="slide(fromTop)">
                                      <p:cBhvr>
                                        <p:cTn id="13" dur="500"/>
                                        <p:tgtEl>
                                          <p:spTgt spid="76903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769033"/>
                                        </p:tgtEl>
                                        <p:attrNameLst>
                                          <p:attrName>style.visibility</p:attrName>
                                        </p:attrNameLst>
                                      </p:cBhvr>
                                      <p:to>
                                        <p:strVal val="visible"/>
                                      </p:to>
                                    </p:set>
                                    <p:animEffect transition="in" filter="slide(fromTop)">
                                      <p:cBhvr>
                                        <p:cTn id="18" dur="500"/>
                                        <p:tgtEl>
                                          <p:spTgt spid="76903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769034"/>
                                        </p:tgtEl>
                                        <p:attrNameLst>
                                          <p:attrName>style.visibility</p:attrName>
                                        </p:attrNameLst>
                                      </p:cBhvr>
                                      <p:to>
                                        <p:strVal val="visible"/>
                                      </p:to>
                                    </p:set>
                                    <p:animEffect transition="in" filter="slide(fromBottom)">
                                      <p:cBhvr>
                                        <p:cTn id="23" dur="500"/>
                                        <p:tgtEl>
                                          <p:spTgt spid="76903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769035"/>
                                        </p:tgtEl>
                                        <p:attrNameLst>
                                          <p:attrName>style.visibility</p:attrName>
                                        </p:attrNameLst>
                                      </p:cBhvr>
                                      <p:to>
                                        <p:strVal val="visible"/>
                                      </p:to>
                                    </p:set>
                                    <p:animEffect transition="in" filter="slide(fromBottom)">
                                      <p:cBhvr>
                                        <p:cTn id="28" dur="500"/>
                                        <p:tgtEl>
                                          <p:spTgt spid="769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9031" grpId="0" animBg="1" autoUpdateAnimBg="0"/>
      <p:bldP spid="769032" grpId="0" autoUpdateAnimBg="0"/>
      <p:bldP spid="769033" grpId="0" autoUpdateAnimBg="0"/>
      <p:bldP spid="769034" grpId="0" autoUpdateAnimBg="0"/>
      <p:bldP spid="76903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p:txBody>
          <a:bodyPr/>
          <a:lstStyle/>
          <a:p>
            <a:pPr>
              <a:defRPr/>
            </a:pPr>
            <a:r>
              <a:rPr lang="zh-CN" altLang="en-US" smtClean="0"/>
              <a:t>3.4  运算时需要注意的地方</a:t>
            </a:r>
          </a:p>
        </p:txBody>
      </p:sp>
      <p:sp>
        <p:nvSpPr>
          <p:cNvPr id="27653" name="Rectangle 3"/>
          <p:cNvSpPr>
            <a:spLocks noGrp="1" noChangeArrowheads="1"/>
          </p:cNvSpPr>
          <p:nvPr>
            <p:ph type="body" idx="1"/>
          </p:nvPr>
        </p:nvSpPr>
        <p:spPr>
          <a:xfrm>
            <a:off x="650875" y="1143000"/>
            <a:ext cx="8820150" cy="917575"/>
          </a:xfrm>
        </p:spPr>
        <p:txBody>
          <a:bodyPr/>
          <a:lstStyle/>
          <a:p>
            <a:pPr marL="457200" indent="-457200" defTabSz="914400"/>
            <a:r>
              <a:rPr lang="zh-CN" altLang="en-US" smtClean="0"/>
              <a:t>(1) 大量运算时,</a:t>
            </a:r>
            <a:r>
              <a:rPr lang="zh-CN" altLang="en-US" smtClean="0">
                <a:sym typeface="Symbol" pitchFamily="18" charset="2"/>
              </a:rPr>
              <a:t></a:t>
            </a:r>
            <a:r>
              <a:rPr lang="en-US" altLang="zh-CN" baseline="-25000" smtClean="0">
                <a:latin typeface="宋体" pitchFamily="2" charset="-122"/>
              </a:rPr>
              <a:t>i</a:t>
            </a:r>
            <a:r>
              <a:rPr lang="zh-CN" altLang="en-US" smtClean="0">
                <a:latin typeface="宋体" pitchFamily="2" charset="-122"/>
              </a:rPr>
              <a:t>有时会很大</a:t>
            </a:r>
          </a:p>
          <a:p>
            <a:pPr marL="909638" lvl="1" indent="-338138" defTabSz="914400">
              <a:buFontTx/>
              <a:buNone/>
            </a:pPr>
            <a:r>
              <a:rPr lang="zh-CN" altLang="en-US" smtClean="0"/>
              <a:t>例 </a:t>
            </a:r>
            <a:r>
              <a:rPr lang="zh-CN" altLang="en-US" smtClean="0">
                <a:latin typeface="宋体" pitchFamily="2" charset="-122"/>
              </a:rPr>
              <a:t>计算多项式的值</a:t>
            </a:r>
            <a:r>
              <a:rPr lang="zh-CN" altLang="en-US" smtClean="0"/>
              <a:t> </a:t>
            </a:r>
            <a:endParaRPr lang="zh-CN" altLang="en-US" smtClean="0">
              <a:latin typeface="宋体" pitchFamily="2" charset="-122"/>
            </a:endParaRPr>
          </a:p>
        </p:txBody>
      </p:sp>
      <p:graphicFrame>
        <p:nvGraphicFramePr>
          <p:cNvPr id="750596" name="Object 4"/>
          <p:cNvGraphicFramePr>
            <a:graphicFrameLocks noChangeAspect="1"/>
          </p:cNvGraphicFramePr>
          <p:nvPr>
            <p:extLst>
              <p:ext uri="{D42A27DB-BD31-4B8C-83A1-F6EECF244321}">
                <p14:modId xmlns:p14="http://schemas.microsoft.com/office/powerpoint/2010/main" val="3420334122"/>
              </p:ext>
            </p:extLst>
          </p:nvPr>
        </p:nvGraphicFramePr>
        <p:xfrm>
          <a:off x="1907629" y="2116137"/>
          <a:ext cx="6094413" cy="703263"/>
        </p:xfrm>
        <a:graphic>
          <a:graphicData uri="http://schemas.openxmlformats.org/presentationml/2006/ole">
            <mc:AlternateContent xmlns:mc="http://schemas.openxmlformats.org/markup-compatibility/2006">
              <mc:Choice xmlns:v="urn:schemas-microsoft-com:vml" Requires="v">
                <p:oleObj spid="_x0000_s27708" name="Equation" r:id="rId6" imgW="2026932" imgH="228688" progId="Equation.3">
                  <p:embed/>
                </p:oleObj>
              </mc:Choice>
              <mc:Fallback>
                <p:oleObj name="Equation" r:id="rId6" imgW="2026932" imgH="228688"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7629" y="2116137"/>
                        <a:ext cx="6094413"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0597" name="Rectangle 5"/>
          <p:cNvSpPr>
            <a:spLocks noChangeArrowheads="1"/>
          </p:cNvSpPr>
          <p:nvPr/>
        </p:nvSpPr>
        <p:spPr bwMode="auto">
          <a:xfrm>
            <a:off x="414586" y="4149080"/>
            <a:ext cx="90805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457200" indent="-457200" algn="l">
              <a:spcBef>
                <a:spcPct val="20000"/>
              </a:spcBef>
              <a:buClr>
                <a:schemeClr val="accent2"/>
              </a:buClr>
              <a:buFont typeface="Wingdings 3" pitchFamily="18" charset="2"/>
              <a:buNone/>
            </a:pPr>
            <a:r>
              <a:rPr lang="zh-CN" altLang="en-US" sz="2800" i="0" dirty="0">
                <a:latin typeface="黑体" pitchFamily="49" charset="-122"/>
                <a:ea typeface="黑体" pitchFamily="49" charset="-122"/>
              </a:rPr>
              <a:t>	如果将公式</a:t>
            </a:r>
            <a:r>
              <a:rPr lang="zh-CN" altLang="en-US" sz="2800" i="0" dirty="0" smtClean="0">
                <a:latin typeface="黑体" pitchFamily="49" charset="-122"/>
                <a:ea typeface="黑体" pitchFamily="49" charset="-122"/>
              </a:rPr>
              <a:t>改写如下，需要多少次运算？</a:t>
            </a:r>
            <a:r>
              <a:rPr lang="zh-CN" altLang="en-US" sz="3200" i="0" dirty="0" smtClean="0">
                <a:latin typeface="黑体" pitchFamily="49" charset="-122"/>
                <a:ea typeface="黑体" pitchFamily="49" charset="-122"/>
              </a:rPr>
              <a:t> </a:t>
            </a:r>
            <a:endParaRPr lang="zh-CN" altLang="en-US" sz="3200" i="0" dirty="0">
              <a:latin typeface="黑体" pitchFamily="49" charset="-122"/>
              <a:ea typeface="黑体" pitchFamily="49" charset="-122"/>
            </a:endParaRPr>
          </a:p>
        </p:txBody>
      </p:sp>
      <p:graphicFrame>
        <p:nvGraphicFramePr>
          <p:cNvPr id="750598" name="Object 6"/>
          <p:cNvGraphicFramePr>
            <a:graphicFrameLocks noChangeAspect="1"/>
          </p:cNvGraphicFramePr>
          <p:nvPr>
            <p:extLst>
              <p:ext uri="{D42A27DB-BD31-4B8C-83A1-F6EECF244321}">
                <p14:modId xmlns:p14="http://schemas.microsoft.com/office/powerpoint/2010/main" val="972612404"/>
              </p:ext>
            </p:extLst>
          </p:nvPr>
        </p:nvGraphicFramePr>
        <p:xfrm>
          <a:off x="1036886" y="4682480"/>
          <a:ext cx="8458200" cy="604838"/>
        </p:xfrm>
        <a:graphic>
          <a:graphicData uri="http://schemas.openxmlformats.org/presentationml/2006/ole">
            <mc:AlternateContent xmlns:mc="http://schemas.openxmlformats.org/markup-compatibility/2006">
              <mc:Choice xmlns:v="urn:schemas-microsoft-com:vml" Requires="v">
                <p:oleObj spid="_x0000_s27709" name="Equation" r:id="rId8" imgW="3108855" imgH="213356" progId="Equation.3">
                  <p:embed/>
                </p:oleObj>
              </mc:Choice>
              <mc:Fallback>
                <p:oleObj name="Equation" r:id="rId8" imgW="3108855" imgH="213356"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6886" y="4682480"/>
                        <a:ext cx="84582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AutoShape 7"/>
          <p:cNvSpPr>
            <a:spLocks noChangeArrowheads="1"/>
          </p:cNvSpPr>
          <p:nvPr/>
        </p:nvSpPr>
        <p:spPr bwMode="auto">
          <a:xfrm>
            <a:off x="992560" y="3116263"/>
            <a:ext cx="2895600" cy="1131887"/>
          </a:xfrm>
          <a:prstGeom prst="cloudCallout">
            <a:avLst>
              <a:gd name="adj1" fmla="val 59100"/>
              <a:gd name="adj2" fmla="val -77281"/>
            </a:avLst>
          </a:prstGeom>
          <a:gradFill rotWithShape="0">
            <a:gsLst>
              <a:gs pos="0">
                <a:srgbClr val="FFFFFF">
                  <a:gamma/>
                  <a:shade val="75686"/>
                  <a:invGamma/>
                </a:srgbClr>
              </a:gs>
              <a:gs pos="50000">
                <a:srgbClr val="FFFFFF"/>
              </a:gs>
              <a:gs pos="100000">
                <a:srgbClr val="FFFFFF">
                  <a:gamma/>
                  <a:shade val="75686"/>
                  <a:invGamma/>
                </a:srgbClr>
              </a:gs>
            </a:gsLst>
            <a:lin ang="0" scaled="1"/>
          </a:gradFill>
          <a:ln w="9525"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r>
              <a:rPr lang="en-US" sz="2400" b="0" i="0" dirty="0">
                <a:solidFill>
                  <a:srgbClr val="0033CC"/>
                </a:solidFill>
                <a:latin typeface="Times New Roman" pitchFamily="18" charset="0"/>
              </a:rPr>
              <a:t>n=20   </a:t>
            </a:r>
            <a:r>
              <a:rPr lang="zh-CN" altLang="en-US" sz="2400" i="0" dirty="0">
                <a:solidFill>
                  <a:srgbClr val="0033CC"/>
                </a:solidFill>
                <a:latin typeface="Times New Roman" pitchFamily="18" charset="0"/>
                <a:ea typeface="楷体_GB2312" pitchFamily="49" charset="-122"/>
              </a:rPr>
              <a:t>需要运算多少次？</a:t>
            </a:r>
          </a:p>
        </p:txBody>
      </p:sp>
      <p:sp>
        <p:nvSpPr>
          <p:cNvPr id="19" name="AutoShape 8"/>
          <p:cNvSpPr>
            <a:spLocks noChangeArrowheads="1"/>
          </p:cNvSpPr>
          <p:nvPr/>
        </p:nvSpPr>
        <p:spPr bwMode="auto">
          <a:xfrm>
            <a:off x="5385048" y="3638550"/>
            <a:ext cx="2133600" cy="571500"/>
          </a:xfrm>
          <a:prstGeom prst="cloudCallout">
            <a:avLst>
              <a:gd name="adj1" fmla="val -27827"/>
              <a:gd name="adj2" fmla="val -148611"/>
            </a:avLst>
          </a:prstGeom>
          <a:gradFill rotWithShape="0">
            <a:gsLst>
              <a:gs pos="0">
                <a:srgbClr val="FFFFFF">
                  <a:gamma/>
                  <a:shade val="75686"/>
                  <a:invGamma/>
                </a:srgbClr>
              </a:gs>
              <a:gs pos="50000">
                <a:srgbClr val="FFFFFF"/>
              </a:gs>
              <a:gs pos="100000">
                <a:srgbClr val="FFFFFF">
                  <a:gamma/>
                  <a:shade val="75686"/>
                  <a:invGamma/>
                </a:srgbClr>
              </a:gs>
            </a:gsLst>
            <a:lin ang="0" scaled="1"/>
          </a:gradFill>
          <a:ln w="9525"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r>
              <a:rPr lang="en-US" sz="2400" b="0" i="0" dirty="0">
                <a:solidFill>
                  <a:srgbClr val="0033CC"/>
                </a:solidFill>
                <a:latin typeface="Times New Roman" pitchFamily="18" charset="0"/>
              </a:rPr>
              <a:t>n=100?</a:t>
            </a:r>
            <a:endParaRPr lang="en-US" sz="2400" i="0" dirty="0">
              <a:solidFill>
                <a:srgbClr val="0033CC"/>
              </a:solidFill>
              <a:latin typeface="Times New Roman" pitchFamily="18" charset="0"/>
              <a:ea typeface="楷体_GB2312" pitchFamily="49" charset="-122"/>
            </a:endParaRPr>
          </a:p>
        </p:txBody>
      </p:sp>
      <p:sp>
        <p:nvSpPr>
          <p:cNvPr id="21" name="AutoShape 6" descr="再生纸"/>
          <p:cNvSpPr>
            <a:spLocks noChangeArrowheads="1"/>
          </p:cNvSpPr>
          <p:nvPr/>
        </p:nvSpPr>
        <p:spPr bwMode="auto">
          <a:xfrm>
            <a:off x="1058070" y="5477718"/>
            <a:ext cx="7632700" cy="863600"/>
          </a:xfrm>
          <a:prstGeom prst="roundRect">
            <a:avLst>
              <a:gd name="adj" fmla="val 16667"/>
            </a:avLst>
          </a:prstGeom>
          <a:blipFill dpi="0" rotWithShape="0">
            <a:blip r:embed="rId10"/>
            <a:srcRect/>
            <a:tile tx="0" ty="0" sx="100000" sy="100000" flip="none" algn="tl"/>
          </a:blipFill>
          <a:ln>
            <a:noFill/>
          </a:ln>
          <a:effectLst>
            <a:prstShdw prst="shdw17" dist="17961" dir="2700000">
              <a:srgbClr val="FFFFFF">
                <a:gamma/>
                <a:shade val="60000"/>
                <a:invGamma/>
              </a:srgbClr>
            </a:prstShdw>
          </a:effectLst>
          <a:extLst>
            <a:ext uri="{91240B29-F687-4F45-9708-019B960494DF}">
              <a14:hiddenLine xmlns:a14="http://schemas.microsoft.com/office/drawing/2010/main" w="9525">
                <a:solidFill>
                  <a:srgbClr val="000000"/>
                </a:solidFill>
                <a:round/>
                <a:headEnd/>
                <a:tailEnd/>
              </a14:hiddenLine>
            </a:ext>
          </a:extLst>
        </p:spPr>
        <p:txBody>
          <a:bodyPr tIns="10800" bIns="10800" anchor="ctr"/>
          <a:lstStyle/>
          <a:p>
            <a:pPr marL="565150" indent="-565150" eaLnBrk="1" hangingPunct="1">
              <a:lnSpc>
                <a:spcPct val="120000"/>
              </a:lnSpc>
            </a:pPr>
            <a:r>
              <a:rPr lang="zh-CN" altLang="en-US" sz="2800" i="0" dirty="0" smtClean="0">
                <a:solidFill>
                  <a:srgbClr val="0033CC"/>
                </a:solidFill>
                <a:effectLst>
                  <a:outerShdw blurRad="38100" dist="38100" dir="2700000" algn="tl">
                    <a:srgbClr val="C0C0C0"/>
                  </a:outerShdw>
                </a:effectLst>
                <a:latin typeface="楷体_GB2312" pitchFamily="49" charset="-122"/>
                <a:ea typeface="楷体_GB2312" pitchFamily="49" charset="-122"/>
              </a:rPr>
              <a:t>简化计算步骤，避免误差积累</a:t>
            </a:r>
            <a:r>
              <a:rPr lang="zh-CN" altLang="en-US" sz="2800" i="0" dirty="0" smtClean="0">
                <a:solidFill>
                  <a:srgbClr val="0033CC"/>
                </a:solidFill>
                <a:latin typeface="Times New Roman" pitchFamily="18" charset="0"/>
                <a:ea typeface="楷体_GB2312" pitchFamily="49" charset="-122"/>
              </a:rPr>
              <a:t>。</a:t>
            </a:r>
            <a:endParaRPr lang="zh-CN" altLang="en-US" sz="2800" i="0" dirty="0">
              <a:solidFill>
                <a:srgbClr val="0033CC"/>
              </a:solidFill>
              <a:latin typeface="Times New Roman"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Right)">
                                      <p:cBhvr>
                                        <p:cTn id="7" dur="500"/>
                                        <p:tgtEl>
                                          <p:spTgt spid="18"/>
                                        </p:tgtEl>
                                      </p:cBhvr>
                                    </p:animEffect>
                                  </p:childTnLst>
                                  <p:subTnLst>
                                    <p:audio>
                                      <p:cMediaNode>
                                        <p:cTn display="0" masterRel="sameClick">
                                          <p:stCondLst>
                                            <p:cond evt="begin" delay="0">
                                              <p:tn val="5"/>
                                            </p:cond>
                                          </p:stCondLst>
                                          <p:endCondLst>
                                            <p:cond evt="onStopAudio" delay="0">
                                              <p:tgtEl>
                                                <p:sldTgt/>
                                              </p:tgtEl>
                                            </p:cond>
                                          </p:endCondLst>
                                        </p:cTn>
                                        <p:tgtEl>
                                          <p:sndTgt r:embed="rId4" name="LASER.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strips(downRight)">
                                      <p:cBhvr>
                                        <p:cTn id="12" dur="500"/>
                                        <p:tgtEl>
                                          <p:spTgt spid="19"/>
                                        </p:tgtEl>
                                      </p:cBhvr>
                                    </p:animEffect>
                                  </p:childTnLst>
                                  <p:subTnLst>
                                    <p:audio>
                                      <p:cMediaNode>
                                        <p:cTn display="0" masterRel="sameClick">
                                          <p:stCondLst>
                                            <p:cond evt="begin" delay="0">
                                              <p:tn val="10"/>
                                            </p:cond>
                                          </p:stCondLst>
                                          <p:endCondLst>
                                            <p:cond evt="onStopAudio" delay="0">
                                              <p:tgtEl>
                                                <p:sldTgt/>
                                              </p:tgtEl>
                                            </p:cond>
                                          </p:endCondLst>
                                        </p:cTn>
                                        <p:tgtEl>
                                          <p:sndTgt r:embed="rId4" name="LASER.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50597"/>
                                        </p:tgtEl>
                                        <p:attrNameLst>
                                          <p:attrName>style.visibility</p:attrName>
                                        </p:attrNameLst>
                                      </p:cBhvr>
                                      <p:to>
                                        <p:strVal val="visible"/>
                                      </p:to>
                                    </p:set>
                                    <p:animEffect transition="in" filter="wipe(up)">
                                      <p:cBhvr>
                                        <p:cTn id="17" dur="500"/>
                                        <p:tgtEl>
                                          <p:spTgt spid="750597"/>
                                        </p:tgtEl>
                                      </p:cBhvr>
                                    </p:animEffect>
                                  </p:childTnLst>
                                </p:cTn>
                              </p:par>
                              <p:par>
                                <p:cTn id="18" presetID="22" presetClass="entr" presetSubtype="1" fill="hold" nodeType="withEffect">
                                  <p:stCondLst>
                                    <p:cond delay="0"/>
                                  </p:stCondLst>
                                  <p:childTnLst>
                                    <p:set>
                                      <p:cBhvr>
                                        <p:cTn id="19" dur="1" fill="hold">
                                          <p:stCondLst>
                                            <p:cond delay="0"/>
                                          </p:stCondLst>
                                        </p:cTn>
                                        <p:tgtEl>
                                          <p:spTgt spid="750598"/>
                                        </p:tgtEl>
                                        <p:attrNameLst>
                                          <p:attrName>style.visibility</p:attrName>
                                        </p:attrNameLst>
                                      </p:cBhvr>
                                      <p:to>
                                        <p:strVal val="visible"/>
                                      </p:to>
                                    </p:set>
                                    <p:animEffect transition="in" filter="wipe(up)">
                                      <p:cBhvr>
                                        <p:cTn id="20" dur="500"/>
                                        <p:tgtEl>
                                          <p:spTgt spid="750598"/>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ox(out)">
                                      <p:cBhvr>
                                        <p:cTn id="25" dur="500"/>
                                        <p:tgtEl>
                                          <p:spTgt spid="21"/>
                                        </p:tgtEl>
                                      </p:cBhvr>
                                    </p:animEffect>
                                  </p:childTnLst>
                                  <p:subTnLst>
                                    <p:audio>
                                      <p:cMediaNode>
                                        <p:cTn display="0" masterRel="sameClick">
                                          <p:stCondLst>
                                            <p:cond evt="begin" delay="0">
                                              <p:tn val="23"/>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597" grpId="0"/>
      <p:bldP spid="18" grpId="0" animBg="1" autoUpdateAnimBg="0"/>
      <p:bldP spid="19" grpId="0" animBg="1" autoUpdateAnimBg="0"/>
      <p:bldP spid="21"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灯片编号占位符 3"/>
          <p:cNvSpPr>
            <a:spLocks noGrp="1"/>
          </p:cNvSpPr>
          <p:nvPr>
            <p:ph type="sldNum" sz="quarter" idx="10"/>
          </p:nvPr>
        </p:nvSpPr>
        <p:spPr>
          <a:xfrm>
            <a:off x="7257256" y="6165304"/>
            <a:ext cx="2501900" cy="5270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0E283EC-4B7C-4049-B2AE-537A663D343F}" type="slidenum">
              <a:rPr lang="zh-CN" altLang="en-US" i="0" smtClean="0"/>
              <a:pPr/>
              <a:t>25</a:t>
            </a:fld>
            <a:endParaRPr lang="en-US" altLang="zh-CN" i="0" dirty="0" smtClean="0"/>
          </a:p>
        </p:txBody>
      </p:sp>
      <p:sp>
        <p:nvSpPr>
          <p:cNvPr id="27651" name="日期占位符 4"/>
          <p:cNvSpPr>
            <a:spLocks noGrp="1"/>
          </p:cNvSpPr>
          <p:nvPr>
            <p:ph type="dt" sz="quarter" idx="11"/>
          </p:nvPr>
        </p:nvSpPr>
        <p:spPr>
          <a:xfrm>
            <a:off x="0" y="6207125"/>
            <a:ext cx="2297112" cy="5778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0D88DBA-083A-43E7-9A07-2212F316AC58}" type="datetime1">
              <a:rPr lang="zh-CN" altLang="en-US" sz="1800" i="0" smtClean="0"/>
              <a:pPr/>
              <a:t>2024/9/8</a:t>
            </a:fld>
            <a:endParaRPr lang="en-US" altLang="zh-CN" sz="1000" i="0" dirty="0" smtClean="0"/>
          </a:p>
        </p:txBody>
      </p:sp>
      <p:sp>
        <p:nvSpPr>
          <p:cNvPr id="750594" name="Rectangle 2"/>
          <p:cNvSpPr>
            <a:spLocks noGrp="1" noChangeArrowheads="1"/>
          </p:cNvSpPr>
          <p:nvPr>
            <p:ph type="title"/>
          </p:nvPr>
        </p:nvSpPr>
        <p:spPr/>
        <p:txBody>
          <a:bodyPr/>
          <a:lstStyle/>
          <a:p>
            <a:pPr>
              <a:defRPr/>
            </a:pPr>
            <a:r>
              <a:rPr lang="zh-CN" altLang="en-US" smtClean="0"/>
              <a:t>3.4  运算时需要注意的地方</a:t>
            </a:r>
          </a:p>
        </p:txBody>
      </p:sp>
      <p:sp>
        <p:nvSpPr>
          <p:cNvPr id="750600" name="Rectangle 8"/>
          <p:cNvSpPr>
            <a:spLocks noChangeArrowheads="1"/>
          </p:cNvSpPr>
          <p:nvPr/>
        </p:nvSpPr>
        <p:spPr bwMode="auto">
          <a:xfrm>
            <a:off x="742950" y="3111500"/>
            <a:ext cx="3302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spcBef>
                <a:spcPct val="50000"/>
              </a:spcBef>
            </a:pPr>
            <a:r>
              <a:rPr lang="zh-CN" altLang="en-US" sz="1600" b="0" i="0">
                <a:latin typeface="Arial Black" pitchFamily="34" charset="0"/>
              </a:rPr>
              <a:t>      </a:t>
            </a:r>
          </a:p>
          <a:p>
            <a:pPr>
              <a:lnSpc>
                <a:spcPct val="70000"/>
              </a:lnSpc>
              <a:spcBef>
                <a:spcPct val="50000"/>
              </a:spcBef>
            </a:pPr>
            <a:r>
              <a:rPr lang="zh-CN" altLang="en-US" sz="3200" i="0">
                <a:latin typeface="Symbol" pitchFamily="18" charset="2"/>
              </a:rPr>
              <a:t>    </a:t>
            </a:r>
            <a:r>
              <a:rPr lang="zh-CN" altLang="en-US" sz="2800" i="0">
                <a:latin typeface="Symbol" pitchFamily="18" charset="2"/>
              </a:rPr>
              <a:t>10</a:t>
            </a:r>
            <a:r>
              <a:rPr lang="zh-CN" altLang="en-US" sz="2800" i="0" baseline="30000">
                <a:latin typeface="Symbol" pitchFamily="18" charset="2"/>
              </a:rPr>
              <a:t>3</a:t>
            </a:r>
            <a:r>
              <a:rPr lang="zh-CN" altLang="en-US" sz="2800" i="0">
                <a:latin typeface="Symbol" pitchFamily="18" charset="2"/>
              </a:rPr>
              <a:t>(0.8961)</a:t>
            </a:r>
          </a:p>
          <a:p>
            <a:pPr>
              <a:lnSpc>
                <a:spcPct val="70000"/>
              </a:lnSpc>
              <a:spcBef>
                <a:spcPct val="50000"/>
              </a:spcBef>
            </a:pPr>
            <a:r>
              <a:rPr lang="zh-CN" altLang="en-US" sz="2800" i="0">
                <a:latin typeface="Symbol" pitchFamily="18" charset="2"/>
              </a:rPr>
              <a:t>+  10</a:t>
            </a:r>
            <a:r>
              <a:rPr lang="zh-CN" altLang="en-US" sz="2800" i="0" baseline="30000">
                <a:latin typeface="Symbol" pitchFamily="18" charset="2"/>
              </a:rPr>
              <a:t>-3</a:t>
            </a:r>
            <a:r>
              <a:rPr lang="zh-CN" altLang="en-US" sz="2800" i="0">
                <a:latin typeface="Symbol" pitchFamily="18" charset="2"/>
              </a:rPr>
              <a:t>(0.4688)</a:t>
            </a:r>
            <a:r>
              <a:rPr lang="zh-CN" altLang="en-US" sz="3200" i="0">
                <a:latin typeface="Symbol" pitchFamily="18" charset="2"/>
              </a:rPr>
              <a:t>    </a:t>
            </a:r>
            <a:endParaRPr lang="zh-CN" altLang="zh-CN" sz="3200" i="0">
              <a:latin typeface="Symbol" pitchFamily="18" charset="2"/>
            </a:endParaRPr>
          </a:p>
        </p:txBody>
      </p:sp>
      <p:grpSp>
        <p:nvGrpSpPr>
          <p:cNvPr id="2" name="Group 9"/>
          <p:cNvGrpSpPr>
            <a:grpSpLocks/>
          </p:cNvGrpSpPr>
          <p:nvPr/>
        </p:nvGrpSpPr>
        <p:grpSpPr bwMode="auto">
          <a:xfrm>
            <a:off x="3860800" y="3644900"/>
            <a:ext cx="1651000" cy="762000"/>
            <a:chOff x="2304" y="2400"/>
            <a:chExt cx="960" cy="480"/>
          </a:xfrm>
        </p:grpSpPr>
        <p:sp>
          <p:nvSpPr>
            <p:cNvPr id="27662" name="Freeform 10"/>
            <p:cNvSpPr>
              <a:spLocks/>
            </p:cNvSpPr>
            <p:nvPr/>
          </p:nvSpPr>
          <p:spPr bwMode="auto">
            <a:xfrm>
              <a:off x="2400" y="2640"/>
              <a:ext cx="864" cy="240"/>
            </a:xfrm>
            <a:custGeom>
              <a:avLst/>
              <a:gdLst>
                <a:gd name="T0" fmla="*/ 0 w 541"/>
                <a:gd name="T1" fmla="*/ 91 h 167"/>
                <a:gd name="T2" fmla="*/ 941 w 541"/>
                <a:gd name="T3" fmla="*/ 91 h 167"/>
                <a:gd name="T4" fmla="*/ 941 w 541"/>
                <a:gd name="T5" fmla="*/ 0 h 167"/>
                <a:gd name="T6" fmla="*/ 1377 w 541"/>
                <a:gd name="T7" fmla="*/ 171 h 167"/>
                <a:gd name="T8" fmla="*/ 941 w 541"/>
                <a:gd name="T9" fmla="*/ 343 h 167"/>
                <a:gd name="T10" fmla="*/ 941 w 541"/>
                <a:gd name="T11" fmla="*/ 254 h 167"/>
                <a:gd name="T12" fmla="*/ 0 w 541"/>
                <a:gd name="T13" fmla="*/ 254 h 167"/>
                <a:gd name="T14" fmla="*/ 0 w 541"/>
                <a:gd name="T15" fmla="*/ 91 h 167"/>
                <a:gd name="T16" fmla="*/ 0 60000 65536"/>
                <a:gd name="T17" fmla="*/ 0 60000 65536"/>
                <a:gd name="T18" fmla="*/ 0 60000 65536"/>
                <a:gd name="T19" fmla="*/ 0 60000 65536"/>
                <a:gd name="T20" fmla="*/ 0 60000 65536"/>
                <a:gd name="T21" fmla="*/ 0 60000 65536"/>
                <a:gd name="T22" fmla="*/ 0 60000 65536"/>
                <a:gd name="T23" fmla="*/ 0 60000 65536"/>
                <a:gd name="T24" fmla="*/ 0 w 541"/>
                <a:gd name="T25" fmla="*/ 0 h 167"/>
                <a:gd name="T26" fmla="*/ 541 w 541"/>
                <a:gd name="T27" fmla="*/ 167 h 1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1" h="167">
                  <a:moveTo>
                    <a:pt x="0" y="44"/>
                  </a:moveTo>
                  <a:lnTo>
                    <a:pt x="369" y="44"/>
                  </a:lnTo>
                  <a:lnTo>
                    <a:pt x="369" y="0"/>
                  </a:lnTo>
                  <a:lnTo>
                    <a:pt x="540" y="83"/>
                  </a:lnTo>
                  <a:lnTo>
                    <a:pt x="369" y="166"/>
                  </a:lnTo>
                  <a:lnTo>
                    <a:pt x="369" y="123"/>
                  </a:lnTo>
                  <a:lnTo>
                    <a:pt x="0" y="123"/>
                  </a:lnTo>
                  <a:lnTo>
                    <a:pt x="0" y="44"/>
                  </a:lnTo>
                </a:path>
              </a:pathLst>
            </a:custGeom>
            <a:solidFill>
              <a:srgbClr val="FF0000"/>
            </a:solidFill>
            <a:ln w="9525">
              <a:round/>
              <a:headEnd/>
              <a:tailEnd/>
            </a:ln>
            <a:scene3d>
              <a:camera prst="legacyObliqueTopRight"/>
              <a:lightRig rig="legacyFlat3" dir="b"/>
            </a:scene3d>
            <a:sp3d extrusionH="125400" prstMaterial="legacyMatte">
              <a:bevelT w="13500" h="13500" prst="angle"/>
              <a:bevelB w="13500" h="13500" prst="angle"/>
              <a:extrusionClr>
                <a:srgbClr val="FF0000"/>
              </a:extrusionClr>
            </a:sp3d>
          </p:spPr>
          <p:txBody>
            <a:bodyPr>
              <a:flatTx/>
            </a:bodyPr>
            <a:lstStyle/>
            <a:p>
              <a:endParaRPr lang="zh-CN" altLang="en-US"/>
            </a:p>
          </p:txBody>
        </p:sp>
        <p:sp>
          <p:nvSpPr>
            <p:cNvPr id="27663" name="Rectangle 11"/>
            <p:cNvSpPr>
              <a:spLocks noChangeArrowheads="1"/>
            </p:cNvSpPr>
            <p:nvPr/>
          </p:nvSpPr>
          <p:spPr bwMode="auto">
            <a:xfrm>
              <a:off x="2304" y="2400"/>
              <a:ext cx="86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r>
                <a:rPr lang="zh-CN" altLang="en-US" sz="2800" i="0" dirty="0">
                  <a:latin typeface="Arial Black" pitchFamily="34" charset="0"/>
                </a:rPr>
                <a:t>对  阶</a:t>
              </a:r>
              <a:endParaRPr lang="zh-CN" altLang="zh-CN" sz="1600" b="0" i="0" dirty="0">
                <a:latin typeface="Arial Black" pitchFamily="34" charset="0"/>
              </a:endParaRPr>
            </a:p>
          </p:txBody>
        </p:sp>
      </p:grpSp>
      <p:sp>
        <p:nvSpPr>
          <p:cNvPr id="750604" name="Rectangle 12"/>
          <p:cNvSpPr>
            <a:spLocks noChangeArrowheads="1"/>
          </p:cNvSpPr>
          <p:nvPr/>
        </p:nvSpPr>
        <p:spPr bwMode="auto">
          <a:xfrm>
            <a:off x="5676900" y="2959100"/>
            <a:ext cx="38798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l">
              <a:spcBef>
                <a:spcPct val="50000"/>
              </a:spcBef>
            </a:pPr>
            <a:r>
              <a:rPr lang="zh-CN" altLang="en-US" sz="1600" b="0" i="0" dirty="0">
                <a:latin typeface="Arial Black" pitchFamily="34" charset="0"/>
              </a:rPr>
              <a:t>     </a:t>
            </a:r>
          </a:p>
          <a:p>
            <a:pPr algn="l">
              <a:lnSpc>
                <a:spcPct val="70000"/>
              </a:lnSpc>
              <a:spcBef>
                <a:spcPct val="50000"/>
              </a:spcBef>
            </a:pPr>
            <a:r>
              <a:rPr lang="zh-CN" altLang="en-US" sz="1600" b="0" i="0" dirty="0">
                <a:latin typeface="Arial Black" pitchFamily="34" charset="0"/>
              </a:rPr>
              <a:t>     </a:t>
            </a:r>
            <a:r>
              <a:rPr lang="zh-CN" altLang="en-US" sz="3200" i="0" dirty="0">
                <a:solidFill>
                  <a:srgbClr val="000000"/>
                </a:solidFill>
                <a:latin typeface="Symbol" pitchFamily="18" charset="2"/>
              </a:rPr>
              <a:t>10</a:t>
            </a:r>
            <a:r>
              <a:rPr lang="zh-CN" altLang="en-US" sz="3200" i="0" baseline="30000" dirty="0">
                <a:solidFill>
                  <a:srgbClr val="000000"/>
                </a:solidFill>
                <a:latin typeface="Symbol" pitchFamily="18" charset="2"/>
              </a:rPr>
              <a:t>3</a:t>
            </a:r>
            <a:r>
              <a:rPr lang="zh-CN" altLang="en-US" sz="3200" i="0" dirty="0">
                <a:solidFill>
                  <a:srgbClr val="000000"/>
                </a:solidFill>
                <a:latin typeface="Symbol" pitchFamily="18" charset="2"/>
              </a:rPr>
              <a:t>(0.8961)</a:t>
            </a:r>
          </a:p>
          <a:p>
            <a:pPr algn="l">
              <a:lnSpc>
                <a:spcPct val="70000"/>
              </a:lnSpc>
              <a:spcBef>
                <a:spcPct val="50000"/>
              </a:spcBef>
            </a:pPr>
            <a:r>
              <a:rPr lang="zh-CN" altLang="en-US" sz="3200" i="0" dirty="0">
                <a:solidFill>
                  <a:srgbClr val="000000"/>
                </a:solidFill>
                <a:latin typeface="Symbol" pitchFamily="18" charset="2"/>
              </a:rPr>
              <a:t>+ 10</a:t>
            </a:r>
            <a:r>
              <a:rPr lang="zh-CN" altLang="en-US" sz="3200" i="0" baseline="30000" dirty="0">
                <a:solidFill>
                  <a:srgbClr val="000000"/>
                </a:solidFill>
                <a:latin typeface="Symbol" pitchFamily="18" charset="2"/>
              </a:rPr>
              <a:t>3</a:t>
            </a:r>
            <a:r>
              <a:rPr lang="zh-CN" altLang="en-US" sz="3200" i="0" dirty="0">
                <a:solidFill>
                  <a:srgbClr val="000000"/>
                </a:solidFill>
                <a:latin typeface="Symbol" pitchFamily="18" charset="2"/>
              </a:rPr>
              <a:t>(0.0000)004688</a:t>
            </a:r>
            <a:endParaRPr lang="zh-CN" altLang="zh-CN" sz="3200" i="0" dirty="0">
              <a:latin typeface="Symbol" pitchFamily="18" charset="2"/>
            </a:endParaRPr>
          </a:p>
        </p:txBody>
      </p:sp>
      <p:sp>
        <p:nvSpPr>
          <p:cNvPr id="750605" name="Rectangle 13"/>
          <p:cNvSpPr>
            <a:spLocks noChangeArrowheads="1"/>
          </p:cNvSpPr>
          <p:nvPr/>
        </p:nvSpPr>
        <p:spPr bwMode="auto">
          <a:xfrm>
            <a:off x="3333750" y="4483100"/>
            <a:ext cx="2678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l">
              <a:spcBef>
                <a:spcPct val="20000"/>
              </a:spcBef>
              <a:buClr>
                <a:schemeClr val="accent2"/>
              </a:buClr>
              <a:buFont typeface="Wingdings 3" pitchFamily="18" charset="2"/>
              <a:buNone/>
            </a:pPr>
            <a:r>
              <a:rPr lang="en-US" altLang="zh-CN" sz="3600">
                <a:latin typeface="Times New Roman" pitchFamily="18" charset="0"/>
              </a:rPr>
              <a:t>a</a:t>
            </a:r>
            <a:r>
              <a:rPr lang="en-US" altLang="zh-CN" sz="3600" i="0">
                <a:latin typeface="宋体" pitchFamily="2" charset="-122"/>
              </a:rPr>
              <a:t>+</a:t>
            </a:r>
            <a:r>
              <a:rPr lang="en-US" altLang="zh-CN" sz="3600">
                <a:latin typeface="Times New Roman" pitchFamily="18" charset="0"/>
              </a:rPr>
              <a:t>b</a:t>
            </a:r>
            <a:r>
              <a:rPr lang="en-US" altLang="zh-CN" sz="3600" i="0">
                <a:latin typeface="宋体" pitchFamily="2" charset="-122"/>
              </a:rPr>
              <a:t>+</a:t>
            </a:r>
            <a:r>
              <a:rPr lang="en-US" altLang="zh-CN" sz="3600">
                <a:latin typeface="Times New Roman" pitchFamily="18" charset="0"/>
              </a:rPr>
              <a:t>c</a:t>
            </a:r>
            <a:r>
              <a:rPr lang="en-US" altLang="zh-CN" sz="3600" i="0">
                <a:latin typeface="宋体" pitchFamily="2" charset="-122"/>
                <a:sym typeface="Symbol" pitchFamily="18" charset="2"/>
              </a:rPr>
              <a:t></a:t>
            </a:r>
            <a:r>
              <a:rPr lang="en-US" altLang="zh-CN" sz="3600">
                <a:latin typeface="Times New Roman" pitchFamily="18" charset="0"/>
                <a:sym typeface="Symbol" pitchFamily="18" charset="2"/>
              </a:rPr>
              <a:t>a</a:t>
            </a:r>
            <a:r>
              <a:rPr lang="en-US" altLang="zh-CN" sz="3600" i="0">
                <a:latin typeface="宋体" pitchFamily="2" charset="-122"/>
                <a:sym typeface="Symbol" pitchFamily="18" charset="2"/>
              </a:rPr>
              <a:t>+</a:t>
            </a:r>
            <a:r>
              <a:rPr lang="en-US" altLang="zh-CN" sz="3600">
                <a:latin typeface="Times New Roman" pitchFamily="18" charset="0"/>
                <a:sym typeface="Symbol" pitchFamily="18" charset="2"/>
              </a:rPr>
              <a:t>c</a:t>
            </a:r>
            <a:r>
              <a:rPr lang="en-US" altLang="zh-CN" sz="3600" i="0">
                <a:latin typeface="宋体" pitchFamily="2" charset="-122"/>
                <a:sym typeface="Symbol" pitchFamily="18" charset="2"/>
              </a:rPr>
              <a:t>+</a:t>
            </a:r>
            <a:r>
              <a:rPr lang="en-US" altLang="zh-CN" sz="3600">
                <a:latin typeface="Times New Roman" pitchFamily="18" charset="0"/>
                <a:sym typeface="Symbol" pitchFamily="18" charset="2"/>
              </a:rPr>
              <a:t>b</a:t>
            </a:r>
            <a:endParaRPr lang="en-US" altLang="zh-CN" sz="3600">
              <a:latin typeface="Times New Roman" pitchFamily="18" charset="0"/>
            </a:endParaRPr>
          </a:p>
        </p:txBody>
      </p:sp>
      <p:sp>
        <p:nvSpPr>
          <p:cNvPr id="3" name="内容占位符 2"/>
          <p:cNvSpPr>
            <a:spLocks noGrp="1"/>
          </p:cNvSpPr>
          <p:nvPr>
            <p:ph idx="1"/>
          </p:nvPr>
        </p:nvSpPr>
        <p:spPr>
          <a:xfrm>
            <a:off x="650875" y="1143000"/>
            <a:ext cx="8820150" cy="1852815"/>
          </a:xfrm>
        </p:spPr>
        <p:txBody>
          <a:bodyPr/>
          <a:lstStyle/>
          <a:p>
            <a:pPr>
              <a:buNone/>
            </a:pPr>
            <a:r>
              <a:rPr lang="zh-CN" altLang="en-US" dirty="0">
                <a:latin typeface="黑体" pitchFamily="49" charset="-122"/>
                <a:ea typeface="黑体" pitchFamily="49" charset="-122"/>
              </a:rPr>
              <a:t>(2) 防止大数吃小数的情况</a:t>
            </a:r>
          </a:p>
          <a:p>
            <a:pPr>
              <a:buNone/>
            </a:pPr>
            <a:r>
              <a:rPr kumimoji="1" lang="zh-CN" altLang="en-US" dirty="0">
                <a:latin typeface="黑体" pitchFamily="49" charset="-122"/>
                <a:ea typeface="黑体" pitchFamily="49" charset="-122"/>
              </a:rPr>
              <a:t>在计算机内，</a:t>
            </a:r>
            <a:r>
              <a:rPr kumimoji="1" lang="zh-CN" altLang="en-US" dirty="0">
                <a:solidFill>
                  <a:srgbClr val="FF0066"/>
                </a:solidFill>
                <a:latin typeface="黑体" pitchFamily="49" charset="-122"/>
                <a:ea typeface="黑体" pitchFamily="49" charset="-122"/>
              </a:rPr>
              <a:t>做加法时，两加数的指数先向大指数</a:t>
            </a:r>
            <a:r>
              <a:rPr kumimoji="1" lang="zh-CN" altLang="en-US" dirty="0" smtClean="0">
                <a:solidFill>
                  <a:srgbClr val="FF0066"/>
                </a:solidFill>
                <a:latin typeface="黑体" pitchFamily="49" charset="-122"/>
                <a:ea typeface="黑体" pitchFamily="49" charset="-122"/>
              </a:rPr>
              <a:t>对齐</a:t>
            </a:r>
            <a:r>
              <a:rPr kumimoji="1" lang="en-US" altLang="zh-CN" dirty="0" smtClean="0">
                <a:solidFill>
                  <a:srgbClr val="FF0066"/>
                </a:solidFill>
                <a:latin typeface="黑体" pitchFamily="49" charset="-122"/>
                <a:ea typeface="黑体" pitchFamily="49" charset="-122"/>
              </a:rPr>
              <a:t>,</a:t>
            </a:r>
            <a:r>
              <a:rPr kumimoji="1" lang="zh-CN" altLang="en-US" dirty="0" smtClean="0">
                <a:solidFill>
                  <a:srgbClr val="FF0066"/>
                </a:solidFill>
                <a:latin typeface="黑体" pitchFamily="49" charset="-122"/>
                <a:ea typeface="黑体" pitchFamily="49" charset="-122"/>
              </a:rPr>
              <a:t>再</a:t>
            </a:r>
            <a:r>
              <a:rPr kumimoji="1" lang="zh-CN" altLang="en-US" dirty="0">
                <a:solidFill>
                  <a:srgbClr val="FF0066"/>
                </a:solidFill>
                <a:latin typeface="黑体" pitchFamily="49" charset="-122"/>
                <a:ea typeface="黑体" pitchFamily="49" charset="-122"/>
              </a:rPr>
              <a:t>将浮点部分相加</a:t>
            </a:r>
          </a:p>
          <a:p>
            <a:endParaRPr lang="zh-CN" altLang="en-US" dirty="0"/>
          </a:p>
        </p:txBody>
      </p:sp>
    </p:spTree>
    <p:extLst>
      <p:ext uri="{BB962C8B-B14F-4D97-AF65-F5344CB8AC3E}">
        <p14:creationId xmlns:p14="http://schemas.microsoft.com/office/powerpoint/2010/main" val="34564718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50600"/>
                                        </p:tgtEl>
                                        <p:attrNameLst>
                                          <p:attrName>style.visibility</p:attrName>
                                        </p:attrNameLst>
                                      </p:cBhvr>
                                      <p:to>
                                        <p:strVal val="visible"/>
                                      </p:to>
                                    </p:set>
                                    <p:animEffect transition="in" filter="slide(fromLeft)">
                                      <p:cBhvr>
                                        <p:cTn id="7" dur="500"/>
                                        <p:tgtEl>
                                          <p:spTgt spid="7506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50604"/>
                                        </p:tgtEl>
                                        <p:attrNameLst>
                                          <p:attrName>style.visibility</p:attrName>
                                        </p:attrNameLst>
                                      </p:cBhvr>
                                      <p:to>
                                        <p:strVal val="visible"/>
                                      </p:to>
                                    </p:set>
                                    <p:animEffect transition="in" filter="slide(fromLeft)">
                                      <p:cBhvr>
                                        <p:cTn id="17" dur="500"/>
                                        <p:tgtEl>
                                          <p:spTgt spid="7506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50605"/>
                                        </p:tgtEl>
                                        <p:attrNameLst>
                                          <p:attrName>style.visibility</p:attrName>
                                        </p:attrNameLst>
                                      </p:cBhvr>
                                      <p:to>
                                        <p:strVal val="visible"/>
                                      </p:to>
                                    </p:set>
                                    <p:anim calcmode="lin" valueType="num">
                                      <p:cBhvr additive="base">
                                        <p:cTn id="22" dur="500" fill="hold"/>
                                        <p:tgtEl>
                                          <p:spTgt spid="750605"/>
                                        </p:tgtEl>
                                        <p:attrNameLst>
                                          <p:attrName>ppt_x</p:attrName>
                                        </p:attrNameLst>
                                      </p:cBhvr>
                                      <p:tavLst>
                                        <p:tav tm="0">
                                          <p:val>
                                            <p:strVal val="#ppt_x"/>
                                          </p:val>
                                        </p:tav>
                                        <p:tav tm="100000">
                                          <p:val>
                                            <p:strVal val="#ppt_x"/>
                                          </p:val>
                                        </p:tav>
                                      </p:tavLst>
                                    </p:anim>
                                    <p:anim calcmode="lin" valueType="num">
                                      <p:cBhvr additive="base">
                                        <p:cTn id="23" dur="500" fill="hold"/>
                                        <p:tgtEl>
                                          <p:spTgt spid="7506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600" grpId="0" autoUpdateAnimBg="0"/>
      <p:bldP spid="750604" grpId="0" autoUpdateAnimBg="0"/>
      <p:bldP spid="75060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0"/>
          </p:nvPr>
        </p:nvSpPr>
        <p:spPr>
          <a:xfrm>
            <a:off x="7321550" y="5964039"/>
            <a:ext cx="2501900" cy="527050"/>
          </a:xfrm>
        </p:spPr>
        <p:txBody>
          <a:bodyPr/>
          <a:lstStyle/>
          <a:p>
            <a:pPr>
              <a:defRPr/>
            </a:pPr>
            <a:fld id="{FBEF6608-732B-46ED-B376-E45B0524B459}" type="slidenum">
              <a:rPr lang="zh-CN" altLang="en-US" smtClean="0"/>
              <a:pPr>
                <a:defRPr/>
              </a:pPr>
              <a:t>26</a:t>
            </a:fld>
            <a:endParaRPr lang="en-US" altLang="zh-CN"/>
          </a:p>
        </p:txBody>
      </p:sp>
      <p:sp>
        <p:nvSpPr>
          <p:cNvPr id="5" name="日期占位符 4"/>
          <p:cNvSpPr>
            <a:spLocks noGrp="1"/>
          </p:cNvSpPr>
          <p:nvPr>
            <p:ph type="dt" sz="half" idx="11"/>
          </p:nvPr>
        </p:nvSpPr>
        <p:spPr>
          <a:xfrm>
            <a:off x="14288" y="5989439"/>
            <a:ext cx="2297112" cy="577850"/>
          </a:xfrm>
        </p:spPr>
        <p:txBody>
          <a:bodyPr/>
          <a:lstStyle/>
          <a:p>
            <a:pPr>
              <a:defRPr/>
            </a:pPr>
            <a:fld id="{4D993B8C-E18E-4992-B994-9EE8A9916AEC}" type="datetime1">
              <a:rPr lang="zh-CN" altLang="en-US" smtClean="0"/>
              <a:pPr>
                <a:defRPr/>
              </a:pPr>
              <a:t>2024/9/8</a:t>
            </a:fld>
            <a:endParaRPr lang="en-US" altLang="zh-CN" sz="1000"/>
          </a:p>
        </p:txBody>
      </p:sp>
      <p:sp>
        <p:nvSpPr>
          <p:cNvPr id="13" name="Rectangle 3"/>
          <p:cNvSpPr>
            <a:spLocks noChangeArrowheads="1"/>
          </p:cNvSpPr>
          <p:nvPr/>
        </p:nvSpPr>
        <p:spPr bwMode="auto">
          <a:xfrm>
            <a:off x="822655" y="1628800"/>
            <a:ext cx="2232025"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lnSpc>
                <a:spcPct val="130000"/>
              </a:lnSpc>
            </a:pPr>
            <a:r>
              <a:rPr lang="zh-CN" altLang="en-US" sz="2800" i="0" dirty="0">
                <a:latin typeface="Times New Roman" pitchFamily="18" charset="0"/>
                <a:ea typeface="楷体_GB2312" pitchFamily="49" charset="-122"/>
              </a:rPr>
              <a:t>精确解为</a:t>
            </a:r>
          </a:p>
        </p:txBody>
      </p:sp>
      <p:graphicFrame>
        <p:nvGraphicFramePr>
          <p:cNvPr id="14" name="Object 4"/>
          <p:cNvGraphicFramePr>
            <a:graphicFrameLocks noChangeAspect="1"/>
          </p:cNvGraphicFramePr>
          <p:nvPr>
            <p:extLst>
              <p:ext uri="{D42A27DB-BD31-4B8C-83A1-F6EECF244321}">
                <p14:modId xmlns:p14="http://schemas.microsoft.com/office/powerpoint/2010/main" val="1162040234"/>
              </p:ext>
            </p:extLst>
          </p:nvPr>
        </p:nvGraphicFramePr>
        <p:xfrm>
          <a:off x="2735766" y="1631715"/>
          <a:ext cx="3034954" cy="664680"/>
        </p:xfrm>
        <a:graphic>
          <a:graphicData uri="http://schemas.openxmlformats.org/presentationml/2006/ole">
            <mc:AlternateContent xmlns:mc="http://schemas.openxmlformats.org/markup-compatibility/2006">
              <mc:Choice xmlns:v="urn:schemas-microsoft-com:vml" Requires="v">
                <p:oleObj spid="_x0000_s160841" r:id="rId5" imgW="1041265" imgH="228818" progId="Equation.3">
                  <p:embed/>
                </p:oleObj>
              </mc:Choice>
              <mc:Fallback>
                <p:oleObj r:id="rId5" imgW="1041265" imgH="22881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5766" y="1631715"/>
                        <a:ext cx="3034954" cy="664680"/>
                      </a:xfrm>
                      <a:prstGeom prst="rect">
                        <a:avLst/>
                      </a:prstGeom>
                      <a:noFill/>
                      <a:ln>
                        <a:noFill/>
                      </a:ln>
                      <a:effectLst/>
                    </p:spPr>
                  </p:pic>
                </p:oleObj>
              </mc:Fallback>
            </mc:AlternateContent>
          </a:graphicData>
        </a:graphic>
      </p:graphicFrame>
      <p:grpSp>
        <p:nvGrpSpPr>
          <p:cNvPr id="15" name="Group 5"/>
          <p:cNvGrpSpPr>
            <a:grpSpLocks/>
          </p:cNvGrpSpPr>
          <p:nvPr/>
        </p:nvGrpSpPr>
        <p:grpSpPr bwMode="auto">
          <a:xfrm>
            <a:off x="606755" y="2204864"/>
            <a:ext cx="7154557" cy="863600"/>
            <a:chOff x="0" y="0"/>
            <a:chExt cx="3754" cy="457"/>
          </a:xfrm>
        </p:grpSpPr>
        <p:sp>
          <p:nvSpPr>
            <p:cNvPr id="16" name="Rectangle 6"/>
            <p:cNvSpPr>
              <a:spLocks noChangeArrowheads="1"/>
            </p:cNvSpPr>
            <p:nvPr/>
          </p:nvSpPr>
          <p:spPr bwMode="auto">
            <a:xfrm>
              <a:off x="0" y="96"/>
              <a:ext cx="204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i="0" u="none" strike="noStrike" kern="0" cap="none" spc="0" normalizeH="0" baseline="0" noProof="0" dirty="0" smtClean="0">
                  <a:ln>
                    <a:noFill/>
                  </a:ln>
                  <a:effectLst/>
                  <a:uLnTx/>
                  <a:uFillTx/>
                  <a:latin typeface="楷体_GB2312" pitchFamily="49" charset="-122"/>
                  <a:ea typeface="楷体_GB2312" pitchFamily="49" charset="-122"/>
                  <a:sym typeface="Wingdings" pitchFamily="2" charset="2"/>
                </a:rPr>
                <a:t> </a:t>
              </a:r>
              <a:r>
                <a:rPr kumimoji="0" lang="zh-CN" altLang="en-US" sz="2800" i="0" u="none" strike="noStrike" kern="0" cap="none" spc="0" normalizeH="0" baseline="0" noProof="0" dirty="0" smtClean="0">
                  <a:ln>
                    <a:noFill/>
                  </a:ln>
                  <a:effectLst/>
                  <a:uLnTx/>
                  <a:uFillTx/>
                  <a:latin typeface="楷体_GB2312" pitchFamily="49" charset="-122"/>
                  <a:ea typeface="楷体_GB2312" pitchFamily="49" charset="-122"/>
                </a:rPr>
                <a:t>算法</a:t>
              </a:r>
              <a:r>
                <a:rPr kumimoji="0" lang="en-US" sz="2800" i="0" u="none" strike="noStrike" kern="0" cap="none" spc="0" normalizeH="0" baseline="0" noProof="0" dirty="0" smtClean="0">
                  <a:ln>
                    <a:noFill/>
                  </a:ln>
                  <a:effectLst/>
                  <a:uLnTx/>
                  <a:uFillTx/>
                  <a:latin typeface="楷体_GB2312" pitchFamily="49" charset="-122"/>
                  <a:ea typeface="楷体_GB2312" pitchFamily="49" charset="-122"/>
                </a:rPr>
                <a:t>1</a:t>
              </a:r>
              <a:r>
                <a:rPr kumimoji="0" lang="zh-CN" altLang="en-US" sz="2800" i="0" u="none" strike="noStrike" kern="0" cap="none" spc="0" normalizeH="0" baseline="0" noProof="0" dirty="0" smtClean="0">
                  <a:ln>
                    <a:noFill/>
                  </a:ln>
                  <a:effectLst/>
                  <a:uLnTx/>
                  <a:uFillTx/>
                  <a:latin typeface="楷体_GB2312" pitchFamily="49" charset="-122"/>
                  <a:ea typeface="楷体_GB2312" pitchFamily="49" charset="-122"/>
                </a:rPr>
                <a:t>：利用求根公式</a:t>
              </a:r>
            </a:p>
          </p:txBody>
        </p:sp>
        <p:graphicFrame>
          <p:nvGraphicFramePr>
            <p:cNvPr id="17" name="Object 7"/>
            <p:cNvGraphicFramePr>
              <a:graphicFrameLocks noChangeAspect="1"/>
            </p:cNvGraphicFramePr>
            <p:nvPr>
              <p:extLst>
                <p:ext uri="{D42A27DB-BD31-4B8C-83A1-F6EECF244321}">
                  <p14:modId xmlns:p14="http://schemas.microsoft.com/office/powerpoint/2010/main" val="2205229226"/>
                </p:ext>
              </p:extLst>
            </p:nvPr>
          </p:nvGraphicFramePr>
          <p:xfrm>
            <a:off x="2338" y="0"/>
            <a:ext cx="1416" cy="457"/>
          </p:xfrm>
          <a:graphic>
            <a:graphicData uri="http://schemas.openxmlformats.org/presentationml/2006/ole">
              <mc:AlternateContent xmlns:mc="http://schemas.openxmlformats.org/markup-compatibility/2006">
                <mc:Choice xmlns:v="urn:schemas-microsoft-com:vml" Requires="v">
                  <p:oleObj spid="_x0000_s160842" name="公式" r:id="rId7" imgW="1307880" imgH="444240" progId="Equation.3">
                    <p:embed/>
                  </p:oleObj>
                </mc:Choice>
                <mc:Fallback>
                  <p:oleObj name="公式" r:id="rId7" imgW="1307880" imgH="444240" progId="Equation.3">
                    <p:embed/>
                    <p:pic>
                      <p:nvPicPr>
                        <p:cNvPr id="0" name=""/>
                        <p:cNvPicPr>
                          <a:picLocks noChangeAspect="1" noChangeArrowheads="1"/>
                        </p:cNvPicPr>
                        <p:nvPr/>
                      </p:nvPicPr>
                      <p:blipFill>
                        <a:blip r:embed="rId8"/>
                        <a:srcRect/>
                        <a:stretch>
                          <a:fillRect/>
                        </a:stretch>
                      </p:blipFill>
                      <p:spPr bwMode="auto">
                        <a:xfrm>
                          <a:off x="2338" y="0"/>
                          <a:ext cx="1416" cy="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 name="Text Box 8"/>
          <p:cNvSpPr txBox="1">
            <a:spLocks noChangeArrowheads="1"/>
          </p:cNvSpPr>
          <p:nvPr/>
        </p:nvSpPr>
        <p:spPr bwMode="auto">
          <a:xfrm>
            <a:off x="735062" y="1179177"/>
            <a:ext cx="8680581" cy="52322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800" i="0" dirty="0">
                <a:solidFill>
                  <a:srgbClr val="CC0066"/>
                </a:solidFill>
                <a:effectLst>
                  <a:outerShdw blurRad="38100" dist="38100" dir="2700000" algn="tl">
                    <a:srgbClr val="C0C0C0"/>
                  </a:outerShdw>
                </a:effectLst>
                <a:latin typeface="楷体_GB2312" pitchFamily="49" charset="-122"/>
                <a:ea typeface="楷体_GB2312" pitchFamily="49" charset="-122"/>
              </a:rPr>
              <a:t>例：</a:t>
            </a:r>
            <a:r>
              <a:rPr lang="zh-CN" altLang="en-US" sz="2800" i="0" dirty="0">
                <a:effectLst>
                  <a:outerShdw blurRad="38100" dist="38100" dir="2700000" algn="tl">
                    <a:srgbClr val="C0C0C0"/>
                  </a:outerShdw>
                </a:effectLst>
                <a:latin typeface="楷体_GB2312" pitchFamily="49" charset="-122"/>
                <a:ea typeface="楷体_GB2312" pitchFamily="49" charset="-122"/>
              </a:rPr>
              <a:t>用单精度计算                 </a:t>
            </a:r>
            <a:r>
              <a:rPr lang="zh-CN" altLang="en-US" sz="2800" i="0" dirty="0" smtClean="0">
                <a:effectLst>
                  <a:outerShdw blurRad="38100" dist="38100" dir="2700000" algn="tl">
                    <a:srgbClr val="C0C0C0"/>
                  </a:outerShdw>
                </a:effectLst>
                <a:latin typeface="楷体_GB2312" pitchFamily="49" charset="-122"/>
                <a:ea typeface="楷体_GB2312" pitchFamily="49" charset="-122"/>
              </a:rPr>
              <a:t>        的</a:t>
            </a:r>
            <a:r>
              <a:rPr lang="zh-CN" altLang="en-US" sz="2800" i="0" dirty="0">
                <a:effectLst>
                  <a:outerShdw blurRad="38100" dist="38100" dir="2700000" algn="tl">
                    <a:srgbClr val="C0C0C0"/>
                  </a:outerShdw>
                </a:effectLst>
                <a:latin typeface="楷体_GB2312" pitchFamily="49" charset="-122"/>
                <a:ea typeface="楷体_GB2312" pitchFamily="49" charset="-122"/>
              </a:rPr>
              <a:t>根</a:t>
            </a:r>
            <a:r>
              <a:rPr lang="zh-CN" altLang="en-US" sz="2800" i="0" dirty="0">
                <a:solidFill>
                  <a:srgbClr val="007572"/>
                </a:solidFill>
                <a:effectLst>
                  <a:outerShdw blurRad="38100" dist="38100" dir="2700000" algn="tl">
                    <a:srgbClr val="C0C0C0"/>
                  </a:outerShdw>
                </a:effectLst>
                <a:latin typeface="楷体_GB2312" pitchFamily="49" charset="-122"/>
                <a:ea typeface="楷体_GB2312" pitchFamily="49" charset="-122"/>
              </a:rPr>
              <a:t>。</a:t>
            </a:r>
          </a:p>
        </p:txBody>
      </p:sp>
      <p:graphicFrame>
        <p:nvGraphicFramePr>
          <p:cNvPr id="19" name="Object 9"/>
          <p:cNvGraphicFramePr>
            <a:graphicFrameLocks noChangeAspect="1"/>
          </p:cNvGraphicFramePr>
          <p:nvPr>
            <p:extLst>
              <p:ext uri="{D42A27DB-BD31-4B8C-83A1-F6EECF244321}">
                <p14:modId xmlns:p14="http://schemas.microsoft.com/office/powerpoint/2010/main" val="2186813640"/>
              </p:ext>
            </p:extLst>
          </p:nvPr>
        </p:nvGraphicFramePr>
        <p:xfrm>
          <a:off x="3800872" y="1115947"/>
          <a:ext cx="4392488" cy="586450"/>
        </p:xfrm>
        <a:graphic>
          <a:graphicData uri="http://schemas.openxmlformats.org/presentationml/2006/ole">
            <mc:AlternateContent xmlns:mc="http://schemas.openxmlformats.org/markup-compatibility/2006">
              <mc:Choice xmlns:v="urn:schemas-microsoft-com:vml" Requires="v">
                <p:oleObj spid="_x0000_s160843" name="公式" r:id="rId9" imgW="1676160" imgH="228600" progId="Equation.3">
                  <p:embed/>
                </p:oleObj>
              </mc:Choice>
              <mc:Fallback>
                <p:oleObj name="公式" r:id="rId9" imgW="1676160" imgH="228600" progId="Equation.3">
                  <p:embed/>
                  <p:pic>
                    <p:nvPicPr>
                      <p:cNvPr id="0" name=""/>
                      <p:cNvPicPr>
                        <a:picLocks noChangeAspect="1" noChangeArrowheads="1"/>
                      </p:cNvPicPr>
                      <p:nvPr/>
                    </p:nvPicPr>
                    <p:blipFill>
                      <a:blip r:embed="rId10"/>
                      <a:srcRect/>
                      <a:stretch>
                        <a:fillRect/>
                      </a:stretch>
                    </p:blipFill>
                    <p:spPr bwMode="auto">
                      <a:xfrm>
                        <a:off x="3800872" y="1115947"/>
                        <a:ext cx="4392488" cy="586450"/>
                      </a:xfrm>
                      <a:prstGeom prst="rect">
                        <a:avLst/>
                      </a:prstGeom>
                      <a:noFill/>
                      <a:ln>
                        <a:noFill/>
                      </a:ln>
                      <a:effectLst/>
                    </p:spPr>
                  </p:pic>
                </p:oleObj>
              </mc:Fallback>
            </mc:AlternateContent>
          </a:graphicData>
        </a:graphic>
      </p:graphicFrame>
      <p:sp>
        <p:nvSpPr>
          <p:cNvPr id="22" name="Text Box 2"/>
          <p:cNvSpPr txBox="1">
            <a:spLocks noChangeArrowheads="1"/>
          </p:cNvSpPr>
          <p:nvPr/>
        </p:nvSpPr>
        <p:spPr bwMode="auto">
          <a:xfrm>
            <a:off x="611188" y="2924423"/>
            <a:ext cx="9294812" cy="1865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ea typeface="宋体" pitchFamily="2" charset="-122"/>
              </a:defRPr>
            </a:lvl1pPr>
            <a:lvl2pPr marL="666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algn="l" eaLnBrk="1" hangingPunct="1">
              <a:lnSpc>
                <a:spcPct val="120000"/>
              </a:lnSpc>
            </a:pPr>
            <a:r>
              <a:rPr lang="zh-CN" altLang="en-US" sz="2400" i="0" dirty="0">
                <a:solidFill>
                  <a:srgbClr val="000000"/>
                </a:solidFill>
                <a:latin typeface="Times New Roman" pitchFamily="18" charset="0"/>
                <a:ea typeface="楷体_GB2312" pitchFamily="49" charset="-122"/>
              </a:rPr>
              <a:t>在计算机内，</a:t>
            </a:r>
            <a:r>
              <a:rPr lang="en-US" altLang="zh-CN" sz="2400" i="0" dirty="0">
                <a:solidFill>
                  <a:srgbClr val="000000"/>
                </a:solidFill>
                <a:latin typeface="Times New Roman" pitchFamily="18" charset="0"/>
                <a:ea typeface="楷体_GB2312" pitchFamily="49" charset="-122"/>
              </a:rPr>
              <a:t>10</a:t>
            </a:r>
            <a:r>
              <a:rPr lang="en-US" altLang="zh-CN" sz="2400" i="0" baseline="30000" dirty="0">
                <a:solidFill>
                  <a:srgbClr val="000000"/>
                </a:solidFill>
                <a:latin typeface="Times New Roman" pitchFamily="18" charset="0"/>
                <a:ea typeface="楷体_GB2312" pitchFamily="49" charset="-122"/>
              </a:rPr>
              <a:t>9</a:t>
            </a:r>
            <a:r>
              <a:rPr lang="zh-CN" altLang="en-US" sz="2400" i="0" dirty="0">
                <a:solidFill>
                  <a:srgbClr val="000000"/>
                </a:solidFill>
                <a:latin typeface="Times New Roman" pitchFamily="18" charset="0"/>
                <a:ea typeface="楷体_GB2312" pitchFamily="49" charset="-122"/>
              </a:rPr>
              <a:t>存为</a:t>
            </a:r>
            <a:r>
              <a:rPr lang="en-US" altLang="zh-CN" sz="2400" i="0" dirty="0">
                <a:solidFill>
                  <a:srgbClr val="000000"/>
                </a:solidFill>
                <a:latin typeface="Times New Roman" pitchFamily="18" charset="0"/>
                <a:ea typeface="楷体_GB2312" pitchFamily="49" charset="-122"/>
              </a:rPr>
              <a:t>0.1</a:t>
            </a:r>
            <a:r>
              <a:rPr lang="en-US" altLang="zh-CN" sz="2400" i="0" dirty="0">
                <a:solidFill>
                  <a:srgbClr val="000000"/>
                </a:solidFill>
                <a:latin typeface="Times New Roman" pitchFamily="18" charset="0"/>
                <a:ea typeface="楷体_GB2312" pitchFamily="49" charset="-122"/>
                <a:sym typeface="Symbol" pitchFamily="18" charset="2"/>
              </a:rPr>
              <a:t>10</a:t>
            </a:r>
            <a:r>
              <a:rPr lang="en-US" altLang="zh-CN" sz="2400" i="0" baseline="30000" dirty="0">
                <a:solidFill>
                  <a:srgbClr val="000000"/>
                </a:solidFill>
                <a:latin typeface="Times New Roman" pitchFamily="18" charset="0"/>
                <a:ea typeface="楷体_GB2312" pitchFamily="49" charset="-122"/>
                <a:sym typeface="Symbol" pitchFamily="18" charset="2"/>
              </a:rPr>
              <a:t>10</a:t>
            </a:r>
            <a:r>
              <a:rPr lang="zh-CN" altLang="en-US" sz="2400" i="0" dirty="0">
                <a:solidFill>
                  <a:srgbClr val="000000"/>
                </a:solidFill>
                <a:latin typeface="Times New Roman" pitchFamily="18" charset="0"/>
                <a:ea typeface="楷体_GB2312" pitchFamily="49" charset="-122"/>
              </a:rPr>
              <a:t>，</a:t>
            </a:r>
            <a:r>
              <a:rPr lang="en-US" altLang="zh-CN" sz="2400" i="0" dirty="0">
                <a:solidFill>
                  <a:srgbClr val="000000"/>
                </a:solidFill>
                <a:latin typeface="Times New Roman" pitchFamily="18" charset="0"/>
                <a:ea typeface="楷体_GB2312" pitchFamily="49" charset="-122"/>
              </a:rPr>
              <a:t>1</a:t>
            </a:r>
            <a:r>
              <a:rPr lang="zh-CN" altLang="en-US" sz="2400" i="0" dirty="0">
                <a:solidFill>
                  <a:srgbClr val="000000"/>
                </a:solidFill>
                <a:latin typeface="Times New Roman" pitchFamily="18" charset="0"/>
                <a:ea typeface="楷体_GB2312" pitchFamily="49" charset="-122"/>
              </a:rPr>
              <a:t>存为</a:t>
            </a:r>
            <a:r>
              <a:rPr lang="en-US" altLang="zh-CN" sz="2400" i="0" dirty="0">
                <a:solidFill>
                  <a:srgbClr val="000000"/>
                </a:solidFill>
                <a:latin typeface="Times New Roman" pitchFamily="18" charset="0"/>
                <a:ea typeface="楷体_GB2312" pitchFamily="49" charset="-122"/>
              </a:rPr>
              <a:t>0.1</a:t>
            </a:r>
            <a:r>
              <a:rPr lang="en-US" altLang="zh-CN" sz="2400" i="0" dirty="0">
                <a:solidFill>
                  <a:srgbClr val="000000"/>
                </a:solidFill>
                <a:latin typeface="Times New Roman" pitchFamily="18" charset="0"/>
                <a:ea typeface="楷体_GB2312" pitchFamily="49" charset="-122"/>
                <a:sym typeface="Symbol" pitchFamily="18" charset="2"/>
              </a:rPr>
              <a:t>10</a:t>
            </a:r>
            <a:r>
              <a:rPr lang="en-US" altLang="zh-CN" sz="2400" i="0" baseline="30000" dirty="0">
                <a:solidFill>
                  <a:srgbClr val="000000"/>
                </a:solidFill>
                <a:latin typeface="Times New Roman" pitchFamily="18" charset="0"/>
                <a:ea typeface="楷体_GB2312" pitchFamily="49" charset="-122"/>
                <a:sym typeface="Symbol" pitchFamily="18" charset="2"/>
              </a:rPr>
              <a:t>1</a:t>
            </a:r>
            <a:r>
              <a:rPr lang="zh-CN" altLang="en-US" sz="2400" i="0" dirty="0">
                <a:solidFill>
                  <a:srgbClr val="000000"/>
                </a:solidFill>
                <a:latin typeface="Times New Roman" pitchFamily="18" charset="0"/>
                <a:ea typeface="楷体_GB2312" pitchFamily="49" charset="-122"/>
                <a:sym typeface="Symbol" pitchFamily="18" charset="2"/>
              </a:rPr>
              <a:t>。</a:t>
            </a:r>
            <a:r>
              <a:rPr lang="zh-CN" altLang="en-US" sz="2400" i="0" dirty="0">
                <a:solidFill>
                  <a:srgbClr val="000000"/>
                </a:solidFill>
                <a:latin typeface="Times New Roman" pitchFamily="18" charset="0"/>
                <a:ea typeface="楷体_GB2312" pitchFamily="49" charset="-122"/>
              </a:rPr>
              <a:t>做加法时，两加数的指数先向大指数对齐，再将浮点部分相加。即</a:t>
            </a:r>
            <a:r>
              <a:rPr lang="en-US" altLang="zh-CN" sz="2400" i="0" dirty="0">
                <a:solidFill>
                  <a:srgbClr val="000000"/>
                </a:solidFill>
                <a:latin typeface="Times New Roman" pitchFamily="18" charset="0"/>
                <a:ea typeface="楷体_GB2312" pitchFamily="49" charset="-122"/>
              </a:rPr>
              <a:t>1 </a:t>
            </a:r>
            <a:r>
              <a:rPr lang="zh-CN" altLang="en-US" sz="2400" i="0" dirty="0">
                <a:solidFill>
                  <a:srgbClr val="000000"/>
                </a:solidFill>
                <a:latin typeface="Times New Roman" pitchFamily="18" charset="0"/>
                <a:ea typeface="楷体_GB2312" pitchFamily="49" charset="-122"/>
              </a:rPr>
              <a:t>的指数部分须变为</a:t>
            </a:r>
            <a:r>
              <a:rPr lang="en-US" altLang="zh-CN" sz="2400" i="0" dirty="0">
                <a:solidFill>
                  <a:srgbClr val="000000"/>
                </a:solidFill>
                <a:latin typeface="Times New Roman" pitchFamily="18" charset="0"/>
                <a:ea typeface="楷体_GB2312" pitchFamily="49" charset="-122"/>
                <a:sym typeface="Symbol" pitchFamily="18" charset="2"/>
              </a:rPr>
              <a:t>10</a:t>
            </a:r>
            <a:r>
              <a:rPr lang="en-US" altLang="zh-CN" sz="2400" i="0" baseline="30000" dirty="0">
                <a:solidFill>
                  <a:srgbClr val="000000"/>
                </a:solidFill>
                <a:latin typeface="Times New Roman" pitchFamily="18" charset="0"/>
                <a:ea typeface="楷体_GB2312" pitchFamily="49" charset="-122"/>
                <a:sym typeface="Symbol" pitchFamily="18" charset="2"/>
              </a:rPr>
              <a:t>10</a:t>
            </a:r>
            <a:r>
              <a:rPr lang="zh-CN" altLang="en-US" sz="2400" i="0" dirty="0">
                <a:solidFill>
                  <a:srgbClr val="000000"/>
                </a:solidFill>
                <a:latin typeface="Times New Roman" pitchFamily="18" charset="0"/>
                <a:ea typeface="楷体_GB2312" pitchFamily="49" charset="-122"/>
              </a:rPr>
              <a:t>，则：</a:t>
            </a:r>
            <a:r>
              <a:rPr lang="en-US" altLang="zh-CN" sz="2400" i="0" dirty="0">
                <a:solidFill>
                  <a:srgbClr val="000000"/>
                </a:solidFill>
                <a:latin typeface="Times New Roman" pitchFamily="18" charset="0"/>
                <a:ea typeface="楷体_GB2312" pitchFamily="49" charset="-122"/>
              </a:rPr>
              <a:t>1 = 0.</a:t>
            </a:r>
            <a:r>
              <a:rPr lang="en-US" altLang="zh-CN" sz="2400" i="0" dirty="0">
                <a:solidFill>
                  <a:srgbClr val="FF3300"/>
                </a:solidFill>
                <a:latin typeface="Times New Roman" pitchFamily="18" charset="0"/>
                <a:ea typeface="楷体_GB2312" pitchFamily="49" charset="-122"/>
              </a:rPr>
              <a:t>00000000</a:t>
            </a:r>
            <a:r>
              <a:rPr lang="en-US" altLang="zh-CN" sz="2400" i="0" dirty="0">
                <a:solidFill>
                  <a:srgbClr val="000000"/>
                </a:solidFill>
                <a:latin typeface="Times New Roman" pitchFamily="18" charset="0"/>
                <a:ea typeface="楷体_GB2312" pitchFamily="49" charset="-122"/>
              </a:rPr>
              <a:t>01 </a:t>
            </a:r>
            <a:r>
              <a:rPr lang="en-US" altLang="zh-CN" sz="2400" i="0" dirty="0">
                <a:solidFill>
                  <a:srgbClr val="000000"/>
                </a:solidFill>
                <a:latin typeface="Times New Roman" pitchFamily="18" charset="0"/>
                <a:ea typeface="楷体_GB2312" pitchFamily="49" charset="-122"/>
                <a:sym typeface="Symbol" pitchFamily="18" charset="2"/>
              </a:rPr>
              <a:t> 10</a:t>
            </a:r>
            <a:r>
              <a:rPr lang="en-US" altLang="zh-CN" sz="2400" i="0" baseline="30000" dirty="0">
                <a:solidFill>
                  <a:srgbClr val="000000"/>
                </a:solidFill>
                <a:latin typeface="Times New Roman" pitchFamily="18" charset="0"/>
                <a:ea typeface="楷体_GB2312" pitchFamily="49" charset="-122"/>
                <a:sym typeface="Symbol" pitchFamily="18" charset="2"/>
              </a:rPr>
              <a:t>10</a:t>
            </a:r>
            <a:r>
              <a:rPr lang="zh-CN" altLang="en-US" sz="2400" i="0" dirty="0">
                <a:solidFill>
                  <a:srgbClr val="000000"/>
                </a:solidFill>
                <a:latin typeface="Times New Roman" pitchFamily="18" charset="0"/>
                <a:ea typeface="楷体_GB2312" pitchFamily="49" charset="-122"/>
                <a:sym typeface="Symbol" pitchFamily="18" charset="2"/>
              </a:rPr>
              <a:t>，取单精度时就成为</a:t>
            </a:r>
            <a:r>
              <a:rPr lang="zh-CN" altLang="en-US" sz="2400" i="0" dirty="0" smtClean="0">
                <a:solidFill>
                  <a:srgbClr val="CC0066"/>
                </a:solidFill>
                <a:latin typeface="Times New Roman" pitchFamily="18" charset="0"/>
                <a:ea typeface="楷体_GB2312" pitchFamily="49" charset="-122"/>
                <a:sym typeface="Symbol" pitchFamily="18" charset="2"/>
              </a:rPr>
              <a:t>： </a:t>
            </a:r>
            <a:endParaRPr lang="zh-CN" altLang="en-US" sz="2400" i="0" dirty="0">
              <a:solidFill>
                <a:srgbClr val="CC0066"/>
              </a:solidFill>
              <a:latin typeface="Times New Roman" pitchFamily="18" charset="0"/>
              <a:ea typeface="楷体_GB2312" pitchFamily="49" charset="-122"/>
              <a:sym typeface="Symbol" pitchFamily="18" charset="2"/>
            </a:endParaRPr>
          </a:p>
          <a:p>
            <a:pPr algn="l" eaLnBrk="1" hangingPunct="1">
              <a:lnSpc>
                <a:spcPct val="120000"/>
              </a:lnSpc>
            </a:pPr>
            <a:r>
              <a:rPr lang="en-US" sz="2400" i="0" dirty="0">
                <a:solidFill>
                  <a:srgbClr val="CC0066"/>
                </a:solidFill>
                <a:latin typeface="Times New Roman" pitchFamily="18" charset="0"/>
                <a:ea typeface="楷体_GB2312" pitchFamily="49" charset="-122"/>
              </a:rPr>
              <a:t>10</a:t>
            </a:r>
            <a:r>
              <a:rPr lang="en-US" sz="2400" i="0" baseline="30000" dirty="0">
                <a:solidFill>
                  <a:srgbClr val="CC0066"/>
                </a:solidFill>
                <a:latin typeface="Times New Roman" pitchFamily="18" charset="0"/>
                <a:ea typeface="楷体_GB2312" pitchFamily="49" charset="-122"/>
              </a:rPr>
              <a:t>9</a:t>
            </a:r>
            <a:r>
              <a:rPr lang="en-US" sz="2400" i="0" dirty="0">
                <a:solidFill>
                  <a:srgbClr val="CC0066"/>
                </a:solidFill>
                <a:latin typeface="Times New Roman" pitchFamily="18" charset="0"/>
                <a:ea typeface="楷体_GB2312" pitchFamily="49" charset="-122"/>
              </a:rPr>
              <a:t>+1=0.10000000</a:t>
            </a:r>
            <a:r>
              <a:rPr lang="en-US" sz="2400" i="0" dirty="0">
                <a:solidFill>
                  <a:srgbClr val="CC0066"/>
                </a:solidFill>
                <a:latin typeface="Times New Roman" pitchFamily="18" charset="0"/>
                <a:ea typeface="楷体_GB2312" pitchFamily="49" charset="-122"/>
                <a:sym typeface="Symbol" pitchFamily="18" charset="2"/>
              </a:rPr>
              <a:t>10</a:t>
            </a:r>
            <a:r>
              <a:rPr lang="en-US" sz="2400" i="0" baseline="30000" dirty="0">
                <a:solidFill>
                  <a:srgbClr val="CC0066"/>
                </a:solidFill>
                <a:latin typeface="Times New Roman" pitchFamily="18" charset="0"/>
                <a:ea typeface="楷体_GB2312" pitchFamily="49" charset="-122"/>
                <a:sym typeface="Symbol" pitchFamily="18" charset="2"/>
              </a:rPr>
              <a:t>10</a:t>
            </a:r>
            <a:r>
              <a:rPr lang="en-US" sz="2400" i="0" dirty="0">
                <a:solidFill>
                  <a:srgbClr val="CC0066"/>
                </a:solidFill>
                <a:latin typeface="Times New Roman" pitchFamily="18" charset="0"/>
                <a:ea typeface="楷体_GB2312" pitchFamily="49" charset="-122"/>
                <a:sym typeface="Symbol" pitchFamily="18" charset="2"/>
              </a:rPr>
              <a:t>+0.00000000 10</a:t>
            </a:r>
            <a:r>
              <a:rPr lang="en-US" sz="2400" i="0" baseline="30000" dirty="0">
                <a:solidFill>
                  <a:srgbClr val="CC0066"/>
                </a:solidFill>
                <a:latin typeface="Times New Roman" pitchFamily="18" charset="0"/>
                <a:ea typeface="楷体_GB2312" pitchFamily="49" charset="-122"/>
                <a:sym typeface="Symbol" pitchFamily="18" charset="2"/>
              </a:rPr>
              <a:t>10</a:t>
            </a:r>
            <a:r>
              <a:rPr lang="en-US" sz="2400" i="0" dirty="0">
                <a:solidFill>
                  <a:srgbClr val="CC0066"/>
                </a:solidFill>
                <a:latin typeface="Times New Roman" pitchFamily="18" charset="0"/>
                <a:ea typeface="楷体_GB2312" pitchFamily="49" charset="-122"/>
                <a:sym typeface="Symbol" pitchFamily="18" charset="2"/>
              </a:rPr>
              <a:t>=0.10000000 10</a:t>
            </a:r>
            <a:r>
              <a:rPr lang="en-US" sz="2400" i="0" baseline="30000" dirty="0">
                <a:solidFill>
                  <a:srgbClr val="CC0066"/>
                </a:solidFill>
                <a:latin typeface="Times New Roman" pitchFamily="18" charset="0"/>
                <a:ea typeface="楷体_GB2312" pitchFamily="49" charset="-122"/>
                <a:sym typeface="Symbol" pitchFamily="18" charset="2"/>
              </a:rPr>
              <a:t>10</a:t>
            </a:r>
          </a:p>
        </p:txBody>
      </p:sp>
      <p:graphicFrame>
        <p:nvGraphicFramePr>
          <p:cNvPr id="23" name="Object 3"/>
          <p:cNvGraphicFramePr>
            <a:graphicFrameLocks noChangeAspect="1"/>
          </p:cNvGraphicFramePr>
          <p:nvPr>
            <p:extLst>
              <p:ext uri="{D42A27DB-BD31-4B8C-83A1-F6EECF244321}">
                <p14:modId xmlns:p14="http://schemas.microsoft.com/office/powerpoint/2010/main" val="525677794"/>
              </p:ext>
            </p:extLst>
          </p:nvPr>
        </p:nvGraphicFramePr>
        <p:xfrm>
          <a:off x="200473" y="4941168"/>
          <a:ext cx="9505056" cy="1080120"/>
        </p:xfrm>
        <a:graphic>
          <a:graphicData uri="http://schemas.openxmlformats.org/presentationml/2006/ole">
            <mc:AlternateContent xmlns:mc="http://schemas.openxmlformats.org/markup-compatibility/2006">
              <mc:Choice xmlns:v="urn:schemas-microsoft-com:vml" Requires="v">
                <p:oleObj spid="_x0000_s160844" name="公式" r:id="rId11" imgW="3695400" imgH="444240" progId="Equation.3">
                  <p:embed/>
                </p:oleObj>
              </mc:Choice>
              <mc:Fallback>
                <p:oleObj name="公式" r:id="rId11" imgW="3695400" imgH="444240" progId="Equation.3">
                  <p:embed/>
                  <p:pic>
                    <p:nvPicPr>
                      <p:cNvPr id="0" name=""/>
                      <p:cNvPicPr>
                        <a:picLocks noChangeAspect="1" noChangeArrowheads="1"/>
                      </p:cNvPicPr>
                      <p:nvPr/>
                    </p:nvPicPr>
                    <p:blipFill>
                      <a:blip r:embed="rId12"/>
                      <a:srcRect/>
                      <a:stretch>
                        <a:fillRect/>
                      </a:stretch>
                    </p:blipFill>
                    <p:spPr bwMode="auto">
                      <a:xfrm>
                        <a:off x="200473" y="4941168"/>
                        <a:ext cx="9505056" cy="108012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708751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ox(i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500" fill="hold"/>
                                        <p:tgtEl>
                                          <p:spTgt spid="14"/>
                                        </p:tgtEl>
                                        <p:attrNameLst>
                                          <p:attrName>ppt_x</p:attrName>
                                        </p:attrNameLst>
                                      </p:cBhvr>
                                      <p:tavLst>
                                        <p:tav tm="0">
                                          <p:val>
                                            <p:strVal val="#ppt_x"/>
                                          </p:val>
                                        </p:tav>
                                        <p:tav tm="100000">
                                          <p:val>
                                            <p:strVal val="#ppt_x"/>
                                          </p:val>
                                        </p:tav>
                                      </p:tavLst>
                                    </p:anim>
                                    <p:anim calcmode="lin" valueType="num">
                                      <p:cBhvr additive="base">
                                        <p:cTn id="2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checkerboard(across)">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trips(downRight)">
                                      <p:cBhvr>
                                        <p:cTn id="31" dur="500"/>
                                        <p:tgtEl>
                                          <p:spTgt spid="22"/>
                                        </p:tgtEl>
                                      </p:cBhvr>
                                    </p:animEffect>
                                  </p:childTnLst>
                                  <p:subTnLst>
                                    <p:audio>
                                      <p:cMediaNode>
                                        <p:cTn display="0" masterRel="sameClick">
                                          <p:stCondLst>
                                            <p:cond evt="begin" delay="0">
                                              <p:tn val="29"/>
                                            </p:cond>
                                          </p:stCondLst>
                                          <p:endCondLst>
                                            <p:cond evt="onStopAudio" delay="0">
                                              <p:tgtEl>
                                                <p:sldTgt/>
                                              </p:tgtEl>
                                            </p:cond>
                                          </p:endCondLst>
                                        </p:cTn>
                                        <p:tgtEl>
                                          <p:sndTgt r:embed="rId3" name="PROJCTOR.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box(in)">
                                      <p:cBhvr>
                                        <p:cTn id="36" dur="500"/>
                                        <p:tgtEl>
                                          <p:spTgt spid="23"/>
                                        </p:tgtEl>
                                      </p:cBhvr>
                                    </p:animEffect>
                                  </p:childTnLst>
                                  <p:subTnLst>
                                    <p:audio>
                                      <p:cMediaNode>
                                        <p:cTn display="0" masterRel="sameClick">
                                          <p:stCondLst>
                                            <p:cond evt="begin" delay="0">
                                              <p:tn val="34"/>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8" grpId="0" autoUpdateAnimBg="0"/>
      <p:bldP spid="2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FBEF6608-732B-46ED-B376-E45B0524B459}" type="slidenum">
              <a:rPr lang="zh-CN" altLang="en-US" smtClean="0"/>
              <a:pPr>
                <a:defRPr/>
              </a:pPr>
              <a:t>27</a:t>
            </a:fld>
            <a:endParaRPr lang="en-US" altLang="zh-CN"/>
          </a:p>
        </p:txBody>
      </p:sp>
      <p:sp>
        <p:nvSpPr>
          <p:cNvPr id="5" name="日期占位符 4"/>
          <p:cNvSpPr>
            <a:spLocks noGrp="1"/>
          </p:cNvSpPr>
          <p:nvPr>
            <p:ph type="dt" sz="half" idx="11"/>
          </p:nvPr>
        </p:nvSpPr>
        <p:spPr/>
        <p:txBody>
          <a:bodyPr/>
          <a:lstStyle/>
          <a:p>
            <a:pPr>
              <a:defRPr/>
            </a:pPr>
            <a:fld id="{4D993B8C-E18E-4992-B994-9EE8A9916AEC}" type="datetime1">
              <a:rPr lang="zh-CN" altLang="en-US" smtClean="0"/>
              <a:pPr>
                <a:defRPr/>
              </a:pPr>
              <a:t>2024/9/8</a:t>
            </a:fld>
            <a:endParaRPr lang="en-US" altLang="zh-CN" sz="1000"/>
          </a:p>
        </p:txBody>
      </p:sp>
      <p:sp>
        <p:nvSpPr>
          <p:cNvPr id="16" name="Rectangle 2"/>
          <p:cNvSpPr>
            <a:spLocks noChangeArrowheads="1"/>
          </p:cNvSpPr>
          <p:nvPr/>
        </p:nvSpPr>
        <p:spPr bwMode="auto">
          <a:xfrm>
            <a:off x="898526" y="1419226"/>
            <a:ext cx="2830512" cy="5191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buFont typeface="Wingdings" pitchFamily="2" charset="2"/>
              <a:buChar char="?"/>
            </a:pPr>
            <a:r>
              <a:rPr lang="zh-CN" altLang="en-US" sz="2800" i="0" dirty="0">
                <a:solidFill>
                  <a:srgbClr val="FF3399"/>
                </a:solidFill>
                <a:latin typeface="楷体_GB2312" pitchFamily="49" charset="-122"/>
                <a:ea typeface="楷体_GB2312" pitchFamily="49" charset="-122"/>
              </a:rPr>
              <a:t>算法</a:t>
            </a:r>
            <a:r>
              <a:rPr lang="en-US" sz="2800" i="0" dirty="0">
                <a:solidFill>
                  <a:srgbClr val="FF3399"/>
                </a:solidFill>
                <a:latin typeface="楷体_GB2312" pitchFamily="49" charset="-122"/>
                <a:ea typeface="楷体_GB2312" pitchFamily="49" charset="-122"/>
              </a:rPr>
              <a:t>2</a:t>
            </a:r>
            <a:r>
              <a:rPr lang="zh-CN" altLang="en-US" sz="2800" i="0" dirty="0">
                <a:solidFill>
                  <a:srgbClr val="FF3399"/>
                </a:solidFill>
                <a:latin typeface="楷体_GB2312" pitchFamily="49" charset="-122"/>
                <a:ea typeface="楷体_GB2312" pitchFamily="49" charset="-122"/>
              </a:rPr>
              <a:t>：</a:t>
            </a:r>
            <a:r>
              <a:rPr lang="zh-CN" altLang="en-US" sz="2800" i="0" dirty="0">
                <a:solidFill>
                  <a:srgbClr val="007572"/>
                </a:solidFill>
                <a:latin typeface="楷体_GB2312" pitchFamily="49" charset="-122"/>
                <a:ea typeface="楷体_GB2312" pitchFamily="49" charset="-122"/>
              </a:rPr>
              <a:t>先解出</a:t>
            </a:r>
          </a:p>
        </p:txBody>
      </p:sp>
      <p:graphicFrame>
        <p:nvGraphicFramePr>
          <p:cNvPr id="17" name="Object 3"/>
          <p:cNvGraphicFramePr>
            <a:graphicFrameLocks noChangeAspect="1"/>
          </p:cNvGraphicFramePr>
          <p:nvPr>
            <p:extLst>
              <p:ext uri="{D42A27DB-BD31-4B8C-83A1-F6EECF244321}">
                <p14:modId xmlns:p14="http://schemas.microsoft.com/office/powerpoint/2010/main" val="283806513"/>
              </p:ext>
            </p:extLst>
          </p:nvPr>
        </p:nvGraphicFramePr>
        <p:xfrm>
          <a:off x="2313782" y="2060848"/>
          <a:ext cx="5338654" cy="1079500"/>
        </p:xfrm>
        <a:graphic>
          <a:graphicData uri="http://schemas.openxmlformats.org/presentationml/2006/ole">
            <mc:AlternateContent xmlns:mc="http://schemas.openxmlformats.org/markup-compatibility/2006">
              <mc:Choice xmlns:v="urn:schemas-microsoft-com:vml" Requires="v">
                <p:oleObj spid="_x0000_s161826" r:id="rId4" imgW="2196464" imgH="444624" progId="Equation.3">
                  <p:embed/>
                </p:oleObj>
              </mc:Choice>
              <mc:Fallback>
                <p:oleObj r:id="rId4" imgW="2196464" imgH="44462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3782" y="2060848"/>
                        <a:ext cx="5338654" cy="1079500"/>
                      </a:xfrm>
                      <a:prstGeom prst="rect">
                        <a:avLst/>
                      </a:prstGeom>
                      <a:noFill/>
                      <a:ln>
                        <a:noFill/>
                      </a:ln>
                      <a:effectLst/>
                    </p:spPr>
                  </p:pic>
                </p:oleObj>
              </mc:Fallback>
            </mc:AlternateContent>
          </a:graphicData>
        </a:graphic>
      </p:graphicFrame>
      <p:sp>
        <p:nvSpPr>
          <p:cNvPr id="18" name="Text Box 4"/>
          <p:cNvSpPr txBox="1">
            <a:spLocks noChangeArrowheads="1"/>
          </p:cNvSpPr>
          <p:nvPr/>
        </p:nvSpPr>
        <p:spPr bwMode="auto">
          <a:xfrm>
            <a:off x="1058070" y="3183730"/>
            <a:ext cx="1255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800" i="0" dirty="0">
                <a:solidFill>
                  <a:srgbClr val="007572"/>
                </a:solidFill>
                <a:latin typeface="楷体_GB2312" pitchFamily="49" charset="-122"/>
                <a:ea typeface="楷体_GB2312" pitchFamily="49" charset="-122"/>
              </a:rPr>
              <a:t>再利用</a:t>
            </a:r>
          </a:p>
        </p:txBody>
      </p:sp>
      <p:graphicFrame>
        <p:nvGraphicFramePr>
          <p:cNvPr id="19" name="Object 5"/>
          <p:cNvGraphicFramePr>
            <a:graphicFrameLocks noChangeAspect="1"/>
          </p:cNvGraphicFramePr>
          <p:nvPr>
            <p:extLst>
              <p:ext uri="{D42A27DB-BD31-4B8C-83A1-F6EECF244321}">
                <p14:modId xmlns:p14="http://schemas.microsoft.com/office/powerpoint/2010/main" val="48549495"/>
              </p:ext>
            </p:extLst>
          </p:nvPr>
        </p:nvGraphicFramePr>
        <p:xfrm>
          <a:off x="2072680" y="3524176"/>
          <a:ext cx="6716247" cy="1296590"/>
        </p:xfrm>
        <a:graphic>
          <a:graphicData uri="http://schemas.openxmlformats.org/presentationml/2006/ole">
            <mc:AlternateContent xmlns:mc="http://schemas.openxmlformats.org/markup-compatibility/2006">
              <mc:Choice xmlns:v="urn:schemas-microsoft-com:vml" Requires="v">
                <p:oleObj spid="_x0000_s161827" r:id="rId6" imgW="2362517" imgH="457517" progId="Equation.3">
                  <p:embed/>
                </p:oleObj>
              </mc:Choice>
              <mc:Fallback>
                <p:oleObj r:id="rId6" imgW="2362517" imgH="45751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2680" y="3524176"/>
                        <a:ext cx="6716247" cy="1296590"/>
                      </a:xfrm>
                      <a:prstGeom prst="rect">
                        <a:avLst/>
                      </a:prstGeom>
                      <a:noFill/>
                      <a:ln>
                        <a:noFill/>
                      </a:ln>
                      <a:effectLst/>
                    </p:spPr>
                  </p:pic>
                </p:oleObj>
              </mc:Fallback>
            </mc:AlternateContent>
          </a:graphicData>
        </a:graphic>
      </p:graphicFrame>
      <p:sp>
        <p:nvSpPr>
          <p:cNvPr id="20" name="AutoShape 6" descr="再生纸"/>
          <p:cNvSpPr>
            <a:spLocks noChangeArrowheads="1"/>
          </p:cNvSpPr>
          <p:nvPr/>
        </p:nvSpPr>
        <p:spPr bwMode="auto">
          <a:xfrm>
            <a:off x="1058070" y="5085184"/>
            <a:ext cx="7632700" cy="863600"/>
          </a:xfrm>
          <a:prstGeom prst="roundRect">
            <a:avLst>
              <a:gd name="adj" fmla="val 16667"/>
            </a:avLst>
          </a:prstGeom>
          <a:blipFill dpi="0" rotWithShape="0">
            <a:blip r:embed="rId8"/>
            <a:srcRect/>
            <a:tile tx="0" ty="0" sx="100000" sy="100000" flip="none" algn="tl"/>
          </a:blipFill>
          <a:ln>
            <a:noFill/>
          </a:ln>
          <a:effectLst>
            <a:prstShdw prst="shdw17" dist="17961" dir="2700000">
              <a:srgbClr val="FFFFFF">
                <a:gamma/>
                <a:shade val="60000"/>
                <a:invGamma/>
              </a:srgbClr>
            </a:prstShdw>
          </a:effectLst>
          <a:extLst>
            <a:ext uri="{91240B29-F687-4F45-9708-019B960494DF}">
              <a14:hiddenLine xmlns:a14="http://schemas.microsoft.com/office/drawing/2010/main" w="9525">
                <a:solidFill>
                  <a:srgbClr val="000000"/>
                </a:solidFill>
                <a:round/>
                <a:headEnd/>
                <a:tailEnd/>
              </a14:hiddenLine>
            </a:ext>
          </a:extLst>
        </p:spPr>
        <p:txBody>
          <a:bodyPr tIns="10800" bIns="10800" anchor="ctr"/>
          <a:lstStyle/>
          <a:p>
            <a:pPr marL="565150" indent="-565150" algn="l" eaLnBrk="1" hangingPunct="1">
              <a:lnSpc>
                <a:spcPct val="120000"/>
              </a:lnSpc>
            </a:pPr>
            <a:r>
              <a:rPr lang="zh-CN" altLang="en-US" sz="2800" i="0" dirty="0">
                <a:solidFill>
                  <a:srgbClr val="0033CC"/>
                </a:solidFill>
                <a:effectLst>
                  <a:outerShdw blurRad="38100" dist="38100" dir="2700000" algn="tl">
                    <a:srgbClr val="C0C0C0"/>
                  </a:outerShdw>
                </a:effectLst>
                <a:latin typeface="楷体_GB2312" pitchFamily="49" charset="-122"/>
                <a:ea typeface="楷体_GB2312" pitchFamily="49" charset="-122"/>
              </a:rPr>
              <a:t>注：</a:t>
            </a:r>
            <a:r>
              <a:rPr lang="zh-CN" altLang="en-US" sz="2800" i="0" dirty="0">
                <a:solidFill>
                  <a:srgbClr val="0033CC"/>
                </a:solidFill>
                <a:latin typeface="Times New Roman" pitchFamily="18" charset="0"/>
                <a:ea typeface="楷体_GB2312" pitchFamily="49" charset="-122"/>
              </a:rPr>
              <a:t>求和时从小到大相加，可使和的误差减小。</a:t>
            </a:r>
          </a:p>
        </p:txBody>
      </p:sp>
    </p:spTree>
    <p:extLst>
      <p:ext uri="{BB962C8B-B14F-4D97-AF65-F5344CB8AC3E}">
        <p14:creationId xmlns:p14="http://schemas.microsoft.com/office/powerpoint/2010/main" val="41262947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8"/>
                                        </p:tgtEl>
                                        <p:attrNameLst>
                                          <p:attrName>style.visibility</p:attrName>
                                        </p:attrNameLst>
                                      </p:cBhvr>
                                      <p:to>
                                        <p:strVal val="visible"/>
                                      </p:to>
                                    </p:set>
                                  </p:childTnLst>
                                </p:cTn>
                              </p:par>
                            </p:childTnLst>
                          </p:cTn>
                        </p:par>
                        <p:par>
                          <p:cTn id="12" fill="hold">
                            <p:stCondLst>
                              <p:cond delay="500"/>
                            </p:stCondLst>
                            <p:childTnLst>
                              <p:par>
                                <p:cTn id="13" presetID="4" presetClass="entr" presetSubtype="32"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ox(out)">
                                      <p:cBhvr>
                                        <p:cTn id="15" dur="500"/>
                                        <p:tgtEl>
                                          <p:spTgt spid="19"/>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ox(out)">
                                      <p:cBhvr>
                                        <p:cTn id="20" dur="500"/>
                                        <p:tgtEl>
                                          <p:spTgt spid="20"/>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20"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861E947-0B30-4B50-977B-4A656B8E7F4A}" type="slidenum">
              <a:rPr lang="zh-CN" altLang="en-US" i="0" smtClean="0"/>
              <a:pPr/>
              <a:t>28</a:t>
            </a:fld>
            <a:endParaRPr lang="en-US" altLang="zh-CN" i="0" smtClean="0"/>
          </a:p>
        </p:txBody>
      </p:sp>
      <p:sp>
        <p:nvSpPr>
          <p:cNvPr id="286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C1644EA-B149-4061-9E31-8DB576C9D1EB}" type="datetime1">
              <a:rPr lang="zh-CN" altLang="en-US" sz="1800" i="0" smtClean="0"/>
              <a:pPr/>
              <a:t>2024/9/8</a:t>
            </a:fld>
            <a:endParaRPr lang="en-US" altLang="zh-CN" sz="1000" i="0" smtClean="0"/>
          </a:p>
        </p:txBody>
      </p:sp>
      <p:sp>
        <p:nvSpPr>
          <p:cNvPr id="868357" name="Rectangle 5"/>
          <p:cNvSpPr>
            <a:spLocks noGrp="1" noChangeArrowheads="1"/>
          </p:cNvSpPr>
          <p:nvPr>
            <p:ph type="title"/>
          </p:nvPr>
        </p:nvSpPr>
        <p:spPr/>
        <p:txBody>
          <a:bodyPr/>
          <a:lstStyle/>
          <a:p>
            <a:pPr>
              <a:defRPr/>
            </a:pPr>
            <a:r>
              <a:rPr lang="zh-CN" altLang="en-US" smtClean="0"/>
              <a:t>3.4  运算时需要注意的地方</a:t>
            </a:r>
          </a:p>
        </p:txBody>
      </p:sp>
      <p:sp>
        <p:nvSpPr>
          <p:cNvPr id="28677" name="Rectangle 6"/>
          <p:cNvSpPr>
            <a:spLocks noGrp="1" noChangeArrowheads="1"/>
          </p:cNvSpPr>
          <p:nvPr>
            <p:ph type="body" idx="1"/>
          </p:nvPr>
        </p:nvSpPr>
        <p:spPr>
          <a:xfrm>
            <a:off x="660400" y="1752600"/>
            <a:ext cx="8915400" cy="1535113"/>
          </a:xfrm>
        </p:spPr>
        <p:txBody>
          <a:bodyPr/>
          <a:lstStyle/>
          <a:p>
            <a:pPr>
              <a:lnSpc>
                <a:spcPct val="140000"/>
              </a:lnSpc>
              <a:buFont typeface="Wingdings" pitchFamily="2" charset="2"/>
              <a:buNone/>
            </a:pPr>
            <a:r>
              <a:rPr lang="zh-CN" altLang="en-US" sz="3200" smtClean="0"/>
              <a:t>例如计算</a:t>
            </a:r>
            <a:r>
              <a:rPr lang="zh-CN" altLang="en-US" smtClean="0"/>
              <a:t>                            </a:t>
            </a:r>
          </a:p>
          <a:p>
            <a:pPr lvl="1">
              <a:lnSpc>
                <a:spcPct val="140000"/>
              </a:lnSpc>
              <a:buFontTx/>
              <a:buNone/>
            </a:pPr>
            <a:r>
              <a:rPr lang="zh-CN" altLang="en-US" smtClean="0"/>
              <a:t>	</a:t>
            </a:r>
            <a:r>
              <a:rPr lang="zh-CN" altLang="en-US" sz="3200" smtClean="0"/>
              <a:t>采用3位浮点数以截断方式进行运算</a:t>
            </a:r>
          </a:p>
        </p:txBody>
      </p:sp>
      <p:graphicFrame>
        <p:nvGraphicFramePr>
          <p:cNvPr id="28678" name="Object 7" descr="再生纸"/>
          <p:cNvGraphicFramePr>
            <a:graphicFrameLocks noChangeAspect="1"/>
          </p:cNvGraphicFramePr>
          <p:nvPr/>
        </p:nvGraphicFramePr>
        <p:xfrm>
          <a:off x="2719388" y="1673225"/>
          <a:ext cx="4799012" cy="993775"/>
        </p:xfrm>
        <a:graphic>
          <a:graphicData uri="http://schemas.openxmlformats.org/presentationml/2006/ole">
            <mc:AlternateContent xmlns:mc="http://schemas.openxmlformats.org/markup-compatibility/2006">
              <mc:Choice xmlns:v="urn:schemas-microsoft-com:vml" Requires="v">
                <p:oleObj spid="_x0000_s28709" name="Equation" r:id="rId4" imgW="1371516" imgH="380930" progId="Equation.3">
                  <p:embed/>
                </p:oleObj>
              </mc:Choice>
              <mc:Fallback>
                <p:oleObj name="Equation" r:id="rId4" imgW="1371516" imgH="380930" progId="Equation.3">
                  <p:embed/>
                  <p:pic>
                    <p:nvPicPr>
                      <p:cNvPr id="0" name="Object 7"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9388" y="1673225"/>
                        <a:ext cx="4799012" cy="99377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8360" name="Text Box 8"/>
          <p:cNvSpPr txBox="1">
            <a:spLocks noChangeArrowheads="1"/>
          </p:cNvSpPr>
          <p:nvPr/>
        </p:nvSpPr>
        <p:spPr bwMode="auto">
          <a:xfrm>
            <a:off x="1466850" y="3581400"/>
            <a:ext cx="5492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3200" i="0">
                <a:latin typeface="黑体" pitchFamily="49" charset="-122"/>
                <a:ea typeface="黑体" pitchFamily="49" charset="-122"/>
              </a:rPr>
              <a:t>从左到右的次序计算得</a:t>
            </a:r>
            <a:r>
              <a:rPr lang="en-US" altLang="zh-CN" sz="3200" i="0">
                <a:latin typeface="黑体" pitchFamily="49" charset="-122"/>
                <a:ea typeface="黑体" pitchFamily="49" charset="-122"/>
              </a:rPr>
              <a:t>y=2.91</a:t>
            </a:r>
            <a:endParaRPr lang="en-US" altLang="zh-CN" sz="2800" b="0" i="0">
              <a:latin typeface="黑体" pitchFamily="49" charset="-122"/>
              <a:ea typeface="黑体" pitchFamily="49" charset="-122"/>
            </a:endParaRPr>
          </a:p>
        </p:txBody>
      </p:sp>
      <p:sp>
        <p:nvSpPr>
          <p:cNvPr id="868361" name="Text Box 9"/>
          <p:cNvSpPr txBox="1">
            <a:spLocks noChangeArrowheads="1"/>
          </p:cNvSpPr>
          <p:nvPr/>
        </p:nvSpPr>
        <p:spPr bwMode="auto">
          <a:xfrm>
            <a:off x="1460500" y="4419600"/>
            <a:ext cx="5492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3200" i="0">
                <a:latin typeface="黑体" pitchFamily="49" charset="-122"/>
                <a:ea typeface="黑体" pitchFamily="49" charset="-122"/>
              </a:rPr>
              <a:t>从右到左的次序计算得</a:t>
            </a:r>
            <a:r>
              <a:rPr lang="en-US" altLang="zh-CN" sz="3200" i="0">
                <a:latin typeface="黑体" pitchFamily="49" charset="-122"/>
                <a:ea typeface="黑体" pitchFamily="49" charset="-122"/>
              </a:rPr>
              <a:t>y=2.92</a:t>
            </a:r>
          </a:p>
        </p:txBody>
      </p:sp>
      <p:grpSp>
        <p:nvGrpSpPr>
          <p:cNvPr id="2" name="Group 10"/>
          <p:cNvGrpSpPr>
            <a:grpSpLocks/>
          </p:cNvGrpSpPr>
          <p:nvPr/>
        </p:nvGrpSpPr>
        <p:grpSpPr bwMode="auto">
          <a:xfrm>
            <a:off x="6851650" y="3048000"/>
            <a:ext cx="2476500" cy="1371600"/>
            <a:chOff x="3888" y="1728"/>
            <a:chExt cx="1440" cy="864"/>
          </a:xfrm>
        </p:grpSpPr>
        <p:sp>
          <p:nvSpPr>
            <p:cNvPr id="28685" name="AutoShape 11"/>
            <p:cNvSpPr>
              <a:spLocks noChangeArrowheads="1"/>
            </p:cNvSpPr>
            <p:nvPr/>
          </p:nvSpPr>
          <p:spPr bwMode="auto">
            <a:xfrm>
              <a:off x="3888" y="1728"/>
              <a:ext cx="1440" cy="864"/>
            </a:xfrm>
            <a:prstGeom prst="irregularSeal1">
              <a:avLst/>
            </a:pr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28686" name="Rectangle 12"/>
            <p:cNvSpPr>
              <a:spLocks noChangeArrowheads="1"/>
            </p:cNvSpPr>
            <p:nvPr/>
          </p:nvSpPr>
          <p:spPr bwMode="auto">
            <a:xfrm>
              <a:off x="3984" y="1920"/>
              <a:ext cx="127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pPr>
                <a:spcBef>
                  <a:spcPct val="50000"/>
                </a:spcBef>
              </a:pPr>
              <a:r>
                <a:rPr lang="zh-CN" altLang="en-US" sz="3200" i="0">
                  <a:latin typeface="宋体" pitchFamily="2" charset="-122"/>
                </a:rPr>
                <a:t>误差0.017</a:t>
              </a:r>
            </a:p>
          </p:txBody>
        </p:sp>
      </p:grpSp>
      <p:grpSp>
        <p:nvGrpSpPr>
          <p:cNvPr id="3" name="Group 13"/>
          <p:cNvGrpSpPr>
            <a:grpSpLocks/>
          </p:cNvGrpSpPr>
          <p:nvPr/>
        </p:nvGrpSpPr>
        <p:grpSpPr bwMode="auto">
          <a:xfrm>
            <a:off x="7099300" y="4038600"/>
            <a:ext cx="2476500" cy="1371600"/>
            <a:chOff x="3984" y="2448"/>
            <a:chExt cx="1440" cy="864"/>
          </a:xfrm>
        </p:grpSpPr>
        <p:sp>
          <p:nvSpPr>
            <p:cNvPr id="28683" name="AutoShape 14"/>
            <p:cNvSpPr>
              <a:spLocks noChangeArrowheads="1"/>
            </p:cNvSpPr>
            <p:nvPr/>
          </p:nvSpPr>
          <p:spPr bwMode="auto">
            <a:xfrm>
              <a:off x="3984" y="2448"/>
              <a:ext cx="1440" cy="864"/>
            </a:xfrm>
            <a:prstGeom prst="irregularSeal1">
              <a:avLst/>
            </a:prstGeom>
            <a:solidFill>
              <a:srgbClr val="FF0000"/>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28684" name="Rectangle 15"/>
            <p:cNvSpPr>
              <a:spLocks noChangeArrowheads="1"/>
            </p:cNvSpPr>
            <p:nvPr/>
          </p:nvSpPr>
          <p:spPr bwMode="auto">
            <a:xfrm>
              <a:off x="3984" y="2611"/>
              <a:ext cx="127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p>
              <a:pPr>
                <a:spcBef>
                  <a:spcPct val="50000"/>
                </a:spcBef>
              </a:pPr>
              <a:r>
                <a:rPr lang="zh-CN" altLang="en-US" sz="3200" i="0">
                  <a:latin typeface="宋体" pitchFamily="2" charset="-122"/>
                </a:rPr>
                <a:t>误差0.007</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grpId="0" nodeType="clickEffect">
                                  <p:stCondLst>
                                    <p:cond delay="0"/>
                                  </p:stCondLst>
                                  <p:iterate type="lt">
                                    <p:tmPct val="100000"/>
                                  </p:iterate>
                                  <p:childTnLst>
                                    <p:set>
                                      <p:cBhvr>
                                        <p:cTn id="6" dur="1" fill="hold">
                                          <p:stCondLst>
                                            <p:cond delay="0"/>
                                          </p:stCondLst>
                                        </p:cTn>
                                        <p:tgtEl>
                                          <p:spTgt spid="868360"/>
                                        </p:tgtEl>
                                        <p:attrNameLst>
                                          <p:attrName>style.visibility</p:attrName>
                                        </p:attrNameLst>
                                      </p:cBhvr>
                                      <p:to>
                                        <p:strVal val="visible"/>
                                      </p:to>
                                    </p:set>
                                    <p:animEffect transition="in" filter="checkerboard(down)">
                                      <p:cBhvr>
                                        <p:cTn id="7" dur="75"/>
                                        <p:tgtEl>
                                          <p:spTgt spid="8683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grpId="0" nodeType="clickEffect">
                                  <p:stCondLst>
                                    <p:cond delay="0"/>
                                  </p:stCondLst>
                                  <p:iterate type="lt">
                                    <p:tmPct val="100000"/>
                                  </p:iterate>
                                  <p:childTnLst>
                                    <p:set>
                                      <p:cBhvr>
                                        <p:cTn id="11" dur="1" fill="hold">
                                          <p:stCondLst>
                                            <p:cond delay="0"/>
                                          </p:stCondLst>
                                        </p:cTn>
                                        <p:tgtEl>
                                          <p:spTgt spid="868361"/>
                                        </p:tgtEl>
                                        <p:attrNameLst>
                                          <p:attrName>style.visibility</p:attrName>
                                        </p:attrNameLst>
                                      </p:cBhvr>
                                      <p:to>
                                        <p:strVal val="visible"/>
                                      </p:to>
                                    </p:set>
                                    <p:animEffect transition="in" filter="checkerboard(down)">
                                      <p:cBhvr>
                                        <p:cTn id="12" dur="75"/>
                                        <p:tgtEl>
                                          <p:spTgt spid="8683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60" grpId="0" autoUpdateAnimBg="0"/>
      <p:bldP spid="86836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2FEC4D9-DCED-4212-9B79-5725C60FF316}" type="slidenum">
              <a:rPr lang="zh-CN" altLang="en-US" i="0" smtClean="0"/>
              <a:pPr/>
              <a:t>29</a:t>
            </a:fld>
            <a:endParaRPr lang="en-US" altLang="zh-CN" i="0" smtClean="0"/>
          </a:p>
        </p:txBody>
      </p:sp>
      <p:sp>
        <p:nvSpPr>
          <p:cNvPr id="296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5172C31-B5AF-425C-A59D-A09181C8886D}" type="datetime1">
              <a:rPr lang="zh-CN" altLang="en-US" sz="1800" i="0" smtClean="0"/>
              <a:pPr/>
              <a:t>2024/9/8</a:t>
            </a:fld>
            <a:endParaRPr lang="en-US" altLang="zh-CN" sz="1000" i="0" smtClean="0"/>
          </a:p>
        </p:txBody>
      </p:sp>
      <p:sp>
        <p:nvSpPr>
          <p:cNvPr id="761858" name="Rectangle 2"/>
          <p:cNvSpPr>
            <a:spLocks noGrp="1" noChangeArrowheads="1"/>
          </p:cNvSpPr>
          <p:nvPr>
            <p:ph type="title"/>
          </p:nvPr>
        </p:nvSpPr>
        <p:spPr/>
        <p:txBody>
          <a:bodyPr/>
          <a:lstStyle/>
          <a:p>
            <a:pPr>
              <a:defRPr/>
            </a:pPr>
            <a:r>
              <a:rPr lang="zh-CN" altLang="en-US" smtClean="0"/>
              <a:t>3.4  运算时需要注意的地方</a:t>
            </a:r>
          </a:p>
        </p:txBody>
      </p:sp>
      <p:sp>
        <p:nvSpPr>
          <p:cNvPr id="29701" name="Rectangle 3"/>
          <p:cNvSpPr>
            <a:spLocks noGrp="1" noChangeArrowheads="1"/>
          </p:cNvSpPr>
          <p:nvPr>
            <p:ph type="body" idx="1"/>
          </p:nvPr>
        </p:nvSpPr>
        <p:spPr>
          <a:xfrm>
            <a:off x="650875" y="1143000"/>
            <a:ext cx="8820150" cy="4696670"/>
          </a:xfrm>
        </p:spPr>
        <p:txBody>
          <a:bodyPr/>
          <a:lstStyle/>
          <a:p>
            <a:pPr>
              <a:lnSpc>
                <a:spcPct val="110000"/>
              </a:lnSpc>
              <a:buFont typeface="Wingdings" pitchFamily="2" charset="2"/>
              <a:buNone/>
            </a:pPr>
            <a:r>
              <a:rPr lang="zh-CN" altLang="en-US" dirty="0" smtClean="0"/>
              <a:t>(3) </a:t>
            </a:r>
            <a:r>
              <a:rPr lang="zh-CN" altLang="en-US" dirty="0" smtClean="0">
                <a:latin typeface="宋体" pitchFamily="2" charset="-122"/>
              </a:rPr>
              <a:t>两个相近数相减,易失有效位</a:t>
            </a:r>
          </a:p>
          <a:p>
            <a:pPr lvl="1">
              <a:lnSpc>
                <a:spcPct val="110000"/>
              </a:lnSpc>
            </a:pPr>
            <a:r>
              <a:rPr lang="zh-CN" altLang="zh-CN" dirty="0" smtClean="0">
                <a:latin typeface="Arial Narrow" pitchFamily="34" charset="0"/>
              </a:rPr>
              <a:t>两正数之差</a:t>
            </a:r>
            <a:r>
              <a:rPr lang="zh-CN" altLang="en-US" dirty="0" smtClean="0">
                <a:latin typeface="Arial Narrow" pitchFamily="34" charset="0"/>
              </a:rPr>
              <a:t> </a:t>
            </a:r>
            <a:r>
              <a:rPr lang="zh-CN" altLang="zh-CN" dirty="0" smtClean="0">
                <a:latin typeface="Arial Narrow" pitchFamily="34" charset="0"/>
              </a:rPr>
              <a:t>C=</a:t>
            </a:r>
            <a:r>
              <a:rPr lang="zh-CN" altLang="zh-CN" i="1" dirty="0" smtClean="0"/>
              <a:t>x</a:t>
            </a:r>
            <a:r>
              <a:rPr lang="zh-CN" altLang="en-US" dirty="0" smtClean="0">
                <a:latin typeface="Arial Narrow" pitchFamily="34" charset="0"/>
                <a:sym typeface="Symbol" pitchFamily="18" charset="2"/>
              </a:rPr>
              <a:t>-</a:t>
            </a:r>
            <a:r>
              <a:rPr lang="en-US" altLang="zh-CN" i="1" dirty="0" smtClean="0"/>
              <a:t>y</a:t>
            </a:r>
            <a:r>
              <a:rPr lang="zh-CN" altLang="en-US" dirty="0" smtClean="0">
                <a:latin typeface="宋体" pitchFamily="2" charset="-122"/>
              </a:rPr>
              <a:t>的相对误差是</a:t>
            </a:r>
          </a:p>
          <a:p>
            <a:pPr lvl="1">
              <a:lnSpc>
                <a:spcPct val="110000"/>
              </a:lnSpc>
            </a:pPr>
            <a:r>
              <a:rPr lang="zh-CN" altLang="en-US" dirty="0" smtClean="0">
                <a:latin typeface="Arial Narrow" pitchFamily="34" charset="0"/>
              </a:rPr>
              <a:t>因为</a:t>
            </a:r>
            <a:r>
              <a:rPr lang="en-US" altLang="zh-CN" i="1" dirty="0" smtClean="0"/>
              <a:t>x</a:t>
            </a:r>
            <a:r>
              <a:rPr lang="zh-CN" altLang="en-US" dirty="0" smtClean="0">
                <a:latin typeface="Arial Narrow" pitchFamily="34" charset="0"/>
              </a:rPr>
              <a:t>和</a:t>
            </a:r>
            <a:r>
              <a:rPr lang="en-US" altLang="zh-CN" i="1" dirty="0" smtClean="0"/>
              <a:t>y</a:t>
            </a:r>
            <a:r>
              <a:rPr lang="zh-CN" altLang="en-US" dirty="0" smtClean="0">
                <a:latin typeface="Arial Narrow" pitchFamily="34" charset="0"/>
              </a:rPr>
              <a:t>的前几位有效数字必然相同，相减之后有效数字位会大大减少，使有效数字严重损失</a:t>
            </a:r>
            <a:endParaRPr lang="zh-CN" altLang="en-US" dirty="0" smtClean="0">
              <a:latin typeface="宋体" pitchFamily="2" charset="-122"/>
            </a:endParaRPr>
          </a:p>
          <a:p>
            <a:pPr lvl="1">
              <a:lnSpc>
                <a:spcPct val="110000"/>
              </a:lnSpc>
            </a:pPr>
            <a:r>
              <a:rPr lang="zh-CN" altLang="en-US" dirty="0" smtClean="0">
                <a:latin typeface="宋体" pitchFamily="2" charset="-122"/>
              </a:rPr>
              <a:t>例如：</a:t>
            </a:r>
            <a:r>
              <a:rPr lang="en-US" altLang="zh-CN" i="1" dirty="0" smtClean="0"/>
              <a:t>cos</a:t>
            </a:r>
            <a:r>
              <a:rPr lang="en-US" altLang="zh-CN" dirty="0" smtClean="0">
                <a:latin typeface="宋体" pitchFamily="2" charset="-122"/>
              </a:rPr>
              <a:t>2</a:t>
            </a:r>
            <a:r>
              <a:rPr lang="en-US" altLang="zh-CN" baseline="30000" dirty="0" smtClean="0">
                <a:latin typeface="宋体" pitchFamily="2" charset="-122"/>
              </a:rPr>
              <a:t>0</a:t>
            </a:r>
            <a:r>
              <a:rPr lang="en-US" altLang="zh-CN" dirty="0" smtClean="0">
                <a:latin typeface="宋体" pitchFamily="2" charset="-122"/>
              </a:rPr>
              <a:t>=0.9994,   1- </a:t>
            </a:r>
            <a:r>
              <a:rPr lang="en-US" altLang="zh-CN" i="1" dirty="0" smtClean="0"/>
              <a:t>cos</a:t>
            </a:r>
            <a:r>
              <a:rPr lang="en-US" altLang="zh-CN" dirty="0" smtClean="0">
                <a:latin typeface="宋体" pitchFamily="2" charset="-122"/>
              </a:rPr>
              <a:t>2</a:t>
            </a:r>
            <a:r>
              <a:rPr lang="en-US" altLang="zh-CN" baseline="30000" dirty="0" smtClean="0">
                <a:latin typeface="宋体" pitchFamily="2" charset="-122"/>
              </a:rPr>
              <a:t>0</a:t>
            </a:r>
            <a:r>
              <a:rPr lang="en-US" altLang="zh-CN" dirty="0" smtClean="0">
                <a:latin typeface="宋体" pitchFamily="2" charset="-122"/>
              </a:rPr>
              <a:t>=0.0006</a:t>
            </a:r>
          </a:p>
          <a:p>
            <a:pPr lvl="1">
              <a:lnSpc>
                <a:spcPct val="110000"/>
              </a:lnSpc>
            </a:pPr>
            <a:endParaRPr lang="en-US" altLang="zh-CN" dirty="0" smtClean="0">
              <a:latin typeface="宋体" pitchFamily="2" charset="-122"/>
            </a:endParaRPr>
          </a:p>
          <a:p>
            <a:pPr lvl="1">
              <a:lnSpc>
                <a:spcPct val="110000"/>
              </a:lnSpc>
            </a:pPr>
            <a:r>
              <a:rPr lang="zh-CN" altLang="en-US" dirty="0" smtClean="0">
                <a:latin typeface="宋体" pitchFamily="2" charset="-122"/>
              </a:rPr>
              <a:t>例：当</a:t>
            </a:r>
            <a:r>
              <a:rPr lang="en-US" altLang="zh-CN" dirty="0" smtClean="0">
                <a:latin typeface="宋体" pitchFamily="2" charset="-122"/>
              </a:rPr>
              <a:t>x=1000</a:t>
            </a:r>
            <a:r>
              <a:rPr lang="zh-CN" altLang="en-US" dirty="0" smtClean="0">
                <a:latin typeface="宋体" pitchFamily="2" charset="-122"/>
              </a:rPr>
              <a:t>时，求</a:t>
            </a:r>
            <a:endParaRPr lang="en-US" altLang="zh-CN" dirty="0" smtClean="0">
              <a:latin typeface="宋体" pitchFamily="2" charset="-122"/>
            </a:endParaRPr>
          </a:p>
          <a:p>
            <a:pPr marL="387350" lvl="1" indent="0">
              <a:lnSpc>
                <a:spcPct val="110000"/>
              </a:lnSpc>
              <a:buNone/>
            </a:pPr>
            <a:r>
              <a:rPr lang="en-US" altLang="zh-CN" dirty="0" smtClean="0">
                <a:solidFill>
                  <a:srgbClr val="3366FF"/>
                </a:solidFill>
                <a:latin typeface="Times New Roman" pitchFamily="18" charset="0"/>
                <a:ea typeface="宋体" pitchFamily="2" charset="-122"/>
              </a:rPr>
              <a:t>y </a:t>
            </a:r>
            <a:r>
              <a:rPr lang="zh-CN" altLang="en-US" dirty="0">
                <a:solidFill>
                  <a:srgbClr val="3366FF"/>
                </a:solidFill>
                <a:latin typeface="楷体_GB2312" pitchFamily="49" charset="-122"/>
                <a:ea typeface="楷体_GB2312" pitchFamily="49" charset="-122"/>
              </a:rPr>
              <a:t>的准确值为</a:t>
            </a:r>
            <a:r>
              <a:rPr lang="en-US" altLang="zh-CN" dirty="0">
                <a:solidFill>
                  <a:srgbClr val="3366FF"/>
                </a:solidFill>
                <a:latin typeface="Times New Roman" pitchFamily="18" charset="0"/>
                <a:ea typeface="宋体" pitchFamily="2" charset="-122"/>
              </a:rPr>
              <a:t>0.01580</a:t>
            </a:r>
            <a:r>
              <a:rPr lang="en-US" altLang="zh-CN" sz="2400" dirty="0" smtClean="0">
                <a:solidFill>
                  <a:schemeClr val="tx2"/>
                </a:solidFill>
                <a:effectLst/>
                <a:latin typeface="Times New Roman" pitchFamily="18" charset="0"/>
                <a:ea typeface="楷体_GB2312" pitchFamily="49" charset="-122"/>
              </a:rPr>
              <a:t> </a:t>
            </a:r>
            <a:endParaRPr lang="en-US" altLang="zh-CN" dirty="0" smtClean="0">
              <a:latin typeface="宋体" pitchFamily="2" charset="-122"/>
            </a:endParaRPr>
          </a:p>
        </p:txBody>
      </p:sp>
      <p:graphicFrame>
        <p:nvGraphicFramePr>
          <p:cNvPr id="29702" name="Object 5"/>
          <p:cNvGraphicFramePr>
            <a:graphicFrameLocks noChangeAspect="1"/>
          </p:cNvGraphicFramePr>
          <p:nvPr/>
        </p:nvGraphicFramePr>
        <p:xfrm>
          <a:off x="6477000" y="1371600"/>
          <a:ext cx="1371600" cy="1079500"/>
        </p:xfrm>
        <a:graphic>
          <a:graphicData uri="http://schemas.openxmlformats.org/presentationml/2006/ole">
            <mc:AlternateContent xmlns:mc="http://schemas.openxmlformats.org/markup-compatibility/2006">
              <mc:Choice xmlns:v="urn:schemas-microsoft-com:vml" Requires="v">
                <p:oleObj spid="_x0000_s29745" name="Equation" r:id="rId4" imgW="502954" imgH="403821" progId="Equation.3">
                  <p:embed/>
                </p:oleObj>
              </mc:Choice>
              <mc:Fallback>
                <p:oleObj name="Equation" r:id="rId4" imgW="502954" imgH="403821"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1371600"/>
                        <a:ext cx="13716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5"/>
          <p:cNvGrpSpPr>
            <a:grpSpLocks/>
          </p:cNvGrpSpPr>
          <p:nvPr/>
        </p:nvGrpSpPr>
        <p:grpSpPr bwMode="auto">
          <a:xfrm>
            <a:off x="4952794" y="3988125"/>
            <a:ext cx="4324060" cy="1523891"/>
            <a:chOff x="-10" y="0"/>
            <a:chExt cx="2518" cy="757"/>
          </a:xfrm>
        </p:grpSpPr>
        <p:graphicFrame>
          <p:nvGraphicFramePr>
            <p:cNvPr id="8" name="Object 6"/>
            <p:cNvGraphicFramePr>
              <a:graphicFrameLocks noChangeAspect="1"/>
            </p:cNvGraphicFramePr>
            <p:nvPr>
              <p:extLst>
                <p:ext uri="{D42A27DB-BD31-4B8C-83A1-F6EECF244321}">
                  <p14:modId xmlns:p14="http://schemas.microsoft.com/office/powerpoint/2010/main" val="1634875600"/>
                </p:ext>
              </p:extLst>
            </p:nvPr>
          </p:nvGraphicFramePr>
          <p:xfrm>
            <a:off x="-10" y="438"/>
            <a:ext cx="1392" cy="319"/>
          </p:xfrm>
          <a:graphic>
            <a:graphicData uri="http://schemas.openxmlformats.org/presentationml/2006/ole">
              <mc:AlternateContent xmlns:mc="http://schemas.openxmlformats.org/markup-compatibility/2006">
                <mc:Choice xmlns:v="urn:schemas-microsoft-com:vml" Requires="v">
                  <p:oleObj spid="_x0000_s29746" r:id="rId6" imgW="1041265" imgH="241512" progId="Equation.3">
                    <p:embed/>
                  </p:oleObj>
                </mc:Choice>
                <mc:Fallback>
                  <p:oleObj r:id="rId6" imgW="1041265" imgH="24151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 y="438"/>
                          <a:ext cx="1392"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9" name="Text Box 7"/>
            <p:cNvSpPr txBox="1">
              <a:spLocks noChangeArrowheads="1"/>
            </p:cNvSpPr>
            <p:nvPr/>
          </p:nvSpPr>
          <p:spPr bwMode="auto">
            <a:xfrm>
              <a:off x="2400" y="0"/>
              <a:ext cx="10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sz="2400">
                <a:solidFill>
                  <a:srgbClr val="FFFFFF"/>
                </a:solidFill>
                <a:effectLst/>
                <a:latin typeface="Times New Roman" pitchFamily="18" charset="0"/>
                <a:ea typeface="宋体"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FBEF6608-732B-46ED-B376-E45B0524B459}" type="slidenum">
              <a:rPr lang="zh-CN" altLang="en-US" smtClean="0"/>
              <a:pPr>
                <a:defRPr/>
              </a:pPr>
              <a:t>30</a:t>
            </a:fld>
            <a:endParaRPr lang="en-US" altLang="zh-CN"/>
          </a:p>
        </p:txBody>
      </p:sp>
      <p:sp>
        <p:nvSpPr>
          <p:cNvPr id="5" name="日期占位符 4"/>
          <p:cNvSpPr>
            <a:spLocks noGrp="1"/>
          </p:cNvSpPr>
          <p:nvPr>
            <p:ph type="dt" sz="half" idx="11"/>
          </p:nvPr>
        </p:nvSpPr>
        <p:spPr/>
        <p:txBody>
          <a:bodyPr/>
          <a:lstStyle/>
          <a:p>
            <a:pPr>
              <a:defRPr/>
            </a:pPr>
            <a:fld id="{4D993B8C-E18E-4992-B994-9EE8A9916AEC}" type="datetime1">
              <a:rPr lang="zh-CN" altLang="en-US" smtClean="0"/>
              <a:pPr>
                <a:defRPr/>
              </a:pPr>
              <a:t>2024/9/8</a:t>
            </a:fld>
            <a:endParaRPr lang="en-US" altLang="zh-CN" sz="1000"/>
          </a:p>
        </p:txBody>
      </p:sp>
      <p:sp>
        <p:nvSpPr>
          <p:cNvPr id="16" name="Text Box 2"/>
          <p:cNvSpPr txBox="1">
            <a:spLocks noChangeArrowheads="1"/>
          </p:cNvSpPr>
          <p:nvPr/>
        </p:nvSpPr>
        <p:spPr bwMode="auto">
          <a:xfrm>
            <a:off x="539751" y="4292600"/>
            <a:ext cx="880573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lang="zh-CN" altLang="en-US" sz="2800" i="0" dirty="0" smtClean="0">
                <a:solidFill>
                  <a:srgbClr val="007572"/>
                </a:solidFill>
                <a:latin typeface="楷体_GB2312" pitchFamily="49" charset="-122"/>
                <a:ea typeface="楷体_GB2312" pitchFamily="49" charset="-122"/>
              </a:rPr>
              <a:t>避免这种情况</a:t>
            </a:r>
            <a:r>
              <a:rPr lang="en-US" altLang="zh-CN" sz="2800" i="0" dirty="0" smtClean="0">
                <a:solidFill>
                  <a:srgbClr val="007572"/>
                </a:solidFill>
                <a:latin typeface="楷体_GB2312" pitchFamily="49" charset="-122"/>
                <a:ea typeface="楷体_GB2312" pitchFamily="49" charset="-122"/>
              </a:rPr>
              <a:t>,</a:t>
            </a:r>
            <a:r>
              <a:rPr lang="zh-CN" altLang="en-US" sz="2800" i="0" dirty="0" smtClean="0">
                <a:solidFill>
                  <a:srgbClr val="007572"/>
                </a:solidFill>
                <a:latin typeface="楷体_GB2312" pitchFamily="49" charset="-122"/>
                <a:ea typeface="楷体_GB2312" pitchFamily="49" charset="-122"/>
              </a:rPr>
              <a:t>可以使用转换公式</a:t>
            </a:r>
            <a:r>
              <a:rPr lang="en-US" altLang="zh-CN" sz="2800" i="0" dirty="0" smtClean="0">
                <a:solidFill>
                  <a:srgbClr val="007572"/>
                </a:solidFill>
                <a:latin typeface="楷体_GB2312" pitchFamily="49" charset="-122"/>
                <a:ea typeface="楷体_GB2312" pitchFamily="49" charset="-122"/>
              </a:rPr>
              <a:t>;</a:t>
            </a:r>
            <a:r>
              <a:rPr lang="zh-CN" altLang="en-US" sz="2800" i="0" dirty="0" smtClean="0">
                <a:solidFill>
                  <a:srgbClr val="007572"/>
                </a:solidFill>
                <a:latin typeface="楷体_GB2312" pitchFamily="49" charset="-122"/>
                <a:ea typeface="楷体_GB2312" pitchFamily="49" charset="-122"/>
              </a:rPr>
              <a:t>或者增加字长</a:t>
            </a:r>
            <a:r>
              <a:rPr lang="en-US" altLang="zh-CN" sz="2800" i="0" dirty="0" smtClean="0">
                <a:solidFill>
                  <a:srgbClr val="007572"/>
                </a:solidFill>
                <a:latin typeface="楷体_GB2312" pitchFamily="49" charset="-122"/>
                <a:ea typeface="楷体_GB2312" pitchFamily="49" charset="-122"/>
              </a:rPr>
              <a:t>,</a:t>
            </a:r>
            <a:r>
              <a:rPr lang="zh-CN" altLang="en-US" sz="2800" i="0" dirty="0" smtClean="0">
                <a:solidFill>
                  <a:srgbClr val="007572"/>
                </a:solidFill>
                <a:latin typeface="楷体_GB2312" pitchFamily="49" charset="-122"/>
                <a:ea typeface="楷体_GB2312" pitchFamily="49" charset="-122"/>
              </a:rPr>
              <a:t>维持一定有效位</a:t>
            </a:r>
            <a:r>
              <a:rPr lang="en-US" altLang="zh-CN" sz="2800" i="0" dirty="0" smtClean="0">
                <a:solidFill>
                  <a:srgbClr val="007572"/>
                </a:solidFill>
                <a:latin typeface="楷体_GB2312" pitchFamily="49" charset="-122"/>
                <a:ea typeface="楷体_GB2312" pitchFamily="49" charset="-122"/>
              </a:rPr>
              <a:t>,</a:t>
            </a:r>
            <a:r>
              <a:rPr lang="zh-CN" altLang="en-US" sz="2800" i="0" dirty="0" smtClean="0">
                <a:solidFill>
                  <a:srgbClr val="007572"/>
                </a:solidFill>
                <a:latin typeface="楷体_GB2312" pitchFamily="49" charset="-122"/>
                <a:ea typeface="楷体_GB2312" pitchFamily="49" charset="-122"/>
              </a:rPr>
              <a:t>保证精度</a:t>
            </a:r>
            <a:r>
              <a:rPr lang="en-US" altLang="zh-CN" sz="2800" i="0" dirty="0" smtClean="0">
                <a:solidFill>
                  <a:srgbClr val="007572"/>
                </a:solidFill>
                <a:latin typeface="楷体_GB2312" pitchFamily="49" charset="-122"/>
                <a:ea typeface="楷体_GB2312" pitchFamily="49" charset="-122"/>
              </a:rPr>
              <a:t>.</a:t>
            </a:r>
            <a:r>
              <a:rPr lang="zh-CN" altLang="en-US" sz="2800" i="0" dirty="0" smtClean="0">
                <a:solidFill>
                  <a:srgbClr val="007572"/>
                </a:solidFill>
                <a:latin typeface="楷体_GB2312" pitchFamily="49" charset="-122"/>
                <a:ea typeface="楷体_GB2312" pitchFamily="49" charset="-122"/>
              </a:rPr>
              <a:t>类似地</a:t>
            </a:r>
            <a:r>
              <a:rPr lang="zh-CN" altLang="en-US" sz="2400" b="0" i="0" dirty="0" smtClean="0">
                <a:solidFill>
                  <a:srgbClr val="FFFFFF"/>
                </a:solidFill>
                <a:latin typeface="Times New Roman" pitchFamily="18" charset="0"/>
              </a:rPr>
              <a:t> </a:t>
            </a:r>
            <a:endParaRPr lang="zh-CN" altLang="en-US" sz="2400" b="0" i="0" dirty="0">
              <a:solidFill>
                <a:srgbClr val="FFFFFF"/>
              </a:solidFill>
              <a:latin typeface="Times New Roman" pitchFamily="18" charset="0"/>
            </a:endParaRPr>
          </a:p>
        </p:txBody>
      </p:sp>
      <p:graphicFrame>
        <p:nvGraphicFramePr>
          <p:cNvPr id="17" name="Object 3"/>
          <p:cNvGraphicFramePr>
            <a:graphicFrameLocks noChangeAspect="1"/>
          </p:cNvGraphicFramePr>
          <p:nvPr>
            <p:extLst>
              <p:ext uri="{D42A27DB-BD31-4B8C-83A1-F6EECF244321}">
                <p14:modId xmlns:p14="http://schemas.microsoft.com/office/powerpoint/2010/main" val="2238882261"/>
              </p:ext>
            </p:extLst>
          </p:nvPr>
        </p:nvGraphicFramePr>
        <p:xfrm>
          <a:off x="790575" y="5231055"/>
          <a:ext cx="2520950" cy="982663"/>
        </p:xfrm>
        <a:graphic>
          <a:graphicData uri="http://schemas.openxmlformats.org/presentationml/2006/ole">
            <mc:AlternateContent xmlns:mc="http://schemas.openxmlformats.org/markup-compatibility/2006">
              <mc:Choice xmlns:v="urn:schemas-microsoft-com:vml" Requires="v">
                <p:oleObj spid="_x0000_s158802" r:id="rId4" imgW="1079817" imgH="419417" progId="Equation.3">
                  <p:embed/>
                </p:oleObj>
              </mc:Choice>
              <mc:Fallback>
                <p:oleObj r:id="rId4" imgW="1079817" imgH="41941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575" y="5231055"/>
                        <a:ext cx="2520950"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graphicFrame>
        <p:nvGraphicFramePr>
          <p:cNvPr id="18" name="Object 4"/>
          <p:cNvGraphicFramePr>
            <a:graphicFrameLocks noChangeAspect="1"/>
          </p:cNvGraphicFramePr>
          <p:nvPr>
            <p:extLst>
              <p:ext uri="{D42A27DB-BD31-4B8C-83A1-F6EECF244321}">
                <p14:modId xmlns:p14="http://schemas.microsoft.com/office/powerpoint/2010/main" val="2807752865"/>
              </p:ext>
            </p:extLst>
          </p:nvPr>
        </p:nvGraphicFramePr>
        <p:xfrm>
          <a:off x="3851275" y="5085184"/>
          <a:ext cx="5759450" cy="1058862"/>
        </p:xfrm>
        <a:graphic>
          <a:graphicData uri="http://schemas.openxmlformats.org/presentationml/2006/ole">
            <mc:AlternateContent xmlns:mc="http://schemas.openxmlformats.org/markup-compatibility/2006">
              <mc:Choice xmlns:v="urn:schemas-microsoft-com:vml" Requires="v">
                <p:oleObj spid="_x0000_s158803" r:id="rId6" imgW="2337117" imgH="432117" progId="Equation.3">
                  <p:embed/>
                </p:oleObj>
              </mc:Choice>
              <mc:Fallback>
                <p:oleObj r:id="rId6" imgW="2337117" imgH="43211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275" y="5085184"/>
                        <a:ext cx="5759450"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19" name="Text Box 5"/>
          <p:cNvSpPr txBox="1">
            <a:spLocks noChangeArrowheads="1"/>
          </p:cNvSpPr>
          <p:nvPr/>
        </p:nvSpPr>
        <p:spPr bwMode="auto">
          <a:xfrm>
            <a:off x="809626" y="2132856"/>
            <a:ext cx="3278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sz="2800" i="0" dirty="0">
                <a:latin typeface="Times New Roman" pitchFamily="18" charset="0"/>
                <a:ea typeface="楷体_GB2312" pitchFamily="49" charset="-122"/>
              </a:rPr>
              <a:t>(2)  </a:t>
            </a:r>
            <a:r>
              <a:rPr lang="zh-CN" altLang="en-US" sz="2800" i="0" dirty="0">
                <a:latin typeface="Times New Roman" pitchFamily="18" charset="0"/>
                <a:ea typeface="楷体_GB2312" pitchFamily="49" charset="-122"/>
              </a:rPr>
              <a:t>若</a:t>
            </a:r>
            <a:r>
              <a:rPr lang="zh-CN" altLang="en-US" sz="2800" i="0" dirty="0">
                <a:latin typeface="楷体_GB2312" pitchFamily="49" charset="-122"/>
                <a:ea typeface="楷体_GB2312" pitchFamily="49" charset="-122"/>
              </a:rPr>
              <a:t>将</a:t>
            </a:r>
            <a:r>
              <a:rPr lang="zh-CN" altLang="en-US" sz="2800" i="0" dirty="0">
                <a:latin typeface="Times New Roman" pitchFamily="18" charset="0"/>
                <a:ea typeface="楷体_GB2312" pitchFamily="49" charset="-122"/>
              </a:rPr>
              <a:t>原式</a:t>
            </a:r>
            <a:r>
              <a:rPr lang="zh-CN" altLang="en-US" sz="2800" i="0" dirty="0">
                <a:latin typeface="楷体_GB2312" pitchFamily="49" charset="-122"/>
                <a:ea typeface="楷体_GB2312" pitchFamily="49" charset="-122"/>
              </a:rPr>
              <a:t>改写为</a:t>
            </a:r>
          </a:p>
        </p:txBody>
      </p:sp>
      <p:graphicFrame>
        <p:nvGraphicFramePr>
          <p:cNvPr id="20" name="Object 6"/>
          <p:cNvGraphicFramePr>
            <a:graphicFrameLocks noChangeAspect="1"/>
          </p:cNvGraphicFramePr>
          <p:nvPr>
            <p:extLst>
              <p:ext uri="{D42A27DB-BD31-4B8C-83A1-F6EECF244321}">
                <p14:modId xmlns:p14="http://schemas.microsoft.com/office/powerpoint/2010/main" val="1826005856"/>
              </p:ext>
            </p:extLst>
          </p:nvPr>
        </p:nvGraphicFramePr>
        <p:xfrm>
          <a:off x="1871663" y="2593231"/>
          <a:ext cx="4392612" cy="979488"/>
        </p:xfrm>
        <a:graphic>
          <a:graphicData uri="http://schemas.openxmlformats.org/presentationml/2006/ole">
            <mc:AlternateContent xmlns:mc="http://schemas.openxmlformats.org/markup-compatibility/2006">
              <mc:Choice xmlns:v="urn:schemas-microsoft-com:vml" Requires="v">
                <p:oleObj spid="_x0000_s158804" r:id="rId8" imgW="1664017" imgH="368617" progId="Equation.3">
                  <p:embed/>
                </p:oleObj>
              </mc:Choice>
              <mc:Fallback>
                <p:oleObj r:id="rId8" imgW="1664017" imgH="36861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1663" y="2593231"/>
                        <a:ext cx="4392612"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21" name="Text Box 7"/>
          <p:cNvSpPr txBox="1">
            <a:spLocks noChangeArrowheads="1"/>
          </p:cNvSpPr>
          <p:nvPr/>
        </p:nvSpPr>
        <p:spPr bwMode="auto">
          <a:xfrm>
            <a:off x="1258888" y="3313163"/>
            <a:ext cx="4105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zh-CN" altLang="en-US" sz="2800" i="0" dirty="0">
                <a:latin typeface="Times New Roman" pitchFamily="18" charset="0"/>
                <a:ea typeface="楷体_GB2312" pitchFamily="49" charset="-122"/>
              </a:rPr>
              <a:t>则     </a:t>
            </a:r>
            <a:r>
              <a:rPr lang="en-US" sz="2800" dirty="0">
                <a:latin typeface="Times New Roman" pitchFamily="18" charset="0"/>
              </a:rPr>
              <a:t>y</a:t>
            </a:r>
            <a:r>
              <a:rPr lang="en-US" sz="2800" i="0" dirty="0">
                <a:latin typeface="Times New Roman" pitchFamily="18" charset="0"/>
              </a:rPr>
              <a:t> = 0.01581</a:t>
            </a:r>
            <a:endParaRPr lang="zh-CN" altLang="en-US" sz="2400" i="0" dirty="0">
              <a:latin typeface="楷体_GB2312" pitchFamily="49" charset="-122"/>
              <a:ea typeface="楷体_GB2312" pitchFamily="49" charset="-122"/>
            </a:endParaRPr>
          </a:p>
        </p:txBody>
      </p:sp>
      <p:graphicFrame>
        <p:nvGraphicFramePr>
          <p:cNvPr id="22" name="Object 9"/>
          <p:cNvGraphicFramePr>
            <a:graphicFrameLocks noChangeAspect="1"/>
          </p:cNvGraphicFramePr>
          <p:nvPr>
            <p:extLst>
              <p:ext uri="{D42A27DB-BD31-4B8C-83A1-F6EECF244321}">
                <p14:modId xmlns:p14="http://schemas.microsoft.com/office/powerpoint/2010/main" val="4197180410"/>
              </p:ext>
            </p:extLst>
          </p:nvPr>
        </p:nvGraphicFramePr>
        <p:xfrm>
          <a:off x="1444625" y="1570981"/>
          <a:ext cx="5486400" cy="647700"/>
        </p:xfrm>
        <a:graphic>
          <a:graphicData uri="http://schemas.openxmlformats.org/presentationml/2006/ole">
            <mc:AlternateContent xmlns:mc="http://schemas.openxmlformats.org/markup-compatibility/2006">
              <mc:Choice xmlns:v="urn:schemas-microsoft-com:vml" Requires="v">
                <p:oleObj spid="_x0000_s158805" r:id="rId10" imgW="2235517" imgH="228917" progId="Equation.3">
                  <p:embed/>
                </p:oleObj>
              </mc:Choice>
              <mc:Fallback>
                <p:oleObj r:id="rId10" imgW="2235517" imgH="22891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4625" y="1570981"/>
                        <a:ext cx="5486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23" name="Text Box 10"/>
          <p:cNvSpPr txBox="1">
            <a:spLocks noChangeArrowheads="1"/>
          </p:cNvSpPr>
          <p:nvPr/>
        </p:nvSpPr>
        <p:spPr bwMode="auto">
          <a:xfrm>
            <a:off x="900113" y="1123479"/>
            <a:ext cx="29511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sz="2800" i="0" dirty="0">
                <a:latin typeface="Times New Roman" pitchFamily="18" charset="0"/>
                <a:ea typeface="楷体_GB2312" pitchFamily="49" charset="-122"/>
              </a:rPr>
              <a:t>(1)</a:t>
            </a:r>
            <a:r>
              <a:rPr lang="zh-CN" altLang="en-US" sz="2800" i="0" dirty="0">
                <a:latin typeface="Times New Roman" pitchFamily="18" charset="0"/>
                <a:ea typeface="楷体_GB2312" pitchFamily="49" charset="-122"/>
              </a:rPr>
              <a:t>直接相减</a:t>
            </a:r>
          </a:p>
        </p:txBody>
      </p:sp>
      <p:sp>
        <p:nvSpPr>
          <p:cNvPr id="24" name="AutoShape 11"/>
          <p:cNvSpPr>
            <a:spLocks noChangeArrowheads="1"/>
          </p:cNvSpPr>
          <p:nvPr/>
        </p:nvSpPr>
        <p:spPr bwMode="auto">
          <a:xfrm>
            <a:off x="4569668" y="3407669"/>
            <a:ext cx="4392613" cy="1079500"/>
          </a:xfrm>
          <a:prstGeom prst="cloudCallout">
            <a:avLst>
              <a:gd name="adj1" fmla="val -63046"/>
              <a:gd name="adj2" fmla="val -43236"/>
            </a:avLst>
          </a:prstGeom>
          <a:gradFill rotWithShape="1">
            <a:gsLst>
              <a:gs pos="0">
                <a:srgbClr val="99CCFF"/>
              </a:gs>
              <a:gs pos="100000">
                <a:srgbClr val="FFFFFF"/>
              </a:gs>
            </a:gsLst>
            <a:lin ang="5400000" scaled="1"/>
          </a:gradFill>
          <a:ln w="9525" cmpd="sng">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smtClean="0">
                <a:ln>
                  <a:noFill/>
                </a:ln>
                <a:solidFill>
                  <a:srgbClr val="CC0066"/>
                </a:solidFill>
                <a:effectLst/>
                <a:uLnTx/>
                <a:uFillTx/>
                <a:latin typeface="楷体_GB2312" pitchFamily="49" charset="-122"/>
                <a:ea typeface="楷体_GB2312" pitchFamily="49" charset="-122"/>
              </a:rPr>
              <a:t>有</a:t>
            </a:r>
            <a:r>
              <a:rPr kumimoji="0" lang="en-US" sz="2800" b="0" i="0" u="none" strike="noStrike" kern="0" cap="none" spc="0" normalizeH="0" baseline="0" noProof="0" smtClean="0">
                <a:ln>
                  <a:noFill/>
                </a:ln>
                <a:solidFill>
                  <a:srgbClr val="CC0066"/>
                </a:solidFill>
                <a:effectLst/>
                <a:uLnTx/>
                <a:uFillTx/>
                <a:latin typeface="楷体_GB2312" pitchFamily="49" charset="-122"/>
                <a:ea typeface="楷体_GB2312" pitchFamily="49" charset="-122"/>
              </a:rPr>
              <a:t>3</a:t>
            </a:r>
            <a:r>
              <a:rPr kumimoji="0" lang="zh-CN" altLang="en-US" sz="2800" b="0" i="0" u="none" strike="noStrike" kern="0" cap="none" spc="0" normalizeH="0" baseline="0" noProof="0" smtClean="0">
                <a:ln>
                  <a:noFill/>
                </a:ln>
                <a:solidFill>
                  <a:srgbClr val="CC0066"/>
                </a:solidFill>
                <a:effectLst/>
                <a:uLnTx/>
                <a:uFillTx/>
                <a:latin typeface="楷体_GB2312" pitchFamily="49" charset="-122"/>
                <a:ea typeface="楷体_GB2312" pitchFamily="49" charset="-122"/>
              </a:rPr>
              <a:t>位有效数字！</a:t>
            </a:r>
            <a:endParaRPr kumimoji="0" lang="en-US" sz="2800" b="0" i="0" u="none" strike="noStrike" kern="0" cap="none" spc="0" normalizeH="0" baseline="0" noProof="0" smtClean="0">
              <a:ln>
                <a:noFill/>
              </a:ln>
              <a:solidFill>
                <a:srgbClr val="007572"/>
              </a:solidFill>
              <a:effectLst>
                <a:outerShdw blurRad="38100" dist="38100" dir="2700000" algn="tl">
                  <a:srgbClr val="000000"/>
                </a:outerShdw>
              </a:effectLst>
              <a:uLnTx/>
              <a:uFillTx/>
              <a:latin typeface="楷体_GB2312" pitchFamily="49" charset="-122"/>
              <a:ea typeface="楷体_GB2312" pitchFamily="49" charset="-122"/>
            </a:endParaRPr>
          </a:p>
        </p:txBody>
      </p:sp>
      <p:sp>
        <p:nvSpPr>
          <p:cNvPr id="25" name="AutoShape 12"/>
          <p:cNvSpPr>
            <a:spLocks noChangeArrowheads="1"/>
          </p:cNvSpPr>
          <p:nvPr/>
        </p:nvSpPr>
        <p:spPr bwMode="auto">
          <a:xfrm>
            <a:off x="2700338" y="764704"/>
            <a:ext cx="4176712" cy="830263"/>
          </a:xfrm>
          <a:prstGeom prst="wedgeEllipseCallout">
            <a:avLst>
              <a:gd name="adj1" fmla="val 26778"/>
              <a:gd name="adj2" fmla="val 90153"/>
            </a:avLst>
          </a:prstGeom>
          <a:gradFill rotWithShape="0">
            <a:gsLst>
              <a:gs pos="0">
                <a:srgbClr val="FFFFFF">
                  <a:gamma/>
                  <a:shade val="75686"/>
                  <a:invGamma/>
                </a:srgbClr>
              </a:gs>
              <a:gs pos="100000">
                <a:srgbClr val="FFFFFF"/>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sz="2400" i="0">
                <a:solidFill>
                  <a:srgbClr val="0033CC"/>
                </a:solidFill>
                <a:latin typeface="Times New Roman" pitchFamily="18" charset="0"/>
                <a:ea typeface="楷体_GB2312" pitchFamily="49" charset="-122"/>
              </a:rPr>
              <a:t>只有</a:t>
            </a:r>
            <a:r>
              <a:rPr lang="en-US" sz="2400" i="0">
                <a:solidFill>
                  <a:srgbClr val="0033CC"/>
                </a:solidFill>
                <a:latin typeface="Times New Roman" pitchFamily="18" charset="0"/>
                <a:ea typeface="楷体_GB2312" pitchFamily="49" charset="-122"/>
              </a:rPr>
              <a:t>1</a:t>
            </a:r>
            <a:r>
              <a:rPr lang="zh-CN" altLang="en-US" sz="2400" i="0">
                <a:solidFill>
                  <a:srgbClr val="0033CC"/>
                </a:solidFill>
                <a:latin typeface="Times New Roman" pitchFamily="18" charset="0"/>
                <a:ea typeface="楷体_GB2312" pitchFamily="49" charset="-122"/>
              </a:rPr>
              <a:t>位有效数字</a:t>
            </a:r>
          </a:p>
        </p:txBody>
      </p:sp>
    </p:spTree>
    <p:extLst>
      <p:ext uri="{BB962C8B-B14F-4D97-AF65-F5344CB8AC3E}">
        <p14:creationId xmlns:p14="http://schemas.microsoft.com/office/powerpoint/2010/main" val="12058211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linds(horizontal)">
                                      <p:cBhvr>
                                        <p:cTn id="35" dur="500"/>
                                        <p:tgtEl>
                                          <p:spTgt spid="21"/>
                                        </p:tgtEl>
                                      </p:cBhvr>
                                    </p:animEffect>
                                  </p:childTnLst>
                                </p:cTn>
                              </p:par>
                              <p:par>
                                <p:cTn id="36" presetID="49" presetClass="entr" presetSubtype="0" decel="10000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p:cTn id="38" dur="500" fill="hold"/>
                                        <p:tgtEl>
                                          <p:spTgt spid="24"/>
                                        </p:tgtEl>
                                        <p:attrNameLst>
                                          <p:attrName>ppt_w</p:attrName>
                                        </p:attrNameLst>
                                      </p:cBhvr>
                                      <p:tavLst>
                                        <p:tav tm="0">
                                          <p:val>
                                            <p:fltVal val="0"/>
                                          </p:val>
                                        </p:tav>
                                        <p:tav tm="100000">
                                          <p:val>
                                            <p:strVal val="#ppt_w"/>
                                          </p:val>
                                        </p:tav>
                                      </p:tavLst>
                                    </p:anim>
                                    <p:anim calcmode="lin" valueType="num">
                                      <p:cBhvr>
                                        <p:cTn id="39" dur="500" fill="hold"/>
                                        <p:tgtEl>
                                          <p:spTgt spid="24"/>
                                        </p:tgtEl>
                                        <p:attrNameLst>
                                          <p:attrName>ppt_h</p:attrName>
                                        </p:attrNameLst>
                                      </p:cBhvr>
                                      <p:tavLst>
                                        <p:tav tm="0">
                                          <p:val>
                                            <p:fltVal val="0"/>
                                          </p:val>
                                        </p:tav>
                                        <p:tav tm="100000">
                                          <p:val>
                                            <p:strVal val="#ppt_h"/>
                                          </p:val>
                                        </p:tav>
                                      </p:tavLst>
                                    </p:anim>
                                    <p:anim calcmode="lin" valueType="num">
                                      <p:cBhvr>
                                        <p:cTn id="40" dur="500" fill="hold"/>
                                        <p:tgtEl>
                                          <p:spTgt spid="24"/>
                                        </p:tgtEl>
                                        <p:attrNameLst>
                                          <p:attrName>style.rotation</p:attrName>
                                        </p:attrNameLst>
                                      </p:cBhvr>
                                      <p:tavLst>
                                        <p:tav tm="0">
                                          <p:val>
                                            <p:fltVal val="360"/>
                                          </p:val>
                                        </p:tav>
                                        <p:tav tm="100000">
                                          <p:val>
                                            <p:fltVal val="0"/>
                                          </p:val>
                                        </p:tav>
                                      </p:tavLst>
                                    </p:anim>
                                    <p:animEffect transition="in" filter="fade">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9" grpId="0" autoUpdateAnimBg="0"/>
      <p:bldP spid="21" grpId="0" autoUpdateAnimBg="0"/>
      <p:bldP spid="23" grpId="0" autoUpdateAnimBg="0"/>
      <p:bldP spid="24" grpId="0" animBg="1" autoUpdateAnimBg="0"/>
      <p:bldP spid="25"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p:txBody>
          <a:bodyPr/>
          <a:lstStyle/>
          <a:p>
            <a:pPr>
              <a:defRPr/>
            </a:pPr>
            <a:r>
              <a:rPr lang="zh-CN" altLang="en-US" smtClean="0"/>
              <a:t>3.4  运算时需要注意的地方</a:t>
            </a:r>
          </a:p>
        </p:txBody>
      </p:sp>
      <p:sp>
        <p:nvSpPr>
          <p:cNvPr id="30725" name="Rectangle 3"/>
          <p:cNvSpPr>
            <a:spLocks noGrp="1" noChangeArrowheads="1"/>
          </p:cNvSpPr>
          <p:nvPr>
            <p:ph type="body" idx="1"/>
          </p:nvPr>
        </p:nvSpPr>
        <p:spPr>
          <a:xfrm>
            <a:off x="650875" y="1143000"/>
            <a:ext cx="8820150" cy="384175"/>
          </a:xfrm>
        </p:spPr>
        <p:txBody>
          <a:bodyPr/>
          <a:lstStyle/>
          <a:p>
            <a:pPr>
              <a:buFont typeface="Wingdings" pitchFamily="2" charset="2"/>
              <a:buNone/>
            </a:pPr>
            <a:r>
              <a:rPr lang="zh-CN" altLang="en-US" smtClean="0"/>
              <a:t>	(4) </a:t>
            </a:r>
            <a:r>
              <a:rPr lang="zh-CN" altLang="en-US" smtClean="0">
                <a:latin typeface="宋体" pitchFamily="2" charset="-122"/>
              </a:rPr>
              <a:t>当分母很小时，商的绝对误差可能很大</a:t>
            </a:r>
            <a:endParaRPr lang="zh-CN" altLang="en-US" smtClean="0"/>
          </a:p>
        </p:txBody>
      </p:sp>
      <p:sp>
        <p:nvSpPr>
          <p:cNvPr id="21" name="Text Box 3"/>
          <p:cNvSpPr txBox="1">
            <a:spLocks noChangeArrowheads="1"/>
          </p:cNvSpPr>
          <p:nvPr/>
        </p:nvSpPr>
        <p:spPr bwMode="auto">
          <a:xfrm>
            <a:off x="684213" y="1845518"/>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800" i="0">
                <a:solidFill>
                  <a:srgbClr val="CC0066"/>
                </a:solidFill>
                <a:latin typeface="楷体_GB2312" pitchFamily="49" charset="-122"/>
                <a:ea typeface="楷体_GB2312" pitchFamily="49" charset="-122"/>
              </a:rPr>
              <a:t>例：</a:t>
            </a:r>
          </a:p>
        </p:txBody>
      </p:sp>
      <p:graphicFrame>
        <p:nvGraphicFramePr>
          <p:cNvPr id="22" name="Object 4"/>
          <p:cNvGraphicFramePr>
            <a:graphicFrameLocks noChangeAspect="1"/>
          </p:cNvGraphicFramePr>
          <p:nvPr>
            <p:extLst>
              <p:ext uri="{D42A27DB-BD31-4B8C-83A1-F6EECF244321}">
                <p14:modId xmlns:p14="http://schemas.microsoft.com/office/powerpoint/2010/main" val="1301331546"/>
              </p:ext>
            </p:extLst>
          </p:nvPr>
        </p:nvGraphicFramePr>
        <p:xfrm>
          <a:off x="1692275" y="1629618"/>
          <a:ext cx="2514600" cy="912812"/>
        </p:xfrm>
        <a:graphic>
          <a:graphicData uri="http://schemas.openxmlformats.org/presentationml/2006/ole">
            <mc:AlternateContent xmlns:mc="http://schemas.openxmlformats.org/markup-compatibility/2006">
              <mc:Choice xmlns:v="urn:schemas-microsoft-com:vml" Requires="v">
                <p:oleObj spid="_x0000_s30817" r:id="rId5" imgW="1079349" imgH="393846" progId="Equation.DSMT4">
                  <p:embed/>
                </p:oleObj>
              </mc:Choice>
              <mc:Fallback>
                <p:oleObj r:id="rId5" imgW="1079349" imgH="39384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1629618"/>
                        <a:ext cx="25146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23" name="Text Box 5"/>
          <p:cNvSpPr txBox="1">
            <a:spLocks noChangeArrowheads="1"/>
          </p:cNvSpPr>
          <p:nvPr/>
        </p:nvSpPr>
        <p:spPr bwMode="auto">
          <a:xfrm>
            <a:off x="1042988" y="2709118"/>
            <a:ext cx="7854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2800" i="0">
                <a:solidFill>
                  <a:srgbClr val="007572"/>
                </a:solidFill>
                <a:latin typeface="楷体_GB2312" pitchFamily="49" charset="-122"/>
                <a:ea typeface="楷体_GB2312" pitchFamily="49" charset="-122"/>
              </a:rPr>
              <a:t>如分母变为</a:t>
            </a:r>
            <a:r>
              <a:rPr lang="en-US" sz="2800" i="0">
                <a:solidFill>
                  <a:srgbClr val="007572"/>
                </a:solidFill>
                <a:latin typeface="Times New Roman" pitchFamily="18" charset="0"/>
                <a:ea typeface="楷体_GB2312" pitchFamily="49" charset="-122"/>
              </a:rPr>
              <a:t>0.0011</a:t>
            </a:r>
            <a:r>
              <a:rPr lang="zh-CN" altLang="en-US" sz="2800" i="0">
                <a:solidFill>
                  <a:srgbClr val="007572"/>
                </a:solidFill>
                <a:latin typeface="楷体_GB2312" pitchFamily="49" charset="-122"/>
                <a:ea typeface="楷体_GB2312" pitchFamily="49" charset="-122"/>
              </a:rPr>
              <a:t>，也即分母只有</a:t>
            </a:r>
            <a:r>
              <a:rPr lang="en-US" sz="2800" i="0">
                <a:solidFill>
                  <a:srgbClr val="007572"/>
                </a:solidFill>
                <a:latin typeface="Times New Roman" pitchFamily="18" charset="0"/>
                <a:ea typeface="楷体_GB2312" pitchFamily="49" charset="-122"/>
              </a:rPr>
              <a:t>0.0001</a:t>
            </a:r>
            <a:r>
              <a:rPr lang="zh-CN" altLang="en-US" sz="2800" i="0">
                <a:solidFill>
                  <a:srgbClr val="007572"/>
                </a:solidFill>
                <a:latin typeface="楷体_GB2312" pitchFamily="49" charset="-122"/>
                <a:ea typeface="楷体_GB2312" pitchFamily="49" charset="-122"/>
              </a:rPr>
              <a:t>的变化时</a:t>
            </a:r>
          </a:p>
        </p:txBody>
      </p:sp>
      <p:graphicFrame>
        <p:nvGraphicFramePr>
          <p:cNvPr id="24" name="Object 6"/>
          <p:cNvGraphicFramePr>
            <a:graphicFrameLocks noChangeAspect="1"/>
          </p:cNvGraphicFramePr>
          <p:nvPr>
            <p:extLst>
              <p:ext uri="{D42A27DB-BD31-4B8C-83A1-F6EECF244321}">
                <p14:modId xmlns:p14="http://schemas.microsoft.com/office/powerpoint/2010/main" val="791742759"/>
              </p:ext>
            </p:extLst>
          </p:nvPr>
        </p:nvGraphicFramePr>
        <p:xfrm>
          <a:off x="1619250" y="3501280"/>
          <a:ext cx="2362200" cy="873125"/>
        </p:xfrm>
        <a:graphic>
          <a:graphicData uri="http://schemas.openxmlformats.org/presentationml/2006/ole">
            <mc:AlternateContent xmlns:mc="http://schemas.openxmlformats.org/markup-compatibility/2006">
              <mc:Choice xmlns:v="urn:schemas-microsoft-com:vml" Requires="v">
                <p:oleObj spid="_x0000_s30818" r:id="rId7" imgW="1054417" imgH="394017" progId="Equation.3">
                  <p:embed/>
                </p:oleObj>
              </mc:Choice>
              <mc:Fallback>
                <p:oleObj r:id="rId7" imgW="1054417" imgH="39401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3501280"/>
                        <a:ext cx="23622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oleObj>
              </mc:Fallback>
            </mc:AlternateContent>
          </a:graphicData>
        </a:graphic>
      </p:graphicFrame>
      <p:sp>
        <p:nvSpPr>
          <p:cNvPr id="25" name="AutoShape 7"/>
          <p:cNvSpPr>
            <a:spLocks noChangeArrowheads="1"/>
          </p:cNvSpPr>
          <p:nvPr/>
        </p:nvSpPr>
        <p:spPr bwMode="auto">
          <a:xfrm>
            <a:off x="2987675" y="4077543"/>
            <a:ext cx="3024188" cy="2089150"/>
          </a:xfrm>
          <a:prstGeom prst="irregularSeal1">
            <a:avLst/>
          </a:prstGeom>
          <a:gradFill rotWithShape="1">
            <a:gsLst>
              <a:gs pos="0">
                <a:srgbClr val="FFFF99"/>
              </a:gs>
              <a:gs pos="100000">
                <a:srgbClr val="FFFFFF"/>
              </a:gs>
            </a:gsLst>
            <a:lin ang="5400000" scaled="1"/>
          </a:gradFill>
          <a:ln w="9525" cmpd="sng">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endParaRPr lang="zh-CN" altLang="en-US" sz="3200" i="0">
              <a:solidFill>
                <a:srgbClr val="FF0066"/>
              </a:solidFill>
              <a:effectLst>
                <a:outerShdw blurRad="38100" dist="38100" dir="2700000" algn="tl">
                  <a:srgbClr val="000000">
                    <a:alpha val="43137"/>
                  </a:srgbClr>
                </a:outerShdw>
              </a:effectLst>
              <a:ea typeface="华文新魏" pitchFamily="2" charset="-122"/>
            </a:endParaRPr>
          </a:p>
        </p:txBody>
      </p:sp>
      <p:graphicFrame>
        <p:nvGraphicFramePr>
          <p:cNvPr id="26" name="Object 8"/>
          <p:cNvGraphicFramePr>
            <a:graphicFrameLocks noChangeAspect="1"/>
          </p:cNvGraphicFramePr>
          <p:nvPr>
            <p:extLst>
              <p:ext uri="{D42A27DB-BD31-4B8C-83A1-F6EECF244321}">
                <p14:modId xmlns:p14="http://schemas.microsoft.com/office/powerpoint/2010/main" val="2938878074"/>
              </p:ext>
            </p:extLst>
          </p:nvPr>
        </p:nvGraphicFramePr>
        <p:xfrm>
          <a:off x="323850" y="4869705"/>
          <a:ext cx="3122613" cy="490538"/>
        </p:xfrm>
        <a:graphic>
          <a:graphicData uri="http://schemas.openxmlformats.org/presentationml/2006/ole">
            <mc:AlternateContent xmlns:mc="http://schemas.openxmlformats.org/markup-compatibility/2006">
              <mc:Choice xmlns:v="urn:schemas-microsoft-com:vml" Requires="v">
                <p:oleObj spid="_x0000_s30819" r:id="rId9" imgW="1128658" imgH="177809" progId="Equation.DSMT4">
                  <p:embed/>
                </p:oleObj>
              </mc:Choice>
              <mc:Fallback>
                <p:oleObj r:id="rId9" imgW="1128658" imgH="177809"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3850" y="4869705"/>
                        <a:ext cx="3122613" cy="4905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9"/>
          <p:cNvGraphicFramePr>
            <a:graphicFrameLocks noChangeAspect="1"/>
          </p:cNvGraphicFramePr>
          <p:nvPr>
            <p:extLst>
              <p:ext uri="{D42A27DB-BD31-4B8C-83A1-F6EECF244321}">
                <p14:modId xmlns:p14="http://schemas.microsoft.com/office/powerpoint/2010/main" val="2452246291"/>
              </p:ext>
            </p:extLst>
          </p:nvPr>
        </p:nvGraphicFramePr>
        <p:xfrm>
          <a:off x="3851275" y="4869705"/>
          <a:ext cx="1081088" cy="503238"/>
        </p:xfrm>
        <a:graphic>
          <a:graphicData uri="http://schemas.openxmlformats.org/presentationml/2006/ole">
            <mc:AlternateContent xmlns:mc="http://schemas.openxmlformats.org/markup-compatibility/2006">
              <mc:Choice xmlns:v="urn:schemas-microsoft-com:vml" Requires="v">
                <p:oleObj spid="_x0000_s30820" r:id="rId11" imgW="380657" imgH="177809" progId="Equation.DSMT4">
                  <p:embed/>
                </p:oleObj>
              </mc:Choice>
              <mc:Fallback>
                <p:oleObj r:id="rId11" imgW="380657" imgH="177809"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1275" y="4869705"/>
                        <a:ext cx="1081088" cy="5032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8" name="Picture 10" descr="j0424472"/>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92950" y="5230068"/>
            <a:ext cx="1677988"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pic>
      <p:sp>
        <p:nvSpPr>
          <p:cNvPr id="29" name="AutoShape 11"/>
          <p:cNvSpPr>
            <a:spLocks noChangeArrowheads="1"/>
          </p:cNvSpPr>
          <p:nvPr/>
        </p:nvSpPr>
        <p:spPr bwMode="auto">
          <a:xfrm>
            <a:off x="5003800" y="3285380"/>
            <a:ext cx="3960813" cy="1079500"/>
          </a:xfrm>
          <a:prstGeom prst="cloudCallout">
            <a:avLst>
              <a:gd name="adj1" fmla="val 11083"/>
              <a:gd name="adj2" fmla="val 136764"/>
            </a:avLst>
          </a:prstGeom>
          <a:gradFill rotWithShape="1">
            <a:gsLst>
              <a:gs pos="0">
                <a:srgbClr val="99CCFF"/>
              </a:gs>
              <a:gs pos="100000">
                <a:srgbClr val="FFFFFF"/>
              </a:gs>
            </a:gsLst>
            <a:lin ang="5400000" scaled="1"/>
          </a:gradFill>
          <a:ln w="9525" cmpd="sng">
            <a:solidFill>
              <a:srgbClr val="00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smtClean="0">
                <a:ln>
                  <a:noFill/>
                </a:ln>
                <a:solidFill>
                  <a:srgbClr val="007572"/>
                </a:solidFill>
                <a:effectLst>
                  <a:outerShdw blurRad="38100" dist="38100" dir="2700000" algn="tl">
                    <a:srgbClr val="000000"/>
                  </a:outerShdw>
                </a:effectLst>
                <a:uLnTx/>
                <a:uFillTx/>
                <a:latin typeface="楷体_GB2312" pitchFamily="49" charset="-122"/>
                <a:ea typeface="楷体_GB2312" pitchFamily="49" charset="-122"/>
              </a:rPr>
              <a:t>结果相差这么大</a:t>
            </a:r>
            <a:r>
              <a:rPr kumimoji="0" lang="en-US" sz="2800" b="0" i="0" u="none" strike="noStrike" kern="0" cap="none" spc="0" normalizeH="0" baseline="0" noProof="0" smtClean="0">
                <a:ln>
                  <a:noFill/>
                </a:ln>
                <a:solidFill>
                  <a:srgbClr val="007572"/>
                </a:solidFill>
                <a:effectLst>
                  <a:outerShdw blurRad="38100" dist="38100" dir="2700000" algn="tl">
                    <a:srgbClr val="000000"/>
                  </a:outerShdw>
                </a:effectLst>
                <a:uLnTx/>
                <a:uFillTx/>
                <a:latin typeface="楷体_GB2312" pitchFamily="49" charset="-122"/>
                <a:ea typeface="楷体_GB2312"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500" fill="hold"/>
                                        <p:tgtEl>
                                          <p:spTgt spid="26"/>
                                        </p:tgtEl>
                                        <p:attrNameLst>
                                          <p:attrName>ppt_x</p:attrName>
                                        </p:attrNameLst>
                                      </p:cBhvr>
                                      <p:tavLst>
                                        <p:tav tm="0">
                                          <p:val>
                                            <p:strVal val="#ppt_x"/>
                                          </p:val>
                                        </p:tav>
                                        <p:tav tm="100000">
                                          <p:val>
                                            <p:strVal val="#ppt_x"/>
                                          </p:val>
                                        </p:tav>
                                      </p:tavLst>
                                    </p:anim>
                                    <p:anim calcmode="lin" valueType="num">
                                      <p:cBhvr additive="base">
                                        <p:cTn id="27"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linds(horizontal)">
                                      <p:cBhvr>
                                        <p:cTn id="32" dur="500"/>
                                        <p:tgtEl>
                                          <p:spTgt spid="27"/>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blinds(horizontal)">
                                      <p:cBhvr>
                                        <p:cTn id="35" dur="500"/>
                                        <p:tgtEl>
                                          <p:spTgt spid="25"/>
                                        </p:tgtEl>
                                      </p:cBhvr>
                                    </p:animEffect>
                                  </p:childTnLst>
                                  <p:subTnLst>
                                    <p:audio>
                                      <p:cMediaNode>
                                        <p:cTn display="0" masterRel="sameClick">
                                          <p:stCondLst>
                                            <p:cond evt="begin" delay="0">
                                              <p:tn val="33"/>
                                            </p:cond>
                                          </p:stCondLst>
                                          <p:endCondLst>
                                            <p:cond evt="onStopAudio" delay="0">
                                              <p:tgtEl>
                                                <p:sldTgt/>
                                              </p:tgtEl>
                                            </p:cond>
                                          </p:endCondLst>
                                        </p:cTn>
                                        <p:tgtEl>
                                          <p:sndTgt r:embed="rId4" name="explode.wav"/>
                                        </p:tgtEl>
                                      </p:cMediaNode>
                                    </p:audio>
                                  </p:sub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nodeType="clickEffect">
                                  <p:stCondLst>
                                    <p:cond delay="0"/>
                                  </p:stCondLst>
                                  <p:childTnLst>
                                    <p:set>
                                      <p:cBhvr>
                                        <p:cTn id="39" dur="1" fill="hold">
                                          <p:stCondLst>
                                            <p:cond delay="0"/>
                                          </p:stCondLst>
                                        </p:cTn>
                                        <p:tgtEl>
                                          <p:spTgt spid="28"/>
                                        </p:tgtEl>
                                        <p:attrNameLst>
                                          <p:attrName>style.visibility</p:attrName>
                                        </p:attrNameLst>
                                      </p:cBhvr>
                                      <p:to>
                                        <p:strVal val="visible"/>
                                      </p:to>
                                    </p:set>
                                    <p:anim calcmode="lin" valueType="num">
                                      <p:cBhvr>
                                        <p:cTn id="40" dur="500" fill="hold"/>
                                        <p:tgtEl>
                                          <p:spTgt spid="28"/>
                                        </p:tgtEl>
                                        <p:attrNameLst>
                                          <p:attrName>ppt_w</p:attrName>
                                        </p:attrNameLst>
                                      </p:cBhvr>
                                      <p:tavLst>
                                        <p:tav tm="0">
                                          <p:val>
                                            <p:fltVal val="0"/>
                                          </p:val>
                                        </p:tav>
                                        <p:tav tm="100000">
                                          <p:val>
                                            <p:strVal val="#ppt_w"/>
                                          </p:val>
                                        </p:tav>
                                      </p:tavLst>
                                    </p:anim>
                                    <p:anim calcmode="lin" valueType="num">
                                      <p:cBhvr>
                                        <p:cTn id="41" dur="500" fill="hold"/>
                                        <p:tgtEl>
                                          <p:spTgt spid="28"/>
                                        </p:tgtEl>
                                        <p:attrNameLst>
                                          <p:attrName>ppt_h</p:attrName>
                                        </p:attrNameLst>
                                      </p:cBhvr>
                                      <p:tavLst>
                                        <p:tav tm="0">
                                          <p:val>
                                            <p:fltVal val="0"/>
                                          </p:val>
                                        </p:tav>
                                        <p:tav tm="100000">
                                          <p:val>
                                            <p:strVal val="#ppt_h"/>
                                          </p:val>
                                        </p:tav>
                                      </p:tavLst>
                                    </p:anim>
                                    <p:anim calcmode="lin" valueType="num">
                                      <p:cBhvr>
                                        <p:cTn id="42" dur="500" fill="hold"/>
                                        <p:tgtEl>
                                          <p:spTgt spid="28"/>
                                        </p:tgtEl>
                                        <p:attrNameLst>
                                          <p:attrName>style.rotation</p:attrName>
                                        </p:attrNameLst>
                                      </p:cBhvr>
                                      <p:tavLst>
                                        <p:tav tm="0">
                                          <p:val>
                                            <p:fltVal val="360"/>
                                          </p:val>
                                        </p:tav>
                                        <p:tav tm="100000">
                                          <p:val>
                                            <p:fltVal val="0"/>
                                          </p:val>
                                        </p:tav>
                                      </p:tavLst>
                                    </p:anim>
                                    <p:animEffect transition="in" filter="fade">
                                      <p:cBhvr>
                                        <p:cTn id="43" dur="500"/>
                                        <p:tgtEl>
                                          <p:spTgt spid="28"/>
                                        </p:tgtEl>
                                      </p:cBhvr>
                                    </p:animEffect>
                                  </p:childTnLst>
                                </p:cTn>
                              </p:par>
                              <p:par>
                                <p:cTn id="44" presetID="49" presetClass="entr" presetSubtype="0" decel="10000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 calcmode="lin" valueType="num">
                                      <p:cBhvr>
                                        <p:cTn id="46" dur="500" fill="hold"/>
                                        <p:tgtEl>
                                          <p:spTgt spid="29"/>
                                        </p:tgtEl>
                                        <p:attrNameLst>
                                          <p:attrName>ppt_w</p:attrName>
                                        </p:attrNameLst>
                                      </p:cBhvr>
                                      <p:tavLst>
                                        <p:tav tm="0">
                                          <p:val>
                                            <p:fltVal val="0"/>
                                          </p:val>
                                        </p:tav>
                                        <p:tav tm="100000">
                                          <p:val>
                                            <p:strVal val="#ppt_w"/>
                                          </p:val>
                                        </p:tav>
                                      </p:tavLst>
                                    </p:anim>
                                    <p:anim calcmode="lin" valueType="num">
                                      <p:cBhvr>
                                        <p:cTn id="47" dur="500" fill="hold"/>
                                        <p:tgtEl>
                                          <p:spTgt spid="29"/>
                                        </p:tgtEl>
                                        <p:attrNameLst>
                                          <p:attrName>ppt_h</p:attrName>
                                        </p:attrNameLst>
                                      </p:cBhvr>
                                      <p:tavLst>
                                        <p:tav tm="0">
                                          <p:val>
                                            <p:fltVal val="0"/>
                                          </p:val>
                                        </p:tav>
                                        <p:tav tm="100000">
                                          <p:val>
                                            <p:strVal val="#ppt_h"/>
                                          </p:val>
                                        </p:tav>
                                      </p:tavLst>
                                    </p:anim>
                                    <p:anim calcmode="lin" valueType="num">
                                      <p:cBhvr>
                                        <p:cTn id="48" dur="500" fill="hold"/>
                                        <p:tgtEl>
                                          <p:spTgt spid="29"/>
                                        </p:tgtEl>
                                        <p:attrNameLst>
                                          <p:attrName>style.rotation</p:attrName>
                                        </p:attrNameLst>
                                      </p:cBhvr>
                                      <p:tavLst>
                                        <p:tav tm="0">
                                          <p:val>
                                            <p:fltVal val="360"/>
                                          </p:val>
                                        </p:tav>
                                        <p:tav tm="100000">
                                          <p:val>
                                            <p:fltVal val="0"/>
                                          </p:val>
                                        </p:tav>
                                      </p:tavLst>
                                    </p:anim>
                                    <p:animEffect transition="in" filter="fade">
                                      <p:cBhvr>
                                        <p:cTn id="4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3" grpId="0" autoUpdateAnimBg="0"/>
      <p:bldP spid="25" grpId="0" animBg="1"/>
      <p:bldP spid="29"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80061E0-B54D-4B26-A0F4-B91A720EB457}" type="slidenum">
              <a:rPr lang="zh-CN" altLang="en-US" i="0" smtClean="0"/>
              <a:pPr/>
              <a:t>32</a:t>
            </a:fld>
            <a:endParaRPr lang="en-US" altLang="zh-CN" i="0" smtClean="0"/>
          </a:p>
        </p:txBody>
      </p:sp>
      <p:sp>
        <p:nvSpPr>
          <p:cNvPr id="3072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6EFB8BC-54FA-420D-A35A-2F9C5F4C641B}" type="datetime1">
              <a:rPr lang="zh-CN" altLang="en-US" sz="1800" i="0" smtClean="0"/>
              <a:pPr/>
              <a:t>2024/9/8</a:t>
            </a:fld>
            <a:endParaRPr lang="en-US" altLang="zh-CN" sz="1000" i="0" smtClean="0"/>
          </a:p>
        </p:txBody>
      </p:sp>
      <p:sp>
        <p:nvSpPr>
          <p:cNvPr id="770050" name="Rectangle 2"/>
          <p:cNvSpPr>
            <a:spLocks noGrp="1" noChangeArrowheads="1"/>
          </p:cNvSpPr>
          <p:nvPr>
            <p:ph type="title"/>
          </p:nvPr>
        </p:nvSpPr>
        <p:spPr/>
        <p:txBody>
          <a:bodyPr/>
          <a:lstStyle/>
          <a:p>
            <a:pPr>
              <a:defRPr/>
            </a:pPr>
            <a:r>
              <a:rPr lang="zh-CN" altLang="en-US" smtClean="0"/>
              <a:t>3.4  运算时需要注意的地方</a:t>
            </a:r>
          </a:p>
        </p:txBody>
      </p:sp>
      <p:sp>
        <p:nvSpPr>
          <p:cNvPr id="30725" name="Rectangle 3"/>
          <p:cNvSpPr>
            <a:spLocks noGrp="1" noChangeArrowheads="1"/>
          </p:cNvSpPr>
          <p:nvPr>
            <p:ph type="body" idx="1"/>
          </p:nvPr>
        </p:nvSpPr>
        <p:spPr>
          <a:xfrm>
            <a:off x="650875" y="1143000"/>
            <a:ext cx="8820150" cy="384175"/>
          </a:xfrm>
        </p:spPr>
        <p:txBody>
          <a:bodyPr/>
          <a:lstStyle/>
          <a:p>
            <a:pPr>
              <a:buFont typeface="Wingdings" pitchFamily="2" charset="2"/>
              <a:buNone/>
            </a:pPr>
            <a:r>
              <a:rPr lang="zh-CN" altLang="en-US" dirty="0" smtClean="0"/>
              <a:t>	(4) </a:t>
            </a:r>
            <a:r>
              <a:rPr lang="zh-CN" altLang="en-US" dirty="0" smtClean="0">
                <a:latin typeface="宋体" pitchFamily="2" charset="-122"/>
              </a:rPr>
              <a:t>当分母很小时，商的绝对误差可能很大</a:t>
            </a:r>
            <a:endParaRPr lang="zh-CN" altLang="en-US" dirty="0" smtClean="0"/>
          </a:p>
        </p:txBody>
      </p:sp>
      <p:graphicFrame>
        <p:nvGraphicFramePr>
          <p:cNvPr id="770052" name="Object 4" descr="再生纸"/>
          <p:cNvGraphicFramePr>
            <a:graphicFrameLocks noChangeAspect="1"/>
          </p:cNvGraphicFramePr>
          <p:nvPr/>
        </p:nvGraphicFramePr>
        <p:xfrm>
          <a:off x="1292225" y="4075113"/>
          <a:ext cx="7239000" cy="2162175"/>
        </p:xfrm>
        <a:graphic>
          <a:graphicData uri="http://schemas.openxmlformats.org/presentationml/2006/ole">
            <mc:AlternateContent xmlns:mc="http://schemas.openxmlformats.org/markup-compatibility/2006">
              <mc:Choice xmlns:v="urn:schemas-microsoft-com:vml" Requires="v">
                <p:oleObj spid="_x0000_s159803" name="Equation" r:id="rId4" imgW="2857486" imgH="876312" progId="Equation.3">
                  <p:embed/>
                </p:oleObj>
              </mc:Choice>
              <mc:Fallback>
                <p:oleObj name="Equation" r:id="rId4" imgW="2857486" imgH="8763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2225" y="4075113"/>
                        <a:ext cx="7239000" cy="216217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0053" name="Object 5" descr="再生纸"/>
          <p:cNvGraphicFramePr>
            <a:graphicFrameLocks noChangeAspect="1"/>
          </p:cNvGraphicFramePr>
          <p:nvPr/>
        </p:nvGraphicFramePr>
        <p:xfrm>
          <a:off x="1355725" y="1752600"/>
          <a:ext cx="6286500" cy="990600"/>
        </p:xfrm>
        <a:graphic>
          <a:graphicData uri="http://schemas.openxmlformats.org/presentationml/2006/ole">
            <mc:AlternateContent xmlns:mc="http://schemas.openxmlformats.org/markup-compatibility/2006">
              <mc:Choice xmlns:v="urn:schemas-microsoft-com:vml" Requires="v">
                <p:oleObj spid="_x0000_s159804" name="Equation" r:id="rId7" imgW="2514553" imgH="380930" progId="Equation.3">
                  <p:embed/>
                </p:oleObj>
              </mc:Choice>
              <mc:Fallback>
                <p:oleObj name="Equation" r:id="rId7" imgW="2514553" imgH="38093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5725" y="1752600"/>
                        <a:ext cx="6286500" cy="9906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0054" name="Object 6" descr="再生纸"/>
          <p:cNvGraphicFramePr>
            <a:graphicFrameLocks noChangeAspect="1"/>
          </p:cNvGraphicFramePr>
          <p:nvPr/>
        </p:nvGraphicFramePr>
        <p:xfrm>
          <a:off x="1611313" y="2787650"/>
          <a:ext cx="4784725" cy="565150"/>
        </p:xfrm>
        <a:graphic>
          <a:graphicData uri="http://schemas.openxmlformats.org/presentationml/2006/ole">
            <mc:AlternateContent xmlns:mc="http://schemas.openxmlformats.org/markup-compatibility/2006">
              <mc:Choice xmlns:v="urn:schemas-microsoft-com:vml" Requires="v">
                <p:oleObj spid="_x0000_s159805" name="Equation" r:id="rId9" imgW="1531537" imgH="190465" progId="Equation.3">
                  <p:embed/>
                </p:oleObj>
              </mc:Choice>
              <mc:Fallback>
                <p:oleObj name="Equation" r:id="rId9" imgW="1531537" imgH="19046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1313" y="2787650"/>
                        <a:ext cx="4784725" cy="56515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0055" name="Text Box 7"/>
          <p:cNvSpPr txBox="1">
            <a:spLocks noChangeArrowheads="1"/>
          </p:cNvSpPr>
          <p:nvPr/>
        </p:nvSpPr>
        <p:spPr bwMode="auto">
          <a:xfrm>
            <a:off x="6915150" y="1731963"/>
            <a:ext cx="1450975" cy="1046162"/>
          </a:xfrm>
          <a:prstGeom prst="rect">
            <a:avLst/>
          </a:prstGeom>
          <a:noFill/>
          <a:ln w="41275">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400" i="0">
                <a:solidFill>
                  <a:srgbClr val="FF3300"/>
                </a:solidFill>
                <a:latin typeface="宋体" pitchFamily="2" charset="-122"/>
              </a:rPr>
              <a:t>舍入误差</a:t>
            </a:r>
          </a:p>
          <a:p>
            <a:pPr>
              <a:spcBef>
                <a:spcPct val="50000"/>
              </a:spcBef>
            </a:pPr>
            <a:endParaRPr lang="zh-CN" altLang="en-US" sz="2400" i="0">
              <a:solidFill>
                <a:srgbClr val="FF3300"/>
              </a:solidFill>
              <a:latin typeface="宋体" pitchFamily="2" charset="-122"/>
            </a:endParaRPr>
          </a:p>
        </p:txBody>
      </p:sp>
      <p:sp>
        <p:nvSpPr>
          <p:cNvPr id="770056" name="Text Box 8"/>
          <p:cNvSpPr txBox="1">
            <a:spLocks noChangeArrowheads="1"/>
          </p:cNvSpPr>
          <p:nvPr/>
        </p:nvSpPr>
        <p:spPr bwMode="auto">
          <a:xfrm>
            <a:off x="3962400" y="2763838"/>
            <a:ext cx="2063750" cy="1046162"/>
          </a:xfrm>
          <a:prstGeom prst="rect">
            <a:avLst/>
          </a:prstGeom>
          <a:noFill/>
          <a:ln w="41275">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endParaRPr lang="zh-CN" altLang="en-US" sz="2400" i="0">
              <a:solidFill>
                <a:srgbClr val="F60A0A"/>
              </a:solidFill>
              <a:latin typeface="宋体" pitchFamily="2" charset="-122"/>
            </a:endParaRPr>
          </a:p>
          <a:p>
            <a:pPr>
              <a:spcBef>
                <a:spcPct val="50000"/>
              </a:spcBef>
            </a:pPr>
            <a:r>
              <a:rPr lang="zh-CN" altLang="en-US" sz="2400" i="0">
                <a:solidFill>
                  <a:srgbClr val="FF3300"/>
                </a:solidFill>
                <a:latin typeface="宋体" pitchFamily="2" charset="-122"/>
              </a:rPr>
              <a:t>放大了10</a:t>
            </a:r>
            <a:r>
              <a:rPr lang="zh-CN" altLang="en-US" sz="2400" i="0" baseline="30000">
                <a:solidFill>
                  <a:srgbClr val="FF3300"/>
                </a:solidFill>
                <a:latin typeface="宋体" pitchFamily="2" charset="-122"/>
              </a:rPr>
              <a:t>6</a:t>
            </a:r>
            <a:r>
              <a:rPr lang="zh-CN" altLang="en-US" sz="2400" i="0">
                <a:solidFill>
                  <a:srgbClr val="FF3300"/>
                </a:solidFill>
                <a:latin typeface="宋体" pitchFamily="2" charset="-122"/>
              </a:rPr>
              <a:t>倍</a:t>
            </a:r>
          </a:p>
        </p:txBody>
      </p:sp>
      <p:sp>
        <p:nvSpPr>
          <p:cNvPr id="30731" name="Oval 9"/>
          <p:cNvSpPr>
            <a:spLocks noChangeArrowheads="1"/>
          </p:cNvSpPr>
          <p:nvPr/>
        </p:nvSpPr>
        <p:spPr bwMode="auto">
          <a:xfrm>
            <a:off x="5118100" y="3733800"/>
            <a:ext cx="660400" cy="12192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round/>
                <a:headEnd/>
                <a:tailEnd/>
              </a14:hiddenLine>
            </a:ext>
          </a:extLst>
        </p:spPr>
        <p:txBody>
          <a:bodyPr wrap="none" anchor="ctr">
            <a:spAutoFit/>
          </a:bodyPr>
          <a:lstStyle/>
          <a:p>
            <a:endParaRPr lang="zh-CN" altLang="en-US"/>
          </a:p>
        </p:txBody>
      </p:sp>
      <p:sp>
        <p:nvSpPr>
          <p:cNvPr id="2" name="矩形 1"/>
          <p:cNvSpPr/>
          <p:nvPr/>
        </p:nvSpPr>
        <p:spPr>
          <a:xfrm>
            <a:off x="3800872" y="5374332"/>
            <a:ext cx="5234125" cy="523220"/>
          </a:xfrm>
          <a:prstGeom prst="rect">
            <a:avLst/>
          </a:prstGeom>
        </p:spPr>
        <p:txBody>
          <a:bodyPr wrap="none">
            <a:spAutoFit/>
          </a:bodyPr>
          <a:lstStyle/>
          <a:p>
            <a:r>
              <a:rPr lang="zh-CN" altLang="en-US" sz="2800" dirty="0" smtClean="0">
                <a:solidFill>
                  <a:srgbClr val="0000FF"/>
                </a:solidFill>
                <a:effectLst/>
                <a:latin typeface="Times New Roman" pitchFamily="18" charset="0"/>
                <a:ea typeface="楷体_GB2312" pitchFamily="49" charset="-122"/>
              </a:rPr>
              <a:t>尽量避免绝对值太小的数作分母</a:t>
            </a:r>
            <a:endParaRPr lang="zh-CN" altLang="en-US" sz="2800" dirty="0">
              <a:solidFill>
                <a:srgbClr val="0000FF"/>
              </a:solidFill>
            </a:endParaRPr>
          </a:p>
        </p:txBody>
      </p:sp>
    </p:spTree>
    <p:extLst>
      <p:ext uri="{BB962C8B-B14F-4D97-AF65-F5344CB8AC3E}">
        <p14:creationId xmlns:p14="http://schemas.microsoft.com/office/powerpoint/2010/main" val="41205410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70053"/>
                                        </p:tgtEl>
                                        <p:attrNameLst>
                                          <p:attrName>style.visibility</p:attrName>
                                        </p:attrNameLst>
                                      </p:cBhvr>
                                      <p:to>
                                        <p:strVal val="visible"/>
                                      </p:to>
                                    </p:set>
                                    <p:animEffect transition="in" filter="wipe(up)">
                                      <p:cBhvr>
                                        <p:cTn id="7" dur="500"/>
                                        <p:tgtEl>
                                          <p:spTgt spid="7700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70054"/>
                                        </p:tgtEl>
                                        <p:attrNameLst>
                                          <p:attrName>style.visibility</p:attrName>
                                        </p:attrNameLst>
                                      </p:cBhvr>
                                      <p:to>
                                        <p:strVal val="visible"/>
                                      </p:to>
                                    </p:set>
                                    <p:animEffect transition="in" filter="wipe(up)">
                                      <p:cBhvr>
                                        <p:cTn id="12" dur="500"/>
                                        <p:tgtEl>
                                          <p:spTgt spid="770054"/>
                                        </p:tgtEl>
                                      </p:cBhvr>
                                    </p:animEffect>
                                  </p:childTnLst>
                                </p:cTn>
                              </p:par>
                            </p:childTnLst>
                          </p:cTn>
                        </p:par>
                        <p:par>
                          <p:cTn id="13" fill="hold" nodeType="afterGroup">
                            <p:stCondLst>
                              <p:cond delay="500"/>
                            </p:stCondLst>
                            <p:childTnLst>
                              <p:par>
                                <p:cTn id="14" presetID="23" presetClass="entr" presetSubtype="528" fill="hold" grpId="0" nodeType="afterEffect">
                                  <p:stCondLst>
                                    <p:cond delay="2000"/>
                                  </p:stCondLst>
                                  <p:childTnLst>
                                    <p:set>
                                      <p:cBhvr>
                                        <p:cTn id="15" dur="1" fill="hold">
                                          <p:stCondLst>
                                            <p:cond delay="0"/>
                                          </p:stCondLst>
                                        </p:cTn>
                                        <p:tgtEl>
                                          <p:spTgt spid="770055"/>
                                        </p:tgtEl>
                                        <p:attrNameLst>
                                          <p:attrName>style.visibility</p:attrName>
                                        </p:attrNameLst>
                                      </p:cBhvr>
                                      <p:to>
                                        <p:strVal val="visible"/>
                                      </p:to>
                                    </p:set>
                                    <p:anim calcmode="lin" valueType="num">
                                      <p:cBhvr>
                                        <p:cTn id="16" dur="500" fill="hold"/>
                                        <p:tgtEl>
                                          <p:spTgt spid="770055"/>
                                        </p:tgtEl>
                                        <p:attrNameLst>
                                          <p:attrName>ppt_w</p:attrName>
                                        </p:attrNameLst>
                                      </p:cBhvr>
                                      <p:tavLst>
                                        <p:tav tm="0">
                                          <p:val>
                                            <p:fltVal val="0"/>
                                          </p:val>
                                        </p:tav>
                                        <p:tav tm="100000">
                                          <p:val>
                                            <p:strVal val="#ppt_w"/>
                                          </p:val>
                                        </p:tav>
                                      </p:tavLst>
                                    </p:anim>
                                    <p:anim calcmode="lin" valueType="num">
                                      <p:cBhvr>
                                        <p:cTn id="17" dur="500" fill="hold"/>
                                        <p:tgtEl>
                                          <p:spTgt spid="770055"/>
                                        </p:tgtEl>
                                        <p:attrNameLst>
                                          <p:attrName>ppt_h</p:attrName>
                                        </p:attrNameLst>
                                      </p:cBhvr>
                                      <p:tavLst>
                                        <p:tav tm="0">
                                          <p:val>
                                            <p:fltVal val="0"/>
                                          </p:val>
                                        </p:tav>
                                        <p:tav tm="100000">
                                          <p:val>
                                            <p:strVal val="#ppt_h"/>
                                          </p:val>
                                        </p:tav>
                                      </p:tavLst>
                                    </p:anim>
                                    <p:anim calcmode="lin" valueType="num">
                                      <p:cBhvr>
                                        <p:cTn id="18" dur="500" fill="hold"/>
                                        <p:tgtEl>
                                          <p:spTgt spid="770055"/>
                                        </p:tgtEl>
                                        <p:attrNameLst>
                                          <p:attrName>ppt_x</p:attrName>
                                        </p:attrNameLst>
                                      </p:cBhvr>
                                      <p:tavLst>
                                        <p:tav tm="0">
                                          <p:val>
                                            <p:fltVal val="0.5"/>
                                          </p:val>
                                        </p:tav>
                                        <p:tav tm="100000">
                                          <p:val>
                                            <p:strVal val="#ppt_x"/>
                                          </p:val>
                                        </p:tav>
                                      </p:tavLst>
                                    </p:anim>
                                    <p:anim calcmode="lin" valueType="num">
                                      <p:cBhvr>
                                        <p:cTn id="19" dur="500" fill="hold"/>
                                        <p:tgtEl>
                                          <p:spTgt spid="770055"/>
                                        </p:tgtEl>
                                        <p:attrNameLst>
                                          <p:attrName>ppt_y</p:attrName>
                                        </p:attrNameLst>
                                      </p:cBhvr>
                                      <p:tavLst>
                                        <p:tav tm="0">
                                          <p:val>
                                            <p:fltVal val="0.5"/>
                                          </p:val>
                                        </p:tav>
                                        <p:tav tm="100000">
                                          <p:val>
                                            <p:strVal val="#ppt_y"/>
                                          </p:val>
                                        </p:tav>
                                      </p:tavLst>
                                    </p:anim>
                                  </p:childTnLst>
                                </p:cTn>
                              </p:par>
                            </p:childTnLst>
                          </p:cTn>
                        </p:par>
                        <p:par>
                          <p:cTn id="20" fill="hold" nodeType="afterGroup">
                            <p:stCondLst>
                              <p:cond delay="3000"/>
                            </p:stCondLst>
                            <p:childTnLst>
                              <p:par>
                                <p:cTn id="21" presetID="23" presetClass="entr" presetSubtype="528" fill="hold" grpId="0" nodeType="afterEffect">
                                  <p:stCondLst>
                                    <p:cond delay="2000"/>
                                  </p:stCondLst>
                                  <p:childTnLst>
                                    <p:set>
                                      <p:cBhvr>
                                        <p:cTn id="22" dur="1" fill="hold">
                                          <p:stCondLst>
                                            <p:cond delay="0"/>
                                          </p:stCondLst>
                                        </p:cTn>
                                        <p:tgtEl>
                                          <p:spTgt spid="770056"/>
                                        </p:tgtEl>
                                        <p:attrNameLst>
                                          <p:attrName>style.visibility</p:attrName>
                                        </p:attrNameLst>
                                      </p:cBhvr>
                                      <p:to>
                                        <p:strVal val="visible"/>
                                      </p:to>
                                    </p:set>
                                    <p:anim calcmode="lin" valueType="num">
                                      <p:cBhvr>
                                        <p:cTn id="23" dur="500" fill="hold"/>
                                        <p:tgtEl>
                                          <p:spTgt spid="770056"/>
                                        </p:tgtEl>
                                        <p:attrNameLst>
                                          <p:attrName>ppt_w</p:attrName>
                                        </p:attrNameLst>
                                      </p:cBhvr>
                                      <p:tavLst>
                                        <p:tav tm="0">
                                          <p:val>
                                            <p:fltVal val="0"/>
                                          </p:val>
                                        </p:tav>
                                        <p:tav tm="100000">
                                          <p:val>
                                            <p:strVal val="#ppt_w"/>
                                          </p:val>
                                        </p:tav>
                                      </p:tavLst>
                                    </p:anim>
                                    <p:anim calcmode="lin" valueType="num">
                                      <p:cBhvr>
                                        <p:cTn id="24" dur="500" fill="hold"/>
                                        <p:tgtEl>
                                          <p:spTgt spid="770056"/>
                                        </p:tgtEl>
                                        <p:attrNameLst>
                                          <p:attrName>ppt_h</p:attrName>
                                        </p:attrNameLst>
                                      </p:cBhvr>
                                      <p:tavLst>
                                        <p:tav tm="0">
                                          <p:val>
                                            <p:fltVal val="0"/>
                                          </p:val>
                                        </p:tav>
                                        <p:tav tm="100000">
                                          <p:val>
                                            <p:strVal val="#ppt_h"/>
                                          </p:val>
                                        </p:tav>
                                      </p:tavLst>
                                    </p:anim>
                                    <p:anim calcmode="lin" valueType="num">
                                      <p:cBhvr>
                                        <p:cTn id="25" dur="500" fill="hold"/>
                                        <p:tgtEl>
                                          <p:spTgt spid="770056"/>
                                        </p:tgtEl>
                                        <p:attrNameLst>
                                          <p:attrName>ppt_x</p:attrName>
                                        </p:attrNameLst>
                                      </p:cBhvr>
                                      <p:tavLst>
                                        <p:tav tm="0">
                                          <p:val>
                                            <p:fltVal val="0.5"/>
                                          </p:val>
                                        </p:tav>
                                        <p:tav tm="100000">
                                          <p:val>
                                            <p:strVal val="#ppt_x"/>
                                          </p:val>
                                        </p:tav>
                                      </p:tavLst>
                                    </p:anim>
                                    <p:anim calcmode="lin" valueType="num">
                                      <p:cBhvr>
                                        <p:cTn id="26" dur="500" fill="hold"/>
                                        <p:tgtEl>
                                          <p:spTgt spid="770056"/>
                                        </p:tgtEl>
                                        <p:attrNameLst>
                                          <p:attrName>ppt_y</p:attrName>
                                        </p:attrNameLst>
                                      </p:cBhvr>
                                      <p:tavLst>
                                        <p:tav tm="0">
                                          <p:val>
                                            <p:fltVal val="0.5"/>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770052"/>
                                        </p:tgtEl>
                                        <p:attrNameLst>
                                          <p:attrName>style.visibility</p:attrName>
                                        </p:attrNameLst>
                                      </p:cBhvr>
                                      <p:to>
                                        <p:strVal val="visible"/>
                                      </p:to>
                                    </p:set>
                                    <p:animEffect transition="in" filter="wipe(up)">
                                      <p:cBhvr>
                                        <p:cTn id="31" dur="500"/>
                                        <p:tgtEl>
                                          <p:spTgt spid="770052"/>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circle(in)">
                                      <p:cBhvr>
                                        <p:cTn id="3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5" grpId="0" animBg="1" autoUpdateAnimBg="0"/>
      <p:bldP spid="770056" grpId="0" animBg="1" autoUpdateAnimBg="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1B4F4F7-3CCB-4F8E-BBF4-06724CABBAFC}" type="slidenum">
              <a:rPr lang="zh-CN" altLang="en-US" i="0" smtClean="0"/>
              <a:pPr/>
              <a:t>33</a:t>
            </a:fld>
            <a:endParaRPr lang="en-US" altLang="zh-CN" i="0" smtClean="0"/>
          </a:p>
        </p:txBody>
      </p:sp>
      <p:sp>
        <p:nvSpPr>
          <p:cNvPr id="3174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75CE187-B160-4BC2-AC3B-BB9656C70ADA}" type="datetime1">
              <a:rPr lang="zh-CN" altLang="en-US" sz="1800" i="0" smtClean="0"/>
              <a:pPr/>
              <a:t>2024/9/8</a:t>
            </a:fld>
            <a:endParaRPr lang="en-US" altLang="zh-CN" sz="1000" i="0" smtClean="0"/>
          </a:p>
        </p:txBody>
      </p:sp>
      <p:sp>
        <p:nvSpPr>
          <p:cNvPr id="772098" name="Rectangle 2"/>
          <p:cNvSpPr>
            <a:spLocks noGrp="1" noChangeArrowheads="1"/>
          </p:cNvSpPr>
          <p:nvPr>
            <p:ph type="title"/>
          </p:nvPr>
        </p:nvSpPr>
        <p:spPr/>
        <p:txBody>
          <a:bodyPr/>
          <a:lstStyle/>
          <a:p>
            <a:pPr>
              <a:defRPr/>
            </a:pPr>
            <a:r>
              <a:rPr lang="zh-CN" altLang="en-US" smtClean="0"/>
              <a:t>3.4  运算时需要注意的地方</a:t>
            </a:r>
          </a:p>
        </p:txBody>
      </p:sp>
      <p:sp>
        <p:nvSpPr>
          <p:cNvPr id="31749" name="Rectangle 3"/>
          <p:cNvSpPr>
            <a:spLocks noGrp="1" noChangeArrowheads="1"/>
          </p:cNvSpPr>
          <p:nvPr>
            <p:ph type="body" idx="1"/>
          </p:nvPr>
        </p:nvSpPr>
        <p:spPr>
          <a:xfrm>
            <a:off x="650875" y="1143000"/>
            <a:ext cx="8820150" cy="876300"/>
          </a:xfrm>
        </p:spPr>
        <p:txBody>
          <a:bodyPr/>
          <a:lstStyle/>
          <a:p>
            <a:r>
              <a:rPr lang="zh-CN" altLang="en-US" sz="3200" smtClean="0"/>
              <a:t>(5) </a:t>
            </a:r>
            <a:r>
              <a:rPr lang="zh-CN" altLang="en-US" sz="3200" smtClean="0">
                <a:latin typeface="宋体" pitchFamily="2" charset="-122"/>
              </a:rPr>
              <a:t>当分母为两个相近数相减时,会因有效数字丧失而出现</a:t>
            </a:r>
            <a:r>
              <a:rPr lang="zh-CN" altLang="en-US" sz="3200" smtClean="0"/>
              <a:t>(4)</a:t>
            </a:r>
            <a:r>
              <a:rPr lang="zh-CN" altLang="en-US" sz="3200" smtClean="0">
                <a:latin typeface="宋体" pitchFamily="2" charset="-122"/>
              </a:rPr>
              <a:t>的情况</a:t>
            </a:r>
            <a:endParaRPr lang="zh-CN" altLang="en-US" sz="3200" smtClean="0"/>
          </a:p>
        </p:txBody>
      </p:sp>
      <p:graphicFrame>
        <p:nvGraphicFramePr>
          <p:cNvPr id="772100" name="Object 4" descr="再生纸"/>
          <p:cNvGraphicFramePr>
            <a:graphicFrameLocks noChangeAspect="1"/>
          </p:cNvGraphicFramePr>
          <p:nvPr/>
        </p:nvGraphicFramePr>
        <p:xfrm>
          <a:off x="1676400" y="2971800"/>
          <a:ext cx="7297738" cy="1238250"/>
        </p:xfrm>
        <a:graphic>
          <a:graphicData uri="http://schemas.openxmlformats.org/presentationml/2006/ole">
            <mc:AlternateContent xmlns:mc="http://schemas.openxmlformats.org/markup-compatibility/2006">
              <mc:Choice xmlns:v="urn:schemas-microsoft-com:vml" Requires="v">
                <p:oleObj spid="_x0000_s31774" name="Equation" r:id="rId4" imgW="2400314" imgH="388704" progId="Equation.3">
                  <p:embed/>
                </p:oleObj>
              </mc:Choice>
              <mc:Fallback>
                <p:oleObj name="Equation" r:id="rId4" imgW="2400314" imgH="388704" progId="Equation.3">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2971800"/>
                        <a:ext cx="7297738" cy="123825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2101" name="AutoShape 5"/>
          <p:cNvSpPr>
            <a:spLocks noChangeArrowheads="1"/>
          </p:cNvSpPr>
          <p:nvPr/>
        </p:nvSpPr>
        <p:spPr bwMode="auto">
          <a:xfrm>
            <a:off x="5365750" y="5029200"/>
            <a:ext cx="2806700" cy="1371600"/>
          </a:xfrm>
          <a:prstGeom prst="wedgeRectCallout">
            <a:avLst>
              <a:gd name="adj1" fmla="val -71509"/>
              <a:gd name="adj2" fmla="val -101157"/>
            </a:avLst>
          </a:prstGeom>
          <a:noFill/>
          <a:ln w="38100">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spcBef>
                <a:spcPct val="50000"/>
              </a:spcBef>
            </a:pPr>
            <a:r>
              <a:rPr lang="zh-CN" altLang="en-US" sz="3200" i="0">
                <a:latin typeface="宋体" pitchFamily="2" charset="-122"/>
              </a:rPr>
              <a:t>这里分子的误差被扩大10</a:t>
            </a:r>
            <a:r>
              <a:rPr lang="zh-CN" altLang="en-US" sz="3200" i="0" baseline="30000">
                <a:latin typeface="宋体" pitchFamily="2" charset="-122"/>
              </a:rPr>
              <a:t>4</a:t>
            </a:r>
            <a:r>
              <a:rPr lang="zh-CN" altLang="en-US" sz="3200" i="0">
                <a:latin typeface="宋体" pitchFamily="2" charset="-122"/>
              </a:rPr>
              <a:t>倍</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772100"/>
                                        </p:tgtEl>
                                        <p:attrNameLst>
                                          <p:attrName>style.visibility</p:attrName>
                                        </p:attrNameLst>
                                      </p:cBhvr>
                                      <p:to>
                                        <p:strVal val="visible"/>
                                      </p:to>
                                    </p:set>
                                    <p:animEffect transition="in" filter="slide(fromTop)">
                                      <p:cBhvr>
                                        <p:cTn id="7" dur="500"/>
                                        <p:tgtEl>
                                          <p:spTgt spid="7721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2101"/>
                                        </p:tgtEl>
                                        <p:attrNameLst>
                                          <p:attrName>style.visibility</p:attrName>
                                        </p:attrNameLst>
                                      </p:cBhvr>
                                      <p:to>
                                        <p:strVal val="visible"/>
                                      </p:to>
                                    </p:set>
                                    <p:animEffect transition="in" filter="blinds(horizontal)">
                                      <p:cBhvr>
                                        <p:cTn id="12" dur="500"/>
                                        <p:tgtEl>
                                          <p:spTgt spid="772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101"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9AAD828-BB79-4DF8-862E-37E690FA4789}" type="slidenum">
              <a:rPr lang="zh-CN" altLang="en-US" i="0" smtClean="0"/>
              <a:pPr/>
              <a:t>34</a:t>
            </a:fld>
            <a:endParaRPr lang="en-US" altLang="zh-CN" i="0" smtClean="0"/>
          </a:p>
        </p:txBody>
      </p:sp>
      <p:sp>
        <p:nvSpPr>
          <p:cNvPr id="3277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4C2E4FF-06F5-454B-95B0-AC0A2B654476}" type="datetime1">
              <a:rPr lang="zh-CN" altLang="en-US" sz="1800" i="0" smtClean="0"/>
              <a:pPr/>
              <a:t>2024/9/8</a:t>
            </a:fld>
            <a:endParaRPr lang="en-US" altLang="zh-CN" sz="1000" i="0" smtClean="0"/>
          </a:p>
        </p:txBody>
      </p:sp>
      <p:sp>
        <p:nvSpPr>
          <p:cNvPr id="865282" name="Rectangle 2"/>
          <p:cNvSpPr>
            <a:spLocks noGrp="1" noChangeArrowheads="1"/>
          </p:cNvSpPr>
          <p:nvPr>
            <p:ph type="title"/>
          </p:nvPr>
        </p:nvSpPr>
        <p:spPr/>
        <p:txBody>
          <a:bodyPr/>
          <a:lstStyle/>
          <a:p>
            <a:pPr>
              <a:defRPr/>
            </a:pPr>
            <a:r>
              <a:rPr lang="zh-CN" altLang="en-US" smtClean="0"/>
              <a:t>3.5 数学问题解的误差估计</a:t>
            </a:r>
          </a:p>
        </p:txBody>
      </p:sp>
      <p:sp>
        <p:nvSpPr>
          <p:cNvPr id="32773" name="Rectangle 3"/>
          <p:cNvSpPr>
            <a:spLocks noGrp="1" noChangeArrowheads="1"/>
          </p:cNvSpPr>
          <p:nvPr>
            <p:ph type="body" idx="1"/>
          </p:nvPr>
        </p:nvSpPr>
        <p:spPr>
          <a:xfrm>
            <a:off x="650875" y="1143000"/>
            <a:ext cx="8820150" cy="1922463"/>
          </a:xfrm>
        </p:spPr>
        <p:txBody>
          <a:bodyPr/>
          <a:lstStyle/>
          <a:p>
            <a:r>
              <a:rPr lang="zh-CN" altLang="en-US" sz="3200" smtClean="0"/>
              <a:t>在各种数学模型中, 它们的解与</a:t>
            </a:r>
            <a:r>
              <a:rPr lang="en-US" altLang="zh-CN" sz="3200" i="1" smtClean="0"/>
              <a:t>x</a:t>
            </a:r>
            <a:r>
              <a:rPr lang="en-US" altLang="zh-CN" sz="3200" baseline="-25000" smtClean="0"/>
              <a:t>1</a:t>
            </a:r>
            <a:r>
              <a:rPr lang="en-US" altLang="zh-CN" sz="3200" smtClean="0"/>
              <a:t>,</a:t>
            </a:r>
            <a:r>
              <a:rPr lang="en-US" altLang="zh-CN" sz="3200" i="1" smtClean="0"/>
              <a:t>x</a:t>
            </a:r>
            <a:r>
              <a:rPr lang="en-US" altLang="zh-CN" sz="3200" baseline="-25000" smtClean="0"/>
              <a:t>2</a:t>
            </a:r>
            <a:r>
              <a:rPr lang="en-US" altLang="zh-CN" sz="3200" smtClean="0"/>
              <a:t>, …,</a:t>
            </a:r>
            <a:r>
              <a:rPr lang="en-US" altLang="zh-CN" sz="3200" i="1" smtClean="0"/>
              <a:t>x</a:t>
            </a:r>
            <a:r>
              <a:rPr lang="en-US" altLang="zh-CN" sz="3200" baseline="-25000" smtClean="0"/>
              <a:t>n</a:t>
            </a:r>
            <a:r>
              <a:rPr lang="zh-CN" altLang="en-US" sz="3200" smtClean="0"/>
              <a:t>有关,可以记为</a:t>
            </a:r>
            <a:r>
              <a:rPr lang="en-US" altLang="zh-CN" sz="3200" i="1" smtClean="0"/>
              <a:t>y</a:t>
            </a:r>
            <a:r>
              <a:rPr lang="en-US" altLang="zh-CN" sz="3200" smtClean="0"/>
              <a:t>=</a:t>
            </a:r>
            <a:r>
              <a:rPr lang="en-US" altLang="zh-CN" sz="3200" i="1" smtClean="0"/>
              <a:t>f</a:t>
            </a:r>
            <a:r>
              <a:rPr lang="en-US" altLang="zh-CN" sz="3200" smtClean="0"/>
              <a:t>(</a:t>
            </a:r>
            <a:r>
              <a:rPr lang="en-US" altLang="zh-CN" sz="3200" i="1" smtClean="0"/>
              <a:t>x</a:t>
            </a:r>
            <a:r>
              <a:rPr lang="en-US" altLang="zh-CN" sz="3200" baseline="-25000" smtClean="0"/>
              <a:t>1</a:t>
            </a:r>
            <a:r>
              <a:rPr lang="en-US" altLang="zh-CN" sz="3200" smtClean="0"/>
              <a:t>,</a:t>
            </a:r>
            <a:r>
              <a:rPr lang="en-US" altLang="zh-CN" sz="3200" i="1" smtClean="0"/>
              <a:t>x</a:t>
            </a:r>
            <a:r>
              <a:rPr lang="en-US" altLang="zh-CN" sz="3200" baseline="-25000" smtClean="0"/>
              <a:t>2</a:t>
            </a:r>
            <a:r>
              <a:rPr lang="en-US" altLang="zh-CN" sz="3200" smtClean="0"/>
              <a:t>,…,</a:t>
            </a:r>
            <a:r>
              <a:rPr lang="en-US" altLang="zh-CN" sz="3200" i="1" smtClean="0"/>
              <a:t>x</a:t>
            </a:r>
            <a:r>
              <a:rPr lang="en-US" altLang="zh-CN" sz="3200" baseline="-25000" smtClean="0"/>
              <a:t>n</a:t>
            </a:r>
            <a:r>
              <a:rPr lang="en-US" altLang="zh-CN" sz="3200" smtClean="0"/>
              <a:t>)</a:t>
            </a:r>
          </a:p>
          <a:p>
            <a:r>
              <a:rPr lang="zh-CN" altLang="en-US" sz="3200" smtClean="0"/>
              <a:t>假定</a:t>
            </a:r>
            <a:r>
              <a:rPr lang="en-US" altLang="zh-CN" sz="3200" i="1" smtClean="0"/>
              <a:t>f </a:t>
            </a:r>
            <a:r>
              <a:rPr lang="zh-CN" altLang="en-US" sz="3200" smtClean="0"/>
              <a:t>在点(</a:t>
            </a:r>
            <a:r>
              <a:rPr lang="en-US" altLang="zh-CN" sz="3200" i="1" smtClean="0"/>
              <a:t>x</a:t>
            </a:r>
            <a:r>
              <a:rPr lang="en-US" altLang="zh-CN" sz="3200" baseline="-25000" smtClean="0"/>
              <a:t>1</a:t>
            </a:r>
            <a:r>
              <a:rPr lang="en-US" altLang="zh-CN" sz="3200" smtClean="0"/>
              <a:t>,</a:t>
            </a:r>
            <a:r>
              <a:rPr lang="en-US" altLang="zh-CN" sz="3200" i="1" smtClean="0"/>
              <a:t>x</a:t>
            </a:r>
            <a:r>
              <a:rPr lang="en-US" altLang="zh-CN" sz="3200" baseline="-25000" smtClean="0"/>
              <a:t>2</a:t>
            </a:r>
            <a:r>
              <a:rPr lang="en-US" altLang="zh-CN" sz="3200" smtClean="0"/>
              <a:t>,…,</a:t>
            </a:r>
            <a:r>
              <a:rPr lang="en-US" altLang="zh-CN" sz="3200" i="1" smtClean="0"/>
              <a:t>x</a:t>
            </a:r>
            <a:r>
              <a:rPr lang="en-US" altLang="zh-CN" sz="3200" baseline="-25000" smtClean="0"/>
              <a:t>n </a:t>
            </a:r>
            <a:r>
              <a:rPr lang="zh-CN" altLang="en-US" sz="3200" smtClean="0"/>
              <a:t>)可微，则当数据误差较小时，解的误差限可估计如下：</a:t>
            </a:r>
          </a:p>
        </p:txBody>
      </p:sp>
      <p:graphicFrame>
        <p:nvGraphicFramePr>
          <p:cNvPr id="865284" name="Object 4" descr="再生纸"/>
          <p:cNvGraphicFramePr>
            <a:graphicFrameLocks noChangeAspect="1"/>
          </p:cNvGraphicFramePr>
          <p:nvPr/>
        </p:nvGraphicFramePr>
        <p:xfrm>
          <a:off x="1619250" y="4648200"/>
          <a:ext cx="7315200" cy="1739900"/>
        </p:xfrm>
        <a:graphic>
          <a:graphicData uri="http://schemas.openxmlformats.org/presentationml/2006/ole">
            <mc:AlternateContent xmlns:mc="http://schemas.openxmlformats.org/markup-compatibility/2006">
              <mc:Choice xmlns:v="urn:schemas-microsoft-com:vml" Requires="v">
                <p:oleObj spid="_x0000_s32823" name="Equation" r:id="rId4" imgW="1927810" imgH="670515" progId="Equation.3">
                  <p:embed/>
                </p:oleObj>
              </mc:Choice>
              <mc:Fallback>
                <p:oleObj name="Equation" r:id="rId4" imgW="1927810" imgH="670515" progId="Equation.3">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4648200"/>
                        <a:ext cx="7315200" cy="17399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5285" name="Object 5" descr="再生纸"/>
          <p:cNvGraphicFramePr>
            <a:graphicFrameLocks noChangeAspect="1"/>
          </p:cNvGraphicFramePr>
          <p:nvPr/>
        </p:nvGraphicFramePr>
        <p:xfrm>
          <a:off x="1582738" y="3124200"/>
          <a:ext cx="7388225" cy="1524000"/>
        </p:xfrm>
        <a:graphic>
          <a:graphicData uri="http://schemas.openxmlformats.org/presentationml/2006/ole">
            <mc:AlternateContent xmlns:mc="http://schemas.openxmlformats.org/markup-compatibility/2006">
              <mc:Choice xmlns:v="urn:schemas-microsoft-com:vml" Requires="v">
                <p:oleObj spid="_x0000_s32824" name="Equation" r:id="rId7" imgW="2461213" imgH="647625" progId="Equation.3">
                  <p:embed/>
                </p:oleObj>
              </mc:Choice>
              <mc:Fallback>
                <p:oleObj name="Equation" r:id="rId7" imgW="2461213" imgH="647625" progId="Equation.3">
                  <p:embed/>
                  <p:pic>
                    <p:nvPicPr>
                      <p:cNvPr id="0" name="Object 5" descr="再生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2738" y="3124200"/>
                        <a:ext cx="7388225" cy="15240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
          <p:cNvGrpSpPr>
            <a:grpSpLocks/>
          </p:cNvGrpSpPr>
          <p:nvPr/>
        </p:nvGrpSpPr>
        <p:grpSpPr bwMode="auto">
          <a:xfrm>
            <a:off x="6473825" y="3859213"/>
            <a:ext cx="2517775" cy="1779587"/>
            <a:chOff x="3719" y="1515"/>
            <a:chExt cx="1464" cy="981"/>
          </a:xfrm>
        </p:grpSpPr>
        <p:sp>
          <p:nvSpPr>
            <p:cNvPr id="32777" name="Rectangle 7"/>
            <p:cNvSpPr>
              <a:spLocks noChangeArrowheads="1"/>
            </p:cNvSpPr>
            <p:nvPr/>
          </p:nvSpPr>
          <p:spPr bwMode="auto">
            <a:xfrm>
              <a:off x="3719" y="1996"/>
              <a:ext cx="793" cy="500"/>
            </a:xfrm>
            <a:prstGeom prst="rect">
              <a:avLst/>
            </a:prstGeom>
            <a:noFill/>
            <a:ln w="412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32778" name="AutoShape 8"/>
            <p:cNvSpPr>
              <a:spLocks noChangeArrowheads="1"/>
            </p:cNvSpPr>
            <p:nvPr/>
          </p:nvSpPr>
          <p:spPr bwMode="auto">
            <a:xfrm>
              <a:off x="4536" y="1515"/>
              <a:ext cx="647" cy="384"/>
            </a:xfrm>
            <a:prstGeom prst="wedgeEllipseCallout">
              <a:avLst>
                <a:gd name="adj1" fmla="val -53236"/>
                <a:gd name="adj2" fmla="val 70046"/>
              </a:avLst>
            </a:prstGeom>
            <a:solidFill>
              <a:srgbClr val="FF0000"/>
            </a:solidFill>
            <a:ln>
              <a:noFill/>
            </a:ln>
            <a:extLst>
              <a:ext uri="{91240B29-F687-4F45-9708-019B960494DF}">
                <a14:hiddenLine xmlns:a14="http://schemas.microsoft.com/office/drawing/2010/main" w="41275">
                  <a:solidFill>
                    <a:srgbClr val="000000"/>
                  </a:solidFill>
                  <a:miter lim="800000"/>
                  <a:headEnd/>
                  <a:tailEnd/>
                </a14:hiddenLine>
              </a:ext>
            </a:extLst>
          </p:spPr>
          <p:txBody>
            <a:bodyPr anchor="ctr">
              <a:spAutoFit/>
            </a:bodyPr>
            <a:lstStyle/>
            <a:p>
              <a:pPr>
                <a:spcBef>
                  <a:spcPct val="50000"/>
                </a:spcBef>
              </a:pPr>
              <a:r>
                <a:rPr lang="en-US" altLang="zh-CN" sz="2800" i="0">
                  <a:latin typeface="Times New Roman" pitchFamily="18" charset="0"/>
                </a:rPr>
                <a:t>A</a:t>
              </a:r>
              <a:r>
                <a:rPr lang="en-US" altLang="zh-CN" sz="2800" baseline="-25000">
                  <a:latin typeface="Times New Roman" pitchFamily="18" charset="0"/>
                </a:rPr>
                <a:t>i</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65285"/>
                                        </p:tgtEl>
                                        <p:attrNameLst>
                                          <p:attrName>style.visibility</p:attrName>
                                        </p:attrNameLst>
                                      </p:cBhvr>
                                      <p:to>
                                        <p:strVal val="visible"/>
                                      </p:to>
                                    </p:set>
                                    <p:animEffect transition="in" filter="dissolve">
                                      <p:cBhvr>
                                        <p:cTn id="7" dur="500"/>
                                        <p:tgtEl>
                                          <p:spTgt spid="865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65284"/>
                                        </p:tgtEl>
                                        <p:attrNameLst>
                                          <p:attrName>style.visibility</p:attrName>
                                        </p:attrNameLst>
                                      </p:cBhvr>
                                      <p:to>
                                        <p:strVal val="visible"/>
                                      </p:to>
                                    </p:set>
                                    <p:animEffect transition="in" filter="dissolve">
                                      <p:cBhvr>
                                        <p:cTn id="12" dur="500"/>
                                        <p:tgtEl>
                                          <p:spTgt spid="8652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52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 calcmode="lin" valueType="num">
                                      <p:cBhvr>
                                        <p:cTn id="19" dur="500" fill="hold"/>
                                        <p:tgtEl>
                                          <p:spTgt spid="2"/>
                                        </p:tgtEl>
                                        <p:attrNameLst>
                                          <p:attrName>ppt_x</p:attrName>
                                        </p:attrNameLst>
                                      </p:cBhvr>
                                      <p:tavLst>
                                        <p:tav tm="0">
                                          <p:val>
                                            <p:fltVal val="0.5"/>
                                          </p:val>
                                        </p:tav>
                                        <p:tav tm="100000">
                                          <p:val>
                                            <p:strVal val="#ppt_x"/>
                                          </p:val>
                                        </p:tav>
                                      </p:tavLst>
                                    </p:anim>
                                    <p:anim calcmode="lin" valueType="num">
                                      <p:cBhvr>
                                        <p:cTn id="20" dur="500" fill="hold"/>
                                        <p:tgtEl>
                                          <p:spTgt spid="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BF2BD39-AD7D-4197-A040-4B875A67F26C}" type="slidenum">
              <a:rPr lang="zh-CN" altLang="en-US" i="0" smtClean="0"/>
              <a:pPr/>
              <a:t>35</a:t>
            </a:fld>
            <a:endParaRPr lang="en-US" altLang="zh-CN" i="0" smtClean="0"/>
          </a:p>
        </p:txBody>
      </p:sp>
      <p:sp>
        <p:nvSpPr>
          <p:cNvPr id="3379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70A3E9F-3CD3-4965-8163-37818FB76C38}" type="datetime1">
              <a:rPr lang="zh-CN" altLang="en-US" sz="1800" i="0" smtClean="0"/>
              <a:pPr/>
              <a:t>2024/9/8</a:t>
            </a:fld>
            <a:endParaRPr lang="en-US" altLang="zh-CN" sz="1000" i="0" smtClean="0"/>
          </a:p>
        </p:txBody>
      </p:sp>
      <p:sp>
        <p:nvSpPr>
          <p:cNvPr id="33796" name="Rectangle 3"/>
          <p:cNvSpPr>
            <a:spLocks noGrp="1" noChangeArrowheads="1"/>
          </p:cNvSpPr>
          <p:nvPr>
            <p:ph type="body" idx="1"/>
          </p:nvPr>
        </p:nvSpPr>
        <p:spPr>
          <a:xfrm>
            <a:off x="650875" y="1143000"/>
            <a:ext cx="8820150" cy="384175"/>
          </a:xfrm>
        </p:spPr>
        <p:txBody>
          <a:bodyPr/>
          <a:lstStyle/>
          <a:p>
            <a:r>
              <a:rPr lang="zh-CN" altLang="en-US" smtClean="0"/>
              <a:t>解的相对误差限如下：</a:t>
            </a:r>
          </a:p>
        </p:txBody>
      </p:sp>
      <p:graphicFrame>
        <p:nvGraphicFramePr>
          <p:cNvPr id="778244" name="Object 4" descr="再生纸"/>
          <p:cNvGraphicFramePr>
            <a:graphicFrameLocks noChangeAspect="1"/>
          </p:cNvGraphicFramePr>
          <p:nvPr/>
        </p:nvGraphicFramePr>
        <p:xfrm>
          <a:off x="1600200" y="1447800"/>
          <a:ext cx="7472363" cy="2286000"/>
        </p:xfrm>
        <a:graphic>
          <a:graphicData uri="http://schemas.openxmlformats.org/presentationml/2006/ole">
            <mc:AlternateContent xmlns:mc="http://schemas.openxmlformats.org/markup-compatibility/2006">
              <mc:Choice xmlns:v="urn:schemas-microsoft-com:vml" Requires="v">
                <p:oleObj spid="_x0000_s33825" name="Equation" r:id="rId4" imgW="2324083" imgH="1074336" progId="Equation.3">
                  <p:embed/>
                </p:oleObj>
              </mc:Choice>
              <mc:Fallback>
                <p:oleObj name="Equation" r:id="rId4" imgW="2324083" imgH="1074336" progId="Equation.3">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447800"/>
                        <a:ext cx="7472363" cy="22860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a:grpSpLocks/>
          </p:cNvGrpSpPr>
          <p:nvPr/>
        </p:nvGrpSpPr>
        <p:grpSpPr bwMode="auto">
          <a:xfrm>
            <a:off x="6438900" y="1295400"/>
            <a:ext cx="2932113" cy="1600200"/>
            <a:chOff x="1488" y="3168"/>
            <a:chExt cx="1705" cy="1008"/>
          </a:xfrm>
        </p:grpSpPr>
        <p:sp>
          <p:nvSpPr>
            <p:cNvPr id="33801" name="Rectangle 6"/>
            <p:cNvSpPr>
              <a:spLocks noChangeArrowheads="1"/>
            </p:cNvSpPr>
            <p:nvPr/>
          </p:nvSpPr>
          <p:spPr bwMode="auto">
            <a:xfrm>
              <a:off x="1488" y="3552"/>
              <a:ext cx="1008" cy="624"/>
            </a:xfrm>
            <a:prstGeom prst="rect">
              <a:avLst/>
            </a:prstGeom>
            <a:noFill/>
            <a:ln w="412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33802" name="AutoShape 7"/>
            <p:cNvSpPr>
              <a:spLocks noChangeArrowheads="1"/>
            </p:cNvSpPr>
            <p:nvPr/>
          </p:nvSpPr>
          <p:spPr bwMode="auto">
            <a:xfrm>
              <a:off x="2544" y="3168"/>
              <a:ext cx="649" cy="439"/>
            </a:xfrm>
            <a:prstGeom prst="wedgeEllipseCallout">
              <a:avLst>
                <a:gd name="adj1" fmla="val -53236"/>
                <a:gd name="adj2" fmla="val 70046"/>
              </a:avLst>
            </a:prstGeom>
            <a:solidFill>
              <a:srgbClr val="FF0000"/>
            </a:solidFill>
            <a:ln>
              <a:noFill/>
            </a:ln>
            <a:extLst>
              <a:ext uri="{91240B29-F687-4F45-9708-019B960494DF}">
                <a14:hiddenLine xmlns:a14="http://schemas.microsoft.com/office/drawing/2010/main" w="41275">
                  <a:solidFill>
                    <a:srgbClr val="000000"/>
                  </a:solidFill>
                  <a:miter lim="800000"/>
                  <a:headEnd/>
                  <a:tailEnd/>
                </a14:hiddenLine>
              </a:ext>
            </a:extLst>
          </p:spPr>
          <p:txBody>
            <a:bodyPr anchor="ctr">
              <a:spAutoFit/>
            </a:bodyPr>
            <a:lstStyle/>
            <a:p>
              <a:pPr>
                <a:spcBef>
                  <a:spcPct val="50000"/>
                </a:spcBef>
              </a:pPr>
              <a:r>
                <a:rPr lang="en-US" altLang="zh-CN" sz="2800" i="0">
                  <a:latin typeface="Times New Roman" pitchFamily="18" charset="0"/>
                </a:rPr>
                <a:t>B</a:t>
              </a:r>
              <a:r>
                <a:rPr lang="en-US" altLang="zh-CN" sz="2800" baseline="-25000">
                  <a:latin typeface="Times New Roman" pitchFamily="18" charset="0"/>
                </a:rPr>
                <a:t>i</a:t>
              </a:r>
            </a:p>
          </p:txBody>
        </p:sp>
      </p:grpSp>
      <p:sp>
        <p:nvSpPr>
          <p:cNvPr id="778248" name="Rectangle 8"/>
          <p:cNvSpPr>
            <a:spLocks noChangeArrowheads="1"/>
          </p:cNvSpPr>
          <p:nvPr/>
        </p:nvSpPr>
        <p:spPr bwMode="auto">
          <a:xfrm>
            <a:off x="660400" y="3644900"/>
            <a:ext cx="924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533400" indent="-533400" algn="l" defTabSz="814388">
              <a:lnSpc>
                <a:spcPct val="80000"/>
              </a:lnSpc>
              <a:spcBef>
                <a:spcPct val="35000"/>
              </a:spcBef>
              <a:buClr>
                <a:srgbClr val="27305F"/>
              </a:buClr>
              <a:buSzPct val="60000"/>
              <a:buFont typeface="Wingdings" pitchFamily="2" charset="2"/>
              <a:buChar char="n"/>
            </a:pPr>
            <a:r>
              <a:rPr lang="zh-CN" altLang="en-US" sz="2800" i="0">
                <a:solidFill>
                  <a:srgbClr val="FF0000"/>
                </a:solidFill>
                <a:latin typeface="Times New Roman" pitchFamily="18" charset="0"/>
                <a:ea typeface="黑体" pitchFamily="49" charset="-122"/>
              </a:rPr>
              <a:t>仅当</a:t>
            </a:r>
            <a:r>
              <a:rPr lang="zh-CN" altLang="en-US" sz="2800" i="0">
                <a:solidFill>
                  <a:srgbClr val="FF0000"/>
                </a:solidFill>
                <a:latin typeface="Times New Roman" pitchFamily="18" charset="0"/>
                <a:ea typeface="黑体" pitchFamily="49" charset="-122"/>
                <a:sym typeface="Symbol" pitchFamily="18" charset="2"/>
              </a:rPr>
              <a:t></a:t>
            </a:r>
            <a:r>
              <a:rPr lang="en-US" altLang="zh-CN" sz="2800">
                <a:solidFill>
                  <a:srgbClr val="FF0000"/>
                </a:solidFill>
                <a:latin typeface="Times New Roman" pitchFamily="18" charset="0"/>
                <a:ea typeface="黑体" pitchFamily="49" charset="-122"/>
              </a:rPr>
              <a:t>x</a:t>
            </a:r>
            <a:r>
              <a:rPr lang="en-US" altLang="zh-CN" sz="2800" i="0" baseline="-25000">
                <a:solidFill>
                  <a:srgbClr val="FF0000"/>
                </a:solidFill>
                <a:latin typeface="Times New Roman" pitchFamily="18" charset="0"/>
                <a:ea typeface="黑体" pitchFamily="49" charset="-122"/>
              </a:rPr>
              <a:t>i</a:t>
            </a:r>
            <a:r>
              <a:rPr lang="zh-CN" altLang="en-US" sz="2800" i="0">
                <a:solidFill>
                  <a:srgbClr val="FF0000"/>
                </a:solidFill>
                <a:latin typeface="Times New Roman" pitchFamily="18" charset="0"/>
                <a:ea typeface="黑体" pitchFamily="49" charset="-122"/>
              </a:rPr>
              <a:t>较小时该公式才适用</a:t>
            </a:r>
            <a:r>
              <a:rPr lang="zh-CN" altLang="en-US" sz="2800" i="0">
                <a:latin typeface="Times New Roman" pitchFamily="18" charset="0"/>
                <a:ea typeface="黑体" pitchFamily="49" charset="-122"/>
              </a:rPr>
              <a:t>, 理由如下：</a:t>
            </a:r>
            <a:endParaRPr lang="en-US" altLang="zh-CN" sz="2800" i="0">
              <a:latin typeface="Times New Roman" pitchFamily="18" charset="0"/>
              <a:ea typeface="黑体" pitchFamily="49" charset="-122"/>
            </a:endParaRPr>
          </a:p>
          <a:p>
            <a:pPr marL="920750" lvl="1" indent="-533400" algn="l" defTabSz="814388">
              <a:lnSpc>
                <a:spcPct val="80000"/>
              </a:lnSpc>
              <a:spcBef>
                <a:spcPct val="35000"/>
              </a:spcBef>
              <a:buClr>
                <a:srgbClr val="27305F"/>
              </a:buClr>
            </a:pPr>
            <a:r>
              <a:rPr lang="en-US" altLang="zh-CN" sz="2800" i="0">
                <a:latin typeface="Times New Roman" pitchFamily="18" charset="0"/>
                <a:ea typeface="黑体" pitchFamily="49" charset="-122"/>
              </a:rPr>
              <a:t>(1)</a:t>
            </a:r>
            <a:r>
              <a:rPr lang="en-US" altLang="zh-CN" sz="2800">
                <a:latin typeface="Times New Roman" pitchFamily="18" charset="0"/>
                <a:ea typeface="黑体" pitchFamily="49" charset="-122"/>
              </a:rPr>
              <a:t> d f </a:t>
            </a:r>
            <a:r>
              <a:rPr lang="zh-CN" altLang="en-US" sz="2800" i="0">
                <a:latin typeface="Times New Roman" pitchFamily="18" charset="0"/>
                <a:ea typeface="黑体" pitchFamily="49" charset="-122"/>
              </a:rPr>
              <a:t>或</a:t>
            </a:r>
            <a:r>
              <a:rPr lang="en-US" altLang="zh-CN" sz="2800" b="0" i="0">
                <a:latin typeface="Times New Roman" pitchFamily="18" charset="0"/>
                <a:ea typeface="黑体" pitchFamily="49" charset="-122"/>
              </a:rPr>
              <a:t>δ</a:t>
            </a:r>
            <a:r>
              <a:rPr lang="en-US" altLang="zh-CN" sz="2800">
                <a:latin typeface="Times New Roman" pitchFamily="18" charset="0"/>
                <a:ea typeface="黑体" pitchFamily="49" charset="-122"/>
              </a:rPr>
              <a:t>f  </a:t>
            </a:r>
            <a:r>
              <a:rPr lang="zh-CN" altLang="en-US" sz="2800" i="0">
                <a:latin typeface="Times New Roman" pitchFamily="18" charset="0"/>
                <a:ea typeface="黑体" pitchFamily="49" charset="-122"/>
              </a:rPr>
              <a:t>是按照</a:t>
            </a:r>
            <a:r>
              <a:rPr lang="en-US" altLang="zh-CN" sz="2800" i="0">
                <a:latin typeface="Times New Roman" pitchFamily="18" charset="0"/>
                <a:ea typeface="黑体" pitchFamily="49" charset="-122"/>
              </a:rPr>
              <a:t>Δ</a:t>
            </a:r>
            <a:r>
              <a:rPr lang="en-US" altLang="zh-CN" sz="2800">
                <a:latin typeface="Times New Roman" pitchFamily="18" charset="0"/>
                <a:ea typeface="黑体" pitchFamily="49" charset="-122"/>
              </a:rPr>
              <a:t>x</a:t>
            </a:r>
            <a:r>
              <a:rPr lang="en-US" altLang="zh-CN" sz="2800" i="0" baseline="-25000">
                <a:latin typeface="Times New Roman" pitchFamily="18" charset="0"/>
                <a:ea typeface="黑体" pitchFamily="49" charset="-122"/>
              </a:rPr>
              <a:t>i</a:t>
            </a:r>
            <a:r>
              <a:rPr lang="zh-CN" altLang="en-US" sz="2800" i="0">
                <a:latin typeface="Times New Roman" pitchFamily="18" charset="0"/>
                <a:ea typeface="黑体" pitchFamily="49" charset="-122"/>
              </a:rPr>
              <a:t>的线性迭加进行估计的，</a:t>
            </a:r>
          </a:p>
          <a:p>
            <a:pPr marL="920750" lvl="1" indent="-533400" algn="l" defTabSz="814388">
              <a:lnSpc>
                <a:spcPct val="80000"/>
              </a:lnSpc>
              <a:spcBef>
                <a:spcPct val="35000"/>
              </a:spcBef>
              <a:buClr>
                <a:srgbClr val="27305F"/>
              </a:buClr>
            </a:pPr>
            <a:r>
              <a:rPr lang="zh-CN" altLang="en-US" sz="2800" i="0">
                <a:latin typeface="Times New Roman" pitchFamily="18" charset="0"/>
                <a:ea typeface="黑体" pitchFamily="49" charset="-122"/>
              </a:rPr>
              <a:t>     而实际是非线性变化</a:t>
            </a:r>
          </a:p>
          <a:p>
            <a:pPr marL="920750" lvl="1" indent="-533400" algn="l" defTabSz="814388">
              <a:lnSpc>
                <a:spcPct val="80000"/>
              </a:lnSpc>
              <a:spcBef>
                <a:spcPct val="35000"/>
              </a:spcBef>
              <a:buClr>
                <a:srgbClr val="27305F"/>
              </a:buClr>
            </a:pPr>
            <a:r>
              <a:rPr lang="zh-CN" altLang="zh-CN" sz="2800" i="0">
                <a:latin typeface="Times New Roman" pitchFamily="18" charset="0"/>
                <a:ea typeface="黑体" pitchFamily="49" charset="-122"/>
              </a:rPr>
              <a:t>(2) </a:t>
            </a:r>
            <a:r>
              <a:rPr lang="en-US" altLang="zh-CN" sz="2800">
                <a:latin typeface="Times New Roman" pitchFamily="18" charset="0"/>
                <a:ea typeface="黑体" pitchFamily="49" charset="-122"/>
              </a:rPr>
              <a:t>d f</a:t>
            </a:r>
            <a:r>
              <a:rPr lang="en-US" altLang="zh-CN" sz="2800" i="0">
                <a:latin typeface="Times New Roman" pitchFamily="18" charset="0"/>
                <a:ea typeface="黑体" pitchFamily="49" charset="-122"/>
              </a:rPr>
              <a:t> </a:t>
            </a:r>
            <a:r>
              <a:rPr lang="zh-CN" altLang="en-US" sz="2800" i="0">
                <a:latin typeface="Times New Roman" pitchFamily="18" charset="0"/>
                <a:ea typeface="黑体" pitchFamily="49" charset="-122"/>
              </a:rPr>
              <a:t>或</a:t>
            </a:r>
            <a:r>
              <a:rPr lang="en-US" altLang="zh-CN" sz="2800" b="0" i="0">
                <a:latin typeface="Times New Roman" pitchFamily="18" charset="0"/>
                <a:ea typeface="黑体" pitchFamily="49" charset="-122"/>
              </a:rPr>
              <a:t>δ</a:t>
            </a:r>
            <a:r>
              <a:rPr lang="en-US" altLang="zh-CN" sz="2800">
                <a:latin typeface="Times New Roman" pitchFamily="18" charset="0"/>
                <a:ea typeface="黑体" pitchFamily="49" charset="-122"/>
              </a:rPr>
              <a:t>f</a:t>
            </a:r>
            <a:r>
              <a:rPr lang="zh-CN" altLang="en-US" sz="2800" i="0">
                <a:latin typeface="Times New Roman" pitchFamily="18" charset="0"/>
                <a:ea typeface="黑体" pitchFamily="49" charset="-122"/>
              </a:rPr>
              <a:t>是按照</a:t>
            </a:r>
            <a:r>
              <a:rPr lang="en-US" altLang="zh-CN" sz="2800" i="0">
                <a:latin typeface="Times New Roman" pitchFamily="18" charset="0"/>
                <a:ea typeface="黑体" pitchFamily="49" charset="-122"/>
              </a:rPr>
              <a:t>Δ</a:t>
            </a:r>
            <a:r>
              <a:rPr lang="en-US" altLang="zh-CN" sz="2800">
                <a:latin typeface="Times New Roman" pitchFamily="18" charset="0"/>
                <a:ea typeface="黑体" pitchFamily="49" charset="-122"/>
              </a:rPr>
              <a:t>x</a:t>
            </a:r>
            <a:r>
              <a:rPr lang="en-US" altLang="zh-CN" sz="2800" baseline="-25000">
                <a:latin typeface="Times New Roman" pitchFamily="18" charset="0"/>
                <a:ea typeface="黑体" pitchFamily="49" charset="-122"/>
              </a:rPr>
              <a:t>i</a:t>
            </a:r>
            <a:r>
              <a:rPr lang="zh-CN" altLang="en-US" sz="2800" i="0">
                <a:latin typeface="Times New Roman" pitchFamily="18" charset="0"/>
                <a:ea typeface="黑体" pitchFamily="49" charset="-122"/>
              </a:rPr>
              <a:t>的独立性影响进行累计的，</a:t>
            </a:r>
          </a:p>
          <a:p>
            <a:pPr marL="920750" lvl="1" indent="-533400" algn="l" defTabSz="814388">
              <a:lnSpc>
                <a:spcPct val="80000"/>
              </a:lnSpc>
              <a:spcBef>
                <a:spcPct val="35000"/>
              </a:spcBef>
              <a:buClr>
                <a:srgbClr val="27305F"/>
              </a:buClr>
            </a:pPr>
            <a:r>
              <a:rPr lang="zh-CN" altLang="en-US" sz="2800" i="0">
                <a:latin typeface="Times New Roman" pitchFamily="18" charset="0"/>
                <a:ea typeface="黑体" pitchFamily="49" charset="-122"/>
              </a:rPr>
              <a:t>     实际是关联性影响的综合累计的误差</a:t>
            </a:r>
          </a:p>
          <a:p>
            <a:pPr marL="533400" indent="-533400" algn="l" defTabSz="814388">
              <a:lnSpc>
                <a:spcPct val="80000"/>
              </a:lnSpc>
              <a:spcBef>
                <a:spcPct val="35000"/>
              </a:spcBef>
              <a:buClr>
                <a:srgbClr val="27305F"/>
              </a:buClr>
              <a:buSzPct val="60000"/>
            </a:pPr>
            <a:r>
              <a:rPr lang="zh-CN" altLang="en-US" sz="2800" i="0">
                <a:solidFill>
                  <a:srgbClr val="FF3300"/>
                </a:solidFill>
                <a:latin typeface="Times New Roman" pitchFamily="18" charset="0"/>
                <a:ea typeface="黑体" pitchFamily="49" charset="-122"/>
              </a:rPr>
              <a:t>系数</a:t>
            </a:r>
            <a:r>
              <a:rPr lang="en-US" altLang="zh-CN" sz="2800" i="0">
                <a:solidFill>
                  <a:srgbClr val="FF3300"/>
                </a:solidFill>
                <a:latin typeface="Times New Roman" pitchFamily="18" charset="0"/>
                <a:ea typeface="黑体" pitchFamily="49" charset="-122"/>
              </a:rPr>
              <a:t>A</a:t>
            </a:r>
            <a:r>
              <a:rPr lang="en-US" altLang="zh-CN" sz="2800" baseline="-25000">
                <a:solidFill>
                  <a:srgbClr val="FF3300"/>
                </a:solidFill>
                <a:latin typeface="Times New Roman" pitchFamily="18" charset="0"/>
                <a:ea typeface="黑体" pitchFamily="49" charset="-122"/>
              </a:rPr>
              <a:t>i</a:t>
            </a:r>
            <a:r>
              <a:rPr lang="en-US" altLang="zh-CN" sz="2800" i="0">
                <a:solidFill>
                  <a:srgbClr val="FF3300"/>
                </a:solidFill>
                <a:latin typeface="Times New Roman" pitchFamily="18" charset="0"/>
                <a:ea typeface="黑体" pitchFamily="49" charset="-122"/>
              </a:rPr>
              <a:t>、B</a:t>
            </a:r>
            <a:r>
              <a:rPr lang="en-US" altLang="zh-CN" sz="2800" baseline="-25000">
                <a:solidFill>
                  <a:srgbClr val="FF3300"/>
                </a:solidFill>
                <a:latin typeface="Times New Roman" pitchFamily="18" charset="0"/>
                <a:ea typeface="黑体" pitchFamily="49" charset="-122"/>
              </a:rPr>
              <a:t>i</a:t>
            </a:r>
            <a:r>
              <a:rPr lang="zh-CN" altLang="en-US" sz="2800" i="0">
                <a:solidFill>
                  <a:srgbClr val="FF3300"/>
                </a:solidFill>
                <a:latin typeface="Times New Roman" pitchFamily="18" charset="0"/>
                <a:ea typeface="黑体" pitchFamily="49" charset="-122"/>
              </a:rPr>
              <a:t>的大小可以衡量解对数据误差的敏感程度</a:t>
            </a:r>
          </a:p>
        </p:txBody>
      </p:sp>
      <p:sp>
        <p:nvSpPr>
          <p:cNvPr id="778250" name="Rectangle 10"/>
          <p:cNvSpPr>
            <a:spLocks noGrp="1" noChangeArrowheads="1"/>
          </p:cNvSpPr>
          <p:nvPr>
            <p:ph type="title"/>
          </p:nvPr>
        </p:nvSpPr>
        <p:spPr>
          <a:xfrm>
            <a:off x="650875" y="179388"/>
            <a:ext cx="8820150" cy="658812"/>
          </a:xfrm>
        </p:spPr>
        <p:txBody>
          <a:bodyPr/>
          <a:lstStyle/>
          <a:p>
            <a:pPr>
              <a:defRPr/>
            </a:pPr>
            <a:r>
              <a:rPr lang="zh-CN" altLang="en-US" smtClean="0"/>
              <a:t>3.5 数学问题解的误差估计</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78244"/>
                                        </p:tgtEl>
                                        <p:attrNameLst>
                                          <p:attrName>style.visibility</p:attrName>
                                        </p:attrNameLst>
                                      </p:cBhvr>
                                      <p:to>
                                        <p:strVal val="visible"/>
                                      </p:to>
                                    </p:set>
                                    <p:animEffect transition="in" filter="dissolve">
                                      <p:cBhvr>
                                        <p:cTn id="7" dur="500"/>
                                        <p:tgtEl>
                                          <p:spTgt spid="778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 calcmode="lin" valueType="num">
                                      <p:cBhvr>
                                        <p:cTn id="14" dur="500" fill="hold"/>
                                        <p:tgtEl>
                                          <p:spTgt spid="2"/>
                                        </p:tgtEl>
                                        <p:attrNameLst>
                                          <p:attrName>ppt_x</p:attrName>
                                        </p:attrNameLst>
                                      </p:cBhvr>
                                      <p:tavLst>
                                        <p:tav tm="0">
                                          <p:val>
                                            <p:fltVal val="0.5"/>
                                          </p:val>
                                        </p:tav>
                                        <p:tav tm="100000">
                                          <p:val>
                                            <p:strVal val="#ppt_x"/>
                                          </p:val>
                                        </p:tav>
                                      </p:tavLst>
                                    </p:anim>
                                    <p:anim calcmode="lin" valueType="num">
                                      <p:cBhvr>
                                        <p:cTn id="15" dur="500" fill="hold"/>
                                        <p:tgtEl>
                                          <p:spTgt spid="2"/>
                                        </p:tgtEl>
                                        <p:attrNameLst>
                                          <p:attrName>ppt_y</p:attrName>
                                        </p:attrNameLst>
                                      </p:cBhvr>
                                      <p:tavLst>
                                        <p:tav tm="0">
                                          <p:val>
                                            <p:fltVal val="0.5"/>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iterate type="lt">
                                    <p:tmPct val="100000"/>
                                  </p:iterate>
                                  <p:childTnLst>
                                    <p:set>
                                      <p:cBhvr>
                                        <p:cTn id="19" dur="1" fill="hold">
                                          <p:stCondLst>
                                            <p:cond delay="0"/>
                                          </p:stCondLst>
                                        </p:cTn>
                                        <p:tgtEl>
                                          <p:spTgt spid="778248"/>
                                        </p:tgtEl>
                                        <p:attrNameLst>
                                          <p:attrName>style.visibility</p:attrName>
                                        </p:attrNameLst>
                                      </p:cBhvr>
                                      <p:to>
                                        <p:strVal val="visible"/>
                                      </p:to>
                                    </p:set>
                                    <p:anim calcmode="lin" valueType="num">
                                      <p:cBhvr>
                                        <p:cTn id="20" dur="75" fill="hold"/>
                                        <p:tgtEl>
                                          <p:spTgt spid="778248"/>
                                        </p:tgtEl>
                                        <p:attrNameLst>
                                          <p:attrName>ppt_x</p:attrName>
                                        </p:attrNameLst>
                                      </p:cBhvr>
                                      <p:tavLst>
                                        <p:tav tm="0">
                                          <p:val>
                                            <p:strVal val="#ppt_x-#ppt_w/2"/>
                                          </p:val>
                                        </p:tav>
                                        <p:tav tm="100000">
                                          <p:val>
                                            <p:strVal val="#ppt_x"/>
                                          </p:val>
                                        </p:tav>
                                      </p:tavLst>
                                    </p:anim>
                                    <p:anim calcmode="lin" valueType="num">
                                      <p:cBhvr>
                                        <p:cTn id="21" dur="75" fill="hold"/>
                                        <p:tgtEl>
                                          <p:spTgt spid="778248"/>
                                        </p:tgtEl>
                                        <p:attrNameLst>
                                          <p:attrName>ppt_y</p:attrName>
                                        </p:attrNameLst>
                                      </p:cBhvr>
                                      <p:tavLst>
                                        <p:tav tm="0">
                                          <p:val>
                                            <p:strVal val="#ppt_y"/>
                                          </p:val>
                                        </p:tav>
                                        <p:tav tm="100000">
                                          <p:val>
                                            <p:strVal val="#ppt_y"/>
                                          </p:val>
                                        </p:tav>
                                      </p:tavLst>
                                    </p:anim>
                                    <p:anim calcmode="lin" valueType="num">
                                      <p:cBhvr>
                                        <p:cTn id="22" dur="75" fill="hold"/>
                                        <p:tgtEl>
                                          <p:spTgt spid="778248"/>
                                        </p:tgtEl>
                                        <p:attrNameLst>
                                          <p:attrName>ppt_w</p:attrName>
                                        </p:attrNameLst>
                                      </p:cBhvr>
                                      <p:tavLst>
                                        <p:tav tm="0">
                                          <p:val>
                                            <p:fltVal val="0"/>
                                          </p:val>
                                        </p:tav>
                                        <p:tav tm="100000">
                                          <p:val>
                                            <p:strVal val="#ppt_w"/>
                                          </p:val>
                                        </p:tav>
                                      </p:tavLst>
                                    </p:anim>
                                    <p:anim calcmode="lin" valueType="num">
                                      <p:cBhvr>
                                        <p:cTn id="23" dur="75" fill="hold"/>
                                        <p:tgtEl>
                                          <p:spTgt spid="7782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48" grpId="0" autoUpdateAnimBg="0" rev="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4E0E81A-4C1D-4046-8AA1-512EF3692810}" type="slidenum">
              <a:rPr lang="zh-CN" altLang="en-US" i="0" smtClean="0"/>
              <a:pPr/>
              <a:t>36</a:t>
            </a:fld>
            <a:endParaRPr lang="en-US" altLang="zh-CN" i="0" smtClean="0"/>
          </a:p>
        </p:txBody>
      </p:sp>
      <p:sp>
        <p:nvSpPr>
          <p:cNvPr id="348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73980F7-DEB4-4FEC-8528-BF6223BE8DC2}" type="datetime1">
              <a:rPr lang="zh-CN" altLang="en-US" sz="1800" i="0" smtClean="0"/>
              <a:pPr/>
              <a:t>2024/9/8</a:t>
            </a:fld>
            <a:endParaRPr lang="en-US" altLang="zh-CN" sz="1000" i="0" smtClean="0"/>
          </a:p>
        </p:txBody>
      </p:sp>
      <p:graphicFrame>
        <p:nvGraphicFramePr>
          <p:cNvPr id="780290" name="Object 2" descr="再生纸"/>
          <p:cNvGraphicFramePr>
            <a:graphicFrameLocks noChangeAspect="1"/>
          </p:cNvGraphicFramePr>
          <p:nvPr/>
        </p:nvGraphicFramePr>
        <p:xfrm>
          <a:off x="1793875" y="5759450"/>
          <a:ext cx="4687888" cy="869950"/>
        </p:xfrm>
        <a:graphic>
          <a:graphicData uri="http://schemas.openxmlformats.org/presentationml/2006/ole">
            <mc:AlternateContent xmlns:mc="http://schemas.openxmlformats.org/markup-compatibility/2006">
              <mc:Choice xmlns:v="urn:schemas-microsoft-com:vml" Requires="v">
                <p:oleObj spid="_x0000_s34960" name="Equation" r:id="rId4" imgW="1645991" imgH="380930" progId="Equation.3">
                  <p:embed/>
                </p:oleObj>
              </mc:Choice>
              <mc:Fallback>
                <p:oleObj name="Equation" r:id="rId4" imgW="1645991" imgH="380930" progId="Equation.3">
                  <p:embed/>
                  <p:pic>
                    <p:nvPicPr>
                      <p:cNvPr id="0" name="Object 2"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75" y="5759450"/>
                        <a:ext cx="4687888" cy="86995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0291" name="Rectangle 3"/>
          <p:cNvSpPr>
            <a:spLocks noGrp="1" noChangeArrowheads="1"/>
          </p:cNvSpPr>
          <p:nvPr>
            <p:ph type="title"/>
          </p:nvPr>
        </p:nvSpPr>
        <p:spPr>
          <a:xfrm>
            <a:off x="838200" y="228600"/>
            <a:ext cx="7842250" cy="658813"/>
          </a:xfrm>
        </p:spPr>
        <p:txBody>
          <a:bodyPr/>
          <a:lstStyle/>
          <a:p>
            <a:pPr>
              <a:defRPr/>
            </a:pPr>
            <a:r>
              <a:rPr lang="zh-CN" altLang="en-US" smtClean="0"/>
              <a:t>3.5  数学问题解的误差估计</a:t>
            </a:r>
          </a:p>
        </p:txBody>
      </p:sp>
      <p:sp>
        <p:nvSpPr>
          <p:cNvPr id="34822" name="Rectangle 4"/>
          <p:cNvSpPr>
            <a:spLocks noGrp="1" noChangeArrowheads="1"/>
          </p:cNvSpPr>
          <p:nvPr>
            <p:ph type="body" idx="1"/>
          </p:nvPr>
        </p:nvSpPr>
        <p:spPr>
          <a:xfrm>
            <a:off x="650875" y="1143000"/>
            <a:ext cx="8820150" cy="768350"/>
          </a:xfrm>
        </p:spPr>
        <p:txBody>
          <a:bodyPr/>
          <a:lstStyle/>
          <a:p>
            <a:r>
              <a:rPr lang="zh-CN" altLang="en-US" smtClean="0">
                <a:latin typeface="宋体" pitchFamily="2" charset="-122"/>
              </a:rPr>
              <a:t>例1.7 已知球体的直径</a:t>
            </a:r>
            <a:r>
              <a:rPr lang="en-US" altLang="zh-CN" smtClean="0">
                <a:latin typeface="宋体" pitchFamily="2" charset="-122"/>
              </a:rPr>
              <a:t>D=3.7cm,</a:t>
            </a:r>
            <a:r>
              <a:rPr lang="zh-CN" altLang="en-US" smtClean="0">
                <a:latin typeface="宋体" pitchFamily="2" charset="-122"/>
              </a:rPr>
              <a:t>按</a:t>
            </a:r>
            <a:r>
              <a:rPr lang="en-US" altLang="zh-CN" smtClean="0">
                <a:latin typeface="宋体" pitchFamily="2" charset="-122"/>
              </a:rPr>
              <a:t>v=</a:t>
            </a:r>
            <a:r>
              <a:rPr lang="en-US" altLang="zh-CN" smtClean="0">
                <a:latin typeface="宋体" pitchFamily="2" charset="-122"/>
                <a:sym typeface="Symbol" pitchFamily="18" charset="2"/>
              </a:rPr>
              <a:t>D</a:t>
            </a:r>
            <a:r>
              <a:rPr lang="en-US" altLang="zh-CN" baseline="30000" smtClean="0">
                <a:latin typeface="宋体" pitchFamily="2" charset="-122"/>
                <a:sym typeface="Symbol" pitchFamily="18" charset="2"/>
              </a:rPr>
              <a:t>3</a:t>
            </a:r>
            <a:r>
              <a:rPr lang="en-US" altLang="zh-CN" smtClean="0">
                <a:latin typeface="宋体" pitchFamily="2" charset="-122"/>
                <a:sym typeface="Symbol" pitchFamily="18" charset="2"/>
              </a:rPr>
              <a:t>/6</a:t>
            </a:r>
            <a:r>
              <a:rPr lang="zh-CN" altLang="en-US" smtClean="0">
                <a:latin typeface="宋体" pitchFamily="2" charset="-122"/>
                <a:sym typeface="Symbol" pitchFamily="18" charset="2"/>
              </a:rPr>
              <a:t>计算体积，求其绝对误差限与相对误差限</a:t>
            </a:r>
            <a:endParaRPr lang="zh-CN" altLang="en-US" smtClean="0"/>
          </a:p>
        </p:txBody>
      </p:sp>
      <p:graphicFrame>
        <p:nvGraphicFramePr>
          <p:cNvPr id="780293" name="Object 5" descr="再生纸"/>
          <p:cNvGraphicFramePr>
            <a:graphicFrameLocks noChangeAspect="1"/>
          </p:cNvGraphicFramePr>
          <p:nvPr/>
        </p:nvGraphicFramePr>
        <p:xfrm>
          <a:off x="1687513" y="3505200"/>
          <a:ext cx="5541962" cy="838200"/>
        </p:xfrm>
        <a:graphic>
          <a:graphicData uri="http://schemas.openxmlformats.org/presentationml/2006/ole">
            <mc:AlternateContent xmlns:mc="http://schemas.openxmlformats.org/markup-compatibility/2006">
              <mc:Choice xmlns:v="urn:schemas-microsoft-com:vml" Requires="v">
                <p:oleObj spid="_x0000_s34961" name="Equation" r:id="rId7" imgW="2232735" imgH="380930" progId="Equation.3">
                  <p:embed/>
                </p:oleObj>
              </mc:Choice>
              <mc:Fallback>
                <p:oleObj name="Equation" r:id="rId7" imgW="2232735" imgH="380930" progId="Equation.3">
                  <p:embed/>
                  <p:pic>
                    <p:nvPicPr>
                      <p:cNvPr id="0" name="Object 5" descr="再生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7513" y="3505200"/>
                        <a:ext cx="5541962" cy="8382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0294" name="Object 6" descr="再生纸"/>
          <p:cNvGraphicFramePr>
            <a:graphicFrameLocks noChangeAspect="1"/>
          </p:cNvGraphicFramePr>
          <p:nvPr/>
        </p:nvGraphicFramePr>
        <p:xfrm>
          <a:off x="1698625" y="4356100"/>
          <a:ext cx="4938713" cy="596900"/>
        </p:xfrm>
        <a:graphic>
          <a:graphicData uri="http://schemas.openxmlformats.org/presentationml/2006/ole">
            <mc:AlternateContent xmlns:mc="http://schemas.openxmlformats.org/markup-compatibility/2006">
              <mc:Choice xmlns:v="urn:schemas-microsoft-com:vml" Requires="v">
                <p:oleObj spid="_x0000_s34962" name="Equation" r:id="rId9" imgW="1737339" imgH="213356" progId="Equation.3">
                  <p:embed/>
                </p:oleObj>
              </mc:Choice>
              <mc:Fallback>
                <p:oleObj name="Equation" r:id="rId9" imgW="1737339" imgH="213356" progId="Equation.3">
                  <p:embed/>
                  <p:pic>
                    <p:nvPicPr>
                      <p:cNvPr id="0" name="Object 6" descr="再生纸"/>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8625" y="4356100"/>
                        <a:ext cx="4938713" cy="5969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0295" name="Object 7" descr="再生纸"/>
          <p:cNvGraphicFramePr>
            <a:graphicFrameLocks noChangeAspect="1"/>
          </p:cNvGraphicFramePr>
          <p:nvPr/>
        </p:nvGraphicFramePr>
        <p:xfrm>
          <a:off x="1592263" y="4905375"/>
          <a:ext cx="6561137" cy="885825"/>
        </p:xfrm>
        <a:graphic>
          <a:graphicData uri="http://schemas.openxmlformats.org/presentationml/2006/ole">
            <mc:AlternateContent xmlns:mc="http://schemas.openxmlformats.org/markup-compatibility/2006">
              <mc:Choice xmlns:v="urn:schemas-microsoft-com:vml" Requires="v">
                <p:oleObj spid="_x0000_s34963" name="Equation" r:id="rId11" imgW="2903268" imgH="380930" progId="Equation.3">
                  <p:embed/>
                </p:oleObj>
              </mc:Choice>
              <mc:Fallback>
                <p:oleObj name="Equation" r:id="rId11" imgW="2903268" imgH="380930" progId="Equation.3">
                  <p:embed/>
                  <p:pic>
                    <p:nvPicPr>
                      <p:cNvPr id="0" name="Object 7" descr="再生纸"/>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92263" y="4905375"/>
                        <a:ext cx="6561137" cy="88582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0296" name="Object 8" descr="再生纸"/>
          <p:cNvGraphicFramePr>
            <a:graphicFrameLocks noChangeAspect="1"/>
          </p:cNvGraphicFramePr>
          <p:nvPr/>
        </p:nvGraphicFramePr>
        <p:xfrm>
          <a:off x="812800" y="1905000"/>
          <a:ext cx="7035800" cy="914400"/>
        </p:xfrm>
        <a:graphic>
          <a:graphicData uri="http://schemas.openxmlformats.org/presentationml/2006/ole">
            <mc:AlternateContent xmlns:mc="http://schemas.openxmlformats.org/markup-compatibility/2006">
              <mc:Choice xmlns:v="urn:schemas-microsoft-com:vml" Requires="v">
                <p:oleObj spid="_x0000_s34964" name="Equation" r:id="rId13" imgW="2895494" imgH="380930" progId="Equation.3">
                  <p:embed/>
                </p:oleObj>
              </mc:Choice>
              <mc:Fallback>
                <p:oleObj name="Equation" r:id="rId13" imgW="2895494" imgH="380930" progId="Equation.3">
                  <p:embed/>
                  <p:pic>
                    <p:nvPicPr>
                      <p:cNvPr id="0" name="Object 8" descr="再生纸"/>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2800" y="1905000"/>
                        <a:ext cx="7035800" cy="9144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0297" name="Object 9" descr="再生纸"/>
          <p:cNvGraphicFramePr>
            <a:graphicFrameLocks noChangeAspect="1"/>
          </p:cNvGraphicFramePr>
          <p:nvPr/>
        </p:nvGraphicFramePr>
        <p:xfrm>
          <a:off x="1371600" y="2590800"/>
          <a:ext cx="4240213" cy="914400"/>
        </p:xfrm>
        <a:graphic>
          <a:graphicData uri="http://schemas.openxmlformats.org/presentationml/2006/ole">
            <mc:AlternateContent xmlns:mc="http://schemas.openxmlformats.org/markup-compatibility/2006">
              <mc:Choice xmlns:v="urn:schemas-microsoft-com:vml" Requires="v">
                <p:oleObj spid="_x0000_s34965" name="Equation" r:id="rId15" imgW="1904919" imgH="380930" progId="Equation.3">
                  <p:embed/>
                </p:oleObj>
              </mc:Choice>
              <mc:Fallback>
                <p:oleObj name="Equation" r:id="rId15" imgW="1904919" imgH="380930" progId="Equation.3">
                  <p:embed/>
                  <p:pic>
                    <p:nvPicPr>
                      <p:cNvPr id="0" name="Object 9" descr="再生纸"/>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2590800"/>
                        <a:ext cx="4240213" cy="9144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80296"/>
                                        </p:tgtEl>
                                        <p:attrNameLst>
                                          <p:attrName>style.visibility</p:attrName>
                                        </p:attrNameLst>
                                      </p:cBhvr>
                                      <p:to>
                                        <p:strVal val="visible"/>
                                      </p:to>
                                    </p:set>
                                    <p:animEffect transition="in" filter="wipe(up)">
                                      <p:cBhvr>
                                        <p:cTn id="7" dur="500"/>
                                        <p:tgtEl>
                                          <p:spTgt spid="7802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80297"/>
                                        </p:tgtEl>
                                        <p:attrNameLst>
                                          <p:attrName>style.visibility</p:attrName>
                                        </p:attrNameLst>
                                      </p:cBhvr>
                                      <p:to>
                                        <p:strVal val="visible"/>
                                      </p:to>
                                    </p:set>
                                    <p:animEffect transition="in" filter="wipe(up)">
                                      <p:cBhvr>
                                        <p:cTn id="12" dur="500"/>
                                        <p:tgtEl>
                                          <p:spTgt spid="7802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80293"/>
                                        </p:tgtEl>
                                        <p:attrNameLst>
                                          <p:attrName>style.visibility</p:attrName>
                                        </p:attrNameLst>
                                      </p:cBhvr>
                                      <p:to>
                                        <p:strVal val="visible"/>
                                      </p:to>
                                    </p:set>
                                    <p:animEffect transition="in" filter="wipe(up)">
                                      <p:cBhvr>
                                        <p:cTn id="17" dur="500"/>
                                        <p:tgtEl>
                                          <p:spTgt spid="7802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80294"/>
                                        </p:tgtEl>
                                        <p:attrNameLst>
                                          <p:attrName>style.visibility</p:attrName>
                                        </p:attrNameLst>
                                      </p:cBhvr>
                                      <p:to>
                                        <p:strVal val="visible"/>
                                      </p:to>
                                    </p:set>
                                    <p:animEffect transition="in" filter="wipe(up)">
                                      <p:cBhvr>
                                        <p:cTn id="22" dur="500"/>
                                        <p:tgtEl>
                                          <p:spTgt spid="7802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80295"/>
                                        </p:tgtEl>
                                        <p:attrNameLst>
                                          <p:attrName>style.visibility</p:attrName>
                                        </p:attrNameLst>
                                      </p:cBhvr>
                                      <p:to>
                                        <p:strVal val="visible"/>
                                      </p:to>
                                    </p:set>
                                    <p:animEffect transition="in" filter="wipe(up)">
                                      <p:cBhvr>
                                        <p:cTn id="27" dur="500"/>
                                        <p:tgtEl>
                                          <p:spTgt spid="780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80290"/>
                                        </p:tgtEl>
                                        <p:attrNameLst>
                                          <p:attrName>style.visibility</p:attrName>
                                        </p:attrNameLst>
                                      </p:cBhvr>
                                      <p:to>
                                        <p:strVal val="visible"/>
                                      </p:to>
                                    </p:set>
                                    <p:animEffect transition="in" filter="wipe(up)">
                                      <p:cBhvr>
                                        <p:cTn id="32" dur="500"/>
                                        <p:tgtEl>
                                          <p:spTgt spid="780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p:cNvSpPr>
            <a:spLocks noGrp="1" noChangeArrowheads="1"/>
          </p:cNvSpPr>
          <p:nvPr>
            <p:ph type="ctrTitle"/>
          </p:nvPr>
        </p:nvSpPr>
        <p:spPr>
          <a:xfrm>
            <a:off x="1096963" y="2136775"/>
            <a:ext cx="7608887" cy="868363"/>
          </a:xfrm>
        </p:spPr>
        <p:txBody>
          <a:bodyPr/>
          <a:lstStyle/>
          <a:p>
            <a:pPr>
              <a:defRPr/>
            </a:pPr>
            <a:r>
              <a:rPr lang="zh-CN" altLang="en-US" sz="6000" smtClean="0"/>
              <a:t>§4  算法举例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B6D49EC-AC83-49E4-8993-C4D99C122536}" type="slidenum">
              <a:rPr lang="zh-CN" altLang="en-US" i="0" smtClean="0"/>
              <a:pPr/>
              <a:t>38</a:t>
            </a:fld>
            <a:endParaRPr lang="en-US" altLang="zh-CN" i="0" smtClean="0"/>
          </a:p>
        </p:txBody>
      </p:sp>
      <p:sp>
        <p:nvSpPr>
          <p:cNvPr id="368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3538854-290F-4D28-9F9C-19647403ED78}" type="datetime1">
              <a:rPr lang="zh-CN" altLang="en-US" sz="1800" i="0" smtClean="0"/>
              <a:pPr/>
              <a:t>2024/9/8</a:t>
            </a:fld>
            <a:endParaRPr lang="en-US" altLang="zh-CN" sz="1000" i="0" smtClean="0"/>
          </a:p>
        </p:txBody>
      </p:sp>
      <p:sp>
        <p:nvSpPr>
          <p:cNvPr id="36868" name="Rectangle 2"/>
          <p:cNvSpPr>
            <a:spLocks noGrp="1" noChangeArrowheads="1"/>
          </p:cNvSpPr>
          <p:nvPr>
            <p:ph type="body" idx="1"/>
          </p:nvPr>
        </p:nvSpPr>
        <p:spPr>
          <a:xfrm>
            <a:off x="412750" y="1187450"/>
            <a:ext cx="9493250" cy="384175"/>
          </a:xfrm>
        </p:spPr>
        <p:txBody>
          <a:bodyPr/>
          <a:lstStyle/>
          <a:p>
            <a:pPr>
              <a:buFont typeface="Wingdings" pitchFamily="2" charset="2"/>
              <a:buNone/>
            </a:pPr>
            <a:r>
              <a:rPr lang="zh-CN" altLang="en-US" smtClean="0">
                <a:latin typeface="宋体" pitchFamily="2" charset="-122"/>
              </a:rPr>
              <a:t>例1.8 计算</a:t>
            </a:r>
          </a:p>
        </p:txBody>
      </p:sp>
      <p:sp>
        <p:nvSpPr>
          <p:cNvPr id="783363" name="Rectangle 3"/>
          <p:cNvSpPr>
            <a:spLocks noGrp="1" noChangeArrowheads="1"/>
          </p:cNvSpPr>
          <p:nvPr>
            <p:ph type="title"/>
          </p:nvPr>
        </p:nvSpPr>
        <p:spPr/>
        <p:txBody>
          <a:bodyPr/>
          <a:lstStyle/>
          <a:p>
            <a:pPr>
              <a:defRPr/>
            </a:pPr>
            <a:r>
              <a:rPr lang="zh-CN" altLang="en-US" smtClean="0"/>
              <a:t>§4</a:t>
            </a:r>
            <a:r>
              <a:rPr lang="zh-CN" altLang="en-US" sz="6000" smtClean="0"/>
              <a:t>  </a:t>
            </a:r>
            <a:r>
              <a:rPr lang="zh-CN" altLang="en-US" smtClean="0"/>
              <a:t>算法举例</a:t>
            </a:r>
          </a:p>
        </p:txBody>
      </p:sp>
      <p:graphicFrame>
        <p:nvGraphicFramePr>
          <p:cNvPr id="36870" name="Object 4" descr="再生纸"/>
          <p:cNvGraphicFramePr>
            <a:graphicFrameLocks noChangeAspect="1"/>
          </p:cNvGraphicFramePr>
          <p:nvPr/>
        </p:nvGraphicFramePr>
        <p:xfrm>
          <a:off x="2819400" y="1143000"/>
          <a:ext cx="4495800" cy="882650"/>
        </p:xfrm>
        <a:graphic>
          <a:graphicData uri="http://schemas.openxmlformats.org/presentationml/2006/ole">
            <mc:AlternateContent xmlns:mc="http://schemas.openxmlformats.org/markup-compatibility/2006">
              <mc:Choice xmlns:v="urn:schemas-microsoft-com:vml" Requires="v">
                <p:oleObj spid="_x0000_s36966" name="Equation" r:id="rId4" imgW="1828903" imgH="380930" progId="Equation.3">
                  <p:embed/>
                </p:oleObj>
              </mc:Choice>
              <mc:Fallback>
                <p:oleObj name="Equation" r:id="rId4" imgW="1828903" imgH="380930" progId="Equation.3">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1143000"/>
                        <a:ext cx="4495800" cy="88265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3365" name="Rectangle 5"/>
          <p:cNvSpPr>
            <a:spLocks noChangeArrowheads="1"/>
          </p:cNvSpPr>
          <p:nvPr/>
        </p:nvSpPr>
        <p:spPr bwMode="auto">
          <a:xfrm>
            <a:off x="-228600" y="2025650"/>
            <a:ext cx="10134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None/>
            </a:pPr>
            <a:r>
              <a:rPr lang="zh-CN" altLang="en-US" sz="2800" i="0">
                <a:latin typeface="Times New Roman" pitchFamily="18" charset="0"/>
                <a:ea typeface="黑体" pitchFamily="49" charset="-122"/>
              </a:rPr>
              <a:t>	 解:  (1)算法1。分子分母分别计算后做除法(取9位小数)</a:t>
            </a:r>
          </a:p>
          <a:p>
            <a:pPr marL="258763" indent="-258763" algn="l" defTabSz="814388">
              <a:lnSpc>
                <a:spcPct val="90000"/>
              </a:lnSpc>
              <a:spcBef>
                <a:spcPct val="35000"/>
              </a:spcBef>
              <a:buClr>
                <a:srgbClr val="27305F"/>
              </a:buClr>
              <a:buSzPct val="60000"/>
              <a:buFont typeface="Wingdings" pitchFamily="2" charset="2"/>
              <a:buNone/>
            </a:pPr>
            <a:r>
              <a:rPr lang="zh-CN" altLang="en-US" sz="2800" i="0">
                <a:latin typeface="Times New Roman" pitchFamily="18" charset="0"/>
                <a:ea typeface="黑体" pitchFamily="49" charset="-122"/>
              </a:rPr>
              <a:t>                  </a:t>
            </a:r>
          </a:p>
        </p:txBody>
      </p:sp>
      <p:sp>
        <p:nvSpPr>
          <p:cNvPr id="783366" name="Rectangle 6"/>
          <p:cNvSpPr>
            <a:spLocks noChangeArrowheads="1"/>
          </p:cNvSpPr>
          <p:nvPr/>
        </p:nvSpPr>
        <p:spPr bwMode="auto">
          <a:xfrm>
            <a:off x="742950" y="2482850"/>
            <a:ext cx="9493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None/>
            </a:pPr>
            <a:r>
              <a:rPr lang="zh-CN" altLang="en-US" sz="2800" i="0">
                <a:latin typeface="Times New Roman" pitchFamily="18" charset="0"/>
                <a:ea typeface="黑体" pitchFamily="49" charset="-122"/>
              </a:rPr>
              <a:t>	</a:t>
            </a:r>
            <a:r>
              <a:rPr lang="en-US" altLang="zh-CN" sz="2400" i="0">
                <a:latin typeface="Times New Roman" pitchFamily="18" charset="0"/>
                <a:ea typeface="黑体" pitchFamily="49" charset="-122"/>
              </a:rPr>
              <a:t>A=0.0005*0.0143*0.0012=0.00000715*0.0012</a:t>
            </a:r>
          </a:p>
          <a:p>
            <a:pPr marL="258763" indent="-258763" algn="l" defTabSz="814388">
              <a:lnSpc>
                <a:spcPct val="90000"/>
              </a:lnSpc>
              <a:spcBef>
                <a:spcPct val="35000"/>
              </a:spcBef>
              <a:buClr>
                <a:srgbClr val="27305F"/>
              </a:buClr>
              <a:buSzPct val="60000"/>
              <a:buFont typeface="Wingdings" pitchFamily="2" charset="2"/>
              <a:buNone/>
            </a:pPr>
            <a:r>
              <a:rPr lang="en-US" altLang="zh-CN" sz="2400" i="0">
                <a:latin typeface="Times New Roman" pitchFamily="18" charset="0"/>
                <a:ea typeface="黑体" pitchFamily="49" charset="-122"/>
              </a:rPr>
              <a:t>        =0.000000009(</a:t>
            </a:r>
            <a:r>
              <a:rPr lang="zh-CN" altLang="en-US" sz="2400" i="0">
                <a:latin typeface="Times New Roman" pitchFamily="18" charset="0"/>
                <a:ea typeface="黑体" pitchFamily="49" charset="-122"/>
              </a:rPr>
              <a:t>有舍入)</a:t>
            </a:r>
          </a:p>
        </p:txBody>
      </p:sp>
      <p:sp>
        <p:nvSpPr>
          <p:cNvPr id="783367" name="Rectangle 7"/>
          <p:cNvSpPr>
            <a:spLocks noChangeArrowheads="1"/>
          </p:cNvSpPr>
          <p:nvPr/>
        </p:nvSpPr>
        <p:spPr bwMode="auto">
          <a:xfrm>
            <a:off x="742950" y="3397250"/>
            <a:ext cx="9493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None/>
            </a:pPr>
            <a:r>
              <a:rPr lang="zh-CN" altLang="en-US" sz="2800" i="0">
                <a:latin typeface="Times New Roman" pitchFamily="18" charset="0"/>
                <a:ea typeface="黑体" pitchFamily="49" charset="-122"/>
              </a:rPr>
              <a:t>	</a:t>
            </a:r>
            <a:r>
              <a:rPr lang="en-US" altLang="zh-CN" sz="2800" i="0">
                <a:latin typeface="Times New Roman" pitchFamily="18" charset="0"/>
                <a:ea typeface="黑体" pitchFamily="49" charset="-122"/>
              </a:rPr>
              <a:t>B</a:t>
            </a:r>
            <a:r>
              <a:rPr lang="en-US" altLang="zh-CN" sz="2400" i="0">
                <a:latin typeface="Times New Roman" pitchFamily="18" charset="0"/>
                <a:ea typeface="黑体" pitchFamily="49" charset="-122"/>
              </a:rPr>
              <a:t>=0.0003*0.0125*0.0135=0.00000375*0.0135</a:t>
            </a:r>
          </a:p>
          <a:p>
            <a:pPr marL="258763" indent="-258763" algn="l" defTabSz="814388">
              <a:lnSpc>
                <a:spcPct val="90000"/>
              </a:lnSpc>
              <a:spcBef>
                <a:spcPct val="35000"/>
              </a:spcBef>
              <a:buClr>
                <a:srgbClr val="27305F"/>
              </a:buClr>
              <a:buSzPct val="60000"/>
              <a:buFont typeface="Wingdings" pitchFamily="2" charset="2"/>
              <a:buNone/>
            </a:pPr>
            <a:r>
              <a:rPr lang="en-US" altLang="zh-CN" sz="2400" i="0">
                <a:latin typeface="Times New Roman" pitchFamily="18" charset="0"/>
                <a:ea typeface="黑体" pitchFamily="49" charset="-122"/>
              </a:rPr>
              <a:t>        =0.000000051(</a:t>
            </a:r>
            <a:r>
              <a:rPr lang="zh-CN" altLang="en-US" sz="2400" i="0">
                <a:latin typeface="Times New Roman" pitchFamily="18" charset="0"/>
                <a:ea typeface="黑体" pitchFamily="49" charset="-122"/>
              </a:rPr>
              <a:t>有舍入)</a:t>
            </a:r>
          </a:p>
        </p:txBody>
      </p:sp>
      <p:sp>
        <p:nvSpPr>
          <p:cNvPr id="783368" name="Rectangle 8"/>
          <p:cNvSpPr>
            <a:spLocks noChangeArrowheads="1"/>
          </p:cNvSpPr>
          <p:nvPr/>
        </p:nvSpPr>
        <p:spPr bwMode="auto">
          <a:xfrm>
            <a:off x="717550" y="4311650"/>
            <a:ext cx="9493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None/>
            </a:pPr>
            <a:r>
              <a:rPr lang="zh-CN" altLang="en-US" sz="2800" i="0">
                <a:latin typeface="Times New Roman" pitchFamily="18" charset="0"/>
                <a:ea typeface="黑体" pitchFamily="49" charset="-122"/>
              </a:rPr>
              <a:t>	</a:t>
            </a:r>
            <a:r>
              <a:rPr lang="en-US" altLang="zh-CN" sz="2800" i="0">
                <a:latin typeface="Times New Roman" pitchFamily="18" charset="0"/>
                <a:ea typeface="黑体" pitchFamily="49" charset="-122"/>
              </a:rPr>
              <a:t>D</a:t>
            </a:r>
            <a:r>
              <a:rPr lang="en-US" altLang="zh-CN" sz="2400" i="0">
                <a:latin typeface="Times New Roman" pitchFamily="18" charset="0"/>
                <a:ea typeface="黑体" pitchFamily="49" charset="-122"/>
              </a:rPr>
              <a:t>=A/B=0.17647             </a:t>
            </a:r>
            <a:r>
              <a:rPr lang="zh-CN" altLang="en-US" sz="2800" i="0">
                <a:latin typeface="Times New Roman" pitchFamily="18" charset="0"/>
                <a:ea typeface="黑体" pitchFamily="49" charset="-122"/>
              </a:rPr>
              <a:t>真值为</a:t>
            </a:r>
            <a:r>
              <a:rPr lang="zh-CN" altLang="zh-CN" sz="2400" i="0">
                <a:latin typeface="Times New Roman" pitchFamily="18" charset="0"/>
                <a:ea typeface="黑体" pitchFamily="49" charset="-122"/>
              </a:rPr>
              <a:t>0.16948148…</a:t>
            </a:r>
            <a:endParaRPr lang="zh-CN" altLang="en-US" sz="2400" i="0">
              <a:latin typeface="Times New Roman" pitchFamily="18" charset="0"/>
              <a:ea typeface="黑体" pitchFamily="49" charset="-122"/>
            </a:endParaRPr>
          </a:p>
        </p:txBody>
      </p:sp>
      <p:graphicFrame>
        <p:nvGraphicFramePr>
          <p:cNvPr id="783369" name="Object 9"/>
          <p:cNvGraphicFramePr>
            <a:graphicFrameLocks noChangeAspect="1"/>
          </p:cNvGraphicFramePr>
          <p:nvPr/>
        </p:nvGraphicFramePr>
        <p:xfrm>
          <a:off x="1150938" y="4768850"/>
          <a:ext cx="2811462" cy="425450"/>
        </p:xfrm>
        <a:graphic>
          <a:graphicData uri="http://schemas.openxmlformats.org/presentationml/2006/ole">
            <mc:AlternateContent xmlns:mc="http://schemas.openxmlformats.org/markup-compatibility/2006">
              <mc:Choice xmlns:v="urn:schemas-microsoft-com:vml" Requires="v">
                <p:oleObj spid="_x0000_s36967" name="Equation" r:id="rId7" imgW="1295500" imgH="190465" progId="Equation.3">
                  <p:embed/>
                </p:oleObj>
              </mc:Choice>
              <mc:Fallback>
                <p:oleObj name="Equation" r:id="rId7" imgW="1295500" imgH="19046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0938" y="4768850"/>
                        <a:ext cx="28114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3370" name="Object 10"/>
          <p:cNvGraphicFramePr>
            <a:graphicFrameLocks noChangeAspect="1"/>
          </p:cNvGraphicFramePr>
          <p:nvPr/>
        </p:nvGraphicFramePr>
        <p:xfrm>
          <a:off x="962025" y="5149850"/>
          <a:ext cx="6886575" cy="876300"/>
        </p:xfrm>
        <a:graphic>
          <a:graphicData uri="http://schemas.openxmlformats.org/presentationml/2006/ole">
            <mc:AlternateContent xmlns:mc="http://schemas.openxmlformats.org/markup-compatibility/2006">
              <mc:Choice xmlns:v="urn:schemas-microsoft-com:vml" Requires="v">
                <p:oleObj spid="_x0000_s36968" name="Equation" r:id="rId9" imgW="3314658" imgH="403821" progId="Equation.3">
                  <p:embed/>
                </p:oleObj>
              </mc:Choice>
              <mc:Fallback>
                <p:oleObj name="Equation" r:id="rId9" imgW="3314658" imgH="403821"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2025" y="5149850"/>
                        <a:ext cx="688657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3371" name="Object 11"/>
          <p:cNvGraphicFramePr>
            <a:graphicFrameLocks noChangeAspect="1"/>
          </p:cNvGraphicFramePr>
          <p:nvPr/>
        </p:nvGraphicFramePr>
        <p:xfrm>
          <a:off x="1209675" y="5988050"/>
          <a:ext cx="6842125" cy="446088"/>
        </p:xfrm>
        <a:graphic>
          <a:graphicData uri="http://schemas.openxmlformats.org/presentationml/2006/ole">
            <mc:AlternateContent xmlns:mc="http://schemas.openxmlformats.org/markup-compatibility/2006">
              <mc:Choice xmlns:v="urn:schemas-microsoft-com:vml" Requires="v">
                <p:oleObj spid="_x0000_s36969" name="Equation" r:id="rId11" imgW="3009949" imgH="190465" progId="Equation.3">
                  <p:embed/>
                </p:oleObj>
              </mc:Choice>
              <mc:Fallback>
                <p:oleObj name="Equation" r:id="rId11" imgW="3009949" imgH="190465"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9675" y="5988050"/>
                        <a:ext cx="684212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iterate type="lt">
                                    <p:tmPct val="100000"/>
                                  </p:iterate>
                                  <p:childTnLst>
                                    <p:set>
                                      <p:cBhvr>
                                        <p:cTn id="6" dur="1" fill="hold">
                                          <p:stCondLst>
                                            <p:cond delay="0"/>
                                          </p:stCondLst>
                                        </p:cTn>
                                        <p:tgtEl>
                                          <p:spTgt spid="783365"/>
                                        </p:tgtEl>
                                        <p:attrNameLst>
                                          <p:attrName>style.visibility</p:attrName>
                                        </p:attrNameLst>
                                      </p:cBhvr>
                                      <p:to>
                                        <p:strVal val="visible"/>
                                      </p:to>
                                    </p:set>
                                    <p:anim calcmode="lin" valueType="num">
                                      <p:cBhvr>
                                        <p:cTn id="7" dur="75" fill="hold"/>
                                        <p:tgtEl>
                                          <p:spTgt spid="783365"/>
                                        </p:tgtEl>
                                        <p:attrNameLst>
                                          <p:attrName>ppt_x</p:attrName>
                                        </p:attrNameLst>
                                      </p:cBhvr>
                                      <p:tavLst>
                                        <p:tav tm="0">
                                          <p:val>
                                            <p:strVal val="#ppt_x-#ppt_w/2"/>
                                          </p:val>
                                        </p:tav>
                                        <p:tav tm="100000">
                                          <p:val>
                                            <p:strVal val="#ppt_x"/>
                                          </p:val>
                                        </p:tav>
                                      </p:tavLst>
                                    </p:anim>
                                    <p:anim calcmode="lin" valueType="num">
                                      <p:cBhvr>
                                        <p:cTn id="8" dur="75" fill="hold"/>
                                        <p:tgtEl>
                                          <p:spTgt spid="783365"/>
                                        </p:tgtEl>
                                        <p:attrNameLst>
                                          <p:attrName>ppt_y</p:attrName>
                                        </p:attrNameLst>
                                      </p:cBhvr>
                                      <p:tavLst>
                                        <p:tav tm="0">
                                          <p:val>
                                            <p:strVal val="#ppt_y"/>
                                          </p:val>
                                        </p:tav>
                                        <p:tav tm="100000">
                                          <p:val>
                                            <p:strVal val="#ppt_y"/>
                                          </p:val>
                                        </p:tav>
                                      </p:tavLst>
                                    </p:anim>
                                    <p:anim calcmode="lin" valueType="num">
                                      <p:cBhvr>
                                        <p:cTn id="9" dur="75" fill="hold"/>
                                        <p:tgtEl>
                                          <p:spTgt spid="783365"/>
                                        </p:tgtEl>
                                        <p:attrNameLst>
                                          <p:attrName>ppt_w</p:attrName>
                                        </p:attrNameLst>
                                      </p:cBhvr>
                                      <p:tavLst>
                                        <p:tav tm="0">
                                          <p:val>
                                            <p:fltVal val="0"/>
                                          </p:val>
                                        </p:tav>
                                        <p:tav tm="100000">
                                          <p:val>
                                            <p:strVal val="#ppt_w"/>
                                          </p:val>
                                        </p:tav>
                                      </p:tavLst>
                                    </p:anim>
                                    <p:anim calcmode="lin" valueType="num">
                                      <p:cBhvr>
                                        <p:cTn id="10" dur="75" fill="hold"/>
                                        <p:tgtEl>
                                          <p:spTgt spid="783365"/>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iterate type="lt">
                                    <p:tmPct val="100000"/>
                                  </p:iterate>
                                  <p:childTnLst>
                                    <p:set>
                                      <p:cBhvr>
                                        <p:cTn id="14" dur="1" fill="hold">
                                          <p:stCondLst>
                                            <p:cond delay="0"/>
                                          </p:stCondLst>
                                        </p:cTn>
                                        <p:tgtEl>
                                          <p:spTgt spid="783366"/>
                                        </p:tgtEl>
                                        <p:attrNameLst>
                                          <p:attrName>style.visibility</p:attrName>
                                        </p:attrNameLst>
                                      </p:cBhvr>
                                      <p:to>
                                        <p:strVal val="visible"/>
                                      </p:to>
                                    </p:set>
                                    <p:anim calcmode="lin" valueType="num">
                                      <p:cBhvr>
                                        <p:cTn id="15" dur="75" fill="hold"/>
                                        <p:tgtEl>
                                          <p:spTgt spid="783366"/>
                                        </p:tgtEl>
                                        <p:attrNameLst>
                                          <p:attrName>ppt_x</p:attrName>
                                        </p:attrNameLst>
                                      </p:cBhvr>
                                      <p:tavLst>
                                        <p:tav tm="0">
                                          <p:val>
                                            <p:strVal val="#ppt_x-#ppt_w/2"/>
                                          </p:val>
                                        </p:tav>
                                        <p:tav tm="100000">
                                          <p:val>
                                            <p:strVal val="#ppt_x"/>
                                          </p:val>
                                        </p:tav>
                                      </p:tavLst>
                                    </p:anim>
                                    <p:anim calcmode="lin" valueType="num">
                                      <p:cBhvr>
                                        <p:cTn id="16" dur="75" fill="hold"/>
                                        <p:tgtEl>
                                          <p:spTgt spid="783366"/>
                                        </p:tgtEl>
                                        <p:attrNameLst>
                                          <p:attrName>ppt_y</p:attrName>
                                        </p:attrNameLst>
                                      </p:cBhvr>
                                      <p:tavLst>
                                        <p:tav tm="0">
                                          <p:val>
                                            <p:strVal val="#ppt_y"/>
                                          </p:val>
                                        </p:tav>
                                        <p:tav tm="100000">
                                          <p:val>
                                            <p:strVal val="#ppt_y"/>
                                          </p:val>
                                        </p:tav>
                                      </p:tavLst>
                                    </p:anim>
                                    <p:anim calcmode="lin" valueType="num">
                                      <p:cBhvr>
                                        <p:cTn id="17" dur="75" fill="hold"/>
                                        <p:tgtEl>
                                          <p:spTgt spid="783366"/>
                                        </p:tgtEl>
                                        <p:attrNameLst>
                                          <p:attrName>ppt_w</p:attrName>
                                        </p:attrNameLst>
                                      </p:cBhvr>
                                      <p:tavLst>
                                        <p:tav tm="0">
                                          <p:val>
                                            <p:fltVal val="0"/>
                                          </p:val>
                                        </p:tav>
                                        <p:tav tm="100000">
                                          <p:val>
                                            <p:strVal val="#ppt_w"/>
                                          </p:val>
                                        </p:tav>
                                      </p:tavLst>
                                    </p:anim>
                                    <p:anim calcmode="lin" valueType="num">
                                      <p:cBhvr>
                                        <p:cTn id="18" dur="75" fill="hold"/>
                                        <p:tgtEl>
                                          <p:spTgt spid="783366"/>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iterate type="lt">
                                    <p:tmPct val="100000"/>
                                  </p:iterate>
                                  <p:childTnLst>
                                    <p:set>
                                      <p:cBhvr>
                                        <p:cTn id="22" dur="1" fill="hold">
                                          <p:stCondLst>
                                            <p:cond delay="0"/>
                                          </p:stCondLst>
                                        </p:cTn>
                                        <p:tgtEl>
                                          <p:spTgt spid="783367"/>
                                        </p:tgtEl>
                                        <p:attrNameLst>
                                          <p:attrName>style.visibility</p:attrName>
                                        </p:attrNameLst>
                                      </p:cBhvr>
                                      <p:to>
                                        <p:strVal val="visible"/>
                                      </p:to>
                                    </p:set>
                                    <p:anim calcmode="lin" valueType="num">
                                      <p:cBhvr>
                                        <p:cTn id="23" dur="75" fill="hold"/>
                                        <p:tgtEl>
                                          <p:spTgt spid="783367"/>
                                        </p:tgtEl>
                                        <p:attrNameLst>
                                          <p:attrName>ppt_x</p:attrName>
                                        </p:attrNameLst>
                                      </p:cBhvr>
                                      <p:tavLst>
                                        <p:tav tm="0">
                                          <p:val>
                                            <p:strVal val="#ppt_x-#ppt_w/2"/>
                                          </p:val>
                                        </p:tav>
                                        <p:tav tm="100000">
                                          <p:val>
                                            <p:strVal val="#ppt_x"/>
                                          </p:val>
                                        </p:tav>
                                      </p:tavLst>
                                    </p:anim>
                                    <p:anim calcmode="lin" valueType="num">
                                      <p:cBhvr>
                                        <p:cTn id="24" dur="75" fill="hold"/>
                                        <p:tgtEl>
                                          <p:spTgt spid="783367"/>
                                        </p:tgtEl>
                                        <p:attrNameLst>
                                          <p:attrName>ppt_y</p:attrName>
                                        </p:attrNameLst>
                                      </p:cBhvr>
                                      <p:tavLst>
                                        <p:tav tm="0">
                                          <p:val>
                                            <p:strVal val="#ppt_y"/>
                                          </p:val>
                                        </p:tav>
                                        <p:tav tm="100000">
                                          <p:val>
                                            <p:strVal val="#ppt_y"/>
                                          </p:val>
                                        </p:tav>
                                      </p:tavLst>
                                    </p:anim>
                                    <p:anim calcmode="lin" valueType="num">
                                      <p:cBhvr>
                                        <p:cTn id="25" dur="75" fill="hold"/>
                                        <p:tgtEl>
                                          <p:spTgt spid="783367"/>
                                        </p:tgtEl>
                                        <p:attrNameLst>
                                          <p:attrName>ppt_w</p:attrName>
                                        </p:attrNameLst>
                                      </p:cBhvr>
                                      <p:tavLst>
                                        <p:tav tm="0">
                                          <p:val>
                                            <p:fltVal val="0"/>
                                          </p:val>
                                        </p:tav>
                                        <p:tav tm="100000">
                                          <p:val>
                                            <p:strVal val="#ppt_w"/>
                                          </p:val>
                                        </p:tav>
                                      </p:tavLst>
                                    </p:anim>
                                    <p:anim calcmode="lin" valueType="num">
                                      <p:cBhvr>
                                        <p:cTn id="26" dur="75" fill="hold"/>
                                        <p:tgtEl>
                                          <p:spTgt spid="783367"/>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iterate type="lt">
                                    <p:tmPct val="100000"/>
                                  </p:iterate>
                                  <p:childTnLst>
                                    <p:set>
                                      <p:cBhvr>
                                        <p:cTn id="30" dur="1" fill="hold">
                                          <p:stCondLst>
                                            <p:cond delay="0"/>
                                          </p:stCondLst>
                                        </p:cTn>
                                        <p:tgtEl>
                                          <p:spTgt spid="783368"/>
                                        </p:tgtEl>
                                        <p:attrNameLst>
                                          <p:attrName>style.visibility</p:attrName>
                                        </p:attrNameLst>
                                      </p:cBhvr>
                                      <p:to>
                                        <p:strVal val="visible"/>
                                      </p:to>
                                    </p:set>
                                    <p:anim calcmode="lin" valueType="num">
                                      <p:cBhvr>
                                        <p:cTn id="31" dur="75" fill="hold"/>
                                        <p:tgtEl>
                                          <p:spTgt spid="783368"/>
                                        </p:tgtEl>
                                        <p:attrNameLst>
                                          <p:attrName>ppt_x</p:attrName>
                                        </p:attrNameLst>
                                      </p:cBhvr>
                                      <p:tavLst>
                                        <p:tav tm="0">
                                          <p:val>
                                            <p:strVal val="#ppt_x-#ppt_w/2"/>
                                          </p:val>
                                        </p:tav>
                                        <p:tav tm="100000">
                                          <p:val>
                                            <p:strVal val="#ppt_x"/>
                                          </p:val>
                                        </p:tav>
                                      </p:tavLst>
                                    </p:anim>
                                    <p:anim calcmode="lin" valueType="num">
                                      <p:cBhvr>
                                        <p:cTn id="32" dur="75" fill="hold"/>
                                        <p:tgtEl>
                                          <p:spTgt spid="783368"/>
                                        </p:tgtEl>
                                        <p:attrNameLst>
                                          <p:attrName>ppt_y</p:attrName>
                                        </p:attrNameLst>
                                      </p:cBhvr>
                                      <p:tavLst>
                                        <p:tav tm="0">
                                          <p:val>
                                            <p:strVal val="#ppt_y"/>
                                          </p:val>
                                        </p:tav>
                                        <p:tav tm="100000">
                                          <p:val>
                                            <p:strVal val="#ppt_y"/>
                                          </p:val>
                                        </p:tav>
                                      </p:tavLst>
                                    </p:anim>
                                    <p:anim calcmode="lin" valueType="num">
                                      <p:cBhvr>
                                        <p:cTn id="33" dur="75" fill="hold"/>
                                        <p:tgtEl>
                                          <p:spTgt spid="783368"/>
                                        </p:tgtEl>
                                        <p:attrNameLst>
                                          <p:attrName>ppt_w</p:attrName>
                                        </p:attrNameLst>
                                      </p:cBhvr>
                                      <p:tavLst>
                                        <p:tav tm="0">
                                          <p:val>
                                            <p:fltVal val="0"/>
                                          </p:val>
                                        </p:tav>
                                        <p:tav tm="100000">
                                          <p:val>
                                            <p:strVal val="#ppt_w"/>
                                          </p:val>
                                        </p:tav>
                                      </p:tavLst>
                                    </p:anim>
                                    <p:anim calcmode="lin" valueType="num">
                                      <p:cBhvr>
                                        <p:cTn id="34" dur="75" fill="hold"/>
                                        <p:tgtEl>
                                          <p:spTgt spid="783368"/>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783369"/>
                                        </p:tgtEl>
                                        <p:attrNameLst>
                                          <p:attrName>style.visibility</p:attrName>
                                        </p:attrNameLst>
                                      </p:cBhvr>
                                      <p:to>
                                        <p:strVal val="visible"/>
                                      </p:to>
                                    </p:set>
                                    <p:animEffect transition="in" filter="dissolve">
                                      <p:cBhvr>
                                        <p:cTn id="39" dur="500"/>
                                        <p:tgtEl>
                                          <p:spTgt spid="78336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783370"/>
                                        </p:tgtEl>
                                        <p:attrNameLst>
                                          <p:attrName>style.visibility</p:attrName>
                                        </p:attrNameLst>
                                      </p:cBhvr>
                                      <p:to>
                                        <p:strVal val="visible"/>
                                      </p:to>
                                    </p:set>
                                    <p:animEffect transition="in" filter="dissolve">
                                      <p:cBhvr>
                                        <p:cTn id="44" dur="500"/>
                                        <p:tgtEl>
                                          <p:spTgt spid="78337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783371"/>
                                        </p:tgtEl>
                                        <p:attrNameLst>
                                          <p:attrName>style.visibility</p:attrName>
                                        </p:attrNameLst>
                                      </p:cBhvr>
                                      <p:to>
                                        <p:strVal val="visible"/>
                                      </p:to>
                                    </p:set>
                                    <p:animEffect transition="in" filter="dissolve">
                                      <p:cBhvr>
                                        <p:cTn id="49" dur="500"/>
                                        <p:tgtEl>
                                          <p:spTgt spid="783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65" grpId="0" autoUpdateAnimBg="0" rev="1"/>
      <p:bldP spid="783366" grpId="0" autoUpdateAnimBg="0" rev="1"/>
      <p:bldP spid="783367" grpId="0" autoUpdateAnimBg="0" rev="1"/>
      <p:bldP spid="783368" grpId="0" autoUpdateAnimBg="0" rev="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E6AC16F-EA81-4671-9434-8A96BA00F15E}" type="slidenum">
              <a:rPr lang="zh-CN" altLang="en-US" i="0" smtClean="0"/>
              <a:pPr/>
              <a:t>39</a:t>
            </a:fld>
            <a:endParaRPr lang="en-US" altLang="zh-CN" i="0" smtClean="0"/>
          </a:p>
        </p:txBody>
      </p:sp>
      <p:sp>
        <p:nvSpPr>
          <p:cNvPr id="3789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1CC6ACA-897E-4FD6-9C2B-E1F9126A19EB}" type="datetime1">
              <a:rPr lang="zh-CN" altLang="en-US" sz="1800" i="0" smtClean="0"/>
              <a:pPr/>
              <a:t>2024/9/8</a:t>
            </a:fld>
            <a:endParaRPr lang="en-US" altLang="zh-CN" sz="1000" i="0" smtClean="0"/>
          </a:p>
        </p:txBody>
      </p:sp>
      <p:sp>
        <p:nvSpPr>
          <p:cNvPr id="785410" name="Rectangle 2"/>
          <p:cNvSpPr>
            <a:spLocks noGrp="1" noChangeArrowheads="1"/>
          </p:cNvSpPr>
          <p:nvPr>
            <p:ph type="title"/>
          </p:nvPr>
        </p:nvSpPr>
        <p:spPr/>
        <p:txBody>
          <a:bodyPr/>
          <a:lstStyle/>
          <a:p>
            <a:pPr>
              <a:defRPr/>
            </a:pPr>
            <a:r>
              <a:rPr lang="zh-CN" altLang="en-US" smtClean="0"/>
              <a:t>§4</a:t>
            </a:r>
            <a:r>
              <a:rPr lang="zh-CN" altLang="en-US" sz="6000" smtClean="0"/>
              <a:t>  </a:t>
            </a:r>
            <a:r>
              <a:rPr lang="zh-CN" altLang="en-US" smtClean="0"/>
              <a:t>算法举例</a:t>
            </a:r>
          </a:p>
        </p:txBody>
      </p:sp>
      <p:sp>
        <p:nvSpPr>
          <p:cNvPr id="785411" name="Rectangle 3"/>
          <p:cNvSpPr>
            <a:spLocks noGrp="1" noChangeArrowheads="1"/>
          </p:cNvSpPr>
          <p:nvPr>
            <p:ph type="body" idx="1"/>
          </p:nvPr>
        </p:nvSpPr>
        <p:spPr>
          <a:xfrm>
            <a:off x="660400" y="2438400"/>
            <a:ext cx="8915400" cy="3051175"/>
          </a:xfrm>
        </p:spPr>
        <p:txBody>
          <a:bodyPr/>
          <a:lstStyle/>
          <a:p>
            <a:pPr>
              <a:buFont typeface="Wingdings" pitchFamily="2" charset="2"/>
              <a:buNone/>
            </a:pPr>
            <a:r>
              <a:rPr lang="zh-CN" altLang="en-US" smtClean="0"/>
              <a:t>(2)算法2。分成三组因子,每组只取六位小数计算</a:t>
            </a:r>
          </a:p>
          <a:p>
            <a:pPr>
              <a:buFont typeface="Wingdings" pitchFamily="2" charset="2"/>
              <a:buNone/>
            </a:pPr>
            <a:r>
              <a:rPr lang="zh-CN" altLang="en-US" smtClean="0"/>
              <a:t>	  </a:t>
            </a:r>
            <a:r>
              <a:rPr lang="en-US" altLang="zh-CN" smtClean="0"/>
              <a:t>a=0.0005 / 0.0003=1.666667(</a:t>
            </a:r>
            <a:r>
              <a:rPr lang="zh-CN" altLang="en-US" smtClean="0"/>
              <a:t>有舍入)</a:t>
            </a:r>
          </a:p>
          <a:p>
            <a:pPr>
              <a:buFont typeface="Wingdings" pitchFamily="2" charset="2"/>
              <a:buNone/>
            </a:pPr>
            <a:r>
              <a:rPr lang="zh-CN" altLang="en-US" smtClean="0"/>
              <a:t>     </a:t>
            </a:r>
            <a:r>
              <a:rPr lang="en-US" altLang="zh-CN" smtClean="0"/>
              <a:t>b=0.0143 / 0.0125=1.144000</a:t>
            </a:r>
          </a:p>
          <a:p>
            <a:pPr>
              <a:buFont typeface="Wingdings" pitchFamily="2" charset="2"/>
              <a:buNone/>
            </a:pPr>
            <a:r>
              <a:rPr lang="en-US" altLang="zh-CN" smtClean="0"/>
              <a:t>     c=0.0012 / 0.0135=0.088889 (</a:t>
            </a:r>
            <a:r>
              <a:rPr lang="zh-CN" altLang="en-US" smtClean="0"/>
              <a:t>有舍入)</a:t>
            </a:r>
          </a:p>
          <a:p>
            <a:pPr>
              <a:buFont typeface="Wingdings" pitchFamily="2" charset="2"/>
              <a:buNone/>
            </a:pPr>
            <a:r>
              <a:rPr lang="zh-CN" altLang="en-US" smtClean="0"/>
              <a:t>     </a:t>
            </a:r>
            <a:r>
              <a:rPr lang="en-US" altLang="zh-CN" smtClean="0"/>
              <a:t>D=1. 666667* 1.144000* 0.088889=0.169482</a:t>
            </a:r>
          </a:p>
          <a:p>
            <a:pPr>
              <a:buFont typeface="Wingdings" pitchFamily="2" charset="2"/>
              <a:buNone/>
            </a:pPr>
            <a:r>
              <a:rPr lang="zh-CN" altLang="en-US" smtClean="0"/>
              <a:t>                                                  真值为</a:t>
            </a:r>
            <a:r>
              <a:rPr lang="zh-CN" altLang="zh-CN" smtClean="0"/>
              <a:t>0.16948148…</a:t>
            </a:r>
            <a:endParaRPr lang="zh-CN" altLang="en-US" smtClean="0"/>
          </a:p>
        </p:txBody>
      </p:sp>
      <p:graphicFrame>
        <p:nvGraphicFramePr>
          <p:cNvPr id="37894" name="Object 4" descr="再生纸"/>
          <p:cNvGraphicFramePr>
            <a:graphicFrameLocks noChangeAspect="1"/>
          </p:cNvGraphicFramePr>
          <p:nvPr/>
        </p:nvGraphicFramePr>
        <p:xfrm>
          <a:off x="1651000" y="1447800"/>
          <a:ext cx="5200650" cy="993775"/>
        </p:xfrm>
        <a:graphic>
          <a:graphicData uri="http://schemas.openxmlformats.org/presentationml/2006/ole">
            <mc:AlternateContent xmlns:mc="http://schemas.openxmlformats.org/markup-compatibility/2006">
              <mc:Choice xmlns:v="urn:schemas-microsoft-com:vml" Requires="v">
                <p:oleObj spid="_x0000_s37975" name="公式" r:id="rId4" imgW="1828800" imgH="393700" progId="Equation.3">
                  <p:embed/>
                </p:oleObj>
              </mc:Choice>
              <mc:Fallback>
                <p:oleObj name="公式" r:id="rId4" imgW="1828800" imgH="393700" progId="Equation.3">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1000" y="1447800"/>
                        <a:ext cx="5200650" cy="99377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a:grpSpLocks/>
          </p:cNvGrpSpPr>
          <p:nvPr/>
        </p:nvGrpSpPr>
        <p:grpSpPr bwMode="auto">
          <a:xfrm>
            <a:off x="3879850" y="914400"/>
            <a:ext cx="1898650" cy="1600200"/>
            <a:chOff x="1392" y="1200"/>
            <a:chExt cx="1104" cy="1008"/>
          </a:xfrm>
        </p:grpSpPr>
        <p:sp>
          <p:nvSpPr>
            <p:cNvPr id="37906" name="AutoShape 6"/>
            <p:cNvSpPr>
              <a:spLocks noChangeArrowheads="1"/>
            </p:cNvSpPr>
            <p:nvPr/>
          </p:nvSpPr>
          <p:spPr bwMode="auto">
            <a:xfrm>
              <a:off x="1392" y="1536"/>
              <a:ext cx="816" cy="672"/>
            </a:xfrm>
            <a:prstGeom prst="bracketPair">
              <a:avLst>
                <a:gd name="adj" fmla="val 16667"/>
              </a:avLst>
            </a:prstGeom>
            <a:noFill/>
            <a:ln w="349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07" name="Text Box 7"/>
            <p:cNvSpPr txBox="1">
              <a:spLocks noChangeArrowheads="1"/>
            </p:cNvSpPr>
            <p:nvPr/>
          </p:nvSpPr>
          <p:spPr bwMode="auto">
            <a:xfrm>
              <a:off x="1968" y="1200"/>
              <a:ext cx="5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en-US" altLang="zh-CN" sz="3200" i="0">
                  <a:latin typeface="宋体" pitchFamily="2" charset="-122"/>
                </a:rPr>
                <a:t>b</a:t>
              </a:r>
              <a:endParaRPr lang="en-US" altLang="zh-CN" sz="2800" b="0" i="0">
                <a:latin typeface="宋体" pitchFamily="2" charset="-122"/>
              </a:endParaRPr>
            </a:p>
          </p:txBody>
        </p:sp>
        <p:sp>
          <p:nvSpPr>
            <p:cNvPr id="37908" name="AutoShape 8"/>
            <p:cNvSpPr>
              <a:spLocks/>
            </p:cNvSpPr>
            <p:nvPr/>
          </p:nvSpPr>
          <p:spPr bwMode="auto">
            <a:xfrm>
              <a:off x="2016" y="1252"/>
              <a:ext cx="384" cy="349"/>
            </a:xfrm>
            <a:prstGeom prst="borderCallout2">
              <a:avLst>
                <a:gd name="adj1" fmla="val 27588"/>
                <a:gd name="adj2" fmla="val -12500"/>
                <a:gd name="adj3" fmla="val 27588"/>
                <a:gd name="adj4" fmla="val -47134"/>
                <a:gd name="adj5" fmla="val 73565"/>
                <a:gd name="adj6" fmla="val -83333"/>
              </a:avLst>
            </a:prstGeom>
            <a:noFill/>
            <a:ln w="349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spcBef>
                  <a:spcPct val="50000"/>
                </a:spcBef>
              </a:pPr>
              <a:endParaRPr lang="zh-CN" altLang="en-US" sz="2800" b="0" i="0">
                <a:latin typeface="宋体" pitchFamily="2" charset="-122"/>
              </a:endParaRPr>
            </a:p>
          </p:txBody>
        </p:sp>
      </p:grpSp>
      <p:grpSp>
        <p:nvGrpSpPr>
          <p:cNvPr id="3" name="Group 9"/>
          <p:cNvGrpSpPr>
            <a:grpSpLocks/>
          </p:cNvGrpSpPr>
          <p:nvPr/>
        </p:nvGrpSpPr>
        <p:grpSpPr bwMode="auto">
          <a:xfrm>
            <a:off x="5448300" y="914400"/>
            <a:ext cx="1898650" cy="1600200"/>
            <a:chOff x="1392" y="1200"/>
            <a:chExt cx="1104" cy="1008"/>
          </a:xfrm>
        </p:grpSpPr>
        <p:sp>
          <p:nvSpPr>
            <p:cNvPr id="37903" name="AutoShape 10"/>
            <p:cNvSpPr>
              <a:spLocks noChangeArrowheads="1"/>
            </p:cNvSpPr>
            <p:nvPr/>
          </p:nvSpPr>
          <p:spPr bwMode="auto">
            <a:xfrm>
              <a:off x="1392" y="1536"/>
              <a:ext cx="816" cy="672"/>
            </a:xfrm>
            <a:prstGeom prst="bracketPair">
              <a:avLst>
                <a:gd name="adj" fmla="val 16667"/>
              </a:avLst>
            </a:prstGeom>
            <a:noFill/>
            <a:ln w="349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04" name="Text Box 11"/>
            <p:cNvSpPr txBox="1">
              <a:spLocks noChangeArrowheads="1"/>
            </p:cNvSpPr>
            <p:nvPr/>
          </p:nvSpPr>
          <p:spPr bwMode="auto">
            <a:xfrm>
              <a:off x="1968" y="1200"/>
              <a:ext cx="5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en-US" altLang="zh-CN" sz="3200" i="0">
                  <a:latin typeface="宋体" pitchFamily="2" charset="-122"/>
                </a:rPr>
                <a:t>c</a:t>
              </a:r>
              <a:endParaRPr lang="en-US" altLang="zh-CN" sz="2800" i="0">
                <a:latin typeface="宋体" pitchFamily="2" charset="-122"/>
              </a:endParaRPr>
            </a:p>
          </p:txBody>
        </p:sp>
        <p:sp>
          <p:nvSpPr>
            <p:cNvPr id="37905" name="AutoShape 12"/>
            <p:cNvSpPr>
              <a:spLocks/>
            </p:cNvSpPr>
            <p:nvPr/>
          </p:nvSpPr>
          <p:spPr bwMode="auto">
            <a:xfrm>
              <a:off x="2016" y="1252"/>
              <a:ext cx="384" cy="349"/>
            </a:xfrm>
            <a:prstGeom prst="borderCallout2">
              <a:avLst>
                <a:gd name="adj1" fmla="val 27588"/>
                <a:gd name="adj2" fmla="val -12500"/>
                <a:gd name="adj3" fmla="val 27588"/>
                <a:gd name="adj4" fmla="val -47134"/>
                <a:gd name="adj5" fmla="val 73565"/>
                <a:gd name="adj6" fmla="val -83333"/>
              </a:avLst>
            </a:prstGeom>
            <a:noFill/>
            <a:ln w="349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spcBef>
                  <a:spcPct val="50000"/>
                </a:spcBef>
              </a:pPr>
              <a:endParaRPr lang="zh-CN" altLang="en-US" sz="2800" b="0" i="0">
                <a:latin typeface="宋体" pitchFamily="2" charset="-122"/>
              </a:endParaRPr>
            </a:p>
          </p:txBody>
        </p:sp>
      </p:grpSp>
      <p:grpSp>
        <p:nvGrpSpPr>
          <p:cNvPr id="4" name="Group 13"/>
          <p:cNvGrpSpPr>
            <a:grpSpLocks/>
          </p:cNvGrpSpPr>
          <p:nvPr/>
        </p:nvGrpSpPr>
        <p:grpSpPr bwMode="auto">
          <a:xfrm>
            <a:off x="2311400" y="914400"/>
            <a:ext cx="1733550" cy="1600200"/>
            <a:chOff x="1344" y="768"/>
            <a:chExt cx="1008" cy="1008"/>
          </a:xfrm>
        </p:grpSpPr>
        <p:sp>
          <p:nvSpPr>
            <p:cNvPr id="37900" name="AutoShape 14"/>
            <p:cNvSpPr>
              <a:spLocks noChangeArrowheads="1"/>
            </p:cNvSpPr>
            <p:nvPr/>
          </p:nvSpPr>
          <p:spPr bwMode="auto">
            <a:xfrm>
              <a:off x="1344" y="1104"/>
              <a:ext cx="816" cy="672"/>
            </a:xfrm>
            <a:prstGeom prst="bracketPair">
              <a:avLst>
                <a:gd name="adj" fmla="val 16667"/>
              </a:avLst>
            </a:prstGeom>
            <a:noFill/>
            <a:ln w="349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01" name="AutoShape 15"/>
            <p:cNvSpPr>
              <a:spLocks/>
            </p:cNvSpPr>
            <p:nvPr/>
          </p:nvSpPr>
          <p:spPr bwMode="auto">
            <a:xfrm>
              <a:off x="1968" y="820"/>
              <a:ext cx="384" cy="349"/>
            </a:xfrm>
            <a:prstGeom prst="borderCallout2">
              <a:avLst>
                <a:gd name="adj1" fmla="val 27588"/>
                <a:gd name="adj2" fmla="val -12500"/>
                <a:gd name="adj3" fmla="val 27588"/>
                <a:gd name="adj4" fmla="val -47134"/>
                <a:gd name="adj5" fmla="val 73565"/>
                <a:gd name="adj6" fmla="val -83333"/>
              </a:avLst>
            </a:prstGeom>
            <a:noFill/>
            <a:ln w="349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spcBef>
                  <a:spcPct val="50000"/>
                </a:spcBef>
              </a:pPr>
              <a:endParaRPr lang="zh-CN" altLang="en-US" sz="2800" b="0" i="0">
                <a:latin typeface="宋体" pitchFamily="2" charset="-122"/>
              </a:endParaRPr>
            </a:p>
          </p:txBody>
        </p:sp>
        <p:sp>
          <p:nvSpPr>
            <p:cNvPr id="37902" name="Text Box 16"/>
            <p:cNvSpPr txBox="1">
              <a:spLocks noChangeArrowheads="1"/>
            </p:cNvSpPr>
            <p:nvPr/>
          </p:nvSpPr>
          <p:spPr bwMode="auto">
            <a:xfrm>
              <a:off x="2016" y="768"/>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en-US" altLang="zh-CN" sz="3200" i="0">
                  <a:latin typeface="宋体" pitchFamily="2" charset="-122"/>
                </a:rPr>
                <a:t>a</a:t>
              </a:r>
              <a:endParaRPr lang="en-US" altLang="zh-CN" sz="2800" b="0" i="0">
                <a:latin typeface="宋体" pitchFamily="2" charset="-122"/>
              </a:endParaRPr>
            </a:p>
          </p:txBody>
        </p:sp>
      </p:grpSp>
      <p:graphicFrame>
        <p:nvGraphicFramePr>
          <p:cNvPr id="785425" name="Object 17"/>
          <p:cNvGraphicFramePr>
            <a:graphicFrameLocks noChangeAspect="1"/>
          </p:cNvGraphicFramePr>
          <p:nvPr/>
        </p:nvGraphicFramePr>
        <p:xfrm>
          <a:off x="1128713" y="4979988"/>
          <a:ext cx="3214687" cy="506412"/>
        </p:xfrm>
        <a:graphic>
          <a:graphicData uri="http://schemas.openxmlformats.org/presentationml/2006/ole">
            <mc:AlternateContent xmlns:mc="http://schemas.openxmlformats.org/markup-compatibility/2006">
              <mc:Choice xmlns:v="urn:schemas-microsoft-com:vml" Requires="v">
                <p:oleObj spid="_x0000_s37976" name="Equation" r:id="rId7" imgW="1242160" imgH="190465" progId="Equation.3">
                  <p:embed/>
                </p:oleObj>
              </mc:Choice>
              <mc:Fallback>
                <p:oleObj name="Equation" r:id="rId7" imgW="1242160" imgH="190465"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8713" y="4979988"/>
                        <a:ext cx="321468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5426" name="Object 18"/>
          <p:cNvGraphicFramePr>
            <a:graphicFrameLocks noChangeAspect="1"/>
          </p:cNvGraphicFramePr>
          <p:nvPr/>
        </p:nvGraphicFramePr>
        <p:xfrm>
          <a:off x="1127125" y="5516563"/>
          <a:ext cx="8051800" cy="1139825"/>
        </p:xfrm>
        <a:graphic>
          <a:graphicData uri="http://schemas.openxmlformats.org/presentationml/2006/ole">
            <mc:AlternateContent xmlns:mc="http://schemas.openxmlformats.org/markup-compatibility/2006">
              <mc:Choice xmlns:v="urn:schemas-microsoft-com:vml" Requires="v">
                <p:oleObj spid="_x0000_s37977" name="公式" r:id="rId9" imgW="3131746" imgH="442043" progId="Equation.3">
                  <p:embed/>
                </p:oleObj>
              </mc:Choice>
              <mc:Fallback>
                <p:oleObj name="公式" r:id="rId9" imgW="3131746" imgH="442043"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7125" y="5516563"/>
                        <a:ext cx="80518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200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nodeType="afterGroup">
                            <p:stCondLst>
                              <p:cond delay="2500"/>
                            </p:stCondLst>
                            <p:childTnLst>
                              <p:par>
                                <p:cTn id="10" presetID="23" presetClass="entr" presetSubtype="16" fill="hold" nodeType="afterEffect">
                                  <p:stCondLst>
                                    <p:cond delay="200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par>
                          <p:cTn id="14" fill="hold" nodeType="afterGroup">
                            <p:stCondLst>
                              <p:cond delay="5000"/>
                            </p:stCondLst>
                            <p:childTnLst>
                              <p:par>
                                <p:cTn id="15" presetID="23" presetClass="entr" presetSubtype="16" fill="hold" nodeType="afterEffect">
                                  <p:stCondLst>
                                    <p:cond delay="200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785411">
                                            <p:txEl>
                                              <p:pRg st="0" end="0"/>
                                            </p:txEl>
                                          </p:spTgt>
                                        </p:tgtEl>
                                        <p:attrNameLst>
                                          <p:attrName>style.visibility</p:attrName>
                                        </p:attrNameLst>
                                      </p:cBhvr>
                                      <p:to>
                                        <p:strVal val="visible"/>
                                      </p:to>
                                    </p:set>
                                    <p:animEffect transition="in" filter="wipe(left)">
                                      <p:cBhvr>
                                        <p:cTn id="23" dur="75"/>
                                        <p:tgtEl>
                                          <p:spTgt spid="785411">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785411">
                                            <p:txEl>
                                              <p:pRg st="1" end="1"/>
                                            </p:txEl>
                                          </p:spTgt>
                                        </p:tgtEl>
                                        <p:attrNameLst>
                                          <p:attrName>style.visibility</p:attrName>
                                        </p:attrNameLst>
                                      </p:cBhvr>
                                      <p:to>
                                        <p:strVal val="visible"/>
                                      </p:to>
                                    </p:set>
                                    <p:animEffect transition="in" filter="wipe(left)">
                                      <p:cBhvr>
                                        <p:cTn id="28" dur="75"/>
                                        <p:tgtEl>
                                          <p:spTgt spid="785411">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iterate type="lt">
                                    <p:tmPct val="100000"/>
                                  </p:iterate>
                                  <p:childTnLst>
                                    <p:set>
                                      <p:cBhvr>
                                        <p:cTn id="32" dur="1" fill="hold">
                                          <p:stCondLst>
                                            <p:cond delay="0"/>
                                          </p:stCondLst>
                                        </p:cTn>
                                        <p:tgtEl>
                                          <p:spTgt spid="785411">
                                            <p:txEl>
                                              <p:pRg st="2" end="2"/>
                                            </p:txEl>
                                          </p:spTgt>
                                        </p:tgtEl>
                                        <p:attrNameLst>
                                          <p:attrName>style.visibility</p:attrName>
                                        </p:attrNameLst>
                                      </p:cBhvr>
                                      <p:to>
                                        <p:strVal val="visible"/>
                                      </p:to>
                                    </p:set>
                                    <p:animEffect transition="in" filter="wipe(left)">
                                      <p:cBhvr>
                                        <p:cTn id="33" dur="75"/>
                                        <p:tgtEl>
                                          <p:spTgt spid="785411">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iterate type="lt">
                                    <p:tmPct val="100000"/>
                                  </p:iterate>
                                  <p:childTnLst>
                                    <p:set>
                                      <p:cBhvr>
                                        <p:cTn id="37" dur="1" fill="hold">
                                          <p:stCondLst>
                                            <p:cond delay="0"/>
                                          </p:stCondLst>
                                        </p:cTn>
                                        <p:tgtEl>
                                          <p:spTgt spid="785411">
                                            <p:txEl>
                                              <p:pRg st="3" end="3"/>
                                            </p:txEl>
                                          </p:spTgt>
                                        </p:tgtEl>
                                        <p:attrNameLst>
                                          <p:attrName>style.visibility</p:attrName>
                                        </p:attrNameLst>
                                      </p:cBhvr>
                                      <p:to>
                                        <p:strVal val="visible"/>
                                      </p:to>
                                    </p:set>
                                    <p:animEffect transition="in" filter="wipe(left)">
                                      <p:cBhvr>
                                        <p:cTn id="38" dur="75"/>
                                        <p:tgtEl>
                                          <p:spTgt spid="785411">
                                            <p:txEl>
                                              <p:pRg st="3" end="3"/>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785411">
                                            <p:txEl>
                                              <p:pRg st="4" end="4"/>
                                            </p:txEl>
                                          </p:spTgt>
                                        </p:tgtEl>
                                        <p:attrNameLst>
                                          <p:attrName>style.visibility</p:attrName>
                                        </p:attrNameLst>
                                      </p:cBhvr>
                                      <p:to>
                                        <p:strVal val="visible"/>
                                      </p:to>
                                    </p:set>
                                    <p:animEffect transition="in" filter="wipe(left)">
                                      <p:cBhvr>
                                        <p:cTn id="43" dur="75"/>
                                        <p:tgtEl>
                                          <p:spTgt spid="785411">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iterate type="lt">
                                    <p:tmPct val="100000"/>
                                  </p:iterate>
                                  <p:childTnLst>
                                    <p:set>
                                      <p:cBhvr>
                                        <p:cTn id="47" dur="1" fill="hold">
                                          <p:stCondLst>
                                            <p:cond delay="0"/>
                                          </p:stCondLst>
                                        </p:cTn>
                                        <p:tgtEl>
                                          <p:spTgt spid="785411">
                                            <p:txEl>
                                              <p:pRg st="5" end="5"/>
                                            </p:txEl>
                                          </p:spTgt>
                                        </p:tgtEl>
                                        <p:attrNameLst>
                                          <p:attrName>style.visibility</p:attrName>
                                        </p:attrNameLst>
                                      </p:cBhvr>
                                      <p:to>
                                        <p:strVal val="visible"/>
                                      </p:to>
                                    </p:set>
                                    <p:animEffect transition="in" filter="wipe(left)">
                                      <p:cBhvr>
                                        <p:cTn id="48" dur="75"/>
                                        <p:tgtEl>
                                          <p:spTgt spid="785411">
                                            <p:txEl>
                                              <p:pRg st="5" end="5"/>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8" fill="hold" nodeType="clickEffect">
                                  <p:stCondLst>
                                    <p:cond delay="0"/>
                                  </p:stCondLst>
                                  <p:childTnLst>
                                    <p:set>
                                      <p:cBhvr>
                                        <p:cTn id="52" dur="1" fill="hold">
                                          <p:stCondLst>
                                            <p:cond delay="0"/>
                                          </p:stCondLst>
                                        </p:cTn>
                                        <p:tgtEl>
                                          <p:spTgt spid="785425"/>
                                        </p:tgtEl>
                                        <p:attrNameLst>
                                          <p:attrName>style.visibility</p:attrName>
                                        </p:attrNameLst>
                                      </p:cBhvr>
                                      <p:to>
                                        <p:strVal val="visible"/>
                                      </p:to>
                                    </p:set>
                                    <p:anim calcmode="lin" valueType="num">
                                      <p:cBhvr>
                                        <p:cTn id="53" dur="500" fill="hold"/>
                                        <p:tgtEl>
                                          <p:spTgt spid="785425"/>
                                        </p:tgtEl>
                                        <p:attrNameLst>
                                          <p:attrName>ppt_x</p:attrName>
                                        </p:attrNameLst>
                                      </p:cBhvr>
                                      <p:tavLst>
                                        <p:tav tm="0">
                                          <p:val>
                                            <p:strVal val="#ppt_x-#ppt_w/2"/>
                                          </p:val>
                                        </p:tav>
                                        <p:tav tm="100000">
                                          <p:val>
                                            <p:strVal val="#ppt_x"/>
                                          </p:val>
                                        </p:tav>
                                      </p:tavLst>
                                    </p:anim>
                                    <p:anim calcmode="lin" valueType="num">
                                      <p:cBhvr>
                                        <p:cTn id="54" dur="500" fill="hold"/>
                                        <p:tgtEl>
                                          <p:spTgt spid="785425"/>
                                        </p:tgtEl>
                                        <p:attrNameLst>
                                          <p:attrName>ppt_y</p:attrName>
                                        </p:attrNameLst>
                                      </p:cBhvr>
                                      <p:tavLst>
                                        <p:tav tm="0">
                                          <p:val>
                                            <p:strVal val="#ppt_y"/>
                                          </p:val>
                                        </p:tav>
                                        <p:tav tm="100000">
                                          <p:val>
                                            <p:strVal val="#ppt_y"/>
                                          </p:val>
                                        </p:tav>
                                      </p:tavLst>
                                    </p:anim>
                                    <p:anim calcmode="lin" valueType="num">
                                      <p:cBhvr>
                                        <p:cTn id="55" dur="500" fill="hold"/>
                                        <p:tgtEl>
                                          <p:spTgt spid="785425"/>
                                        </p:tgtEl>
                                        <p:attrNameLst>
                                          <p:attrName>ppt_w</p:attrName>
                                        </p:attrNameLst>
                                      </p:cBhvr>
                                      <p:tavLst>
                                        <p:tav tm="0">
                                          <p:val>
                                            <p:fltVal val="0"/>
                                          </p:val>
                                        </p:tav>
                                        <p:tav tm="100000">
                                          <p:val>
                                            <p:strVal val="#ppt_w"/>
                                          </p:val>
                                        </p:tav>
                                      </p:tavLst>
                                    </p:anim>
                                    <p:anim calcmode="lin" valueType="num">
                                      <p:cBhvr>
                                        <p:cTn id="56" dur="500" fill="hold"/>
                                        <p:tgtEl>
                                          <p:spTgt spid="785425"/>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8" fill="hold" nodeType="clickEffect">
                                  <p:stCondLst>
                                    <p:cond delay="0"/>
                                  </p:stCondLst>
                                  <p:childTnLst>
                                    <p:set>
                                      <p:cBhvr>
                                        <p:cTn id="60" dur="1" fill="hold">
                                          <p:stCondLst>
                                            <p:cond delay="0"/>
                                          </p:stCondLst>
                                        </p:cTn>
                                        <p:tgtEl>
                                          <p:spTgt spid="785426"/>
                                        </p:tgtEl>
                                        <p:attrNameLst>
                                          <p:attrName>style.visibility</p:attrName>
                                        </p:attrNameLst>
                                      </p:cBhvr>
                                      <p:to>
                                        <p:strVal val="visible"/>
                                      </p:to>
                                    </p:set>
                                    <p:anim calcmode="lin" valueType="num">
                                      <p:cBhvr>
                                        <p:cTn id="61" dur="500" fill="hold"/>
                                        <p:tgtEl>
                                          <p:spTgt spid="785426"/>
                                        </p:tgtEl>
                                        <p:attrNameLst>
                                          <p:attrName>ppt_x</p:attrName>
                                        </p:attrNameLst>
                                      </p:cBhvr>
                                      <p:tavLst>
                                        <p:tav tm="0">
                                          <p:val>
                                            <p:strVal val="#ppt_x-#ppt_w/2"/>
                                          </p:val>
                                        </p:tav>
                                        <p:tav tm="100000">
                                          <p:val>
                                            <p:strVal val="#ppt_x"/>
                                          </p:val>
                                        </p:tav>
                                      </p:tavLst>
                                    </p:anim>
                                    <p:anim calcmode="lin" valueType="num">
                                      <p:cBhvr>
                                        <p:cTn id="62" dur="500" fill="hold"/>
                                        <p:tgtEl>
                                          <p:spTgt spid="785426"/>
                                        </p:tgtEl>
                                        <p:attrNameLst>
                                          <p:attrName>ppt_y</p:attrName>
                                        </p:attrNameLst>
                                      </p:cBhvr>
                                      <p:tavLst>
                                        <p:tav tm="0">
                                          <p:val>
                                            <p:strVal val="#ppt_y"/>
                                          </p:val>
                                        </p:tav>
                                        <p:tav tm="100000">
                                          <p:val>
                                            <p:strVal val="#ppt_y"/>
                                          </p:val>
                                        </p:tav>
                                      </p:tavLst>
                                    </p:anim>
                                    <p:anim calcmode="lin" valueType="num">
                                      <p:cBhvr>
                                        <p:cTn id="63" dur="500" fill="hold"/>
                                        <p:tgtEl>
                                          <p:spTgt spid="785426"/>
                                        </p:tgtEl>
                                        <p:attrNameLst>
                                          <p:attrName>ppt_w</p:attrName>
                                        </p:attrNameLst>
                                      </p:cBhvr>
                                      <p:tavLst>
                                        <p:tav tm="0">
                                          <p:val>
                                            <p:fltVal val="0"/>
                                          </p:val>
                                        </p:tav>
                                        <p:tav tm="100000">
                                          <p:val>
                                            <p:strVal val="#ppt_w"/>
                                          </p:val>
                                        </p:tav>
                                      </p:tavLst>
                                    </p:anim>
                                    <p:anim calcmode="lin" valueType="num">
                                      <p:cBhvr>
                                        <p:cTn id="64" dur="500" fill="hold"/>
                                        <p:tgtEl>
                                          <p:spTgt spid="7854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1"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A1D37046-5625-4CA5-8C20-D8CBC222D655}" type="slidenum">
              <a:rPr lang="zh-CN" altLang="en-US" i="0" smtClean="0"/>
              <a:pPr/>
              <a:t>40</a:t>
            </a:fld>
            <a:endParaRPr lang="en-US" altLang="zh-CN" i="0" smtClean="0"/>
          </a:p>
        </p:txBody>
      </p:sp>
      <p:sp>
        <p:nvSpPr>
          <p:cNvPr id="3891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A4FB0CB-FDB1-438B-AE7B-5771720CEAF0}" type="datetime1">
              <a:rPr lang="zh-CN" altLang="en-US" sz="1800" i="0" smtClean="0"/>
              <a:pPr/>
              <a:t>2024/9/8</a:t>
            </a:fld>
            <a:endParaRPr lang="en-US" altLang="zh-CN" sz="1000" i="0" smtClean="0"/>
          </a:p>
        </p:txBody>
      </p:sp>
      <p:sp>
        <p:nvSpPr>
          <p:cNvPr id="38916" name="Rectangle 2"/>
          <p:cNvSpPr>
            <a:spLocks noGrp="1" noChangeArrowheads="1"/>
          </p:cNvSpPr>
          <p:nvPr>
            <p:ph type="body" idx="1"/>
          </p:nvPr>
        </p:nvSpPr>
        <p:spPr>
          <a:xfrm>
            <a:off x="412750" y="1447800"/>
            <a:ext cx="9493250" cy="438150"/>
          </a:xfrm>
        </p:spPr>
        <p:txBody>
          <a:bodyPr/>
          <a:lstStyle/>
          <a:p>
            <a:r>
              <a:rPr lang="zh-CN" altLang="en-US" sz="3200" smtClean="0">
                <a:latin typeface="宋体" pitchFamily="2" charset="-122"/>
              </a:rPr>
              <a:t>例1.9  试用5位有效数字计算</a:t>
            </a:r>
            <a:r>
              <a:rPr lang="en-US" altLang="zh-CN" sz="3200" i="1" smtClean="0"/>
              <a:t>e</a:t>
            </a:r>
            <a:r>
              <a:rPr lang="en-US" altLang="zh-CN" sz="3200" baseline="30000" smtClean="0">
                <a:latin typeface="宋体" pitchFamily="2" charset="-122"/>
              </a:rPr>
              <a:t>-5.5</a:t>
            </a:r>
            <a:r>
              <a:rPr lang="zh-CN" altLang="en-US" sz="3200" smtClean="0">
                <a:latin typeface="宋体" pitchFamily="2" charset="-122"/>
              </a:rPr>
              <a:t>的值(</a:t>
            </a:r>
            <a:r>
              <a:rPr lang="en-US" altLang="zh-CN" sz="3200" smtClean="0">
                <a:latin typeface="宋体" pitchFamily="2" charset="-122"/>
              </a:rPr>
              <a:t>P17)</a:t>
            </a:r>
          </a:p>
        </p:txBody>
      </p:sp>
      <p:sp>
        <p:nvSpPr>
          <p:cNvPr id="870403" name="Rectangle 3"/>
          <p:cNvSpPr>
            <a:spLocks noGrp="1" noChangeArrowheads="1"/>
          </p:cNvSpPr>
          <p:nvPr>
            <p:ph type="title"/>
          </p:nvPr>
        </p:nvSpPr>
        <p:spPr>
          <a:xfrm>
            <a:off x="650875" y="92075"/>
            <a:ext cx="8820150" cy="822325"/>
          </a:xfrm>
        </p:spPr>
        <p:txBody>
          <a:bodyPr/>
          <a:lstStyle/>
          <a:p>
            <a:pPr>
              <a:defRPr/>
            </a:pPr>
            <a:r>
              <a:rPr lang="zh-CN" altLang="en-US" smtClean="0"/>
              <a:t>§4</a:t>
            </a:r>
            <a:r>
              <a:rPr lang="zh-CN" altLang="en-US" sz="6000" smtClean="0"/>
              <a:t>  </a:t>
            </a:r>
            <a:r>
              <a:rPr lang="zh-CN" altLang="en-US" smtClean="0"/>
              <a:t>算法举例</a:t>
            </a:r>
          </a:p>
        </p:txBody>
      </p:sp>
      <p:sp>
        <p:nvSpPr>
          <p:cNvPr id="38918" name="Rectangle 4"/>
          <p:cNvSpPr>
            <a:spLocks noChangeArrowheads="1"/>
          </p:cNvSpPr>
          <p:nvPr/>
        </p:nvSpPr>
        <p:spPr bwMode="auto">
          <a:xfrm>
            <a:off x="84138" y="2197100"/>
            <a:ext cx="3063875" cy="4089400"/>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38919" name="Rectangle 5"/>
          <p:cNvSpPr>
            <a:spLocks noChangeArrowheads="1"/>
          </p:cNvSpPr>
          <p:nvPr/>
        </p:nvSpPr>
        <p:spPr bwMode="auto">
          <a:xfrm>
            <a:off x="6350" y="2133600"/>
            <a:ext cx="107950" cy="42354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20" name="Rectangle 6"/>
          <p:cNvSpPr>
            <a:spLocks noChangeArrowheads="1"/>
          </p:cNvSpPr>
          <p:nvPr/>
        </p:nvSpPr>
        <p:spPr bwMode="auto">
          <a:xfrm>
            <a:off x="3054350" y="2133600"/>
            <a:ext cx="93663" cy="42354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21" name="AutoShape 7"/>
          <p:cNvSpPr>
            <a:spLocks noChangeArrowheads="1"/>
          </p:cNvSpPr>
          <p:nvPr/>
        </p:nvSpPr>
        <p:spPr bwMode="auto">
          <a:xfrm>
            <a:off x="22225" y="2135188"/>
            <a:ext cx="3157538" cy="82550"/>
          </a:xfrm>
          <a:custGeom>
            <a:avLst/>
            <a:gdLst>
              <a:gd name="T0" fmla="*/ 2147483647 w 21600"/>
              <a:gd name="T1" fmla="*/ 602856 h 21600"/>
              <a:gd name="T2" fmla="*/ 2147483647 w 21600"/>
              <a:gd name="T3" fmla="*/ 1205712 h 21600"/>
              <a:gd name="T4" fmla="*/ 1149559889 w 21600"/>
              <a:gd name="T5" fmla="*/ 602856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22" name="AutoShape 8"/>
          <p:cNvSpPr>
            <a:spLocks noChangeArrowheads="1"/>
          </p:cNvSpPr>
          <p:nvPr/>
        </p:nvSpPr>
        <p:spPr bwMode="auto">
          <a:xfrm flipV="1">
            <a:off x="0" y="6302375"/>
            <a:ext cx="3157538" cy="98425"/>
          </a:xfrm>
          <a:custGeom>
            <a:avLst/>
            <a:gdLst>
              <a:gd name="T0" fmla="*/ 2147483647 w 21600"/>
              <a:gd name="T1" fmla="*/ 1021843 h 21600"/>
              <a:gd name="T2" fmla="*/ 2147483647 w 21600"/>
              <a:gd name="T3" fmla="*/ 2043658 h 21600"/>
              <a:gd name="T4" fmla="*/ 1287006934 w 21600"/>
              <a:gd name="T5" fmla="*/ 1021843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23" name="Rectangle 9"/>
          <p:cNvSpPr>
            <a:spLocks noChangeArrowheads="1"/>
          </p:cNvSpPr>
          <p:nvPr/>
        </p:nvSpPr>
        <p:spPr bwMode="auto">
          <a:xfrm>
            <a:off x="130175" y="2632075"/>
            <a:ext cx="2865438" cy="3654425"/>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38924" name="Rectangle 10"/>
          <p:cNvSpPr>
            <a:spLocks noChangeArrowheads="1"/>
          </p:cNvSpPr>
          <p:nvPr/>
        </p:nvSpPr>
        <p:spPr bwMode="auto">
          <a:xfrm>
            <a:off x="131763" y="2209800"/>
            <a:ext cx="2865437" cy="92075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38925" name="Text Box 11"/>
          <p:cNvSpPr txBox="1">
            <a:spLocks noChangeAspect="1" noChangeArrowheads="1"/>
          </p:cNvSpPr>
          <p:nvPr/>
        </p:nvSpPr>
        <p:spPr bwMode="auto">
          <a:xfrm>
            <a:off x="247650" y="2484438"/>
            <a:ext cx="22955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endParaRPr lang="en-US" altLang="en-US" i="0">
              <a:latin typeface="Times New Roman" pitchFamily="18" charset="0"/>
              <a:ea typeface="PMingLiU" pitchFamily="18" charset="-120"/>
            </a:endParaRPr>
          </a:p>
        </p:txBody>
      </p:sp>
      <p:sp>
        <p:nvSpPr>
          <p:cNvPr id="38926" name="Rectangle 12"/>
          <p:cNvSpPr>
            <a:spLocks noChangeArrowheads="1"/>
          </p:cNvSpPr>
          <p:nvPr/>
        </p:nvSpPr>
        <p:spPr bwMode="auto">
          <a:xfrm>
            <a:off x="220663" y="3230563"/>
            <a:ext cx="3163887" cy="2973387"/>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i="0">
                <a:latin typeface="Times New Roman" pitchFamily="18" charset="0"/>
              </a:rPr>
              <a:t> </a:t>
            </a:r>
            <a:r>
              <a:rPr lang="zh-CN" altLang="en-US" sz="2200" i="0">
                <a:solidFill>
                  <a:schemeClr val="bg1"/>
                </a:solidFill>
                <a:latin typeface="Times New Roman" pitchFamily="18" charset="0"/>
              </a:rPr>
              <a:t>0    1             1</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 1   -5.5000   -4.5000</a:t>
            </a:r>
          </a:p>
          <a:p>
            <a:pPr marL="258763" indent="-258763" algn="l" defTabSz="814388">
              <a:lnSpc>
                <a:spcPct val="85000"/>
              </a:lnSpc>
              <a:spcBef>
                <a:spcPct val="30000"/>
              </a:spcBef>
              <a:buSzPct val="60000"/>
              <a:buFont typeface="Wingdings" pitchFamily="2" charset="2"/>
              <a:buNone/>
            </a:pPr>
            <a:r>
              <a:rPr lang="zh-CN" altLang="en-US" sz="2200" i="0">
                <a:latin typeface="Times New Roman" pitchFamily="18" charset="0"/>
              </a:rPr>
              <a:t> </a:t>
            </a:r>
            <a:r>
              <a:rPr lang="zh-CN" altLang="en-US" sz="2200" i="0">
                <a:solidFill>
                  <a:srgbClr val="66FF66"/>
                </a:solidFill>
                <a:latin typeface="Times New Roman" pitchFamily="18" charset="0"/>
              </a:rPr>
              <a:t>2   15.125    10.625</a:t>
            </a:r>
          </a:p>
          <a:p>
            <a:pPr marL="258763" indent="-258763" algn="l" defTabSz="814388">
              <a:lnSpc>
                <a:spcPct val="85000"/>
              </a:lnSpc>
              <a:spcBef>
                <a:spcPct val="30000"/>
              </a:spcBef>
              <a:buSzPct val="60000"/>
              <a:buFont typeface="Wingdings" pitchFamily="2" charset="2"/>
              <a:buNone/>
            </a:pPr>
            <a:r>
              <a:rPr lang="zh-CN" altLang="en-US" sz="2200" i="0">
                <a:solidFill>
                  <a:srgbClr val="66FF66"/>
                </a:solidFill>
                <a:latin typeface="Times New Roman" pitchFamily="18" charset="0"/>
              </a:rPr>
              <a:t> 3   -27.730   -17.105</a:t>
            </a:r>
          </a:p>
          <a:p>
            <a:pPr marL="258763" indent="-258763" algn="l" defTabSz="814388">
              <a:lnSpc>
                <a:spcPct val="85000"/>
              </a:lnSpc>
              <a:spcBef>
                <a:spcPct val="30000"/>
              </a:spcBef>
              <a:buSzPct val="60000"/>
              <a:buFont typeface="Wingdings" pitchFamily="2" charset="2"/>
              <a:buNone/>
            </a:pPr>
            <a:r>
              <a:rPr lang="zh-CN" altLang="en-US" sz="2200" i="0">
                <a:solidFill>
                  <a:srgbClr val="66FF66"/>
                </a:solidFill>
                <a:latin typeface="Times New Roman" pitchFamily="18" charset="0"/>
              </a:rPr>
              <a:t> 4   38.446    17.528</a:t>
            </a:r>
          </a:p>
          <a:p>
            <a:pPr marL="258763" indent="-258763" algn="l" defTabSz="814388">
              <a:lnSpc>
                <a:spcPct val="85000"/>
              </a:lnSpc>
              <a:spcBef>
                <a:spcPct val="30000"/>
              </a:spcBef>
              <a:buSzPct val="60000"/>
              <a:buFont typeface="Wingdings" pitchFamily="2" charset="2"/>
              <a:buNone/>
            </a:pPr>
            <a:r>
              <a:rPr lang="zh-CN" altLang="en-US" sz="2200" i="0">
                <a:solidFill>
                  <a:srgbClr val="66FF66"/>
                </a:solidFill>
                <a:latin typeface="Times New Roman" pitchFamily="18" charset="0"/>
              </a:rPr>
              <a:t> 5   -41.942   -20.918</a:t>
            </a:r>
          </a:p>
          <a:p>
            <a:pPr marL="258763" indent="-258763" algn="l" defTabSz="814388">
              <a:lnSpc>
                <a:spcPct val="85000"/>
              </a:lnSpc>
              <a:spcBef>
                <a:spcPct val="30000"/>
              </a:spcBef>
              <a:buSzPct val="60000"/>
              <a:buFont typeface="Wingdings" pitchFamily="2" charset="2"/>
              <a:buNone/>
            </a:pPr>
            <a:r>
              <a:rPr lang="zh-CN" altLang="en-US" sz="2200" i="0">
                <a:solidFill>
                  <a:srgbClr val="66FF66"/>
                </a:solidFill>
                <a:latin typeface="Times New Roman" pitchFamily="18" charset="0"/>
              </a:rPr>
              <a:t> 6   38.446    17.528</a:t>
            </a:r>
          </a:p>
          <a:p>
            <a:pPr marL="258763" indent="-258763" algn="l" defTabSz="814388">
              <a:lnSpc>
                <a:spcPct val="85000"/>
              </a:lnSpc>
              <a:spcBef>
                <a:spcPct val="30000"/>
              </a:spcBef>
              <a:buSzPct val="60000"/>
              <a:buFont typeface="Wingdings" pitchFamily="2" charset="2"/>
              <a:buNone/>
            </a:pPr>
            <a:r>
              <a:rPr lang="zh-CN" altLang="en-US" sz="2200" i="0">
                <a:solidFill>
                  <a:srgbClr val="66FF66"/>
                </a:solidFill>
                <a:latin typeface="Times New Roman" pitchFamily="18" charset="0"/>
              </a:rPr>
              <a:t> 7   -39.208   -12.680</a:t>
            </a:r>
          </a:p>
        </p:txBody>
      </p:sp>
      <p:graphicFrame>
        <p:nvGraphicFramePr>
          <p:cNvPr id="38927" name="Object 13"/>
          <p:cNvGraphicFramePr>
            <a:graphicFrameLocks noChangeAspect="1"/>
          </p:cNvGraphicFramePr>
          <p:nvPr/>
        </p:nvGraphicFramePr>
        <p:xfrm>
          <a:off x="742950" y="2217738"/>
          <a:ext cx="661988" cy="915987"/>
        </p:xfrm>
        <a:graphic>
          <a:graphicData uri="http://schemas.openxmlformats.org/presentationml/2006/ole">
            <mc:AlternateContent xmlns:mc="http://schemas.openxmlformats.org/markup-compatibility/2006">
              <mc:Choice xmlns:v="urn:schemas-microsoft-com:vml" Requires="v">
                <p:oleObj spid="_x0000_s39088" name="公式" r:id="rId4" imgW="215806" imgH="418918" progId="Equation.3">
                  <p:embed/>
                </p:oleObj>
              </mc:Choice>
              <mc:Fallback>
                <p:oleObj name="公式" r:id="rId4" imgW="215806" imgH="418918"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50" y="2217738"/>
                        <a:ext cx="6619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8" name="Object 14"/>
          <p:cNvGraphicFramePr>
            <a:graphicFrameLocks noChangeAspect="1"/>
          </p:cNvGraphicFramePr>
          <p:nvPr/>
        </p:nvGraphicFramePr>
        <p:xfrm>
          <a:off x="1898650" y="2217738"/>
          <a:ext cx="973138" cy="915987"/>
        </p:xfrm>
        <a:graphic>
          <a:graphicData uri="http://schemas.openxmlformats.org/presentationml/2006/ole">
            <mc:AlternateContent xmlns:mc="http://schemas.openxmlformats.org/markup-compatibility/2006">
              <mc:Choice xmlns:v="urn:schemas-microsoft-com:vml" Requires="v">
                <p:oleObj spid="_x0000_s39089" name="公式" r:id="rId6" imgW="406048" imgH="444114" progId="Equation.3">
                  <p:embed/>
                </p:oleObj>
              </mc:Choice>
              <mc:Fallback>
                <p:oleObj name="公式" r:id="rId6" imgW="406048" imgH="444114"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8650" y="2217738"/>
                        <a:ext cx="97313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9" name="Rectangle 15"/>
          <p:cNvSpPr>
            <a:spLocks noChangeArrowheads="1"/>
          </p:cNvSpPr>
          <p:nvPr/>
        </p:nvSpPr>
        <p:spPr bwMode="auto">
          <a:xfrm>
            <a:off x="3221038" y="2197100"/>
            <a:ext cx="3063875" cy="4089400"/>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38930" name="Rectangle 16"/>
          <p:cNvSpPr>
            <a:spLocks noChangeArrowheads="1"/>
          </p:cNvSpPr>
          <p:nvPr/>
        </p:nvSpPr>
        <p:spPr bwMode="auto">
          <a:xfrm>
            <a:off x="3143250" y="2133600"/>
            <a:ext cx="107950" cy="42354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31" name="Rectangle 17"/>
          <p:cNvSpPr>
            <a:spLocks noChangeArrowheads="1"/>
          </p:cNvSpPr>
          <p:nvPr/>
        </p:nvSpPr>
        <p:spPr bwMode="auto">
          <a:xfrm>
            <a:off x="6191250" y="2133600"/>
            <a:ext cx="93663" cy="42354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32" name="AutoShape 18"/>
          <p:cNvSpPr>
            <a:spLocks noChangeArrowheads="1"/>
          </p:cNvSpPr>
          <p:nvPr/>
        </p:nvSpPr>
        <p:spPr bwMode="auto">
          <a:xfrm>
            <a:off x="3159125" y="2135188"/>
            <a:ext cx="3157538" cy="82550"/>
          </a:xfrm>
          <a:custGeom>
            <a:avLst/>
            <a:gdLst>
              <a:gd name="T0" fmla="*/ 2147483647 w 21600"/>
              <a:gd name="T1" fmla="*/ 602856 h 21600"/>
              <a:gd name="T2" fmla="*/ 2147483647 w 21600"/>
              <a:gd name="T3" fmla="*/ 1205712 h 21600"/>
              <a:gd name="T4" fmla="*/ 1149559889 w 21600"/>
              <a:gd name="T5" fmla="*/ 602856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33" name="AutoShape 19"/>
          <p:cNvSpPr>
            <a:spLocks noChangeArrowheads="1"/>
          </p:cNvSpPr>
          <p:nvPr/>
        </p:nvSpPr>
        <p:spPr bwMode="auto">
          <a:xfrm flipV="1">
            <a:off x="3136900" y="6302375"/>
            <a:ext cx="3157538" cy="98425"/>
          </a:xfrm>
          <a:custGeom>
            <a:avLst/>
            <a:gdLst>
              <a:gd name="T0" fmla="*/ 2147483647 w 21600"/>
              <a:gd name="T1" fmla="*/ 1021843 h 21600"/>
              <a:gd name="T2" fmla="*/ 2147483647 w 21600"/>
              <a:gd name="T3" fmla="*/ 2043658 h 21600"/>
              <a:gd name="T4" fmla="*/ 1287006934 w 21600"/>
              <a:gd name="T5" fmla="*/ 1021843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34" name="Rectangle 20"/>
          <p:cNvSpPr>
            <a:spLocks noChangeArrowheads="1"/>
          </p:cNvSpPr>
          <p:nvPr/>
        </p:nvSpPr>
        <p:spPr bwMode="auto">
          <a:xfrm>
            <a:off x="3267075" y="2632075"/>
            <a:ext cx="2865438" cy="3654425"/>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38935" name="Rectangle 21"/>
          <p:cNvSpPr>
            <a:spLocks noChangeArrowheads="1"/>
          </p:cNvSpPr>
          <p:nvPr/>
        </p:nvSpPr>
        <p:spPr bwMode="auto">
          <a:xfrm>
            <a:off x="3268663" y="2209800"/>
            <a:ext cx="2865437" cy="92075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38936" name="Text Box 22"/>
          <p:cNvSpPr txBox="1">
            <a:spLocks noChangeAspect="1" noChangeArrowheads="1"/>
          </p:cNvSpPr>
          <p:nvPr/>
        </p:nvSpPr>
        <p:spPr bwMode="auto">
          <a:xfrm>
            <a:off x="3384550" y="2486025"/>
            <a:ext cx="2295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endParaRPr lang="en-US" altLang="en-US" i="0">
              <a:latin typeface="Times New Roman" pitchFamily="18" charset="0"/>
              <a:ea typeface="PMingLiU" pitchFamily="18" charset="-120"/>
            </a:endParaRPr>
          </a:p>
        </p:txBody>
      </p:sp>
      <p:sp>
        <p:nvSpPr>
          <p:cNvPr id="38937" name="Rectangle 23"/>
          <p:cNvSpPr>
            <a:spLocks noChangeArrowheads="1"/>
          </p:cNvSpPr>
          <p:nvPr/>
        </p:nvSpPr>
        <p:spPr bwMode="auto">
          <a:xfrm>
            <a:off x="3357563" y="3230563"/>
            <a:ext cx="3163887" cy="2973387"/>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i="0">
                <a:latin typeface="Times New Roman" pitchFamily="18" charset="0"/>
              </a:rPr>
              <a:t> </a:t>
            </a:r>
            <a:r>
              <a:rPr lang="zh-CN" altLang="en-US" sz="2200" i="0">
                <a:solidFill>
                  <a:srgbClr val="66FF66"/>
                </a:solidFill>
                <a:latin typeface="Times New Roman" pitchFamily="18" charset="0"/>
              </a:rPr>
              <a:t>8    20.768      8.088</a:t>
            </a:r>
          </a:p>
          <a:p>
            <a:pPr marL="258763" indent="-258763" algn="l" defTabSz="814388">
              <a:lnSpc>
                <a:spcPct val="85000"/>
              </a:lnSpc>
              <a:spcBef>
                <a:spcPct val="30000"/>
              </a:spcBef>
              <a:buSzPct val="60000"/>
              <a:buFont typeface="Wingdings" pitchFamily="2" charset="2"/>
              <a:buNone/>
            </a:pPr>
            <a:r>
              <a:rPr lang="zh-CN" altLang="en-US" sz="2200" i="0">
                <a:latin typeface="Times New Roman" pitchFamily="18" charset="0"/>
              </a:rPr>
              <a:t> </a:t>
            </a:r>
            <a:r>
              <a:rPr lang="zh-CN" altLang="en-US" sz="2200" i="0">
                <a:solidFill>
                  <a:srgbClr val="00FF00"/>
                </a:solidFill>
                <a:latin typeface="Times New Roman" pitchFamily="18" charset="0"/>
              </a:rPr>
              <a:t>9    -12.692    -4.604</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10   6.9803     2.3763</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11   -3.4902    -1.1139</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12   1.5997     0.4858</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13   -0.6767  -0.19096</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14  0.26587   0.07491</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15  -0.09749 -0.02258</a:t>
            </a:r>
            <a:endParaRPr lang="zh-CN" altLang="en-US" i="0">
              <a:solidFill>
                <a:schemeClr val="bg1"/>
              </a:solidFill>
              <a:latin typeface="Times New Roman" pitchFamily="18" charset="0"/>
            </a:endParaRPr>
          </a:p>
        </p:txBody>
      </p:sp>
      <p:graphicFrame>
        <p:nvGraphicFramePr>
          <p:cNvPr id="38938" name="Object 24"/>
          <p:cNvGraphicFramePr>
            <a:graphicFrameLocks noChangeAspect="1"/>
          </p:cNvGraphicFramePr>
          <p:nvPr/>
        </p:nvGraphicFramePr>
        <p:xfrm>
          <a:off x="3879850" y="2217738"/>
          <a:ext cx="661988" cy="915987"/>
        </p:xfrm>
        <a:graphic>
          <a:graphicData uri="http://schemas.openxmlformats.org/presentationml/2006/ole">
            <mc:AlternateContent xmlns:mc="http://schemas.openxmlformats.org/markup-compatibility/2006">
              <mc:Choice xmlns:v="urn:schemas-microsoft-com:vml" Requires="v">
                <p:oleObj spid="_x0000_s39090" name="公式" r:id="rId8" imgW="215806" imgH="418918" progId="Equation.3">
                  <p:embed/>
                </p:oleObj>
              </mc:Choice>
              <mc:Fallback>
                <p:oleObj name="公式" r:id="rId8" imgW="215806" imgH="418918" progId="Equation.3">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9850" y="2217738"/>
                        <a:ext cx="6619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9" name="Object 25"/>
          <p:cNvGraphicFramePr>
            <a:graphicFrameLocks noChangeAspect="1"/>
          </p:cNvGraphicFramePr>
          <p:nvPr/>
        </p:nvGraphicFramePr>
        <p:xfrm>
          <a:off x="5035550" y="2217738"/>
          <a:ext cx="973138" cy="915987"/>
        </p:xfrm>
        <a:graphic>
          <a:graphicData uri="http://schemas.openxmlformats.org/presentationml/2006/ole">
            <mc:AlternateContent xmlns:mc="http://schemas.openxmlformats.org/markup-compatibility/2006">
              <mc:Choice xmlns:v="urn:schemas-microsoft-com:vml" Requires="v">
                <p:oleObj spid="_x0000_s39091" name="公式" r:id="rId9" imgW="406048" imgH="444114" progId="Equation.3">
                  <p:embed/>
                </p:oleObj>
              </mc:Choice>
              <mc:Fallback>
                <p:oleObj name="公式" r:id="rId9" imgW="406048" imgH="444114" progId="Equation.3">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35550" y="2217738"/>
                        <a:ext cx="97313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40" name="Rectangle 26"/>
          <p:cNvSpPr>
            <a:spLocks noChangeArrowheads="1"/>
          </p:cNvSpPr>
          <p:nvPr/>
        </p:nvSpPr>
        <p:spPr bwMode="auto">
          <a:xfrm>
            <a:off x="6365875" y="2197100"/>
            <a:ext cx="3362325" cy="4089400"/>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38941" name="Rectangle 27"/>
          <p:cNvSpPr>
            <a:spLocks noChangeArrowheads="1"/>
          </p:cNvSpPr>
          <p:nvPr/>
        </p:nvSpPr>
        <p:spPr bwMode="auto">
          <a:xfrm>
            <a:off x="6281738" y="2133600"/>
            <a:ext cx="115887" cy="42354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42" name="Rectangle 28"/>
          <p:cNvSpPr>
            <a:spLocks noChangeArrowheads="1"/>
          </p:cNvSpPr>
          <p:nvPr/>
        </p:nvSpPr>
        <p:spPr bwMode="auto">
          <a:xfrm>
            <a:off x="9626600" y="2133600"/>
            <a:ext cx="101600" cy="42354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43" name="AutoShape 29"/>
          <p:cNvSpPr>
            <a:spLocks noChangeArrowheads="1"/>
          </p:cNvSpPr>
          <p:nvPr/>
        </p:nvSpPr>
        <p:spPr bwMode="auto">
          <a:xfrm>
            <a:off x="6297613" y="2135188"/>
            <a:ext cx="3467100" cy="82550"/>
          </a:xfrm>
          <a:custGeom>
            <a:avLst/>
            <a:gdLst>
              <a:gd name="T0" fmla="*/ 2147483647 w 21600"/>
              <a:gd name="T1" fmla="*/ 602856 h 21600"/>
              <a:gd name="T2" fmla="*/ 2147483647 w 21600"/>
              <a:gd name="T3" fmla="*/ 1205712 h 21600"/>
              <a:gd name="T4" fmla="*/ 1521895584 w 21600"/>
              <a:gd name="T5" fmla="*/ 602856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44" name="AutoShape 30"/>
          <p:cNvSpPr>
            <a:spLocks noChangeArrowheads="1"/>
          </p:cNvSpPr>
          <p:nvPr/>
        </p:nvSpPr>
        <p:spPr bwMode="auto">
          <a:xfrm flipV="1">
            <a:off x="6273800" y="6302375"/>
            <a:ext cx="3465513" cy="98425"/>
          </a:xfrm>
          <a:custGeom>
            <a:avLst/>
            <a:gdLst>
              <a:gd name="T0" fmla="*/ 2147483647 w 21600"/>
              <a:gd name="T1" fmla="*/ 1021843 h 21600"/>
              <a:gd name="T2" fmla="*/ 2147483647 w 21600"/>
              <a:gd name="T3" fmla="*/ 2043658 h 21600"/>
              <a:gd name="T4" fmla="*/ 1701514259 w 21600"/>
              <a:gd name="T5" fmla="*/ 1021843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45" name="Rectangle 31"/>
          <p:cNvSpPr>
            <a:spLocks noChangeArrowheads="1"/>
          </p:cNvSpPr>
          <p:nvPr/>
        </p:nvSpPr>
        <p:spPr bwMode="auto">
          <a:xfrm>
            <a:off x="6416675" y="2632075"/>
            <a:ext cx="3144838" cy="3654425"/>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38946" name="Rectangle 32"/>
          <p:cNvSpPr>
            <a:spLocks noChangeArrowheads="1"/>
          </p:cNvSpPr>
          <p:nvPr/>
        </p:nvSpPr>
        <p:spPr bwMode="auto">
          <a:xfrm>
            <a:off x="6419850" y="2209800"/>
            <a:ext cx="3143250" cy="92075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38947" name="Text Box 33"/>
          <p:cNvSpPr txBox="1">
            <a:spLocks noChangeAspect="1" noChangeArrowheads="1"/>
          </p:cNvSpPr>
          <p:nvPr/>
        </p:nvSpPr>
        <p:spPr bwMode="auto">
          <a:xfrm>
            <a:off x="6545263" y="2486025"/>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endParaRPr lang="en-US" altLang="en-US" i="0">
              <a:latin typeface="Times New Roman" pitchFamily="18" charset="0"/>
              <a:ea typeface="PMingLiU" pitchFamily="18" charset="-120"/>
            </a:endParaRPr>
          </a:p>
        </p:txBody>
      </p:sp>
      <p:sp>
        <p:nvSpPr>
          <p:cNvPr id="38948" name="Rectangle 34"/>
          <p:cNvSpPr>
            <a:spLocks noChangeArrowheads="1"/>
          </p:cNvSpPr>
          <p:nvPr/>
        </p:nvSpPr>
        <p:spPr bwMode="auto">
          <a:xfrm>
            <a:off x="6515100" y="3230563"/>
            <a:ext cx="3473450" cy="3009900"/>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16 0.03351    0.01093</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17 -0.010842  0.000088</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18 0.0033127 0.0034007</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19 -0.000958  0.0024418</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20 0.0002637 0.0027055</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21 -0.000069</a:t>
            </a:r>
            <a:r>
              <a:rPr lang="zh-CN" altLang="en-US" sz="2200" i="0">
                <a:latin typeface="Times New Roman" pitchFamily="18" charset="0"/>
              </a:rPr>
              <a:t> </a:t>
            </a:r>
            <a:r>
              <a:rPr lang="zh-CN" altLang="en-US" sz="2400" i="0">
                <a:solidFill>
                  <a:srgbClr val="FFCC00"/>
                </a:solidFill>
                <a:latin typeface="Times New Roman" pitchFamily="18" charset="0"/>
              </a:rPr>
              <a:t>0.0026364</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22 0.0000172 0.0026537</a:t>
            </a:r>
          </a:p>
          <a:p>
            <a:pPr marL="258763" indent="-258763" algn="l" defTabSz="814388">
              <a:lnSpc>
                <a:spcPct val="85000"/>
              </a:lnSpc>
              <a:spcBef>
                <a:spcPct val="30000"/>
              </a:spcBef>
              <a:buSzPct val="60000"/>
              <a:buFont typeface="Wingdings" pitchFamily="2" charset="2"/>
              <a:buNone/>
            </a:pPr>
            <a:r>
              <a:rPr lang="zh-CN" altLang="en-US" sz="2200" i="0">
                <a:solidFill>
                  <a:schemeClr val="bg1"/>
                </a:solidFill>
                <a:latin typeface="Times New Roman" pitchFamily="18" charset="0"/>
              </a:rPr>
              <a:t>23-0.0000041 0.0026496</a:t>
            </a:r>
          </a:p>
        </p:txBody>
      </p:sp>
      <p:graphicFrame>
        <p:nvGraphicFramePr>
          <p:cNvPr id="38949" name="Object 35"/>
          <p:cNvGraphicFramePr>
            <a:graphicFrameLocks noChangeAspect="1"/>
          </p:cNvGraphicFramePr>
          <p:nvPr/>
        </p:nvGraphicFramePr>
        <p:xfrm>
          <a:off x="7089775" y="2217738"/>
          <a:ext cx="725488" cy="915987"/>
        </p:xfrm>
        <a:graphic>
          <a:graphicData uri="http://schemas.openxmlformats.org/presentationml/2006/ole">
            <mc:AlternateContent xmlns:mc="http://schemas.openxmlformats.org/markup-compatibility/2006">
              <mc:Choice xmlns:v="urn:schemas-microsoft-com:vml" Requires="v">
                <p:oleObj spid="_x0000_s39092" name="公式" r:id="rId10" imgW="215806" imgH="418918" progId="Equation.3">
                  <p:embed/>
                </p:oleObj>
              </mc:Choice>
              <mc:Fallback>
                <p:oleObj name="公式" r:id="rId10" imgW="215806" imgH="418918" progId="Equation.3">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9775" y="2217738"/>
                        <a:ext cx="7254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50" name="Object 36"/>
          <p:cNvGraphicFramePr>
            <a:graphicFrameLocks noChangeAspect="1"/>
          </p:cNvGraphicFramePr>
          <p:nvPr/>
        </p:nvGraphicFramePr>
        <p:xfrm>
          <a:off x="8358188" y="2217738"/>
          <a:ext cx="1068387" cy="915987"/>
        </p:xfrm>
        <a:graphic>
          <a:graphicData uri="http://schemas.openxmlformats.org/presentationml/2006/ole">
            <mc:AlternateContent xmlns:mc="http://schemas.openxmlformats.org/markup-compatibility/2006">
              <mc:Choice xmlns:v="urn:schemas-microsoft-com:vml" Requires="v">
                <p:oleObj spid="_x0000_s39093" name="公式" r:id="rId11" imgW="406048" imgH="444114" progId="Equation.3">
                  <p:embed/>
                </p:oleObj>
              </mc:Choice>
              <mc:Fallback>
                <p:oleObj name="公式" r:id="rId11" imgW="406048" imgH="444114" progId="Equation.3">
                  <p:embed/>
                  <p:pic>
                    <p:nvPicPr>
                      <p:cNvPr id="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58188" y="2217738"/>
                        <a:ext cx="1068387"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37" name="Rectangle 37"/>
          <p:cNvSpPr>
            <a:spLocks noChangeArrowheads="1"/>
          </p:cNvSpPr>
          <p:nvPr/>
        </p:nvSpPr>
        <p:spPr bwMode="auto">
          <a:xfrm>
            <a:off x="6356350" y="5029200"/>
            <a:ext cx="3219450" cy="533400"/>
          </a:xfrm>
          <a:prstGeom prst="rect">
            <a:avLst/>
          </a:prstGeom>
          <a:noFill/>
          <a:ln w="41275">
            <a:solidFill>
              <a:srgbClr val="FF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70438" name="AutoShape 38"/>
          <p:cNvSpPr>
            <a:spLocks noChangeArrowheads="1"/>
          </p:cNvSpPr>
          <p:nvPr/>
        </p:nvSpPr>
        <p:spPr bwMode="auto">
          <a:xfrm>
            <a:off x="6934200" y="3048000"/>
            <a:ext cx="2476500" cy="1676400"/>
          </a:xfrm>
          <a:prstGeom prst="star16">
            <a:avLst>
              <a:gd name="adj" fmla="val 37500"/>
            </a:avLst>
          </a:prstGeom>
          <a:solidFill>
            <a:srgbClr val="FF6400"/>
          </a:solidFill>
          <a:ln w="12700">
            <a:solidFill>
              <a:srgbClr val="000000"/>
            </a:solidFill>
            <a:miter lim="800000"/>
            <a:headEnd/>
            <a:tailEnd/>
          </a:ln>
        </p:spPr>
        <p:txBody>
          <a:bodyPr wrap="none" anchor="ctr"/>
          <a:lstStyle/>
          <a:p>
            <a:endParaRPr lang="zh-CN" altLang="en-US"/>
          </a:p>
        </p:txBody>
      </p:sp>
      <p:sp>
        <p:nvSpPr>
          <p:cNvPr id="870439" name="Text Box 39"/>
          <p:cNvSpPr txBox="1">
            <a:spLocks noChangeArrowheads="1"/>
          </p:cNvSpPr>
          <p:nvPr/>
        </p:nvSpPr>
        <p:spPr bwMode="auto">
          <a:xfrm>
            <a:off x="7181850" y="3444875"/>
            <a:ext cx="21463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2400" i="0">
                <a:latin typeface="Arial Black" pitchFamily="34" charset="0"/>
              </a:rPr>
              <a:t>真实值是</a:t>
            </a:r>
            <a:endParaRPr lang="zh-CN" altLang="en-US" sz="2400" b="0" i="0">
              <a:latin typeface="Arial Black" pitchFamily="34" charset="0"/>
            </a:endParaRPr>
          </a:p>
          <a:p>
            <a:r>
              <a:rPr lang="zh-CN" altLang="en-US" sz="2400" b="0" i="0">
                <a:latin typeface="Arial Black" pitchFamily="34" charset="0"/>
              </a:rPr>
              <a:t>0.0040867</a:t>
            </a:r>
          </a:p>
        </p:txBody>
      </p:sp>
      <p:sp>
        <p:nvSpPr>
          <p:cNvPr id="870440" name="AutoShape 40"/>
          <p:cNvSpPr>
            <a:spLocks noChangeArrowheads="1"/>
          </p:cNvSpPr>
          <p:nvPr/>
        </p:nvSpPr>
        <p:spPr bwMode="auto">
          <a:xfrm>
            <a:off x="3048000" y="1752600"/>
            <a:ext cx="3124200" cy="1066800"/>
          </a:xfrm>
          <a:prstGeom prst="wedgeRoundRectCallout">
            <a:avLst>
              <a:gd name="adj1" fmla="val 3199"/>
              <a:gd name="adj2" fmla="val 75296"/>
              <a:gd name="adj3" fmla="val 16667"/>
            </a:avLst>
          </a:prstGeom>
          <a:solidFill>
            <a:srgbClr val="F60A0A"/>
          </a:solidFill>
          <a:ln w="28575">
            <a:solidFill>
              <a:schemeClr val="bg1"/>
            </a:solidFill>
            <a:miter lim="800000"/>
            <a:headEnd/>
            <a:tailEnd/>
          </a:ln>
        </p:spPr>
        <p:txBody>
          <a:bodyPr anchor="ctr"/>
          <a:lstStyle/>
          <a:p>
            <a:pPr algn="l">
              <a:lnSpc>
                <a:spcPct val="70000"/>
              </a:lnSpc>
              <a:spcBef>
                <a:spcPct val="50000"/>
              </a:spcBef>
            </a:pPr>
            <a:r>
              <a:rPr lang="zh-CN" altLang="en-US" sz="2800" i="0">
                <a:latin typeface="Times New Roman" pitchFamily="18" charset="0"/>
              </a:rPr>
              <a:t>8*(0.5*10</a:t>
            </a:r>
            <a:r>
              <a:rPr lang="zh-CN" altLang="en-US" sz="2800" i="0" baseline="30000">
                <a:latin typeface="Times New Roman" pitchFamily="18" charset="0"/>
              </a:rPr>
              <a:t>-3</a:t>
            </a:r>
            <a:r>
              <a:rPr lang="zh-CN" altLang="en-US" sz="2800" i="0">
                <a:latin typeface="Times New Roman" pitchFamily="18" charset="0"/>
              </a:rPr>
              <a:t>)</a:t>
            </a:r>
          </a:p>
          <a:p>
            <a:pPr algn="l">
              <a:lnSpc>
                <a:spcPct val="70000"/>
              </a:lnSpc>
              <a:spcBef>
                <a:spcPct val="50000"/>
              </a:spcBef>
            </a:pPr>
            <a:r>
              <a:rPr lang="zh-CN" altLang="en-US" sz="2800" i="0">
                <a:latin typeface="Times New Roman" pitchFamily="18" charset="0"/>
              </a:rPr>
              <a:t>=0.004&lt;0.5 *10</a:t>
            </a:r>
            <a:r>
              <a:rPr lang="zh-CN" altLang="en-US" sz="2800" i="0" baseline="30000">
                <a:latin typeface="Times New Roman" pitchFamily="18" charset="0"/>
              </a:rPr>
              <a:t>-2</a:t>
            </a:r>
            <a:endParaRPr lang="zh-CN" altLang="en-US" sz="2800" b="0" i="0">
              <a:latin typeface="宋体" pitchFamily="2" charset="-122"/>
              <a:ea typeface="PMingLiU" pitchFamily="18" charset="-120"/>
            </a:endParaRPr>
          </a:p>
        </p:txBody>
      </p:sp>
      <p:pic>
        <p:nvPicPr>
          <p:cNvPr id="38955" name="Picture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08650" y="58738"/>
            <a:ext cx="4191000"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70437"/>
                                        </p:tgtEl>
                                        <p:attrNameLst>
                                          <p:attrName>style.visibility</p:attrName>
                                        </p:attrNameLst>
                                      </p:cBhvr>
                                      <p:to>
                                        <p:strVal val="visible"/>
                                      </p:to>
                                    </p:set>
                                    <p:animEffect transition="in" filter="dissolve">
                                      <p:cBhvr>
                                        <p:cTn id="7" dur="500"/>
                                        <p:tgtEl>
                                          <p:spTgt spid="870437"/>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70438"/>
                                        </p:tgtEl>
                                        <p:attrNameLst>
                                          <p:attrName>style.visibility</p:attrName>
                                        </p:attrNameLst>
                                      </p:cBhvr>
                                      <p:to>
                                        <p:strVal val="visible"/>
                                      </p:to>
                                    </p:set>
                                    <p:anim calcmode="lin" valueType="num">
                                      <p:cBhvr additive="base">
                                        <p:cTn id="11" dur="500" fill="hold"/>
                                        <p:tgtEl>
                                          <p:spTgt spid="870438"/>
                                        </p:tgtEl>
                                        <p:attrNameLst>
                                          <p:attrName>ppt_x</p:attrName>
                                        </p:attrNameLst>
                                      </p:cBhvr>
                                      <p:tavLst>
                                        <p:tav tm="0">
                                          <p:val>
                                            <p:strVal val="0-#ppt_w/2"/>
                                          </p:val>
                                        </p:tav>
                                        <p:tav tm="100000">
                                          <p:val>
                                            <p:strVal val="#ppt_x"/>
                                          </p:val>
                                        </p:tav>
                                      </p:tavLst>
                                    </p:anim>
                                    <p:anim calcmode="lin" valueType="num">
                                      <p:cBhvr additive="base">
                                        <p:cTn id="12" dur="500" fill="hold"/>
                                        <p:tgtEl>
                                          <p:spTgt spid="87043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870439"/>
                                        </p:tgtEl>
                                        <p:attrNameLst>
                                          <p:attrName>style.visibility</p:attrName>
                                        </p:attrNameLst>
                                      </p:cBhvr>
                                      <p:to>
                                        <p:strVal val="visible"/>
                                      </p:to>
                                    </p:set>
                                    <p:anim calcmode="lin" valueType="num">
                                      <p:cBhvr additive="base">
                                        <p:cTn id="16" dur="500" fill="hold"/>
                                        <p:tgtEl>
                                          <p:spTgt spid="870439"/>
                                        </p:tgtEl>
                                        <p:attrNameLst>
                                          <p:attrName>ppt_x</p:attrName>
                                        </p:attrNameLst>
                                      </p:cBhvr>
                                      <p:tavLst>
                                        <p:tav tm="0">
                                          <p:val>
                                            <p:strVal val="0-#ppt_w/2"/>
                                          </p:val>
                                        </p:tav>
                                        <p:tav tm="100000">
                                          <p:val>
                                            <p:strVal val="#ppt_x"/>
                                          </p:val>
                                        </p:tav>
                                      </p:tavLst>
                                    </p:anim>
                                    <p:anim calcmode="lin" valueType="num">
                                      <p:cBhvr additive="base">
                                        <p:cTn id="17" dur="500" fill="hold"/>
                                        <p:tgtEl>
                                          <p:spTgt spid="870439"/>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528" fill="hold" grpId="0" nodeType="clickEffect">
                                  <p:stCondLst>
                                    <p:cond delay="0"/>
                                  </p:stCondLst>
                                  <p:childTnLst>
                                    <p:set>
                                      <p:cBhvr>
                                        <p:cTn id="21" dur="1" fill="hold">
                                          <p:stCondLst>
                                            <p:cond delay="0"/>
                                          </p:stCondLst>
                                        </p:cTn>
                                        <p:tgtEl>
                                          <p:spTgt spid="870440"/>
                                        </p:tgtEl>
                                        <p:attrNameLst>
                                          <p:attrName>style.visibility</p:attrName>
                                        </p:attrNameLst>
                                      </p:cBhvr>
                                      <p:to>
                                        <p:strVal val="visible"/>
                                      </p:to>
                                    </p:set>
                                    <p:anim calcmode="lin" valueType="num">
                                      <p:cBhvr>
                                        <p:cTn id="22" dur="500" fill="hold"/>
                                        <p:tgtEl>
                                          <p:spTgt spid="870440"/>
                                        </p:tgtEl>
                                        <p:attrNameLst>
                                          <p:attrName>ppt_w</p:attrName>
                                        </p:attrNameLst>
                                      </p:cBhvr>
                                      <p:tavLst>
                                        <p:tav tm="0">
                                          <p:val>
                                            <p:fltVal val="0"/>
                                          </p:val>
                                        </p:tav>
                                        <p:tav tm="100000">
                                          <p:val>
                                            <p:strVal val="#ppt_w"/>
                                          </p:val>
                                        </p:tav>
                                      </p:tavLst>
                                    </p:anim>
                                    <p:anim calcmode="lin" valueType="num">
                                      <p:cBhvr>
                                        <p:cTn id="23" dur="500" fill="hold"/>
                                        <p:tgtEl>
                                          <p:spTgt spid="870440"/>
                                        </p:tgtEl>
                                        <p:attrNameLst>
                                          <p:attrName>ppt_h</p:attrName>
                                        </p:attrNameLst>
                                      </p:cBhvr>
                                      <p:tavLst>
                                        <p:tav tm="0">
                                          <p:val>
                                            <p:fltVal val="0"/>
                                          </p:val>
                                        </p:tav>
                                        <p:tav tm="100000">
                                          <p:val>
                                            <p:strVal val="#ppt_h"/>
                                          </p:val>
                                        </p:tav>
                                      </p:tavLst>
                                    </p:anim>
                                    <p:anim calcmode="lin" valueType="num">
                                      <p:cBhvr>
                                        <p:cTn id="24" dur="500" fill="hold"/>
                                        <p:tgtEl>
                                          <p:spTgt spid="870440"/>
                                        </p:tgtEl>
                                        <p:attrNameLst>
                                          <p:attrName>ppt_x</p:attrName>
                                        </p:attrNameLst>
                                      </p:cBhvr>
                                      <p:tavLst>
                                        <p:tav tm="0">
                                          <p:val>
                                            <p:fltVal val="0.5"/>
                                          </p:val>
                                        </p:tav>
                                        <p:tav tm="100000">
                                          <p:val>
                                            <p:strVal val="#ppt_x"/>
                                          </p:val>
                                        </p:tav>
                                      </p:tavLst>
                                    </p:anim>
                                    <p:anim calcmode="lin" valueType="num">
                                      <p:cBhvr>
                                        <p:cTn id="25" dur="500" fill="hold"/>
                                        <p:tgtEl>
                                          <p:spTgt spid="87044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7" grpId="0" animBg="1"/>
      <p:bldP spid="870438" grpId="0" animBg="1"/>
      <p:bldP spid="870439" grpId="0" autoUpdateAnimBg="0"/>
      <p:bldP spid="870440"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000E5F5-5CDC-4EC6-A819-D4CD358D1C75}" type="slidenum">
              <a:rPr lang="zh-CN" altLang="en-US" i="0" smtClean="0"/>
              <a:pPr/>
              <a:t>41</a:t>
            </a:fld>
            <a:endParaRPr lang="en-US" altLang="zh-CN" i="0" smtClean="0"/>
          </a:p>
        </p:txBody>
      </p:sp>
      <p:sp>
        <p:nvSpPr>
          <p:cNvPr id="3993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5FBDF5E-CF44-4FF1-B437-08D99406BAEC}" type="datetime1">
              <a:rPr lang="zh-CN" altLang="en-US" sz="1800" i="0" smtClean="0"/>
              <a:pPr/>
              <a:t>2024/9/8</a:t>
            </a:fld>
            <a:endParaRPr lang="en-US" altLang="zh-CN" sz="1000" i="0" smtClean="0"/>
          </a:p>
        </p:txBody>
      </p:sp>
      <p:sp>
        <p:nvSpPr>
          <p:cNvPr id="39940" name="Rectangle 2"/>
          <p:cNvSpPr>
            <a:spLocks noGrp="1" noChangeArrowheads="1"/>
          </p:cNvSpPr>
          <p:nvPr>
            <p:ph type="body" idx="1"/>
          </p:nvPr>
        </p:nvSpPr>
        <p:spPr>
          <a:xfrm>
            <a:off x="247650" y="1066800"/>
            <a:ext cx="9658350" cy="1046163"/>
          </a:xfrm>
        </p:spPr>
        <p:txBody>
          <a:bodyPr/>
          <a:lstStyle/>
          <a:p>
            <a:r>
              <a:rPr lang="zh-CN" altLang="en-US" sz="3200" smtClean="0">
                <a:latin typeface="宋体" pitchFamily="2" charset="-122"/>
              </a:rPr>
              <a:t>改变算法计算例1.9</a:t>
            </a:r>
          </a:p>
          <a:p>
            <a:pPr lvl="1"/>
            <a:r>
              <a:rPr lang="zh-CN" altLang="en-US" sz="3200" smtClean="0">
                <a:latin typeface="宋体" pitchFamily="2" charset="-122"/>
              </a:rPr>
              <a:t>先计算</a:t>
            </a:r>
            <a:r>
              <a:rPr lang="en-US" altLang="zh-CN" sz="3200" i="1" smtClean="0"/>
              <a:t>x</a:t>
            </a:r>
            <a:r>
              <a:rPr lang="en-US" altLang="zh-CN" sz="3200" smtClean="0">
                <a:latin typeface="宋体" pitchFamily="2" charset="-122"/>
              </a:rPr>
              <a:t>=5.5</a:t>
            </a:r>
            <a:r>
              <a:rPr lang="zh-CN" altLang="en-US" sz="3200" smtClean="0">
                <a:latin typeface="宋体" pitchFamily="2" charset="-122"/>
              </a:rPr>
              <a:t>的部分级数,再求倒数</a:t>
            </a:r>
          </a:p>
        </p:txBody>
      </p:sp>
      <p:sp>
        <p:nvSpPr>
          <p:cNvPr id="872451" name="Rectangle 3"/>
          <p:cNvSpPr>
            <a:spLocks noGrp="1" noChangeArrowheads="1"/>
          </p:cNvSpPr>
          <p:nvPr>
            <p:ph type="title"/>
          </p:nvPr>
        </p:nvSpPr>
        <p:spPr>
          <a:xfrm>
            <a:off x="650875" y="92075"/>
            <a:ext cx="8820150" cy="822325"/>
          </a:xfrm>
        </p:spPr>
        <p:txBody>
          <a:bodyPr/>
          <a:lstStyle/>
          <a:p>
            <a:pPr>
              <a:defRPr/>
            </a:pPr>
            <a:r>
              <a:rPr lang="zh-CN" altLang="en-US" smtClean="0"/>
              <a:t>§4</a:t>
            </a:r>
            <a:r>
              <a:rPr lang="zh-CN" altLang="en-US" sz="6000" smtClean="0"/>
              <a:t>  </a:t>
            </a:r>
            <a:r>
              <a:rPr lang="zh-CN" altLang="en-US" smtClean="0"/>
              <a:t>算法举例</a:t>
            </a:r>
          </a:p>
        </p:txBody>
      </p:sp>
      <p:sp>
        <p:nvSpPr>
          <p:cNvPr id="39942" name="Rectangle 4"/>
          <p:cNvSpPr>
            <a:spLocks noChangeArrowheads="1"/>
          </p:cNvSpPr>
          <p:nvPr/>
        </p:nvSpPr>
        <p:spPr bwMode="auto">
          <a:xfrm>
            <a:off x="414338" y="2276475"/>
            <a:ext cx="3063875" cy="4233863"/>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39943" name="Rectangle 5"/>
          <p:cNvSpPr>
            <a:spLocks noChangeArrowheads="1"/>
          </p:cNvSpPr>
          <p:nvPr/>
        </p:nvSpPr>
        <p:spPr bwMode="auto">
          <a:xfrm>
            <a:off x="336550" y="2209800"/>
            <a:ext cx="107950"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44" name="Rectangle 6"/>
          <p:cNvSpPr>
            <a:spLocks noChangeArrowheads="1"/>
          </p:cNvSpPr>
          <p:nvPr/>
        </p:nvSpPr>
        <p:spPr bwMode="auto">
          <a:xfrm>
            <a:off x="3384550" y="2209800"/>
            <a:ext cx="93663"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45" name="AutoShape 7"/>
          <p:cNvSpPr>
            <a:spLocks noChangeArrowheads="1"/>
          </p:cNvSpPr>
          <p:nvPr/>
        </p:nvSpPr>
        <p:spPr bwMode="auto">
          <a:xfrm>
            <a:off x="352425" y="2211388"/>
            <a:ext cx="3157538" cy="84137"/>
          </a:xfrm>
          <a:custGeom>
            <a:avLst/>
            <a:gdLst>
              <a:gd name="T0" fmla="*/ 2147483647 w 21600"/>
              <a:gd name="T1" fmla="*/ 638304 h 21600"/>
              <a:gd name="T2" fmla="*/ 2147483647 w 21600"/>
              <a:gd name="T3" fmla="*/ 1276596 h 21600"/>
              <a:gd name="T4" fmla="*/ 1149559889 w 21600"/>
              <a:gd name="T5" fmla="*/ 638304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46" name="AutoShape 8"/>
          <p:cNvSpPr>
            <a:spLocks noChangeArrowheads="1"/>
          </p:cNvSpPr>
          <p:nvPr/>
        </p:nvSpPr>
        <p:spPr bwMode="auto">
          <a:xfrm flipV="1">
            <a:off x="330200" y="6526213"/>
            <a:ext cx="3157538" cy="103187"/>
          </a:xfrm>
          <a:custGeom>
            <a:avLst/>
            <a:gdLst>
              <a:gd name="T0" fmla="*/ 2147483647 w 21600"/>
              <a:gd name="T1" fmla="*/ 1177450 h 21600"/>
              <a:gd name="T2" fmla="*/ 2147483647 w 21600"/>
              <a:gd name="T3" fmla="*/ 2354871 h 21600"/>
              <a:gd name="T4" fmla="*/ 1287006934 w 21600"/>
              <a:gd name="T5" fmla="*/ 1177450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47" name="Rectangle 9"/>
          <p:cNvSpPr>
            <a:spLocks noChangeArrowheads="1"/>
          </p:cNvSpPr>
          <p:nvPr/>
        </p:nvSpPr>
        <p:spPr bwMode="auto">
          <a:xfrm>
            <a:off x="460375" y="2725738"/>
            <a:ext cx="2865438" cy="3784600"/>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39948" name="Rectangle 10"/>
          <p:cNvSpPr>
            <a:spLocks noChangeArrowheads="1"/>
          </p:cNvSpPr>
          <p:nvPr/>
        </p:nvSpPr>
        <p:spPr bwMode="auto">
          <a:xfrm>
            <a:off x="461963" y="2289175"/>
            <a:ext cx="2865437" cy="95250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39949" name="Text Box 11"/>
          <p:cNvSpPr txBox="1">
            <a:spLocks noChangeAspect="1" noChangeArrowheads="1"/>
          </p:cNvSpPr>
          <p:nvPr/>
        </p:nvSpPr>
        <p:spPr bwMode="auto">
          <a:xfrm>
            <a:off x="577850" y="2582863"/>
            <a:ext cx="22955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endParaRPr lang="en-US" altLang="en-US" i="0">
              <a:latin typeface="Times New Roman" pitchFamily="18" charset="0"/>
              <a:ea typeface="PMingLiU" pitchFamily="18" charset="-120"/>
            </a:endParaRPr>
          </a:p>
        </p:txBody>
      </p:sp>
      <p:sp>
        <p:nvSpPr>
          <p:cNvPr id="39950" name="Rectangle 12"/>
          <p:cNvSpPr>
            <a:spLocks noChangeArrowheads="1"/>
          </p:cNvSpPr>
          <p:nvPr/>
        </p:nvSpPr>
        <p:spPr bwMode="auto">
          <a:xfrm>
            <a:off x="550863" y="3346450"/>
            <a:ext cx="3163887" cy="3255963"/>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i="0">
                <a:latin typeface="Times New Roman" pitchFamily="18" charset="0"/>
              </a:rPr>
              <a:t> </a:t>
            </a:r>
            <a:r>
              <a:rPr lang="zh-CN" altLang="en-US" sz="2400" i="0">
                <a:latin typeface="Times New Roman" pitchFamily="18" charset="0"/>
              </a:rPr>
              <a:t>0    1            1</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 1    5.5        6.5000</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 </a:t>
            </a:r>
            <a:r>
              <a:rPr lang="zh-CN" altLang="en-US" sz="2400" i="0">
                <a:solidFill>
                  <a:srgbClr val="00FF00"/>
                </a:solidFill>
                <a:latin typeface="Times New Roman" pitchFamily="18" charset="0"/>
              </a:rPr>
              <a:t>2   15.125   21.625</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3   27.730   49</a:t>
            </a:r>
            <a:r>
              <a:rPr lang="zh-CN" altLang="zh-CN" sz="2400" i="0">
                <a:solidFill>
                  <a:srgbClr val="00FF00"/>
                </a:solidFill>
                <a:latin typeface="Times New Roman" pitchFamily="18" charset="0"/>
              </a:rPr>
              <a:t>.355</a:t>
            </a:r>
            <a:r>
              <a:rPr lang="zh-CN" altLang="en-US" sz="2400" i="0">
                <a:solidFill>
                  <a:srgbClr val="00FF00"/>
                </a:solidFill>
                <a:latin typeface="Times New Roman" pitchFamily="18" charset="0"/>
              </a:rPr>
              <a:t> </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4   38.129   87.484</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5   41.942   129.426</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6   38.446   167. 87</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7    30.208  198.08</a:t>
            </a:r>
          </a:p>
        </p:txBody>
      </p:sp>
      <p:graphicFrame>
        <p:nvGraphicFramePr>
          <p:cNvPr id="39951" name="Object 13"/>
          <p:cNvGraphicFramePr>
            <a:graphicFrameLocks noChangeAspect="1"/>
          </p:cNvGraphicFramePr>
          <p:nvPr/>
        </p:nvGraphicFramePr>
        <p:xfrm>
          <a:off x="1073150" y="2295525"/>
          <a:ext cx="661988" cy="950913"/>
        </p:xfrm>
        <a:graphic>
          <a:graphicData uri="http://schemas.openxmlformats.org/presentationml/2006/ole">
            <mc:AlternateContent xmlns:mc="http://schemas.openxmlformats.org/markup-compatibility/2006">
              <mc:Choice xmlns:v="urn:schemas-microsoft-com:vml" Requires="v">
                <p:oleObj spid="_x0000_s40111" name="公式" r:id="rId4" imgW="215806" imgH="418918" progId="Equation.3">
                  <p:embed/>
                </p:oleObj>
              </mc:Choice>
              <mc:Fallback>
                <p:oleObj name="公式" r:id="rId4" imgW="215806" imgH="418918"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3150" y="2295525"/>
                        <a:ext cx="66198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2" name="Object 14"/>
          <p:cNvGraphicFramePr>
            <a:graphicFrameLocks noChangeAspect="1"/>
          </p:cNvGraphicFramePr>
          <p:nvPr/>
        </p:nvGraphicFramePr>
        <p:xfrm>
          <a:off x="2228850" y="2295525"/>
          <a:ext cx="973138" cy="950913"/>
        </p:xfrm>
        <a:graphic>
          <a:graphicData uri="http://schemas.openxmlformats.org/presentationml/2006/ole">
            <mc:AlternateContent xmlns:mc="http://schemas.openxmlformats.org/markup-compatibility/2006">
              <mc:Choice xmlns:v="urn:schemas-microsoft-com:vml" Requires="v">
                <p:oleObj spid="_x0000_s40112" name="公式" r:id="rId6" imgW="406048" imgH="444114" progId="Equation.3">
                  <p:embed/>
                </p:oleObj>
              </mc:Choice>
              <mc:Fallback>
                <p:oleObj name="公式" r:id="rId6" imgW="406048" imgH="444114"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8850" y="2295525"/>
                        <a:ext cx="97313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53" name="Rectangle 15"/>
          <p:cNvSpPr>
            <a:spLocks noChangeArrowheads="1"/>
          </p:cNvSpPr>
          <p:nvPr/>
        </p:nvSpPr>
        <p:spPr bwMode="auto">
          <a:xfrm>
            <a:off x="3551238" y="2276475"/>
            <a:ext cx="3063875" cy="4233863"/>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39954" name="Rectangle 16"/>
          <p:cNvSpPr>
            <a:spLocks noChangeArrowheads="1"/>
          </p:cNvSpPr>
          <p:nvPr/>
        </p:nvSpPr>
        <p:spPr bwMode="auto">
          <a:xfrm>
            <a:off x="3473450" y="2209800"/>
            <a:ext cx="107950"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55" name="Rectangle 17"/>
          <p:cNvSpPr>
            <a:spLocks noChangeArrowheads="1"/>
          </p:cNvSpPr>
          <p:nvPr/>
        </p:nvSpPr>
        <p:spPr bwMode="auto">
          <a:xfrm>
            <a:off x="6521450" y="2209800"/>
            <a:ext cx="93663"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56" name="AutoShape 18"/>
          <p:cNvSpPr>
            <a:spLocks noChangeArrowheads="1"/>
          </p:cNvSpPr>
          <p:nvPr/>
        </p:nvSpPr>
        <p:spPr bwMode="auto">
          <a:xfrm>
            <a:off x="3489325" y="2211388"/>
            <a:ext cx="3157538" cy="84137"/>
          </a:xfrm>
          <a:custGeom>
            <a:avLst/>
            <a:gdLst>
              <a:gd name="T0" fmla="*/ 2147483647 w 21600"/>
              <a:gd name="T1" fmla="*/ 638304 h 21600"/>
              <a:gd name="T2" fmla="*/ 2147483647 w 21600"/>
              <a:gd name="T3" fmla="*/ 1276596 h 21600"/>
              <a:gd name="T4" fmla="*/ 1149559889 w 21600"/>
              <a:gd name="T5" fmla="*/ 638304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57" name="AutoShape 19"/>
          <p:cNvSpPr>
            <a:spLocks noChangeArrowheads="1"/>
          </p:cNvSpPr>
          <p:nvPr/>
        </p:nvSpPr>
        <p:spPr bwMode="auto">
          <a:xfrm flipV="1">
            <a:off x="3467100" y="6526213"/>
            <a:ext cx="3157538" cy="103187"/>
          </a:xfrm>
          <a:custGeom>
            <a:avLst/>
            <a:gdLst>
              <a:gd name="T0" fmla="*/ 2147483647 w 21600"/>
              <a:gd name="T1" fmla="*/ 1177450 h 21600"/>
              <a:gd name="T2" fmla="*/ 2147483647 w 21600"/>
              <a:gd name="T3" fmla="*/ 2354871 h 21600"/>
              <a:gd name="T4" fmla="*/ 1287006934 w 21600"/>
              <a:gd name="T5" fmla="*/ 1177450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58" name="Rectangle 20"/>
          <p:cNvSpPr>
            <a:spLocks noChangeArrowheads="1"/>
          </p:cNvSpPr>
          <p:nvPr/>
        </p:nvSpPr>
        <p:spPr bwMode="auto">
          <a:xfrm>
            <a:off x="3597275" y="2725738"/>
            <a:ext cx="2865438" cy="3784600"/>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39959" name="Rectangle 21"/>
          <p:cNvSpPr>
            <a:spLocks noChangeArrowheads="1"/>
          </p:cNvSpPr>
          <p:nvPr/>
        </p:nvSpPr>
        <p:spPr bwMode="auto">
          <a:xfrm>
            <a:off x="3598863" y="2289175"/>
            <a:ext cx="2865437" cy="95250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39960" name="Text Box 22"/>
          <p:cNvSpPr txBox="1">
            <a:spLocks noChangeAspect="1" noChangeArrowheads="1"/>
          </p:cNvSpPr>
          <p:nvPr/>
        </p:nvSpPr>
        <p:spPr bwMode="auto">
          <a:xfrm>
            <a:off x="3714750" y="2582863"/>
            <a:ext cx="22955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endParaRPr lang="en-US" altLang="en-US" i="0">
              <a:latin typeface="Times New Roman" pitchFamily="18" charset="0"/>
              <a:ea typeface="PMingLiU" pitchFamily="18" charset="-120"/>
            </a:endParaRPr>
          </a:p>
        </p:txBody>
      </p:sp>
      <p:sp>
        <p:nvSpPr>
          <p:cNvPr id="39961" name="Rectangle 23"/>
          <p:cNvSpPr>
            <a:spLocks noChangeArrowheads="1"/>
          </p:cNvSpPr>
          <p:nvPr/>
        </p:nvSpPr>
        <p:spPr bwMode="auto">
          <a:xfrm>
            <a:off x="3687763" y="3346450"/>
            <a:ext cx="3163887" cy="3255963"/>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i="0">
                <a:latin typeface="Times New Roman" pitchFamily="18" charset="0"/>
              </a:rPr>
              <a:t> </a:t>
            </a:r>
            <a:r>
              <a:rPr lang="zh-CN" altLang="en-US" sz="2400" i="0">
                <a:solidFill>
                  <a:srgbClr val="00FF00"/>
                </a:solidFill>
                <a:latin typeface="Times New Roman" pitchFamily="18" charset="0"/>
              </a:rPr>
              <a:t>8  20.768     218.85</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9  12.692   231.54</a:t>
            </a:r>
          </a:p>
          <a:p>
            <a:pPr marL="258763" indent="-258763" algn="l" defTabSz="814388">
              <a:lnSpc>
                <a:spcPct val="85000"/>
              </a:lnSpc>
              <a:spcBef>
                <a:spcPct val="30000"/>
              </a:spcBef>
              <a:buSzPct val="60000"/>
              <a:buFont typeface="Wingdings" pitchFamily="2" charset="2"/>
              <a:buNone/>
            </a:pPr>
            <a:r>
              <a:rPr lang="zh-CN" altLang="en-US" sz="2400" i="0">
                <a:solidFill>
                  <a:srgbClr val="FF0000"/>
                </a:solidFill>
                <a:latin typeface="Times New Roman" pitchFamily="18" charset="0"/>
              </a:rPr>
              <a:t>10 6.9803    238.52</a:t>
            </a:r>
          </a:p>
          <a:p>
            <a:pPr marL="258763" indent="-258763" algn="l" defTabSz="814388">
              <a:lnSpc>
                <a:spcPct val="85000"/>
              </a:lnSpc>
              <a:spcBef>
                <a:spcPct val="30000"/>
              </a:spcBef>
              <a:buSzPct val="60000"/>
              <a:buFont typeface="Wingdings" pitchFamily="2" charset="2"/>
              <a:buNone/>
            </a:pPr>
            <a:r>
              <a:rPr lang="zh-CN" altLang="en-US" sz="2400" i="0">
                <a:solidFill>
                  <a:srgbClr val="FF0000"/>
                </a:solidFill>
                <a:latin typeface="Times New Roman" pitchFamily="18" charset="0"/>
              </a:rPr>
              <a:t>11 3.4902    242.01</a:t>
            </a:r>
          </a:p>
          <a:p>
            <a:pPr marL="258763" indent="-258763" algn="l" defTabSz="814388">
              <a:lnSpc>
                <a:spcPct val="85000"/>
              </a:lnSpc>
              <a:spcBef>
                <a:spcPct val="30000"/>
              </a:spcBef>
              <a:buSzPct val="60000"/>
              <a:buFont typeface="Wingdings" pitchFamily="2" charset="2"/>
              <a:buNone/>
            </a:pPr>
            <a:r>
              <a:rPr lang="zh-CN" altLang="en-US" sz="2400" i="0">
                <a:solidFill>
                  <a:srgbClr val="FF0000"/>
                </a:solidFill>
                <a:latin typeface="Times New Roman" pitchFamily="18" charset="0"/>
              </a:rPr>
              <a:t>12 1.5997    243.61</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13 </a:t>
            </a:r>
            <a:r>
              <a:rPr lang="zh-CN" altLang="en-US" sz="2400" i="0">
                <a:solidFill>
                  <a:srgbClr val="FF99FF"/>
                </a:solidFill>
                <a:latin typeface="Times New Roman" pitchFamily="18" charset="0"/>
              </a:rPr>
              <a:t>0.67676</a:t>
            </a:r>
            <a:r>
              <a:rPr lang="zh-CN" altLang="en-US" sz="2400" i="0">
                <a:latin typeface="Times New Roman" pitchFamily="18" charset="0"/>
              </a:rPr>
              <a:t>  244.29</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14 </a:t>
            </a:r>
            <a:r>
              <a:rPr lang="zh-CN" altLang="en-US" sz="2400" i="0">
                <a:solidFill>
                  <a:srgbClr val="FF99FF"/>
                </a:solidFill>
                <a:latin typeface="Times New Roman" pitchFamily="18" charset="0"/>
              </a:rPr>
              <a:t>0.26587</a:t>
            </a:r>
            <a:r>
              <a:rPr lang="zh-CN" altLang="en-US" sz="2400" i="0">
                <a:latin typeface="Times New Roman" pitchFamily="18" charset="0"/>
              </a:rPr>
              <a:t>  244.55</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15 </a:t>
            </a:r>
            <a:r>
              <a:rPr lang="zh-CN" altLang="en-US" sz="2400" i="0">
                <a:solidFill>
                  <a:srgbClr val="FF99FF"/>
                </a:solidFill>
                <a:latin typeface="Times New Roman" pitchFamily="18" charset="0"/>
              </a:rPr>
              <a:t>0.09749</a:t>
            </a:r>
            <a:r>
              <a:rPr lang="zh-CN" altLang="en-US" sz="2400" i="0">
                <a:latin typeface="Times New Roman" pitchFamily="18" charset="0"/>
              </a:rPr>
              <a:t>  244.65</a:t>
            </a:r>
          </a:p>
        </p:txBody>
      </p:sp>
      <p:graphicFrame>
        <p:nvGraphicFramePr>
          <p:cNvPr id="39962" name="Object 24"/>
          <p:cNvGraphicFramePr>
            <a:graphicFrameLocks noChangeAspect="1"/>
          </p:cNvGraphicFramePr>
          <p:nvPr/>
        </p:nvGraphicFramePr>
        <p:xfrm>
          <a:off x="4210050" y="2295525"/>
          <a:ext cx="661988" cy="950913"/>
        </p:xfrm>
        <a:graphic>
          <a:graphicData uri="http://schemas.openxmlformats.org/presentationml/2006/ole">
            <mc:AlternateContent xmlns:mc="http://schemas.openxmlformats.org/markup-compatibility/2006">
              <mc:Choice xmlns:v="urn:schemas-microsoft-com:vml" Requires="v">
                <p:oleObj spid="_x0000_s40113" name="公式" r:id="rId8" imgW="215806" imgH="418918" progId="Equation.3">
                  <p:embed/>
                </p:oleObj>
              </mc:Choice>
              <mc:Fallback>
                <p:oleObj name="公式" r:id="rId8" imgW="215806" imgH="418918" progId="Equation.3">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0050" y="2295525"/>
                        <a:ext cx="66198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63" name="Object 25"/>
          <p:cNvGraphicFramePr>
            <a:graphicFrameLocks noChangeAspect="1"/>
          </p:cNvGraphicFramePr>
          <p:nvPr/>
        </p:nvGraphicFramePr>
        <p:xfrm>
          <a:off x="5365750" y="2295525"/>
          <a:ext cx="973138" cy="950913"/>
        </p:xfrm>
        <a:graphic>
          <a:graphicData uri="http://schemas.openxmlformats.org/presentationml/2006/ole">
            <mc:AlternateContent xmlns:mc="http://schemas.openxmlformats.org/markup-compatibility/2006">
              <mc:Choice xmlns:v="urn:schemas-microsoft-com:vml" Requires="v">
                <p:oleObj spid="_x0000_s40114" name="公式" r:id="rId9" imgW="406048" imgH="444114" progId="Equation.3">
                  <p:embed/>
                </p:oleObj>
              </mc:Choice>
              <mc:Fallback>
                <p:oleObj name="公式" r:id="rId9" imgW="406048" imgH="444114" progId="Equation.3">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5750" y="2295525"/>
                        <a:ext cx="97313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64" name="Rectangle 26"/>
          <p:cNvSpPr>
            <a:spLocks noChangeArrowheads="1"/>
          </p:cNvSpPr>
          <p:nvPr/>
        </p:nvSpPr>
        <p:spPr bwMode="auto">
          <a:xfrm>
            <a:off x="6688138" y="2276475"/>
            <a:ext cx="3063875" cy="4233863"/>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39965" name="Rectangle 27"/>
          <p:cNvSpPr>
            <a:spLocks noChangeArrowheads="1"/>
          </p:cNvSpPr>
          <p:nvPr/>
        </p:nvSpPr>
        <p:spPr bwMode="auto">
          <a:xfrm>
            <a:off x="6610350" y="2209800"/>
            <a:ext cx="107950"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66" name="Rectangle 28"/>
          <p:cNvSpPr>
            <a:spLocks noChangeArrowheads="1"/>
          </p:cNvSpPr>
          <p:nvPr/>
        </p:nvSpPr>
        <p:spPr bwMode="auto">
          <a:xfrm>
            <a:off x="9658350" y="2209800"/>
            <a:ext cx="93663"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67" name="AutoShape 29"/>
          <p:cNvSpPr>
            <a:spLocks noChangeArrowheads="1"/>
          </p:cNvSpPr>
          <p:nvPr/>
        </p:nvSpPr>
        <p:spPr bwMode="auto">
          <a:xfrm>
            <a:off x="6626225" y="2211388"/>
            <a:ext cx="3157538" cy="84137"/>
          </a:xfrm>
          <a:custGeom>
            <a:avLst/>
            <a:gdLst>
              <a:gd name="T0" fmla="*/ 2147483647 w 21600"/>
              <a:gd name="T1" fmla="*/ 638304 h 21600"/>
              <a:gd name="T2" fmla="*/ 2147483647 w 21600"/>
              <a:gd name="T3" fmla="*/ 1276596 h 21600"/>
              <a:gd name="T4" fmla="*/ 1149559889 w 21600"/>
              <a:gd name="T5" fmla="*/ 638304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68" name="AutoShape 30"/>
          <p:cNvSpPr>
            <a:spLocks noChangeArrowheads="1"/>
          </p:cNvSpPr>
          <p:nvPr/>
        </p:nvSpPr>
        <p:spPr bwMode="auto">
          <a:xfrm flipV="1">
            <a:off x="6604000" y="6526213"/>
            <a:ext cx="3157538" cy="103187"/>
          </a:xfrm>
          <a:custGeom>
            <a:avLst/>
            <a:gdLst>
              <a:gd name="T0" fmla="*/ 2147483647 w 21600"/>
              <a:gd name="T1" fmla="*/ 1177450 h 21600"/>
              <a:gd name="T2" fmla="*/ 2147483647 w 21600"/>
              <a:gd name="T3" fmla="*/ 2354871 h 21600"/>
              <a:gd name="T4" fmla="*/ 1287006934 w 21600"/>
              <a:gd name="T5" fmla="*/ 1177450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69" name="Rectangle 31"/>
          <p:cNvSpPr>
            <a:spLocks noChangeArrowheads="1"/>
          </p:cNvSpPr>
          <p:nvPr/>
        </p:nvSpPr>
        <p:spPr bwMode="auto">
          <a:xfrm>
            <a:off x="6734175" y="2725738"/>
            <a:ext cx="2865438" cy="3784600"/>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39970" name="Rectangle 32"/>
          <p:cNvSpPr>
            <a:spLocks noChangeArrowheads="1"/>
          </p:cNvSpPr>
          <p:nvPr/>
        </p:nvSpPr>
        <p:spPr bwMode="auto">
          <a:xfrm>
            <a:off x="6735763" y="2289175"/>
            <a:ext cx="2865437" cy="95250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39971" name="Text Box 33"/>
          <p:cNvSpPr txBox="1">
            <a:spLocks noChangeAspect="1" noChangeArrowheads="1"/>
          </p:cNvSpPr>
          <p:nvPr/>
        </p:nvSpPr>
        <p:spPr bwMode="auto">
          <a:xfrm>
            <a:off x="6851650" y="2582863"/>
            <a:ext cx="22955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p>
        </p:txBody>
      </p:sp>
      <p:sp>
        <p:nvSpPr>
          <p:cNvPr id="39972" name="Rectangle 34"/>
          <p:cNvSpPr>
            <a:spLocks noChangeArrowheads="1"/>
          </p:cNvSpPr>
          <p:nvPr/>
        </p:nvSpPr>
        <p:spPr bwMode="auto">
          <a:xfrm>
            <a:off x="6824663" y="3346450"/>
            <a:ext cx="3163887" cy="731838"/>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16 </a:t>
            </a:r>
            <a:r>
              <a:rPr lang="zh-CN" altLang="en-US" sz="2400" i="0">
                <a:solidFill>
                  <a:srgbClr val="FF99FF"/>
                </a:solidFill>
                <a:latin typeface="Times New Roman" pitchFamily="18" charset="0"/>
              </a:rPr>
              <a:t>0.03351</a:t>
            </a:r>
            <a:r>
              <a:rPr lang="zh-CN" altLang="en-US" sz="2400" i="0">
                <a:latin typeface="Times New Roman" pitchFamily="18" charset="0"/>
              </a:rPr>
              <a:t>    244.69</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17 </a:t>
            </a:r>
            <a:r>
              <a:rPr lang="zh-CN" altLang="en-US" sz="2400" i="0">
                <a:solidFill>
                  <a:srgbClr val="FFFF00"/>
                </a:solidFill>
                <a:latin typeface="Times New Roman" pitchFamily="18" charset="0"/>
              </a:rPr>
              <a:t>0.010842</a:t>
            </a:r>
            <a:r>
              <a:rPr lang="zh-CN" altLang="en-US" sz="2400" i="0">
                <a:latin typeface="Times New Roman" pitchFamily="18" charset="0"/>
              </a:rPr>
              <a:t>  244.70</a:t>
            </a:r>
          </a:p>
        </p:txBody>
      </p:sp>
      <p:graphicFrame>
        <p:nvGraphicFramePr>
          <p:cNvPr id="39973" name="Object 35"/>
          <p:cNvGraphicFramePr>
            <a:graphicFrameLocks noChangeAspect="1"/>
          </p:cNvGraphicFramePr>
          <p:nvPr/>
        </p:nvGraphicFramePr>
        <p:xfrm>
          <a:off x="7346950" y="2295525"/>
          <a:ext cx="661988" cy="950913"/>
        </p:xfrm>
        <a:graphic>
          <a:graphicData uri="http://schemas.openxmlformats.org/presentationml/2006/ole">
            <mc:AlternateContent xmlns:mc="http://schemas.openxmlformats.org/markup-compatibility/2006">
              <mc:Choice xmlns:v="urn:schemas-microsoft-com:vml" Requires="v">
                <p:oleObj spid="_x0000_s40115" name="公式" r:id="rId10" imgW="215806" imgH="418918" progId="Equation.3">
                  <p:embed/>
                </p:oleObj>
              </mc:Choice>
              <mc:Fallback>
                <p:oleObj name="公式" r:id="rId10" imgW="215806" imgH="418918" progId="Equation.3">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6950" y="2295525"/>
                        <a:ext cx="66198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74" name="Object 36"/>
          <p:cNvGraphicFramePr>
            <a:graphicFrameLocks noChangeAspect="1"/>
          </p:cNvGraphicFramePr>
          <p:nvPr/>
        </p:nvGraphicFramePr>
        <p:xfrm>
          <a:off x="8502650" y="2295525"/>
          <a:ext cx="973138" cy="950913"/>
        </p:xfrm>
        <a:graphic>
          <a:graphicData uri="http://schemas.openxmlformats.org/presentationml/2006/ole">
            <mc:AlternateContent xmlns:mc="http://schemas.openxmlformats.org/markup-compatibility/2006">
              <mc:Choice xmlns:v="urn:schemas-microsoft-com:vml" Requires="v">
                <p:oleObj spid="_x0000_s40116" name="公式" r:id="rId11" imgW="406048" imgH="444114" progId="Equation.3">
                  <p:embed/>
                </p:oleObj>
              </mc:Choice>
              <mc:Fallback>
                <p:oleObj name="公式" r:id="rId11" imgW="406048" imgH="444114" progId="Equation.3">
                  <p:embed/>
                  <p:pic>
                    <p:nvPicPr>
                      <p:cNvPr id="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02650" y="2295525"/>
                        <a:ext cx="97313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2487" name="AutoShape 39"/>
          <p:cNvSpPr>
            <a:spLocks noChangeArrowheads="1"/>
          </p:cNvSpPr>
          <p:nvPr/>
        </p:nvSpPr>
        <p:spPr bwMode="auto">
          <a:xfrm>
            <a:off x="6937375" y="4616450"/>
            <a:ext cx="2476500" cy="1676400"/>
          </a:xfrm>
          <a:prstGeom prst="star16">
            <a:avLst>
              <a:gd name="adj" fmla="val 37500"/>
            </a:avLst>
          </a:prstGeom>
          <a:solidFill>
            <a:srgbClr val="FF6400"/>
          </a:solidFill>
          <a:ln w="12700">
            <a:solidFill>
              <a:srgbClr val="000000"/>
            </a:solidFill>
            <a:miter lim="800000"/>
            <a:headEnd/>
            <a:tailEnd/>
          </a:ln>
        </p:spPr>
        <p:txBody>
          <a:bodyPr wrap="none" anchor="ctr"/>
          <a:lstStyle/>
          <a:p>
            <a:endParaRPr lang="zh-CN" altLang="en-US"/>
          </a:p>
        </p:txBody>
      </p:sp>
      <p:sp>
        <p:nvSpPr>
          <p:cNvPr id="872488" name="Text Box 40"/>
          <p:cNvSpPr txBox="1">
            <a:spLocks noChangeArrowheads="1"/>
          </p:cNvSpPr>
          <p:nvPr/>
        </p:nvSpPr>
        <p:spPr bwMode="auto">
          <a:xfrm>
            <a:off x="7185025" y="5013325"/>
            <a:ext cx="21463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2400" i="0">
                <a:latin typeface="Arial Black" pitchFamily="34" charset="0"/>
              </a:rPr>
              <a:t>真实值是</a:t>
            </a:r>
            <a:endParaRPr lang="zh-CN" altLang="en-US" sz="2400" b="0" i="0">
              <a:latin typeface="Arial Black" pitchFamily="34" charset="0"/>
            </a:endParaRPr>
          </a:p>
          <a:p>
            <a:r>
              <a:rPr lang="zh-CN" altLang="en-US" sz="2400" b="0" i="0">
                <a:latin typeface="Arial Black" pitchFamily="34" charset="0"/>
              </a:rPr>
              <a:t>0.0040867</a:t>
            </a:r>
          </a:p>
        </p:txBody>
      </p:sp>
      <p:sp>
        <p:nvSpPr>
          <p:cNvPr id="872489" name="Rectangle 41"/>
          <p:cNvSpPr>
            <a:spLocks noChangeArrowheads="1"/>
          </p:cNvSpPr>
          <p:nvPr/>
        </p:nvSpPr>
        <p:spPr bwMode="auto">
          <a:xfrm>
            <a:off x="5673725" y="1052513"/>
            <a:ext cx="391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txBody>
          <a:bodyPr wrap="none">
            <a:spAutoFit/>
          </a:bodyPr>
          <a:lstStyle/>
          <a:p>
            <a:r>
              <a:rPr lang="zh-CN" altLang="en-US" sz="2800" i="0">
                <a:solidFill>
                  <a:srgbClr val="FF3300"/>
                </a:solidFill>
              </a:rPr>
              <a:t>1/ 244.70＝0.00408663</a:t>
            </a:r>
          </a:p>
        </p:txBody>
      </p:sp>
      <p:pic>
        <p:nvPicPr>
          <p:cNvPr id="39978" name="Picture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0" y="58738"/>
            <a:ext cx="4191000"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2489"/>
                                        </p:tgtEl>
                                        <p:attrNameLst>
                                          <p:attrName>style.visibility</p:attrName>
                                        </p:attrNameLst>
                                      </p:cBhvr>
                                      <p:to>
                                        <p:strVal val="visible"/>
                                      </p:to>
                                    </p:set>
                                    <p:animEffect transition="in" filter="blinds(horizontal)">
                                      <p:cBhvr>
                                        <p:cTn id="7" dur="500"/>
                                        <p:tgtEl>
                                          <p:spTgt spid="872489"/>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72487"/>
                                        </p:tgtEl>
                                        <p:attrNameLst>
                                          <p:attrName>style.visibility</p:attrName>
                                        </p:attrNameLst>
                                      </p:cBhvr>
                                      <p:to>
                                        <p:strVal val="visible"/>
                                      </p:to>
                                    </p:set>
                                    <p:anim calcmode="lin" valueType="num">
                                      <p:cBhvr additive="base">
                                        <p:cTn id="11" dur="500" fill="hold"/>
                                        <p:tgtEl>
                                          <p:spTgt spid="872487"/>
                                        </p:tgtEl>
                                        <p:attrNameLst>
                                          <p:attrName>ppt_x</p:attrName>
                                        </p:attrNameLst>
                                      </p:cBhvr>
                                      <p:tavLst>
                                        <p:tav tm="0">
                                          <p:val>
                                            <p:strVal val="0-#ppt_w/2"/>
                                          </p:val>
                                        </p:tav>
                                        <p:tav tm="100000">
                                          <p:val>
                                            <p:strVal val="#ppt_x"/>
                                          </p:val>
                                        </p:tav>
                                      </p:tavLst>
                                    </p:anim>
                                    <p:anim calcmode="lin" valueType="num">
                                      <p:cBhvr additive="base">
                                        <p:cTn id="12" dur="500" fill="hold"/>
                                        <p:tgtEl>
                                          <p:spTgt spid="872487"/>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872488"/>
                                        </p:tgtEl>
                                        <p:attrNameLst>
                                          <p:attrName>style.visibility</p:attrName>
                                        </p:attrNameLst>
                                      </p:cBhvr>
                                      <p:to>
                                        <p:strVal val="visible"/>
                                      </p:to>
                                    </p:set>
                                    <p:anim calcmode="lin" valueType="num">
                                      <p:cBhvr additive="base">
                                        <p:cTn id="16" dur="500" fill="hold"/>
                                        <p:tgtEl>
                                          <p:spTgt spid="872488"/>
                                        </p:tgtEl>
                                        <p:attrNameLst>
                                          <p:attrName>ppt_x</p:attrName>
                                        </p:attrNameLst>
                                      </p:cBhvr>
                                      <p:tavLst>
                                        <p:tav tm="0">
                                          <p:val>
                                            <p:strVal val="0-#ppt_w/2"/>
                                          </p:val>
                                        </p:tav>
                                        <p:tav tm="100000">
                                          <p:val>
                                            <p:strVal val="#ppt_x"/>
                                          </p:val>
                                        </p:tav>
                                      </p:tavLst>
                                    </p:anim>
                                    <p:anim calcmode="lin" valueType="num">
                                      <p:cBhvr additive="base">
                                        <p:cTn id="17" dur="500" fill="hold"/>
                                        <p:tgtEl>
                                          <p:spTgt spid="8724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87" grpId="0" animBg="1"/>
      <p:bldP spid="872488" grpId="0" autoUpdateAnimBg="0"/>
      <p:bldP spid="87248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B2149FA-55E7-4F19-B204-E92219842A4C}" type="slidenum">
              <a:rPr lang="zh-CN" altLang="en-US" i="0" smtClean="0"/>
              <a:pPr/>
              <a:t>42</a:t>
            </a:fld>
            <a:endParaRPr lang="en-US" altLang="zh-CN" i="0" smtClean="0"/>
          </a:p>
        </p:txBody>
      </p:sp>
      <p:sp>
        <p:nvSpPr>
          <p:cNvPr id="4096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264F84E-562C-4A9E-8E33-45A7C7AD5A15}" type="datetime1">
              <a:rPr lang="zh-CN" altLang="en-US" sz="1800" i="0" smtClean="0"/>
              <a:pPr/>
              <a:t>2024/9/8</a:t>
            </a:fld>
            <a:endParaRPr lang="en-US" altLang="zh-CN" sz="1000" i="0" smtClean="0"/>
          </a:p>
        </p:txBody>
      </p:sp>
      <p:sp>
        <p:nvSpPr>
          <p:cNvPr id="874498" name="Rectangle 2"/>
          <p:cNvSpPr>
            <a:spLocks noGrp="1" noChangeArrowheads="1"/>
          </p:cNvSpPr>
          <p:nvPr>
            <p:ph type="title"/>
          </p:nvPr>
        </p:nvSpPr>
        <p:spPr/>
        <p:txBody>
          <a:bodyPr/>
          <a:lstStyle/>
          <a:p>
            <a:pPr>
              <a:defRPr/>
            </a:pPr>
            <a:r>
              <a:rPr lang="zh-CN" altLang="en-US" smtClean="0"/>
              <a:t>第一章 典型例题1</a:t>
            </a:r>
          </a:p>
        </p:txBody>
      </p:sp>
      <p:sp>
        <p:nvSpPr>
          <p:cNvPr id="40965" name="Rectangle 3"/>
          <p:cNvSpPr>
            <a:spLocks noGrp="1" noChangeArrowheads="1"/>
          </p:cNvSpPr>
          <p:nvPr>
            <p:ph type="body" idx="1"/>
          </p:nvPr>
        </p:nvSpPr>
        <p:spPr>
          <a:xfrm>
            <a:off x="838200" y="4581525"/>
            <a:ext cx="7859713" cy="1994392"/>
          </a:xfrm>
        </p:spPr>
        <p:txBody>
          <a:bodyPr/>
          <a:lstStyle/>
          <a:p>
            <a:pPr>
              <a:lnSpc>
                <a:spcPct val="80000"/>
              </a:lnSpc>
            </a:pPr>
            <a:r>
              <a:rPr lang="zh-CN" altLang="en-US" sz="2400" dirty="0" smtClean="0"/>
              <a:t>因为近似数244.7的绝对误差限0.5 *10</a:t>
            </a:r>
            <a:r>
              <a:rPr lang="zh-CN" altLang="en-US" sz="2400" baseline="30000" dirty="0" smtClean="0"/>
              <a:t>-2 </a:t>
            </a:r>
            <a:endParaRPr lang="zh-CN" altLang="en-US" sz="2400" dirty="0" smtClean="0"/>
          </a:p>
          <a:p>
            <a:pPr>
              <a:lnSpc>
                <a:spcPct val="80000"/>
              </a:lnSpc>
            </a:pPr>
            <a:r>
              <a:rPr lang="zh-CN" altLang="en-US" sz="2400" dirty="0" smtClean="0"/>
              <a:t>则商1/ 244.70具有的相对误差限为 </a:t>
            </a:r>
          </a:p>
          <a:p>
            <a:pPr>
              <a:lnSpc>
                <a:spcPct val="80000"/>
              </a:lnSpc>
              <a:buFont typeface="Wingdings" pitchFamily="2" charset="2"/>
              <a:buNone/>
            </a:pPr>
            <a:r>
              <a:rPr lang="en-US" altLang="zh-CN" sz="2400" dirty="0" smtClean="0">
                <a:latin typeface="宋体" pitchFamily="2" charset="-122"/>
              </a:rPr>
              <a:t>  |δ|&lt;0/1+(0.5</a:t>
            </a:r>
            <a:r>
              <a:rPr lang="zh-CN" altLang="en-US" sz="2400" dirty="0" smtClean="0"/>
              <a:t>*10</a:t>
            </a:r>
            <a:r>
              <a:rPr lang="zh-CN" altLang="en-US" sz="2400" baseline="30000" dirty="0" smtClean="0"/>
              <a:t>-2</a:t>
            </a:r>
            <a:r>
              <a:rPr lang="en-US" altLang="zh-CN" sz="2400" dirty="0" smtClean="0">
                <a:latin typeface="宋体" pitchFamily="2" charset="-122"/>
              </a:rPr>
              <a:t>)/244.70=0.000020433</a:t>
            </a:r>
            <a:endParaRPr lang="zh-CN" altLang="en-US" sz="2400" dirty="0" smtClean="0"/>
          </a:p>
          <a:p>
            <a:pPr>
              <a:lnSpc>
                <a:spcPct val="80000"/>
              </a:lnSpc>
              <a:buFont typeface="Wingdings" pitchFamily="2" charset="2"/>
              <a:buNone/>
            </a:pPr>
            <a:r>
              <a:rPr lang="zh-CN" altLang="en-US" sz="2400" dirty="0" smtClean="0"/>
              <a:t>    </a:t>
            </a:r>
            <a:r>
              <a:rPr lang="en-US" altLang="zh-CN" sz="2400" dirty="0" smtClean="0">
                <a:latin typeface="宋体" pitchFamily="2" charset="-122"/>
              </a:rPr>
              <a:t>|Δ|≤</a:t>
            </a:r>
            <a:r>
              <a:rPr lang="zh-CN" altLang="en-US" sz="2400" dirty="0" smtClean="0"/>
              <a:t>0.00408663 * </a:t>
            </a:r>
            <a:r>
              <a:rPr lang="en-US" altLang="zh-CN" sz="2400" dirty="0" smtClean="0">
                <a:latin typeface="宋体" pitchFamily="2" charset="-122"/>
              </a:rPr>
              <a:t>0.000020433=0.84</a:t>
            </a:r>
            <a:r>
              <a:rPr lang="zh-CN" altLang="en-US" sz="2400" dirty="0" smtClean="0"/>
              <a:t>*10</a:t>
            </a:r>
            <a:r>
              <a:rPr lang="zh-CN" altLang="en-US" sz="2400" baseline="30000" dirty="0" smtClean="0"/>
              <a:t>-</a:t>
            </a:r>
            <a:r>
              <a:rPr lang="en-US" altLang="zh-CN" sz="2400" baseline="30000" dirty="0" smtClean="0"/>
              <a:t>7</a:t>
            </a:r>
            <a:r>
              <a:rPr lang="en-US" altLang="zh-CN" sz="2400" dirty="0" smtClean="0">
                <a:latin typeface="宋体" pitchFamily="2" charset="-122"/>
              </a:rPr>
              <a:t>≈0.5</a:t>
            </a:r>
            <a:r>
              <a:rPr lang="zh-CN" altLang="en-US" sz="2400" dirty="0" smtClean="0"/>
              <a:t>*10</a:t>
            </a:r>
            <a:r>
              <a:rPr lang="zh-CN" altLang="en-US" sz="2400" baseline="30000" dirty="0" smtClean="0"/>
              <a:t>-7  </a:t>
            </a:r>
          </a:p>
          <a:p>
            <a:pPr>
              <a:lnSpc>
                <a:spcPct val="80000"/>
              </a:lnSpc>
            </a:pPr>
            <a:r>
              <a:rPr lang="zh-CN" altLang="en-US" sz="2400" dirty="0" smtClean="0">
                <a:latin typeface="宋体" pitchFamily="2" charset="-122"/>
              </a:rPr>
              <a:t>所以</a:t>
            </a:r>
            <a:r>
              <a:rPr lang="zh-CN" altLang="en-US" sz="2400" dirty="0" smtClean="0"/>
              <a:t>0.00408663可以取为0.0040866</a:t>
            </a:r>
          </a:p>
        </p:txBody>
      </p:sp>
      <p:sp>
        <p:nvSpPr>
          <p:cNvPr id="40966" name="Rectangle 4"/>
          <p:cNvSpPr>
            <a:spLocks noChangeArrowheads="1"/>
          </p:cNvSpPr>
          <p:nvPr/>
        </p:nvSpPr>
        <p:spPr bwMode="auto">
          <a:xfrm>
            <a:off x="331788" y="66675"/>
            <a:ext cx="3063875" cy="4233863"/>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40967" name="Rectangle 5"/>
          <p:cNvSpPr>
            <a:spLocks noChangeArrowheads="1"/>
          </p:cNvSpPr>
          <p:nvPr/>
        </p:nvSpPr>
        <p:spPr bwMode="auto">
          <a:xfrm>
            <a:off x="254000" y="0"/>
            <a:ext cx="107950"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68" name="Rectangle 6"/>
          <p:cNvSpPr>
            <a:spLocks noChangeArrowheads="1"/>
          </p:cNvSpPr>
          <p:nvPr/>
        </p:nvSpPr>
        <p:spPr bwMode="auto">
          <a:xfrm>
            <a:off x="3302000" y="0"/>
            <a:ext cx="93663"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69" name="AutoShape 7"/>
          <p:cNvSpPr>
            <a:spLocks noChangeArrowheads="1"/>
          </p:cNvSpPr>
          <p:nvPr/>
        </p:nvSpPr>
        <p:spPr bwMode="auto">
          <a:xfrm>
            <a:off x="269875" y="1588"/>
            <a:ext cx="3157538" cy="84137"/>
          </a:xfrm>
          <a:custGeom>
            <a:avLst/>
            <a:gdLst>
              <a:gd name="T0" fmla="*/ 2147483647 w 21600"/>
              <a:gd name="T1" fmla="*/ 638304 h 21600"/>
              <a:gd name="T2" fmla="*/ 2147483647 w 21600"/>
              <a:gd name="T3" fmla="*/ 1276596 h 21600"/>
              <a:gd name="T4" fmla="*/ 1149559889 w 21600"/>
              <a:gd name="T5" fmla="*/ 638304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70" name="AutoShape 8"/>
          <p:cNvSpPr>
            <a:spLocks noChangeArrowheads="1"/>
          </p:cNvSpPr>
          <p:nvPr/>
        </p:nvSpPr>
        <p:spPr bwMode="auto">
          <a:xfrm flipV="1">
            <a:off x="247650" y="4316413"/>
            <a:ext cx="3157538" cy="103187"/>
          </a:xfrm>
          <a:custGeom>
            <a:avLst/>
            <a:gdLst>
              <a:gd name="T0" fmla="*/ 2147483647 w 21600"/>
              <a:gd name="T1" fmla="*/ 1177450 h 21600"/>
              <a:gd name="T2" fmla="*/ 2147483647 w 21600"/>
              <a:gd name="T3" fmla="*/ 2354871 h 21600"/>
              <a:gd name="T4" fmla="*/ 1287006934 w 21600"/>
              <a:gd name="T5" fmla="*/ 1177450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71" name="Rectangle 9"/>
          <p:cNvSpPr>
            <a:spLocks noChangeArrowheads="1"/>
          </p:cNvSpPr>
          <p:nvPr/>
        </p:nvSpPr>
        <p:spPr bwMode="auto">
          <a:xfrm>
            <a:off x="377825" y="515938"/>
            <a:ext cx="2865438" cy="3784600"/>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40972" name="Rectangle 10"/>
          <p:cNvSpPr>
            <a:spLocks noChangeArrowheads="1"/>
          </p:cNvSpPr>
          <p:nvPr/>
        </p:nvSpPr>
        <p:spPr bwMode="auto">
          <a:xfrm>
            <a:off x="379413" y="79375"/>
            <a:ext cx="2865437" cy="95250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40973" name="Text Box 11"/>
          <p:cNvSpPr txBox="1">
            <a:spLocks noChangeAspect="1" noChangeArrowheads="1"/>
          </p:cNvSpPr>
          <p:nvPr/>
        </p:nvSpPr>
        <p:spPr bwMode="auto">
          <a:xfrm>
            <a:off x="495300" y="373063"/>
            <a:ext cx="22955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endParaRPr lang="en-US" altLang="en-US" i="0">
              <a:latin typeface="Times New Roman" pitchFamily="18" charset="0"/>
              <a:ea typeface="PMingLiU" pitchFamily="18" charset="-120"/>
            </a:endParaRPr>
          </a:p>
        </p:txBody>
      </p:sp>
      <p:sp>
        <p:nvSpPr>
          <p:cNvPr id="40974" name="Rectangle 12"/>
          <p:cNvSpPr>
            <a:spLocks noChangeArrowheads="1"/>
          </p:cNvSpPr>
          <p:nvPr/>
        </p:nvSpPr>
        <p:spPr bwMode="auto">
          <a:xfrm>
            <a:off x="468313" y="1136650"/>
            <a:ext cx="3163887" cy="3255963"/>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i="0">
                <a:latin typeface="Times New Roman" pitchFamily="18" charset="0"/>
              </a:rPr>
              <a:t> </a:t>
            </a:r>
            <a:r>
              <a:rPr lang="zh-CN" altLang="en-US" sz="2400" i="0">
                <a:latin typeface="Times New Roman" pitchFamily="18" charset="0"/>
              </a:rPr>
              <a:t>0    1            1</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 1    5.5        6.5000</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 </a:t>
            </a:r>
            <a:r>
              <a:rPr lang="zh-CN" altLang="en-US" sz="2400" i="0">
                <a:solidFill>
                  <a:srgbClr val="00FF00"/>
                </a:solidFill>
                <a:latin typeface="Times New Roman" pitchFamily="18" charset="0"/>
              </a:rPr>
              <a:t>2   15.125   21.625</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3   27.730   49</a:t>
            </a:r>
            <a:r>
              <a:rPr lang="zh-CN" altLang="zh-CN" sz="2400" i="0">
                <a:solidFill>
                  <a:srgbClr val="00FF00"/>
                </a:solidFill>
                <a:latin typeface="Times New Roman" pitchFamily="18" charset="0"/>
              </a:rPr>
              <a:t>.355</a:t>
            </a:r>
            <a:r>
              <a:rPr lang="zh-CN" altLang="en-US" sz="2400" i="0">
                <a:solidFill>
                  <a:srgbClr val="00FF00"/>
                </a:solidFill>
                <a:latin typeface="Times New Roman" pitchFamily="18" charset="0"/>
              </a:rPr>
              <a:t> </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4   38.129   87.484</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5   41.942   129.426</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6   38.446   167. 87</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7    30.208  198.08</a:t>
            </a:r>
          </a:p>
        </p:txBody>
      </p:sp>
      <p:graphicFrame>
        <p:nvGraphicFramePr>
          <p:cNvPr id="40975" name="Object 13"/>
          <p:cNvGraphicFramePr>
            <a:graphicFrameLocks noChangeAspect="1"/>
          </p:cNvGraphicFramePr>
          <p:nvPr/>
        </p:nvGraphicFramePr>
        <p:xfrm>
          <a:off x="990600" y="85725"/>
          <a:ext cx="661988" cy="950913"/>
        </p:xfrm>
        <a:graphic>
          <a:graphicData uri="http://schemas.openxmlformats.org/presentationml/2006/ole">
            <mc:AlternateContent xmlns:mc="http://schemas.openxmlformats.org/markup-compatibility/2006">
              <mc:Choice xmlns:v="urn:schemas-microsoft-com:vml" Requires="v">
                <p:oleObj spid="_x0000_s41132" name="公式" r:id="rId4" imgW="215806" imgH="418918" progId="Equation.3">
                  <p:embed/>
                </p:oleObj>
              </mc:Choice>
              <mc:Fallback>
                <p:oleObj name="公式" r:id="rId4" imgW="215806" imgH="418918"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85725"/>
                        <a:ext cx="66198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6" name="Object 14"/>
          <p:cNvGraphicFramePr>
            <a:graphicFrameLocks noChangeAspect="1"/>
          </p:cNvGraphicFramePr>
          <p:nvPr/>
        </p:nvGraphicFramePr>
        <p:xfrm>
          <a:off x="2146300" y="85725"/>
          <a:ext cx="973138" cy="950913"/>
        </p:xfrm>
        <a:graphic>
          <a:graphicData uri="http://schemas.openxmlformats.org/presentationml/2006/ole">
            <mc:AlternateContent xmlns:mc="http://schemas.openxmlformats.org/markup-compatibility/2006">
              <mc:Choice xmlns:v="urn:schemas-microsoft-com:vml" Requires="v">
                <p:oleObj spid="_x0000_s41133" name="公式" r:id="rId6" imgW="406048" imgH="444114" progId="Equation.3">
                  <p:embed/>
                </p:oleObj>
              </mc:Choice>
              <mc:Fallback>
                <p:oleObj name="公式" r:id="rId6" imgW="406048" imgH="444114"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6300" y="85725"/>
                        <a:ext cx="97313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7" name="Rectangle 15"/>
          <p:cNvSpPr>
            <a:spLocks noChangeArrowheads="1"/>
          </p:cNvSpPr>
          <p:nvPr/>
        </p:nvSpPr>
        <p:spPr bwMode="auto">
          <a:xfrm>
            <a:off x="3468688" y="66675"/>
            <a:ext cx="3063875" cy="4233863"/>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40978" name="Rectangle 16"/>
          <p:cNvSpPr>
            <a:spLocks noChangeArrowheads="1"/>
          </p:cNvSpPr>
          <p:nvPr/>
        </p:nvSpPr>
        <p:spPr bwMode="auto">
          <a:xfrm>
            <a:off x="3390900" y="0"/>
            <a:ext cx="107950"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79" name="Rectangle 17"/>
          <p:cNvSpPr>
            <a:spLocks noChangeArrowheads="1"/>
          </p:cNvSpPr>
          <p:nvPr/>
        </p:nvSpPr>
        <p:spPr bwMode="auto">
          <a:xfrm>
            <a:off x="6438900" y="0"/>
            <a:ext cx="93663"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80" name="AutoShape 18"/>
          <p:cNvSpPr>
            <a:spLocks noChangeArrowheads="1"/>
          </p:cNvSpPr>
          <p:nvPr/>
        </p:nvSpPr>
        <p:spPr bwMode="auto">
          <a:xfrm>
            <a:off x="3406775" y="1588"/>
            <a:ext cx="3157538" cy="84137"/>
          </a:xfrm>
          <a:custGeom>
            <a:avLst/>
            <a:gdLst>
              <a:gd name="T0" fmla="*/ 2147483647 w 21600"/>
              <a:gd name="T1" fmla="*/ 638304 h 21600"/>
              <a:gd name="T2" fmla="*/ 2147483647 w 21600"/>
              <a:gd name="T3" fmla="*/ 1276596 h 21600"/>
              <a:gd name="T4" fmla="*/ 1149559889 w 21600"/>
              <a:gd name="T5" fmla="*/ 638304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81" name="AutoShape 19"/>
          <p:cNvSpPr>
            <a:spLocks noChangeArrowheads="1"/>
          </p:cNvSpPr>
          <p:nvPr/>
        </p:nvSpPr>
        <p:spPr bwMode="auto">
          <a:xfrm flipV="1">
            <a:off x="3384550" y="4316413"/>
            <a:ext cx="3157538" cy="103187"/>
          </a:xfrm>
          <a:custGeom>
            <a:avLst/>
            <a:gdLst>
              <a:gd name="T0" fmla="*/ 2147483647 w 21600"/>
              <a:gd name="T1" fmla="*/ 1177450 h 21600"/>
              <a:gd name="T2" fmla="*/ 2147483647 w 21600"/>
              <a:gd name="T3" fmla="*/ 2354871 h 21600"/>
              <a:gd name="T4" fmla="*/ 1287006934 w 21600"/>
              <a:gd name="T5" fmla="*/ 1177450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82" name="Rectangle 20"/>
          <p:cNvSpPr>
            <a:spLocks noChangeArrowheads="1"/>
          </p:cNvSpPr>
          <p:nvPr/>
        </p:nvSpPr>
        <p:spPr bwMode="auto">
          <a:xfrm>
            <a:off x="3514725" y="515938"/>
            <a:ext cx="2865438" cy="3784600"/>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40983" name="Rectangle 21"/>
          <p:cNvSpPr>
            <a:spLocks noChangeArrowheads="1"/>
          </p:cNvSpPr>
          <p:nvPr/>
        </p:nvSpPr>
        <p:spPr bwMode="auto">
          <a:xfrm>
            <a:off x="3516313" y="79375"/>
            <a:ext cx="2865437" cy="95250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40984" name="Text Box 22"/>
          <p:cNvSpPr txBox="1">
            <a:spLocks noChangeAspect="1" noChangeArrowheads="1"/>
          </p:cNvSpPr>
          <p:nvPr/>
        </p:nvSpPr>
        <p:spPr bwMode="auto">
          <a:xfrm>
            <a:off x="3632200" y="373063"/>
            <a:ext cx="22955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endParaRPr lang="en-US" altLang="en-US" i="0">
              <a:latin typeface="Times New Roman" pitchFamily="18" charset="0"/>
              <a:ea typeface="PMingLiU" pitchFamily="18" charset="-120"/>
            </a:endParaRPr>
          </a:p>
        </p:txBody>
      </p:sp>
      <p:sp>
        <p:nvSpPr>
          <p:cNvPr id="40985" name="Rectangle 23"/>
          <p:cNvSpPr>
            <a:spLocks noChangeArrowheads="1"/>
          </p:cNvSpPr>
          <p:nvPr/>
        </p:nvSpPr>
        <p:spPr bwMode="auto">
          <a:xfrm>
            <a:off x="3605213" y="1136650"/>
            <a:ext cx="3163887" cy="3255963"/>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i="0">
                <a:latin typeface="Times New Roman" pitchFamily="18" charset="0"/>
              </a:rPr>
              <a:t> </a:t>
            </a:r>
            <a:r>
              <a:rPr lang="zh-CN" altLang="en-US" sz="2400" i="0">
                <a:solidFill>
                  <a:srgbClr val="00FF00"/>
                </a:solidFill>
                <a:latin typeface="Times New Roman" pitchFamily="18" charset="0"/>
              </a:rPr>
              <a:t>8  20.768     218.85</a:t>
            </a:r>
          </a:p>
          <a:p>
            <a:pPr marL="258763" indent="-258763" algn="l" defTabSz="814388">
              <a:lnSpc>
                <a:spcPct val="85000"/>
              </a:lnSpc>
              <a:spcBef>
                <a:spcPct val="30000"/>
              </a:spcBef>
              <a:buSzPct val="60000"/>
              <a:buFont typeface="Wingdings" pitchFamily="2" charset="2"/>
              <a:buNone/>
            </a:pPr>
            <a:r>
              <a:rPr lang="zh-CN" altLang="en-US" sz="2400" i="0">
                <a:solidFill>
                  <a:srgbClr val="00FF00"/>
                </a:solidFill>
                <a:latin typeface="Times New Roman" pitchFamily="18" charset="0"/>
              </a:rPr>
              <a:t> 9  12.692   231.54</a:t>
            </a:r>
          </a:p>
          <a:p>
            <a:pPr marL="258763" indent="-258763" algn="l" defTabSz="814388">
              <a:lnSpc>
                <a:spcPct val="85000"/>
              </a:lnSpc>
              <a:spcBef>
                <a:spcPct val="30000"/>
              </a:spcBef>
              <a:buSzPct val="60000"/>
              <a:buFont typeface="Wingdings" pitchFamily="2" charset="2"/>
              <a:buNone/>
            </a:pPr>
            <a:r>
              <a:rPr lang="zh-CN" altLang="en-US" sz="2400" i="0">
                <a:solidFill>
                  <a:srgbClr val="FF0000"/>
                </a:solidFill>
                <a:latin typeface="Times New Roman" pitchFamily="18" charset="0"/>
              </a:rPr>
              <a:t>10 6.9803    238.52</a:t>
            </a:r>
          </a:p>
          <a:p>
            <a:pPr marL="258763" indent="-258763" algn="l" defTabSz="814388">
              <a:lnSpc>
                <a:spcPct val="85000"/>
              </a:lnSpc>
              <a:spcBef>
                <a:spcPct val="30000"/>
              </a:spcBef>
              <a:buSzPct val="60000"/>
              <a:buFont typeface="Wingdings" pitchFamily="2" charset="2"/>
              <a:buNone/>
            </a:pPr>
            <a:r>
              <a:rPr lang="zh-CN" altLang="en-US" sz="2400" i="0">
                <a:solidFill>
                  <a:srgbClr val="FF0000"/>
                </a:solidFill>
                <a:latin typeface="Times New Roman" pitchFamily="18" charset="0"/>
              </a:rPr>
              <a:t>11 3.4902    242.01</a:t>
            </a:r>
          </a:p>
          <a:p>
            <a:pPr marL="258763" indent="-258763" algn="l" defTabSz="814388">
              <a:lnSpc>
                <a:spcPct val="85000"/>
              </a:lnSpc>
              <a:spcBef>
                <a:spcPct val="30000"/>
              </a:spcBef>
              <a:buSzPct val="60000"/>
              <a:buFont typeface="Wingdings" pitchFamily="2" charset="2"/>
              <a:buNone/>
            </a:pPr>
            <a:r>
              <a:rPr lang="zh-CN" altLang="en-US" sz="2400" i="0">
                <a:solidFill>
                  <a:srgbClr val="FF0000"/>
                </a:solidFill>
                <a:latin typeface="Times New Roman" pitchFamily="18" charset="0"/>
              </a:rPr>
              <a:t>12 1.5997    243.61</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13 </a:t>
            </a:r>
            <a:r>
              <a:rPr lang="zh-CN" altLang="en-US" sz="2400" i="0">
                <a:solidFill>
                  <a:srgbClr val="FF99FF"/>
                </a:solidFill>
                <a:latin typeface="Times New Roman" pitchFamily="18" charset="0"/>
              </a:rPr>
              <a:t>0.67676</a:t>
            </a:r>
            <a:r>
              <a:rPr lang="zh-CN" altLang="en-US" sz="2400" i="0">
                <a:latin typeface="Times New Roman" pitchFamily="18" charset="0"/>
              </a:rPr>
              <a:t>  244.29</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14 </a:t>
            </a:r>
            <a:r>
              <a:rPr lang="zh-CN" altLang="en-US" sz="2400" i="0">
                <a:solidFill>
                  <a:srgbClr val="FF99FF"/>
                </a:solidFill>
                <a:latin typeface="Times New Roman" pitchFamily="18" charset="0"/>
              </a:rPr>
              <a:t>0.26587</a:t>
            </a:r>
            <a:r>
              <a:rPr lang="zh-CN" altLang="en-US" sz="2400" i="0">
                <a:latin typeface="Times New Roman" pitchFamily="18" charset="0"/>
              </a:rPr>
              <a:t>  244.55</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15 </a:t>
            </a:r>
            <a:r>
              <a:rPr lang="zh-CN" altLang="en-US" sz="2400" i="0">
                <a:solidFill>
                  <a:srgbClr val="FF99FF"/>
                </a:solidFill>
                <a:latin typeface="Times New Roman" pitchFamily="18" charset="0"/>
              </a:rPr>
              <a:t>0.09749</a:t>
            </a:r>
            <a:r>
              <a:rPr lang="zh-CN" altLang="en-US" sz="2400" i="0">
                <a:latin typeface="Times New Roman" pitchFamily="18" charset="0"/>
              </a:rPr>
              <a:t>  244.65</a:t>
            </a:r>
          </a:p>
        </p:txBody>
      </p:sp>
      <p:graphicFrame>
        <p:nvGraphicFramePr>
          <p:cNvPr id="40986" name="Object 24"/>
          <p:cNvGraphicFramePr>
            <a:graphicFrameLocks noChangeAspect="1"/>
          </p:cNvGraphicFramePr>
          <p:nvPr/>
        </p:nvGraphicFramePr>
        <p:xfrm>
          <a:off x="4127500" y="85725"/>
          <a:ext cx="661988" cy="950913"/>
        </p:xfrm>
        <a:graphic>
          <a:graphicData uri="http://schemas.openxmlformats.org/presentationml/2006/ole">
            <mc:AlternateContent xmlns:mc="http://schemas.openxmlformats.org/markup-compatibility/2006">
              <mc:Choice xmlns:v="urn:schemas-microsoft-com:vml" Requires="v">
                <p:oleObj spid="_x0000_s41134" name="公式" r:id="rId8" imgW="215806" imgH="418918" progId="Equation.3">
                  <p:embed/>
                </p:oleObj>
              </mc:Choice>
              <mc:Fallback>
                <p:oleObj name="公式" r:id="rId8" imgW="215806" imgH="418918" progId="Equation.3">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7500" y="85725"/>
                        <a:ext cx="66198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87" name="Object 25"/>
          <p:cNvGraphicFramePr>
            <a:graphicFrameLocks noChangeAspect="1"/>
          </p:cNvGraphicFramePr>
          <p:nvPr/>
        </p:nvGraphicFramePr>
        <p:xfrm>
          <a:off x="5283200" y="85725"/>
          <a:ext cx="973138" cy="950913"/>
        </p:xfrm>
        <a:graphic>
          <a:graphicData uri="http://schemas.openxmlformats.org/presentationml/2006/ole">
            <mc:AlternateContent xmlns:mc="http://schemas.openxmlformats.org/markup-compatibility/2006">
              <mc:Choice xmlns:v="urn:schemas-microsoft-com:vml" Requires="v">
                <p:oleObj spid="_x0000_s41135" name="公式" r:id="rId9" imgW="406048" imgH="444114" progId="Equation.3">
                  <p:embed/>
                </p:oleObj>
              </mc:Choice>
              <mc:Fallback>
                <p:oleObj name="公式" r:id="rId9" imgW="406048" imgH="444114" progId="Equation.3">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3200" y="85725"/>
                        <a:ext cx="97313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88" name="Rectangle 26"/>
          <p:cNvSpPr>
            <a:spLocks noChangeArrowheads="1"/>
          </p:cNvSpPr>
          <p:nvPr/>
        </p:nvSpPr>
        <p:spPr bwMode="auto">
          <a:xfrm>
            <a:off x="6605588" y="66675"/>
            <a:ext cx="3063875" cy="4233863"/>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40989" name="Rectangle 27"/>
          <p:cNvSpPr>
            <a:spLocks noChangeArrowheads="1"/>
          </p:cNvSpPr>
          <p:nvPr/>
        </p:nvSpPr>
        <p:spPr bwMode="auto">
          <a:xfrm>
            <a:off x="6527800" y="0"/>
            <a:ext cx="107950"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90" name="Rectangle 28"/>
          <p:cNvSpPr>
            <a:spLocks noChangeArrowheads="1"/>
          </p:cNvSpPr>
          <p:nvPr/>
        </p:nvSpPr>
        <p:spPr bwMode="auto">
          <a:xfrm>
            <a:off x="9575800" y="0"/>
            <a:ext cx="93663" cy="4387850"/>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91" name="AutoShape 29"/>
          <p:cNvSpPr>
            <a:spLocks noChangeArrowheads="1"/>
          </p:cNvSpPr>
          <p:nvPr/>
        </p:nvSpPr>
        <p:spPr bwMode="auto">
          <a:xfrm>
            <a:off x="6543675" y="1588"/>
            <a:ext cx="3157538" cy="84137"/>
          </a:xfrm>
          <a:custGeom>
            <a:avLst/>
            <a:gdLst>
              <a:gd name="T0" fmla="*/ 2147483647 w 21600"/>
              <a:gd name="T1" fmla="*/ 638304 h 21600"/>
              <a:gd name="T2" fmla="*/ 2147483647 w 21600"/>
              <a:gd name="T3" fmla="*/ 1276596 h 21600"/>
              <a:gd name="T4" fmla="*/ 1149559889 w 21600"/>
              <a:gd name="T5" fmla="*/ 638304 h 21600"/>
              <a:gd name="T6" fmla="*/ 2147483647 w 21600"/>
              <a:gd name="T7" fmla="*/ 0 h 21600"/>
              <a:gd name="T8" fmla="*/ 0 60000 65536"/>
              <a:gd name="T9" fmla="*/ 0 60000 65536"/>
              <a:gd name="T10" fmla="*/ 0 60000 65536"/>
              <a:gd name="T11" fmla="*/ 0 60000 65536"/>
              <a:gd name="T12" fmla="*/ 2168 w 21600"/>
              <a:gd name="T13" fmla="*/ 2168 h 21600"/>
              <a:gd name="T14" fmla="*/ 19432 w 21600"/>
              <a:gd name="T15" fmla="*/ 19432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92" name="AutoShape 30"/>
          <p:cNvSpPr>
            <a:spLocks noChangeArrowheads="1"/>
          </p:cNvSpPr>
          <p:nvPr/>
        </p:nvSpPr>
        <p:spPr bwMode="auto">
          <a:xfrm flipV="1">
            <a:off x="6521450" y="4316413"/>
            <a:ext cx="3157538" cy="103187"/>
          </a:xfrm>
          <a:custGeom>
            <a:avLst/>
            <a:gdLst>
              <a:gd name="T0" fmla="*/ 2147483647 w 21600"/>
              <a:gd name="T1" fmla="*/ 1177450 h 21600"/>
              <a:gd name="T2" fmla="*/ 2147483647 w 21600"/>
              <a:gd name="T3" fmla="*/ 2354871 h 21600"/>
              <a:gd name="T4" fmla="*/ 1287006934 w 21600"/>
              <a:gd name="T5" fmla="*/ 1177450 h 21600"/>
              <a:gd name="T6" fmla="*/ 2147483647 w 21600"/>
              <a:gd name="T7" fmla="*/ 0 h 21600"/>
              <a:gd name="T8" fmla="*/ 0 60000 65536"/>
              <a:gd name="T9" fmla="*/ 0 60000 65536"/>
              <a:gd name="T10" fmla="*/ 0 60000 65536"/>
              <a:gd name="T11" fmla="*/ 0 60000 65536"/>
              <a:gd name="T12" fmla="*/ 2212 w 21600"/>
              <a:gd name="T13" fmla="*/ 2212 h 21600"/>
              <a:gd name="T14" fmla="*/ 19388 w 21600"/>
              <a:gd name="T15" fmla="*/ 19388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93" name="Rectangle 31"/>
          <p:cNvSpPr>
            <a:spLocks noChangeArrowheads="1"/>
          </p:cNvSpPr>
          <p:nvPr/>
        </p:nvSpPr>
        <p:spPr bwMode="auto">
          <a:xfrm>
            <a:off x="6651625" y="515938"/>
            <a:ext cx="2865438" cy="3784600"/>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40994" name="Rectangle 32"/>
          <p:cNvSpPr>
            <a:spLocks noChangeArrowheads="1"/>
          </p:cNvSpPr>
          <p:nvPr/>
        </p:nvSpPr>
        <p:spPr bwMode="auto">
          <a:xfrm>
            <a:off x="6653213" y="79375"/>
            <a:ext cx="2865437" cy="952500"/>
          </a:xfrm>
          <a:prstGeom prst="rect">
            <a:avLst/>
          </a:prstGeom>
          <a:solidFill>
            <a:schemeClr val="bg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40995" name="Text Box 33"/>
          <p:cNvSpPr txBox="1">
            <a:spLocks noChangeAspect="1" noChangeArrowheads="1"/>
          </p:cNvSpPr>
          <p:nvPr/>
        </p:nvSpPr>
        <p:spPr bwMode="auto">
          <a:xfrm>
            <a:off x="6769100" y="373063"/>
            <a:ext cx="22955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i="0">
                <a:latin typeface="Times New Roman" pitchFamily="18" charset="0"/>
              </a:rPr>
              <a:t>n</a:t>
            </a:r>
          </a:p>
        </p:txBody>
      </p:sp>
      <p:sp>
        <p:nvSpPr>
          <p:cNvPr id="40996" name="Rectangle 34"/>
          <p:cNvSpPr>
            <a:spLocks noChangeArrowheads="1"/>
          </p:cNvSpPr>
          <p:nvPr/>
        </p:nvSpPr>
        <p:spPr bwMode="auto">
          <a:xfrm>
            <a:off x="6742113" y="1136650"/>
            <a:ext cx="3163887" cy="731838"/>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16 </a:t>
            </a:r>
            <a:r>
              <a:rPr lang="zh-CN" altLang="en-US" sz="2400" i="0">
                <a:solidFill>
                  <a:srgbClr val="FF99FF"/>
                </a:solidFill>
                <a:latin typeface="Times New Roman" pitchFamily="18" charset="0"/>
              </a:rPr>
              <a:t>0.03351</a:t>
            </a:r>
            <a:r>
              <a:rPr lang="zh-CN" altLang="en-US" sz="2400" i="0">
                <a:latin typeface="Times New Roman" pitchFamily="18" charset="0"/>
              </a:rPr>
              <a:t>    244.69</a:t>
            </a:r>
          </a:p>
          <a:p>
            <a:pPr marL="258763" indent="-258763" algn="l" defTabSz="814388">
              <a:lnSpc>
                <a:spcPct val="85000"/>
              </a:lnSpc>
              <a:spcBef>
                <a:spcPct val="30000"/>
              </a:spcBef>
              <a:buSzPct val="60000"/>
              <a:buFont typeface="Wingdings" pitchFamily="2" charset="2"/>
              <a:buNone/>
            </a:pPr>
            <a:r>
              <a:rPr lang="zh-CN" altLang="en-US" sz="2400" i="0">
                <a:latin typeface="Times New Roman" pitchFamily="18" charset="0"/>
              </a:rPr>
              <a:t>17 </a:t>
            </a:r>
            <a:r>
              <a:rPr lang="zh-CN" altLang="en-US" sz="2400" i="0">
                <a:solidFill>
                  <a:srgbClr val="FFFF00"/>
                </a:solidFill>
                <a:latin typeface="Times New Roman" pitchFamily="18" charset="0"/>
              </a:rPr>
              <a:t>0.010842</a:t>
            </a:r>
            <a:r>
              <a:rPr lang="zh-CN" altLang="en-US" sz="2400" i="0">
                <a:latin typeface="Times New Roman" pitchFamily="18" charset="0"/>
              </a:rPr>
              <a:t>  244.70</a:t>
            </a:r>
          </a:p>
        </p:txBody>
      </p:sp>
      <p:graphicFrame>
        <p:nvGraphicFramePr>
          <p:cNvPr id="40997" name="Object 35"/>
          <p:cNvGraphicFramePr>
            <a:graphicFrameLocks noChangeAspect="1"/>
          </p:cNvGraphicFramePr>
          <p:nvPr/>
        </p:nvGraphicFramePr>
        <p:xfrm>
          <a:off x="7264400" y="85725"/>
          <a:ext cx="661988" cy="950913"/>
        </p:xfrm>
        <a:graphic>
          <a:graphicData uri="http://schemas.openxmlformats.org/presentationml/2006/ole">
            <mc:AlternateContent xmlns:mc="http://schemas.openxmlformats.org/markup-compatibility/2006">
              <mc:Choice xmlns:v="urn:schemas-microsoft-com:vml" Requires="v">
                <p:oleObj spid="_x0000_s41136" name="公式" r:id="rId10" imgW="215806" imgH="418918" progId="Equation.3">
                  <p:embed/>
                </p:oleObj>
              </mc:Choice>
              <mc:Fallback>
                <p:oleObj name="公式" r:id="rId10" imgW="215806" imgH="418918" progId="Equation.3">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4400" y="85725"/>
                        <a:ext cx="66198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98" name="Object 36"/>
          <p:cNvGraphicFramePr>
            <a:graphicFrameLocks noChangeAspect="1"/>
          </p:cNvGraphicFramePr>
          <p:nvPr/>
        </p:nvGraphicFramePr>
        <p:xfrm>
          <a:off x="8420100" y="85725"/>
          <a:ext cx="973138" cy="950913"/>
        </p:xfrm>
        <a:graphic>
          <a:graphicData uri="http://schemas.openxmlformats.org/presentationml/2006/ole">
            <mc:AlternateContent xmlns:mc="http://schemas.openxmlformats.org/markup-compatibility/2006">
              <mc:Choice xmlns:v="urn:schemas-microsoft-com:vml" Requires="v">
                <p:oleObj spid="_x0000_s41137" name="公式" r:id="rId11" imgW="406048" imgH="444114" progId="Equation.3">
                  <p:embed/>
                </p:oleObj>
              </mc:Choice>
              <mc:Fallback>
                <p:oleObj name="公式" r:id="rId11" imgW="406048" imgH="444114" progId="Equation.3">
                  <p:embed/>
                  <p:pic>
                    <p:nvPicPr>
                      <p:cNvPr id="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0100" y="85725"/>
                        <a:ext cx="97313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99" name="AutoShape 37"/>
          <p:cNvSpPr>
            <a:spLocks noChangeArrowheads="1"/>
          </p:cNvSpPr>
          <p:nvPr/>
        </p:nvSpPr>
        <p:spPr bwMode="auto">
          <a:xfrm>
            <a:off x="5480050" y="2438400"/>
            <a:ext cx="4343400" cy="1981200"/>
          </a:xfrm>
          <a:prstGeom prst="wedgeRoundRectCallout">
            <a:avLst>
              <a:gd name="adj1" fmla="val 33880"/>
              <a:gd name="adj2" fmla="val -81569"/>
              <a:gd name="adj3" fmla="val 16667"/>
            </a:avLst>
          </a:prstGeom>
          <a:solidFill>
            <a:srgbClr val="F60A0A"/>
          </a:solidFill>
          <a:ln w="28575">
            <a:solidFill>
              <a:schemeClr val="bg1"/>
            </a:solidFill>
            <a:miter lim="800000"/>
            <a:headEnd/>
            <a:tailEnd/>
          </a:ln>
        </p:spPr>
        <p:txBody>
          <a:bodyPr anchor="ctr"/>
          <a:lstStyle/>
          <a:p>
            <a:pPr algn="l">
              <a:lnSpc>
                <a:spcPct val="70000"/>
              </a:lnSpc>
              <a:spcBef>
                <a:spcPct val="50000"/>
              </a:spcBef>
            </a:pPr>
            <a:r>
              <a:rPr lang="zh-CN" altLang="en-US" sz="2800" i="0">
                <a:latin typeface="Times New Roman" pitchFamily="18" charset="0"/>
              </a:rPr>
              <a:t>8*(0.5*10</a:t>
            </a:r>
            <a:r>
              <a:rPr lang="zh-CN" altLang="en-US" sz="2800" i="0" baseline="30000">
                <a:latin typeface="Times New Roman" pitchFamily="18" charset="0"/>
              </a:rPr>
              <a:t>-3</a:t>
            </a:r>
            <a:r>
              <a:rPr lang="zh-CN" altLang="en-US" sz="2800" i="0">
                <a:latin typeface="Times New Roman" pitchFamily="18" charset="0"/>
              </a:rPr>
              <a:t>)+3*(0.5*10</a:t>
            </a:r>
            <a:r>
              <a:rPr lang="zh-CN" altLang="en-US" sz="2800" i="0" baseline="30000">
                <a:latin typeface="Times New Roman" pitchFamily="18" charset="0"/>
              </a:rPr>
              <a:t>-4</a:t>
            </a:r>
            <a:r>
              <a:rPr lang="zh-CN" altLang="en-US" sz="2800" i="0">
                <a:latin typeface="Times New Roman" pitchFamily="18" charset="0"/>
              </a:rPr>
              <a:t>)</a:t>
            </a:r>
          </a:p>
          <a:p>
            <a:pPr algn="l">
              <a:lnSpc>
                <a:spcPct val="70000"/>
              </a:lnSpc>
              <a:spcBef>
                <a:spcPct val="50000"/>
              </a:spcBef>
            </a:pPr>
            <a:r>
              <a:rPr lang="zh-CN" altLang="en-US" sz="2800" i="0">
                <a:latin typeface="Times New Roman" pitchFamily="18" charset="0"/>
              </a:rPr>
              <a:t>+4*(0.5*10</a:t>
            </a:r>
            <a:r>
              <a:rPr lang="zh-CN" altLang="en-US" sz="2800" i="0" baseline="30000">
                <a:latin typeface="Times New Roman" pitchFamily="18" charset="0"/>
              </a:rPr>
              <a:t>-5</a:t>
            </a:r>
            <a:r>
              <a:rPr lang="zh-CN" altLang="en-US" sz="2800" i="0">
                <a:latin typeface="Times New Roman" pitchFamily="18" charset="0"/>
              </a:rPr>
              <a:t>)+(0.5*10</a:t>
            </a:r>
            <a:r>
              <a:rPr lang="zh-CN" altLang="en-US" sz="2800" i="0" baseline="30000">
                <a:latin typeface="Times New Roman" pitchFamily="18" charset="0"/>
              </a:rPr>
              <a:t>-6</a:t>
            </a:r>
            <a:r>
              <a:rPr lang="zh-CN" altLang="en-US" sz="2800" i="0">
                <a:latin typeface="Times New Roman" pitchFamily="18" charset="0"/>
              </a:rPr>
              <a:t>)</a:t>
            </a:r>
          </a:p>
          <a:p>
            <a:pPr algn="l">
              <a:lnSpc>
                <a:spcPct val="70000"/>
              </a:lnSpc>
              <a:spcBef>
                <a:spcPct val="50000"/>
              </a:spcBef>
            </a:pPr>
            <a:r>
              <a:rPr lang="zh-CN" altLang="en-US" sz="2800" i="0">
                <a:latin typeface="Times New Roman" pitchFamily="18" charset="0"/>
              </a:rPr>
              <a:t>=0.0042&lt;0.5 *10</a:t>
            </a:r>
            <a:r>
              <a:rPr lang="zh-CN" altLang="en-US" sz="2800" i="0" baseline="30000">
                <a:latin typeface="Times New Roman" pitchFamily="18" charset="0"/>
              </a:rPr>
              <a:t>-2</a:t>
            </a:r>
            <a:endParaRPr lang="zh-CN" altLang="en-US" sz="2800" b="0" i="0">
              <a:latin typeface="宋体" pitchFamily="2" charset="-122"/>
              <a:ea typeface="PMingLiU" pitchFamily="18" charset="-12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1E86ECE-D4FE-4E58-8005-B607ACE48234}" type="slidenum">
              <a:rPr lang="zh-CN" altLang="en-US" i="0" smtClean="0"/>
              <a:pPr/>
              <a:t>43</a:t>
            </a:fld>
            <a:endParaRPr lang="en-US" altLang="zh-CN" i="0" smtClean="0"/>
          </a:p>
        </p:txBody>
      </p:sp>
      <p:sp>
        <p:nvSpPr>
          <p:cNvPr id="4198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325FC07-6860-4ECB-BBA1-A835CBD3BB73}" type="datetime1">
              <a:rPr lang="zh-CN" altLang="en-US" sz="1800" i="0" smtClean="0"/>
              <a:pPr/>
              <a:t>2024/9/8</a:t>
            </a:fld>
            <a:endParaRPr lang="en-US" altLang="zh-CN" sz="1000" i="0" smtClean="0"/>
          </a:p>
        </p:txBody>
      </p:sp>
      <p:sp>
        <p:nvSpPr>
          <p:cNvPr id="797698" name="Rectangle 2"/>
          <p:cNvSpPr>
            <a:spLocks noGrp="1" noChangeArrowheads="1"/>
          </p:cNvSpPr>
          <p:nvPr>
            <p:ph type="title"/>
          </p:nvPr>
        </p:nvSpPr>
        <p:spPr/>
        <p:txBody>
          <a:bodyPr/>
          <a:lstStyle/>
          <a:p>
            <a:pPr>
              <a:defRPr/>
            </a:pPr>
            <a:r>
              <a:rPr lang="zh-CN" altLang="en-US" smtClean="0"/>
              <a:t>§4</a:t>
            </a:r>
            <a:r>
              <a:rPr lang="zh-CN" altLang="en-US" sz="6000" smtClean="0"/>
              <a:t>  </a:t>
            </a:r>
            <a:r>
              <a:rPr lang="zh-CN" altLang="en-US" smtClean="0"/>
              <a:t>算法举例</a:t>
            </a:r>
          </a:p>
        </p:txBody>
      </p:sp>
      <p:sp>
        <p:nvSpPr>
          <p:cNvPr id="797699" name="Rectangle 3"/>
          <p:cNvSpPr>
            <a:spLocks noGrp="1" noChangeArrowheads="1"/>
          </p:cNvSpPr>
          <p:nvPr>
            <p:ph type="body" idx="1"/>
          </p:nvPr>
        </p:nvSpPr>
        <p:spPr>
          <a:xfrm>
            <a:off x="650875" y="1143000"/>
            <a:ext cx="8820150" cy="4694238"/>
          </a:xfrm>
        </p:spPr>
        <p:txBody>
          <a:bodyPr/>
          <a:lstStyle/>
          <a:p>
            <a:r>
              <a:rPr lang="zh-CN" altLang="en-US" sz="3200" smtClean="0">
                <a:latin typeface="宋体" pitchFamily="2" charset="-122"/>
              </a:rPr>
              <a:t>例1.11  计算              </a:t>
            </a:r>
            <a:r>
              <a:rPr lang="en-US" altLang="zh-CN" sz="3200" smtClean="0">
                <a:latin typeface="宋体" pitchFamily="2" charset="-122"/>
              </a:rPr>
              <a:t>,</a:t>
            </a:r>
            <a:r>
              <a:rPr lang="en-US" altLang="zh-CN" sz="3200" i="1" smtClean="0"/>
              <a:t>n </a:t>
            </a:r>
            <a:r>
              <a:rPr lang="en-US" altLang="zh-CN" sz="3200" smtClean="0">
                <a:latin typeface="宋体" pitchFamily="2" charset="-122"/>
              </a:rPr>
              <a:t>= 0,</a:t>
            </a:r>
            <a:r>
              <a:rPr lang="en-US" altLang="zh-CN" sz="3200" smtClean="0"/>
              <a:t>…</a:t>
            </a:r>
            <a:r>
              <a:rPr lang="en-US" altLang="zh-CN" sz="3200" smtClean="0">
                <a:latin typeface="宋体" pitchFamily="2" charset="-122"/>
              </a:rPr>
              <a:t>,7</a:t>
            </a:r>
          </a:p>
          <a:p>
            <a:r>
              <a:rPr lang="zh-CN" altLang="en-US" sz="3200" smtClean="0">
                <a:latin typeface="宋体" pitchFamily="2" charset="-122"/>
              </a:rPr>
              <a:t>算法1:用分部积分法可推知</a:t>
            </a:r>
            <a:r>
              <a:rPr lang="en-US" altLang="zh-CN" sz="3200" smtClean="0">
                <a:latin typeface="宋体" pitchFamily="2" charset="-122"/>
              </a:rPr>
              <a:t>I</a:t>
            </a:r>
            <a:r>
              <a:rPr lang="en-US" altLang="zh-CN" sz="3200" i="1" baseline="-25000" smtClean="0"/>
              <a:t>n</a:t>
            </a:r>
            <a:r>
              <a:rPr lang="zh-CN" altLang="en-US" sz="3200" smtClean="0">
                <a:latin typeface="宋体" pitchFamily="2" charset="-122"/>
              </a:rPr>
              <a:t>满足以下递推公式</a:t>
            </a:r>
          </a:p>
          <a:p>
            <a:pPr>
              <a:buFont typeface="Wingdings" pitchFamily="2" charset="2"/>
              <a:buNone/>
            </a:pPr>
            <a:r>
              <a:rPr lang="zh-CN" altLang="en-US" sz="3200" smtClean="0">
                <a:latin typeface="宋体" pitchFamily="2" charset="-122"/>
              </a:rPr>
              <a:t>             </a:t>
            </a:r>
            <a:r>
              <a:rPr lang="en-US" altLang="zh-CN" sz="3200" smtClean="0">
                <a:latin typeface="宋体" pitchFamily="2" charset="-122"/>
              </a:rPr>
              <a:t>I</a:t>
            </a:r>
            <a:r>
              <a:rPr lang="en-US" altLang="zh-CN" sz="3200" i="1" baseline="-25000" smtClean="0"/>
              <a:t>n</a:t>
            </a:r>
            <a:r>
              <a:rPr lang="en-US" altLang="zh-CN" sz="3200" smtClean="0">
                <a:latin typeface="宋体" pitchFamily="2" charset="-122"/>
              </a:rPr>
              <a:t>=1-</a:t>
            </a:r>
            <a:r>
              <a:rPr lang="en-US" altLang="zh-CN" sz="3200" i="1" smtClean="0"/>
              <a:t>n</a:t>
            </a:r>
            <a:r>
              <a:rPr lang="en-US" altLang="zh-CN" sz="3200" smtClean="0"/>
              <a:t>I</a:t>
            </a:r>
            <a:r>
              <a:rPr lang="en-US" altLang="zh-CN" sz="3200" i="1" baseline="-25000" smtClean="0"/>
              <a:t>n</a:t>
            </a:r>
            <a:r>
              <a:rPr lang="en-US" altLang="zh-CN" sz="3200" baseline="-25000" smtClean="0"/>
              <a:t>-1</a:t>
            </a:r>
          </a:p>
          <a:p>
            <a:pPr>
              <a:buFont typeface="Wingdings" pitchFamily="2" charset="2"/>
              <a:buNone/>
            </a:pPr>
            <a:r>
              <a:rPr lang="zh-CN" altLang="en-US" sz="3200" smtClean="0">
                <a:latin typeface="宋体" pitchFamily="2" charset="-122"/>
              </a:rPr>
              <a:t>		取</a:t>
            </a:r>
            <a:r>
              <a:rPr lang="en-US" altLang="zh-CN" sz="3200" smtClean="0">
                <a:latin typeface="宋体" pitchFamily="2" charset="-122"/>
              </a:rPr>
              <a:t>I</a:t>
            </a:r>
            <a:r>
              <a:rPr lang="en-US" altLang="zh-CN" sz="3200" baseline="-25000" smtClean="0">
                <a:latin typeface="宋体" pitchFamily="2" charset="-122"/>
              </a:rPr>
              <a:t>0</a:t>
            </a:r>
            <a:r>
              <a:rPr lang="en-US" altLang="zh-CN" sz="3200" smtClean="0">
                <a:latin typeface="宋体" pitchFamily="2" charset="-122"/>
              </a:rPr>
              <a:t>=∫</a:t>
            </a:r>
            <a:r>
              <a:rPr lang="en-US" altLang="zh-CN" sz="3200" baseline="-25000" smtClean="0"/>
              <a:t>0</a:t>
            </a:r>
            <a:r>
              <a:rPr lang="en-US" altLang="zh-CN" sz="3200" baseline="30000" smtClean="0"/>
              <a:t>1</a:t>
            </a:r>
            <a:r>
              <a:rPr lang="en-US" altLang="zh-CN" sz="3200" i="1" smtClean="0"/>
              <a:t>e</a:t>
            </a:r>
            <a:r>
              <a:rPr lang="en-US" altLang="zh-CN" sz="3200" i="1" baseline="30000" smtClean="0"/>
              <a:t>x</a:t>
            </a:r>
            <a:r>
              <a:rPr lang="en-US" altLang="zh-CN" sz="3200" baseline="30000" smtClean="0"/>
              <a:t>-1</a:t>
            </a:r>
            <a:r>
              <a:rPr lang="en-US" altLang="zh-CN" sz="3200" i="1" smtClean="0"/>
              <a:t>dx</a:t>
            </a:r>
            <a:r>
              <a:rPr lang="en-US" altLang="zh-CN" sz="3200" smtClean="0"/>
              <a:t>=</a:t>
            </a:r>
            <a:r>
              <a:rPr lang="en-US" altLang="zh-CN" sz="3200" i="1" smtClean="0"/>
              <a:t>e</a:t>
            </a:r>
            <a:r>
              <a:rPr lang="en-US" altLang="zh-CN" sz="3200" i="1" baseline="30000" smtClean="0"/>
              <a:t>x</a:t>
            </a:r>
            <a:r>
              <a:rPr lang="en-US" altLang="zh-CN" sz="3200" baseline="30000" smtClean="0"/>
              <a:t>-1</a:t>
            </a:r>
            <a:r>
              <a:rPr lang="zh-CN" altLang="en-US" sz="3200" smtClean="0"/>
              <a:t>|</a:t>
            </a:r>
            <a:r>
              <a:rPr lang="en-US" altLang="zh-CN" sz="3200" baseline="-25000" smtClean="0"/>
              <a:t>0</a:t>
            </a:r>
            <a:r>
              <a:rPr lang="en-US" altLang="zh-CN" sz="3200" baseline="30000" smtClean="0"/>
              <a:t>1</a:t>
            </a:r>
            <a:r>
              <a:rPr lang="en-US" altLang="zh-CN" sz="3200" baseline="30000" smtClean="0">
                <a:latin typeface="宋体" pitchFamily="2" charset="-122"/>
              </a:rPr>
              <a:t> </a:t>
            </a:r>
            <a:r>
              <a:rPr lang="en-US" altLang="zh-CN" sz="3200" smtClean="0">
                <a:latin typeface="宋体" pitchFamily="2" charset="-122"/>
              </a:rPr>
              <a:t>=1-</a:t>
            </a:r>
            <a:r>
              <a:rPr lang="en-US" altLang="zh-CN" sz="3200" i="1" smtClean="0"/>
              <a:t>e</a:t>
            </a:r>
            <a:r>
              <a:rPr lang="en-US" altLang="zh-CN" sz="3200" baseline="30000" smtClean="0">
                <a:latin typeface="宋体" pitchFamily="2" charset="-122"/>
              </a:rPr>
              <a:t>-1</a:t>
            </a:r>
            <a:r>
              <a:rPr lang="en-US" altLang="zh-CN" sz="3200" smtClean="0">
                <a:latin typeface="宋体" pitchFamily="2" charset="-122"/>
              </a:rPr>
              <a:t>=0.6321</a:t>
            </a:r>
          </a:p>
          <a:p>
            <a:pPr>
              <a:buFont typeface="Wingdings" pitchFamily="2" charset="2"/>
              <a:buNone/>
            </a:pPr>
            <a:r>
              <a:rPr lang="en-US" altLang="zh-CN" sz="3200" smtClean="0">
                <a:latin typeface="宋体" pitchFamily="2" charset="-122"/>
              </a:rPr>
              <a:t>		</a:t>
            </a:r>
            <a:r>
              <a:rPr lang="zh-CN" altLang="en-US" sz="3200" smtClean="0">
                <a:latin typeface="宋体" pitchFamily="2" charset="-122"/>
              </a:rPr>
              <a:t>逐次递推得</a:t>
            </a:r>
            <a:r>
              <a:rPr lang="en-US" altLang="zh-CN" sz="3200" smtClean="0">
                <a:latin typeface="宋体" pitchFamily="2" charset="-122"/>
              </a:rPr>
              <a:t>I</a:t>
            </a:r>
            <a:r>
              <a:rPr lang="en-US" altLang="zh-CN" sz="3200" baseline="-25000" smtClean="0">
                <a:latin typeface="宋体" pitchFamily="2" charset="-122"/>
              </a:rPr>
              <a:t>1 </a:t>
            </a:r>
            <a:r>
              <a:rPr lang="en-US" altLang="zh-CN" sz="3200" smtClean="0">
                <a:latin typeface="宋体" pitchFamily="2" charset="-122"/>
              </a:rPr>
              <a:t>,I</a:t>
            </a:r>
            <a:r>
              <a:rPr lang="en-US" altLang="zh-CN" sz="3200" baseline="-25000" smtClean="0">
                <a:latin typeface="宋体" pitchFamily="2" charset="-122"/>
              </a:rPr>
              <a:t>2 </a:t>
            </a:r>
            <a:r>
              <a:rPr lang="en-US" altLang="zh-CN" sz="3200" smtClean="0">
                <a:latin typeface="宋体" pitchFamily="2" charset="-122"/>
              </a:rPr>
              <a:t>,</a:t>
            </a:r>
            <a:r>
              <a:rPr lang="en-US" altLang="zh-CN" sz="3200" smtClean="0"/>
              <a:t>…</a:t>
            </a:r>
            <a:r>
              <a:rPr lang="en-US" altLang="zh-CN" sz="3200" smtClean="0">
                <a:latin typeface="宋体" pitchFamily="2" charset="-122"/>
              </a:rPr>
              <a:t>,I</a:t>
            </a:r>
            <a:r>
              <a:rPr lang="en-US" altLang="zh-CN" sz="3200" baseline="-25000" smtClean="0">
                <a:latin typeface="宋体" pitchFamily="2" charset="-122"/>
              </a:rPr>
              <a:t>7</a:t>
            </a:r>
            <a:r>
              <a:rPr lang="en-US" altLang="zh-CN" sz="3200" smtClean="0">
                <a:latin typeface="宋体" pitchFamily="2" charset="-122"/>
              </a:rPr>
              <a:t>	</a:t>
            </a:r>
          </a:p>
          <a:p>
            <a:pPr>
              <a:buFont typeface="Wingdings" pitchFamily="2" charset="2"/>
              <a:buNone/>
            </a:pPr>
            <a:r>
              <a:rPr lang="zh-CN" altLang="en-US" sz="3200" smtClean="0">
                <a:latin typeface="宋体" pitchFamily="2" charset="-122"/>
              </a:rPr>
              <a:t>		</a:t>
            </a:r>
          </a:p>
          <a:p>
            <a:pPr>
              <a:buFont typeface="Wingdings" pitchFamily="2" charset="2"/>
              <a:buNone/>
            </a:pPr>
            <a:r>
              <a:rPr lang="zh-CN" altLang="en-US" sz="3200" smtClean="0">
                <a:latin typeface="宋体" pitchFamily="2" charset="-122"/>
              </a:rPr>
              <a:t> 算法2，按照公式</a:t>
            </a:r>
            <a:r>
              <a:rPr lang="en-US" altLang="zh-CN" sz="3200" smtClean="0"/>
              <a:t>I</a:t>
            </a:r>
            <a:r>
              <a:rPr lang="en-US" altLang="zh-CN" sz="3200" i="1" baseline="-25000" smtClean="0"/>
              <a:t>n</a:t>
            </a:r>
            <a:r>
              <a:rPr lang="en-US" altLang="zh-CN" sz="3200" baseline="-25000" smtClean="0"/>
              <a:t>-1</a:t>
            </a:r>
            <a:r>
              <a:rPr lang="en-US" altLang="zh-CN" sz="3200" smtClean="0"/>
              <a:t>=1-I</a:t>
            </a:r>
            <a:r>
              <a:rPr lang="en-US" altLang="zh-CN" sz="3200" i="1" baseline="-25000" smtClean="0"/>
              <a:t>n</a:t>
            </a:r>
            <a:r>
              <a:rPr lang="en-US" altLang="zh-CN" sz="3200" baseline="-25000" smtClean="0"/>
              <a:t> </a:t>
            </a:r>
            <a:r>
              <a:rPr lang="zh-CN" altLang="en-US" sz="3200" smtClean="0"/>
              <a:t>/</a:t>
            </a:r>
            <a:r>
              <a:rPr lang="en-US" altLang="zh-CN" sz="3200" i="1" smtClean="0"/>
              <a:t>n</a:t>
            </a:r>
          </a:p>
          <a:p>
            <a:pPr>
              <a:buFont typeface="Wingdings" pitchFamily="2" charset="2"/>
              <a:buNone/>
            </a:pPr>
            <a:r>
              <a:rPr lang="en-US" altLang="zh-CN" sz="3200" smtClean="0">
                <a:latin typeface="宋体" pitchFamily="2" charset="-122"/>
              </a:rPr>
              <a:t>		</a:t>
            </a:r>
            <a:r>
              <a:rPr lang="zh-CN" altLang="en-US" sz="3200" smtClean="0">
                <a:latin typeface="宋体" pitchFamily="2" charset="-122"/>
              </a:rPr>
              <a:t>取</a:t>
            </a:r>
            <a:r>
              <a:rPr lang="en-US" altLang="zh-CN" sz="3200" smtClean="0">
                <a:latin typeface="宋体" pitchFamily="2" charset="-122"/>
              </a:rPr>
              <a:t>I</a:t>
            </a:r>
            <a:r>
              <a:rPr lang="en-US" altLang="zh-CN" sz="3200" baseline="-25000" smtClean="0">
                <a:latin typeface="宋体" pitchFamily="2" charset="-122"/>
              </a:rPr>
              <a:t>7</a:t>
            </a:r>
            <a:r>
              <a:rPr lang="en-US" altLang="zh-CN" sz="3200" smtClean="0">
                <a:latin typeface="宋体" pitchFamily="2" charset="-122"/>
              </a:rPr>
              <a:t>=0.1124，</a:t>
            </a:r>
            <a:r>
              <a:rPr lang="zh-CN" altLang="en-US" sz="3200" smtClean="0">
                <a:latin typeface="宋体" pitchFamily="2" charset="-122"/>
              </a:rPr>
              <a:t>反向计算得</a:t>
            </a:r>
            <a:r>
              <a:rPr lang="en-US" altLang="zh-CN" sz="3200" smtClean="0">
                <a:latin typeface="宋体" pitchFamily="2" charset="-122"/>
              </a:rPr>
              <a:t>I</a:t>
            </a:r>
            <a:r>
              <a:rPr lang="en-US" altLang="zh-CN" sz="3200" baseline="-25000" smtClean="0">
                <a:latin typeface="宋体" pitchFamily="2" charset="-122"/>
              </a:rPr>
              <a:t>6 </a:t>
            </a:r>
            <a:r>
              <a:rPr lang="en-US" altLang="zh-CN" sz="3200" smtClean="0">
                <a:latin typeface="宋体" pitchFamily="2" charset="-122"/>
              </a:rPr>
              <a:t>,I</a:t>
            </a:r>
            <a:r>
              <a:rPr lang="en-US" altLang="zh-CN" sz="3200" baseline="-25000" smtClean="0">
                <a:latin typeface="宋体" pitchFamily="2" charset="-122"/>
              </a:rPr>
              <a:t>5 </a:t>
            </a:r>
            <a:r>
              <a:rPr lang="en-US" altLang="zh-CN" sz="3200" smtClean="0">
                <a:latin typeface="宋体" pitchFamily="2" charset="-122"/>
              </a:rPr>
              <a:t>,</a:t>
            </a:r>
            <a:r>
              <a:rPr lang="en-US" altLang="zh-CN" sz="3200" smtClean="0"/>
              <a:t>…</a:t>
            </a:r>
            <a:r>
              <a:rPr lang="en-US" altLang="zh-CN" sz="3200" smtClean="0">
                <a:latin typeface="宋体" pitchFamily="2" charset="-122"/>
              </a:rPr>
              <a:t>,I</a:t>
            </a:r>
            <a:r>
              <a:rPr lang="en-US" altLang="zh-CN" sz="3200" baseline="-25000" smtClean="0">
                <a:latin typeface="宋体" pitchFamily="2" charset="-122"/>
              </a:rPr>
              <a:t>0</a:t>
            </a:r>
            <a:endParaRPr lang="zh-CN" altLang="en-US" sz="3200" smtClean="0"/>
          </a:p>
        </p:txBody>
      </p:sp>
      <p:pic>
        <p:nvPicPr>
          <p:cNvPr id="419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9588" y="990600"/>
            <a:ext cx="2362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97699">
                                            <p:txEl>
                                              <p:pRg st="0" end="0"/>
                                            </p:txEl>
                                          </p:spTgt>
                                        </p:tgtEl>
                                        <p:attrNameLst>
                                          <p:attrName>style.visibility</p:attrName>
                                        </p:attrNameLst>
                                      </p:cBhvr>
                                      <p:to>
                                        <p:strVal val="visible"/>
                                      </p:to>
                                    </p:set>
                                    <p:animEffect transition="in" filter="wipe(up)">
                                      <p:cBhvr>
                                        <p:cTn id="7" dur="500"/>
                                        <p:tgtEl>
                                          <p:spTgt spid="797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7699">
                                            <p:txEl>
                                              <p:pRg st="1" end="1"/>
                                            </p:txEl>
                                          </p:spTgt>
                                        </p:tgtEl>
                                        <p:attrNameLst>
                                          <p:attrName>style.visibility</p:attrName>
                                        </p:attrNameLst>
                                      </p:cBhvr>
                                      <p:to>
                                        <p:strVal val="visible"/>
                                      </p:to>
                                    </p:set>
                                    <p:animEffect transition="in" filter="wipe(up)">
                                      <p:cBhvr>
                                        <p:cTn id="12" dur="500"/>
                                        <p:tgtEl>
                                          <p:spTgt spid="797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97699">
                                            <p:txEl>
                                              <p:pRg st="2" end="2"/>
                                            </p:txEl>
                                          </p:spTgt>
                                        </p:tgtEl>
                                        <p:attrNameLst>
                                          <p:attrName>style.visibility</p:attrName>
                                        </p:attrNameLst>
                                      </p:cBhvr>
                                      <p:to>
                                        <p:strVal val="visible"/>
                                      </p:to>
                                    </p:set>
                                    <p:animEffect transition="in" filter="wipe(up)">
                                      <p:cBhvr>
                                        <p:cTn id="17" dur="500"/>
                                        <p:tgtEl>
                                          <p:spTgt spid="7976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97699">
                                            <p:txEl>
                                              <p:pRg st="3" end="3"/>
                                            </p:txEl>
                                          </p:spTgt>
                                        </p:tgtEl>
                                        <p:attrNameLst>
                                          <p:attrName>style.visibility</p:attrName>
                                        </p:attrNameLst>
                                      </p:cBhvr>
                                      <p:to>
                                        <p:strVal val="visible"/>
                                      </p:to>
                                    </p:set>
                                    <p:animEffect transition="in" filter="wipe(up)">
                                      <p:cBhvr>
                                        <p:cTn id="22" dur="500"/>
                                        <p:tgtEl>
                                          <p:spTgt spid="7976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97699">
                                            <p:txEl>
                                              <p:pRg st="4" end="4"/>
                                            </p:txEl>
                                          </p:spTgt>
                                        </p:tgtEl>
                                        <p:attrNameLst>
                                          <p:attrName>style.visibility</p:attrName>
                                        </p:attrNameLst>
                                      </p:cBhvr>
                                      <p:to>
                                        <p:strVal val="visible"/>
                                      </p:to>
                                    </p:set>
                                    <p:animEffect transition="in" filter="wipe(up)">
                                      <p:cBhvr>
                                        <p:cTn id="27" dur="500"/>
                                        <p:tgtEl>
                                          <p:spTgt spid="7976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97699">
                                            <p:txEl>
                                              <p:pRg st="5" end="5"/>
                                            </p:txEl>
                                          </p:spTgt>
                                        </p:tgtEl>
                                        <p:attrNameLst>
                                          <p:attrName>style.visibility</p:attrName>
                                        </p:attrNameLst>
                                      </p:cBhvr>
                                      <p:to>
                                        <p:strVal val="visible"/>
                                      </p:to>
                                    </p:set>
                                    <p:animEffect transition="in" filter="wipe(up)">
                                      <p:cBhvr>
                                        <p:cTn id="32" dur="500"/>
                                        <p:tgtEl>
                                          <p:spTgt spid="7976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97699">
                                            <p:txEl>
                                              <p:pRg st="6" end="6"/>
                                            </p:txEl>
                                          </p:spTgt>
                                        </p:tgtEl>
                                        <p:attrNameLst>
                                          <p:attrName>style.visibility</p:attrName>
                                        </p:attrNameLst>
                                      </p:cBhvr>
                                      <p:to>
                                        <p:strVal val="visible"/>
                                      </p:to>
                                    </p:set>
                                    <p:animEffect transition="in" filter="wipe(up)">
                                      <p:cBhvr>
                                        <p:cTn id="37" dur="500"/>
                                        <p:tgtEl>
                                          <p:spTgt spid="7976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97699">
                                            <p:txEl>
                                              <p:pRg st="7" end="7"/>
                                            </p:txEl>
                                          </p:spTgt>
                                        </p:tgtEl>
                                        <p:attrNameLst>
                                          <p:attrName>style.visibility</p:attrName>
                                        </p:attrNameLst>
                                      </p:cBhvr>
                                      <p:to>
                                        <p:strVal val="visible"/>
                                      </p:to>
                                    </p:set>
                                    <p:animEffect transition="in" filter="wipe(up)">
                                      <p:cBhvr>
                                        <p:cTn id="42" dur="500"/>
                                        <p:tgtEl>
                                          <p:spTgt spid="7976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699" grpId="0" build="p" bldLvl="2"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DEC1DE3-1116-44A5-9B12-DF02E264A42B}" type="slidenum">
              <a:rPr lang="zh-CN" altLang="en-US" i="0" smtClean="0"/>
              <a:pPr/>
              <a:t>44</a:t>
            </a:fld>
            <a:endParaRPr lang="en-US" altLang="zh-CN" i="0" smtClean="0"/>
          </a:p>
        </p:txBody>
      </p:sp>
      <p:sp>
        <p:nvSpPr>
          <p:cNvPr id="4301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E86AD4D-256F-4F0B-9516-561E28B79D28}" type="datetime1">
              <a:rPr lang="zh-CN" altLang="en-US" sz="1800" i="0" smtClean="0"/>
              <a:pPr/>
              <a:t>2024/9/8</a:t>
            </a:fld>
            <a:endParaRPr lang="en-US" altLang="zh-CN" sz="1000" i="0" smtClean="0"/>
          </a:p>
        </p:txBody>
      </p:sp>
      <p:sp>
        <p:nvSpPr>
          <p:cNvPr id="798722" name="Rectangle 2"/>
          <p:cNvSpPr>
            <a:spLocks noGrp="1" noChangeArrowheads="1"/>
          </p:cNvSpPr>
          <p:nvPr>
            <p:ph type="title"/>
          </p:nvPr>
        </p:nvSpPr>
        <p:spPr/>
        <p:txBody>
          <a:bodyPr/>
          <a:lstStyle/>
          <a:p>
            <a:pPr>
              <a:defRPr/>
            </a:pPr>
            <a:r>
              <a:rPr lang="zh-CN" altLang="en-US" smtClean="0"/>
              <a:t>§4</a:t>
            </a:r>
            <a:r>
              <a:rPr lang="zh-CN" altLang="en-US" sz="6000" smtClean="0"/>
              <a:t>  </a:t>
            </a:r>
            <a:r>
              <a:rPr lang="zh-CN" altLang="en-US" smtClean="0"/>
              <a:t>算法举例</a:t>
            </a:r>
          </a:p>
        </p:txBody>
      </p:sp>
      <p:grpSp>
        <p:nvGrpSpPr>
          <p:cNvPr id="2" name="Group 3"/>
          <p:cNvGrpSpPr>
            <a:grpSpLocks/>
          </p:cNvGrpSpPr>
          <p:nvPr/>
        </p:nvGrpSpPr>
        <p:grpSpPr bwMode="auto">
          <a:xfrm>
            <a:off x="412750" y="1524000"/>
            <a:ext cx="9245600" cy="4876800"/>
            <a:chOff x="720" y="960"/>
            <a:chExt cx="4632" cy="2448"/>
          </a:xfrm>
        </p:grpSpPr>
        <p:grpSp>
          <p:nvGrpSpPr>
            <p:cNvPr id="43015" name="Group 4"/>
            <p:cNvGrpSpPr>
              <a:grpSpLocks/>
            </p:cNvGrpSpPr>
            <p:nvPr/>
          </p:nvGrpSpPr>
          <p:grpSpPr bwMode="auto">
            <a:xfrm>
              <a:off x="720" y="960"/>
              <a:ext cx="744" cy="2448"/>
              <a:chOff x="192" y="1632"/>
              <a:chExt cx="744" cy="2448"/>
            </a:xfrm>
          </p:grpSpPr>
          <p:sp>
            <p:nvSpPr>
              <p:cNvPr id="43046" name="Rectangle 5"/>
              <p:cNvSpPr>
                <a:spLocks noChangeArrowheads="1"/>
              </p:cNvSpPr>
              <p:nvPr/>
            </p:nvSpPr>
            <p:spPr bwMode="auto">
              <a:xfrm>
                <a:off x="217" y="1669"/>
                <a:ext cx="695" cy="235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43047" name="Rectangle 6"/>
              <p:cNvSpPr>
                <a:spLocks noChangeArrowheads="1"/>
              </p:cNvSpPr>
              <p:nvPr/>
            </p:nvSpPr>
            <p:spPr bwMode="auto">
              <a:xfrm>
                <a:off x="194" y="1632"/>
                <a:ext cx="32"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48" name="Rectangle 7"/>
              <p:cNvSpPr>
                <a:spLocks noChangeArrowheads="1"/>
              </p:cNvSpPr>
              <p:nvPr/>
            </p:nvSpPr>
            <p:spPr bwMode="auto">
              <a:xfrm>
                <a:off x="886" y="1632"/>
                <a:ext cx="50"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49" name="AutoShape 8"/>
              <p:cNvSpPr>
                <a:spLocks noChangeArrowheads="1"/>
              </p:cNvSpPr>
              <p:nvPr/>
            </p:nvSpPr>
            <p:spPr bwMode="auto">
              <a:xfrm>
                <a:off x="199" y="1632"/>
                <a:ext cx="713" cy="48"/>
              </a:xfrm>
              <a:custGeom>
                <a:avLst/>
                <a:gdLst>
                  <a:gd name="T0" fmla="*/ 1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81 w 21600"/>
                  <a:gd name="T13" fmla="*/ 2250 h 21600"/>
                  <a:gd name="T14" fmla="*/ 19419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50" name="AutoShape 9"/>
              <p:cNvSpPr>
                <a:spLocks noChangeArrowheads="1"/>
              </p:cNvSpPr>
              <p:nvPr/>
            </p:nvSpPr>
            <p:spPr bwMode="auto">
              <a:xfrm flipV="1">
                <a:off x="192" y="4032"/>
                <a:ext cx="720" cy="48"/>
              </a:xfrm>
              <a:custGeom>
                <a:avLst/>
                <a:gdLst>
                  <a:gd name="T0" fmla="*/ 1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220 w 21600"/>
                  <a:gd name="T13" fmla="*/ 2250 h 21600"/>
                  <a:gd name="T14" fmla="*/ 19380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51" name="Rectangle 10"/>
              <p:cNvSpPr>
                <a:spLocks noChangeArrowheads="1"/>
              </p:cNvSpPr>
              <p:nvPr/>
            </p:nvSpPr>
            <p:spPr bwMode="auto">
              <a:xfrm>
                <a:off x="231" y="1919"/>
                <a:ext cx="633" cy="2104"/>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43052" name="Rectangle 11"/>
              <p:cNvSpPr>
                <a:spLocks noChangeArrowheads="1"/>
              </p:cNvSpPr>
              <p:nvPr/>
            </p:nvSpPr>
            <p:spPr bwMode="auto">
              <a:xfrm>
                <a:off x="231" y="1676"/>
                <a:ext cx="633" cy="292"/>
              </a:xfrm>
              <a:prstGeom prst="rect">
                <a:avLst/>
              </a:prstGeom>
              <a:solidFill>
                <a:schemeClr val="tx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43053" name="Text Box 12"/>
              <p:cNvSpPr txBox="1">
                <a:spLocks noChangeAspect="1" noChangeArrowheads="1"/>
              </p:cNvSpPr>
              <p:nvPr/>
            </p:nvSpPr>
            <p:spPr bwMode="auto">
              <a:xfrm>
                <a:off x="468" y="1676"/>
                <a:ext cx="444"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en-US" altLang="en-US" sz="2800" i="0">
                    <a:solidFill>
                      <a:schemeClr val="bg1"/>
                    </a:solidFill>
                    <a:latin typeface="Times New Roman" pitchFamily="18" charset="0"/>
                    <a:ea typeface="PMingLiU" pitchFamily="18" charset="-120"/>
                  </a:rPr>
                  <a:t>I</a:t>
                </a:r>
                <a:r>
                  <a:rPr lang="en-US" altLang="en-US" sz="2800" i="0" baseline="-25000">
                    <a:solidFill>
                      <a:schemeClr val="bg1"/>
                    </a:solidFill>
                    <a:latin typeface="Times New Roman" pitchFamily="18" charset="0"/>
                    <a:ea typeface="PMingLiU" pitchFamily="18" charset="-120"/>
                  </a:rPr>
                  <a:t>n</a:t>
                </a:r>
                <a:endParaRPr lang="en-US" altLang="en-US" sz="2800" i="0">
                  <a:solidFill>
                    <a:schemeClr val="bg1"/>
                  </a:solidFill>
                  <a:latin typeface="Times New Roman" pitchFamily="18" charset="0"/>
                  <a:ea typeface="PMingLiU" pitchFamily="18" charset="-120"/>
                </a:endParaRPr>
              </a:p>
            </p:txBody>
          </p:sp>
          <p:sp>
            <p:nvSpPr>
              <p:cNvPr id="43054" name="Rectangle 13"/>
              <p:cNvSpPr>
                <a:spLocks noChangeArrowheads="1"/>
              </p:cNvSpPr>
              <p:nvPr/>
            </p:nvSpPr>
            <p:spPr bwMode="auto">
              <a:xfrm>
                <a:off x="480" y="1968"/>
                <a:ext cx="366" cy="1912"/>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i="0">
                    <a:latin typeface="Times New Roman" pitchFamily="18" charset="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0</a:t>
                </a:r>
              </a:p>
              <a:p>
                <a:pPr marL="258763" indent="-258763" algn="l" defTabSz="814388">
                  <a:lnSpc>
                    <a:spcPct val="85000"/>
                  </a:lnSpc>
                  <a:spcBef>
                    <a:spcPct val="30000"/>
                  </a:spcBef>
                  <a:buSzPct val="60000"/>
                  <a:buFont typeface="Wingdings" pitchFamily="2" charset="2"/>
                  <a:buNone/>
                </a:pPr>
                <a:r>
                  <a:rPr lang="en-US" altLang="en-US" sz="2800" i="0" baseline="-25000">
                    <a:latin typeface="Times New Roman" pitchFamily="18" charset="0"/>
                    <a:ea typeface="PMingLiU" pitchFamily="18" charset="-12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1</a:t>
                </a:r>
              </a:p>
              <a:p>
                <a:pPr marL="258763" indent="-258763" algn="l" defTabSz="814388">
                  <a:lnSpc>
                    <a:spcPct val="85000"/>
                  </a:lnSpc>
                  <a:spcBef>
                    <a:spcPct val="30000"/>
                  </a:spcBef>
                  <a:buSzPct val="60000"/>
                  <a:buFont typeface="Wingdings" pitchFamily="2" charset="2"/>
                  <a:buNone/>
                </a:pPr>
                <a:r>
                  <a:rPr lang="en-US" altLang="en-US" sz="2800" i="0" baseline="-25000">
                    <a:latin typeface="Times New Roman" pitchFamily="18" charset="0"/>
                    <a:ea typeface="PMingLiU" pitchFamily="18" charset="-12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2</a:t>
                </a:r>
              </a:p>
              <a:p>
                <a:pPr marL="258763" indent="-258763" algn="l" defTabSz="814388">
                  <a:lnSpc>
                    <a:spcPct val="85000"/>
                  </a:lnSpc>
                  <a:spcBef>
                    <a:spcPct val="30000"/>
                  </a:spcBef>
                  <a:buSzPct val="60000"/>
                  <a:buFont typeface="Wingdings" pitchFamily="2" charset="2"/>
                  <a:buNone/>
                </a:pPr>
                <a:r>
                  <a:rPr lang="en-US" altLang="en-US" sz="2800" i="0" baseline="-25000">
                    <a:latin typeface="Times New Roman" pitchFamily="18" charset="0"/>
                    <a:ea typeface="PMingLiU" pitchFamily="18" charset="-12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3</a:t>
                </a:r>
              </a:p>
              <a:p>
                <a:pPr marL="258763" indent="-258763" algn="l" defTabSz="814388">
                  <a:lnSpc>
                    <a:spcPct val="85000"/>
                  </a:lnSpc>
                  <a:spcBef>
                    <a:spcPct val="30000"/>
                  </a:spcBef>
                  <a:buSzPct val="60000"/>
                  <a:buFont typeface="Wingdings" pitchFamily="2" charset="2"/>
                  <a:buNone/>
                </a:pPr>
                <a:r>
                  <a:rPr lang="en-US" altLang="en-US" sz="2800" i="0" baseline="-25000">
                    <a:latin typeface="Times New Roman" pitchFamily="18" charset="0"/>
                    <a:ea typeface="PMingLiU" pitchFamily="18" charset="-12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4</a:t>
                </a:r>
              </a:p>
              <a:p>
                <a:pPr marL="258763" indent="-258763" algn="l" defTabSz="814388">
                  <a:lnSpc>
                    <a:spcPct val="85000"/>
                  </a:lnSpc>
                  <a:spcBef>
                    <a:spcPct val="30000"/>
                  </a:spcBef>
                  <a:buSzPct val="60000"/>
                  <a:buFont typeface="Wingdings" pitchFamily="2" charset="2"/>
                  <a:buNone/>
                </a:pPr>
                <a:r>
                  <a:rPr lang="en-US" altLang="en-US" sz="2800" i="0" baseline="-25000">
                    <a:latin typeface="Times New Roman" pitchFamily="18" charset="0"/>
                    <a:ea typeface="PMingLiU" pitchFamily="18" charset="-12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5</a:t>
                </a:r>
              </a:p>
              <a:p>
                <a:pPr marL="258763" indent="-258763" algn="l" defTabSz="814388">
                  <a:lnSpc>
                    <a:spcPct val="85000"/>
                  </a:lnSpc>
                  <a:spcBef>
                    <a:spcPct val="30000"/>
                  </a:spcBef>
                  <a:buSzPct val="60000"/>
                  <a:buFont typeface="Wingdings" pitchFamily="2" charset="2"/>
                  <a:buNone/>
                </a:pPr>
                <a:r>
                  <a:rPr lang="en-US" altLang="en-US" sz="2800" i="0" baseline="-25000">
                    <a:latin typeface="Times New Roman" pitchFamily="18" charset="0"/>
                    <a:ea typeface="PMingLiU" pitchFamily="18" charset="-12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6</a:t>
                </a:r>
              </a:p>
              <a:p>
                <a:pPr marL="258763" indent="-258763" algn="l" defTabSz="814388">
                  <a:lnSpc>
                    <a:spcPct val="85000"/>
                  </a:lnSpc>
                  <a:spcBef>
                    <a:spcPct val="30000"/>
                  </a:spcBef>
                  <a:buSzPct val="60000"/>
                  <a:buFont typeface="Wingdings" pitchFamily="2" charset="2"/>
                  <a:buNone/>
                </a:pPr>
                <a:r>
                  <a:rPr lang="en-US" altLang="en-US" sz="2800" i="0" baseline="-25000">
                    <a:latin typeface="Times New Roman" pitchFamily="18" charset="0"/>
                    <a:ea typeface="PMingLiU" pitchFamily="18" charset="-120"/>
                  </a:rPr>
                  <a:t> </a:t>
                </a:r>
                <a:r>
                  <a:rPr lang="en-US" altLang="en-US" sz="2800" i="0">
                    <a:latin typeface="Times New Roman" pitchFamily="18" charset="0"/>
                    <a:ea typeface="PMingLiU" pitchFamily="18" charset="-120"/>
                  </a:rPr>
                  <a:t>I</a:t>
                </a:r>
                <a:r>
                  <a:rPr lang="en-US" altLang="en-US" sz="2800" i="0" baseline="-25000">
                    <a:latin typeface="Times New Roman" pitchFamily="18" charset="0"/>
                    <a:ea typeface="PMingLiU" pitchFamily="18" charset="-120"/>
                  </a:rPr>
                  <a:t>7</a:t>
                </a:r>
              </a:p>
            </p:txBody>
          </p:sp>
        </p:grpSp>
        <p:grpSp>
          <p:nvGrpSpPr>
            <p:cNvPr id="43016" name="Group 14"/>
            <p:cNvGrpSpPr>
              <a:grpSpLocks/>
            </p:cNvGrpSpPr>
            <p:nvPr/>
          </p:nvGrpSpPr>
          <p:grpSpPr bwMode="auto">
            <a:xfrm>
              <a:off x="1512" y="960"/>
              <a:ext cx="1248" cy="2448"/>
              <a:chOff x="1056" y="1632"/>
              <a:chExt cx="1248" cy="2448"/>
            </a:xfrm>
          </p:grpSpPr>
          <p:sp>
            <p:nvSpPr>
              <p:cNvPr id="43037" name="Rectangle 15"/>
              <p:cNvSpPr>
                <a:spLocks noChangeArrowheads="1"/>
              </p:cNvSpPr>
              <p:nvPr/>
            </p:nvSpPr>
            <p:spPr bwMode="auto">
              <a:xfrm>
                <a:off x="1098" y="1669"/>
                <a:ext cx="1166" cy="235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43038" name="Rectangle 16"/>
              <p:cNvSpPr>
                <a:spLocks noChangeArrowheads="1"/>
              </p:cNvSpPr>
              <p:nvPr/>
            </p:nvSpPr>
            <p:spPr bwMode="auto">
              <a:xfrm>
                <a:off x="1059" y="1632"/>
                <a:ext cx="54"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39" name="Rectangle 17"/>
              <p:cNvSpPr>
                <a:spLocks noChangeArrowheads="1"/>
              </p:cNvSpPr>
              <p:nvPr/>
            </p:nvSpPr>
            <p:spPr bwMode="auto">
              <a:xfrm>
                <a:off x="2220" y="1632"/>
                <a:ext cx="84"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40" name="AutoShape 18"/>
              <p:cNvSpPr>
                <a:spLocks noChangeArrowheads="1"/>
              </p:cNvSpPr>
              <p:nvPr/>
            </p:nvSpPr>
            <p:spPr bwMode="auto">
              <a:xfrm>
                <a:off x="1068" y="1632"/>
                <a:ext cx="1196" cy="48"/>
              </a:xfrm>
              <a:custGeom>
                <a:avLst/>
                <a:gdLst>
                  <a:gd name="T0" fmla="*/ 4 w 21600"/>
                  <a:gd name="T1" fmla="*/ 0 h 21600"/>
                  <a:gd name="T2" fmla="*/ 2 w 21600"/>
                  <a:gd name="T3" fmla="*/ 0 h 21600"/>
                  <a:gd name="T4" fmla="*/ 0 w 21600"/>
                  <a:gd name="T5" fmla="*/ 0 h 21600"/>
                  <a:gd name="T6" fmla="*/ 2 w 21600"/>
                  <a:gd name="T7" fmla="*/ 0 h 21600"/>
                  <a:gd name="T8" fmla="*/ 0 60000 65536"/>
                  <a:gd name="T9" fmla="*/ 0 60000 65536"/>
                  <a:gd name="T10" fmla="*/ 0 60000 65536"/>
                  <a:gd name="T11" fmla="*/ 0 60000 65536"/>
                  <a:gd name="T12" fmla="*/ 2167 w 21600"/>
                  <a:gd name="T13" fmla="*/ 2250 h 21600"/>
                  <a:gd name="T14" fmla="*/ 1943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41" name="AutoShape 19"/>
              <p:cNvSpPr>
                <a:spLocks noChangeArrowheads="1"/>
              </p:cNvSpPr>
              <p:nvPr/>
            </p:nvSpPr>
            <p:spPr bwMode="auto">
              <a:xfrm flipV="1">
                <a:off x="1056" y="4032"/>
                <a:ext cx="1208" cy="48"/>
              </a:xfrm>
              <a:custGeom>
                <a:avLst/>
                <a:gdLst>
                  <a:gd name="T0" fmla="*/ 4 w 21600"/>
                  <a:gd name="T1" fmla="*/ 0 h 21600"/>
                  <a:gd name="T2" fmla="*/ 2 w 21600"/>
                  <a:gd name="T3" fmla="*/ 0 h 21600"/>
                  <a:gd name="T4" fmla="*/ 0 w 21600"/>
                  <a:gd name="T5" fmla="*/ 0 h 21600"/>
                  <a:gd name="T6" fmla="*/ 2 w 21600"/>
                  <a:gd name="T7" fmla="*/ 0 h 21600"/>
                  <a:gd name="T8" fmla="*/ 0 60000 65536"/>
                  <a:gd name="T9" fmla="*/ 0 60000 65536"/>
                  <a:gd name="T10" fmla="*/ 0 60000 65536"/>
                  <a:gd name="T11" fmla="*/ 0 60000 65536"/>
                  <a:gd name="T12" fmla="*/ 2217 w 21600"/>
                  <a:gd name="T13" fmla="*/ 2250 h 21600"/>
                  <a:gd name="T14" fmla="*/ 1938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42" name="Rectangle 20"/>
              <p:cNvSpPr>
                <a:spLocks noChangeArrowheads="1"/>
              </p:cNvSpPr>
              <p:nvPr/>
            </p:nvSpPr>
            <p:spPr bwMode="auto">
              <a:xfrm>
                <a:off x="1121" y="1919"/>
                <a:ext cx="1062" cy="2104"/>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43043" name="Rectangle 21"/>
              <p:cNvSpPr>
                <a:spLocks noChangeArrowheads="1"/>
              </p:cNvSpPr>
              <p:nvPr/>
            </p:nvSpPr>
            <p:spPr bwMode="auto">
              <a:xfrm>
                <a:off x="1121" y="1676"/>
                <a:ext cx="1062" cy="292"/>
              </a:xfrm>
              <a:prstGeom prst="rect">
                <a:avLst/>
              </a:prstGeom>
              <a:solidFill>
                <a:schemeClr val="tx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43044" name="Text Box 22"/>
              <p:cNvSpPr txBox="1">
                <a:spLocks noChangeAspect="1" noChangeArrowheads="1"/>
              </p:cNvSpPr>
              <p:nvPr/>
            </p:nvSpPr>
            <p:spPr bwMode="auto">
              <a:xfrm>
                <a:off x="1367" y="1674"/>
                <a:ext cx="745"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800" i="0">
                    <a:solidFill>
                      <a:schemeClr val="bg1"/>
                    </a:solidFill>
                    <a:latin typeface="Times New Roman" pitchFamily="18" charset="0"/>
                  </a:rPr>
                  <a:t>算法1</a:t>
                </a:r>
              </a:p>
            </p:txBody>
          </p:sp>
          <p:sp>
            <p:nvSpPr>
              <p:cNvPr id="43045" name="Rectangle 23"/>
              <p:cNvSpPr>
                <a:spLocks noChangeArrowheads="1"/>
              </p:cNvSpPr>
              <p:nvPr/>
            </p:nvSpPr>
            <p:spPr bwMode="auto">
              <a:xfrm>
                <a:off x="1296" y="1968"/>
                <a:ext cx="960" cy="1912"/>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sz="2800" i="0">
                    <a:latin typeface="宋体" pitchFamily="2" charset="-122"/>
                  </a:rPr>
                  <a:t>0.</a:t>
                </a:r>
                <a:r>
                  <a:rPr lang="zh-CN" altLang="zh-CN" sz="2800" i="0">
                    <a:latin typeface="宋体" pitchFamily="2" charset="-122"/>
                  </a:rPr>
                  <a:t>6321</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0.3608</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0.2640</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0.2080</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0.1680</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0.1600</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0.0400</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0.7200</a:t>
                </a:r>
                <a:endParaRPr lang="zh-CN" altLang="en-US" sz="2800" i="0" baseline="-25000">
                  <a:latin typeface="宋体" pitchFamily="2" charset="-122"/>
                </a:endParaRPr>
              </a:p>
            </p:txBody>
          </p:sp>
        </p:grpSp>
        <p:grpSp>
          <p:nvGrpSpPr>
            <p:cNvPr id="43017" name="Group 24"/>
            <p:cNvGrpSpPr>
              <a:grpSpLocks/>
            </p:cNvGrpSpPr>
            <p:nvPr/>
          </p:nvGrpSpPr>
          <p:grpSpPr bwMode="auto">
            <a:xfrm>
              <a:off x="2808" y="960"/>
              <a:ext cx="1248" cy="2448"/>
              <a:chOff x="1056" y="1632"/>
              <a:chExt cx="1248" cy="2448"/>
            </a:xfrm>
          </p:grpSpPr>
          <p:sp>
            <p:nvSpPr>
              <p:cNvPr id="43028" name="Rectangle 25"/>
              <p:cNvSpPr>
                <a:spLocks noChangeArrowheads="1"/>
              </p:cNvSpPr>
              <p:nvPr/>
            </p:nvSpPr>
            <p:spPr bwMode="auto">
              <a:xfrm>
                <a:off x="1098" y="1669"/>
                <a:ext cx="1166" cy="235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43029" name="Rectangle 26"/>
              <p:cNvSpPr>
                <a:spLocks noChangeArrowheads="1"/>
              </p:cNvSpPr>
              <p:nvPr/>
            </p:nvSpPr>
            <p:spPr bwMode="auto">
              <a:xfrm>
                <a:off x="1059" y="1632"/>
                <a:ext cx="54"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30" name="Rectangle 27"/>
              <p:cNvSpPr>
                <a:spLocks noChangeArrowheads="1"/>
              </p:cNvSpPr>
              <p:nvPr/>
            </p:nvSpPr>
            <p:spPr bwMode="auto">
              <a:xfrm>
                <a:off x="2220" y="1632"/>
                <a:ext cx="84"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31" name="AutoShape 28"/>
              <p:cNvSpPr>
                <a:spLocks noChangeArrowheads="1"/>
              </p:cNvSpPr>
              <p:nvPr/>
            </p:nvSpPr>
            <p:spPr bwMode="auto">
              <a:xfrm>
                <a:off x="1068" y="1632"/>
                <a:ext cx="1196" cy="48"/>
              </a:xfrm>
              <a:custGeom>
                <a:avLst/>
                <a:gdLst>
                  <a:gd name="T0" fmla="*/ 4 w 21600"/>
                  <a:gd name="T1" fmla="*/ 0 h 21600"/>
                  <a:gd name="T2" fmla="*/ 2 w 21600"/>
                  <a:gd name="T3" fmla="*/ 0 h 21600"/>
                  <a:gd name="T4" fmla="*/ 0 w 21600"/>
                  <a:gd name="T5" fmla="*/ 0 h 21600"/>
                  <a:gd name="T6" fmla="*/ 2 w 21600"/>
                  <a:gd name="T7" fmla="*/ 0 h 21600"/>
                  <a:gd name="T8" fmla="*/ 0 60000 65536"/>
                  <a:gd name="T9" fmla="*/ 0 60000 65536"/>
                  <a:gd name="T10" fmla="*/ 0 60000 65536"/>
                  <a:gd name="T11" fmla="*/ 0 60000 65536"/>
                  <a:gd name="T12" fmla="*/ 2167 w 21600"/>
                  <a:gd name="T13" fmla="*/ 2250 h 21600"/>
                  <a:gd name="T14" fmla="*/ 1943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32" name="AutoShape 29"/>
              <p:cNvSpPr>
                <a:spLocks noChangeArrowheads="1"/>
              </p:cNvSpPr>
              <p:nvPr/>
            </p:nvSpPr>
            <p:spPr bwMode="auto">
              <a:xfrm flipV="1">
                <a:off x="1056" y="4032"/>
                <a:ext cx="1208" cy="48"/>
              </a:xfrm>
              <a:custGeom>
                <a:avLst/>
                <a:gdLst>
                  <a:gd name="T0" fmla="*/ 4 w 21600"/>
                  <a:gd name="T1" fmla="*/ 0 h 21600"/>
                  <a:gd name="T2" fmla="*/ 2 w 21600"/>
                  <a:gd name="T3" fmla="*/ 0 h 21600"/>
                  <a:gd name="T4" fmla="*/ 0 w 21600"/>
                  <a:gd name="T5" fmla="*/ 0 h 21600"/>
                  <a:gd name="T6" fmla="*/ 2 w 21600"/>
                  <a:gd name="T7" fmla="*/ 0 h 21600"/>
                  <a:gd name="T8" fmla="*/ 0 60000 65536"/>
                  <a:gd name="T9" fmla="*/ 0 60000 65536"/>
                  <a:gd name="T10" fmla="*/ 0 60000 65536"/>
                  <a:gd name="T11" fmla="*/ 0 60000 65536"/>
                  <a:gd name="T12" fmla="*/ 2217 w 21600"/>
                  <a:gd name="T13" fmla="*/ 2250 h 21600"/>
                  <a:gd name="T14" fmla="*/ 1938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33" name="Rectangle 30"/>
              <p:cNvSpPr>
                <a:spLocks noChangeArrowheads="1"/>
              </p:cNvSpPr>
              <p:nvPr/>
            </p:nvSpPr>
            <p:spPr bwMode="auto">
              <a:xfrm>
                <a:off x="1121" y="1919"/>
                <a:ext cx="1062" cy="2104"/>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43034" name="Rectangle 31"/>
              <p:cNvSpPr>
                <a:spLocks noChangeArrowheads="1"/>
              </p:cNvSpPr>
              <p:nvPr/>
            </p:nvSpPr>
            <p:spPr bwMode="auto">
              <a:xfrm>
                <a:off x="1121" y="1676"/>
                <a:ext cx="1062" cy="292"/>
              </a:xfrm>
              <a:prstGeom prst="rect">
                <a:avLst/>
              </a:prstGeom>
              <a:solidFill>
                <a:schemeClr val="tx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43035" name="Text Box 32"/>
              <p:cNvSpPr txBox="1">
                <a:spLocks noChangeAspect="1" noChangeArrowheads="1"/>
              </p:cNvSpPr>
              <p:nvPr/>
            </p:nvSpPr>
            <p:spPr bwMode="auto">
              <a:xfrm>
                <a:off x="1367" y="1676"/>
                <a:ext cx="74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800" i="0">
                    <a:solidFill>
                      <a:schemeClr val="bg1"/>
                    </a:solidFill>
                    <a:latin typeface="Times New Roman" pitchFamily="18" charset="0"/>
                  </a:rPr>
                  <a:t>算法2</a:t>
                </a:r>
              </a:p>
            </p:txBody>
          </p:sp>
          <p:sp>
            <p:nvSpPr>
              <p:cNvPr id="43036" name="Rectangle 33"/>
              <p:cNvSpPr>
                <a:spLocks noChangeArrowheads="1"/>
              </p:cNvSpPr>
              <p:nvPr/>
            </p:nvSpPr>
            <p:spPr bwMode="auto">
              <a:xfrm>
                <a:off x="1296" y="1968"/>
                <a:ext cx="960" cy="1912"/>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sz="2800" i="0">
                    <a:latin typeface="宋体" pitchFamily="2" charset="-122"/>
                  </a:rPr>
                  <a:t>0.</a:t>
                </a:r>
                <a:r>
                  <a:rPr lang="zh-CN" altLang="zh-CN" sz="2800" i="0">
                    <a:latin typeface="宋体" pitchFamily="2" charset="-122"/>
                  </a:rPr>
                  <a:t>6320</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0.3608</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0.2643</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0.2073</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0.1708</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0.1455</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0.1269</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0.1124</a:t>
                </a:r>
                <a:endParaRPr lang="zh-CN" altLang="en-US" sz="2800" i="0" baseline="-25000">
                  <a:latin typeface="宋体" pitchFamily="2" charset="-122"/>
                </a:endParaRPr>
              </a:p>
            </p:txBody>
          </p:sp>
        </p:grpSp>
        <p:grpSp>
          <p:nvGrpSpPr>
            <p:cNvPr id="43018" name="Group 34"/>
            <p:cNvGrpSpPr>
              <a:grpSpLocks/>
            </p:cNvGrpSpPr>
            <p:nvPr/>
          </p:nvGrpSpPr>
          <p:grpSpPr bwMode="auto">
            <a:xfrm>
              <a:off x="4104" y="960"/>
              <a:ext cx="1248" cy="2448"/>
              <a:chOff x="1056" y="1632"/>
              <a:chExt cx="1248" cy="2448"/>
            </a:xfrm>
          </p:grpSpPr>
          <p:sp>
            <p:nvSpPr>
              <p:cNvPr id="43019" name="Rectangle 35"/>
              <p:cNvSpPr>
                <a:spLocks noChangeArrowheads="1"/>
              </p:cNvSpPr>
              <p:nvPr/>
            </p:nvSpPr>
            <p:spPr bwMode="auto">
              <a:xfrm>
                <a:off x="1098" y="1669"/>
                <a:ext cx="1166" cy="2354"/>
              </a:xfrm>
              <a:prstGeom prst="rect">
                <a:avLst/>
              </a:prstGeom>
              <a:solidFill>
                <a:srgbClr val="969696"/>
              </a:solidFill>
              <a:ln>
                <a:noFill/>
              </a:ln>
              <a:extLs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p>
                <a:endParaRPr lang="zh-CN" altLang="en-US"/>
              </a:p>
            </p:txBody>
          </p:sp>
          <p:sp>
            <p:nvSpPr>
              <p:cNvPr id="43020" name="Rectangle 36"/>
              <p:cNvSpPr>
                <a:spLocks noChangeArrowheads="1"/>
              </p:cNvSpPr>
              <p:nvPr/>
            </p:nvSpPr>
            <p:spPr bwMode="auto">
              <a:xfrm>
                <a:off x="1059" y="1632"/>
                <a:ext cx="54"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21" name="Rectangle 37"/>
              <p:cNvSpPr>
                <a:spLocks noChangeArrowheads="1"/>
              </p:cNvSpPr>
              <p:nvPr/>
            </p:nvSpPr>
            <p:spPr bwMode="auto">
              <a:xfrm>
                <a:off x="2220" y="1632"/>
                <a:ext cx="84" cy="2439"/>
              </a:xfrm>
              <a:prstGeom prst="rect">
                <a:avLst/>
              </a:prstGeom>
              <a:gradFill rotWithShape="0">
                <a:gsLst>
                  <a:gs pos="0">
                    <a:srgbClr val="E2E2E2"/>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22" name="AutoShape 38"/>
              <p:cNvSpPr>
                <a:spLocks noChangeArrowheads="1"/>
              </p:cNvSpPr>
              <p:nvPr/>
            </p:nvSpPr>
            <p:spPr bwMode="auto">
              <a:xfrm>
                <a:off x="1068" y="1632"/>
                <a:ext cx="1196" cy="48"/>
              </a:xfrm>
              <a:custGeom>
                <a:avLst/>
                <a:gdLst>
                  <a:gd name="T0" fmla="*/ 4 w 21600"/>
                  <a:gd name="T1" fmla="*/ 0 h 21600"/>
                  <a:gd name="T2" fmla="*/ 2 w 21600"/>
                  <a:gd name="T3" fmla="*/ 0 h 21600"/>
                  <a:gd name="T4" fmla="*/ 0 w 21600"/>
                  <a:gd name="T5" fmla="*/ 0 h 21600"/>
                  <a:gd name="T6" fmla="*/ 2 w 21600"/>
                  <a:gd name="T7" fmla="*/ 0 h 21600"/>
                  <a:gd name="T8" fmla="*/ 0 60000 65536"/>
                  <a:gd name="T9" fmla="*/ 0 60000 65536"/>
                  <a:gd name="T10" fmla="*/ 0 60000 65536"/>
                  <a:gd name="T11" fmla="*/ 0 60000 65536"/>
                  <a:gd name="T12" fmla="*/ 2167 w 21600"/>
                  <a:gd name="T13" fmla="*/ 2250 h 21600"/>
                  <a:gd name="T14" fmla="*/ 1943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35" y="21600"/>
                    </a:lnTo>
                    <a:lnTo>
                      <a:pt x="20865"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23" name="AutoShape 39"/>
              <p:cNvSpPr>
                <a:spLocks noChangeArrowheads="1"/>
              </p:cNvSpPr>
              <p:nvPr/>
            </p:nvSpPr>
            <p:spPr bwMode="auto">
              <a:xfrm flipV="1">
                <a:off x="1056" y="4032"/>
                <a:ext cx="1208" cy="48"/>
              </a:xfrm>
              <a:custGeom>
                <a:avLst/>
                <a:gdLst>
                  <a:gd name="T0" fmla="*/ 4 w 21600"/>
                  <a:gd name="T1" fmla="*/ 0 h 21600"/>
                  <a:gd name="T2" fmla="*/ 2 w 21600"/>
                  <a:gd name="T3" fmla="*/ 0 h 21600"/>
                  <a:gd name="T4" fmla="*/ 0 w 21600"/>
                  <a:gd name="T5" fmla="*/ 0 h 21600"/>
                  <a:gd name="T6" fmla="*/ 2 w 21600"/>
                  <a:gd name="T7" fmla="*/ 0 h 21600"/>
                  <a:gd name="T8" fmla="*/ 0 60000 65536"/>
                  <a:gd name="T9" fmla="*/ 0 60000 65536"/>
                  <a:gd name="T10" fmla="*/ 0 60000 65536"/>
                  <a:gd name="T11" fmla="*/ 0 60000 65536"/>
                  <a:gd name="T12" fmla="*/ 2217 w 21600"/>
                  <a:gd name="T13" fmla="*/ 2250 h 21600"/>
                  <a:gd name="T14" fmla="*/ 1938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824" y="21600"/>
                    </a:lnTo>
                    <a:lnTo>
                      <a:pt x="20776" y="21600"/>
                    </a:lnTo>
                    <a:lnTo>
                      <a:pt x="21600" y="0"/>
                    </a:lnTo>
                    <a:lnTo>
                      <a:pt x="0" y="0"/>
                    </a:lnTo>
                    <a:close/>
                  </a:path>
                </a:pathLst>
              </a:custGeom>
              <a:gradFill rotWithShape="0">
                <a:gsLst>
                  <a:gs pos="0">
                    <a:srgbClr val="E2E2E2"/>
                  </a:gs>
                  <a:gs pos="100000">
                    <a:srgbClr val="96969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24" name="Rectangle 40"/>
              <p:cNvSpPr>
                <a:spLocks noChangeArrowheads="1"/>
              </p:cNvSpPr>
              <p:nvPr/>
            </p:nvSpPr>
            <p:spPr bwMode="auto">
              <a:xfrm>
                <a:off x="1121" y="1919"/>
                <a:ext cx="1062" cy="2104"/>
              </a:xfrm>
              <a:prstGeom prst="rect">
                <a:avLst/>
              </a:prstGeom>
              <a:solidFill>
                <a:srgbClr val="7283CA"/>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sp>
            <p:nvSpPr>
              <p:cNvPr id="43025" name="Rectangle 41"/>
              <p:cNvSpPr>
                <a:spLocks noChangeArrowheads="1"/>
              </p:cNvSpPr>
              <p:nvPr/>
            </p:nvSpPr>
            <p:spPr bwMode="auto">
              <a:xfrm>
                <a:off x="1121" y="1676"/>
                <a:ext cx="1062" cy="292"/>
              </a:xfrm>
              <a:prstGeom prst="rect">
                <a:avLst/>
              </a:prstGeom>
              <a:solidFill>
                <a:schemeClr val="tx1"/>
              </a:solidFill>
              <a:ln w="19050">
                <a:solidFill>
                  <a:srgbClr val="969696"/>
                </a:solidFill>
                <a:miter lim="800000"/>
                <a:headEnd/>
                <a:tailEnd/>
              </a:ln>
              <a:effectLst>
                <a:prstShdw prst="shdw17" dist="17961" dir="2700000">
                  <a:srgbClr val="5A5A5A"/>
                </a:prstShdw>
              </a:effectLst>
            </p:spPr>
            <p:txBody>
              <a:bodyPr wrap="none" anchor="ctr"/>
              <a:lstStyle/>
              <a:p>
                <a:endParaRPr lang="zh-CN" altLang="en-US"/>
              </a:p>
            </p:txBody>
          </p:sp>
          <p:sp>
            <p:nvSpPr>
              <p:cNvPr id="43026" name="Text Box 42"/>
              <p:cNvSpPr txBox="1">
                <a:spLocks noChangeAspect="1" noChangeArrowheads="1"/>
              </p:cNvSpPr>
              <p:nvPr/>
            </p:nvSpPr>
            <p:spPr bwMode="auto">
              <a:xfrm>
                <a:off x="1367" y="1676"/>
                <a:ext cx="74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r>
                  <a:rPr lang="zh-CN" altLang="en-US" sz="2800" i="0">
                    <a:solidFill>
                      <a:schemeClr val="bg1"/>
                    </a:solidFill>
                    <a:latin typeface="Times New Roman" pitchFamily="18" charset="0"/>
                  </a:rPr>
                  <a:t>真  值</a:t>
                </a:r>
                <a:endParaRPr lang="zh-CN" altLang="en-US" i="0">
                  <a:solidFill>
                    <a:schemeClr val="bg1"/>
                  </a:solidFill>
                  <a:latin typeface="Times New Roman" pitchFamily="18" charset="0"/>
                </a:endParaRPr>
              </a:p>
            </p:txBody>
          </p:sp>
          <p:sp>
            <p:nvSpPr>
              <p:cNvPr id="43027" name="Rectangle 43"/>
              <p:cNvSpPr>
                <a:spLocks noChangeArrowheads="1"/>
              </p:cNvSpPr>
              <p:nvPr/>
            </p:nvSpPr>
            <p:spPr bwMode="auto">
              <a:xfrm>
                <a:off x="1296" y="1968"/>
                <a:ext cx="960" cy="1912"/>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5000"/>
                  </a:lnSpc>
                  <a:spcBef>
                    <a:spcPct val="30000"/>
                  </a:spcBef>
                  <a:buSzPct val="60000"/>
                  <a:buFont typeface="Wingdings" pitchFamily="2" charset="2"/>
                  <a:buNone/>
                </a:pPr>
                <a:r>
                  <a:rPr lang="zh-CN" altLang="en-US" sz="2800" i="0">
                    <a:latin typeface="宋体" pitchFamily="2" charset="-122"/>
                  </a:rPr>
                  <a:t>0.</a:t>
                </a:r>
                <a:r>
                  <a:rPr lang="zh-CN" altLang="zh-CN" sz="2800" i="0">
                    <a:latin typeface="宋体" pitchFamily="2" charset="-122"/>
                  </a:rPr>
                  <a:t>6321</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0.3679</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0.2642</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0.2073</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0.1709</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0.1455</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0.1268</a:t>
                </a:r>
              </a:p>
              <a:p>
                <a:pPr marL="258763" indent="-258763" algn="l" defTabSz="814388">
                  <a:lnSpc>
                    <a:spcPct val="85000"/>
                  </a:lnSpc>
                  <a:spcBef>
                    <a:spcPct val="30000"/>
                  </a:spcBef>
                  <a:buSzPct val="60000"/>
                  <a:buFont typeface="Wingdings" pitchFamily="2" charset="2"/>
                  <a:buNone/>
                </a:pPr>
                <a:r>
                  <a:rPr lang="zh-CN" altLang="zh-CN" sz="2800" i="0">
                    <a:latin typeface="宋体" pitchFamily="2" charset="-122"/>
                  </a:rPr>
                  <a:t>0.1124</a:t>
                </a:r>
                <a:endParaRPr lang="zh-CN" altLang="en-US" sz="2800" i="0" baseline="-25000">
                  <a:latin typeface="宋体" pitchFamily="2" charset="-122"/>
                </a:endParaRPr>
              </a:p>
            </p:txBody>
          </p:sp>
        </p:grpSp>
      </p:grpSp>
      <p:sp>
        <p:nvSpPr>
          <p:cNvPr id="798764" name="AutoShape 44"/>
          <p:cNvSpPr>
            <a:spLocks noChangeArrowheads="1"/>
          </p:cNvSpPr>
          <p:nvPr/>
        </p:nvSpPr>
        <p:spPr bwMode="auto">
          <a:xfrm rot="-2910891">
            <a:off x="3398838" y="2124075"/>
            <a:ext cx="1508125" cy="1673225"/>
          </a:xfrm>
          <a:prstGeom prst="plus">
            <a:avLst>
              <a:gd name="adj" fmla="val 40384"/>
            </a:avLst>
          </a:prstGeom>
          <a:gradFill rotWithShape="0">
            <a:gsLst>
              <a:gs pos="0">
                <a:srgbClr val="5A4800"/>
              </a:gs>
              <a:gs pos="100000">
                <a:srgbClr val="FFCC00"/>
              </a:gs>
            </a:gsLst>
            <a:lin ang="2700000" scaled="1"/>
          </a:gradFill>
          <a:ln>
            <a:noFill/>
          </a:ln>
          <a:effectLst>
            <a:prstShdw prst="shdw17" dist="17961" dir="2700000">
              <a:srgbClr val="997A00"/>
            </a:prstShdw>
          </a:effectLst>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2075" tIns="46038" rIns="92075" bIns="46038"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798764"/>
                                        </p:tgtEl>
                                        <p:attrNameLst>
                                          <p:attrName>style.visibility</p:attrName>
                                        </p:attrNameLst>
                                      </p:cBhvr>
                                      <p:to>
                                        <p:strVal val="visible"/>
                                      </p:to>
                                    </p:set>
                                    <p:anim calcmode="lin" valueType="num">
                                      <p:cBhvr>
                                        <p:cTn id="12" dur="500" fill="hold"/>
                                        <p:tgtEl>
                                          <p:spTgt spid="798764"/>
                                        </p:tgtEl>
                                        <p:attrNameLst>
                                          <p:attrName>ppt_w</p:attrName>
                                        </p:attrNameLst>
                                      </p:cBhvr>
                                      <p:tavLst>
                                        <p:tav tm="0">
                                          <p:val>
                                            <p:fltVal val="0"/>
                                          </p:val>
                                        </p:tav>
                                        <p:tav tm="100000">
                                          <p:val>
                                            <p:strVal val="#ppt_w"/>
                                          </p:val>
                                        </p:tav>
                                      </p:tavLst>
                                    </p:anim>
                                    <p:anim calcmode="lin" valueType="num">
                                      <p:cBhvr>
                                        <p:cTn id="13" dur="500" fill="hold"/>
                                        <p:tgtEl>
                                          <p:spTgt spid="79876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4"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67DDF336-F28A-4D72-990C-15589071C0CB}" type="slidenum">
              <a:rPr lang="zh-CN" altLang="en-US" i="0" smtClean="0"/>
              <a:pPr/>
              <a:t>45</a:t>
            </a:fld>
            <a:endParaRPr lang="en-US" altLang="zh-CN" i="0" smtClean="0"/>
          </a:p>
        </p:txBody>
      </p:sp>
      <p:sp>
        <p:nvSpPr>
          <p:cNvPr id="4403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EB75F1E-A42B-410D-9D52-8F7C02E91F91}" type="datetime1">
              <a:rPr lang="zh-CN" altLang="en-US" sz="1800" i="0" smtClean="0"/>
              <a:pPr/>
              <a:t>2024/9/8</a:t>
            </a:fld>
            <a:endParaRPr lang="en-US" altLang="zh-CN" sz="1000" i="0" smtClean="0"/>
          </a:p>
        </p:txBody>
      </p:sp>
      <p:sp>
        <p:nvSpPr>
          <p:cNvPr id="800770" name="Rectangle 2"/>
          <p:cNvSpPr>
            <a:spLocks noGrp="1" noChangeArrowheads="1"/>
          </p:cNvSpPr>
          <p:nvPr>
            <p:ph type="title"/>
          </p:nvPr>
        </p:nvSpPr>
        <p:spPr/>
        <p:txBody>
          <a:bodyPr/>
          <a:lstStyle/>
          <a:p>
            <a:pPr>
              <a:defRPr/>
            </a:pPr>
            <a:r>
              <a:rPr lang="zh-CN" altLang="en-US" smtClean="0"/>
              <a:t>§4</a:t>
            </a:r>
            <a:r>
              <a:rPr lang="zh-CN" altLang="en-US" sz="6000" smtClean="0"/>
              <a:t>  </a:t>
            </a:r>
            <a:r>
              <a:rPr lang="zh-CN" altLang="en-US" smtClean="0"/>
              <a:t>算法举例</a:t>
            </a:r>
          </a:p>
        </p:txBody>
      </p:sp>
      <p:sp>
        <p:nvSpPr>
          <p:cNvPr id="800771" name="Rectangle 3"/>
          <p:cNvSpPr>
            <a:spLocks noGrp="1" noChangeArrowheads="1"/>
          </p:cNvSpPr>
          <p:nvPr>
            <p:ph type="body" idx="1"/>
          </p:nvPr>
        </p:nvSpPr>
        <p:spPr>
          <a:xfrm>
            <a:off x="650875" y="1143000"/>
            <a:ext cx="8820150" cy="5438775"/>
          </a:xfrm>
        </p:spPr>
        <p:txBody>
          <a:bodyPr/>
          <a:lstStyle/>
          <a:p>
            <a:pPr marL="457200" indent="-457200" defTabSz="914400">
              <a:lnSpc>
                <a:spcPct val="80000"/>
              </a:lnSpc>
            </a:pPr>
            <a:r>
              <a:rPr lang="zh-CN" altLang="en-US" smtClean="0">
                <a:latin typeface="宋体" pitchFamily="2" charset="-122"/>
              </a:rPr>
              <a:t>算法1的结果很差，为什么呢？</a:t>
            </a:r>
          </a:p>
          <a:p>
            <a:pPr marL="909638" lvl="1" indent="-338138" defTabSz="914400">
              <a:lnSpc>
                <a:spcPct val="80000"/>
              </a:lnSpc>
            </a:pPr>
            <a:r>
              <a:rPr lang="en-US" altLang="zh-CN" smtClean="0">
                <a:latin typeface="宋体" pitchFamily="2" charset="-122"/>
              </a:rPr>
              <a:t>I</a:t>
            </a:r>
            <a:r>
              <a:rPr lang="en-US" altLang="zh-CN" baseline="-25000" smtClean="0">
                <a:latin typeface="宋体" pitchFamily="2" charset="-122"/>
              </a:rPr>
              <a:t>1</a:t>
            </a:r>
            <a:r>
              <a:rPr lang="zh-CN" altLang="en-US" smtClean="0">
                <a:latin typeface="宋体" pitchFamily="2" charset="-122"/>
              </a:rPr>
              <a:t>的舍入误差是</a:t>
            </a:r>
            <a:r>
              <a:rPr lang="en-US" altLang="zh-CN" smtClean="0">
                <a:latin typeface="宋体" pitchFamily="2" charset="-122"/>
              </a:rPr>
              <a:t>Δ</a:t>
            </a:r>
          </a:p>
          <a:p>
            <a:pPr marL="909638" lvl="1" indent="-338138" defTabSz="914400">
              <a:lnSpc>
                <a:spcPct val="80000"/>
              </a:lnSpc>
            </a:pPr>
            <a:r>
              <a:rPr lang="en-US" altLang="zh-CN" smtClean="0">
                <a:latin typeface="宋体" pitchFamily="2" charset="-122"/>
              </a:rPr>
              <a:t>I</a:t>
            </a:r>
            <a:r>
              <a:rPr lang="en-US" altLang="zh-CN" baseline="-25000" smtClean="0">
                <a:latin typeface="宋体" pitchFamily="2" charset="-122"/>
              </a:rPr>
              <a:t>2</a:t>
            </a:r>
            <a:r>
              <a:rPr lang="en-US" altLang="zh-CN" smtClean="0">
                <a:latin typeface="宋体" pitchFamily="2" charset="-122"/>
              </a:rPr>
              <a:t>=1-2I</a:t>
            </a:r>
            <a:r>
              <a:rPr lang="en-US" altLang="zh-CN" baseline="-25000" smtClean="0">
                <a:latin typeface="宋体" pitchFamily="2" charset="-122"/>
              </a:rPr>
              <a:t>1</a:t>
            </a:r>
            <a:r>
              <a:rPr lang="zh-CN" altLang="en-US" smtClean="0">
                <a:latin typeface="宋体" pitchFamily="2" charset="-122"/>
              </a:rPr>
              <a:t>的舍入误差是2</a:t>
            </a:r>
            <a:r>
              <a:rPr lang="en-US" altLang="zh-CN" smtClean="0">
                <a:latin typeface="宋体" pitchFamily="2" charset="-122"/>
              </a:rPr>
              <a:t>Δ</a:t>
            </a:r>
          </a:p>
          <a:p>
            <a:pPr marL="909638" lvl="1" indent="-338138" defTabSz="914400">
              <a:lnSpc>
                <a:spcPct val="80000"/>
              </a:lnSpc>
            </a:pPr>
            <a:r>
              <a:rPr lang="en-US" altLang="zh-CN" smtClean="0">
                <a:latin typeface="宋体" pitchFamily="2" charset="-122"/>
              </a:rPr>
              <a:t>I</a:t>
            </a:r>
            <a:r>
              <a:rPr lang="en-US" altLang="zh-CN" baseline="-25000" smtClean="0">
                <a:latin typeface="宋体" pitchFamily="2" charset="-122"/>
              </a:rPr>
              <a:t>3</a:t>
            </a:r>
            <a:r>
              <a:rPr lang="en-US" altLang="zh-CN" smtClean="0">
                <a:latin typeface="宋体" pitchFamily="2" charset="-122"/>
              </a:rPr>
              <a:t>=1-3I</a:t>
            </a:r>
            <a:r>
              <a:rPr lang="en-US" altLang="zh-CN" baseline="-25000" smtClean="0">
                <a:latin typeface="宋体" pitchFamily="2" charset="-122"/>
              </a:rPr>
              <a:t>2</a:t>
            </a:r>
            <a:r>
              <a:rPr lang="zh-CN" altLang="en-US" smtClean="0">
                <a:latin typeface="宋体" pitchFamily="2" charset="-122"/>
              </a:rPr>
              <a:t>的舍入误差是2*3</a:t>
            </a:r>
            <a:r>
              <a:rPr lang="en-US" altLang="zh-CN" smtClean="0">
                <a:latin typeface="宋体" pitchFamily="2" charset="-122"/>
              </a:rPr>
              <a:t>Δ</a:t>
            </a:r>
            <a:r>
              <a:rPr lang="en-US" altLang="zh-CN" smtClean="0"/>
              <a:t>…</a:t>
            </a:r>
            <a:endParaRPr lang="en-US" altLang="zh-CN" smtClean="0">
              <a:latin typeface="宋体" pitchFamily="2" charset="-122"/>
            </a:endParaRPr>
          </a:p>
          <a:p>
            <a:pPr marL="909638" lvl="1" indent="-338138" defTabSz="914400">
              <a:lnSpc>
                <a:spcPct val="80000"/>
              </a:lnSpc>
            </a:pPr>
            <a:r>
              <a:rPr lang="en-US" altLang="zh-CN" smtClean="0">
                <a:latin typeface="宋体" pitchFamily="2" charset="-122"/>
              </a:rPr>
              <a:t>I</a:t>
            </a:r>
            <a:r>
              <a:rPr lang="en-US" altLang="zh-CN" baseline="-25000" smtClean="0">
                <a:latin typeface="宋体" pitchFamily="2" charset="-122"/>
              </a:rPr>
              <a:t>7</a:t>
            </a:r>
            <a:r>
              <a:rPr lang="zh-CN" altLang="en-US" smtClean="0">
                <a:latin typeface="宋体" pitchFamily="2" charset="-122"/>
              </a:rPr>
              <a:t>的舍入误差是7!</a:t>
            </a:r>
            <a:r>
              <a:rPr lang="en-US" altLang="zh-CN" smtClean="0">
                <a:latin typeface="宋体" pitchFamily="2" charset="-122"/>
              </a:rPr>
              <a:t>Δ</a:t>
            </a:r>
          </a:p>
          <a:p>
            <a:pPr marL="457200" indent="-457200" defTabSz="914400">
              <a:lnSpc>
                <a:spcPct val="80000"/>
              </a:lnSpc>
            </a:pPr>
            <a:r>
              <a:rPr lang="zh-CN" altLang="en-US" smtClean="0">
                <a:latin typeface="宋体" pitchFamily="2" charset="-122"/>
              </a:rPr>
              <a:t>算法2的误差</a:t>
            </a:r>
          </a:p>
          <a:p>
            <a:pPr marL="909638" lvl="1" indent="-338138" defTabSz="914400">
              <a:lnSpc>
                <a:spcPct val="80000"/>
              </a:lnSpc>
            </a:pPr>
            <a:r>
              <a:rPr lang="zh-CN" altLang="en-US" smtClean="0">
                <a:latin typeface="宋体" pitchFamily="2" charset="-122"/>
              </a:rPr>
              <a:t>从</a:t>
            </a:r>
            <a:r>
              <a:rPr lang="en-US" altLang="zh-CN" smtClean="0">
                <a:latin typeface="宋体" pitchFamily="2" charset="-122"/>
              </a:rPr>
              <a:t>I</a:t>
            </a:r>
            <a:r>
              <a:rPr lang="en-US" altLang="zh-CN" baseline="-25000" smtClean="0">
                <a:latin typeface="宋体" pitchFamily="2" charset="-122"/>
              </a:rPr>
              <a:t>6</a:t>
            </a:r>
            <a:r>
              <a:rPr lang="en-US" altLang="zh-CN" smtClean="0">
                <a:latin typeface="宋体" pitchFamily="2" charset="-122"/>
              </a:rPr>
              <a:t>=</a:t>
            </a:r>
            <a:r>
              <a:rPr lang="zh-CN" altLang="en-US" smtClean="0">
                <a:latin typeface="宋体" pitchFamily="2" charset="-122"/>
              </a:rPr>
              <a:t>(</a:t>
            </a:r>
            <a:r>
              <a:rPr lang="en-US" altLang="zh-CN" smtClean="0">
                <a:latin typeface="宋体" pitchFamily="2" charset="-122"/>
              </a:rPr>
              <a:t>1-I</a:t>
            </a:r>
            <a:r>
              <a:rPr lang="en-US" altLang="zh-CN" baseline="-25000" smtClean="0">
                <a:latin typeface="宋体" pitchFamily="2" charset="-122"/>
              </a:rPr>
              <a:t>7</a:t>
            </a:r>
            <a:r>
              <a:rPr lang="zh-CN" altLang="en-US" smtClean="0">
                <a:latin typeface="宋体" pitchFamily="2" charset="-122"/>
              </a:rPr>
              <a:t>)/7开始,</a:t>
            </a:r>
            <a:r>
              <a:rPr lang="en-US" altLang="zh-CN" smtClean="0">
                <a:latin typeface="宋体" pitchFamily="2" charset="-122"/>
              </a:rPr>
              <a:t>I</a:t>
            </a:r>
            <a:r>
              <a:rPr lang="en-US" altLang="zh-CN" baseline="-25000" smtClean="0">
                <a:latin typeface="宋体" pitchFamily="2" charset="-122"/>
              </a:rPr>
              <a:t>6</a:t>
            </a:r>
            <a:r>
              <a:rPr lang="zh-CN" altLang="en-US" smtClean="0">
                <a:latin typeface="宋体" pitchFamily="2" charset="-122"/>
              </a:rPr>
              <a:t>的舍入误差是(1/7)</a:t>
            </a:r>
            <a:r>
              <a:rPr lang="en-US" altLang="zh-CN" smtClean="0">
                <a:latin typeface="宋体" pitchFamily="2" charset="-122"/>
              </a:rPr>
              <a:t>Δ</a:t>
            </a:r>
            <a:endParaRPr lang="zh-CN" altLang="en-US" smtClean="0">
              <a:latin typeface="宋体" pitchFamily="2" charset="-122"/>
            </a:endParaRPr>
          </a:p>
          <a:p>
            <a:pPr marL="909638" lvl="1" indent="-338138" defTabSz="914400">
              <a:lnSpc>
                <a:spcPct val="80000"/>
              </a:lnSpc>
            </a:pPr>
            <a:r>
              <a:rPr lang="en-US" altLang="zh-CN" smtClean="0">
                <a:latin typeface="宋体" pitchFamily="2" charset="-122"/>
              </a:rPr>
              <a:t>I</a:t>
            </a:r>
            <a:r>
              <a:rPr lang="en-US" altLang="zh-CN" baseline="-25000" smtClean="0">
                <a:latin typeface="宋体" pitchFamily="2" charset="-122"/>
              </a:rPr>
              <a:t>5</a:t>
            </a:r>
            <a:r>
              <a:rPr lang="en-US" altLang="zh-CN" smtClean="0">
                <a:latin typeface="宋体" pitchFamily="2" charset="-122"/>
              </a:rPr>
              <a:t>=</a:t>
            </a:r>
            <a:r>
              <a:rPr lang="zh-CN" altLang="en-US" smtClean="0">
                <a:latin typeface="宋体" pitchFamily="2" charset="-122"/>
              </a:rPr>
              <a:t>(</a:t>
            </a:r>
            <a:r>
              <a:rPr lang="en-US" altLang="zh-CN" smtClean="0">
                <a:latin typeface="宋体" pitchFamily="2" charset="-122"/>
              </a:rPr>
              <a:t>1-I</a:t>
            </a:r>
            <a:r>
              <a:rPr lang="en-US" altLang="zh-CN" baseline="-25000" smtClean="0">
                <a:latin typeface="宋体" pitchFamily="2" charset="-122"/>
              </a:rPr>
              <a:t>6</a:t>
            </a:r>
            <a:r>
              <a:rPr lang="zh-CN" altLang="en-US" smtClean="0">
                <a:latin typeface="宋体" pitchFamily="2" charset="-122"/>
              </a:rPr>
              <a:t>)/6的舍入误差是(1/(6*7))</a:t>
            </a:r>
            <a:r>
              <a:rPr lang="en-US" altLang="zh-CN" smtClean="0">
                <a:latin typeface="宋体" pitchFamily="2" charset="-122"/>
              </a:rPr>
              <a:t>Δ</a:t>
            </a:r>
            <a:r>
              <a:rPr lang="zh-CN" altLang="en-US" smtClean="0"/>
              <a:t>…</a:t>
            </a:r>
            <a:endParaRPr lang="zh-CN" altLang="en-US" smtClean="0">
              <a:latin typeface="宋体" pitchFamily="2" charset="-122"/>
            </a:endParaRPr>
          </a:p>
          <a:p>
            <a:pPr marL="909638" lvl="1" indent="-338138" defTabSz="914400">
              <a:lnSpc>
                <a:spcPct val="80000"/>
              </a:lnSpc>
            </a:pPr>
            <a:r>
              <a:rPr lang="en-US" altLang="zh-CN" smtClean="0">
                <a:latin typeface="宋体" pitchFamily="2" charset="-122"/>
              </a:rPr>
              <a:t>I</a:t>
            </a:r>
            <a:r>
              <a:rPr lang="en-US" altLang="zh-CN" baseline="-25000" smtClean="0">
                <a:latin typeface="宋体" pitchFamily="2" charset="-122"/>
              </a:rPr>
              <a:t>0</a:t>
            </a:r>
            <a:r>
              <a:rPr lang="zh-CN" altLang="en-US" smtClean="0">
                <a:latin typeface="宋体" pitchFamily="2" charset="-122"/>
              </a:rPr>
              <a:t>的舍入误差是(1/7!)</a:t>
            </a:r>
            <a:r>
              <a:rPr lang="en-US" altLang="zh-CN" smtClean="0">
                <a:latin typeface="宋体" pitchFamily="2" charset="-122"/>
              </a:rPr>
              <a:t>Δ,I</a:t>
            </a:r>
            <a:r>
              <a:rPr lang="en-US" altLang="zh-CN" baseline="-25000" smtClean="0">
                <a:latin typeface="宋体" pitchFamily="2" charset="-122"/>
              </a:rPr>
              <a:t>0</a:t>
            </a:r>
            <a:r>
              <a:rPr lang="en-US" altLang="zh-CN" smtClean="0">
                <a:latin typeface="宋体" pitchFamily="2" charset="-122"/>
              </a:rPr>
              <a:t>=0.6320,</a:t>
            </a:r>
            <a:r>
              <a:rPr lang="zh-CN" altLang="en-US" smtClean="0">
                <a:latin typeface="宋体" pitchFamily="2" charset="-122"/>
              </a:rPr>
              <a:t>真值为0,6321,</a:t>
            </a:r>
          </a:p>
          <a:p>
            <a:pPr marL="457200" indent="-457200" defTabSz="914400">
              <a:lnSpc>
                <a:spcPct val="80000"/>
              </a:lnSpc>
            </a:pPr>
            <a:r>
              <a:rPr lang="zh-CN" altLang="en-US" smtClean="0">
                <a:latin typeface="宋体" pitchFamily="2" charset="-122"/>
              </a:rPr>
              <a:t>舍入误差对计算结果影响小的算法称为</a:t>
            </a:r>
            <a:r>
              <a:rPr lang="zh-CN" altLang="en-US" u="sng" smtClean="0">
                <a:solidFill>
                  <a:srgbClr val="FF3300"/>
                </a:solidFill>
                <a:latin typeface="宋体" pitchFamily="2" charset="-122"/>
              </a:rPr>
              <a:t>稳定的算法</a:t>
            </a:r>
            <a:r>
              <a:rPr lang="zh-CN" altLang="en-US" smtClean="0">
                <a:latin typeface="宋体" pitchFamily="2" charset="-122"/>
              </a:rPr>
              <a:t>,否则称为</a:t>
            </a:r>
            <a:r>
              <a:rPr lang="zh-CN" altLang="en-US" u="sng" smtClean="0">
                <a:solidFill>
                  <a:srgbClr val="FF3300"/>
                </a:solidFill>
                <a:latin typeface="宋体" pitchFamily="2" charset="-122"/>
              </a:rPr>
              <a:t>不稳定的算法</a:t>
            </a:r>
            <a:r>
              <a:rPr lang="zh-CN" altLang="en-US" smtClean="0">
                <a:latin typeface="宋体" pitchFamily="2" charset="-122"/>
              </a:rPr>
              <a:t>.</a:t>
            </a:r>
            <a:endParaRPr lang="zh-CN" altLang="en-US" smtClean="0"/>
          </a:p>
        </p:txBody>
      </p:sp>
      <p:sp>
        <p:nvSpPr>
          <p:cNvPr id="800772" name="AutoShape 4"/>
          <p:cNvSpPr>
            <a:spLocks noChangeArrowheads="1"/>
          </p:cNvSpPr>
          <p:nvPr/>
        </p:nvSpPr>
        <p:spPr bwMode="auto">
          <a:xfrm>
            <a:off x="5867400" y="260350"/>
            <a:ext cx="4038600" cy="2270125"/>
          </a:xfrm>
          <a:prstGeom prst="wedgeRoundRectCallout">
            <a:avLst>
              <a:gd name="adj1" fmla="val 23074"/>
              <a:gd name="adj2" fmla="val 27481"/>
              <a:gd name="adj3" fmla="val 16667"/>
            </a:avLst>
          </a:prstGeom>
          <a:solidFill>
            <a:srgbClr val="F60A0A"/>
          </a:solidFill>
          <a:ln w="28575">
            <a:solidFill>
              <a:schemeClr val="bg1"/>
            </a:solidFill>
            <a:miter lim="800000"/>
            <a:headEnd/>
            <a:tailEnd/>
          </a:ln>
        </p:spPr>
        <p:txBody>
          <a:bodyPr anchor="ctr"/>
          <a:lstStyle/>
          <a:p>
            <a:pPr algn="l"/>
            <a:r>
              <a:rPr lang="zh-CN" altLang="en-US" sz="2800" i="0">
                <a:latin typeface="宋体" pitchFamily="2" charset="-122"/>
              </a:rPr>
              <a:t>在大量计算中,舍入误差的积累和传播,与算法有关。 舍入误差能控制在一定范围内就是稳定的。</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00771">
                                            <p:txEl>
                                              <p:pRg st="0" end="0"/>
                                            </p:txEl>
                                          </p:spTgt>
                                        </p:tgtEl>
                                        <p:attrNameLst>
                                          <p:attrName>style.visibility</p:attrName>
                                        </p:attrNameLst>
                                      </p:cBhvr>
                                      <p:to>
                                        <p:strVal val="visible"/>
                                      </p:to>
                                    </p:set>
                                    <p:animEffect transition="in" filter="wipe(up)">
                                      <p:cBhvr>
                                        <p:cTn id="7" dur="500"/>
                                        <p:tgtEl>
                                          <p:spTgt spid="800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00771">
                                            <p:txEl>
                                              <p:pRg st="1" end="1"/>
                                            </p:txEl>
                                          </p:spTgt>
                                        </p:tgtEl>
                                        <p:attrNameLst>
                                          <p:attrName>style.visibility</p:attrName>
                                        </p:attrNameLst>
                                      </p:cBhvr>
                                      <p:to>
                                        <p:strVal val="visible"/>
                                      </p:to>
                                    </p:set>
                                    <p:animEffect transition="in" filter="wipe(up)">
                                      <p:cBhvr>
                                        <p:cTn id="12" dur="500"/>
                                        <p:tgtEl>
                                          <p:spTgt spid="8007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00771">
                                            <p:txEl>
                                              <p:pRg st="2" end="2"/>
                                            </p:txEl>
                                          </p:spTgt>
                                        </p:tgtEl>
                                        <p:attrNameLst>
                                          <p:attrName>style.visibility</p:attrName>
                                        </p:attrNameLst>
                                      </p:cBhvr>
                                      <p:to>
                                        <p:strVal val="visible"/>
                                      </p:to>
                                    </p:set>
                                    <p:animEffect transition="in" filter="wipe(up)">
                                      <p:cBhvr>
                                        <p:cTn id="17" dur="500"/>
                                        <p:tgtEl>
                                          <p:spTgt spid="8007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00771">
                                            <p:txEl>
                                              <p:pRg st="3" end="3"/>
                                            </p:txEl>
                                          </p:spTgt>
                                        </p:tgtEl>
                                        <p:attrNameLst>
                                          <p:attrName>style.visibility</p:attrName>
                                        </p:attrNameLst>
                                      </p:cBhvr>
                                      <p:to>
                                        <p:strVal val="visible"/>
                                      </p:to>
                                    </p:set>
                                    <p:animEffect transition="in" filter="wipe(up)">
                                      <p:cBhvr>
                                        <p:cTn id="22" dur="500"/>
                                        <p:tgtEl>
                                          <p:spTgt spid="8007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00771">
                                            <p:txEl>
                                              <p:pRg st="4" end="4"/>
                                            </p:txEl>
                                          </p:spTgt>
                                        </p:tgtEl>
                                        <p:attrNameLst>
                                          <p:attrName>style.visibility</p:attrName>
                                        </p:attrNameLst>
                                      </p:cBhvr>
                                      <p:to>
                                        <p:strVal val="visible"/>
                                      </p:to>
                                    </p:set>
                                    <p:animEffect transition="in" filter="wipe(up)">
                                      <p:cBhvr>
                                        <p:cTn id="27" dur="500"/>
                                        <p:tgtEl>
                                          <p:spTgt spid="8007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00771">
                                            <p:txEl>
                                              <p:pRg st="5" end="5"/>
                                            </p:txEl>
                                          </p:spTgt>
                                        </p:tgtEl>
                                        <p:attrNameLst>
                                          <p:attrName>style.visibility</p:attrName>
                                        </p:attrNameLst>
                                      </p:cBhvr>
                                      <p:to>
                                        <p:strVal val="visible"/>
                                      </p:to>
                                    </p:set>
                                    <p:animEffect transition="in" filter="wipe(up)">
                                      <p:cBhvr>
                                        <p:cTn id="32" dur="500"/>
                                        <p:tgtEl>
                                          <p:spTgt spid="80077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800771">
                                            <p:txEl>
                                              <p:pRg st="6" end="6"/>
                                            </p:txEl>
                                          </p:spTgt>
                                        </p:tgtEl>
                                        <p:attrNameLst>
                                          <p:attrName>style.visibility</p:attrName>
                                        </p:attrNameLst>
                                      </p:cBhvr>
                                      <p:to>
                                        <p:strVal val="visible"/>
                                      </p:to>
                                    </p:set>
                                    <p:animEffect transition="in" filter="wipe(up)">
                                      <p:cBhvr>
                                        <p:cTn id="37" dur="500"/>
                                        <p:tgtEl>
                                          <p:spTgt spid="80077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800771">
                                            <p:txEl>
                                              <p:pRg st="7" end="7"/>
                                            </p:txEl>
                                          </p:spTgt>
                                        </p:tgtEl>
                                        <p:attrNameLst>
                                          <p:attrName>style.visibility</p:attrName>
                                        </p:attrNameLst>
                                      </p:cBhvr>
                                      <p:to>
                                        <p:strVal val="visible"/>
                                      </p:to>
                                    </p:set>
                                    <p:animEffect transition="in" filter="wipe(up)">
                                      <p:cBhvr>
                                        <p:cTn id="42" dur="500"/>
                                        <p:tgtEl>
                                          <p:spTgt spid="80077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800771">
                                            <p:txEl>
                                              <p:pRg st="8" end="8"/>
                                            </p:txEl>
                                          </p:spTgt>
                                        </p:tgtEl>
                                        <p:attrNameLst>
                                          <p:attrName>style.visibility</p:attrName>
                                        </p:attrNameLst>
                                      </p:cBhvr>
                                      <p:to>
                                        <p:strVal val="visible"/>
                                      </p:to>
                                    </p:set>
                                    <p:animEffect transition="in" filter="wipe(up)">
                                      <p:cBhvr>
                                        <p:cTn id="47" dur="500"/>
                                        <p:tgtEl>
                                          <p:spTgt spid="80077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800771">
                                            <p:txEl>
                                              <p:pRg st="9" end="9"/>
                                            </p:txEl>
                                          </p:spTgt>
                                        </p:tgtEl>
                                        <p:attrNameLst>
                                          <p:attrName>style.visibility</p:attrName>
                                        </p:attrNameLst>
                                      </p:cBhvr>
                                      <p:to>
                                        <p:strVal val="visible"/>
                                      </p:to>
                                    </p:set>
                                    <p:animEffect transition="in" filter="wipe(up)">
                                      <p:cBhvr>
                                        <p:cTn id="52" dur="500"/>
                                        <p:tgtEl>
                                          <p:spTgt spid="80077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800772"/>
                                        </p:tgtEl>
                                        <p:attrNameLst>
                                          <p:attrName>style.visibility</p:attrName>
                                        </p:attrNameLst>
                                      </p:cBhvr>
                                      <p:to>
                                        <p:strVal val="visible"/>
                                      </p:to>
                                    </p:set>
                                    <p:anim calcmode="lin" valueType="num">
                                      <p:cBhvr additive="base">
                                        <p:cTn id="57" dur="500" fill="hold"/>
                                        <p:tgtEl>
                                          <p:spTgt spid="800772"/>
                                        </p:tgtEl>
                                        <p:attrNameLst>
                                          <p:attrName>ppt_x</p:attrName>
                                        </p:attrNameLst>
                                      </p:cBhvr>
                                      <p:tavLst>
                                        <p:tav tm="0">
                                          <p:val>
                                            <p:strVal val="0-#ppt_w/2"/>
                                          </p:val>
                                        </p:tav>
                                        <p:tav tm="100000">
                                          <p:val>
                                            <p:strVal val="#ppt_x"/>
                                          </p:val>
                                        </p:tav>
                                      </p:tavLst>
                                    </p:anim>
                                    <p:anim calcmode="lin" valueType="num">
                                      <p:cBhvr additive="base">
                                        <p:cTn id="58" dur="500" fill="hold"/>
                                        <p:tgtEl>
                                          <p:spTgt spid="8007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1" grpId="0" build="p" bldLvl="2" autoUpdateAnimBg="0"/>
      <p:bldP spid="800772"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872361A-F842-4366-92FF-6DC6AA456309}" type="slidenum">
              <a:rPr lang="zh-CN" altLang="en-US" i="0" smtClean="0"/>
              <a:pPr/>
              <a:t>46</a:t>
            </a:fld>
            <a:endParaRPr lang="en-US" altLang="zh-CN" i="0" smtClean="0"/>
          </a:p>
        </p:txBody>
      </p:sp>
      <p:sp>
        <p:nvSpPr>
          <p:cNvPr id="450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B2EBAFC-A326-4858-856B-EEB3088755F3}" type="datetime1">
              <a:rPr lang="zh-CN" altLang="en-US" sz="1800" i="0" smtClean="0"/>
              <a:pPr/>
              <a:t>2024/9/8</a:t>
            </a:fld>
            <a:endParaRPr lang="en-US" altLang="zh-CN" sz="1000" i="0" smtClean="0"/>
          </a:p>
        </p:txBody>
      </p:sp>
      <p:sp>
        <p:nvSpPr>
          <p:cNvPr id="919554" name="Rectangle 2"/>
          <p:cNvSpPr>
            <a:spLocks noGrp="1" noChangeArrowheads="1"/>
          </p:cNvSpPr>
          <p:nvPr>
            <p:ph type="title"/>
          </p:nvPr>
        </p:nvSpPr>
        <p:spPr/>
        <p:txBody>
          <a:bodyPr/>
          <a:lstStyle/>
          <a:p>
            <a:pPr>
              <a:defRPr/>
            </a:pPr>
            <a:endParaRPr lang="zh-CN" altLang="en-US" smtClean="0"/>
          </a:p>
        </p:txBody>
      </p:sp>
      <p:sp>
        <p:nvSpPr>
          <p:cNvPr id="919557" name="Text Box 5"/>
          <p:cNvSpPr>
            <a:spLocks noGrp="1" noChangeArrowheads="1"/>
          </p:cNvSpPr>
          <p:nvPr>
            <p:ph type="body" idx="1"/>
          </p:nvPr>
        </p:nvSpPr>
        <p:spPr>
          <a:xfrm>
            <a:off x="650875" y="1266825"/>
            <a:ext cx="8820150" cy="727075"/>
          </a:xfrm>
          <a:solidFill>
            <a:srgbClr val="CCCCFF"/>
          </a:solidFill>
          <a:ln w="12700">
            <a:solidFill>
              <a:srgbClr val="6600CC"/>
            </a:solidFill>
            <a:miter lim="800000"/>
            <a:headEnd/>
            <a:tailEnd/>
          </a:ln>
          <a:effectLst>
            <a:outerShdw dist="107763" dir="2700000" algn="ctr" rotWithShape="0">
              <a:srgbClr val="6600CC"/>
            </a:outerShdw>
          </a:effectLst>
        </p:spPr>
        <p:txBody>
          <a:bodyPr/>
          <a:lstStyle/>
          <a:p>
            <a:pPr marL="228600" indent="0" eaLnBrk="1" hangingPunct="1">
              <a:lnSpc>
                <a:spcPct val="130000"/>
              </a:lnSpc>
              <a:spcBef>
                <a:spcPct val="0"/>
              </a:spcBef>
              <a:buClrTx/>
              <a:buSzTx/>
              <a:buFontTx/>
              <a:buNone/>
              <a:tabLst>
                <a:tab pos="2800350" algn="l"/>
              </a:tabLst>
            </a:pPr>
            <a:r>
              <a:rPr lang="zh-CN" altLang="en-US" sz="3600" smtClean="0">
                <a:latin typeface="楷体_GB2312" pitchFamily="49" charset="-122"/>
                <a:ea typeface="楷体_GB2312" pitchFamily="49" charset="-122"/>
                <a:cs typeface="Times New Roman" pitchFamily="18" charset="0"/>
              </a:rPr>
              <a:t>结论:  出现的舍入误差是不可避免的</a:t>
            </a:r>
            <a:endParaRPr lang="en-US" altLang="zh-CN" sz="3600" smtClean="0">
              <a:latin typeface="楷体_GB2312" pitchFamily="49" charset="-122"/>
              <a:ea typeface="楷体_GB2312" pitchFamily="49" charset="-122"/>
              <a:cs typeface="Times New Roman" pitchFamily="18" charset="0"/>
            </a:endParaRPr>
          </a:p>
        </p:txBody>
      </p:sp>
      <p:sp>
        <p:nvSpPr>
          <p:cNvPr id="919558" name="Text Box 6"/>
          <p:cNvSpPr txBox="1">
            <a:spLocks noChangeArrowheads="1"/>
          </p:cNvSpPr>
          <p:nvPr/>
        </p:nvSpPr>
        <p:spPr bwMode="auto">
          <a:xfrm>
            <a:off x="685800" y="2362200"/>
            <a:ext cx="8763000" cy="3014663"/>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000" b="1" i="1">
                <a:solidFill>
                  <a:schemeClr val="tx1"/>
                </a:solidFill>
                <a:latin typeface="Arial" pitchFamily="34" charset="0"/>
                <a:ea typeface="宋体" pitchFamily="2" charset="-122"/>
              </a:defRPr>
            </a:lvl1pPr>
            <a:lvl2pPr marL="742950" indent="-285750">
              <a:tabLst>
                <a:tab pos="2800350" algn="l"/>
              </a:tabLst>
              <a:defRPr sz="2000" b="1" i="1">
                <a:solidFill>
                  <a:schemeClr val="tx1"/>
                </a:solidFill>
                <a:latin typeface="Arial" pitchFamily="34" charset="0"/>
                <a:ea typeface="宋体" pitchFamily="2" charset="-122"/>
              </a:defRPr>
            </a:lvl2pPr>
            <a:lvl3pPr marL="1143000" indent="-228600">
              <a:tabLst>
                <a:tab pos="2800350" algn="l"/>
              </a:tabLst>
              <a:defRPr sz="2000" b="1" i="1">
                <a:solidFill>
                  <a:schemeClr val="tx1"/>
                </a:solidFill>
                <a:latin typeface="Arial" pitchFamily="34" charset="0"/>
                <a:ea typeface="宋体" pitchFamily="2" charset="-122"/>
              </a:defRPr>
            </a:lvl3pPr>
            <a:lvl4pPr marL="1600200" indent="-228600">
              <a:tabLst>
                <a:tab pos="2800350" algn="l"/>
              </a:tabLst>
              <a:defRPr sz="2000" b="1" i="1">
                <a:solidFill>
                  <a:schemeClr val="tx1"/>
                </a:solidFill>
                <a:latin typeface="Arial" pitchFamily="34" charset="0"/>
                <a:ea typeface="宋体" pitchFamily="2" charset="-122"/>
              </a:defRPr>
            </a:lvl4pPr>
            <a:lvl5pPr marL="2057400" indent="-228600">
              <a:tabLst>
                <a:tab pos="2800350" algn="l"/>
              </a:tabLst>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9pPr>
          </a:lstStyle>
          <a:p>
            <a:pPr algn="l" eaLnBrk="1" hangingPunct="1">
              <a:spcBef>
                <a:spcPct val="30000"/>
              </a:spcBef>
              <a:buSzPct val="80000"/>
              <a:buFont typeface="Wingdings" pitchFamily="2" charset="2"/>
              <a:buChar char="q"/>
            </a:pPr>
            <a:r>
              <a:rPr lang="zh-CN" altLang="en-US" sz="3200" i="0">
                <a:latin typeface="楷体_GB2312" pitchFamily="49" charset="-122"/>
                <a:ea typeface="楷体_GB2312" pitchFamily="49" charset="-122"/>
                <a:cs typeface="Times New Roman" pitchFamily="18" charset="0"/>
              </a:rPr>
              <a:t> 它直接影响到算法的数值稳定性，所以在数值方法的选择和设计中必须慎重考虑</a:t>
            </a:r>
          </a:p>
          <a:p>
            <a:pPr algn="l" eaLnBrk="1" hangingPunct="1">
              <a:spcBef>
                <a:spcPct val="30000"/>
              </a:spcBef>
              <a:buSzPct val="80000"/>
              <a:buFont typeface="Wingdings" pitchFamily="2" charset="2"/>
              <a:buChar char="q"/>
            </a:pPr>
            <a:r>
              <a:rPr lang="zh-CN" altLang="en-US" sz="3200" i="0">
                <a:latin typeface="楷体_GB2312" pitchFamily="49" charset="-122"/>
                <a:ea typeface="楷体_GB2312" pitchFamily="49" charset="-122"/>
                <a:cs typeface="Times New Roman" pitchFamily="18" charset="0"/>
              </a:rPr>
              <a:t> 大量数值运算中,有效数位流失是难免的.</a:t>
            </a:r>
          </a:p>
          <a:p>
            <a:pPr algn="l" eaLnBrk="1" hangingPunct="1">
              <a:spcBef>
                <a:spcPct val="30000"/>
              </a:spcBef>
              <a:buSzPct val="80000"/>
              <a:buFont typeface="Wingdings" pitchFamily="2" charset="2"/>
              <a:buChar char="q"/>
            </a:pPr>
            <a:r>
              <a:rPr lang="zh-CN" altLang="en-US" sz="3200" i="0">
                <a:latin typeface="楷体_GB2312" pitchFamily="49" charset="-122"/>
                <a:ea typeface="楷体_GB2312" pitchFamily="49" charset="-122"/>
                <a:cs typeface="Times New Roman" pitchFamily="18" charset="0"/>
              </a:rPr>
              <a:t> 由于舍入误差估计的困难性，粗略的做法是按照预定精度用多取若干位的数值计算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19557"/>
                                        </p:tgtEl>
                                        <p:attrNameLst>
                                          <p:attrName>style.visibility</p:attrName>
                                        </p:attrNameLst>
                                      </p:cBhvr>
                                      <p:to>
                                        <p:strVal val="visible"/>
                                      </p:to>
                                    </p:set>
                                    <p:animEffect transition="in" filter="box(in)">
                                      <p:cBhvr>
                                        <p:cTn id="7" dur="500"/>
                                        <p:tgtEl>
                                          <p:spTgt spid="919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19558"/>
                                        </p:tgtEl>
                                        <p:attrNameLst>
                                          <p:attrName>style.visibility</p:attrName>
                                        </p:attrNameLst>
                                      </p:cBhvr>
                                      <p:to>
                                        <p:strVal val="visible"/>
                                      </p:to>
                                    </p:set>
                                    <p:animEffect transition="in" filter="box(in)">
                                      <p:cBhvr>
                                        <p:cTn id="12" dur="500"/>
                                        <p:tgtEl>
                                          <p:spTgt spid="919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9557" grpId="0" animBg="1" autoUpdateAnimBg="0"/>
      <p:bldP spid="919558"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ChangeArrowheads="1"/>
          </p:cNvSpPr>
          <p:nvPr>
            <p:ph type="ctrTitle"/>
          </p:nvPr>
        </p:nvSpPr>
        <p:spPr>
          <a:xfrm>
            <a:off x="1096963" y="2136775"/>
            <a:ext cx="7608887" cy="781050"/>
          </a:xfrm>
        </p:spPr>
        <p:txBody>
          <a:bodyPr/>
          <a:lstStyle/>
          <a:p>
            <a:pPr>
              <a:defRPr/>
            </a:pPr>
            <a:r>
              <a:rPr lang="zh-CN" altLang="en-US" sz="5400" dirty="0" smtClean="0"/>
              <a:t>§5  数值计算中的误差</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7FBD21A-225D-4961-AC32-D7427B797CB3}" type="slidenum">
              <a:rPr lang="zh-CN" altLang="en-US" i="0" smtClean="0"/>
              <a:pPr/>
              <a:t>48</a:t>
            </a:fld>
            <a:endParaRPr lang="en-US" altLang="zh-CN" i="0" smtClean="0"/>
          </a:p>
        </p:txBody>
      </p:sp>
      <p:sp>
        <p:nvSpPr>
          <p:cNvPr id="471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ED9834F-C7A2-4F32-91F7-43A9AD003B66}" type="datetime1">
              <a:rPr lang="zh-CN" altLang="en-US" sz="1800" i="0" smtClean="0"/>
              <a:pPr/>
              <a:t>2024/9/8</a:t>
            </a:fld>
            <a:endParaRPr lang="en-US" altLang="zh-CN" sz="1000" i="0" smtClean="0"/>
          </a:p>
        </p:txBody>
      </p:sp>
      <p:sp>
        <p:nvSpPr>
          <p:cNvPr id="806914" name="Rectangle 2"/>
          <p:cNvSpPr>
            <a:spLocks noGrp="1" noChangeArrowheads="1"/>
          </p:cNvSpPr>
          <p:nvPr>
            <p:ph type="title"/>
          </p:nvPr>
        </p:nvSpPr>
        <p:spPr>
          <a:xfrm>
            <a:off x="609600" y="228600"/>
            <a:ext cx="7759700" cy="658813"/>
          </a:xfrm>
        </p:spPr>
        <p:txBody>
          <a:bodyPr/>
          <a:lstStyle/>
          <a:p>
            <a:pPr>
              <a:defRPr/>
            </a:pPr>
            <a:r>
              <a:rPr lang="zh-CN" altLang="en-US" smtClean="0"/>
              <a:t>数值方法解题的一般过程</a:t>
            </a:r>
          </a:p>
        </p:txBody>
      </p:sp>
      <p:sp>
        <p:nvSpPr>
          <p:cNvPr id="47109" name="Rectangle 3"/>
          <p:cNvSpPr>
            <a:spLocks noGrp="1" noChangeArrowheads="1"/>
          </p:cNvSpPr>
          <p:nvPr>
            <p:ph type="body" idx="1"/>
          </p:nvPr>
        </p:nvSpPr>
        <p:spPr>
          <a:xfrm>
            <a:off x="650875" y="1143000"/>
            <a:ext cx="8820150" cy="1654175"/>
          </a:xfrm>
        </p:spPr>
        <p:txBody>
          <a:bodyPr/>
          <a:lstStyle/>
          <a:p>
            <a:pPr>
              <a:buFont typeface="Wingdings" pitchFamily="2" charset="2"/>
              <a:buNone/>
            </a:pPr>
            <a:r>
              <a:rPr lang="zh-CN" altLang="en-US" sz="3200" smtClean="0"/>
              <a:t>1. 对于要解决的问题建立数学模型</a:t>
            </a:r>
          </a:p>
          <a:p>
            <a:pPr>
              <a:buFont typeface="Wingdings" pitchFamily="2" charset="2"/>
              <a:buNone/>
            </a:pPr>
            <a:r>
              <a:rPr lang="zh-CN" altLang="en-US" sz="3200" smtClean="0"/>
              <a:t>2. 研究用于求解该数学问题近似解的算法和过程</a:t>
            </a:r>
          </a:p>
          <a:p>
            <a:pPr>
              <a:buFont typeface="Wingdings" pitchFamily="2" charset="2"/>
              <a:buNone/>
            </a:pPr>
            <a:r>
              <a:rPr lang="zh-CN" altLang="en-US" sz="3200" smtClean="0"/>
              <a:t>3. 按照2进行计算，得到计算结果</a:t>
            </a:r>
            <a:endParaRPr lang="zh-CN" altLang="zh-CN" sz="3200" smtClean="0"/>
          </a:p>
        </p:txBody>
      </p:sp>
      <p:sp>
        <p:nvSpPr>
          <p:cNvPr id="806916" name="AutoShape 4"/>
          <p:cNvSpPr>
            <a:spLocks noChangeArrowheads="1"/>
          </p:cNvSpPr>
          <p:nvPr/>
        </p:nvSpPr>
        <p:spPr bwMode="auto">
          <a:xfrm>
            <a:off x="762000" y="3200400"/>
            <a:ext cx="8686800" cy="2895600"/>
          </a:xfrm>
          <a:prstGeom prst="homePlate">
            <a:avLst>
              <a:gd name="adj" fmla="val 53264"/>
            </a:avLst>
          </a:prstGeom>
          <a:solidFill>
            <a:schemeClr val="accent2"/>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2"/>
            </a:extrusionClr>
          </a:sp3d>
        </p:spPr>
        <p:txBody>
          <a:bodyPr anchor="ctr">
            <a:spAutoFit/>
            <a:flatTx/>
          </a:bodyPr>
          <a:lstStyle/>
          <a:p>
            <a:endParaRPr lang="zh-CN" altLang="en-US"/>
          </a:p>
        </p:txBody>
      </p:sp>
      <p:graphicFrame>
        <p:nvGraphicFramePr>
          <p:cNvPr id="806917" name="Object 5"/>
          <p:cNvGraphicFramePr>
            <a:graphicFrameLocks noChangeAspect="1"/>
          </p:cNvGraphicFramePr>
          <p:nvPr/>
        </p:nvGraphicFramePr>
        <p:xfrm>
          <a:off x="1857375" y="3773488"/>
          <a:ext cx="903288" cy="1781175"/>
        </p:xfrm>
        <a:graphic>
          <a:graphicData uri="http://schemas.openxmlformats.org/presentationml/2006/ole">
            <mc:AlternateContent xmlns:mc="http://schemas.openxmlformats.org/markup-compatibility/2006">
              <mc:Choice xmlns:v="urn:schemas-microsoft-com:vml" Requires="v">
                <p:oleObj spid="_x0000_s47281" name="剪辑" r:id="rId4" imgW="3032125" imgH="4533900" progId="MS_ClipArt_Gallery.2">
                  <p:embed/>
                </p:oleObj>
              </mc:Choice>
              <mc:Fallback>
                <p:oleObj name="剪辑" r:id="rId4" imgW="3032125" imgH="4533900" progId="MS_ClipArt_Gallery.2">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75" y="3773488"/>
                        <a:ext cx="903288" cy="178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18" name="Object 6"/>
          <p:cNvGraphicFramePr>
            <a:graphicFrameLocks noChangeAspect="1"/>
          </p:cNvGraphicFramePr>
          <p:nvPr/>
        </p:nvGraphicFramePr>
        <p:xfrm>
          <a:off x="4086225" y="3775075"/>
          <a:ext cx="901700" cy="1746250"/>
        </p:xfrm>
        <a:graphic>
          <a:graphicData uri="http://schemas.openxmlformats.org/presentationml/2006/ole">
            <mc:AlternateContent xmlns:mc="http://schemas.openxmlformats.org/markup-compatibility/2006">
              <mc:Choice xmlns:v="urn:schemas-microsoft-com:vml" Requires="v">
                <p:oleObj spid="_x0000_s47282" name="剪辑" r:id="rId6" imgW="3032125" imgH="4533900" progId="MS_ClipArt_Gallery.2">
                  <p:embed/>
                </p:oleObj>
              </mc:Choice>
              <mc:Fallback>
                <p:oleObj name="剪辑" r:id="rId6" imgW="3032125" imgH="4533900" progId="MS_ClipArt_Gallery.2">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6225" y="3775075"/>
                        <a:ext cx="901700" cy="174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19" name="Object 7"/>
          <p:cNvGraphicFramePr>
            <a:graphicFrameLocks noChangeAspect="1"/>
          </p:cNvGraphicFramePr>
          <p:nvPr/>
        </p:nvGraphicFramePr>
        <p:xfrm>
          <a:off x="6435725" y="3775075"/>
          <a:ext cx="903288" cy="1746250"/>
        </p:xfrm>
        <a:graphic>
          <a:graphicData uri="http://schemas.openxmlformats.org/presentationml/2006/ole">
            <mc:AlternateContent xmlns:mc="http://schemas.openxmlformats.org/markup-compatibility/2006">
              <mc:Choice xmlns:v="urn:schemas-microsoft-com:vml" Requires="v">
                <p:oleObj spid="_x0000_s47283" name="剪辑" r:id="rId7" imgW="3032125" imgH="4533900" progId="MS_ClipArt_Gallery.2">
                  <p:embed/>
                </p:oleObj>
              </mc:Choice>
              <mc:Fallback>
                <p:oleObj name="剪辑" r:id="rId7" imgW="3032125" imgH="4533900" progId="MS_ClipArt_Gallery.2">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5725" y="3775075"/>
                        <a:ext cx="903288" cy="174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0" name="Object 8"/>
          <p:cNvGraphicFramePr>
            <a:graphicFrameLocks noChangeAspect="1"/>
          </p:cNvGraphicFramePr>
          <p:nvPr/>
        </p:nvGraphicFramePr>
        <p:xfrm>
          <a:off x="1066800" y="4665663"/>
          <a:ext cx="811213" cy="812800"/>
        </p:xfrm>
        <a:graphic>
          <a:graphicData uri="http://schemas.openxmlformats.org/presentationml/2006/ole">
            <mc:AlternateContent xmlns:mc="http://schemas.openxmlformats.org/markup-compatibility/2006">
              <mc:Choice xmlns:v="urn:schemas-microsoft-com:vml" Requires="v">
                <p:oleObj spid="_x0000_s47284" name="剪辑" r:id="rId8" imgW="3452813" imgH="3459163" progId="MS_ClipArt_Gallery.2">
                  <p:embed/>
                </p:oleObj>
              </mc:Choice>
              <mc:Fallback>
                <p:oleObj name="剪辑" r:id="rId8" imgW="3452813" imgH="3459163" progId="MS_ClipArt_Gallery.2">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4665663"/>
                        <a:ext cx="811213"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1" name="Object 9"/>
          <p:cNvGraphicFramePr>
            <a:graphicFrameLocks noChangeAspect="1"/>
          </p:cNvGraphicFramePr>
          <p:nvPr/>
        </p:nvGraphicFramePr>
        <p:xfrm>
          <a:off x="3270250" y="5249863"/>
          <a:ext cx="811213" cy="812800"/>
        </p:xfrm>
        <a:graphic>
          <a:graphicData uri="http://schemas.openxmlformats.org/presentationml/2006/ole">
            <mc:AlternateContent xmlns:mc="http://schemas.openxmlformats.org/markup-compatibility/2006">
              <mc:Choice xmlns:v="urn:schemas-microsoft-com:vml" Requires="v">
                <p:oleObj spid="_x0000_s47285" name="剪辑" r:id="rId10" imgW="3452813" imgH="3459163" progId="MS_ClipArt_Gallery.2">
                  <p:embed/>
                </p:oleObj>
              </mc:Choice>
              <mc:Fallback>
                <p:oleObj name="剪辑" r:id="rId10" imgW="3452813" imgH="3459163" progId="MS_ClipArt_Gallery.2">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0250" y="5249863"/>
                        <a:ext cx="811213"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2" name="Object 10"/>
          <p:cNvGraphicFramePr>
            <a:graphicFrameLocks noChangeAspect="1"/>
          </p:cNvGraphicFramePr>
          <p:nvPr/>
        </p:nvGraphicFramePr>
        <p:xfrm>
          <a:off x="5499100" y="5249863"/>
          <a:ext cx="811213" cy="812800"/>
        </p:xfrm>
        <a:graphic>
          <a:graphicData uri="http://schemas.openxmlformats.org/presentationml/2006/ole">
            <mc:AlternateContent xmlns:mc="http://schemas.openxmlformats.org/markup-compatibility/2006">
              <mc:Choice xmlns:v="urn:schemas-microsoft-com:vml" Requires="v">
                <p:oleObj spid="_x0000_s47286" name="剪辑" r:id="rId11" imgW="3452813" imgH="3459163" progId="MS_ClipArt_Gallery.2">
                  <p:embed/>
                </p:oleObj>
              </mc:Choice>
              <mc:Fallback>
                <p:oleObj name="剪辑" r:id="rId11" imgW="3452813" imgH="3459163" progId="MS_ClipArt_Gallery.2">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99100" y="5249863"/>
                        <a:ext cx="811213"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3" name="Object 11"/>
          <p:cNvGraphicFramePr>
            <a:graphicFrameLocks noChangeAspect="1"/>
          </p:cNvGraphicFramePr>
          <p:nvPr/>
        </p:nvGraphicFramePr>
        <p:xfrm>
          <a:off x="7615238" y="4741863"/>
          <a:ext cx="811212" cy="812800"/>
        </p:xfrm>
        <a:graphic>
          <a:graphicData uri="http://schemas.openxmlformats.org/presentationml/2006/ole">
            <mc:AlternateContent xmlns:mc="http://schemas.openxmlformats.org/markup-compatibility/2006">
              <mc:Choice xmlns:v="urn:schemas-microsoft-com:vml" Requires="v">
                <p:oleObj spid="_x0000_s47287" name="剪辑" r:id="rId12" imgW="3452813" imgH="3459163" progId="MS_ClipArt_Gallery.2">
                  <p:embed/>
                </p:oleObj>
              </mc:Choice>
              <mc:Fallback>
                <p:oleObj name="剪辑" r:id="rId12" imgW="3452813" imgH="3459163" progId="MS_ClipArt_Gallery.2">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15238" y="4741863"/>
                        <a:ext cx="8112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2"/>
          <p:cNvGrpSpPr>
            <a:grpSpLocks/>
          </p:cNvGrpSpPr>
          <p:nvPr/>
        </p:nvGrpSpPr>
        <p:grpSpPr bwMode="auto">
          <a:xfrm>
            <a:off x="1609725" y="3395663"/>
            <a:ext cx="3054350" cy="1701800"/>
            <a:chOff x="887" y="1664"/>
            <a:chExt cx="1776" cy="1072"/>
          </a:xfrm>
        </p:grpSpPr>
        <p:sp>
          <p:nvSpPr>
            <p:cNvPr id="47125" name="Text Box 13"/>
            <p:cNvSpPr txBox="1">
              <a:spLocks noChangeArrowheads="1"/>
            </p:cNvSpPr>
            <p:nvPr/>
          </p:nvSpPr>
          <p:spPr bwMode="auto">
            <a:xfrm>
              <a:off x="1344" y="2140"/>
              <a:ext cx="1319"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2800" i="0">
                  <a:solidFill>
                    <a:schemeClr val="tx2"/>
                  </a:solidFill>
                  <a:latin typeface="宋体" pitchFamily="2" charset="-122"/>
                </a:rPr>
                <a:t>建立数</a:t>
              </a:r>
            </a:p>
            <a:p>
              <a:r>
                <a:rPr lang="zh-CN" altLang="en-US" sz="2800" i="0">
                  <a:solidFill>
                    <a:schemeClr val="tx2"/>
                  </a:solidFill>
                  <a:latin typeface="宋体" pitchFamily="2" charset="-122"/>
                </a:rPr>
                <a:t>学模型</a:t>
              </a:r>
              <a:endParaRPr lang="zh-CN" altLang="en-US" sz="2800" i="0">
                <a:solidFill>
                  <a:schemeClr val="tx2"/>
                </a:solidFill>
                <a:latin typeface="Arial Narrow" pitchFamily="34" charset="0"/>
                <a:ea typeface="PMingLiU" pitchFamily="18" charset="-120"/>
              </a:endParaRPr>
            </a:p>
          </p:txBody>
        </p:sp>
        <p:sp>
          <p:nvSpPr>
            <p:cNvPr id="47126" name="AutoShape 14"/>
            <p:cNvSpPr>
              <a:spLocks noChangeArrowheads="1"/>
            </p:cNvSpPr>
            <p:nvPr/>
          </p:nvSpPr>
          <p:spPr bwMode="auto">
            <a:xfrm>
              <a:off x="887" y="1664"/>
              <a:ext cx="1119" cy="434"/>
            </a:xfrm>
            <a:prstGeom prst="curvedDownArrow">
              <a:avLst>
                <a:gd name="adj1" fmla="val 34939"/>
                <a:gd name="adj2" fmla="val 86362"/>
                <a:gd name="adj3" fmla="val 3087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grpSp>
        <p:nvGrpSpPr>
          <p:cNvPr id="3" name="Group 15"/>
          <p:cNvGrpSpPr>
            <a:grpSpLocks/>
          </p:cNvGrpSpPr>
          <p:nvPr/>
        </p:nvGrpSpPr>
        <p:grpSpPr bwMode="auto">
          <a:xfrm>
            <a:off x="3706813" y="3395663"/>
            <a:ext cx="2916237" cy="1778000"/>
            <a:chOff x="2050" y="1664"/>
            <a:chExt cx="1696" cy="1120"/>
          </a:xfrm>
        </p:grpSpPr>
        <p:sp>
          <p:nvSpPr>
            <p:cNvPr id="47123" name="Text Box 16"/>
            <p:cNvSpPr txBox="1">
              <a:spLocks noChangeArrowheads="1"/>
            </p:cNvSpPr>
            <p:nvPr/>
          </p:nvSpPr>
          <p:spPr bwMode="auto">
            <a:xfrm>
              <a:off x="2808" y="2188"/>
              <a:ext cx="938"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2800" i="0">
                  <a:solidFill>
                    <a:schemeClr val="tx2"/>
                  </a:solidFill>
                  <a:latin typeface="宋体" pitchFamily="2" charset="-122"/>
                </a:rPr>
                <a:t>转化为</a:t>
              </a:r>
            </a:p>
            <a:p>
              <a:r>
                <a:rPr lang="zh-CN" altLang="en-US" sz="2800" i="0">
                  <a:solidFill>
                    <a:schemeClr val="tx2"/>
                  </a:solidFill>
                  <a:latin typeface="宋体" pitchFamily="2" charset="-122"/>
                </a:rPr>
                <a:t>数值公式</a:t>
              </a:r>
            </a:p>
          </p:txBody>
        </p:sp>
        <p:sp>
          <p:nvSpPr>
            <p:cNvPr id="47124" name="AutoShape 17"/>
            <p:cNvSpPr>
              <a:spLocks noChangeArrowheads="1"/>
            </p:cNvSpPr>
            <p:nvPr/>
          </p:nvSpPr>
          <p:spPr bwMode="auto">
            <a:xfrm>
              <a:off x="2050" y="1664"/>
              <a:ext cx="1118" cy="434"/>
            </a:xfrm>
            <a:prstGeom prst="curvedDownArrow">
              <a:avLst>
                <a:gd name="adj1" fmla="val 34908"/>
                <a:gd name="adj2" fmla="val 86285"/>
                <a:gd name="adj3" fmla="val 3087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grpSp>
        <p:nvGrpSpPr>
          <p:cNvPr id="4" name="Group 18"/>
          <p:cNvGrpSpPr>
            <a:grpSpLocks/>
          </p:cNvGrpSpPr>
          <p:nvPr/>
        </p:nvGrpSpPr>
        <p:grpSpPr bwMode="auto">
          <a:xfrm>
            <a:off x="6035675" y="3395663"/>
            <a:ext cx="2943225" cy="1271587"/>
            <a:chOff x="3404" y="1664"/>
            <a:chExt cx="1712" cy="801"/>
          </a:xfrm>
        </p:grpSpPr>
        <p:sp>
          <p:nvSpPr>
            <p:cNvPr id="47121" name="Text Box 19"/>
            <p:cNvSpPr txBox="1">
              <a:spLocks noChangeArrowheads="1"/>
            </p:cNvSpPr>
            <p:nvPr/>
          </p:nvSpPr>
          <p:spPr bwMode="auto">
            <a:xfrm>
              <a:off x="4178" y="2138"/>
              <a:ext cx="9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r>
                <a:rPr lang="zh-CN" altLang="en-US" sz="2800" i="0">
                  <a:solidFill>
                    <a:schemeClr val="tx2"/>
                  </a:solidFill>
                  <a:latin typeface="宋体" pitchFamily="2" charset="-122"/>
                </a:rPr>
                <a:t>进行计算</a:t>
              </a:r>
            </a:p>
          </p:txBody>
        </p:sp>
        <p:sp>
          <p:nvSpPr>
            <p:cNvPr id="47122" name="AutoShape 20"/>
            <p:cNvSpPr>
              <a:spLocks noChangeArrowheads="1"/>
            </p:cNvSpPr>
            <p:nvPr/>
          </p:nvSpPr>
          <p:spPr bwMode="auto">
            <a:xfrm>
              <a:off x="3404" y="1664"/>
              <a:ext cx="1119" cy="434"/>
            </a:xfrm>
            <a:prstGeom prst="curvedDownArrow">
              <a:avLst>
                <a:gd name="adj1" fmla="val 34939"/>
                <a:gd name="adj2" fmla="val 86362"/>
                <a:gd name="adj3" fmla="val 3087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6916"/>
                                        </p:tgtEl>
                                        <p:attrNameLst>
                                          <p:attrName>style.visibility</p:attrName>
                                        </p:attrNameLst>
                                      </p:cBhvr>
                                      <p:to>
                                        <p:strVal val="visible"/>
                                      </p:to>
                                    </p:set>
                                    <p:anim calcmode="lin" valueType="num">
                                      <p:cBhvr additive="base">
                                        <p:cTn id="7" dur="500" fill="hold"/>
                                        <p:tgtEl>
                                          <p:spTgt spid="806916"/>
                                        </p:tgtEl>
                                        <p:attrNameLst>
                                          <p:attrName>ppt_x</p:attrName>
                                        </p:attrNameLst>
                                      </p:cBhvr>
                                      <p:tavLst>
                                        <p:tav tm="0">
                                          <p:val>
                                            <p:strVal val="0-#ppt_w/2"/>
                                          </p:val>
                                        </p:tav>
                                        <p:tav tm="100000">
                                          <p:val>
                                            <p:strVal val="#ppt_x"/>
                                          </p:val>
                                        </p:tav>
                                      </p:tavLst>
                                    </p:anim>
                                    <p:anim calcmode="lin" valueType="num">
                                      <p:cBhvr additive="base">
                                        <p:cTn id="8" dur="500" fill="hold"/>
                                        <p:tgtEl>
                                          <p:spTgt spid="80691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nodeType="afterEffect">
                                  <p:stCondLst>
                                    <p:cond delay="0"/>
                                  </p:stCondLst>
                                  <p:childTnLst>
                                    <p:set>
                                      <p:cBhvr>
                                        <p:cTn id="11" dur="1" fill="hold">
                                          <p:stCondLst>
                                            <p:cond delay="499"/>
                                          </p:stCondLst>
                                        </p:cTn>
                                        <p:tgtEl>
                                          <p:spTgt spid="806920"/>
                                        </p:tgtEl>
                                        <p:attrNameLst>
                                          <p:attrName>style.visibility</p:attrName>
                                        </p:attrNameLst>
                                      </p:cBhvr>
                                      <p:to>
                                        <p:strVal val="visible"/>
                                      </p:to>
                                    </p:se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806921"/>
                                        </p:tgtEl>
                                        <p:attrNameLst>
                                          <p:attrName>style.visibility</p:attrName>
                                        </p:attrNameLst>
                                      </p:cBhvr>
                                      <p:to>
                                        <p:strVal val="visible"/>
                                      </p:to>
                                    </p:set>
                                    <p:animEffect transition="in" filter="dissolve">
                                      <p:cBhvr>
                                        <p:cTn id="15" dur="500"/>
                                        <p:tgtEl>
                                          <p:spTgt spid="806921"/>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806922"/>
                                        </p:tgtEl>
                                        <p:attrNameLst>
                                          <p:attrName>style.visibility</p:attrName>
                                        </p:attrNameLst>
                                      </p:cBhvr>
                                      <p:to>
                                        <p:strVal val="visible"/>
                                      </p:to>
                                    </p:set>
                                    <p:animEffect transition="in" filter="dissolve">
                                      <p:cBhvr>
                                        <p:cTn id="19" dur="500"/>
                                        <p:tgtEl>
                                          <p:spTgt spid="806922"/>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806923"/>
                                        </p:tgtEl>
                                        <p:attrNameLst>
                                          <p:attrName>style.visibility</p:attrName>
                                        </p:attrNameLst>
                                      </p:cBhvr>
                                      <p:to>
                                        <p:strVal val="visible"/>
                                      </p:to>
                                    </p:set>
                                    <p:animEffect transition="in" filter="dissolve">
                                      <p:cBhvr>
                                        <p:cTn id="23" dur="500"/>
                                        <p:tgtEl>
                                          <p:spTgt spid="806923"/>
                                        </p:tgtEl>
                                      </p:cBhvr>
                                    </p:animEffect>
                                  </p:childTnLst>
                                </p:cTn>
                              </p:par>
                            </p:childTnLst>
                          </p:cTn>
                        </p:par>
                        <p:par>
                          <p:cTn id="24" fill="hold" nodeType="afterGroup">
                            <p:stCondLst>
                              <p:cond delay="2500"/>
                            </p:stCondLst>
                            <p:childTnLst>
                              <p:par>
                                <p:cTn id="25" presetID="2" presetClass="entr" presetSubtype="9" fill="hold" nodeType="afterEffect">
                                  <p:stCondLst>
                                    <p:cond delay="0"/>
                                  </p:stCondLst>
                                  <p:childTnLst>
                                    <p:set>
                                      <p:cBhvr>
                                        <p:cTn id="26" dur="1" fill="hold">
                                          <p:stCondLst>
                                            <p:cond delay="0"/>
                                          </p:stCondLst>
                                        </p:cTn>
                                        <p:tgtEl>
                                          <p:spTgt spid="806917"/>
                                        </p:tgtEl>
                                        <p:attrNameLst>
                                          <p:attrName>style.visibility</p:attrName>
                                        </p:attrNameLst>
                                      </p:cBhvr>
                                      <p:to>
                                        <p:strVal val="visible"/>
                                      </p:to>
                                    </p:set>
                                    <p:anim calcmode="lin" valueType="num">
                                      <p:cBhvr additive="base">
                                        <p:cTn id="27" dur="500" fill="hold"/>
                                        <p:tgtEl>
                                          <p:spTgt spid="806917"/>
                                        </p:tgtEl>
                                        <p:attrNameLst>
                                          <p:attrName>ppt_x</p:attrName>
                                        </p:attrNameLst>
                                      </p:cBhvr>
                                      <p:tavLst>
                                        <p:tav tm="0">
                                          <p:val>
                                            <p:strVal val="0-#ppt_w/2"/>
                                          </p:val>
                                        </p:tav>
                                        <p:tav tm="100000">
                                          <p:val>
                                            <p:strVal val="#ppt_x"/>
                                          </p:val>
                                        </p:tav>
                                      </p:tavLst>
                                    </p:anim>
                                    <p:anim calcmode="lin" valueType="num">
                                      <p:cBhvr additive="base">
                                        <p:cTn id="28" dur="500" fill="hold"/>
                                        <p:tgtEl>
                                          <p:spTgt spid="806917"/>
                                        </p:tgtEl>
                                        <p:attrNameLst>
                                          <p:attrName>ppt_y</p:attrName>
                                        </p:attrNameLst>
                                      </p:cBhvr>
                                      <p:tavLst>
                                        <p:tav tm="0">
                                          <p:val>
                                            <p:strVal val="0-#ppt_h/2"/>
                                          </p:val>
                                        </p:tav>
                                        <p:tav tm="100000">
                                          <p:val>
                                            <p:strVal val="#ppt_y"/>
                                          </p:val>
                                        </p:tav>
                                      </p:tavLst>
                                    </p:anim>
                                  </p:childTnLst>
                                </p:cTn>
                              </p:par>
                            </p:childTnLst>
                          </p:cTn>
                        </p:par>
                        <p:par>
                          <p:cTn id="29" fill="hold" nodeType="afterGroup">
                            <p:stCondLst>
                              <p:cond delay="3000"/>
                            </p:stCondLst>
                            <p:childTnLst>
                              <p:par>
                                <p:cTn id="30" presetID="2" presetClass="entr" presetSubtype="3" fill="hold" nodeType="afterEffect">
                                  <p:stCondLst>
                                    <p:cond delay="0"/>
                                  </p:stCondLst>
                                  <p:childTnLst>
                                    <p:set>
                                      <p:cBhvr>
                                        <p:cTn id="31" dur="1" fill="hold">
                                          <p:stCondLst>
                                            <p:cond delay="0"/>
                                          </p:stCondLst>
                                        </p:cTn>
                                        <p:tgtEl>
                                          <p:spTgt spid="806919"/>
                                        </p:tgtEl>
                                        <p:attrNameLst>
                                          <p:attrName>style.visibility</p:attrName>
                                        </p:attrNameLst>
                                      </p:cBhvr>
                                      <p:to>
                                        <p:strVal val="visible"/>
                                      </p:to>
                                    </p:set>
                                    <p:anim calcmode="lin" valueType="num">
                                      <p:cBhvr additive="base">
                                        <p:cTn id="32" dur="500" fill="hold"/>
                                        <p:tgtEl>
                                          <p:spTgt spid="806919"/>
                                        </p:tgtEl>
                                        <p:attrNameLst>
                                          <p:attrName>ppt_x</p:attrName>
                                        </p:attrNameLst>
                                      </p:cBhvr>
                                      <p:tavLst>
                                        <p:tav tm="0">
                                          <p:val>
                                            <p:strVal val="1+#ppt_w/2"/>
                                          </p:val>
                                        </p:tav>
                                        <p:tav tm="100000">
                                          <p:val>
                                            <p:strVal val="#ppt_x"/>
                                          </p:val>
                                        </p:tav>
                                      </p:tavLst>
                                    </p:anim>
                                    <p:anim calcmode="lin" valueType="num">
                                      <p:cBhvr additive="base">
                                        <p:cTn id="33" dur="500" fill="hold"/>
                                        <p:tgtEl>
                                          <p:spTgt spid="806919"/>
                                        </p:tgtEl>
                                        <p:attrNameLst>
                                          <p:attrName>ppt_y</p:attrName>
                                        </p:attrNameLst>
                                      </p:cBhvr>
                                      <p:tavLst>
                                        <p:tav tm="0">
                                          <p:val>
                                            <p:strVal val="0-#ppt_h/2"/>
                                          </p:val>
                                        </p:tav>
                                        <p:tav tm="100000">
                                          <p:val>
                                            <p:strVal val="#ppt_y"/>
                                          </p:val>
                                        </p:tav>
                                      </p:tavLst>
                                    </p:anim>
                                  </p:childTnLst>
                                </p:cTn>
                              </p:par>
                            </p:childTnLst>
                          </p:cTn>
                        </p:par>
                        <p:par>
                          <p:cTn id="34" fill="hold" nodeType="afterGroup">
                            <p:stCondLst>
                              <p:cond delay="3500"/>
                            </p:stCondLst>
                            <p:childTnLst>
                              <p:par>
                                <p:cTn id="35" presetID="2" presetClass="entr" presetSubtype="1" fill="hold" nodeType="afterEffect">
                                  <p:stCondLst>
                                    <p:cond delay="0"/>
                                  </p:stCondLst>
                                  <p:childTnLst>
                                    <p:set>
                                      <p:cBhvr>
                                        <p:cTn id="36" dur="1" fill="hold">
                                          <p:stCondLst>
                                            <p:cond delay="0"/>
                                          </p:stCondLst>
                                        </p:cTn>
                                        <p:tgtEl>
                                          <p:spTgt spid="806918"/>
                                        </p:tgtEl>
                                        <p:attrNameLst>
                                          <p:attrName>style.visibility</p:attrName>
                                        </p:attrNameLst>
                                      </p:cBhvr>
                                      <p:to>
                                        <p:strVal val="visible"/>
                                      </p:to>
                                    </p:set>
                                    <p:anim calcmode="lin" valueType="num">
                                      <p:cBhvr additive="base">
                                        <p:cTn id="37" dur="500" fill="hold"/>
                                        <p:tgtEl>
                                          <p:spTgt spid="806918"/>
                                        </p:tgtEl>
                                        <p:attrNameLst>
                                          <p:attrName>ppt_x</p:attrName>
                                        </p:attrNameLst>
                                      </p:cBhvr>
                                      <p:tavLst>
                                        <p:tav tm="0">
                                          <p:val>
                                            <p:strVal val="#ppt_x"/>
                                          </p:val>
                                        </p:tav>
                                        <p:tav tm="100000">
                                          <p:val>
                                            <p:strVal val="#ppt_x"/>
                                          </p:val>
                                        </p:tav>
                                      </p:tavLst>
                                    </p:anim>
                                    <p:anim calcmode="lin" valueType="num">
                                      <p:cBhvr additive="base">
                                        <p:cTn id="38" dur="500" fill="hold"/>
                                        <p:tgtEl>
                                          <p:spTgt spid="806918"/>
                                        </p:tgtEl>
                                        <p:attrNameLst>
                                          <p:attrName>ppt_y</p:attrName>
                                        </p:attrNameLst>
                                      </p:cBhvr>
                                      <p:tavLst>
                                        <p:tav tm="0">
                                          <p:val>
                                            <p:strVal val="0-#ppt_h/2"/>
                                          </p:val>
                                        </p:tav>
                                        <p:tav tm="100000">
                                          <p:val>
                                            <p:strVal val="#ppt_y"/>
                                          </p:val>
                                        </p:tav>
                                      </p:tavLst>
                                    </p:anim>
                                  </p:childTnLst>
                                </p:cTn>
                              </p:par>
                            </p:childTnLst>
                          </p:cTn>
                        </p:par>
                        <p:par>
                          <p:cTn id="39" fill="hold" nodeType="afterGroup">
                            <p:stCondLst>
                              <p:cond delay="4000"/>
                            </p:stCondLst>
                            <p:childTnLst>
                              <p:par>
                                <p:cTn id="40" presetID="17" presetClass="entr" presetSubtype="8" fill="hold"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500" fill="hold"/>
                                        <p:tgtEl>
                                          <p:spTgt spid="2"/>
                                        </p:tgtEl>
                                        <p:attrNameLst>
                                          <p:attrName>ppt_x</p:attrName>
                                        </p:attrNameLst>
                                      </p:cBhvr>
                                      <p:tavLst>
                                        <p:tav tm="0">
                                          <p:val>
                                            <p:strVal val="#ppt_x-#ppt_w/2"/>
                                          </p:val>
                                        </p:tav>
                                        <p:tav tm="100000">
                                          <p:val>
                                            <p:strVal val="#ppt_x"/>
                                          </p:val>
                                        </p:tav>
                                      </p:tavLst>
                                    </p:anim>
                                    <p:anim calcmode="lin" valueType="num">
                                      <p:cBhvr>
                                        <p:cTn id="43" dur="500" fill="hold"/>
                                        <p:tgtEl>
                                          <p:spTgt spid="2"/>
                                        </p:tgtEl>
                                        <p:attrNameLst>
                                          <p:attrName>ppt_y</p:attrName>
                                        </p:attrNameLst>
                                      </p:cBhvr>
                                      <p:tavLst>
                                        <p:tav tm="0">
                                          <p:val>
                                            <p:strVal val="#ppt_y"/>
                                          </p:val>
                                        </p:tav>
                                        <p:tav tm="100000">
                                          <p:val>
                                            <p:strVal val="#ppt_y"/>
                                          </p:val>
                                        </p:tav>
                                      </p:tavLst>
                                    </p:anim>
                                    <p:anim calcmode="lin" valueType="num">
                                      <p:cBhvr>
                                        <p:cTn id="44" dur="500" fill="hold"/>
                                        <p:tgtEl>
                                          <p:spTgt spid="2"/>
                                        </p:tgtEl>
                                        <p:attrNameLst>
                                          <p:attrName>ppt_w</p:attrName>
                                        </p:attrNameLst>
                                      </p:cBhvr>
                                      <p:tavLst>
                                        <p:tav tm="0">
                                          <p:val>
                                            <p:fltVal val="0"/>
                                          </p:val>
                                        </p:tav>
                                        <p:tav tm="100000">
                                          <p:val>
                                            <p:strVal val="#ppt_w"/>
                                          </p:val>
                                        </p:tav>
                                      </p:tavLst>
                                    </p:anim>
                                    <p:anim calcmode="lin" valueType="num">
                                      <p:cBhvr>
                                        <p:cTn id="45" dur="500" fill="hold"/>
                                        <p:tgtEl>
                                          <p:spTgt spid="2"/>
                                        </p:tgtEl>
                                        <p:attrNameLst>
                                          <p:attrName>ppt_h</p:attrName>
                                        </p:attrNameLst>
                                      </p:cBhvr>
                                      <p:tavLst>
                                        <p:tav tm="0">
                                          <p:val>
                                            <p:strVal val="#ppt_h"/>
                                          </p:val>
                                        </p:tav>
                                        <p:tav tm="100000">
                                          <p:val>
                                            <p:strVal val="#ppt_h"/>
                                          </p:val>
                                        </p:tav>
                                      </p:tavLst>
                                    </p:anim>
                                  </p:childTnLst>
                                </p:cTn>
                              </p:par>
                            </p:childTnLst>
                          </p:cTn>
                        </p:par>
                        <p:par>
                          <p:cTn id="46" fill="hold" nodeType="afterGroup">
                            <p:stCondLst>
                              <p:cond delay="4500"/>
                            </p:stCondLst>
                            <p:childTnLst>
                              <p:par>
                                <p:cTn id="47" presetID="17" presetClass="entr" presetSubtype="8" fill="hold" nodeType="after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ppt_x</p:attrName>
                                        </p:attrNameLst>
                                      </p:cBhvr>
                                      <p:tavLst>
                                        <p:tav tm="0">
                                          <p:val>
                                            <p:strVal val="#ppt_x-#ppt_w/2"/>
                                          </p:val>
                                        </p:tav>
                                        <p:tav tm="100000">
                                          <p:val>
                                            <p:strVal val="#ppt_x"/>
                                          </p:val>
                                        </p:tav>
                                      </p:tavLst>
                                    </p:anim>
                                    <p:anim calcmode="lin" valueType="num">
                                      <p:cBhvr>
                                        <p:cTn id="50" dur="500" fill="hold"/>
                                        <p:tgtEl>
                                          <p:spTgt spid="3"/>
                                        </p:tgtEl>
                                        <p:attrNameLst>
                                          <p:attrName>ppt_y</p:attrName>
                                        </p:attrNameLst>
                                      </p:cBhvr>
                                      <p:tavLst>
                                        <p:tav tm="0">
                                          <p:val>
                                            <p:strVal val="#ppt_y"/>
                                          </p:val>
                                        </p:tav>
                                        <p:tav tm="100000">
                                          <p:val>
                                            <p:strVal val="#ppt_y"/>
                                          </p:val>
                                        </p:tav>
                                      </p:tavLst>
                                    </p:anim>
                                    <p:anim calcmode="lin" valueType="num">
                                      <p:cBhvr>
                                        <p:cTn id="51" dur="500" fill="hold"/>
                                        <p:tgtEl>
                                          <p:spTgt spid="3"/>
                                        </p:tgtEl>
                                        <p:attrNameLst>
                                          <p:attrName>ppt_w</p:attrName>
                                        </p:attrNameLst>
                                      </p:cBhvr>
                                      <p:tavLst>
                                        <p:tav tm="0">
                                          <p:val>
                                            <p:fltVal val="0"/>
                                          </p:val>
                                        </p:tav>
                                        <p:tav tm="100000">
                                          <p:val>
                                            <p:strVal val="#ppt_w"/>
                                          </p:val>
                                        </p:tav>
                                      </p:tavLst>
                                    </p:anim>
                                    <p:anim calcmode="lin" valueType="num">
                                      <p:cBhvr>
                                        <p:cTn id="52" dur="500" fill="hold"/>
                                        <p:tgtEl>
                                          <p:spTgt spid="3"/>
                                        </p:tgtEl>
                                        <p:attrNameLst>
                                          <p:attrName>ppt_h</p:attrName>
                                        </p:attrNameLst>
                                      </p:cBhvr>
                                      <p:tavLst>
                                        <p:tav tm="0">
                                          <p:val>
                                            <p:strVal val="#ppt_h"/>
                                          </p:val>
                                        </p:tav>
                                        <p:tav tm="100000">
                                          <p:val>
                                            <p:strVal val="#ppt_h"/>
                                          </p:val>
                                        </p:tav>
                                      </p:tavLst>
                                    </p:anim>
                                  </p:childTnLst>
                                </p:cTn>
                              </p:par>
                            </p:childTnLst>
                          </p:cTn>
                        </p:par>
                        <p:par>
                          <p:cTn id="53" fill="hold" nodeType="afterGroup">
                            <p:stCondLst>
                              <p:cond delay="5000"/>
                            </p:stCondLst>
                            <p:childTnLst>
                              <p:par>
                                <p:cTn id="54" presetID="17" presetClass="entr" presetSubtype="8" fill="hold" nodeType="after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p:cTn id="56" dur="500" fill="hold"/>
                                        <p:tgtEl>
                                          <p:spTgt spid="4"/>
                                        </p:tgtEl>
                                        <p:attrNameLst>
                                          <p:attrName>ppt_x</p:attrName>
                                        </p:attrNameLst>
                                      </p:cBhvr>
                                      <p:tavLst>
                                        <p:tav tm="0">
                                          <p:val>
                                            <p:strVal val="#ppt_x-#ppt_w/2"/>
                                          </p:val>
                                        </p:tav>
                                        <p:tav tm="100000">
                                          <p:val>
                                            <p:strVal val="#ppt_x"/>
                                          </p:val>
                                        </p:tav>
                                      </p:tavLst>
                                    </p:anim>
                                    <p:anim calcmode="lin" valueType="num">
                                      <p:cBhvr>
                                        <p:cTn id="57" dur="500" fill="hold"/>
                                        <p:tgtEl>
                                          <p:spTgt spid="4"/>
                                        </p:tgtEl>
                                        <p:attrNameLst>
                                          <p:attrName>ppt_y</p:attrName>
                                        </p:attrNameLst>
                                      </p:cBhvr>
                                      <p:tavLst>
                                        <p:tav tm="0">
                                          <p:val>
                                            <p:strVal val="#ppt_y"/>
                                          </p:val>
                                        </p:tav>
                                        <p:tav tm="100000">
                                          <p:val>
                                            <p:strVal val="#ppt_y"/>
                                          </p:val>
                                        </p:tav>
                                      </p:tavLst>
                                    </p:anim>
                                    <p:anim calcmode="lin" valueType="num">
                                      <p:cBhvr>
                                        <p:cTn id="58" dur="500" fill="hold"/>
                                        <p:tgtEl>
                                          <p:spTgt spid="4"/>
                                        </p:tgtEl>
                                        <p:attrNameLst>
                                          <p:attrName>ppt_w</p:attrName>
                                        </p:attrNameLst>
                                      </p:cBhvr>
                                      <p:tavLst>
                                        <p:tav tm="0">
                                          <p:val>
                                            <p:fltVal val="0"/>
                                          </p:val>
                                        </p:tav>
                                        <p:tav tm="100000">
                                          <p:val>
                                            <p:strVal val="#ppt_w"/>
                                          </p:val>
                                        </p:tav>
                                      </p:tavLst>
                                    </p:anim>
                                    <p:anim calcmode="lin" valueType="num">
                                      <p:cBhvr>
                                        <p:cTn id="59"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6"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B85AC12-E0B7-4DAA-B5C1-20BA56251251}" type="slidenum">
              <a:rPr lang="zh-CN" altLang="en-US" i="0" smtClean="0"/>
              <a:pPr/>
              <a:t>49</a:t>
            </a:fld>
            <a:endParaRPr lang="en-US" altLang="zh-CN" i="0" smtClean="0"/>
          </a:p>
        </p:txBody>
      </p:sp>
      <p:sp>
        <p:nvSpPr>
          <p:cNvPr id="481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E989FE4-D090-4918-BFC8-26BE4944BEBF}" type="datetime1">
              <a:rPr lang="zh-CN" altLang="en-US" sz="1800" i="0" smtClean="0"/>
              <a:pPr/>
              <a:t>2024/9/8</a:t>
            </a:fld>
            <a:endParaRPr lang="en-US" altLang="zh-CN" sz="1000" i="0" smtClean="0"/>
          </a:p>
        </p:txBody>
      </p:sp>
      <p:sp>
        <p:nvSpPr>
          <p:cNvPr id="808962" name="Rectangle 2"/>
          <p:cNvSpPr>
            <a:spLocks noGrp="1" noChangeArrowheads="1"/>
          </p:cNvSpPr>
          <p:nvPr>
            <p:ph type="title"/>
          </p:nvPr>
        </p:nvSpPr>
        <p:spPr/>
        <p:txBody>
          <a:bodyPr/>
          <a:lstStyle/>
          <a:p>
            <a:pPr>
              <a:defRPr/>
            </a:pPr>
            <a:r>
              <a:rPr lang="zh-CN" altLang="en-US" smtClean="0"/>
              <a:t>§5  数值计算中的误差</a:t>
            </a:r>
            <a:endParaRPr lang="zh-CN" altLang="en-US" sz="6000" smtClean="0"/>
          </a:p>
        </p:txBody>
      </p:sp>
      <p:sp>
        <p:nvSpPr>
          <p:cNvPr id="808963" name="Rectangle 3"/>
          <p:cNvSpPr>
            <a:spLocks noGrp="1" noChangeArrowheads="1"/>
          </p:cNvSpPr>
          <p:nvPr>
            <p:ph type="body" idx="1"/>
          </p:nvPr>
        </p:nvSpPr>
        <p:spPr>
          <a:xfrm>
            <a:off x="1385888" y="1501775"/>
            <a:ext cx="4329112" cy="2846388"/>
          </a:xfrm>
        </p:spPr>
        <p:txBody>
          <a:bodyPr/>
          <a:lstStyle/>
          <a:p>
            <a:pPr>
              <a:lnSpc>
                <a:spcPct val="120000"/>
              </a:lnSpc>
            </a:pPr>
            <a:r>
              <a:rPr lang="zh-CN" altLang="en-US" sz="3200" smtClean="0"/>
              <a:t>1. 模型误差</a:t>
            </a:r>
          </a:p>
          <a:p>
            <a:pPr>
              <a:lnSpc>
                <a:spcPct val="120000"/>
              </a:lnSpc>
            </a:pPr>
            <a:r>
              <a:rPr lang="zh-CN" altLang="en-US" sz="3200" smtClean="0"/>
              <a:t>2. 观测误差</a:t>
            </a:r>
          </a:p>
          <a:p>
            <a:pPr>
              <a:lnSpc>
                <a:spcPct val="120000"/>
              </a:lnSpc>
            </a:pPr>
            <a:r>
              <a:rPr lang="zh-CN" altLang="en-US" sz="3200" smtClean="0"/>
              <a:t>3. 截断误差</a:t>
            </a:r>
          </a:p>
          <a:p>
            <a:pPr>
              <a:lnSpc>
                <a:spcPct val="120000"/>
              </a:lnSpc>
            </a:pPr>
            <a:r>
              <a:rPr lang="zh-CN" altLang="en-US" sz="3200" smtClean="0"/>
              <a:t>4. 舍入误差</a:t>
            </a:r>
          </a:p>
        </p:txBody>
      </p:sp>
      <p:graphicFrame>
        <p:nvGraphicFramePr>
          <p:cNvPr id="808964" name="Object 4"/>
          <p:cNvGraphicFramePr>
            <a:graphicFrameLocks noChangeAspect="1"/>
          </p:cNvGraphicFramePr>
          <p:nvPr/>
        </p:nvGraphicFramePr>
        <p:xfrm>
          <a:off x="5715000" y="3657600"/>
          <a:ext cx="2954338" cy="2362200"/>
        </p:xfrm>
        <a:graphic>
          <a:graphicData uri="http://schemas.openxmlformats.org/presentationml/2006/ole">
            <mc:AlternateContent xmlns:mc="http://schemas.openxmlformats.org/markup-compatibility/2006">
              <mc:Choice xmlns:v="urn:schemas-microsoft-com:vml" Requires="v">
                <p:oleObj spid="_x0000_s48157" name="剪辑" r:id="rId4" imgW="3717925" imgH="3352800" progId="MS_ClipArt_Gallery.2">
                  <p:embed/>
                </p:oleObj>
              </mc:Choice>
              <mc:Fallback>
                <p:oleObj name="剪辑" r:id="rId4" imgW="3717925" imgH="3352800" progId="MS_ClipArt_Gallery.2">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3657600"/>
                        <a:ext cx="2954338"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808964"/>
                                        </p:tgtEl>
                                        <p:attrNameLst>
                                          <p:attrName>style.visibility</p:attrName>
                                        </p:attrNameLst>
                                      </p:cBhvr>
                                      <p:to>
                                        <p:strVal val="visible"/>
                                      </p:to>
                                    </p:set>
                                    <p:animEffect transition="in" filter="dissolve">
                                      <p:cBhvr>
                                        <p:cTn id="7" dur="500"/>
                                        <p:tgtEl>
                                          <p:spTgt spid="808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08963">
                                            <p:txEl>
                                              <p:pRg st="0" end="0"/>
                                            </p:txEl>
                                          </p:spTgt>
                                        </p:tgtEl>
                                        <p:attrNameLst>
                                          <p:attrName>style.visibility</p:attrName>
                                        </p:attrNameLst>
                                      </p:cBhvr>
                                      <p:to>
                                        <p:strVal val="visible"/>
                                      </p:to>
                                    </p:set>
                                    <p:animEffect transition="in" filter="wipe(up)">
                                      <p:cBhvr>
                                        <p:cTn id="12" dur="500"/>
                                        <p:tgtEl>
                                          <p:spTgt spid="8089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08963">
                                            <p:txEl>
                                              <p:pRg st="1" end="1"/>
                                            </p:txEl>
                                          </p:spTgt>
                                        </p:tgtEl>
                                        <p:attrNameLst>
                                          <p:attrName>style.visibility</p:attrName>
                                        </p:attrNameLst>
                                      </p:cBhvr>
                                      <p:to>
                                        <p:strVal val="visible"/>
                                      </p:to>
                                    </p:set>
                                    <p:animEffect transition="in" filter="wipe(up)">
                                      <p:cBhvr>
                                        <p:cTn id="17" dur="500"/>
                                        <p:tgtEl>
                                          <p:spTgt spid="80896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08963">
                                            <p:txEl>
                                              <p:pRg st="2" end="2"/>
                                            </p:txEl>
                                          </p:spTgt>
                                        </p:tgtEl>
                                        <p:attrNameLst>
                                          <p:attrName>style.visibility</p:attrName>
                                        </p:attrNameLst>
                                      </p:cBhvr>
                                      <p:to>
                                        <p:strVal val="visible"/>
                                      </p:to>
                                    </p:set>
                                    <p:animEffect transition="in" filter="wipe(up)">
                                      <p:cBhvr>
                                        <p:cTn id="22" dur="500"/>
                                        <p:tgtEl>
                                          <p:spTgt spid="80896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08963">
                                            <p:txEl>
                                              <p:pRg st="3" end="3"/>
                                            </p:txEl>
                                          </p:spTgt>
                                        </p:tgtEl>
                                        <p:attrNameLst>
                                          <p:attrName>style.visibility</p:attrName>
                                        </p:attrNameLst>
                                      </p:cBhvr>
                                      <p:to>
                                        <p:strVal val="visible"/>
                                      </p:to>
                                    </p:set>
                                    <p:animEffect transition="in" filter="wipe(up)">
                                      <p:cBhvr>
                                        <p:cTn id="27" dur="500"/>
                                        <p:tgtEl>
                                          <p:spTgt spid="808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3" grpId="0" build="p" bldLvl="2"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B0DEA96-2376-4EC2-9CA5-271FF4DC28BF}" type="slidenum">
              <a:rPr lang="zh-CN" altLang="en-US" i="0" smtClean="0"/>
              <a:pPr/>
              <a:t>50</a:t>
            </a:fld>
            <a:endParaRPr lang="en-US" altLang="zh-CN" i="0" smtClean="0"/>
          </a:p>
        </p:txBody>
      </p:sp>
      <p:sp>
        <p:nvSpPr>
          <p:cNvPr id="491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7061BE0-DFD4-4231-8AB9-F62A0F320B52}" type="datetime1">
              <a:rPr lang="zh-CN" altLang="en-US" sz="1800" i="0" smtClean="0"/>
              <a:pPr/>
              <a:t>2024/9/8</a:t>
            </a:fld>
            <a:endParaRPr lang="en-US" altLang="zh-CN" sz="1000" i="0" smtClean="0"/>
          </a:p>
        </p:txBody>
      </p:sp>
      <p:sp>
        <p:nvSpPr>
          <p:cNvPr id="811010" name="Rectangle 2"/>
          <p:cNvSpPr>
            <a:spLocks noGrp="1" noChangeArrowheads="1"/>
          </p:cNvSpPr>
          <p:nvPr>
            <p:ph type="title"/>
          </p:nvPr>
        </p:nvSpPr>
        <p:spPr/>
        <p:txBody>
          <a:bodyPr/>
          <a:lstStyle/>
          <a:p>
            <a:pPr>
              <a:defRPr/>
            </a:pPr>
            <a:r>
              <a:rPr lang="zh-CN" altLang="zh-CN" smtClean="0"/>
              <a:t>5.1</a:t>
            </a:r>
            <a:r>
              <a:rPr lang="zh-CN" altLang="en-US" smtClean="0"/>
              <a:t>.</a:t>
            </a:r>
            <a:r>
              <a:rPr lang="zh-CN" altLang="zh-CN" smtClean="0"/>
              <a:t>1</a:t>
            </a:r>
            <a:r>
              <a:rPr lang="zh-CN" altLang="en-US" smtClean="0"/>
              <a:t> </a:t>
            </a:r>
            <a:r>
              <a:rPr lang="zh-CN" altLang="zh-CN" smtClean="0"/>
              <a:t> 模型误差</a:t>
            </a:r>
            <a:endParaRPr lang="zh-CN" altLang="en-US" smtClean="0"/>
          </a:p>
        </p:txBody>
      </p:sp>
      <p:sp>
        <p:nvSpPr>
          <p:cNvPr id="811011" name="Rectangle 3"/>
          <p:cNvSpPr>
            <a:spLocks noGrp="1" noChangeArrowheads="1"/>
          </p:cNvSpPr>
          <p:nvPr>
            <p:ph type="body" idx="1"/>
          </p:nvPr>
        </p:nvSpPr>
        <p:spPr>
          <a:xfrm>
            <a:off x="650875" y="1143000"/>
            <a:ext cx="8820150" cy="768350"/>
          </a:xfrm>
        </p:spPr>
        <p:txBody>
          <a:bodyPr/>
          <a:lstStyle/>
          <a:p>
            <a:r>
              <a:rPr lang="zh-CN" altLang="en-US" smtClean="0"/>
              <a:t>数学模型是指那些利用数学语言模拟现实而建立起来的有关量的描述</a:t>
            </a:r>
          </a:p>
        </p:txBody>
      </p:sp>
      <p:grpSp>
        <p:nvGrpSpPr>
          <p:cNvPr id="2" name="Group 4"/>
          <p:cNvGrpSpPr>
            <a:grpSpLocks/>
          </p:cNvGrpSpPr>
          <p:nvPr/>
        </p:nvGrpSpPr>
        <p:grpSpPr bwMode="auto">
          <a:xfrm>
            <a:off x="1308100" y="1560513"/>
            <a:ext cx="7759700" cy="2513012"/>
            <a:chOff x="864" y="2056"/>
            <a:chExt cx="4512" cy="1729"/>
          </a:xfrm>
        </p:grpSpPr>
        <p:grpSp>
          <p:nvGrpSpPr>
            <p:cNvPr id="49160" name="Group 5"/>
            <p:cNvGrpSpPr>
              <a:grpSpLocks/>
            </p:cNvGrpSpPr>
            <p:nvPr/>
          </p:nvGrpSpPr>
          <p:grpSpPr bwMode="auto">
            <a:xfrm>
              <a:off x="864" y="2458"/>
              <a:ext cx="1296" cy="864"/>
              <a:chOff x="624" y="3120"/>
              <a:chExt cx="1296" cy="864"/>
            </a:xfrm>
          </p:grpSpPr>
          <p:sp>
            <p:nvSpPr>
              <p:cNvPr id="49174" name="AutoShape 6"/>
              <p:cNvSpPr>
                <a:spLocks noChangeArrowheads="1"/>
              </p:cNvSpPr>
              <p:nvPr/>
            </p:nvSpPr>
            <p:spPr bwMode="auto">
              <a:xfrm>
                <a:off x="624" y="3120"/>
                <a:ext cx="1296" cy="864"/>
              </a:xfrm>
              <a:prstGeom prst="bevel">
                <a:avLst>
                  <a:gd name="adj" fmla="val 8931"/>
                </a:avLst>
              </a:prstGeom>
              <a:solidFill>
                <a:srgbClr val="00800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endParaRPr lang="zh-CN" altLang="en-US"/>
              </a:p>
            </p:txBody>
          </p:sp>
          <p:sp>
            <p:nvSpPr>
              <p:cNvPr id="49175" name="Text Box 7"/>
              <p:cNvSpPr txBox="1">
                <a:spLocks noChangeArrowheads="1"/>
              </p:cNvSpPr>
              <p:nvPr/>
            </p:nvSpPr>
            <p:spPr bwMode="auto">
              <a:xfrm>
                <a:off x="624" y="3216"/>
                <a:ext cx="1200"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3200" i="0">
                    <a:solidFill>
                      <a:schemeClr val="bg1"/>
                    </a:solidFill>
                    <a:latin typeface="Arial Black" pitchFamily="34" charset="0"/>
                  </a:rPr>
                  <a:t>实际问题的真解</a:t>
                </a:r>
                <a:endParaRPr lang="zh-CN" altLang="en-US" sz="2400" b="0" i="0">
                  <a:solidFill>
                    <a:schemeClr val="bg1"/>
                  </a:solidFill>
                  <a:latin typeface="Arial Black" pitchFamily="34" charset="0"/>
                </a:endParaRPr>
              </a:p>
            </p:txBody>
          </p:sp>
        </p:grpSp>
        <p:grpSp>
          <p:nvGrpSpPr>
            <p:cNvPr id="49161" name="Group 8"/>
            <p:cNvGrpSpPr>
              <a:grpSpLocks/>
            </p:cNvGrpSpPr>
            <p:nvPr/>
          </p:nvGrpSpPr>
          <p:grpSpPr bwMode="auto">
            <a:xfrm>
              <a:off x="4032" y="2458"/>
              <a:ext cx="1344" cy="864"/>
              <a:chOff x="2208" y="3120"/>
              <a:chExt cx="1344" cy="864"/>
            </a:xfrm>
          </p:grpSpPr>
          <p:sp>
            <p:nvSpPr>
              <p:cNvPr id="49172" name="AutoShape 9"/>
              <p:cNvSpPr>
                <a:spLocks noChangeArrowheads="1"/>
              </p:cNvSpPr>
              <p:nvPr/>
            </p:nvSpPr>
            <p:spPr bwMode="auto">
              <a:xfrm>
                <a:off x="2208" y="3120"/>
                <a:ext cx="1344" cy="864"/>
              </a:xfrm>
              <a:prstGeom prst="bevel">
                <a:avLst>
                  <a:gd name="adj" fmla="val 8931"/>
                </a:avLst>
              </a:prstGeom>
              <a:solidFill>
                <a:srgbClr val="00800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endParaRPr lang="zh-CN" altLang="en-US"/>
              </a:p>
            </p:txBody>
          </p:sp>
          <p:sp>
            <p:nvSpPr>
              <p:cNvPr id="49173" name="Text Box 10"/>
              <p:cNvSpPr txBox="1">
                <a:spLocks noChangeArrowheads="1"/>
              </p:cNvSpPr>
              <p:nvPr/>
            </p:nvSpPr>
            <p:spPr bwMode="auto">
              <a:xfrm>
                <a:off x="2256" y="3216"/>
                <a:ext cx="1200"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3200" i="0">
                    <a:solidFill>
                      <a:schemeClr val="bg1"/>
                    </a:solidFill>
                    <a:latin typeface="Arial Black" pitchFamily="34" charset="0"/>
                  </a:rPr>
                  <a:t>数学模型的真解</a:t>
                </a:r>
                <a:endParaRPr lang="zh-CN" altLang="en-US" sz="1600" b="0" i="0">
                  <a:solidFill>
                    <a:schemeClr val="bg1"/>
                  </a:solidFill>
                  <a:latin typeface="Arial Black" pitchFamily="34" charset="0"/>
                </a:endParaRPr>
              </a:p>
            </p:txBody>
          </p:sp>
        </p:grpSp>
        <p:grpSp>
          <p:nvGrpSpPr>
            <p:cNvPr id="49162" name="Group 11"/>
            <p:cNvGrpSpPr>
              <a:grpSpLocks/>
            </p:cNvGrpSpPr>
            <p:nvPr/>
          </p:nvGrpSpPr>
          <p:grpSpPr bwMode="auto">
            <a:xfrm>
              <a:off x="2400" y="2602"/>
              <a:ext cx="1440" cy="288"/>
              <a:chOff x="1344" y="1601"/>
              <a:chExt cx="562" cy="193"/>
            </a:xfrm>
          </p:grpSpPr>
          <p:sp>
            <p:nvSpPr>
              <p:cNvPr id="49169" name="Freeform 12"/>
              <p:cNvSpPr>
                <a:spLocks/>
              </p:cNvSpPr>
              <p:nvPr/>
            </p:nvSpPr>
            <p:spPr bwMode="auto">
              <a:xfrm>
                <a:off x="1344" y="1627"/>
                <a:ext cx="541" cy="167"/>
              </a:xfrm>
              <a:custGeom>
                <a:avLst/>
                <a:gdLst>
                  <a:gd name="T0" fmla="*/ 0 w 541"/>
                  <a:gd name="T1" fmla="*/ 44 h 167"/>
                  <a:gd name="T2" fmla="*/ 369 w 541"/>
                  <a:gd name="T3" fmla="*/ 44 h 167"/>
                  <a:gd name="T4" fmla="*/ 369 w 541"/>
                  <a:gd name="T5" fmla="*/ 0 h 167"/>
                  <a:gd name="T6" fmla="*/ 540 w 541"/>
                  <a:gd name="T7" fmla="*/ 83 h 167"/>
                  <a:gd name="T8" fmla="*/ 369 w 541"/>
                  <a:gd name="T9" fmla="*/ 166 h 167"/>
                  <a:gd name="T10" fmla="*/ 369 w 541"/>
                  <a:gd name="T11" fmla="*/ 123 h 167"/>
                  <a:gd name="T12" fmla="*/ 0 w 541"/>
                  <a:gd name="T13" fmla="*/ 123 h 167"/>
                  <a:gd name="T14" fmla="*/ 0 w 541"/>
                  <a:gd name="T15" fmla="*/ 44 h 167"/>
                  <a:gd name="T16" fmla="*/ 0 60000 65536"/>
                  <a:gd name="T17" fmla="*/ 0 60000 65536"/>
                  <a:gd name="T18" fmla="*/ 0 60000 65536"/>
                  <a:gd name="T19" fmla="*/ 0 60000 65536"/>
                  <a:gd name="T20" fmla="*/ 0 60000 65536"/>
                  <a:gd name="T21" fmla="*/ 0 60000 65536"/>
                  <a:gd name="T22" fmla="*/ 0 60000 65536"/>
                  <a:gd name="T23" fmla="*/ 0 60000 65536"/>
                  <a:gd name="T24" fmla="*/ 0 w 541"/>
                  <a:gd name="T25" fmla="*/ 0 h 167"/>
                  <a:gd name="T26" fmla="*/ 541 w 541"/>
                  <a:gd name="T27" fmla="*/ 167 h 1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1" h="167">
                    <a:moveTo>
                      <a:pt x="0" y="44"/>
                    </a:moveTo>
                    <a:lnTo>
                      <a:pt x="369" y="44"/>
                    </a:lnTo>
                    <a:lnTo>
                      <a:pt x="369" y="0"/>
                    </a:lnTo>
                    <a:lnTo>
                      <a:pt x="540" y="83"/>
                    </a:lnTo>
                    <a:lnTo>
                      <a:pt x="369" y="166"/>
                    </a:lnTo>
                    <a:lnTo>
                      <a:pt x="369" y="123"/>
                    </a:lnTo>
                    <a:lnTo>
                      <a:pt x="0" y="123"/>
                    </a:lnTo>
                    <a:lnTo>
                      <a:pt x="0" y="44"/>
                    </a:lnTo>
                  </a:path>
                </a:pathLst>
              </a:custGeom>
              <a:solidFill>
                <a:srgbClr val="FF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49170" name="Freeform 13"/>
              <p:cNvSpPr>
                <a:spLocks/>
              </p:cNvSpPr>
              <p:nvPr/>
            </p:nvSpPr>
            <p:spPr bwMode="auto">
              <a:xfrm>
                <a:off x="1344" y="1645"/>
                <a:ext cx="370" cy="27"/>
              </a:xfrm>
              <a:custGeom>
                <a:avLst/>
                <a:gdLst>
                  <a:gd name="T0" fmla="*/ 23 w 370"/>
                  <a:gd name="T1" fmla="*/ 0 h 27"/>
                  <a:gd name="T2" fmla="*/ 369 w 370"/>
                  <a:gd name="T3" fmla="*/ 0 h 27"/>
                  <a:gd name="T4" fmla="*/ 369 w 370"/>
                  <a:gd name="T5" fmla="*/ 26 h 27"/>
                  <a:gd name="T6" fmla="*/ 0 w 370"/>
                  <a:gd name="T7" fmla="*/ 26 h 27"/>
                  <a:gd name="T8" fmla="*/ 23 w 370"/>
                  <a:gd name="T9" fmla="*/ 0 h 27"/>
                  <a:gd name="T10" fmla="*/ 0 60000 65536"/>
                  <a:gd name="T11" fmla="*/ 0 60000 65536"/>
                  <a:gd name="T12" fmla="*/ 0 60000 65536"/>
                  <a:gd name="T13" fmla="*/ 0 60000 65536"/>
                  <a:gd name="T14" fmla="*/ 0 60000 65536"/>
                  <a:gd name="T15" fmla="*/ 0 w 370"/>
                  <a:gd name="T16" fmla="*/ 0 h 27"/>
                  <a:gd name="T17" fmla="*/ 370 w 370"/>
                  <a:gd name="T18" fmla="*/ 27 h 27"/>
                </a:gdLst>
                <a:ahLst/>
                <a:cxnLst>
                  <a:cxn ang="T10">
                    <a:pos x="T0" y="T1"/>
                  </a:cxn>
                  <a:cxn ang="T11">
                    <a:pos x="T2" y="T3"/>
                  </a:cxn>
                  <a:cxn ang="T12">
                    <a:pos x="T4" y="T5"/>
                  </a:cxn>
                  <a:cxn ang="T13">
                    <a:pos x="T6" y="T7"/>
                  </a:cxn>
                  <a:cxn ang="T14">
                    <a:pos x="T8" y="T9"/>
                  </a:cxn>
                </a:cxnLst>
                <a:rect l="T15" t="T16" r="T17" b="T18"/>
                <a:pathLst>
                  <a:path w="370" h="27">
                    <a:moveTo>
                      <a:pt x="23" y="0"/>
                    </a:moveTo>
                    <a:lnTo>
                      <a:pt x="369" y="0"/>
                    </a:lnTo>
                    <a:lnTo>
                      <a:pt x="369" y="26"/>
                    </a:lnTo>
                    <a:lnTo>
                      <a:pt x="0" y="26"/>
                    </a:lnTo>
                    <a:lnTo>
                      <a:pt x="23" y="0"/>
                    </a:lnTo>
                  </a:path>
                </a:pathLst>
              </a:custGeom>
              <a:gradFill rotWithShape="0">
                <a:gsLst>
                  <a:gs pos="0">
                    <a:srgbClr val="FF0000"/>
                  </a:gs>
                  <a:gs pos="100000">
                    <a:srgbClr val="B20000"/>
                  </a:gs>
                </a:gsLst>
                <a:lin ang="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49171" name="Freeform 14"/>
              <p:cNvSpPr>
                <a:spLocks/>
              </p:cNvSpPr>
              <p:nvPr/>
            </p:nvSpPr>
            <p:spPr bwMode="auto">
              <a:xfrm>
                <a:off x="1713" y="1601"/>
                <a:ext cx="193" cy="110"/>
              </a:xfrm>
              <a:custGeom>
                <a:avLst/>
                <a:gdLst>
                  <a:gd name="T0" fmla="*/ 24 w 193"/>
                  <a:gd name="T1" fmla="*/ 0 h 110"/>
                  <a:gd name="T2" fmla="*/ 192 w 193"/>
                  <a:gd name="T3" fmla="*/ 84 h 110"/>
                  <a:gd name="T4" fmla="*/ 169 w 193"/>
                  <a:gd name="T5" fmla="*/ 109 h 110"/>
                  <a:gd name="T6" fmla="*/ 0 w 193"/>
                  <a:gd name="T7" fmla="*/ 25 h 110"/>
                  <a:gd name="T8" fmla="*/ 24 w 193"/>
                  <a:gd name="T9" fmla="*/ 0 h 110"/>
                  <a:gd name="T10" fmla="*/ 0 60000 65536"/>
                  <a:gd name="T11" fmla="*/ 0 60000 65536"/>
                  <a:gd name="T12" fmla="*/ 0 60000 65536"/>
                  <a:gd name="T13" fmla="*/ 0 60000 65536"/>
                  <a:gd name="T14" fmla="*/ 0 60000 65536"/>
                  <a:gd name="T15" fmla="*/ 0 w 193"/>
                  <a:gd name="T16" fmla="*/ 0 h 110"/>
                  <a:gd name="T17" fmla="*/ 193 w 193"/>
                  <a:gd name="T18" fmla="*/ 110 h 110"/>
                </a:gdLst>
                <a:ahLst/>
                <a:cxnLst>
                  <a:cxn ang="T10">
                    <a:pos x="T0" y="T1"/>
                  </a:cxn>
                  <a:cxn ang="T11">
                    <a:pos x="T2" y="T3"/>
                  </a:cxn>
                  <a:cxn ang="T12">
                    <a:pos x="T4" y="T5"/>
                  </a:cxn>
                  <a:cxn ang="T13">
                    <a:pos x="T6" y="T7"/>
                  </a:cxn>
                  <a:cxn ang="T14">
                    <a:pos x="T8" y="T9"/>
                  </a:cxn>
                </a:cxnLst>
                <a:rect l="T15" t="T16" r="T17" b="T18"/>
                <a:pathLst>
                  <a:path w="193" h="110">
                    <a:moveTo>
                      <a:pt x="24" y="0"/>
                    </a:moveTo>
                    <a:lnTo>
                      <a:pt x="192" y="84"/>
                    </a:lnTo>
                    <a:lnTo>
                      <a:pt x="169" y="109"/>
                    </a:lnTo>
                    <a:lnTo>
                      <a:pt x="0" y="25"/>
                    </a:lnTo>
                    <a:lnTo>
                      <a:pt x="24" y="0"/>
                    </a:lnTo>
                  </a:path>
                </a:pathLst>
              </a:custGeom>
              <a:gradFill rotWithShape="0">
                <a:gsLst>
                  <a:gs pos="0">
                    <a:srgbClr val="B20000"/>
                  </a:gs>
                  <a:gs pos="50000">
                    <a:srgbClr val="FF0000"/>
                  </a:gs>
                  <a:gs pos="100000">
                    <a:srgbClr val="B20000"/>
                  </a:gs>
                </a:gsLst>
                <a:lin ang="270000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grpSp>
        <p:grpSp>
          <p:nvGrpSpPr>
            <p:cNvPr id="49163" name="Group 15"/>
            <p:cNvGrpSpPr>
              <a:grpSpLocks/>
            </p:cNvGrpSpPr>
            <p:nvPr/>
          </p:nvGrpSpPr>
          <p:grpSpPr bwMode="auto">
            <a:xfrm>
              <a:off x="2400" y="2938"/>
              <a:ext cx="1440" cy="288"/>
              <a:chOff x="1344" y="1601"/>
              <a:chExt cx="562" cy="193"/>
            </a:xfrm>
          </p:grpSpPr>
          <p:sp>
            <p:nvSpPr>
              <p:cNvPr id="49166" name="Freeform 16"/>
              <p:cNvSpPr>
                <a:spLocks/>
              </p:cNvSpPr>
              <p:nvPr/>
            </p:nvSpPr>
            <p:spPr bwMode="auto">
              <a:xfrm>
                <a:off x="1344" y="1627"/>
                <a:ext cx="541" cy="167"/>
              </a:xfrm>
              <a:custGeom>
                <a:avLst/>
                <a:gdLst>
                  <a:gd name="T0" fmla="*/ 0 w 541"/>
                  <a:gd name="T1" fmla="*/ 44 h 167"/>
                  <a:gd name="T2" fmla="*/ 369 w 541"/>
                  <a:gd name="T3" fmla="*/ 44 h 167"/>
                  <a:gd name="T4" fmla="*/ 369 w 541"/>
                  <a:gd name="T5" fmla="*/ 0 h 167"/>
                  <a:gd name="T6" fmla="*/ 540 w 541"/>
                  <a:gd name="T7" fmla="*/ 83 h 167"/>
                  <a:gd name="T8" fmla="*/ 369 w 541"/>
                  <a:gd name="T9" fmla="*/ 166 h 167"/>
                  <a:gd name="T10" fmla="*/ 369 w 541"/>
                  <a:gd name="T11" fmla="*/ 123 h 167"/>
                  <a:gd name="T12" fmla="*/ 0 w 541"/>
                  <a:gd name="T13" fmla="*/ 123 h 167"/>
                  <a:gd name="T14" fmla="*/ 0 w 541"/>
                  <a:gd name="T15" fmla="*/ 44 h 167"/>
                  <a:gd name="T16" fmla="*/ 0 60000 65536"/>
                  <a:gd name="T17" fmla="*/ 0 60000 65536"/>
                  <a:gd name="T18" fmla="*/ 0 60000 65536"/>
                  <a:gd name="T19" fmla="*/ 0 60000 65536"/>
                  <a:gd name="T20" fmla="*/ 0 60000 65536"/>
                  <a:gd name="T21" fmla="*/ 0 60000 65536"/>
                  <a:gd name="T22" fmla="*/ 0 60000 65536"/>
                  <a:gd name="T23" fmla="*/ 0 60000 65536"/>
                  <a:gd name="T24" fmla="*/ 0 w 541"/>
                  <a:gd name="T25" fmla="*/ 0 h 167"/>
                  <a:gd name="T26" fmla="*/ 541 w 541"/>
                  <a:gd name="T27" fmla="*/ 167 h 1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1" h="167">
                    <a:moveTo>
                      <a:pt x="0" y="44"/>
                    </a:moveTo>
                    <a:lnTo>
                      <a:pt x="369" y="44"/>
                    </a:lnTo>
                    <a:lnTo>
                      <a:pt x="369" y="0"/>
                    </a:lnTo>
                    <a:lnTo>
                      <a:pt x="540" y="83"/>
                    </a:lnTo>
                    <a:lnTo>
                      <a:pt x="369" y="166"/>
                    </a:lnTo>
                    <a:lnTo>
                      <a:pt x="369" y="123"/>
                    </a:lnTo>
                    <a:lnTo>
                      <a:pt x="0" y="123"/>
                    </a:lnTo>
                    <a:lnTo>
                      <a:pt x="0" y="44"/>
                    </a:lnTo>
                  </a:path>
                </a:pathLst>
              </a:custGeom>
              <a:solidFill>
                <a:srgbClr val="FF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49167" name="Freeform 17"/>
              <p:cNvSpPr>
                <a:spLocks/>
              </p:cNvSpPr>
              <p:nvPr/>
            </p:nvSpPr>
            <p:spPr bwMode="auto">
              <a:xfrm>
                <a:off x="1344" y="1645"/>
                <a:ext cx="370" cy="27"/>
              </a:xfrm>
              <a:custGeom>
                <a:avLst/>
                <a:gdLst>
                  <a:gd name="T0" fmla="*/ 23 w 370"/>
                  <a:gd name="T1" fmla="*/ 0 h 27"/>
                  <a:gd name="T2" fmla="*/ 369 w 370"/>
                  <a:gd name="T3" fmla="*/ 0 h 27"/>
                  <a:gd name="T4" fmla="*/ 369 w 370"/>
                  <a:gd name="T5" fmla="*/ 26 h 27"/>
                  <a:gd name="T6" fmla="*/ 0 w 370"/>
                  <a:gd name="T7" fmla="*/ 26 h 27"/>
                  <a:gd name="T8" fmla="*/ 23 w 370"/>
                  <a:gd name="T9" fmla="*/ 0 h 27"/>
                  <a:gd name="T10" fmla="*/ 0 60000 65536"/>
                  <a:gd name="T11" fmla="*/ 0 60000 65536"/>
                  <a:gd name="T12" fmla="*/ 0 60000 65536"/>
                  <a:gd name="T13" fmla="*/ 0 60000 65536"/>
                  <a:gd name="T14" fmla="*/ 0 60000 65536"/>
                  <a:gd name="T15" fmla="*/ 0 w 370"/>
                  <a:gd name="T16" fmla="*/ 0 h 27"/>
                  <a:gd name="T17" fmla="*/ 370 w 370"/>
                  <a:gd name="T18" fmla="*/ 27 h 27"/>
                </a:gdLst>
                <a:ahLst/>
                <a:cxnLst>
                  <a:cxn ang="T10">
                    <a:pos x="T0" y="T1"/>
                  </a:cxn>
                  <a:cxn ang="T11">
                    <a:pos x="T2" y="T3"/>
                  </a:cxn>
                  <a:cxn ang="T12">
                    <a:pos x="T4" y="T5"/>
                  </a:cxn>
                  <a:cxn ang="T13">
                    <a:pos x="T6" y="T7"/>
                  </a:cxn>
                  <a:cxn ang="T14">
                    <a:pos x="T8" y="T9"/>
                  </a:cxn>
                </a:cxnLst>
                <a:rect l="T15" t="T16" r="T17" b="T18"/>
                <a:pathLst>
                  <a:path w="370" h="27">
                    <a:moveTo>
                      <a:pt x="23" y="0"/>
                    </a:moveTo>
                    <a:lnTo>
                      <a:pt x="369" y="0"/>
                    </a:lnTo>
                    <a:lnTo>
                      <a:pt x="369" y="26"/>
                    </a:lnTo>
                    <a:lnTo>
                      <a:pt x="0" y="26"/>
                    </a:lnTo>
                    <a:lnTo>
                      <a:pt x="23" y="0"/>
                    </a:lnTo>
                  </a:path>
                </a:pathLst>
              </a:custGeom>
              <a:gradFill rotWithShape="0">
                <a:gsLst>
                  <a:gs pos="0">
                    <a:srgbClr val="FF0000"/>
                  </a:gs>
                  <a:gs pos="100000">
                    <a:srgbClr val="B20000"/>
                  </a:gs>
                </a:gsLst>
                <a:lin ang="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49168" name="Freeform 18"/>
              <p:cNvSpPr>
                <a:spLocks/>
              </p:cNvSpPr>
              <p:nvPr/>
            </p:nvSpPr>
            <p:spPr bwMode="auto">
              <a:xfrm>
                <a:off x="1713" y="1601"/>
                <a:ext cx="193" cy="110"/>
              </a:xfrm>
              <a:custGeom>
                <a:avLst/>
                <a:gdLst>
                  <a:gd name="T0" fmla="*/ 24 w 193"/>
                  <a:gd name="T1" fmla="*/ 0 h 110"/>
                  <a:gd name="T2" fmla="*/ 192 w 193"/>
                  <a:gd name="T3" fmla="*/ 84 h 110"/>
                  <a:gd name="T4" fmla="*/ 169 w 193"/>
                  <a:gd name="T5" fmla="*/ 109 h 110"/>
                  <a:gd name="T6" fmla="*/ 0 w 193"/>
                  <a:gd name="T7" fmla="*/ 25 h 110"/>
                  <a:gd name="T8" fmla="*/ 24 w 193"/>
                  <a:gd name="T9" fmla="*/ 0 h 110"/>
                  <a:gd name="T10" fmla="*/ 0 60000 65536"/>
                  <a:gd name="T11" fmla="*/ 0 60000 65536"/>
                  <a:gd name="T12" fmla="*/ 0 60000 65536"/>
                  <a:gd name="T13" fmla="*/ 0 60000 65536"/>
                  <a:gd name="T14" fmla="*/ 0 60000 65536"/>
                  <a:gd name="T15" fmla="*/ 0 w 193"/>
                  <a:gd name="T16" fmla="*/ 0 h 110"/>
                  <a:gd name="T17" fmla="*/ 193 w 193"/>
                  <a:gd name="T18" fmla="*/ 110 h 110"/>
                </a:gdLst>
                <a:ahLst/>
                <a:cxnLst>
                  <a:cxn ang="T10">
                    <a:pos x="T0" y="T1"/>
                  </a:cxn>
                  <a:cxn ang="T11">
                    <a:pos x="T2" y="T3"/>
                  </a:cxn>
                  <a:cxn ang="T12">
                    <a:pos x="T4" y="T5"/>
                  </a:cxn>
                  <a:cxn ang="T13">
                    <a:pos x="T6" y="T7"/>
                  </a:cxn>
                  <a:cxn ang="T14">
                    <a:pos x="T8" y="T9"/>
                  </a:cxn>
                </a:cxnLst>
                <a:rect l="T15" t="T16" r="T17" b="T18"/>
                <a:pathLst>
                  <a:path w="193" h="110">
                    <a:moveTo>
                      <a:pt x="24" y="0"/>
                    </a:moveTo>
                    <a:lnTo>
                      <a:pt x="192" y="84"/>
                    </a:lnTo>
                    <a:lnTo>
                      <a:pt x="169" y="109"/>
                    </a:lnTo>
                    <a:lnTo>
                      <a:pt x="0" y="25"/>
                    </a:lnTo>
                    <a:lnTo>
                      <a:pt x="24" y="0"/>
                    </a:lnTo>
                  </a:path>
                </a:pathLst>
              </a:custGeom>
              <a:gradFill rotWithShape="0">
                <a:gsLst>
                  <a:gs pos="0">
                    <a:srgbClr val="B20000"/>
                  </a:gs>
                  <a:gs pos="50000">
                    <a:srgbClr val="FF0000"/>
                  </a:gs>
                  <a:gs pos="100000">
                    <a:srgbClr val="B20000"/>
                  </a:gs>
                </a:gsLst>
                <a:lin ang="270000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grpSp>
        <p:sp>
          <p:nvSpPr>
            <p:cNvPr id="49164" name="Text Box 19"/>
            <p:cNvSpPr txBox="1">
              <a:spLocks noChangeArrowheads="1"/>
            </p:cNvSpPr>
            <p:nvPr/>
          </p:nvSpPr>
          <p:spPr bwMode="auto">
            <a:xfrm>
              <a:off x="2112" y="2056"/>
              <a:ext cx="1968"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rgbClr val="0000FF"/>
                  </a:solidFill>
                </a:rPr>
                <a:t>为减化模型忽略次要因素</a:t>
              </a:r>
            </a:p>
          </p:txBody>
        </p:sp>
        <p:sp>
          <p:nvSpPr>
            <p:cNvPr id="49165" name="Text Box 20"/>
            <p:cNvSpPr txBox="1">
              <a:spLocks noChangeArrowheads="1"/>
            </p:cNvSpPr>
            <p:nvPr/>
          </p:nvSpPr>
          <p:spPr bwMode="auto">
            <a:xfrm>
              <a:off x="1968" y="3222"/>
              <a:ext cx="2544"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nSpc>
                  <a:spcPct val="60000"/>
                </a:lnSpc>
                <a:spcBef>
                  <a:spcPct val="50000"/>
                </a:spcBef>
              </a:pPr>
              <a:r>
                <a:rPr lang="zh-CN" altLang="en-US" sz="2800" i="0">
                  <a:solidFill>
                    <a:srgbClr val="0000FF"/>
                  </a:solidFill>
                </a:rPr>
                <a:t>定理在特定</a:t>
              </a:r>
            </a:p>
            <a:p>
              <a:pPr>
                <a:lnSpc>
                  <a:spcPct val="60000"/>
                </a:lnSpc>
                <a:spcBef>
                  <a:spcPct val="50000"/>
                </a:spcBef>
              </a:pPr>
              <a:r>
                <a:rPr lang="zh-CN" altLang="en-US" sz="2800" i="0">
                  <a:solidFill>
                    <a:srgbClr val="0000FF"/>
                  </a:solidFill>
                </a:rPr>
                <a:t>条件下建立</a:t>
              </a:r>
            </a:p>
          </p:txBody>
        </p:sp>
      </p:grpSp>
      <p:sp>
        <p:nvSpPr>
          <p:cNvPr id="811029" name="Rectangle 21"/>
          <p:cNvSpPr>
            <a:spLocks noChangeArrowheads="1"/>
          </p:cNvSpPr>
          <p:nvPr/>
        </p:nvSpPr>
        <p:spPr bwMode="auto">
          <a:xfrm>
            <a:off x="609600" y="3978275"/>
            <a:ext cx="8820150"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11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例 用</a:t>
            </a:r>
            <a:r>
              <a:rPr lang="en-US" altLang="zh-CN" sz="2800">
                <a:latin typeface="Times New Roman" pitchFamily="18" charset="0"/>
                <a:ea typeface="黑体" pitchFamily="49" charset="-122"/>
              </a:rPr>
              <a:t>s(t)=gt</a:t>
            </a:r>
            <a:r>
              <a:rPr lang="en-US" altLang="zh-CN" sz="2800" i="0" baseline="30000">
                <a:latin typeface="Times New Roman" pitchFamily="18" charset="0"/>
                <a:ea typeface="黑体" pitchFamily="49" charset="-122"/>
              </a:rPr>
              <a:t>2</a:t>
            </a:r>
            <a:r>
              <a:rPr lang="en-US" altLang="zh-CN" sz="2800" i="0">
                <a:latin typeface="Times New Roman" pitchFamily="18" charset="0"/>
                <a:ea typeface="黑体" pitchFamily="49" charset="-122"/>
              </a:rPr>
              <a:t>/2,</a:t>
            </a:r>
            <a:r>
              <a:rPr lang="en-US" altLang="zh-CN" sz="2800">
                <a:latin typeface="Times New Roman" pitchFamily="18" charset="0"/>
                <a:ea typeface="黑体" pitchFamily="49" charset="-122"/>
              </a:rPr>
              <a:t> g</a:t>
            </a:r>
            <a:r>
              <a:rPr lang="en-US" altLang="zh-CN" sz="2800" i="0">
                <a:latin typeface="Times New Roman" pitchFamily="18" charset="0"/>
                <a:ea typeface="黑体" pitchFamily="49" charset="-122"/>
                <a:sym typeface="Symbol" pitchFamily="18" charset="2"/>
              </a:rPr>
              <a:t>9.81</a:t>
            </a:r>
            <a:r>
              <a:rPr lang="zh-CN" altLang="en-US" sz="2800" i="0">
                <a:latin typeface="Times New Roman" pitchFamily="18" charset="0"/>
                <a:ea typeface="黑体" pitchFamily="49" charset="-122"/>
                <a:sym typeface="Symbol" pitchFamily="18" charset="2"/>
              </a:rPr>
              <a:t>米/秒</a:t>
            </a:r>
            <a:r>
              <a:rPr lang="en-US" altLang="zh-CN" sz="2800" i="0" baseline="30000">
                <a:latin typeface="Times New Roman" pitchFamily="18" charset="0"/>
                <a:ea typeface="黑体" pitchFamily="49" charset="-122"/>
              </a:rPr>
              <a:t>2</a:t>
            </a:r>
            <a:r>
              <a:rPr lang="zh-CN" altLang="en-US" sz="2800" i="0">
                <a:latin typeface="Times New Roman" pitchFamily="18" charset="0"/>
                <a:ea typeface="黑体" pitchFamily="49" charset="-122"/>
                <a:sym typeface="Symbol" pitchFamily="18" charset="2"/>
              </a:rPr>
              <a:t>来描述自由落体下落时距离和时间的关系。设自由落体在时间</a:t>
            </a:r>
            <a:r>
              <a:rPr lang="en-US" altLang="zh-CN" sz="2800">
                <a:latin typeface="Times New Roman" pitchFamily="18" charset="0"/>
                <a:ea typeface="黑体" pitchFamily="49" charset="-122"/>
              </a:rPr>
              <a:t>t</a:t>
            </a:r>
            <a:r>
              <a:rPr lang="zh-CN" altLang="en-US" sz="2800" i="0">
                <a:latin typeface="Times New Roman" pitchFamily="18" charset="0"/>
                <a:ea typeface="黑体" pitchFamily="49" charset="-122"/>
                <a:sym typeface="Symbol" pitchFamily="18" charset="2"/>
              </a:rPr>
              <a:t>的实际下落距离为</a:t>
            </a:r>
            <a:r>
              <a:rPr lang="en-US" altLang="zh-CN" sz="2800">
                <a:latin typeface="Times New Roman" pitchFamily="18" charset="0"/>
                <a:ea typeface="黑体" pitchFamily="49" charset="-122"/>
                <a:sym typeface="Symbol" pitchFamily="18" charset="2"/>
              </a:rPr>
              <a:t>S</a:t>
            </a:r>
            <a:r>
              <a:rPr lang="en-US" altLang="zh-CN" sz="2800" baseline="30000">
                <a:latin typeface="Times New Roman" pitchFamily="18" charset="0"/>
                <a:ea typeface="黑体" pitchFamily="49" charset="-122"/>
                <a:sym typeface="Symbol" pitchFamily="18" charset="2"/>
              </a:rPr>
              <a:t>*</a:t>
            </a:r>
            <a:r>
              <a:rPr lang="en-US" altLang="zh-CN" sz="2800" baseline="-25000">
                <a:latin typeface="Times New Roman" pitchFamily="18" charset="0"/>
                <a:ea typeface="黑体" pitchFamily="49" charset="-122"/>
              </a:rPr>
              <a:t>t </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 </a:t>
            </a:r>
            <a:r>
              <a:rPr lang="zh-CN" altLang="en-US" sz="2800" i="0">
                <a:latin typeface="Times New Roman" pitchFamily="18" charset="0"/>
                <a:ea typeface="黑体" pitchFamily="49" charset="-122"/>
              </a:rPr>
              <a:t>则把</a:t>
            </a:r>
            <a:r>
              <a:rPr lang="en-US" altLang="zh-CN" sz="2800">
                <a:latin typeface="Times New Roman" pitchFamily="18" charset="0"/>
                <a:ea typeface="黑体" pitchFamily="49" charset="-122"/>
                <a:sym typeface="Symbol" pitchFamily="18" charset="2"/>
              </a:rPr>
              <a:t>S</a:t>
            </a:r>
            <a:r>
              <a:rPr lang="en-US" altLang="zh-CN" sz="2800" baseline="30000">
                <a:latin typeface="Times New Roman" pitchFamily="18" charset="0"/>
                <a:ea typeface="黑体" pitchFamily="49" charset="-122"/>
                <a:sym typeface="Symbol" pitchFamily="18" charset="2"/>
              </a:rPr>
              <a:t>*</a:t>
            </a:r>
            <a:r>
              <a:rPr lang="en-US" altLang="zh-CN" sz="2800" baseline="-25000">
                <a:latin typeface="Times New Roman" pitchFamily="18" charset="0"/>
                <a:ea typeface="黑体" pitchFamily="49" charset="-122"/>
              </a:rPr>
              <a:t>t </a:t>
            </a:r>
            <a:r>
              <a:rPr lang="en-US" altLang="zh-CN" sz="2800" i="0">
                <a:latin typeface="Times New Roman" pitchFamily="18" charset="0"/>
                <a:ea typeface="黑体" pitchFamily="49" charset="-122"/>
              </a:rPr>
              <a:t>–</a:t>
            </a:r>
            <a:r>
              <a:rPr lang="en-US" altLang="zh-CN" sz="2800">
                <a:latin typeface="Times New Roman" pitchFamily="18" charset="0"/>
                <a:ea typeface="黑体" pitchFamily="49" charset="-122"/>
              </a:rPr>
              <a:t>s(t)</a:t>
            </a:r>
            <a:r>
              <a:rPr lang="zh-CN" altLang="en-US" sz="2800" i="0">
                <a:latin typeface="Times New Roman" pitchFamily="18" charset="0"/>
                <a:ea typeface="黑体" pitchFamily="49" charset="-122"/>
              </a:rPr>
              <a:t>叫做模型误差</a:t>
            </a:r>
          </a:p>
          <a:p>
            <a:pPr marL="258763" indent="-258763" algn="l" defTabSz="814388">
              <a:lnSpc>
                <a:spcPct val="11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实际问题的真解与数学模型之间有误差，这种误差称为</a:t>
            </a:r>
            <a:r>
              <a:rPr lang="zh-CN" altLang="en-US" sz="2800" i="0" u="sng">
                <a:latin typeface="Times New Roman" pitchFamily="18" charset="0"/>
                <a:ea typeface="黑体" pitchFamily="49" charset="-122"/>
              </a:rPr>
              <a:t>模型误差(描述误差)</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811011">
                                            <p:txEl>
                                              <p:pRg st="0" end="0"/>
                                            </p:txEl>
                                          </p:spTgt>
                                        </p:tgtEl>
                                        <p:attrNameLst>
                                          <p:attrName>style.visibility</p:attrName>
                                        </p:attrNameLst>
                                      </p:cBhvr>
                                      <p:to>
                                        <p:strVal val="visible"/>
                                      </p:to>
                                    </p:set>
                                    <p:animEffect transition="in" filter="wipe(up)">
                                      <p:cBhvr>
                                        <p:cTn id="7" dur="75"/>
                                        <p:tgtEl>
                                          <p:spTgt spid="811011">
                                            <p:txEl>
                                              <p:pRg st="0" end="0"/>
                                            </p:txEl>
                                          </p:spTgt>
                                        </p:tgtEl>
                                      </p:cBhvr>
                                    </p:animEffect>
                                  </p:childTnLst>
                                </p:cTn>
                              </p:par>
                            </p:childTnLst>
                          </p:cTn>
                        </p:par>
                        <p:par>
                          <p:cTn id="8" fill="hold" nodeType="afterGroup">
                            <p:stCondLst>
                              <p:cond delay="225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11029">
                                            <p:txEl>
                                              <p:pRg st="0" end="0"/>
                                            </p:txEl>
                                          </p:spTgt>
                                        </p:tgtEl>
                                        <p:attrNameLst>
                                          <p:attrName>style.visibility</p:attrName>
                                        </p:attrNameLst>
                                      </p:cBhvr>
                                      <p:to>
                                        <p:strVal val="visible"/>
                                      </p:to>
                                    </p:set>
                                    <p:animEffect transition="in" filter="wipe(up)">
                                      <p:cBhvr>
                                        <p:cTn id="16" dur="500"/>
                                        <p:tgtEl>
                                          <p:spTgt spid="811029">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11029">
                                            <p:txEl>
                                              <p:pRg st="1" end="1"/>
                                            </p:txEl>
                                          </p:spTgt>
                                        </p:tgtEl>
                                        <p:attrNameLst>
                                          <p:attrName>style.visibility</p:attrName>
                                        </p:attrNameLst>
                                      </p:cBhvr>
                                      <p:to>
                                        <p:strVal val="visible"/>
                                      </p:to>
                                    </p:set>
                                    <p:animEffect transition="in" filter="wipe(up)">
                                      <p:cBhvr>
                                        <p:cTn id="21" dur="500"/>
                                        <p:tgtEl>
                                          <p:spTgt spid="8110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1" grpId="0" build="p" bldLvl="2" autoUpdateAnimBg="0"/>
      <p:bldP spid="811029" grpId="0" build="p" bldLvl="2"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53F31FA-6F87-4223-9530-F2BA47333D29}" type="slidenum">
              <a:rPr lang="zh-CN" altLang="en-US" i="0" smtClean="0"/>
              <a:pPr/>
              <a:t>51</a:t>
            </a:fld>
            <a:endParaRPr lang="en-US" altLang="zh-CN" i="0" smtClean="0"/>
          </a:p>
        </p:txBody>
      </p:sp>
      <p:sp>
        <p:nvSpPr>
          <p:cNvPr id="5017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936498D-2940-4E5F-A5EB-15ED7269CF50}" type="datetime1">
              <a:rPr lang="zh-CN" altLang="en-US" sz="1800" i="0" smtClean="0"/>
              <a:pPr/>
              <a:t>2024/9/8</a:t>
            </a:fld>
            <a:endParaRPr lang="en-US" altLang="zh-CN" sz="1000" i="0" smtClean="0"/>
          </a:p>
        </p:txBody>
      </p:sp>
      <p:sp>
        <p:nvSpPr>
          <p:cNvPr id="815106" name="Rectangle 2"/>
          <p:cNvSpPr>
            <a:spLocks noGrp="1" noChangeArrowheads="1"/>
          </p:cNvSpPr>
          <p:nvPr>
            <p:ph type="title"/>
          </p:nvPr>
        </p:nvSpPr>
        <p:spPr/>
        <p:txBody>
          <a:bodyPr/>
          <a:lstStyle/>
          <a:p>
            <a:pPr>
              <a:defRPr/>
            </a:pPr>
            <a:r>
              <a:rPr lang="zh-CN" altLang="zh-CN" smtClean="0"/>
              <a:t>5.1</a:t>
            </a:r>
            <a:r>
              <a:rPr lang="zh-CN" altLang="en-US" smtClean="0"/>
              <a:t>.2  </a:t>
            </a:r>
            <a:r>
              <a:rPr lang="zh-CN" altLang="zh-CN" smtClean="0"/>
              <a:t>观测误差</a:t>
            </a:r>
            <a:endParaRPr lang="zh-CN" altLang="en-US" smtClean="0"/>
          </a:p>
        </p:txBody>
      </p:sp>
      <p:sp>
        <p:nvSpPr>
          <p:cNvPr id="815107" name="Rectangle 3"/>
          <p:cNvSpPr>
            <a:spLocks noGrp="1" noChangeArrowheads="1"/>
          </p:cNvSpPr>
          <p:nvPr>
            <p:ph type="body" idx="1"/>
          </p:nvPr>
        </p:nvSpPr>
        <p:spPr>
          <a:xfrm>
            <a:off x="412750" y="1371600"/>
            <a:ext cx="9245600" cy="2647950"/>
          </a:xfrm>
        </p:spPr>
        <p:txBody>
          <a:bodyPr/>
          <a:lstStyle/>
          <a:p>
            <a:pPr>
              <a:lnSpc>
                <a:spcPct val="110000"/>
              </a:lnSpc>
            </a:pPr>
            <a:r>
              <a:rPr lang="zh-CN" altLang="en-US" smtClean="0"/>
              <a:t>数学模型中的参数和原始数据，是由观测和试验得到的</a:t>
            </a:r>
          </a:p>
          <a:p>
            <a:pPr>
              <a:lnSpc>
                <a:spcPct val="110000"/>
              </a:lnSpc>
            </a:pPr>
            <a:r>
              <a:rPr lang="zh-CN" altLang="en-US" smtClean="0"/>
              <a:t>由于测量工具的精度、观测方法或客观条件的限制,使数据含有测量误差,这类误差叫做</a:t>
            </a:r>
            <a:r>
              <a:rPr lang="zh-CN" altLang="en-US" u="sng" smtClean="0"/>
              <a:t>观测误差或数据误差</a:t>
            </a:r>
          </a:p>
          <a:p>
            <a:pPr>
              <a:lnSpc>
                <a:spcPct val="110000"/>
              </a:lnSpc>
            </a:pPr>
            <a:r>
              <a:rPr lang="zh-CN" altLang="en-US" smtClean="0"/>
              <a:t>数值方法中需要了解观测误差,以便选择合理的数值方法与之适应</a:t>
            </a:r>
            <a:endParaRPr lang="zh-CN" altLang="zh-CN"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815107">
                                            <p:txEl>
                                              <p:pRg st="0" end="0"/>
                                            </p:txEl>
                                          </p:spTgt>
                                        </p:tgtEl>
                                        <p:attrNameLst>
                                          <p:attrName>style.visibility</p:attrName>
                                        </p:attrNameLst>
                                      </p:cBhvr>
                                      <p:to>
                                        <p:strVal val="visible"/>
                                      </p:to>
                                    </p:set>
                                    <p:animEffect transition="in" filter="wipe(up)">
                                      <p:cBhvr>
                                        <p:cTn id="7" dur="75"/>
                                        <p:tgtEl>
                                          <p:spTgt spid="815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815107">
                                            <p:txEl>
                                              <p:pRg st="1" end="1"/>
                                            </p:txEl>
                                          </p:spTgt>
                                        </p:tgtEl>
                                        <p:attrNameLst>
                                          <p:attrName>style.visibility</p:attrName>
                                        </p:attrNameLst>
                                      </p:cBhvr>
                                      <p:to>
                                        <p:strVal val="visible"/>
                                      </p:to>
                                    </p:set>
                                    <p:animEffect transition="in" filter="wipe(up)">
                                      <p:cBhvr>
                                        <p:cTn id="12" dur="75"/>
                                        <p:tgtEl>
                                          <p:spTgt spid="8151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815107">
                                            <p:txEl>
                                              <p:pRg st="2" end="2"/>
                                            </p:txEl>
                                          </p:spTgt>
                                        </p:tgtEl>
                                        <p:attrNameLst>
                                          <p:attrName>style.visibility</p:attrName>
                                        </p:attrNameLst>
                                      </p:cBhvr>
                                      <p:to>
                                        <p:strVal val="visible"/>
                                      </p:to>
                                    </p:set>
                                    <p:animEffect transition="in" filter="wipe(up)">
                                      <p:cBhvr>
                                        <p:cTn id="17" dur="75"/>
                                        <p:tgtEl>
                                          <p:spTgt spid="8151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7" grpId="0" build="p" bldLvl="2"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BE3D3A1-91D4-438D-BF31-D38BDBC375FC}" type="slidenum">
              <a:rPr lang="zh-CN" altLang="en-US" i="0" smtClean="0"/>
              <a:pPr/>
              <a:t>52</a:t>
            </a:fld>
            <a:endParaRPr lang="en-US" altLang="zh-CN" i="0" smtClean="0"/>
          </a:p>
        </p:txBody>
      </p:sp>
      <p:sp>
        <p:nvSpPr>
          <p:cNvPr id="5120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C04C148-FA68-4DAF-AB4C-A38B06FD5FE4}" type="datetime1">
              <a:rPr lang="zh-CN" altLang="en-US" sz="1800" i="0" smtClean="0"/>
              <a:pPr/>
              <a:t>2024/9/8</a:t>
            </a:fld>
            <a:endParaRPr lang="en-US" altLang="zh-CN" sz="1000" i="0" smtClean="0"/>
          </a:p>
        </p:txBody>
      </p:sp>
      <p:sp>
        <p:nvSpPr>
          <p:cNvPr id="817154" name="Rectangle 2"/>
          <p:cNvSpPr>
            <a:spLocks noGrp="1" noChangeArrowheads="1"/>
          </p:cNvSpPr>
          <p:nvPr>
            <p:ph type="title"/>
          </p:nvPr>
        </p:nvSpPr>
        <p:spPr/>
        <p:txBody>
          <a:bodyPr/>
          <a:lstStyle/>
          <a:p>
            <a:pPr>
              <a:defRPr/>
            </a:pPr>
            <a:r>
              <a:rPr lang="zh-CN" altLang="zh-CN" smtClean="0"/>
              <a:t>5.1</a:t>
            </a:r>
            <a:r>
              <a:rPr lang="zh-CN" altLang="en-US" smtClean="0"/>
              <a:t>.</a:t>
            </a:r>
            <a:r>
              <a:rPr lang="zh-CN" altLang="zh-CN" smtClean="0"/>
              <a:t>3</a:t>
            </a:r>
            <a:r>
              <a:rPr lang="zh-CN" altLang="en-US" smtClean="0"/>
              <a:t> </a:t>
            </a:r>
            <a:r>
              <a:rPr lang="zh-CN" altLang="zh-CN" smtClean="0"/>
              <a:t> 截断误差</a:t>
            </a:r>
            <a:endParaRPr lang="zh-CN" altLang="en-US" smtClean="0"/>
          </a:p>
        </p:txBody>
      </p:sp>
      <p:sp>
        <p:nvSpPr>
          <p:cNvPr id="51205" name="Rectangle 3"/>
          <p:cNvSpPr>
            <a:spLocks noGrp="1" noChangeArrowheads="1"/>
          </p:cNvSpPr>
          <p:nvPr>
            <p:ph type="body" idx="1"/>
          </p:nvPr>
        </p:nvSpPr>
        <p:spPr>
          <a:xfrm>
            <a:off x="660400" y="1371600"/>
            <a:ext cx="8864600" cy="4311650"/>
          </a:xfrm>
        </p:spPr>
        <p:txBody>
          <a:bodyPr/>
          <a:lstStyle/>
          <a:p>
            <a:r>
              <a:rPr lang="zh-CN" altLang="en-US" smtClean="0"/>
              <a:t>求解数学模型所用的数值计算方法如果是一种近似的方法，那么得到的是数学模型的近似解，由此产生的误差称为</a:t>
            </a:r>
            <a:r>
              <a:rPr lang="zh-CN" altLang="en-US" smtClean="0">
                <a:solidFill>
                  <a:srgbClr val="FF3300"/>
                </a:solidFill>
              </a:rPr>
              <a:t>截断误差</a:t>
            </a:r>
          </a:p>
          <a:p>
            <a:pPr lvl="1"/>
            <a:r>
              <a:rPr lang="zh-CN" altLang="en-US" smtClean="0">
                <a:solidFill>
                  <a:srgbClr val="0000FF"/>
                </a:solidFill>
              </a:rPr>
              <a:t>精确公式用近似公式代替时所产生的误差</a:t>
            </a:r>
            <a:endParaRPr lang="zh-CN" altLang="en-US" u="sng" smtClean="0">
              <a:solidFill>
                <a:srgbClr val="0000FF"/>
              </a:solidFill>
            </a:endParaRPr>
          </a:p>
          <a:p>
            <a:pPr lvl="1"/>
            <a:r>
              <a:rPr lang="zh-CN" altLang="en-US" smtClean="0"/>
              <a:t>截断误差是数值计算中必须考虑的一类误差</a:t>
            </a:r>
          </a:p>
          <a:p>
            <a:r>
              <a:rPr lang="zh-CN" altLang="en-US" smtClean="0"/>
              <a:t>例一个无穷级数</a:t>
            </a:r>
          </a:p>
          <a:p>
            <a:endParaRPr lang="zh-CN" altLang="en-US" smtClean="0"/>
          </a:p>
          <a:p>
            <a:pPr>
              <a:lnSpc>
                <a:spcPct val="100000"/>
              </a:lnSpc>
              <a:spcBef>
                <a:spcPct val="20000"/>
              </a:spcBef>
              <a:buClr>
                <a:schemeClr val="accent2"/>
              </a:buClr>
              <a:buSzTx/>
              <a:buFont typeface="Wingdings 3" pitchFamily="18" charset="2"/>
              <a:buNone/>
            </a:pPr>
            <a:endParaRPr lang="zh-CN" altLang="en-US" smtClean="0">
              <a:latin typeface="Arial Narrow" pitchFamily="34" charset="0"/>
            </a:endParaRPr>
          </a:p>
          <a:p>
            <a:pPr>
              <a:lnSpc>
                <a:spcPct val="100000"/>
              </a:lnSpc>
              <a:spcBef>
                <a:spcPct val="20000"/>
              </a:spcBef>
              <a:buClr>
                <a:schemeClr val="accent2"/>
              </a:buClr>
              <a:buSzTx/>
              <a:buFont typeface="Wingdings 3" pitchFamily="18" charset="2"/>
              <a:buNone/>
            </a:pPr>
            <a:r>
              <a:rPr lang="zh-CN" altLang="en-US" smtClean="0">
                <a:latin typeface="Arial Narrow" pitchFamily="34" charset="0"/>
              </a:rPr>
              <a:t>实际计算的时候，我们只能取前面有限项(如</a:t>
            </a:r>
            <a:r>
              <a:rPr lang="en-US" altLang="zh-CN" smtClean="0">
                <a:latin typeface="Arial Narrow" pitchFamily="34" charset="0"/>
              </a:rPr>
              <a:t>n</a:t>
            </a:r>
            <a:r>
              <a:rPr lang="zh-CN" altLang="en-US" smtClean="0">
                <a:latin typeface="Arial Narrow" pitchFamily="34" charset="0"/>
              </a:rPr>
              <a:t>项)</a:t>
            </a:r>
          </a:p>
        </p:txBody>
      </p:sp>
      <p:graphicFrame>
        <p:nvGraphicFramePr>
          <p:cNvPr id="51206" name="Object 4"/>
          <p:cNvGraphicFramePr>
            <a:graphicFrameLocks noChangeAspect="1"/>
          </p:cNvGraphicFramePr>
          <p:nvPr/>
        </p:nvGraphicFramePr>
        <p:xfrm>
          <a:off x="3886200" y="4038600"/>
          <a:ext cx="2403475" cy="1077913"/>
        </p:xfrm>
        <a:graphic>
          <a:graphicData uri="http://schemas.openxmlformats.org/presentationml/2006/ole">
            <mc:AlternateContent xmlns:mc="http://schemas.openxmlformats.org/markup-compatibility/2006">
              <mc:Choice xmlns:v="urn:schemas-microsoft-com:vml" Requires="v">
                <p:oleObj spid="_x0000_s51275" name="Equation" r:id="rId4" imgW="922118" imgH="419153" progId="Equation.3">
                  <p:embed/>
                </p:oleObj>
              </mc:Choice>
              <mc:Fallback>
                <p:oleObj name="Equation" r:id="rId4" imgW="922118" imgH="41915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4038600"/>
                        <a:ext cx="24034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7" name="Object 6"/>
          <p:cNvGraphicFramePr>
            <a:graphicFrameLocks noChangeAspect="1"/>
          </p:cNvGraphicFramePr>
          <p:nvPr/>
        </p:nvGraphicFramePr>
        <p:xfrm>
          <a:off x="1330325" y="5627688"/>
          <a:ext cx="2403475" cy="1077912"/>
        </p:xfrm>
        <a:graphic>
          <a:graphicData uri="http://schemas.openxmlformats.org/presentationml/2006/ole">
            <mc:AlternateContent xmlns:mc="http://schemas.openxmlformats.org/markup-compatibility/2006">
              <mc:Choice xmlns:v="urn:schemas-microsoft-com:vml" Requires="v">
                <p:oleObj spid="_x0000_s51276" name="Equation" r:id="rId6" imgW="922118" imgH="419153" progId="Equation.3">
                  <p:embed/>
                </p:oleObj>
              </mc:Choice>
              <mc:Fallback>
                <p:oleObj name="Equation" r:id="rId6" imgW="922118" imgH="419153"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0325" y="5627688"/>
                        <a:ext cx="24034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8" name="Object 7"/>
          <p:cNvGraphicFramePr>
            <a:graphicFrameLocks noChangeAspect="1"/>
          </p:cNvGraphicFramePr>
          <p:nvPr/>
        </p:nvGraphicFramePr>
        <p:xfrm>
          <a:off x="3886200" y="5562600"/>
          <a:ext cx="5257800" cy="1077913"/>
        </p:xfrm>
        <a:graphic>
          <a:graphicData uri="http://schemas.openxmlformats.org/presentationml/2006/ole">
            <mc:AlternateContent xmlns:mc="http://schemas.openxmlformats.org/markup-compatibility/2006">
              <mc:Choice xmlns:v="urn:schemas-microsoft-com:vml" Requires="v">
                <p:oleObj spid="_x0000_s51277" name="Equation" r:id="rId8" imgW="1790680" imgH="419153" progId="Equation.3">
                  <p:embed/>
                </p:oleObj>
              </mc:Choice>
              <mc:Fallback>
                <p:oleObj name="Equation" r:id="rId8" imgW="1790680" imgH="419153"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6200" y="5562600"/>
                        <a:ext cx="52578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FB9A2D9-940F-49C6-9BB7-FB2CB94E585C}" type="slidenum">
              <a:rPr lang="zh-CN" altLang="en-US" i="0" smtClean="0"/>
              <a:pPr/>
              <a:t>53</a:t>
            </a:fld>
            <a:endParaRPr lang="en-US" altLang="zh-CN" i="0" smtClean="0"/>
          </a:p>
        </p:txBody>
      </p:sp>
      <p:sp>
        <p:nvSpPr>
          <p:cNvPr id="5222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A3E0717-6D5B-403B-BEBA-104F8FD03362}" type="datetime1">
              <a:rPr lang="zh-CN" altLang="en-US" sz="1800" i="0" smtClean="0"/>
              <a:pPr/>
              <a:t>2024/9/8</a:t>
            </a:fld>
            <a:endParaRPr lang="en-US" altLang="zh-CN" sz="1000" i="0" smtClean="0"/>
          </a:p>
        </p:txBody>
      </p:sp>
      <p:sp>
        <p:nvSpPr>
          <p:cNvPr id="819202" name="Rectangle 2"/>
          <p:cNvSpPr>
            <a:spLocks noGrp="1" noChangeArrowheads="1"/>
          </p:cNvSpPr>
          <p:nvPr>
            <p:ph type="title"/>
          </p:nvPr>
        </p:nvSpPr>
        <p:spPr/>
        <p:txBody>
          <a:bodyPr/>
          <a:lstStyle/>
          <a:p>
            <a:pPr>
              <a:defRPr/>
            </a:pPr>
            <a:r>
              <a:rPr lang="zh-CN" altLang="zh-CN" smtClean="0"/>
              <a:t>5.1</a:t>
            </a:r>
            <a:r>
              <a:rPr lang="zh-CN" altLang="en-US" smtClean="0"/>
              <a:t>.4  </a:t>
            </a:r>
            <a:r>
              <a:rPr lang="zh-CN" altLang="zh-CN" smtClean="0"/>
              <a:t>舍入误差</a:t>
            </a:r>
            <a:endParaRPr lang="zh-CN" altLang="en-US" smtClean="0"/>
          </a:p>
        </p:txBody>
      </p:sp>
      <p:sp>
        <p:nvSpPr>
          <p:cNvPr id="819203" name="Rectangle 3"/>
          <p:cNvSpPr>
            <a:spLocks noGrp="1" noChangeArrowheads="1"/>
          </p:cNvSpPr>
          <p:nvPr>
            <p:ph type="body" idx="1"/>
          </p:nvPr>
        </p:nvSpPr>
        <p:spPr>
          <a:xfrm>
            <a:off x="660400" y="1371600"/>
            <a:ext cx="8997950" cy="2530475"/>
          </a:xfrm>
        </p:spPr>
        <p:txBody>
          <a:bodyPr/>
          <a:lstStyle/>
          <a:p>
            <a:r>
              <a:rPr lang="zh-CN" altLang="en-US" sz="3200" smtClean="0"/>
              <a:t>由于计算机的字长有限，参加运算的数据以及运算结果在计算机上存放会产生误差。</a:t>
            </a:r>
          </a:p>
          <a:p>
            <a:r>
              <a:rPr lang="zh-CN" altLang="en-US" sz="3200" smtClean="0"/>
              <a:t>误差在计算过程中不断积累，这种误差称</a:t>
            </a:r>
            <a:r>
              <a:rPr lang="zh-CN" altLang="en-US" sz="3200" smtClean="0">
                <a:solidFill>
                  <a:srgbClr val="FF3300"/>
                </a:solidFill>
              </a:rPr>
              <a:t>舍入误差</a:t>
            </a:r>
            <a:r>
              <a:rPr lang="zh-CN" altLang="en-US" sz="3200" smtClean="0"/>
              <a:t>或者计算误差</a:t>
            </a:r>
          </a:p>
          <a:p>
            <a:pPr lvl="1"/>
            <a:r>
              <a:rPr lang="zh-CN" altLang="en-US" sz="3200" smtClean="0"/>
              <a:t>例</a:t>
            </a:r>
            <a:r>
              <a:rPr lang="zh-CN" altLang="en-US" sz="3200" smtClean="0">
                <a:sym typeface="Symbol" pitchFamily="18" charset="2"/>
              </a:rPr>
              <a:t>=3.1415926…</a:t>
            </a:r>
            <a:endParaRPr lang="zh-CN" altLang="zh-CN" sz="3200" smtClean="0">
              <a:sym typeface="Symbol" pitchFamily="18" charset="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819203">
                                            <p:txEl>
                                              <p:pRg st="0" end="0"/>
                                            </p:txEl>
                                          </p:spTgt>
                                        </p:tgtEl>
                                        <p:attrNameLst>
                                          <p:attrName>style.visibility</p:attrName>
                                        </p:attrNameLst>
                                      </p:cBhvr>
                                      <p:to>
                                        <p:strVal val="visible"/>
                                      </p:to>
                                    </p:set>
                                    <p:animEffect transition="in" filter="wipe(up)">
                                      <p:cBhvr>
                                        <p:cTn id="7" dur="75"/>
                                        <p:tgtEl>
                                          <p:spTgt spid="8192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819203">
                                            <p:txEl>
                                              <p:pRg st="1" end="1"/>
                                            </p:txEl>
                                          </p:spTgt>
                                        </p:tgtEl>
                                        <p:attrNameLst>
                                          <p:attrName>style.visibility</p:attrName>
                                        </p:attrNameLst>
                                      </p:cBhvr>
                                      <p:to>
                                        <p:strVal val="visible"/>
                                      </p:to>
                                    </p:set>
                                    <p:animEffect transition="in" filter="wipe(up)">
                                      <p:cBhvr>
                                        <p:cTn id="12" dur="75"/>
                                        <p:tgtEl>
                                          <p:spTgt spid="8192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819203">
                                            <p:txEl>
                                              <p:pRg st="2" end="2"/>
                                            </p:txEl>
                                          </p:spTgt>
                                        </p:tgtEl>
                                        <p:attrNameLst>
                                          <p:attrName>style.visibility</p:attrName>
                                        </p:attrNameLst>
                                      </p:cBhvr>
                                      <p:to>
                                        <p:strVal val="visible"/>
                                      </p:to>
                                    </p:set>
                                    <p:animEffect transition="in" filter="wipe(up)">
                                      <p:cBhvr>
                                        <p:cTn id="17" dur="75"/>
                                        <p:tgtEl>
                                          <p:spTgt spid="8192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3" grpId="0" build="p" bldLvl="2"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80CE73D-9157-426A-B459-75D5A3E3D847}" type="slidenum">
              <a:rPr lang="zh-CN" altLang="en-US" i="0" smtClean="0"/>
              <a:pPr/>
              <a:t>54</a:t>
            </a:fld>
            <a:endParaRPr lang="en-US" altLang="zh-CN" i="0" smtClean="0"/>
          </a:p>
        </p:txBody>
      </p:sp>
      <p:sp>
        <p:nvSpPr>
          <p:cNvPr id="5325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473B804-31A0-46B3-8C75-6E34F04DB4BE}" type="datetime1">
              <a:rPr lang="zh-CN" altLang="en-US" sz="1800" i="0" smtClean="0"/>
              <a:pPr/>
              <a:t>2024/9/8</a:t>
            </a:fld>
            <a:endParaRPr lang="en-US" altLang="zh-CN" sz="1000" i="0" smtClean="0"/>
          </a:p>
        </p:txBody>
      </p:sp>
      <p:sp>
        <p:nvSpPr>
          <p:cNvPr id="823298" name="Rectangle 2"/>
          <p:cNvSpPr>
            <a:spLocks noGrp="1" noChangeArrowheads="1"/>
          </p:cNvSpPr>
          <p:nvPr>
            <p:ph type="title"/>
          </p:nvPr>
        </p:nvSpPr>
        <p:spPr/>
        <p:txBody>
          <a:bodyPr/>
          <a:lstStyle/>
          <a:p>
            <a:pPr>
              <a:defRPr/>
            </a:pPr>
            <a:r>
              <a:rPr lang="zh-CN" altLang="zh-CN" smtClean="0"/>
              <a:t>5.</a:t>
            </a:r>
            <a:r>
              <a:rPr lang="zh-CN" altLang="en-US" smtClean="0"/>
              <a:t>2</a:t>
            </a:r>
            <a:r>
              <a:rPr lang="zh-CN" altLang="zh-CN" smtClean="0"/>
              <a:t>  模型与解</a:t>
            </a:r>
            <a:endParaRPr lang="zh-CN" altLang="en-US" smtClean="0"/>
          </a:p>
        </p:txBody>
      </p:sp>
      <p:sp>
        <p:nvSpPr>
          <p:cNvPr id="823299" name="Rectangle 3"/>
          <p:cNvSpPr>
            <a:spLocks noGrp="1" noChangeArrowheads="1"/>
          </p:cNvSpPr>
          <p:nvPr>
            <p:ph type="body" idx="1"/>
          </p:nvPr>
        </p:nvSpPr>
        <p:spPr>
          <a:xfrm>
            <a:off x="838200" y="1150938"/>
            <a:ext cx="8686800" cy="4948237"/>
          </a:xfrm>
        </p:spPr>
        <p:txBody>
          <a:bodyPr/>
          <a:lstStyle/>
          <a:p>
            <a:pPr marL="457200" indent="-457200" defTabSz="914400">
              <a:lnSpc>
                <a:spcPct val="80000"/>
              </a:lnSpc>
            </a:pPr>
            <a:r>
              <a:rPr lang="zh-CN" altLang="en-US" smtClean="0"/>
              <a:t>1. 数学模型的精确解</a:t>
            </a:r>
          </a:p>
          <a:p>
            <a:pPr marL="909638" lvl="1" indent="-338138" defTabSz="914400">
              <a:lnSpc>
                <a:spcPct val="80000"/>
              </a:lnSpc>
            </a:pPr>
            <a:r>
              <a:rPr lang="zh-CN" altLang="en-US" smtClean="0"/>
              <a:t>使用数学模型、</a:t>
            </a:r>
            <a:r>
              <a:rPr lang="zh-CN" altLang="en-US" smtClean="0">
                <a:solidFill>
                  <a:srgbClr val="FF3300"/>
                </a:solidFill>
              </a:rPr>
              <a:t>精确数据</a:t>
            </a:r>
            <a:r>
              <a:rPr lang="zh-CN" altLang="en-US" smtClean="0"/>
              <a:t>、精确计算</a:t>
            </a:r>
          </a:p>
          <a:p>
            <a:pPr marL="457200" indent="-457200" defTabSz="914400">
              <a:lnSpc>
                <a:spcPct val="80000"/>
              </a:lnSpc>
            </a:pPr>
            <a:r>
              <a:rPr lang="zh-CN" altLang="en-US" smtClean="0"/>
              <a:t>2. 参数模型的精确解</a:t>
            </a:r>
          </a:p>
          <a:p>
            <a:pPr marL="909638" lvl="1" indent="-338138" defTabSz="914400">
              <a:lnSpc>
                <a:spcPct val="80000"/>
              </a:lnSpc>
            </a:pPr>
            <a:r>
              <a:rPr lang="zh-CN" altLang="en-US" smtClean="0"/>
              <a:t>使用数学模型、</a:t>
            </a:r>
            <a:r>
              <a:rPr lang="zh-CN" altLang="en-US" smtClean="0">
                <a:solidFill>
                  <a:srgbClr val="FF3300"/>
                </a:solidFill>
              </a:rPr>
              <a:t>观测数据</a:t>
            </a:r>
            <a:r>
              <a:rPr lang="zh-CN" altLang="en-US" smtClean="0"/>
              <a:t>、精确计算</a:t>
            </a:r>
          </a:p>
          <a:p>
            <a:pPr marL="457200" indent="-457200" defTabSz="914400">
              <a:lnSpc>
                <a:spcPct val="80000"/>
              </a:lnSpc>
            </a:pPr>
            <a:r>
              <a:rPr lang="zh-CN" altLang="en-US" smtClean="0"/>
              <a:t>3. 计算模型的精确解</a:t>
            </a:r>
          </a:p>
          <a:p>
            <a:pPr marL="909638" lvl="1" indent="-338138" defTabSz="914400">
              <a:lnSpc>
                <a:spcPct val="80000"/>
              </a:lnSpc>
            </a:pPr>
            <a:r>
              <a:rPr lang="zh-CN" altLang="en-US" smtClean="0"/>
              <a:t>不能求解数学模型的精确解时，就</a:t>
            </a:r>
            <a:r>
              <a:rPr lang="zh-CN" altLang="en-US" smtClean="0">
                <a:solidFill>
                  <a:srgbClr val="FF3300"/>
                </a:solidFill>
              </a:rPr>
              <a:t>采用数值的方法建立该数学模型的求解模型</a:t>
            </a:r>
            <a:r>
              <a:rPr lang="zh-CN" altLang="en-US" smtClean="0"/>
              <a:t>，称为</a:t>
            </a:r>
            <a:r>
              <a:rPr lang="zh-CN" altLang="en-US" smtClean="0">
                <a:solidFill>
                  <a:srgbClr val="FF3300"/>
                </a:solidFill>
              </a:rPr>
              <a:t>计算模型</a:t>
            </a:r>
          </a:p>
          <a:p>
            <a:pPr marL="909638" lvl="1" indent="-338138" defTabSz="914400">
              <a:lnSpc>
                <a:spcPct val="80000"/>
              </a:lnSpc>
            </a:pPr>
            <a:r>
              <a:rPr lang="zh-CN" altLang="en-US" smtClean="0"/>
              <a:t>使用</a:t>
            </a:r>
            <a:r>
              <a:rPr lang="zh-CN" altLang="en-US" smtClean="0">
                <a:solidFill>
                  <a:srgbClr val="FF3300"/>
                </a:solidFill>
              </a:rPr>
              <a:t>计算模型</a:t>
            </a:r>
            <a:r>
              <a:rPr lang="zh-CN" altLang="en-US" smtClean="0"/>
              <a:t>、观测数据、精确计算所获得的解</a:t>
            </a:r>
          </a:p>
          <a:p>
            <a:pPr marL="457200" indent="-457200" defTabSz="914400">
              <a:lnSpc>
                <a:spcPct val="80000"/>
              </a:lnSpc>
            </a:pPr>
            <a:r>
              <a:rPr lang="zh-CN" altLang="en-US" smtClean="0"/>
              <a:t>4. 计算模型的近似解</a:t>
            </a:r>
          </a:p>
          <a:p>
            <a:pPr marL="909638" lvl="1" indent="-338138" defTabSz="914400">
              <a:lnSpc>
                <a:spcPct val="80000"/>
              </a:lnSpc>
            </a:pPr>
            <a:r>
              <a:rPr lang="zh-CN" altLang="en-US" smtClean="0"/>
              <a:t>用计算模型、</a:t>
            </a:r>
            <a:r>
              <a:rPr lang="zh-CN" altLang="en-US" smtClean="0">
                <a:solidFill>
                  <a:srgbClr val="0000FF"/>
                </a:solidFill>
              </a:rPr>
              <a:t>有舍入的</a:t>
            </a:r>
            <a:r>
              <a:rPr lang="zh-CN" altLang="en-US" smtClean="0"/>
              <a:t>观测数据、</a:t>
            </a:r>
            <a:r>
              <a:rPr lang="zh-CN" altLang="en-US" smtClean="0">
                <a:solidFill>
                  <a:srgbClr val="0000FF"/>
                </a:solidFill>
              </a:rPr>
              <a:t>近似计算</a:t>
            </a:r>
            <a:r>
              <a:rPr lang="zh-CN" altLang="en-US" smtClean="0"/>
              <a:t>获得的解</a:t>
            </a:r>
          </a:p>
        </p:txBody>
      </p:sp>
      <p:sp>
        <p:nvSpPr>
          <p:cNvPr id="823300" name="AutoShape 4"/>
          <p:cNvSpPr>
            <a:spLocks noChangeArrowheads="1"/>
          </p:cNvSpPr>
          <p:nvPr/>
        </p:nvSpPr>
        <p:spPr bwMode="auto">
          <a:xfrm flipV="1">
            <a:off x="6248400" y="1905000"/>
            <a:ext cx="1905000" cy="1676400"/>
          </a:xfrm>
          <a:prstGeom prst="curvedLeftArrow">
            <a:avLst>
              <a:gd name="adj1" fmla="val 19963"/>
              <a:gd name="adj2" fmla="val 39963"/>
              <a:gd name="adj3" fmla="val 37879"/>
            </a:avLst>
          </a:prstGeom>
          <a:solidFill>
            <a:srgbClr val="FFFF00"/>
          </a:solidFill>
          <a:ln w="50800">
            <a:solidFill>
              <a:schemeClr val="tx1"/>
            </a:solidFill>
            <a:miter lim="800000"/>
            <a:headEnd/>
            <a:tailEnd type="none" w="lg" len="lg"/>
          </a:ln>
        </p:spPr>
        <p:txBody>
          <a:bodyPr wrap="none" anchor="ctr"/>
          <a:lstStyle/>
          <a:p>
            <a:endParaRPr lang="zh-CN" altLang="en-US"/>
          </a:p>
        </p:txBody>
      </p:sp>
      <p:sp>
        <p:nvSpPr>
          <p:cNvPr id="823301" name="Rectangle 5"/>
          <p:cNvSpPr>
            <a:spLocks noChangeArrowheads="1"/>
          </p:cNvSpPr>
          <p:nvPr/>
        </p:nvSpPr>
        <p:spPr bwMode="auto">
          <a:xfrm>
            <a:off x="8054975" y="2438400"/>
            <a:ext cx="18510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txBody>
          <a:bodyPr wrap="none">
            <a:spAutoFit/>
          </a:bodyPr>
          <a:lstStyle/>
          <a:p>
            <a:r>
              <a:rPr lang="zh-CN" altLang="en-US" sz="2800" i="0">
                <a:solidFill>
                  <a:srgbClr val="0000FF"/>
                </a:solidFill>
                <a:latin typeface="Times New Roman" pitchFamily="18" charset="0"/>
              </a:rPr>
              <a:t>方法误差</a:t>
            </a:r>
          </a:p>
          <a:p>
            <a:r>
              <a:rPr lang="zh-CN" altLang="en-US" sz="2800" i="0">
                <a:solidFill>
                  <a:srgbClr val="0000FF"/>
                </a:solidFill>
                <a:latin typeface="Times New Roman" pitchFamily="18" charset="0"/>
              </a:rPr>
              <a:t>(截断误差)</a:t>
            </a:r>
          </a:p>
        </p:txBody>
      </p:sp>
      <p:sp>
        <p:nvSpPr>
          <p:cNvPr id="823303" name="AutoShape 7"/>
          <p:cNvSpPr>
            <a:spLocks noChangeArrowheads="1"/>
          </p:cNvSpPr>
          <p:nvPr/>
        </p:nvSpPr>
        <p:spPr bwMode="auto">
          <a:xfrm flipH="1" flipV="1">
            <a:off x="838200" y="3200400"/>
            <a:ext cx="685800" cy="2667000"/>
          </a:xfrm>
          <a:prstGeom prst="curvedLeftArrow">
            <a:avLst>
              <a:gd name="adj1" fmla="val 50015"/>
              <a:gd name="adj2" fmla="val 127793"/>
              <a:gd name="adj3" fmla="val 33333"/>
            </a:avLst>
          </a:prstGeom>
          <a:solidFill>
            <a:srgbClr val="FFFF00"/>
          </a:solidFill>
          <a:ln w="50800">
            <a:solidFill>
              <a:schemeClr val="tx1"/>
            </a:solidFill>
            <a:miter lim="800000"/>
            <a:headEnd/>
            <a:tailEnd type="none" w="lg" len="lg"/>
          </a:ln>
        </p:spPr>
        <p:txBody>
          <a:bodyPr wrap="none" anchor="ctr"/>
          <a:lstStyle/>
          <a:p>
            <a:endParaRPr lang="zh-CN" altLang="en-US"/>
          </a:p>
        </p:txBody>
      </p:sp>
      <p:sp>
        <p:nvSpPr>
          <p:cNvPr id="823304" name="Rectangle 8"/>
          <p:cNvSpPr>
            <a:spLocks noChangeArrowheads="1"/>
          </p:cNvSpPr>
          <p:nvPr/>
        </p:nvSpPr>
        <p:spPr bwMode="auto">
          <a:xfrm>
            <a:off x="-609600" y="4171950"/>
            <a:ext cx="16764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type="none" w="lg" len="lg"/>
              </a14:hiddenLine>
            </a:ext>
          </a:extLst>
        </p:spPr>
        <p:txBody>
          <a:bodyPr>
            <a:spAutoFit/>
          </a:bodyPr>
          <a:lstStyle/>
          <a:p>
            <a:pPr lvl="1">
              <a:lnSpc>
                <a:spcPct val="90000"/>
              </a:lnSpc>
              <a:spcBef>
                <a:spcPct val="35000"/>
              </a:spcBef>
              <a:buClr>
                <a:srgbClr val="27305F"/>
              </a:buClr>
            </a:pPr>
            <a:r>
              <a:rPr lang="zh-CN" altLang="en-US" sz="2800" i="0">
                <a:solidFill>
                  <a:srgbClr val="0000FF"/>
                </a:solidFill>
                <a:latin typeface="Times New Roman" pitchFamily="18" charset="0"/>
              </a:rPr>
              <a:t>舍入误差</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23299">
                                            <p:txEl>
                                              <p:pRg st="0" end="0"/>
                                            </p:txEl>
                                          </p:spTgt>
                                        </p:tgtEl>
                                        <p:attrNameLst>
                                          <p:attrName>style.visibility</p:attrName>
                                        </p:attrNameLst>
                                      </p:cBhvr>
                                      <p:to>
                                        <p:strVal val="visible"/>
                                      </p:to>
                                    </p:set>
                                    <p:animEffect transition="in" filter="wipe(up)">
                                      <p:cBhvr>
                                        <p:cTn id="7" dur="500"/>
                                        <p:tgtEl>
                                          <p:spTgt spid="823299">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23299">
                                            <p:txEl>
                                              <p:pRg st="1" end="1"/>
                                            </p:txEl>
                                          </p:spTgt>
                                        </p:tgtEl>
                                        <p:attrNameLst>
                                          <p:attrName>style.visibility</p:attrName>
                                        </p:attrNameLst>
                                      </p:cBhvr>
                                      <p:to>
                                        <p:strVal val="visible"/>
                                      </p:to>
                                    </p:set>
                                    <p:animEffect transition="in" filter="wipe(up)">
                                      <p:cBhvr>
                                        <p:cTn id="10" dur="500"/>
                                        <p:tgtEl>
                                          <p:spTgt spid="82329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823299">
                                            <p:txEl>
                                              <p:pRg st="2" end="2"/>
                                            </p:txEl>
                                          </p:spTgt>
                                        </p:tgtEl>
                                        <p:attrNameLst>
                                          <p:attrName>style.visibility</p:attrName>
                                        </p:attrNameLst>
                                      </p:cBhvr>
                                      <p:to>
                                        <p:strVal val="visible"/>
                                      </p:to>
                                    </p:set>
                                    <p:animEffect transition="in" filter="wipe(up)">
                                      <p:cBhvr>
                                        <p:cTn id="15" dur="500"/>
                                        <p:tgtEl>
                                          <p:spTgt spid="823299">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23299">
                                            <p:txEl>
                                              <p:pRg st="3" end="3"/>
                                            </p:txEl>
                                          </p:spTgt>
                                        </p:tgtEl>
                                        <p:attrNameLst>
                                          <p:attrName>style.visibility</p:attrName>
                                        </p:attrNameLst>
                                      </p:cBhvr>
                                      <p:to>
                                        <p:strVal val="visible"/>
                                      </p:to>
                                    </p:set>
                                    <p:animEffect transition="in" filter="wipe(up)">
                                      <p:cBhvr>
                                        <p:cTn id="18" dur="500"/>
                                        <p:tgtEl>
                                          <p:spTgt spid="82329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23299">
                                            <p:txEl>
                                              <p:pRg st="4" end="4"/>
                                            </p:txEl>
                                          </p:spTgt>
                                        </p:tgtEl>
                                        <p:attrNameLst>
                                          <p:attrName>style.visibility</p:attrName>
                                        </p:attrNameLst>
                                      </p:cBhvr>
                                      <p:to>
                                        <p:strVal val="visible"/>
                                      </p:to>
                                    </p:set>
                                    <p:animEffect transition="in" filter="wipe(up)">
                                      <p:cBhvr>
                                        <p:cTn id="23" dur="500"/>
                                        <p:tgtEl>
                                          <p:spTgt spid="823299">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823299">
                                            <p:txEl>
                                              <p:pRg st="5" end="5"/>
                                            </p:txEl>
                                          </p:spTgt>
                                        </p:tgtEl>
                                        <p:attrNameLst>
                                          <p:attrName>style.visibility</p:attrName>
                                        </p:attrNameLst>
                                      </p:cBhvr>
                                      <p:to>
                                        <p:strVal val="visible"/>
                                      </p:to>
                                    </p:set>
                                    <p:animEffect transition="in" filter="wipe(up)">
                                      <p:cBhvr>
                                        <p:cTn id="26" dur="500"/>
                                        <p:tgtEl>
                                          <p:spTgt spid="823299">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823299">
                                            <p:txEl>
                                              <p:pRg st="6" end="6"/>
                                            </p:txEl>
                                          </p:spTgt>
                                        </p:tgtEl>
                                        <p:attrNameLst>
                                          <p:attrName>style.visibility</p:attrName>
                                        </p:attrNameLst>
                                      </p:cBhvr>
                                      <p:to>
                                        <p:strVal val="visible"/>
                                      </p:to>
                                    </p:set>
                                    <p:animEffect transition="in" filter="wipe(up)">
                                      <p:cBhvr>
                                        <p:cTn id="29" dur="500"/>
                                        <p:tgtEl>
                                          <p:spTgt spid="823299">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23299">
                                            <p:txEl>
                                              <p:pRg st="7" end="7"/>
                                            </p:txEl>
                                          </p:spTgt>
                                        </p:tgtEl>
                                        <p:attrNameLst>
                                          <p:attrName>style.visibility</p:attrName>
                                        </p:attrNameLst>
                                      </p:cBhvr>
                                      <p:to>
                                        <p:strVal val="visible"/>
                                      </p:to>
                                    </p:set>
                                    <p:animEffect transition="in" filter="wipe(up)">
                                      <p:cBhvr>
                                        <p:cTn id="34" dur="500"/>
                                        <p:tgtEl>
                                          <p:spTgt spid="823299">
                                            <p:txEl>
                                              <p:pRg st="7" end="7"/>
                                            </p:txEl>
                                          </p:spTgt>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823299">
                                            <p:txEl>
                                              <p:pRg st="8" end="8"/>
                                            </p:txEl>
                                          </p:spTgt>
                                        </p:tgtEl>
                                        <p:attrNameLst>
                                          <p:attrName>style.visibility</p:attrName>
                                        </p:attrNameLst>
                                      </p:cBhvr>
                                      <p:to>
                                        <p:strVal val="visible"/>
                                      </p:to>
                                    </p:set>
                                    <p:animEffect transition="in" filter="wipe(up)">
                                      <p:cBhvr>
                                        <p:cTn id="37" dur="500"/>
                                        <p:tgtEl>
                                          <p:spTgt spid="82329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823300"/>
                                        </p:tgtEl>
                                        <p:attrNameLst>
                                          <p:attrName>style.visibility</p:attrName>
                                        </p:attrNameLst>
                                      </p:cBhvr>
                                      <p:to>
                                        <p:strVal val="visible"/>
                                      </p:to>
                                    </p:set>
                                    <p:anim calcmode="lin" valueType="num">
                                      <p:cBhvr additive="base">
                                        <p:cTn id="42" dur="500" fill="hold"/>
                                        <p:tgtEl>
                                          <p:spTgt spid="823300"/>
                                        </p:tgtEl>
                                        <p:attrNameLst>
                                          <p:attrName>ppt_x</p:attrName>
                                        </p:attrNameLst>
                                      </p:cBhvr>
                                      <p:tavLst>
                                        <p:tav tm="0">
                                          <p:val>
                                            <p:strVal val="0-#ppt_w/2"/>
                                          </p:val>
                                        </p:tav>
                                        <p:tav tm="100000">
                                          <p:val>
                                            <p:strVal val="#ppt_x"/>
                                          </p:val>
                                        </p:tav>
                                      </p:tavLst>
                                    </p:anim>
                                    <p:anim calcmode="lin" valueType="num">
                                      <p:cBhvr additive="base">
                                        <p:cTn id="43" dur="500" fill="hold"/>
                                        <p:tgtEl>
                                          <p:spTgt spid="823300"/>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500"/>
                            </p:stCondLst>
                            <p:childTnLst>
                              <p:par>
                                <p:cTn id="45" presetID="2" presetClass="entr" presetSubtype="8" fill="hold" grpId="0" nodeType="afterEffect">
                                  <p:stCondLst>
                                    <p:cond delay="0"/>
                                  </p:stCondLst>
                                  <p:childTnLst>
                                    <p:set>
                                      <p:cBhvr>
                                        <p:cTn id="46" dur="1" fill="hold">
                                          <p:stCondLst>
                                            <p:cond delay="0"/>
                                          </p:stCondLst>
                                        </p:cTn>
                                        <p:tgtEl>
                                          <p:spTgt spid="823301"/>
                                        </p:tgtEl>
                                        <p:attrNameLst>
                                          <p:attrName>style.visibility</p:attrName>
                                        </p:attrNameLst>
                                      </p:cBhvr>
                                      <p:to>
                                        <p:strVal val="visible"/>
                                      </p:to>
                                    </p:set>
                                    <p:anim calcmode="lin" valueType="num">
                                      <p:cBhvr additive="base">
                                        <p:cTn id="47" dur="500" fill="hold"/>
                                        <p:tgtEl>
                                          <p:spTgt spid="823301"/>
                                        </p:tgtEl>
                                        <p:attrNameLst>
                                          <p:attrName>ppt_x</p:attrName>
                                        </p:attrNameLst>
                                      </p:cBhvr>
                                      <p:tavLst>
                                        <p:tav tm="0">
                                          <p:val>
                                            <p:strVal val="0-#ppt_w/2"/>
                                          </p:val>
                                        </p:tav>
                                        <p:tav tm="100000">
                                          <p:val>
                                            <p:strVal val="#ppt_x"/>
                                          </p:val>
                                        </p:tav>
                                      </p:tavLst>
                                    </p:anim>
                                    <p:anim calcmode="lin" valueType="num">
                                      <p:cBhvr additive="base">
                                        <p:cTn id="48" dur="500" fill="hold"/>
                                        <p:tgtEl>
                                          <p:spTgt spid="823301"/>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823303"/>
                                        </p:tgtEl>
                                        <p:attrNameLst>
                                          <p:attrName>style.visibility</p:attrName>
                                        </p:attrNameLst>
                                      </p:cBhvr>
                                      <p:to>
                                        <p:strVal val="visible"/>
                                      </p:to>
                                    </p:set>
                                    <p:anim calcmode="lin" valueType="num">
                                      <p:cBhvr additive="base">
                                        <p:cTn id="53" dur="500" fill="hold"/>
                                        <p:tgtEl>
                                          <p:spTgt spid="823303"/>
                                        </p:tgtEl>
                                        <p:attrNameLst>
                                          <p:attrName>ppt_x</p:attrName>
                                        </p:attrNameLst>
                                      </p:cBhvr>
                                      <p:tavLst>
                                        <p:tav tm="0">
                                          <p:val>
                                            <p:strVal val="0-#ppt_w/2"/>
                                          </p:val>
                                        </p:tav>
                                        <p:tav tm="100000">
                                          <p:val>
                                            <p:strVal val="#ppt_x"/>
                                          </p:val>
                                        </p:tav>
                                      </p:tavLst>
                                    </p:anim>
                                    <p:anim calcmode="lin" valueType="num">
                                      <p:cBhvr additive="base">
                                        <p:cTn id="54" dur="500" fill="hold"/>
                                        <p:tgtEl>
                                          <p:spTgt spid="823303"/>
                                        </p:tgtEl>
                                        <p:attrNameLst>
                                          <p:attrName>ppt_y</p:attrName>
                                        </p:attrNameLst>
                                      </p:cBhvr>
                                      <p:tavLst>
                                        <p:tav tm="0">
                                          <p:val>
                                            <p:strVal val="#ppt_y"/>
                                          </p:val>
                                        </p:tav>
                                        <p:tav tm="100000">
                                          <p:val>
                                            <p:strVal val="#ppt_y"/>
                                          </p:val>
                                        </p:tav>
                                      </p:tavLst>
                                    </p:anim>
                                  </p:childTnLst>
                                </p:cTn>
                              </p:par>
                            </p:childTnLst>
                          </p:cTn>
                        </p:par>
                        <p:par>
                          <p:cTn id="55" fill="hold" nodeType="afterGroup">
                            <p:stCondLst>
                              <p:cond delay="500"/>
                            </p:stCondLst>
                            <p:childTnLst>
                              <p:par>
                                <p:cTn id="56" presetID="2" presetClass="entr" presetSubtype="8" fill="hold" grpId="0" nodeType="afterEffect">
                                  <p:stCondLst>
                                    <p:cond delay="0"/>
                                  </p:stCondLst>
                                  <p:childTnLst>
                                    <p:set>
                                      <p:cBhvr>
                                        <p:cTn id="57" dur="1" fill="hold">
                                          <p:stCondLst>
                                            <p:cond delay="0"/>
                                          </p:stCondLst>
                                        </p:cTn>
                                        <p:tgtEl>
                                          <p:spTgt spid="823304"/>
                                        </p:tgtEl>
                                        <p:attrNameLst>
                                          <p:attrName>style.visibility</p:attrName>
                                        </p:attrNameLst>
                                      </p:cBhvr>
                                      <p:to>
                                        <p:strVal val="visible"/>
                                      </p:to>
                                    </p:set>
                                    <p:anim calcmode="lin" valueType="num">
                                      <p:cBhvr additive="base">
                                        <p:cTn id="58" dur="500" fill="hold"/>
                                        <p:tgtEl>
                                          <p:spTgt spid="823304"/>
                                        </p:tgtEl>
                                        <p:attrNameLst>
                                          <p:attrName>ppt_x</p:attrName>
                                        </p:attrNameLst>
                                      </p:cBhvr>
                                      <p:tavLst>
                                        <p:tav tm="0">
                                          <p:val>
                                            <p:strVal val="0-#ppt_w/2"/>
                                          </p:val>
                                        </p:tav>
                                        <p:tav tm="100000">
                                          <p:val>
                                            <p:strVal val="#ppt_x"/>
                                          </p:val>
                                        </p:tav>
                                      </p:tavLst>
                                    </p:anim>
                                    <p:anim calcmode="lin" valueType="num">
                                      <p:cBhvr additive="base">
                                        <p:cTn id="59" dur="500" fill="hold"/>
                                        <p:tgtEl>
                                          <p:spTgt spid="8233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299" grpId="0" build="p" autoUpdateAnimBg="0"/>
      <p:bldP spid="823300" grpId="0" animBg="1"/>
      <p:bldP spid="823301" grpId="0" autoUpdateAnimBg="0"/>
      <p:bldP spid="823303" grpId="0" animBg="1"/>
      <p:bldP spid="823304"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6DC73F2-4BE5-4603-A0AF-1B1807C8E0FC}" type="slidenum">
              <a:rPr lang="zh-CN" altLang="en-US" i="0" smtClean="0"/>
              <a:pPr/>
              <a:t>55</a:t>
            </a:fld>
            <a:endParaRPr lang="en-US" altLang="zh-CN" i="0" smtClean="0"/>
          </a:p>
        </p:txBody>
      </p:sp>
      <p:sp>
        <p:nvSpPr>
          <p:cNvPr id="5427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E910741-361F-4C28-B603-EA2AC0620A11}" type="datetime1">
              <a:rPr lang="zh-CN" altLang="en-US" sz="1800" i="0" smtClean="0"/>
              <a:pPr/>
              <a:t>2024/9/8</a:t>
            </a:fld>
            <a:endParaRPr lang="en-US" altLang="zh-CN" sz="1000" i="0" smtClean="0"/>
          </a:p>
        </p:txBody>
      </p:sp>
      <p:sp>
        <p:nvSpPr>
          <p:cNvPr id="826370" name="Rectangle 2"/>
          <p:cNvSpPr>
            <a:spLocks noGrp="1" noChangeArrowheads="1"/>
          </p:cNvSpPr>
          <p:nvPr>
            <p:ph type="title"/>
          </p:nvPr>
        </p:nvSpPr>
        <p:spPr/>
        <p:txBody>
          <a:bodyPr/>
          <a:lstStyle/>
          <a:p>
            <a:pPr>
              <a:defRPr/>
            </a:pPr>
            <a:r>
              <a:rPr lang="zh-CN" altLang="zh-CN" smtClean="0"/>
              <a:t>5.</a:t>
            </a:r>
            <a:r>
              <a:rPr lang="zh-CN" altLang="en-US" smtClean="0"/>
              <a:t>3</a:t>
            </a:r>
            <a:r>
              <a:rPr lang="zh-CN" altLang="zh-CN" smtClean="0"/>
              <a:t>  数学问题的适定性</a:t>
            </a:r>
            <a:endParaRPr lang="zh-CN" altLang="en-US" smtClean="0"/>
          </a:p>
        </p:txBody>
      </p:sp>
      <p:sp>
        <p:nvSpPr>
          <p:cNvPr id="826371" name="Rectangle 3"/>
          <p:cNvSpPr>
            <a:spLocks noGrp="1" noChangeArrowheads="1"/>
          </p:cNvSpPr>
          <p:nvPr>
            <p:ph type="body" idx="1"/>
          </p:nvPr>
        </p:nvSpPr>
        <p:spPr>
          <a:xfrm>
            <a:off x="650875" y="1143000"/>
            <a:ext cx="8820150" cy="5332413"/>
          </a:xfrm>
        </p:spPr>
        <p:txBody>
          <a:bodyPr/>
          <a:lstStyle/>
          <a:p>
            <a:pPr marL="457200" indent="-457200" defTabSz="914400">
              <a:lnSpc>
                <a:spcPct val="80000"/>
              </a:lnSpc>
            </a:pPr>
            <a:r>
              <a:rPr lang="zh-CN" altLang="en-US" dirty="0" smtClean="0"/>
              <a:t>给出的误差估计方法只对运算量很少的情形适用，对大规模数值计算的舍入误差估计目前尚无有效的方法做出定量估计，</a:t>
            </a:r>
          </a:p>
          <a:p>
            <a:pPr marL="457200" indent="-457200" defTabSz="914400">
              <a:lnSpc>
                <a:spcPct val="80000"/>
              </a:lnSpc>
            </a:pPr>
            <a:r>
              <a:rPr lang="zh-CN" altLang="en-US" dirty="0" smtClean="0"/>
              <a:t>为了确保数值计算结果的正确性，</a:t>
            </a:r>
            <a:r>
              <a:rPr lang="zh-CN" altLang="en-US" dirty="0" smtClean="0">
                <a:solidFill>
                  <a:srgbClr val="FF0000"/>
                </a:solidFill>
              </a:rPr>
              <a:t>应对数值计算问题进行定性分析，以保证舍入误差不会影响计算的精度</a:t>
            </a:r>
          </a:p>
          <a:p>
            <a:pPr marL="457200" indent="-457200" defTabSz="914400">
              <a:lnSpc>
                <a:spcPct val="80000"/>
              </a:lnSpc>
            </a:pPr>
            <a:r>
              <a:rPr lang="zh-CN" altLang="en-US" dirty="0" smtClean="0"/>
              <a:t>数学问题的适定性定义</a:t>
            </a:r>
          </a:p>
          <a:p>
            <a:pPr marL="457200" indent="-457200" defTabSz="914400">
              <a:lnSpc>
                <a:spcPct val="80000"/>
              </a:lnSpc>
              <a:buFont typeface="Wingdings" pitchFamily="2" charset="2"/>
              <a:buNone/>
            </a:pPr>
            <a:r>
              <a:rPr lang="zh-CN" altLang="en-US" dirty="0" smtClean="0"/>
              <a:t>		 设</a:t>
            </a:r>
            <a:r>
              <a:rPr lang="en-US" altLang="zh-CN" dirty="0" smtClean="0"/>
              <a:t>D</a:t>
            </a:r>
            <a:r>
              <a:rPr lang="zh-CN" altLang="en-US" dirty="0" smtClean="0"/>
              <a:t>为</a:t>
            </a:r>
            <a:r>
              <a:rPr lang="en-US" altLang="zh-CN" dirty="0" smtClean="0"/>
              <a:t>X=(</a:t>
            </a:r>
            <a:r>
              <a:rPr lang="en-US" altLang="zh-CN" i="1" dirty="0" smtClean="0"/>
              <a:t>x</a:t>
            </a:r>
            <a:r>
              <a:rPr lang="en-US" altLang="zh-CN" baseline="-25000" dirty="0" smtClean="0"/>
              <a:t>1</a:t>
            </a:r>
            <a:r>
              <a:rPr lang="en-US" altLang="zh-CN" dirty="0" smtClean="0"/>
              <a:t>, </a:t>
            </a:r>
            <a:r>
              <a:rPr lang="en-US" altLang="zh-CN" i="1" dirty="0" smtClean="0"/>
              <a:t>x</a:t>
            </a:r>
            <a:r>
              <a:rPr lang="en-US" altLang="zh-CN" baseline="-25000" dirty="0" smtClean="0"/>
              <a:t>2 </a:t>
            </a:r>
            <a:r>
              <a:rPr lang="en-US" altLang="zh-CN" dirty="0" smtClean="0"/>
              <a:t>, …, </a:t>
            </a:r>
            <a:r>
              <a:rPr lang="en-US" altLang="zh-CN" i="1" dirty="0" err="1" smtClean="0"/>
              <a:t>x</a:t>
            </a:r>
            <a:r>
              <a:rPr lang="en-US" altLang="zh-CN" baseline="-25000" dirty="0" err="1" smtClean="0"/>
              <a:t>n</a:t>
            </a:r>
            <a:r>
              <a:rPr lang="en-US" altLang="zh-CN" dirty="0" smtClean="0"/>
              <a:t>)</a:t>
            </a:r>
            <a:r>
              <a:rPr lang="zh-CN" altLang="en-US" dirty="0" smtClean="0"/>
              <a:t>的值域，简记数学问题的解与参量（原始数据）</a:t>
            </a:r>
            <a:r>
              <a:rPr lang="en-US" altLang="zh-CN" dirty="0" smtClean="0"/>
              <a:t>X</a:t>
            </a:r>
            <a:r>
              <a:rPr lang="zh-CN" altLang="en-US" dirty="0" smtClean="0"/>
              <a:t>的关系为</a:t>
            </a:r>
            <a:r>
              <a:rPr lang="en-US" altLang="zh-CN" dirty="0" smtClean="0"/>
              <a:t>Y=</a:t>
            </a:r>
            <a:r>
              <a:rPr lang="en-US" altLang="zh-CN" i="1" dirty="0" smtClean="0"/>
              <a:t>f</a:t>
            </a:r>
            <a:r>
              <a:rPr lang="en-US" altLang="zh-CN" dirty="0" smtClean="0"/>
              <a:t>(X)。</a:t>
            </a:r>
            <a:r>
              <a:rPr lang="zh-CN" altLang="en-US" dirty="0" smtClean="0"/>
              <a:t>若</a:t>
            </a:r>
          </a:p>
          <a:p>
            <a:pPr marL="457200" indent="-457200" defTabSz="914400">
              <a:lnSpc>
                <a:spcPct val="80000"/>
              </a:lnSpc>
              <a:buFont typeface="Wingdings" pitchFamily="2" charset="2"/>
              <a:buNone/>
            </a:pPr>
            <a:r>
              <a:rPr lang="zh-CN" altLang="en-US" dirty="0" smtClean="0"/>
              <a:t>	1）对</a:t>
            </a:r>
            <a:r>
              <a:rPr lang="en-US" altLang="zh-CN" dirty="0" smtClean="0"/>
              <a:t>X</a:t>
            </a:r>
            <a:r>
              <a:rPr lang="en-US" altLang="zh-CN" dirty="0" smtClean="0">
                <a:sym typeface="Symbol" pitchFamily="18" charset="2"/>
              </a:rPr>
              <a:t></a:t>
            </a:r>
            <a:r>
              <a:rPr lang="en-US" altLang="zh-CN" dirty="0" smtClean="0"/>
              <a:t>D，</a:t>
            </a:r>
            <a:r>
              <a:rPr lang="zh-CN" altLang="en-US" dirty="0" smtClean="0"/>
              <a:t>数学问题的解存在且唯一；</a:t>
            </a:r>
          </a:p>
          <a:p>
            <a:pPr marL="457200" indent="-457200" defTabSz="914400">
              <a:lnSpc>
                <a:spcPct val="80000"/>
              </a:lnSpc>
              <a:buFont typeface="Wingdings" pitchFamily="2" charset="2"/>
              <a:buNone/>
            </a:pPr>
            <a:r>
              <a:rPr lang="zh-CN" altLang="en-US" dirty="0" smtClean="0"/>
              <a:t>    2）满足连续性条件，即当||</a:t>
            </a:r>
            <a:r>
              <a:rPr lang="en-US" altLang="zh-CN" sz="2400" dirty="0" smtClean="0">
                <a:latin typeface="宋体" pitchFamily="2" charset="-122"/>
              </a:rPr>
              <a:t>Δ</a:t>
            </a:r>
            <a:r>
              <a:rPr lang="en-US" altLang="zh-CN" dirty="0" smtClean="0">
                <a:latin typeface="宋体" pitchFamily="2" charset="-122"/>
              </a:rPr>
              <a:t>X</a:t>
            </a:r>
            <a:r>
              <a:rPr lang="zh-CN" altLang="en-US" dirty="0" smtClean="0"/>
              <a:t>||</a:t>
            </a:r>
            <a:r>
              <a:rPr lang="en-US" altLang="zh-CN" dirty="0" smtClean="0">
                <a:sym typeface="Symbol" pitchFamily="18" charset="2"/>
              </a:rPr>
              <a:t></a:t>
            </a:r>
            <a:r>
              <a:rPr lang="en-US" altLang="zh-CN" dirty="0" smtClean="0">
                <a:latin typeface="宋体" pitchFamily="2" charset="-122"/>
              </a:rPr>
              <a:t>0</a:t>
            </a:r>
            <a:r>
              <a:rPr lang="zh-CN" altLang="en-US" dirty="0" smtClean="0">
                <a:latin typeface="宋体" pitchFamily="2" charset="-122"/>
              </a:rPr>
              <a:t>时，</a:t>
            </a:r>
            <a:r>
              <a:rPr lang="zh-CN" altLang="en-US" dirty="0" smtClean="0"/>
              <a:t>||</a:t>
            </a:r>
            <a:r>
              <a:rPr lang="en-US" altLang="zh-CN" sz="2400" dirty="0" err="1" smtClean="0">
                <a:latin typeface="宋体" pitchFamily="2" charset="-122"/>
              </a:rPr>
              <a:t>Δ</a:t>
            </a:r>
            <a:r>
              <a:rPr lang="en-US" altLang="zh-CN" i="1" dirty="0" err="1" smtClean="0"/>
              <a:t>y</a:t>
            </a:r>
            <a:r>
              <a:rPr lang="zh-CN" altLang="en-US" dirty="0" smtClean="0"/>
              <a:t>||</a:t>
            </a:r>
            <a:r>
              <a:rPr lang="en-US" altLang="zh-CN" dirty="0" smtClean="0">
                <a:sym typeface="Symbol" pitchFamily="18" charset="2"/>
              </a:rPr>
              <a:t></a:t>
            </a:r>
            <a:r>
              <a:rPr lang="en-US" altLang="zh-CN" dirty="0" smtClean="0">
                <a:latin typeface="宋体" pitchFamily="2" charset="-122"/>
              </a:rPr>
              <a:t>0</a:t>
            </a:r>
            <a:r>
              <a:rPr lang="zh-CN" altLang="en-US" dirty="0" smtClean="0">
                <a:latin typeface="宋体" pitchFamily="2" charset="-122"/>
              </a:rPr>
              <a:t>成立</a:t>
            </a:r>
          </a:p>
          <a:p>
            <a:pPr marL="457200" indent="-457200" defTabSz="914400">
              <a:lnSpc>
                <a:spcPct val="80000"/>
              </a:lnSpc>
              <a:buFont typeface="Wingdings" pitchFamily="2" charset="2"/>
              <a:buNone/>
            </a:pPr>
            <a:r>
              <a:rPr lang="zh-CN" altLang="en-US" dirty="0" smtClean="0">
                <a:latin typeface="宋体" pitchFamily="2" charset="-122"/>
              </a:rPr>
              <a:t>    则称</a:t>
            </a:r>
            <a:r>
              <a:rPr lang="zh-CN" altLang="en-US" u="sng" dirty="0" smtClean="0">
                <a:solidFill>
                  <a:srgbClr val="0000FF"/>
                </a:solidFill>
                <a:latin typeface="宋体" pitchFamily="2" charset="-122"/>
              </a:rPr>
              <a:t>该数学问题是适定的</a:t>
            </a:r>
            <a:r>
              <a:rPr lang="zh-CN" altLang="en-US" dirty="0" smtClean="0">
                <a:latin typeface="宋体" pitchFamily="2" charset="-122"/>
              </a:rPr>
              <a:t>；反之，若数学问题的解多于一个，或者解不连续依赖于原始数据，则称为</a:t>
            </a:r>
            <a:r>
              <a:rPr lang="zh-CN" altLang="en-US" u="sng" dirty="0" smtClean="0">
                <a:solidFill>
                  <a:srgbClr val="0000FF"/>
                </a:solidFill>
                <a:latin typeface="宋体" pitchFamily="2" charset="-122"/>
              </a:rPr>
              <a:t>不适定的</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826371">
                                            <p:txEl>
                                              <p:pRg st="0" end="0"/>
                                            </p:txEl>
                                          </p:spTgt>
                                        </p:tgtEl>
                                        <p:attrNameLst>
                                          <p:attrName>style.visibility</p:attrName>
                                        </p:attrNameLst>
                                      </p:cBhvr>
                                      <p:to>
                                        <p:strVal val="visible"/>
                                      </p:to>
                                    </p:set>
                                    <p:animEffect transition="in" filter="wipe(up)">
                                      <p:cBhvr>
                                        <p:cTn id="7" dur="75"/>
                                        <p:tgtEl>
                                          <p:spTgt spid="826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826371">
                                            <p:txEl>
                                              <p:pRg st="1" end="1"/>
                                            </p:txEl>
                                          </p:spTgt>
                                        </p:tgtEl>
                                        <p:attrNameLst>
                                          <p:attrName>style.visibility</p:attrName>
                                        </p:attrNameLst>
                                      </p:cBhvr>
                                      <p:to>
                                        <p:strVal val="visible"/>
                                      </p:to>
                                    </p:set>
                                    <p:animEffect transition="in" filter="wipe(up)">
                                      <p:cBhvr>
                                        <p:cTn id="12" dur="75"/>
                                        <p:tgtEl>
                                          <p:spTgt spid="826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826371">
                                            <p:txEl>
                                              <p:pRg st="2" end="2"/>
                                            </p:txEl>
                                          </p:spTgt>
                                        </p:tgtEl>
                                        <p:attrNameLst>
                                          <p:attrName>style.visibility</p:attrName>
                                        </p:attrNameLst>
                                      </p:cBhvr>
                                      <p:to>
                                        <p:strVal val="visible"/>
                                      </p:to>
                                    </p:set>
                                    <p:animEffect transition="in" filter="wipe(up)">
                                      <p:cBhvr>
                                        <p:cTn id="17" dur="75"/>
                                        <p:tgtEl>
                                          <p:spTgt spid="8263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826371">
                                            <p:txEl>
                                              <p:pRg st="3" end="3"/>
                                            </p:txEl>
                                          </p:spTgt>
                                        </p:tgtEl>
                                        <p:attrNameLst>
                                          <p:attrName>style.visibility</p:attrName>
                                        </p:attrNameLst>
                                      </p:cBhvr>
                                      <p:to>
                                        <p:strVal val="visible"/>
                                      </p:to>
                                    </p:set>
                                    <p:animEffect transition="in" filter="wipe(up)">
                                      <p:cBhvr>
                                        <p:cTn id="22" dur="75"/>
                                        <p:tgtEl>
                                          <p:spTgt spid="8263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826371">
                                            <p:txEl>
                                              <p:pRg st="4" end="4"/>
                                            </p:txEl>
                                          </p:spTgt>
                                        </p:tgtEl>
                                        <p:attrNameLst>
                                          <p:attrName>style.visibility</p:attrName>
                                        </p:attrNameLst>
                                      </p:cBhvr>
                                      <p:to>
                                        <p:strVal val="visible"/>
                                      </p:to>
                                    </p:set>
                                    <p:animEffect transition="in" filter="wipe(up)">
                                      <p:cBhvr>
                                        <p:cTn id="27" dur="75"/>
                                        <p:tgtEl>
                                          <p:spTgt spid="8263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826371">
                                            <p:txEl>
                                              <p:pRg st="5" end="5"/>
                                            </p:txEl>
                                          </p:spTgt>
                                        </p:tgtEl>
                                        <p:attrNameLst>
                                          <p:attrName>style.visibility</p:attrName>
                                        </p:attrNameLst>
                                      </p:cBhvr>
                                      <p:to>
                                        <p:strVal val="visible"/>
                                      </p:to>
                                    </p:set>
                                    <p:animEffect transition="in" filter="wipe(up)">
                                      <p:cBhvr>
                                        <p:cTn id="32" dur="75"/>
                                        <p:tgtEl>
                                          <p:spTgt spid="82637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826371">
                                            <p:txEl>
                                              <p:pRg st="6" end="6"/>
                                            </p:txEl>
                                          </p:spTgt>
                                        </p:tgtEl>
                                        <p:attrNameLst>
                                          <p:attrName>style.visibility</p:attrName>
                                        </p:attrNameLst>
                                      </p:cBhvr>
                                      <p:to>
                                        <p:strVal val="visible"/>
                                      </p:to>
                                    </p:set>
                                    <p:animEffect transition="in" filter="wipe(up)">
                                      <p:cBhvr>
                                        <p:cTn id="37" dur="75"/>
                                        <p:tgtEl>
                                          <p:spTgt spid="826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1" grpId="0" build="p" bldLvl="2"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99E336B-0262-49F5-A8F2-0929BC163484}" type="slidenum">
              <a:rPr lang="zh-CN" altLang="en-US" i="0" smtClean="0"/>
              <a:pPr/>
              <a:t>56</a:t>
            </a:fld>
            <a:endParaRPr lang="en-US" altLang="zh-CN" i="0" smtClean="0"/>
          </a:p>
        </p:txBody>
      </p:sp>
      <p:sp>
        <p:nvSpPr>
          <p:cNvPr id="552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553640A-DC61-4FDE-938F-05B81EEC4970}" type="datetime1">
              <a:rPr lang="zh-CN" altLang="en-US" sz="1800" i="0" smtClean="0"/>
              <a:pPr/>
              <a:t>2024/9/8</a:t>
            </a:fld>
            <a:endParaRPr lang="en-US" altLang="zh-CN" sz="1000" i="0" smtClean="0"/>
          </a:p>
        </p:txBody>
      </p:sp>
      <p:sp>
        <p:nvSpPr>
          <p:cNvPr id="828418" name="Rectangle 2"/>
          <p:cNvSpPr>
            <a:spLocks noGrp="1" noChangeArrowheads="1"/>
          </p:cNvSpPr>
          <p:nvPr>
            <p:ph type="title"/>
          </p:nvPr>
        </p:nvSpPr>
        <p:spPr/>
        <p:txBody>
          <a:bodyPr/>
          <a:lstStyle/>
          <a:p>
            <a:pPr>
              <a:defRPr/>
            </a:pPr>
            <a:r>
              <a:rPr lang="zh-CN" altLang="zh-CN" smtClean="0"/>
              <a:t>5.</a:t>
            </a:r>
            <a:r>
              <a:rPr lang="zh-CN" altLang="en-US" smtClean="0"/>
              <a:t>3</a:t>
            </a:r>
            <a:r>
              <a:rPr lang="zh-CN" altLang="zh-CN" smtClean="0"/>
              <a:t>  数学问题的适定性</a:t>
            </a:r>
            <a:endParaRPr lang="zh-CN" altLang="en-US" smtClean="0"/>
          </a:p>
        </p:txBody>
      </p:sp>
      <p:sp>
        <p:nvSpPr>
          <p:cNvPr id="55301" name="Rectangle 3"/>
          <p:cNvSpPr>
            <a:spLocks noGrp="1" noChangeArrowheads="1"/>
          </p:cNvSpPr>
          <p:nvPr>
            <p:ph type="body" idx="1"/>
          </p:nvPr>
        </p:nvSpPr>
        <p:spPr>
          <a:xfrm>
            <a:off x="650875" y="1143000"/>
            <a:ext cx="8820150" cy="4093428"/>
          </a:xfrm>
        </p:spPr>
        <p:txBody>
          <a:bodyPr/>
          <a:lstStyle/>
          <a:p>
            <a:r>
              <a:rPr lang="zh-CN" altLang="en-US" dirty="0" smtClean="0">
                <a:latin typeface="宋体" pitchFamily="2" charset="-122"/>
              </a:rPr>
              <a:t>数值计算处理的问题应当是适定的。</a:t>
            </a:r>
            <a:endParaRPr lang="en-US" altLang="zh-CN" dirty="0" smtClean="0">
              <a:latin typeface="宋体" pitchFamily="2" charset="-122"/>
            </a:endParaRPr>
          </a:p>
          <a:p>
            <a:pPr lvl="1"/>
            <a:r>
              <a:rPr lang="zh-CN" altLang="en-US" dirty="0" smtClean="0">
                <a:latin typeface="宋体" pitchFamily="2" charset="-122"/>
              </a:rPr>
              <a:t>如果一个数学问题的解存在、唯一，且连续地依赖于问题的数据，则这个问题就是适定的</a:t>
            </a:r>
            <a:r>
              <a:rPr lang="en-US" altLang="zh-CN" dirty="0" smtClean="0">
                <a:latin typeface="宋体" pitchFamily="2" charset="-122"/>
              </a:rPr>
              <a:t>(</a:t>
            </a:r>
            <a:r>
              <a:rPr lang="en-US" altLang="zh-CN" i="1" dirty="0" smtClean="0">
                <a:latin typeface="Times New Roman" pitchFamily="18" charset="0"/>
                <a:cs typeface="Times New Roman" pitchFamily="18" charset="0"/>
              </a:rPr>
              <a:t>well-posed, well-defined</a:t>
            </a:r>
            <a:r>
              <a:rPr lang="en-US" altLang="zh-CN" dirty="0" smtClean="0">
                <a:latin typeface="宋体" pitchFamily="2" charset="-122"/>
              </a:rPr>
              <a:t>)</a:t>
            </a:r>
          </a:p>
          <a:p>
            <a:pPr lvl="1"/>
            <a:r>
              <a:rPr lang="zh-CN" altLang="en-US" dirty="0" smtClean="0">
                <a:latin typeface="宋体" pitchFamily="2" charset="-122"/>
              </a:rPr>
              <a:t>这里</a:t>
            </a:r>
            <a:r>
              <a:rPr lang="zh-CN" altLang="en-US" dirty="0">
                <a:latin typeface="宋体" pitchFamily="2" charset="-122"/>
              </a:rPr>
              <a:t>的</a:t>
            </a:r>
            <a:r>
              <a:rPr lang="zh-CN" altLang="en-US" dirty="0" smtClean="0">
                <a:latin typeface="宋体" pitchFamily="2" charset="-122"/>
              </a:rPr>
              <a:t>“</a:t>
            </a:r>
            <a:r>
              <a:rPr lang="zh-CN" altLang="en-US" dirty="0">
                <a:latin typeface="宋体" pitchFamily="2" charset="-122"/>
              </a:rPr>
              <a:t>连续</a:t>
            </a:r>
            <a:r>
              <a:rPr lang="zh-CN" altLang="en-US" dirty="0" smtClean="0">
                <a:latin typeface="宋体" pitchFamily="2" charset="-122"/>
              </a:rPr>
              <a:t>地</a:t>
            </a:r>
            <a:r>
              <a:rPr lang="zh-CN" altLang="en-US" dirty="0">
                <a:latin typeface="宋体" pitchFamily="2" charset="-122"/>
              </a:rPr>
              <a:t>依赖于问题的数据</a:t>
            </a:r>
            <a:r>
              <a:rPr lang="zh-CN" altLang="en-US" dirty="0" smtClean="0">
                <a:latin typeface="宋体" pitchFamily="2" charset="-122"/>
              </a:rPr>
              <a:t>”指问题数据的微小变化不会造成问题解的剧烈变化。</a:t>
            </a:r>
            <a:endParaRPr lang="en-US" altLang="zh-CN" dirty="0" smtClean="0">
              <a:latin typeface="宋体" pitchFamily="2" charset="-122"/>
            </a:endParaRPr>
          </a:p>
          <a:p>
            <a:r>
              <a:rPr lang="zh-CN" altLang="en-US" dirty="0" smtClean="0">
                <a:latin typeface="宋体" pitchFamily="2" charset="-122"/>
              </a:rPr>
              <a:t>这个条件对数值计算极其重要：</a:t>
            </a:r>
            <a:endParaRPr lang="en-US" altLang="zh-CN" dirty="0" smtClean="0">
              <a:latin typeface="宋体" pitchFamily="2" charset="-122"/>
            </a:endParaRPr>
          </a:p>
          <a:p>
            <a:pPr lvl="1"/>
            <a:r>
              <a:rPr lang="zh-CN" altLang="en-US" dirty="0" smtClean="0">
                <a:latin typeface="宋体" pitchFamily="2" charset="-122"/>
              </a:rPr>
              <a:t>因为数值计算以有限字长的计算机为工具，计算过冲数据的扰动不可避免。</a:t>
            </a:r>
          </a:p>
        </p:txBody>
      </p:sp>
    </p:spTree>
  </p:cSld>
  <p:clrMapOvr>
    <a:masterClrMapping/>
  </p:clrMapOvr>
  <p:transition>
    <p:strips dir="ld"/>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99E336B-0262-49F5-A8F2-0929BC163484}" type="slidenum">
              <a:rPr lang="zh-CN" altLang="en-US" i="0" smtClean="0"/>
              <a:pPr/>
              <a:t>57</a:t>
            </a:fld>
            <a:endParaRPr lang="en-US" altLang="zh-CN" i="0" smtClean="0"/>
          </a:p>
        </p:txBody>
      </p:sp>
      <p:sp>
        <p:nvSpPr>
          <p:cNvPr id="5529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553640A-DC61-4FDE-938F-05B81EEC4970}" type="datetime1">
              <a:rPr lang="zh-CN" altLang="en-US" sz="1800" i="0" smtClean="0"/>
              <a:pPr/>
              <a:t>2024/9/8</a:t>
            </a:fld>
            <a:endParaRPr lang="en-US" altLang="zh-CN" sz="1000" i="0" smtClean="0"/>
          </a:p>
        </p:txBody>
      </p:sp>
      <p:sp>
        <p:nvSpPr>
          <p:cNvPr id="828418" name="Rectangle 2"/>
          <p:cNvSpPr>
            <a:spLocks noGrp="1" noChangeArrowheads="1"/>
          </p:cNvSpPr>
          <p:nvPr>
            <p:ph type="title"/>
          </p:nvPr>
        </p:nvSpPr>
        <p:spPr/>
        <p:txBody>
          <a:bodyPr/>
          <a:lstStyle/>
          <a:p>
            <a:pPr>
              <a:defRPr/>
            </a:pPr>
            <a:r>
              <a:rPr lang="zh-CN" altLang="zh-CN" smtClean="0"/>
              <a:t>5.</a:t>
            </a:r>
            <a:r>
              <a:rPr lang="zh-CN" altLang="en-US" smtClean="0"/>
              <a:t>3</a:t>
            </a:r>
            <a:r>
              <a:rPr lang="zh-CN" altLang="zh-CN" smtClean="0"/>
              <a:t>  数学问题的适定性</a:t>
            </a:r>
            <a:endParaRPr lang="zh-CN" altLang="en-US" smtClean="0"/>
          </a:p>
        </p:txBody>
      </p:sp>
      <p:sp>
        <p:nvSpPr>
          <p:cNvPr id="55301" name="Rectangle 3"/>
          <p:cNvSpPr>
            <a:spLocks noGrp="1" noChangeArrowheads="1"/>
          </p:cNvSpPr>
          <p:nvPr>
            <p:ph type="body" idx="1"/>
          </p:nvPr>
        </p:nvSpPr>
        <p:spPr>
          <a:xfrm>
            <a:off x="650875" y="1143000"/>
            <a:ext cx="8820150" cy="2628900"/>
          </a:xfrm>
        </p:spPr>
        <p:txBody>
          <a:bodyPr/>
          <a:lstStyle/>
          <a:p>
            <a:r>
              <a:rPr lang="zh-CN" altLang="en-US" smtClean="0"/>
              <a:t>“良态”问题和“病态”问题</a:t>
            </a:r>
          </a:p>
          <a:p>
            <a:pPr lvl="1"/>
            <a:r>
              <a:rPr lang="zh-CN" altLang="en-US" smtClean="0"/>
              <a:t>在适定的情况下，若对于原始数据很小的变化</a:t>
            </a:r>
            <a:r>
              <a:rPr lang="en-US" altLang="zh-CN" smtClean="0">
                <a:latin typeface="宋体" pitchFamily="2" charset="-122"/>
              </a:rPr>
              <a:t>，</a:t>
            </a:r>
            <a:r>
              <a:rPr lang="zh-CN" altLang="en-US" smtClean="0">
                <a:latin typeface="宋体" pitchFamily="2" charset="-122"/>
              </a:rPr>
              <a:t>数学模型解的变化也很小，则称该数学问题是</a:t>
            </a:r>
            <a:r>
              <a:rPr lang="zh-CN" altLang="en-US" smtClean="0"/>
              <a:t>良态问题；</a:t>
            </a:r>
          </a:p>
          <a:p>
            <a:pPr lvl="1"/>
            <a:r>
              <a:rPr lang="zh-CN" altLang="en-US" smtClean="0"/>
              <a:t>若原始数据很小的变化</a:t>
            </a:r>
            <a:r>
              <a:rPr lang="en-US" altLang="zh-CN" smtClean="0">
                <a:latin typeface="宋体" pitchFamily="2" charset="-122"/>
              </a:rPr>
              <a:t>，</a:t>
            </a:r>
            <a:r>
              <a:rPr lang="zh-CN" altLang="en-US" smtClean="0">
                <a:latin typeface="宋体" pitchFamily="2" charset="-122"/>
              </a:rPr>
              <a:t>数学模型解的变化很大，则称为病态问题</a:t>
            </a:r>
          </a:p>
        </p:txBody>
      </p:sp>
    </p:spTree>
    <p:extLst>
      <p:ext uri="{BB962C8B-B14F-4D97-AF65-F5344CB8AC3E}">
        <p14:creationId xmlns:p14="http://schemas.microsoft.com/office/powerpoint/2010/main" val="3728408638"/>
      </p:ext>
    </p:extLst>
  </p:cSld>
  <p:clrMapOvr>
    <a:masterClrMapping/>
  </p:clrMapOvr>
  <p:transition>
    <p:strips dir="ld"/>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p:cNvPicPr>
            <a:picLocks noChangeAspect="1" noChangeArrowheads="1"/>
          </p:cNvPicPr>
          <p:nvPr/>
        </p:nvPicPr>
        <p:blipFill>
          <a:blip r:embed="rId2"/>
          <a:srcRect/>
          <a:stretch>
            <a:fillRect/>
          </a:stretch>
        </p:blipFill>
        <p:spPr bwMode="auto">
          <a:xfrm>
            <a:off x="0" y="4128147"/>
            <a:ext cx="4400550" cy="269780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cap="flat" cmpd="sng">
                <a:solidFill>
                  <a:schemeClr val="tx1"/>
                </a:solidFill>
                <a:prstDash val="solid"/>
                <a:miter lim="800000"/>
                <a:headEnd type="none" w="med" len="med"/>
                <a:tailEnd type="none" w="lg" len="lg"/>
              </a14:hiddenLine>
            </a:ext>
          </a:extLst>
        </p:spPr>
      </p:pic>
      <p:sp>
        <p:nvSpPr>
          <p:cNvPr id="2" name="标题 1"/>
          <p:cNvSpPr>
            <a:spLocks noGrp="1"/>
          </p:cNvSpPr>
          <p:nvPr>
            <p:ph type="title"/>
          </p:nvPr>
        </p:nvSpPr>
        <p:spPr/>
        <p:txBody>
          <a:bodyPr/>
          <a:lstStyle/>
          <a:p>
            <a:pPr>
              <a:defRPr/>
            </a:pPr>
            <a:r>
              <a:rPr lang="zh-CN" altLang="en-US" dirty="0" smtClean="0"/>
              <a:t>蝴蝶效应的来历</a:t>
            </a:r>
            <a:endParaRPr lang="zh-CN" altLang="en-US" dirty="0"/>
          </a:p>
        </p:txBody>
      </p:sp>
      <p:sp>
        <p:nvSpPr>
          <p:cNvPr id="57348" name="内容占位符 2"/>
          <p:cNvSpPr>
            <a:spLocks noGrp="1"/>
          </p:cNvSpPr>
          <p:nvPr>
            <p:ph idx="1"/>
          </p:nvPr>
        </p:nvSpPr>
        <p:spPr>
          <a:xfrm>
            <a:off x="650875" y="1143000"/>
            <a:ext cx="8910638" cy="2585323"/>
          </a:xfrm>
        </p:spPr>
        <p:txBody>
          <a:bodyPr/>
          <a:lstStyle/>
          <a:p>
            <a:r>
              <a:rPr lang="en-US" altLang="zh-CN" sz="2400" dirty="0" smtClean="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混沌学传奇</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与</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分形论</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奇异性探索</a:t>
            </a:r>
            <a:r>
              <a:rPr lang="en-US" altLang="zh-CN" sz="2400" dirty="0" smtClean="0">
                <a:latin typeface="宋体" panose="02010600030101010101" pitchFamily="2" charset="-122"/>
                <a:ea typeface="宋体" panose="02010600030101010101" pitchFamily="2" charset="-122"/>
              </a:rPr>
              <a:t>》</a:t>
            </a:r>
            <a:r>
              <a:rPr lang="zh-CN" altLang="en-US" sz="2400" dirty="0" smtClean="0">
                <a:latin typeface="宋体" panose="02010600030101010101" pitchFamily="2" charset="-122"/>
                <a:ea typeface="宋体" panose="02010600030101010101" pitchFamily="2" charset="-122"/>
              </a:rPr>
              <a:t>书中有</a:t>
            </a:r>
            <a:r>
              <a:rPr lang="zh-CN" altLang="en-US" sz="2400" dirty="0">
                <a:latin typeface="宋体" panose="02010600030101010101" pitchFamily="2" charset="-122"/>
                <a:ea typeface="宋体" panose="02010600030101010101" pitchFamily="2" charset="-122"/>
              </a:rPr>
              <a:t>这样的</a:t>
            </a:r>
            <a:r>
              <a:rPr lang="zh-CN" altLang="en-US" sz="2400" dirty="0" smtClean="0">
                <a:latin typeface="宋体" panose="02010600030101010101" pitchFamily="2" charset="-122"/>
                <a:ea typeface="宋体" panose="02010600030101010101" pitchFamily="2" charset="-122"/>
              </a:rPr>
              <a:t>描述</a:t>
            </a:r>
            <a:endParaRPr lang="en-US" altLang="zh-CN" sz="2400" dirty="0" smtClean="0">
              <a:latin typeface="宋体" panose="02010600030101010101" pitchFamily="2" charset="-122"/>
              <a:ea typeface="宋体" panose="02010600030101010101" pitchFamily="2" charset="-122"/>
            </a:endParaRPr>
          </a:p>
          <a:p>
            <a:pPr lvl="1"/>
            <a:r>
              <a:rPr lang="zh-CN" altLang="en-US" sz="2400" dirty="0" smtClean="0">
                <a:latin typeface="宋体" panose="02010600030101010101" pitchFamily="2" charset="-122"/>
                <a:ea typeface="宋体" panose="02010600030101010101" pitchFamily="2" charset="-122"/>
              </a:rPr>
              <a:t>为了预报天气，洛伦兹</a:t>
            </a:r>
            <a:r>
              <a:rPr lang="en-US" altLang="zh-CN" sz="2400" dirty="0" smtClean="0">
                <a:latin typeface="宋体" panose="02010600030101010101" pitchFamily="2" charset="-122"/>
                <a:ea typeface="宋体" panose="02010600030101010101" pitchFamily="2" charset="-122"/>
              </a:rPr>
              <a:t>(Lorenz)</a:t>
            </a:r>
            <a:r>
              <a:rPr lang="zh-CN" altLang="en-US" sz="2400" dirty="0" smtClean="0">
                <a:latin typeface="宋体" panose="02010600030101010101" pitchFamily="2" charset="-122"/>
                <a:ea typeface="宋体" panose="02010600030101010101" pitchFamily="2" charset="-122"/>
              </a:rPr>
              <a:t>用计算机求解仿真地球大气的</a:t>
            </a:r>
            <a:r>
              <a:rPr lang="en-US" altLang="zh-CN" sz="2400" dirty="0" smtClean="0">
                <a:latin typeface="宋体" panose="02010600030101010101" pitchFamily="2" charset="-122"/>
                <a:ea typeface="宋体" panose="02010600030101010101" pitchFamily="2" charset="-122"/>
              </a:rPr>
              <a:t>13</a:t>
            </a:r>
            <a:r>
              <a:rPr lang="zh-CN" altLang="en-US" sz="2400" dirty="0" smtClean="0">
                <a:latin typeface="宋体" panose="02010600030101010101" pitchFamily="2" charset="-122"/>
                <a:ea typeface="宋体" panose="02010600030101010101" pitchFamily="2" charset="-122"/>
              </a:rPr>
              <a:t>个方程式，意图利用计算机的高速运算来提高长期天气预报的准确性。</a:t>
            </a:r>
            <a:endParaRPr lang="en-US" altLang="zh-CN" sz="2400" dirty="0" smtClean="0">
              <a:latin typeface="宋体" panose="02010600030101010101" pitchFamily="2" charset="-122"/>
              <a:ea typeface="宋体" panose="02010600030101010101" pitchFamily="2" charset="-122"/>
            </a:endParaRPr>
          </a:p>
          <a:p>
            <a:pPr lvl="1"/>
            <a:r>
              <a:rPr lang="en-US" altLang="zh-CN" sz="2400" dirty="0" smtClean="0">
                <a:latin typeface="宋体" panose="02010600030101010101" pitchFamily="2" charset="-122"/>
                <a:ea typeface="宋体" panose="02010600030101010101" pitchFamily="2" charset="-122"/>
              </a:rPr>
              <a:t>1963</a:t>
            </a:r>
            <a:r>
              <a:rPr lang="zh-CN" altLang="en-US" sz="2400" dirty="0">
                <a:latin typeface="宋体" panose="02010600030101010101" pitchFamily="2" charset="-122"/>
                <a:ea typeface="宋体" panose="02010600030101010101" pitchFamily="2" charset="-122"/>
              </a:rPr>
              <a:t>年</a:t>
            </a:r>
            <a:r>
              <a:rPr lang="en-US" altLang="zh-CN" sz="2400" dirty="0" smtClean="0">
                <a:latin typeface="宋体" panose="02010600030101010101" pitchFamily="2" charset="-122"/>
                <a:ea typeface="宋体" panose="02010600030101010101" pitchFamily="2" charset="-122"/>
              </a:rPr>
              <a:t>(1961</a:t>
            </a:r>
            <a:r>
              <a:rPr lang="zh-CN" altLang="en-US" sz="2400" dirty="0" smtClean="0">
                <a:latin typeface="宋体" panose="02010600030101010101" pitchFamily="2" charset="-122"/>
                <a:ea typeface="宋体" panose="02010600030101010101" pitchFamily="2" charset="-122"/>
              </a:rPr>
              <a:t>年？</a:t>
            </a:r>
            <a:r>
              <a:rPr lang="en-US" altLang="zh-CN" sz="2400" dirty="0" smtClean="0">
                <a:latin typeface="宋体" panose="02010600030101010101" pitchFamily="2" charset="-122"/>
                <a:ea typeface="宋体" panose="02010600030101010101" pitchFamily="2" charset="-122"/>
              </a:rPr>
              <a:t>)</a:t>
            </a:r>
            <a:r>
              <a:rPr lang="zh-CN" altLang="en-US" sz="2400" dirty="0" smtClean="0">
                <a:latin typeface="宋体" panose="02010600030101010101" pitchFamily="2" charset="-122"/>
                <a:ea typeface="宋体" panose="02010600030101010101" pitchFamily="2" charset="-122"/>
              </a:rPr>
              <a:t> 的一次试验中，为了更细致地考察结果（</a:t>
            </a:r>
            <a:r>
              <a:rPr lang="zh-CN" altLang="en-US" sz="2400" dirty="0">
                <a:latin typeface="宋体" panose="02010600030101010101" pitchFamily="2" charset="-122"/>
                <a:ea typeface="宋体" panose="02010600030101010101" pitchFamily="2" charset="-122"/>
              </a:rPr>
              <a:t>走了一条</a:t>
            </a:r>
            <a:r>
              <a:rPr lang="zh-CN" altLang="en-US" sz="2400" dirty="0" smtClean="0">
                <a:latin typeface="宋体" panose="02010600030101010101" pitchFamily="2" charset="-122"/>
                <a:ea typeface="宋体" panose="02010600030101010101" pitchFamily="2" charset="-122"/>
              </a:rPr>
              <a:t>捷径？），他</a:t>
            </a:r>
            <a:r>
              <a:rPr lang="zh-CN" altLang="en-US" sz="2400" dirty="0">
                <a:latin typeface="宋体" panose="02010600030101010101" pitchFamily="2" charset="-122"/>
                <a:ea typeface="宋体" panose="02010600030101010101" pitchFamily="2" charset="-122"/>
              </a:rPr>
              <a:t>没有令计算机从头运行</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而是从中途</a:t>
            </a:r>
            <a:r>
              <a:rPr lang="zh-CN" altLang="en-US" sz="2400" dirty="0" smtClean="0">
                <a:latin typeface="宋体" panose="02010600030101010101" pitchFamily="2" charset="-122"/>
                <a:ea typeface="宋体" panose="02010600030101010101" pitchFamily="2" charset="-122"/>
              </a:rPr>
              <a:t>开始，把一个中间解</a:t>
            </a:r>
            <a:r>
              <a:rPr lang="en-US" altLang="zh-CN" sz="2400" dirty="0" smtClean="0">
                <a:solidFill>
                  <a:srgbClr val="0000FF"/>
                </a:solidFill>
                <a:latin typeface="宋体" panose="02010600030101010101" pitchFamily="2" charset="-122"/>
                <a:ea typeface="宋体" panose="02010600030101010101" pitchFamily="2" charset="-122"/>
              </a:rPr>
              <a:t>0.506</a:t>
            </a:r>
            <a:r>
              <a:rPr lang="zh-CN" altLang="en-US" sz="2400" dirty="0" smtClean="0">
                <a:latin typeface="宋体" panose="02010600030101010101" pitchFamily="2" charset="-122"/>
                <a:ea typeface="宋体" panose="02010600030101010101" pitchFamily="2" charset="-122"/>
              </a:rPr>
              <a:t>取出，提高精度到</a:t>
            </a:r>
            <a:r>
              <a:rPr lang="en-US" altLang="zh-CN" sz="2400" dirty="0" smtClean="0">
                <a:solidFill>
                  <a:srgbClr val="0000FF"/>
                </a:solidFill>
                <a:latin typeface="宋体" panose="02010600030101010101" pitchFamily="2" charset="-122"/>
                <a:ea typeface="宋体" panose="02010600030101010101" pitchFamily="2" charset="-122"/>
              </a:rPr>
              <a:t>0.506127</a:t>
            </a:r>
            <a:r>
              <a:rPr lang="zh-CN" altLang="en-US" sz="2400" dirty="0" smtClean="0">
                <a:latin typeface="宋体" panose="02010600030101010101" pitchFamily="2" charset="-122"/>
                <a:ea typeface="宋体" panose="02010600030101010101" pitchFamily="2" charset="-122"/>
              </a:rPr>
              <a:t>再送回。</a:t>
            </a:r>
            <a:endParaRPr lang="en-US" altLang="zh-CN" sz="2400" dirty="0" smtClean="0">
              <a:latin typeface="宋体" panose="02010600030101010101" pitchFamily="2" charset="-122"/>
              <a:ea typeface="宋体" panose="02010600030101010101" pitchFamily="2" charset="-122"/>
            </a:endParaRPr>
          </a:p>
        </p:txBody>
      </p:sp>
      <p:sp>
        <p:nvSpPr>
          <p:cNvPr id="57349"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C15E38F-999A-431D-8180-908353723D53}" type="slidenum">
              <a:rPr lang="zh-CN" altLang="en-US" i="0" smtClean="0"/>
              <a:pPr/>
              <a:t>58</a:t>
            </a:fld>
            <a:endParaRPr lang="en-US" altLang="zh-CN" i="0" smtClean="0"/>
          </a:p>
        </p:txBody>
      </p:sp>
      <p:sp>
        <p:nvSpPr>
          <p:cNvPr id="57350"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FA7ED3B-46C9-476E-B096-7B67B11B9CDD}" type="datetime1">
              <a:rPr lang="zh-CN" altLang="en-US" sz="1800" i="0" smtClean="0"/>
              <a:pPr/>
              <a:t>2024/9/8</a:t>
            </a:fld>
            <a:endParaRPr lang="en-US" altLang="zh-CN" sz="1000" i="0" smtClean="0"/>
          </a:p>
        </p:txBody>
      </p:sp>
      <p:sp>
        <p:nvSpPr>
          <p:cNvPr id="3" name="矩形 2"/>
          <p:cNvSpPr/>
          <p:nvPr/>
        </p:nvSpPr>
        <p:spPr>
          <a:xfrm>
            <a:off x="4078610" y="3933056"/>
            <a:ext cx="5448994" cy="2548390"/>
          </a:xfrm>
          <a:prstGeom prst="rect">
            <a:avLst/>
          </a:prstGeom>
        </p:spPr>
        <p:txBody>
          <a:bodyPr wrap="square">
            <a:spAutoFit/>
          </a:bodyPr>
          <a:lstStyle/>
          <a:p>
            <a:pPr marL="649288" lvl="1" indent="-261938" algn="l" defTabSz="814388">
              <a:lnSpc>
                <a:spcPct val="90000"/>
              </a:lnSpc>
              <a:spcBef>
                <a:spcPct val="35000"/>
              </a:spcBef>
              <a:buClr>
                <a:srgbClr val="27305F"/>
              </a:buClr>
              <a:buChar char="–"/>
            </a:pPr>
            <a:r>
              <a:rPr lang="zh-CN" altLang="en-US" sz="2400" i="0" dirty="0">
                <a:latin typeface="宋体" panose="02010600030101010101" pitchFamily="2" charset="-122"/>
              </a:rPr>
              <a:t>而当洛伦兹到咖啡馆喝了杯咖啡以后回来再看时却大吃一惊：本来很小的差异，结果却偏离了十万八千里</a:t>
            </a:r>
            <a:r>
              <a:rPr lang="zh-CN" altLang="en-US" sz="2400" i="0" dirty="0" smtClean="0">
                <a:latin typeface="宋体" panose="02010600030101010101" pitchFamily="2" charset="-122"/>
              </a:rPr>
              <a:t>！</a:t>
            </a:r>
            <a:endParaRPr lang="en-US" altLang="zh-CN" sz="2400" i="0" dirty="0" smtClean="0">
              <a:latin typeface="宋体" panose="02010600030101010101" pitchFamily="2" charset="-122"/>
            </a:endParaRPr>
          </a:p>
          <a:p>
            <a:pPr marL="649288" lvl="1" indent="-261938" algn="l" defTabSz="814388">
              <a:lnSpc>
                <a:spcPct val="90000"/>
              </a:lnSpc>
              <a:spcBef>
                <a:spcPct val="35000"/>
              </a:spcBef>
              <a:buClr>
                <a:srgbClr val="27305F"/>
              </a:buClr>
              <a:buChar char="–"/>
            </a:pPr>
            <a:r>
              <a:rPr lang="zh-CN" altLang="en-US" sz="2400" i="0" dirty="0" smtClean="0">
                <a:latin typeface="宋体" panose="02010600030101010101" pitchFamily="2" charset="-122"/>
              </a:rPr>
              <a:t>进一步</a:t>
            </a:r>
            <a:r>
              <a:rPr lang="zh-CN" altLang="en-US" sz="2400" i="0" dirty="0">
                <a:latin typeface="宋体" panose="02010600030101010101" pitchFamily="2" charset="-122"/>
              </a:rPr>
              <a:t>的计算表明</a:t>
            </a:r>
            <a:r>
              <a:rPr lang="en-US" altLang="zh-CN" sz="2400" i="0" dirty="0">
                <a:latin typeface="宋体" panose="02010600030101010101" pitchFamily="2" charset="-122"/>
              </a:rPr>
              <a:t>,</a:t>
            </a:r>
            <a:r>
              <a:rPr lang="zh-CN" altLang="en-US" sz="2400" i="0" dirty="0">
                <a:latin typeface="宋体" panose="02010600030101010101" pitchFamily="2" charset="-122"/>
              </a:rPr>
              <a:t> 输入的细微差异可能很快成为输出的巨大差别</a:t>
            </a:r>
            <a:r>
              <a:rPr lang="en-US" altLang="zh-CN" sz="2400" i="0" dirty="0">
                <a:latin typeface="宋体" panose="02010600030101010101" pitchFamily="2" charset="-122"/>
              </a:rPr>
              <a:t>.</a:t>
            </a:r>
            <a:r>
              <a:rPr lang="zh-CN" altLang="en-US" sz="2400" i="0" dirty="0">
                <a:latin typeface="宋体" panose="02010600030101010101" pitchFamily="2" charset="-122"/>
              </a:rPr>
              <a:t>计算机并没有毛病，</a:t>
            </a:r>
            <a:endParaRPr lang="en-US" altLang="zh-CN" sz="2400" i="0"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蝴蝶效应的来历</a:t>
            </a:r>
            <a:endParaRPr lang="zh-CN" altLang="en-US" dirty="0"/>
          </a:p>
        </p:txBody>
      </p:sp>
      <p:sp>
        <p:nvSpPr>
          <p:cNvPr id="58371" name="内容占位符 2"/>
          <p:cNvSpPr>
            <a:spLocks noGrp="1"/>
          </p:cNvSpPr>
          <p:nvPr>
            <p:ph idx="1"/>
          </p:nvPr>
        </p:nvSpPr>
        <p:spPr>
          <a:xfrm>
            <a:off x="650875" y="1143000"/>
            <a:ext cx="9055100" cy="3403600"/>
          </a:xfrm>
        </p:spPr>
        <p:txBody>
          <a:bodyPr/>
          <a:lstStyle/>
          <a:p>
            <a:r>
              <a:rPr lang="zh-CN" altLang="en-US" smtClean="0"/>
              <a:t>洛伦兹发现，由于误差会以指数级增长，所以在这种情况下，一个微小的误差随着不断推移将会造成截然不同的后果</a:t>
            </a:r>
          </a:p>
          <a:p>
            <a:endParaRPr lang="en-US" altLang="zh-CN" smtClean="0"/>
          </a:p>
          <a:p>
            <a:r>
              <a:rPr lang="zh-CN" altLang="en-US" smtClean="0"/>
              <a:t>某地上空一只小小的蝴蝶扇动翅膀而扰动了空气，长时间后可能导致遥远的彼地发生一场暴风雨，以此比喻长时期大范围天气预报往往因一点点微小的因素造成难以预测的严重后果。</a:t>
            </a:r>
          </a:p>
        </p:txBody>
      </p:sp>
      <p:sp>
        <p:nvSpPr>
          <p:cNvPr id="5837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AD1B579-9EF8-4C4C-BBAB-45841210D277}" type="slidenum">
              <a:rPr lang="zh-CN" altLang="en-US" i="0" smtClean="0"/>
              <a:pPr/>
              <a:t>59</a:t>
            </a:fld>
            <a:endParaRPr lang="en-US" altLang="zh-CN" i="0" smtClean="0"/>
          </a:p>
        </p:txBody>
      </p:sp>
      <p:sp>
        <p:nvSpPr>
          <p:cNvPr id="5837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CE983AC-9EDE-4F04-A0B6-6539C174FE2A}" type="datetime1">
              <a:rPr lang="zh-CN" altLang="en-US" sz="1800" i="0" smtClean="0"/>
              <a:pPr/>
              <a:t>2024/9/8</a:t>
            </a:fld>
            <a:endParaRPr lang="en-US" altLang="zh-CN" sz="1000" i="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蝴蝶效应</a:t>
            </a:r>
          </a:p>
        </p:txBody>
      </p:sp>
      <p:sp>
        <p:nvSpPr>
          <p:cNvPr id="56323" name="内容占位符 2"/>
          <p:cNvSpPr>
            <a:spLocks noGrp="1"/>
          </p:cNvSpPr>
          <p:nvPr>
            <p:ph idx="1"/>
          </p:nvPr>
        </p:nvSpPr>
        <p:spPr>
          <a:xfrm>
            <a:off x="650875" y="1143000"/>
            <a:ext cx="8820150" cy="1163638"/>
          </a:xfrm>
        </p:spPr>
        <p:txBody>
          <a:bodyPr/>
          <a:lstStyle/>
          <a:p>
            <a:r>
              <a:rPr lang="zh-CN" altLang="en-US" smtClean="0"/>
              <a:t>一只南美洲亚马孙河流域热带雨林中的蝴蝶，偶尔扇动几下翅膀，可以在两周以后引起美国德克萨斯州的一场龙卷风。</a:t>
            </a:r>
          </a:p>
        </p:txBody>
      </p:sp>
      <p:sp>
        <p:nvSpPr>
          <p:cNvPr id="5632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8C128733-AF2C-460C-9269-F1516732C241}" type="slidenum">
              <a:rPr lang="zh-CN" altLang="en-US" i="0" smtClean="0"/>
              <a:pPr/>
              <a:t>60</a:t>
            </a:fld>
            <a:endParaRPr lang="en-US" altLang="zh-CN" i="0" smtClean="0"/>
          </a:p>
        </p:txBody>
      </p:sp>
      <p:sp>
        <p:nvSpPr>
          <p:cNvPr id="5632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F9D5D57-0A57-4851-9122-2D25502EC0DF}" type="datetime1">
              <a:rPr lang="zh-CN" altLang="en-US" sz="1800" i="0" smtClean="0"/>
              <a:pPr/>
              <a:t>2024/9/8</a:t>
            </a:fld>
            <a:endParaRPr lang="en-US" altLang="zh-CN" sz="1000" i="0" smtClean="0"/>
          </a:p>
        </p:txBody>
      </p:sp>
      <p:grpSp>
        <p:nvGrpSpPr>
          <p:cNvPr id="51" name="Group 4"/>
          <p:cNvGrpSpPr>
            <a:grpSpLocks/>
          </p:cNvGrpSpPr>
          <p:nvPr/>
        </p:nvGrpSpPr>
        <p:grpSpPr bwMode="auto">
          <a:xfrm>
            <a:off x="2782888" y="2222500"/>
            <a:ext cx="5410200" cy="2209800"/>
            <a:chOff x="0" y="0"/>
            <a:chExt cx="3408" cy="1392"/>
          </a:xfrm>
        </p:grpSpPr>
        <p:sp>
          <p:nvSpPr>
            <p:cNvPr id="52" name="Line 5"/>
            <p:cNvSpPr>
              <a:spLocks noChangeShapeType="1"/>
            </p:cNvSpPr>
            <p:nvPr/>
          </p:nvSpPr>
          <p:spPr bwMode="auto">
            <a:xfrm>
              <a:off x="0" y="1392"/>
              <a:ext cx="3408" cy="0"/>
            </a:xfrm>
            <a:prstGeom prst="line">
              <a:avLst/>
            </a:prstGeom>
            <a:noFill/>
            <a:ln w="12700">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53" name="Line 6"/>
            <p:cNvSpPr>
              <a:spLocks noChangeShapeType="1"/>
            </p:cNvSpPr>
            <p:nvPr/>
          </p:nvSpPr>
          <p:spPr bwMode="auto">
            <a:xfrm flipV="1">
              <a:off x="0" y="0"/>
              <a:ext cx="0" cy="1392"/>
            </a:xfrm>
            <a:prstGeom prst="line">
              <a:avLst/>
            </a:prstGeom>
            <a:noFill/>
            <a:ln w="12700">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grpSp>
      <p:sp>
        <p:nvSpPr>
          <p:cNvPr id="54" name="未知"/>
          <p:cNvSpPr>
            <a:spLocks/>
          </p:cNvSpPr>
          <p:nvPr/>
        </p:nvSpPr>
        <p:spPr bwMode="auto">
          <a:xfrm>
            <a:off x="2782888" y="3594100"/>
            <a:ext cx="4419600" cy="266700"/>
          </a:xfrm>
          <a:custGeom>
            <a:avLst/>
            <a:gdLst>
              <a:gd name="T0" fmla="*/ 0 w 2784"/>
              <a:gd name="T1" fmla="*/ 64 h 168"/>
              <a:gd name="T2" fmla="*/ 240 w 2784"/>
              <a:gd name="T3" fmla="*/ 64 h 168"/>
              <a:gd name="T4" fmla="*/ 624 w 2784"/>
              <a:gd name="T5" fmla="*/ 16 h 168"/>
              <a:gd name="T6" fmla="*/ 864 w 2784"/>
              <a:gd name="T7" fmla="*/ 16 h 168"/>
              <a:gd name="T8" fmla="*/ 1248 w 2784"/>
              <a:gd name="T9" fmla="*/ 112 h 168"/>
              <a:gd name="T10" fmla="*/ 1536 w 2784"/>
              <a:gd name="T11" fmla="*/ 160 h 168"/>
              <a:gd name="T12" fmla="*/ 1728 w 2784"/>
              <a:gd name="T13" fmla="*/ 64 h 168"/>
              <a:gd name="T14" fmla="*/ 1968 w 2784"/>
              <a:gd name="T15" fmla="*/ 16 h 168"/>
              <a:gd name="T16" fmla="*/ 2256 w 2784"/>
              <a:gd name="T17" fmla="*/ 64 h 168"/>
              <a:gd name="T18" fmla="*/ 2784 w 2784"/>
              <a:gd name="T19" fmla="*/ 6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4" h="168">
                <a:moveTo>
                  <a:pt x="0" y="64"/>
                </a:moveTo>
                <a:cubicBezTo>
                  <a:pt x="68" y="68"/>
                  <a:pt x="136" y="72"/>
                  <a:pt x="240" y="64"/>
                </a:cubicBezTo>
                <a:cubicBezTo>
                  <a:pt x="344" y="56"/>
                  <a:pt x="520" y="24"/>
                  <a:pt x="624" y="16"/>
                </a:cubicBezTo>
                <a:cubicBezTo>
                  <a:pt x="728" y="8"/>
                  <a:pt x="760" y="0"/>
                  <a:pt x="864" y="16"/>
                </a:cubicBezTo>
                <a:cubicBezTo>
                  <a:pt x="968" y="32"/>
                  <a:pt x="1136" y="88"/>
                  <a:pt x="1248" y="112"/>
                </a:cubicBezTo>
                <a:cubicBezTo>
                  <a:pt x="1360" y="136"/>
                  <a:pt x="1456" y="168"/>
                  <a:pt x="1536" y="160"/>
                </a:cubicBezTo>
                <a:cubicBezTo>
                  <a:pt x="1616" y="152"/>
                  <a:pt x="1656" y="88"/>
                  <a:pt x="1728" y="64"/>
                </a:cubicBezTo>
                <a:cubicBezTo>
                  <a:pt x="1800" y="40"/>
                  <a:pt x="1880" y="16"/>
                  <a:pt x="1968" y="16"/>
                </a:cubicBezTo>
                <a:cubicBezTo>
                  <a:pt x="2056" y="16"/>
                  <a:pt x="2120" y="56"/>
                  <a:pt x="2256" y="64"/>
                </a:cubicBezTo>
                <a:cubicBezTo>
                  <a:pt x="2392" y="72"/>
                  <a:pt x="2588" y="68"/>
                  <a:pt x="2784" y="64"/>
                </a:cubicBezTo>
              </a:path>
            </a:pathLst>
          </a:custGeom>
          <a:noFill/>
          <a:ln w="22225"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55" name="Line 8"/>
          <p:cNvSpPr>
            <a:spLocks noChangeShapeType="1"/>
          </p:cNvSpPr>
          <p:nvPr/>
        </p:nvSpPr>
        <p:spPr bwMode="auto">
          <a:xfrm>
            <a:off x="7202488" y="3746500"/>
            <a:ext cx="0" cy="68580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grpSp>
        <p:nvGrpSpPr>
          <p:cNvPr id="56" name="Group 9"/>
          <p:cNvGrpSpPr>
            <a:grpSpLocks/>
          </p:cNvGrpSpPr>
          <p:nvPr/>
        </p:nvGrpSpPr>
        <p:grpSpPr bwMode="auto">
          <a:xfrm flipH="1">
            <a:off x="1868488" y="3136900"/>
            <a:ext cx="879475" cy="762000"/>
            <a:chOff x="0" y="0"/>
            <a:chExt cx="1130" cy="1108"/>
          </a:xfrm>
        </p:grpSpPr>
        <p:sp>
          <p:nvSpPr>
            <p:cNvPr id="57" name="未知"/>
            <p:cNvSpPr>
              <a:spLocks/>
            </p:cNvSpPr>
            <p:nvPr/>
          </p:nvSpPr>
          <p:spPr bwMode="auto">
            <a:xfrm>
              <a:off x="516" y="353"/>
              <a:ext cx="126" cy="231"/>
            </a:xfrm>
            <a:custGeom>
              <a:avLst/>
              <a:gdLst>
                <a:gd name="T0" fmla="*/ 252 w 252"/>
                <a:gd name="T1" fmla="*/ 456 h 464"/>
                <a:gd name="T2" fmla="*/ 237 w 252"/>
                <a:gd name="T3" fmla="*/ 409 h 464"/>
                <a:gd name="T4" fmla="*/ 222 w 252"/>
                <a:gd name="T5" fmla="*/ 355 h 464"/>
                <a:gd name="T6" fmla="*/ 206 w 252"/>
                <a:gd name="T7" fmla="*/ 297 h 464"/>
                <a:gd name="T8" fmla="*/ 190 w 252"/>
                <a:gd name="T9" fmla="*/ 237 h 464"/>
                <a:gd name="T10" fmla="*/ 172 w 252"/>
                <a:gd name="T11" fmla="*/ 179 h 464"/>
                <a:gd name="T12" fmla="*/ 151 w 252"/>
                <a:gd name="T13" fmla="*/ 123 h 464"/>
                <a:gd name="T14" fmla="*/ 129 w 252"/>
                <a:gd name="T15" fmla="*/ 74 h 464"/>
                <a:gd name="T16" fmla="*/ 104 w 252"/>
                <a:gd name="T17" fmla="*/ 31 h 464"/>
                <a:gd name="T18" fmla="*/ 100 w 252"/>
                <a:gd name="T19" fmla="*/ 24 h 464"/>
                <a:gd name="T20" fmla="*/ 96 w 252"/>
                <a:gd name="T21" fmla="*/ 19 h 464"/>
                <a:gd name="T22" fmla="*/ 91 w 252"/>
                <a:gd name="T23" fmla="*/ 14 h 464"/>
                <a:gd name="T24" fmla="*/ 86 w 252"/>
                <a:gd name="T25" fmla="*/ 9 h 464"/>
                <a:gd name="T26" fmla="*/ 82 w 252"/>
                <a:gd name="T27" fmla="*/ 7 h 464"/>
                <a:gd name="T28" fmla="*/ 77 w 252"/>
                <a:gd name="T29" fmla="*/ 7 h 464"/>
                <a:gd name="T30" fmla="*/ 73 w 252"/>
                <a:gd name="T31" fmla="*/ 8 h 464"/>
                <a:gd name="T32" fmla="*/ 69 w 252"/>
                <a:gd name="T33" fmla="*/ 12 h 464"/>
                <a:gd name="T34" fmla="*/ 59 w 252"/>
                <a:gd name="T35" fmla="*/ 4 h 464"/>
                <a:gd name="T36" fmla="*/ 47 w 252"/>
                <a:gd name="T37" fmla="*/ 0 h 464"/>
                <a:gd name="T38" fmla="*/ 34 w 252"/>
                <a:gd name="T39" fmla="*/ 1 h 464"/>
                <a:gd name="T40" fmla="*/ 23 w 252"/>
                <a:gd name="T41" fmla="*/ 6 h 464"/>
                <a:gd name="T42" fmla="*/ 13 w 252"/>
                <a:gd name="T43" fmla="*/ 13 h 464"/>
                <a:gd name="T44" fmla="*/ 5 w 252"/>
                <a:gd name="T45" fmla="*/ 24 h 464"/>
                <a:gd name="T46" fmla="*/ 0 w 252"/>
                <a:gd name="T47" fmla="*/ 37 h 464"/>
                <a:gd name="T48" fmla="*/ 0 w 252"/>
                <a:gd name="T49" fmla="*/ 53 h 464"/>
                <a:gd name="T50" fmla="*/ 2 w 252"/>
                <a:gd name="T51" fmla="*/ 59 h 464"/>
                <a:gd name="T52" fmla="*/ 9 w 252"/>
                <a:gd name="T53" fmla="*/ 74 h 464"/>
                <a:gd name="T54" fmla="*/ 21 w 252"/>
                <a:gd name="T55" fmla="*/ 97 h 464"/>
                <a:gd name="T56" fmla="*/ 34 w 252"/>
                <a:gd name="T57" fmla="*/ 127 h 464"/>
                <a:gd name="T58" fmla="*/ 52 w 252"/>
                <a:gd name="T59" fmla="*/ 161 h 464"/>
                <a:gd name="T60" fmla="*/ 71 w 252"/>
                <a:gd name="T61" fmla="*/ 201 h 464"/>
                <a:gd name="T62" fmla="*/ 92 w 252"/>
                <a:gd name="T63" fmla="*/ 241 h 464"/>
                <a:gd name="T64" fmla="*/ 114 w 252"/>
                <a:gd name="T65" fmla="*/ 282 h 464"/>
                <a:gd name="T66" fmla="*/ 137 w 252"/>
                <a:gd name="T67" fmla="*/ 324 h 464"/>
                <a:gd name="T68" fmla="*/ 159 w 252"/>
                <a:gd name="T69" fmla="*/ 362 h 464"/>
                <a:gd name="T70" fmla="*/ 180 w 252"/>
                <a:gd name="T71" fmla="*/ 396 h 464"/>
                <a:gd name="T72" fmla="*/ 199 w 252"/>
                <a:gd name="T73" fmla="*/ 425 h 464"/>
                <a:gd name="T74" fmla="*/ 218 w 252"/>
                <a:gd name="T75" fmla="*/ 447 h 464"/>
                <a:gd name="T76" fmla="*/ 233 w 252"/>
                <a:gd name="T77" fmla="*/ 461 h 464"/>
                <a:gd name="T78" fmla="*/ 244 w 252"/>
                <a:gd name="T79" fmla="*/ 464 h 464"/>
                <a:gd name="T80" fmla="*/ 252 w 252"/>
                <a:gd name="T81" fmla="*/ 456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2" h="464">
                  <a:moveTo>
                    <a:pt x="252" y="456"/>
                  </a:moveTo>
                  <a:lnTo>
                    <a:pt x="237" y="409"/>
                  </a:lnTo>
                  <a:lnTo>
                    <a:pt x="222" y="355"/>
                  </a:lnTo>
                  <a:lnTo>
                    <a:pt x="206" y="297"/>
                  </a:lnTo>
                  <a:lnTo>
                    <a:pt x="190" y="237"/>
                  </a:lnTo>
                  <a:lnTo>
                    <a:pt x="172" y="179"/>
                  </a:lnTo>
                  <a:lnTo>
                    <a:pt x="151" y="123"/>
                  </a:lnTo>
                  <a:lnTo>
                    <a:pt x="129" y="74"/>
                  </a:lnTo>
                  <a:lnTo>
                    <a:pt x="104" y="31"/>
                  </a:lnTo>
                  <a:lnTo>
                    <a:pt x="100" y="24"/>
                  </a:lnTo>
                  <a:lnTo>
                    <a:pt x="96" y="19"/>
                  </a:lnTo>
                  <a:lnTo>
                    <a:pt x="91" y="14"/>
                  </a:lnTo>
                  <a:lnTo>
                    <a:pt x="86" y="9"/>
                  </a:lnTo>
                  <a:lnTo>
                    <a:pt x="82" y="7"/>
                  </a:lnTo>
                  <a:lnTo>
                    <a:pt x="77" y="7"/>
                  </a:lnTo>
                  <a:lnTo>
                    <a:pt x="73" y="8"/>
                  </a:lnTo>
                  <a:lnTo>
                    <a:pt x="69" y="12"/>
                  </a:lnTo>
                  <a:lnTo>
                    <a:pt x="59" y="4"/>
                  </a:lnTo>
                  <a:lnTo>
                    <a:pt x="47" y="0"/>
                  </a:lnTo>
                  <a:lnTo>
                    <a:pt x="34" y="1"/>
                  </a:lnTo>
                  <a:lnTo>
                    <a:pt x="23" y="6"/>
                  </a:lnTo>
                  <a:lnTo>
                    <a:pt x="13" y="13"/>
                  </a:lnTo>
                  <a:lnTo>
                    <a:pt x="5" y="24"/>
                  </a:lnTo>
                  <a:lnTo>
                    <a:pt x="0" y="37"/>
                  </a:lnTo>
                  <a:lnTo>
                    <a:pt x="0" y="53"/>
                  </a:lnTo>
                  <a:lnTo>
                    <a:pt x="2" y="59"/>
                  </a:lnTo>
                  <a:lnTo>
                    <a:pt x="9" y="74"/>
                  </a:lnTo>
                  <a:lnTo>
                    <a:pt x="21" y="97"/>
                  </a:lnTo>
                  <a:lnTo>
                    <a:pt x="34" y="127"/>
                  </a:lnTo>
                  <a:lnTo>
                    <a:pt x="52" y="161"/>
                  </a:lnTo>
                  <a:lnTo>
                    <a:pt x="71" y="201"/>
                  </a:lnTo>
                  <a:lnTo>
                    <a:pt x="92" y="241"/>
                  </a:lnTo>
                  <a:lnTo>
                    <a:pt x="114" y="282"/>
                  </a:lnTo>
                  <a:lnTo>
                    <a:pt x="137" y="324"/>
                  </a:lnTo>
                  <a:lnTo>
                    <a:pt x="159" y="362"/>
                  </a:lnTo>
                  <a:lnTo>
                    <a:pt x="180" y="396"/>
                  </a:lnTo>
                  <a:lnTo>
                    <a:pt x="199" y="425"/>
                  </a:lnTo>
                  <a:lnTo>
                    <a:pt x="218" y="447"/>
                  </a:lnTo>
                  <a:lnTo>
                    <a:pt x="233" y="461"/>
                  </a:lnTo>
                  <a:lnTo>
                    <a:pt x="244" y="464"/>
                  </a:lnTo>
                  <a:lnTo>
                    <a:pt x="252" y="4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58" name="未知"/>
            <p:cNvSpPr>
              <a:spLocks/>
            </p:cNvSpPr>
            <p:nvPr/>
          </p:nvSpPr>
          <p:spPr bwMode="auto">
            <a:xfrm>
              <a:off x="0" y="353"/>
              <a:ext cx="651" cy="755"/>
            </a:xfrm>
            <a:custGeom>
              <a:avLst/>
              <a:gdLst>
                <a:gd name="T0" fmla="*/ 1010 w 1302"/>
                <a:gd name="T1" fmla="*/ 51 h 1511"/>
                <a:gd name="T2" fmla="*/ 937 w 1302"/>
                <a:gd name="T3" fmla="*/ 28 h 1511"/>
                <a:gd name="T4" fmla="*/ 840 w 1302"/>
                <a:gd name="T5" fmla="*/ 12 h 1511"/>
                <a:gd name="T6" fmla="*/ 729 w 1302"/>
                <a:gd name="T7" fmla="*/ 4 h 1511"/>
                <a:gd name="T8" fmla="*/ 608 w 1302"/>
                <a:gd name="T9" fmla="*/ 0 h 1511"/>
                <a:gd name="T10" fmla="*/ 484 w 1302"/>
                <a:gd name="T11" fmla="*/ 2 h 1511"/>
                <a:gd name="T12" fmla="*/ 373 w 1302"/>
                <a:gd name="T13" fmla="*/ 2 h 1511"/>
                <a:gd name="T14" fmla="*/ 275 w 1302"/>
                <a:gd name="T15" fmla="*/ 4 h 1511"/>
                <a:gd name="T16" fmla="*/ 189 w 1302"/>
                <a:gd name="T17" fmla="*/ 10 h 1511"/>
                <a:gd name="T18" fmla="*/ 114 w 1302"/>
                <a:gd name="T19" fmla="*/ 27 h 1511"/>
                <a:gd name="T20" fmla="*/ 51 w 1302"/>
                <a:gd name="T21" fmla="*/ 56 h 1511"/>
                <a:gd name="T22" fmla="*/ 0 w 1302"/>
                <a:gd name="T23" fmla="*/ 116 h 1511"/>
                <a:gd name="T24" fmla="*/ 49 w 1302"/>
                <a:gd name="T25" fmla="*/ 169 h 1511"/>
                <a:gd name="T26" fmla="*/ 127 w 1302"/>
                <a:gd name="T27" fmla="*/ 229 h 1511"/>
                <a:gd name="T28" fmla="*/ 203 w 1302"/>
                <a:gd name="T29" fmla="*/ 287 h 1511"/>
                <a:gd name="T30" fmla="*/ 305 w 1302"/>
                <a:gd name="T31" fmla="*/ 356 h 1511"/>
                <a:gd name="T32" fmla="*/ 421 w 1302"/>
                <a:gd name="T33" fmla="*/ 423 h 1511"/>
                <a:gd name="T34" fmla="*/ 541 w 1302"/>
                <a:gd name="T35" fmla="*/ 475 h 1511"/>
                <a:gd name="T36" fmla="*/ 653 w 1302"/>
                <a:gd name="T37" fmla="*/ 498 h 1511"/>
                <a:gd name="T38" fmla="*/ 708 w 1302"/>
                <a:gd name="T39" fmla="*/ 507 h 1511"/>
                <a:gd name="T40" fmla="*/ 776 w 1302"/>
                <a:gd name="T41" fmla="*/ 492 h 1511"/>
                <a:gd name="T42" fmla="*/ 803 w 1302"/>
                <a:gd name="T43" fmla="*/ 503 h 1511"/>
                <a:gd name="T44" fmla="*/ 784 w 1302"/>
                <a:gd name="T45" fmla="*/ 627 h 1511"/>
                <a:gd name="T46" fmla="*/ 794 w 1302"/>
                <a:gd name="T47" fmla="*/ 663 h 1511"/>
                <a:gd name="T48" fmla="*/ 818 w 1302"/>
                <a:gd name="T49" fmla="*/ 681 h 1511"/>
                <a:gd name="T50" fmla="*/ 845 w 1302"/>
                <a:gd name="T51" fmla="*/ 696 h 1511"/>
                <a:gd name="T52" fmla="*/ 889 w 1302"/>
                <a:gd name="T53" fmla="*/ 705 h 1511"/>
                <a:gd name="T54" fmla="*/ 927 w 1302"/>
                <a:gd name="T55" fmla="*/ 729 h 1511"/>
                <a:gd name="T56" fmla="*/ 945 w 1302"/>
                <a:gd name="T57" fmla="*/ 748 h 1511"/>
                <a:gd name="T58" fmla="*/ 964 w 1302"/>
                <a:gd name="T59" fmla="*/ 775 h 1511"/>
                <a:gd name="T60" fmla="*/ 966 w 1302"/>
                <a:gd name="T61" fmla="*/ 836 h 1511"/>
                <a:gd name="T62" fmla="*/ 944 w 1302"/>
                <a:gd name="T63" fmla="*/ 1252 h 1511"/>
                <a:gd name="T64" fmla="*/ 943 w 1302"/>
                <a:gd name="T65" fmla="*/ 1426 h 1511"/>
                <a:gd name="T66" fmla="*/ 928 w 1302"/>
                <a:gd name="T67" fmla="*/ 1488 h 1511"/>
                <a:gd name="T68" fmla="*/ 951 w 1302"/>
                <a:gd name="T69" fmla="*/ 1498 h 1511"/>
                <a:gd name="T70" fmla="*/ 980 w 1302"/>
                <a:gd name="T71" fmla="*/ 1372 h 1511"/>
                <a:gd name="T72" fmla="*/ 976 w 1302"/>
                <a:gd name="T73" fmla="*/ 1215 h 1511"/>
                <a:gd name="T74" fmla="*/ 987 w 1302"/>
                <a:gd name="T75" fmla="*/ 1093 h 1511"/>
                <a:gd name="T76" fmla="*/ 996 w 1302"/>
                <a:gd name="T77" fmla="*/ 1050 h 1511"/>
                <a:gd name="T78" fmla="*/ 1013 w 1302"/>
                <a:gd name="T79" fmla="*/ 1026 h 1511"/>
                <a:gd name="T80" fmla="*/ 1039 w 1302"/>
                <a:gd name="T81" fmla="*/ 1024 h 1511"/>
                <a:gd name="T82" fmla="*/ 1056 w 1302"/>
                <a:gd name="T83" fmla="*/ 1033 h 1511"/>
                <a:gd name="T84" fmla="*/ 1074 w 1302"/>
                <a:gd name="T85" fmla="*/ 1040 h 1511"/>
                <a:gd name="T86" fmla="*/ 1093 w 1302"/>
                <a:gd name="T87" fmla="*/ 1033 h 1511"/>
                <a:gd name="T88" fmla="*/ 1108 w 1302"/>
                <a:gd name="T89" fmla="*/ 1023 h 1511"/>
                <a:gd name="T90" fmla="*/ 1125 w 1302"/>
                <a:gd name="T91" fmla="*/ 1022 h 1511"/>
                <a:gd name="T92" fmla="*/ 1151 w 1302"/>
                <a:gd name="T93" fmla="*/ 1046 h 1511"/>
                <a:gd name="T94" fmla="*/ 1181 w 1302"/>
                <a:gd name="T95" fmla="*/ 1068 h 1511"/>
                <a:gd name="T96" fmla="*/ 1211 w 1302"/>
                <a:gd name="T97" fmla="*/ 1047 h 1511"/>
                <a:gd name="T98" fmla="*/ 1207 w 1302"/>
                <a:gd name="T99" fmla="*/ 980 h 1511"/>
                <a:gd name="T100" fmla="*/ 1200 w 1302"/>
                <a:gd name="T101" fmla="*/ 920 h 1511"/>
                <a:gd name="T102" fmla="*/ 1228 w 1302"/>
                <a:gd name="T103" fmla="*/ 867 h 1511"/>
                <a:gd name="T104" fmla="*/ 1267 w 1302"/>
                <a:gd name="T105" fmla="*/ 837 h 1511"/>
                <a:gd name="T106" fmla="*/ 1295 w 1302"/>
                <a:gd name="T107" fmla="*/ 773 h 1511"/>
                <a:gd name="T108" fmla="*/ 1301 w 1302"/>
                <a:gd name="T109" fmla="*/ 652 h 1511"/>
                <a:gd name="T110" fmla="*/ 1272 w 1302"/>
                <a:gd name="T111" fmla="*/ 514 h 1511"/>
                <a:gd name="T112" fmla="*/ 1231 w 1302"/>
                <a:gd name="T113" fmla="*/ 427 h 1511"/>
                <a:gd name="T114" fmla="*/ 1189 w 1302"/>
                <a:gd name="T115" fmla="*/ 354 h 1511"/>
                <a:gd name="T116" fmla="*/ 1146 w 1302"/>
                <a:gd name="T117" fmla="*/ 275 h 1511"/>
                <a:gd name="T118" fmla="*/ 1102 w 1302"/>
                <a:gd name="T119" fmla="*/ 195 h 1511"/>
                <a:gd name="T120" fmla="*/ 1064 w 1302"/>
                <a:gd name="T121" fmla="*/ 119 h 1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2" h="1511">
                  <a:moveTo>
                    <a:pt x="1043" y="71"/>
                  </a:moveTo>
                  <a:lnTo>
                    <a:pt x="1028" y="61"/>
                  </a:lnTo>
                  <a:lnTo>
                    <a:pt x="1010" y="51"/>
                  </a:lnTo>
                  <a:lnTo>
                    <a:pt x="989" y="42"/>
                  </a:lnTo>
                  <a:lnTo>
                    <a:pt x="964" y="35"/>
                  </a:lnTo>
                  <a:lnTo>
                    <a:pt x="937" y="28"/>
                  </a:lnTo>
                  <a:lnTo>
                    <a:pt x="907" y="21"/>
                  </a:lnTo>
                  <a:lnTo>
                    <a:pt x="875" y="16"/>
                  </a:lnTo>
                  <a:lnTo>
                    <a:pt x="840" y="12"/>
                  </a:lnTo>
                  <a:lnTo>
                    <a:pt x="805" y="8"/>
                  </a:lnTo>
                  <a:lnTo>
                    <a:pt x="767" y="6"/>
                  </a:lnTo>
                  <a:lnTo>
                    <a:pt x="729" y="4"/>
                  </a:lnTo>
                  <a:lnTo>
                    <a:pt x="688" y="1"/>
                  </a:lnTo>
                  <a:lnTo>
                    <a:pt x="648" y="1"/>
                  </a:lnTo>
                  <a:lnTo>
                    <a:pt x="608" y="0"/>
                  </a:lnTo>
                  <a:lnTo>
                    <a:pt x="566" y="0"/>
                  </a:lnTo>
                  <a:lnTo>
                    <a:pt x="525" y="1"/>
                  </a:lnTo>
                  <a:lnTo>
                    <a:pt x="484" y="2"/>
                  </a:lnTo>
                  <a:lnTo>
                    <a:pt x="446" y="2"/>
                  </a:lnTo>
                  <a:lnTo>
                    <a:pt x="408" y="2"/>
                  </a:lnTo>
                  <a:lnTo>
                    <a:pt x="373" y="2"/>
                  </a:lnTo>
                  <a:lnTo>
                    <a:pt x="339" y="2"/>
                  </a:lnTo>
                  <a:lnTo>
                    <a:pt x="306" y="2"/>
                  </a:lnTo>
                  <a:lnTo>
                    <a:pt x="275" y="4"/>
                  </a:lnTo>
                  <a:lnTo>
                    <a:pt x="245" y="5"/>
                  </a:lnTo>
                  <a:lnTo>
                    <a:pt x="217" y="7"/>
                  </a:lnTo>
                  <a:lnTo>
                    <a:pt x="189" y="10"/>
                  </a:lnTo>
                  <a:lnTo>
                    <a:pt x="163" y="15"/>
                  </a:lnTo>
                  <a:lnTo>
                    <a:pt x="139" y="20"/>
                  </a:lnTo>
                  <a:lnTo>
                    <a:pt x="114" y="27"/>
                  </a:lnTo>
                  <a:lnTo>
                    <a:pt x="92" y="35"/>
                  </a:lnTo>
                  <a:lnTo>
                    <a:pt x="72" y="45"/>
                  </a:lnTo>
                  <a:lnTo>
                    <a:pt x="51" y="56"/>
                  </a:lnTo>
                  <a:lnTo>
                    <a:pt x="20" y="80"/>
                  </a:lnTo>
                  <a:lnTo>
                    <a:pt x="4" y="99"/>
                  </a:lnTo>
                  <a:lnTo>
                    <a:pt x="0" y="116"/>
                  </a:lnTo>
                  <a:lnTo>
                    <a:pt x="8" y="134"/>
                  </a:lnTo>
                  <a:lnTo>
                    <a:pt x="26" y="151"/>
                  </a:lnTo>
                  <a:lnTo>
                    <a:pt x="49" y="169"/>
                  </a:lnTo>
                  <a:lnTo>
                    <a:pt x="78" y="190"/>
                  </a:lnTo>
                  <a:lnTo>
                    <a:pt x="109" y="214"/>
                  </a:lnTo>
                  <a:lnTo>
                    <a:pt x="127" y="229"/>
                  </a:lnTo>
                  <a:lnTo>
                    <a:pt x="149" y="247"/>
                  </a:lnTo>
                  <a:lnTo>
                    <a:pt x="174" y="266"/>
                  </a:lnTo>
                  <a:lnTo>
                    <a:pt x="203" y="287"/>
                  </a:lnTo>
                  <a:lnTo>
                    <a:pt x="235" y="310"/>
                  </a:lnTo>
                  <a:lnTo>
                    <a:pt x="269" y="333"/>
                  </a:lnTo>
                  <a:lnTo>
                    <a:pt x="305" y="356"/>
                  </a:lnTo>
                  <a:lnTo>
                    <a:pt x="343" y="379"/>
                  </a:lnTo>
                  <a:lnTo>
                    <a:pt x="382" y="402"/>
                  </a:lnTo>
                  <a:lnTo>
                    <a:pt x="421" y="423"/>
                  </a:lnTo>
                  <a:lnTo>
                    <a:pt x="461" y="442"/>
                  </a:lnTo>
                  <a:lnTo>
                    <a:pt x="500" y="460"/>
                  </a:lnTo>
                  <a:lnTo>
                    <a:pt x="541" y="475"/>
                  </a:lnTo>
                  <a:lnTo>
                    <a:pt x="579" y="486"/>
                  </a:lnTo>
                  <a:lnTo>
                    <a:pt x="617" y="494"/>
                  </a:lnTo>
                  <a:lnTo>
                    <a:pt x="653" y="498"/>
                  </a:lnTo>
                  <a:lnTo>
                    <a:pt x="667" y="500"/>
                  </a:lnTo>
                  <a:lnTo>
                    <a:pt x="686" y="503"/>
                  </a:lnTo>
                  <a:lnTo>
                    <a:pt x="708" y="507"/>
                  </a:lnTo>
                  <a:lnTo>
                    <a:pt x="731" y="507"/>
                  </a:lnTo>
                  <a:lnTo>
                    <a:pt x="754" y="503"/>
                  </a:lnTo>
                  <a:lnTo>
                    <a:pt x="776" y="492"/>
                  </a:lnTo>
                  <a:lnTo>
                    <a:pt x="795" y="473"/>
                  </a:lnTo>
                  <a:lnTo>
                    <a:pt x="810" y="443"/>
                  </a:lnTo>
                  <a:lnTo>
                    <a:pt x="803" y="503"/>
                  </a:lnTo>
                  <a:lnTo>
                    <a:pt x="794" y="551"/>
                  </a:lnTo>
                  <a:lnTo>
                    <a:pt x="787" y="590"/>
                  </a:lnTo>
                  <a:lnTo>
                    <a:pt x="784" y="627"/>
                  </a:lnTo>
                  <a:lnTo>
                    <a:pt x="785" y="643"/>
                  </a:lnTo>
                  <a:lnTo>
                    <a:pt x="788" y="654"/>
                  </a:lnTo>
                  <a:lnTo>
                    <a:pt x="794" y="663"/>
                  </a:lnTo>
                  <a:lnTo>
                    <a:pt x="801" y="669"/>
                  </a:lnTo>
                  <a:lnTo>
                    <a:pt x="809" y="675"/>
                  </a:lnTo>
                  <a:lnTo>
                    <a:pt x="818" y="681"/>
                  </a:lnTo>
                  <a:lnTo>
                    <a:pt x="827" y="688"/>
                  </a:lnTo>
                  <a:lnTo>
                    <a:pt x="835" y="696"/>
                  </a:lnTo>
                  <a:lnTo>
                    <a:pt x="845" y="696"/>
                  </a:lnTo>
                  <a:lnTo>
                    <a:pt x="858" y="698"/>
                  </a:lnTo>
                  <a:lnTo>
                    <a:pt x="873" y="700"/>
                  </a:lnTo>
                  <a:lnTo>
                    <a:pt x="889" y="705"/>
                  </a:lnTo>
                  <a:lnTo>
                    <a:pt x="904" y="712"/>
                  </a:lnTo>
                  <a:lnTo>
                    <a:pt x="916" y="720"/>
                  </a:lnTo>
                  <a:lnTo>
                    <a:pt x="927" y="729"/>
                  </a:lnTo>
                  <a:lnTo>
                    <a:pt x="933" y="741"/>
                  </a:lnTo>
                  <a:lnTo>
                    <a:pt x="938" y="744"/>
                  </a:lnTo>
                  <a:lnTo>
                    <a:pt x="945" y="748"/>
                  </a:lnTo>
                  <a:lnTo>
                    <a:pt x="952" y="754"/>
                  </a:lnTo>
                  <a:lnTo>
                    <a:pt x="958" y="762"/>
                  </a:lnTo>
                  <a:lnTo>
                    <a:pt x="964" y="775"/>
                  </a:lnTo>
                  <a:lnTo>
                    <a:pt x="967" y="790"/>
                  </a:lnTo>
                  <a:lnTo>
                    <a:pt x="968" y="811"/>
                  </a:lnTo>
                  <a:lnTo>
                    <a:pt x="966" y="836"/>
                  </a:lnTo>
                  <a:lnTo>
                    <a:pt x="958" y="939"/>
                  </a:lnTo>
                  <a:lnTo>
                    <a:pt x="950" y="1096"/>
                  </a:lnTo>
                  <a:lnTo>
                    <a:pt x="944" y="1252"/>
                  </a:lnTo>
                  <a:lnTo>
                    <a:pt x="945" y="1346"/>
                  </a:lnTo>
                  <a:lnTo>
                    <a:pt x="946" y="1389"/>
                  </a:lnTo>
                  <a:lnTo>
                    <a:pt x="943" y="1426"/>
                  </a:lnTo>
                  <a:lnTo>
                    <a:pt x="937" y="1455"/>
                  </a:lnTo>
                  <a:lnTo>
                    <a:pt x="931" y="1473"/>
                  </a:lnTo>
                  <a:lnTo>
                    <a:pt x="928" y="1488"/>
                  </a:lnTo>
                  <a:lnTo>
                    <a:pt x="928" y="1504"/>
                  </a:lnTo>
                  <a:lnTo>
                    <a:pt x="935" y="1511"/>
                  </a:lnTo>
                  <a:lnTo>
                    <a:pt x="951" y="1498"/>
                  </a:lnTo>
                  <a:lnTo>
                    <a:pt x="967" y="1465"/>
                  </a:lnTo>
                  <a:lnTo>
                    <a:pt x="976" y="1420"/>
                  </a:lnTo>
                  <a:lnTo>
                    <a:pt x="980" y="1372"/>
                  </a:lnTo>
                  <a:lnTo>
                    <a:pt x="977" y="1327"/>
                  </a:lnTo>
                  <a:lnTo>
                    <a:pt x="975" y="1276"/>
                  </a:lnTo>
                  <a:lnTo>
                    <a:pt x="976" y="1215"/>
                  </a:lnTo>
                  <a:lnTo>
                    <a:pt x="980" y="1156"/>
                  </a:lnTo>
                  <a:lnTo>
                    <a:pt x="984" y="1110"/>
                  </a:lnTo>
                  <a:lnTo>
                    <a:pt x="987" y="1093"/>
                  </a:lnTo>
                  <a:lnTo>
                    <a:pt x="989" y="1077"/>
                  </a:lnTo>
                  <a:lnTo>
                    <a:pt x="992" y="1063"/>
                  </a:lnTo>
                  <a:lnTo>
                    <a:pt x="996" y="1050"/>
                  </a:lnTo>
                  <a:lnTo>
                    <a:pt x="1000" y="1040"/>
                  </a:lnTo>
                  <a:lnTo>
                    <a:pt x="1005" y="1032"/>
                  </a:lnTo>
                  <a:lnTo>
                    <a:pt x="1013" y="1026"/>
                  </a:lnTo>
                  <a:lnTo>
                    <a:pt x="1021" y="1023"/>
                  </a:lnTo>
                  <a:lnTo>
                    <a:pt x="1030" y="1022"/>
                  </a:lnTo>
                  <a:lnTo>
                    <a:pt x="1039" y="1024"/>
                  </a:lnTo>
                  <a:lnTo>
                    <a:pt x="1044" y="1026"/>
                  </a:lnTo>
                  <a:lnTo>
                    <a:pt x="1051" y="1030"/>
                  </a:lnTo>
                  <a:lnTo>
                    <a:pt x="1056" y="1033"/>
                  </a:lnTo>
                  <a:lnTo>
                    <a:pt x="1062" y="1037"/>
                  </a:lnTo>
                  <a:lnTo>
                    <a:pt x="1067" y="1039"/>
                  </a:lnTo>
                  <a:lnTo>
                    <a:pt x="1074" y="1040"/>
                  </a:lnTo>
                  <a:lnTo>
                    <a:pt x="1081" y="1039"/>
                  </a:lnTo>
                  <a:lnTo>
                    <a:pt x="1087" y="1037"/>
                  </a:lnTo>
                  <a:lnTo>
                    <a:pt x="1093" y="1033"/>
                  </a:lnTo>
                  <a:lnTo>
                    <a:pt x="1097" y="1030"/>
                  </a:lnTo>
                  <a:lnTo>
                    <a:pt x="1102" y="1026"/>
                  </a:lnTo>
                  <a:lnTo>
                    <a:pt x="1108" y="1023"/>
                  </a:lnTo>
                  <a:lnTo>
                    <a:pt x="1112" y="1020"/>
                  </a:lnTo>
                  <a:lnTo>
                    <a:pt x="1118" y="1019"/>
                  </a:lnTo>
                  <a:lnTo>
                    <a:pt x="1125" y="1022"/>
                  </a:lnTo>
                  <a:lnTo>
                    <a:pt x="1133" y="1027"/>
                  </a:lnTo>
                  <a:lnTo>
                    <a:pt x="1141" y="1037"/>
                  </a:lnTo>
                  <a:lnTo>
                    <a:pt x="1151" y="1046"/>
                  </a:lnTo>
                  <a:lnTo>
                    <a:pt x="1162" y="1055"/>
                  </a:lnTo>
                  <a:lnTo>
                    <a:pt x="1172" y="1063"/>
                  </a:lnTo>
                  <a:lnTo>
                    <a:pt x="1181" y="1068"/>
                  </a:lnTo>
                  <a:lnTo>
                    <a:pt x="1191" y="1069"/>
                  </a:lnTo>
                  <a:lnTo>
                    <a:pt x="1204" y="1061"/>
                  </a:lnTo>
                  <a:lnTo>
                    <a:pt x="1211" y="1047"/>
                  </a:lnTo>
                  <a:lnTo>
                    <a:pt x="1214" y="1027"/>
                  </a:lnTo>
                  <a:lnTo>
                    <a:pt x="1211" y="1004"/>
                  </a:lnTo>
                  <a:lnTo>
                    <a:pt x="1207" y="980"/>
                  </a:lnTo>
                  <a:lnTo>
                    <a:pt x="1203" y="957"/>
                  </a:lnTo>
                  <a:lnTo>
                    <a:pt x="1200" y="936"/>
                  </a:lnTo>
                  <a:lnTo>
                    <a:pt x="1200" y="920"/>
                  </a:lnTo>
                  <a:lnTo>
                    <a:pt x="1207" y="896"/>
                  </a:lnTo>
                  <a:lnTo>
                    <a:pt x="1216" y="880"/>
                  </a:lnTo>
                  <a:lnTo>
                    <a:pt x="1228" y="867"/>
                  </a:lnTo>
                  <a:lnTo>
                    <a:pt x="1240" y="858"/>
                  </a:lnTo>
                  <a:lnTo>
                    <a:pt x="1254" y="849"/>
                  </a:lnTo>
                  <a:lnTo>
                    <a:pt x="1267" y="837"/>
                  </a:lnTo>
                  <a:lnTo>
                    <a:pt x="1278" y="822"/>
                  </a:lnTo>
                  <a:lnTo>
                    <a:pt x="1289" y="802"/>
                  </a:lnTo>
                  <a:lnTo>
                    <a:pt x="1295" y="773"/>
                  </a:lnTo>
                  <a:lnTo>
                    <a:pt x="1301" y="737"/>
                  </a:lnTo>
                  <a:lnTo>
                    <a:pt x="1302" y="696"/>
                  </a:lnTo>
                  <a:lnTo>
                    <a:pt x="1301" y="652"/>
                  </a:lnTo>
                  <a:lnTo>
                    <a:pt x="1295" y="606"/>
                  </a:lnTo>
                  <a:lnTo>
                    <a:pt x="1286" y="560"/>
                  </a:lnTo>
                  <a:lnTo>
                    <a:pt x="1272" y="514"/>
                  </a:lnTo>
                  <a:lnTo>
                    <a:pt x="1254" y="471"/>
                  </a:lnTo>
                  <a:lnTo>
                    <a:pt x="1242" y="450"/>
                  </a:lnTo>
                  <a:lnTo>
                    <a:pt x="1231" y="427"/>
                  </a:lnTo>
                  <a:lnTo>
                    <a:pt x="1218" y="404"/>
                  </a:lnTo>
                  <a:lnTo>
                    <a:pt x="1204" y="379"/>
                  </a:lnTo>
                  <a:lnTo>
                    <a:pt x="1189" y="354"/>
                  </a:lnTo>
                  <a:lnTo>
                    <a:pt x="1176" y="328"/>
                  </a:lnTo>
                  <a:lnTo>
                    <a:pt x="1161" y="302"/>
                  </a:lnTo>
                  <a:lnTo>
                    <a:pt x="1146" y="275"/>
                  </a:lnTo>
                  <a:lnTo>
                    <a:pt x="1131" y="249"/>
                  </a:lnTo>
                  <a:lnTo>
                    <a:pt x="1116" y="221"/>
                  </a:lnTo>
                  <a:lnTo>
                    <a:pt x="1102" y="195"/>
                  </a:lnTo>
                  <a:lnTo>
                    <a:pt x="1088" y="169"/>
                  </a:lnTo>
                  <a:lnTo>
                    <a:pt x="1075" y="144"/>
                  </a:lnTo>
                  <a:lnTo>
                    <a:pt x="1064" y="119"/>
                  </a:lnTo>
                  <a:lnTo>
                    <a:pt x="1052" y="94"/>
                  </a:lnTo>
                  <a:lnTo>
                    <a:pt x="1043"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59" name="未知"/>
            <p:cNvSpPr>
              <a:spLocks/>
            </p:cNvSpPr>
            <p:nvPr/>
          </p:nvSpPr>
          <p:spPr bwMode="auto">
            <a:xfrm>
              <a:off x="567" y="0"/>
              <a:ext cx="563" cy="826"/>
            </a:xfrm>
            <a:custGeom>
              <a:avLst/>
              <a:gdLst>
                <a:gd name="T0" fmla="*/ 17 w 1123"/>
                <a:gd name="T1" fmla="*/ 678 h 1654"/>
                <a:gd name="T2" fmla="*/ 78 w 1123"/>
                <a:gd name="T3" fmla="*/ 577 h 1654"/>
                <a:gd name="T4" fmla="*/ 171 w 1123"/>
                <a:gd name="T5" fmla="*/ 461 h 1654"/>
                <a:gd name="T6" fmla="*/ 282 w 1123"/>
                <a:gd name="T7" fmla="*/ 341 h 1654"/>
                <a:gd name="T8" fmla="*/ 391 w 1123"/>
                <a:gd name="T9" fmla="*/ 229 h 1654"/>
                <a:gd name="T10" fmla="*/ 485 w 1123"/>
                <a:gd name="T11" fmla="*/ 134 h 1654"/>
                <a:gd name="T12" fmla="*/ 570 w 1123"/>
                <a:gd name="T13" fmla="*/ 60 h 1654"/>
                <a:gd name="T14" fmla="*/ 655 w 1123"/>
                <a:gd name="T15" fmla="*/ 14 h 1654"/>
                <a:gd name="T16" fmla="*/ 757 w 1123"/>
                <a:gd name="T17" fmla="*/ 13 h 1654"/>
                <a:gd name="T18" fmla="*/ 756 w 1123"/>
                <a:gd name="T19" fmla="*/ 119 h 1654"/>
                <a:gd name="T20" fmla="*/ 728 w 1123"/>
                <a:gd name="T21" fmla="*/ 356 h 1654"/>
                <a:gd name="T22" fmla="*/ 625 w 1123"/>
                <a:gd name="T23" fmla="*/ 685 h 1654"/>
                <a:gd name="T24" fmla="*/ 550 w 1123"/>
                <a:gd name="T25" fmla="*/ 794 h 1654"/>
                <a:gd name="T26" fmla="*/ 466 w 1123"/>
                <a:gd name="T27" fmla="*/ 833 h 1654"/>
                <a:gd name="T28" fmla="*/ 503 w 1123"/>
                <a:gd name="T29" fmla="*/ 874 h 1654"/>
                <a:gd name="T30" fmla="*/ 571 w 1123"/>
                <a:gd name="T31" fmla="*/ 919 h 1654"/>
                <a:gd name="T32" fmla="*/ 605 w 1123"/>
                <a:gd name="T33" fmla="*/ 963 h 1654"/>
                <a:gd name="T34" fmla="*/ 600 w 1123"/>
                <a:gd name="T35" fmla="*/ 1003 h 1654"/>
                <a:gd name="T36" fmla="*/ 577 w 1123"/>
                <a:gd name="T37" fmla="*/ 1047 h 1654"/>
                <a:gd name="T38" fmla="*/ 560 w 1123"/>
                <a:gd name="T39" fmla="*/ 1106 h 1654"/>
                <a:gd name="T40" fmla="*/ 561 w 1123"/>
                <a:gd name="T41" fmla="*/ 1140 h 1654"/>
                <a:gd name="T42" fmla="*/ 591 w 1123"/>
                <a:gd name="T43" fmla="*/ 1191 h 1654"/>
                <a:gd name="T44" fmla="*/ 664 w 1123"/>
                <a:gd name="T45" fmla="*/ 1251 h 1654"/>
                <a:gd name="T46" fmla="*/ 779 w 1123"/>
                <a:gd name="T47" fmla="*/ 1349 h 1654"/>
                <a:gd name="T48" fmla="*/ 901 w 1123"/>
                <a:gd name="T49" fmla="*/ 1455 h 1654"/>
                <a:gd name="T50" fmla="*/ 984 w 1123"/>
                <a:gd name="T51" fmla="*/ 1534 h 1654"/>
                <a:gd name="T52" fmla="*/ 1039 w 1123"/>
                <a:gd name="T53" fmla="*/ 1587 h 1654"/>
                <a:gd name="T54" fmla="*/ 1089 w 1123"/>
                <a:gd name="T55" fmla="*/ 1618 h 1654"/>
                <a:gd name="T56" fmla="*/ 1116 w 1123"/>
                <a:gd name="T57" fmla="*/ 1635 h 1654"/>
                <a:gd name="T58" fmla="*/ 1114 w 1123"/>
                <a:gd name="T59" fmla="*/ 1654 h 1654"/>
                <a:gd name="T60" fmla="*/ 1046 w 1123"/>
                <a:gd name="T61" fmla="*/ 1632 h 1654"/>
                <a:gd name="T62" fmla="*/ 972 w 1123"/>
                <a:gd name="T63" fmla="*/ 1570 h 1654"/>
                <a:gd name="T64" fmla="*/ 901 w 1123"/>
                <a:gd name="T65" fmla="*/ 1497 h 1654"/>
                <a:gd name="T66" fmla="*/ 813 w 1123"/>
                <a:gd name="T67" fmla="*/ 1422 h 1654"/>
                <a:gd name="T68" fmla="*/ 757 w 1123"/>
                <a:gd name="T69" fmla="*/ 1382 h 1654"/>
                <a:gd name="T70" fmla="*/ 715 w 1123"/>
                <a:gd name="T71" fmla="*/ 1372 h 1654"/>
                <a:gd name="T72" fmla="*/ 690 w 1123"/>
                <a:gd name="T73" fmla="*/ 1416 h 1654"/>
                <a:gd name="T74" fmla="*/ 666 w 1123"/>
                <a:gd name="T75" fmla="*/ 1435 h 1654"/>
                <a:gd name="T76" fmla="*/ 643 w 1123"/>
                <a:gd name="T77" fmla="*/ 1441 h 1654"/>
                <a:gd name="T78" fmla="*/ 632 w 1123"/>
                <a:gd name="T79" fmla="*/ 1512 h 1654"/>
                <a:gd name="T80" fmla="*/ 578 w 1123"/>
                <a:gd name="T81" fmla="*/ 1518 h 1654"/>
                <a:gd name="T82" fmla="*/ 522 w 1123"/>
                <a:gd name="T83" fmla="*/ 1445 h 1654"/>
                <a:gd name="T84" fmla="*/ 452 w 1123"/>
                <a:gd name="T85" fmla="*/ 1418 h 1654"/>
                <a:gd name="T86" fmla="*/ 386 w 1123"/>
                <a:gd name="T87" fmla="*/ 1425 h 1654"/>
                <a:gd name="T88" fmla="*/ 322 w 1123"/>
                <a:gd name="T89" fmla="*/ 1392 h 1654"/>
                <a:gd name="T90" fmla="*/ 261 w 1123"/>
                <a:gd name="T91" fmla="*/ 1338 h 1654"/>
                <a:gd name="T92" fmla="*/ 202 w 1123"/>
                <a:gd name="T93" fmla="*/ 1268 h 1654"/>
                <a:gd name="T94" fmla="*/ 156 w 1123"/>
                <a:gd name="T95" fmla="*/ 1185 h 1654"/>
                <a:gd name="T96" fmla="*/ 102 w 1123"/>
                <a:gd name="T97" fmla="*/ 1004 h 1654"/>
                <a:gd name="T98" fmla="*/ 25 w 1123"/>
                <a:gd name="T99" fmla="*/ 781 h 1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3" h="1654">
                  <a:moveTo>
                    <a:pt x="0" y="738"/>
                  </a:moveTo>
                  <a:lnTo>
                    <a:pt x="2" y="720"/>
                  </a:lnTo>
                  <a:lnTo>
                    <a:pt x="8" y="700"/>
                  </a:lnTo>
                  <a:lnTo>
                    <a:pt x="17" y="678"/>
                  </a:lnTo>
                  <a:lnTo>
                    <a:pt x="28" y="654"/>
                  </a:lnTo>
                  <a:lnTo>
                    <a:pt x="42" y="630"/>
                  </a:lnTo>
                  <a:lnTo>
                    <a:pt x="58" y="604"/>
                  </a:lnTo>
                  <a:lnTo>
                    <a:pt x="78" y="577"/>
                  </a:lnTo>
                  <a:lnTo>
                    <a:pt x="99" y="548"/>
                  </a:lnTo>
                  <a:lnTo>
                    <a:pt x="122" y="519"/>
                  </a:lnTo>
                  <a:lnTo>
                    <a:pt x="145" y="491"/>
                  </a:lnTo>
                  <a:lnTo>
                    <a:pt x="171" y="461"/>
                  </a:lnTo>
                  <a:lnTo>
                    <a:pt x="198" y="431"/>
                  </a:lnTo>
                  <a:lnTo>
                    <a:pt x="225" y="401"/>
                  </a:lnTo>
                  <a:lnTo>
                    <a:pt x="253" y="371"/>
                  </a:lnTo>
                  <a:lnTo>
                    <a:pt x="282" y="341"/>
                  </a:lnTo>
                  <a:lnTo>
                    <a:pt x="311" y="312"/>
                  </a:lnTo>
                  <a:lnTo>
                    <a:pt x="340" y="283"/>
                  </a:lnTo>
                  <a:lnTo>
                    <a:pt x="366" y="256"/>
                  </a:lnTo>
                  <a:lnTo>
                    <a:pt x="391" y="229"/>
                  </a:lnTo>
                  <a:lnTo>
                    <a:pt x="416" y="203"/>
                  </a:lnTo>
                  <a:lnTo>
                    <a:pt x="440" y="179"/>
                  </a:lnTo>
                  <a:lnTo>
                    <a:pt x="463" y="156"/>
                  </a:lnTo>
                  <a:lnTo>
                    <a:pt x="485" y="134"/>
                  </a:lnTo>
                  <a:lnTo>
                    <a:pt x="507" y="113"/>
                  </a:lnTo>
                  <a:lnTo>
                    <a:pt x="529" y="93"/>
                  </a:lnTo>
                  <a:lnTo>
                    <a:pt x="549" y="76"/>
                  </a:lnTo>
                  <a:lnTo>
                    <a:pt x="570" y="60"/>
                  </a:lnTo>
                  <a:lnTo>
                    <a:pt x="591" y="45"/>
                  </a:lnTo>
                  <a:lnTo>
                    <a:pt x="613" y="33"/>
                  </a:lnTo>
                  <a:lnTo>
                    <a:pt x="633" y="22"/>
                  </a:lnTo>
                  <a:lnTo>
                    <a:pt x="655" y="14"/>
                  </a:lnTo>
                  <a:lnTo>
                    <a:pt x="678" y="7"/>
                  </a:lnTo>
                  <a:lnTo>
                    <a:pt x="716" y="0"/>
                  </a:lnTo>
                  <a:lnTo>
                    <a:pt x="742" y="2"/>
                  </a:lnTo>
                  <a:lnTo>
                    <a:pt x="757" y="13"/>
                  </a:lnTo>
                  <a:lnTo>
                    <a:pt x="764" y="30"/>
                  </a:lnTo>
                  <a:lnTo>
                    <a:pt x="764" y="54"/>
                  </a:lnTo>
                  <a:lnTo>
                    <a:pt x="760" y="83"/>
                  </a:lnTo>
                  <a:lnTo>
                    <a:pt x="756" y="119"/>
                  </a:lnTo>
                  <a:lnTo>
                    <a:pt x="752" y="158"/>
                  </a:lnTo>
                  <a:lnTo>
                    <a:pt x="747" y="210"/>
                  </a:lnTo>
                  <a:lnTo>
                    <a:pt x="739" y="276"/>
                  </a:lnTo>
                  <a:lnTo>
                    <a:pt x="728" y="356"/>
                  </a:lnTo>
                  <a:lnTo>
                    <a:pt x="711" y="441"/>
                  </a:lnTo>
                  <a:lnTo>
                    <a:pt x="689" y="528"/>
                  </a:lnTo>
                  <a:lnTo>
                    <a:pt x="660" y="612"/>
                  </a:lnTo>
                  <a:lnTo>
                    <a:pt x="625" y="685"/>
                  </a:lnTo>
                  <a:lnTo>
                    <a:pt x="583" y="746"/>
                  </a:lnTo>
                  <a:lnTo>
                    <a:pt x="575" y="759"/>
                  </a:lnTo>
                  <a:lnTo>
                    <a:pt x="564" y="775"/>
                  </a:lnTo>
                  <a:lnTo>
                    <a:pt x="550" y="794"/>
                  </a:lnTo>
                  <a:lnTo>
                    <a:pt x="535" y="810"/>
                  </a:lnTo>
                  <a:lnTo>
                    <a:pt x="516" y="824"/>
                  </a:lnTo>
                  <a:lnTo>
                    <a:pt x="493" y="833"/>
                  </a:lnTo>
                  <a:lnTo>
                    <a:pt x="466" y="833"/>
                  </a:lnTo>
                  <a:lnTo>
                    <a:pt x="434" y="824"/>
                  </a:lnTo>
                  <a:lnTo>
                    <a:pt x="459" y="843"/>
                  </a:lnTo>
                  <a:lnTo>
                    <a:pt x="482" y="859"/>
                  </a:lnTo>
                  <a:lnTo>
                    <a:pt x="503" y="874"/>
                  </a:lnTo>
                  <a:lnTo>
                    <a:pt x="523" y="886"/>
                  </a:lnTo>
                  <a:lnTo>
                    <a:pt x="540" y="897"/>
                  </a:lnTo>
                  <a:lnTo>
                    <a:pt x="556" y="909"/>
                  </a:lnTo>
                  <a:lnTo>
                    <a:pt x="571" y="919"/>
                  </a:lnTo>
                  <a:lnTo>
                    <a:pt x="585" y="931"/>
                  </a:lnTo>
                  <a:lnTo>
                    <a:pt x="597" y="942"/>
                  </a:lnTo>
                  <a:lnTo>
                    <a:pt x="602" y="953"/>
                  </a:lnTo>
                  <a:lnTo>
                    <a:pt x="605" y="963"/>
                  </a:lnTo>
                  <a:lnTo>
                    <a:pt x="605" y="973"/>
                  </a:lnTo>
                  <a:lnTo>
                    <a:pt x="603" y="982"/>
                  </a:lnTo>
                  <a:lnTo>
                    <a:pt x="601" y="993"/>
                  </a:lnTo>
                  <a:lnTo>
                    <a:pt x="600" y="1003"/>
                  </a:lnTo>
                  <a:lnTo>
                    <a:pt x="600" y="1015"/>
                  </a:lnTo>
                  <a:lnTo>
                    <a:pt x="593" y="1023"/>
                  </a:lnTo>
                  <a:lnTo>
                    <a:pt x="585" y="1033"/>
                  </a:lnTo>
                  <a:lnTo>
                    <a:pt x="577" y="1047"/>
                  </a:lnTo>
                  <a:lnTo>
                    <a:pt x="569" y="1061"/>
                  </a:lnTo>
                  <a:lnTo>
                    <a:pt x="563" y="1077"/>
                  </a:lnTo>
                  <a:lnTo>
                    <a:pt x="560" y="1092"/>
                  </a:lnTo>
                  <a:lnTo>
                    <a:pt x="560" y="1106"/>
                  </a:lnTo>
                  <a:lnTo>
                    <a:pt x="564" y="1117"/>
                  </a:lnTo>
                  <a:lnTo>
                    <a:pt x="562" y="1123"/>
                  </a:lnTo>
                  <a:lnTo>
                    <a:pt x="561" y="1131"/>
                  </a:lnTo>
                  <a:lnTo>
                    <a:pt x="561" y="1140"/>
                  </a:lnTo>
                  <a:lnTo>
                    <a:pt x="563" y="1151"/>
                  </a:lnTo>
                  <a:lnTo>
                    <a:pt x="568" y="1162"/>
                  </a:lnTo>
                  <a:lnTo>
                    <a:pt x="577" y="1176"/>
                  </a:lnTo>
                  <a:lnTo>
                    <a:pt x="591" y="1191"/>
                  </a:lnTo>
                  <a:lnTo>
                    <a:pt x="610" y="1207"/>
                  </a:lnTo>
                  <a:lnTo>
                    <a:pt x="624" y="1217"/>
                  </a:lnTo>
                  <a:lnTo>
                    <a:pt x="643" y="1232"/>
                  </a:lnTo>
                  <a:lnTo>
                    <a:pt x="664" y="1251"/>
                  </a:lnTo>
                  <a:lnTo>
                    <a:pt x="690" y="1273"/>
                  </a:lnTo>
                  <a:lnTo>
                    <a:pt x="719" y="1297"/>
                  </a:lnTo>
                  <a:lnTo>
                    <a:pt x="749" y="1322"/>
                  </a:lnTo>
                  <a:lnTo>
                    <a:pt x="779" y="1349"/>
                  </a:lnTo>
                  <a:lnTo>
                    <a:pt x="811" y="1375"/>
                  </a:lnTo>
                  <a:lnTo>
                    <a:pt x="842" y="1403"/>
                  </a:lnTo>
                  <a:lnTo>
                    <a:pt x="872" y="1429"/>
                  </a:lnTo>
                  <a:lnTo>
                    <a:pt x="901" y="1455"/>
                  </a:lnTo>
                  <a:lnTo>
                    <a:pt x="926" y="1479"/>
                  </a:lnTo>
                  <a:lnTo>
                    <a:pt x="949" y="1501"/>
                  </a:lnTo>
                  <a:lnTo>
                    <a:pt x="969" y="1519"/>
                  </a:lnTo>
                  <a:lnTo>
                    <a:pt x="984" y="1534"/>
                  </a:lnTo>
                  <a:lnTo>
                    <a:pt x="994" y="1545"/>
                  </a:lnTo>
                  <a:lnTo>
                    <a:pt x="1009" y="1561"/>
                  </a:lnTo>
                  <a:lnTo>
                    <a:pt x="1024" y="1574"/>
                  </a:lnTo>
                  <a:lnTo>
                    <a:pt x="1039" y="1587"/>
                  </a:lnTo>
                  <a:lnTo>
                    <a:pt x="1054" y="1597"/>
                  </a:lnTo>
                  <a:lnTo>
                    <a:pt x="1067" y="1607"/>
                  </a:lnTo>
                  <a:lnTo>
                    <a:pt x="1079" y="1614"/>
                  </a:lnTo>
                  <a:lnTo>
                    <a:pt x="1089" y="1618"/>
                  </a:lnTo>
                  <a:lnTo>
                    <a:pt x="1095" y="1622"/>
                  </a:lnTo>
                  <a:lnTo>
                    <a:pt x="1102" y="1625"/>
                  </a:lnTo>
                  <a:lnTo>
                    <a:pt x="1109" y="1630"/>
                  </a:lnTo>
                  <a:lnTo>
                    <a:pt x="1116" y="1635"/>
                  </a:lnTo>
                  <a:lnTo>
                    <a:pt x="1121" y="1641"/>
                  </a:lnTo>
                  <a:lnTo>
                    <a:pt x="1123" y="1646"/>
                  </a:lnTo>
                  <a:lnTo>
                    <a:pt x="1121" y="1650"/>
                  </a:lnTo>
                  <a:lnTo>
                    <a:pt x="1114" y="1654"/>
                  </a:lnTo>
                  <a:lnTo>
                    <a:pt x="1100" y="1654"/>
                  </a:lnTo>
                  <a:lnTo>
                    <a:pt x="1083" y="1650"/>
                  </a:lnTo>
                  <a:lnTo>
                    <a:pt x="1064" y="1642"/>
                  </a:lnTo>
                  <a:lnTo>
                    <a:pt x="1046" y="1632"/>
                  </a:lnTo>
                  <a:lnTo>
                    <a:pt x="1026" y="1618"/>
                  </a:lnTo>
                  <a:lnTo>
                    <a:pt x="1007" y="1603"/>
                  </a:lnTo>
                  <a:lnTo>
                    <a:pt x="989" y="1587"/>
                  </a:lnTo>
                  <a:lnTo>
                    <a:pt x="972" y="1570"/>
                  </a:lnTo>
                  <a:lnTo>
                    <a:pt x="957" y="1554"/>
                  </a:lnTo>
                  <a:lnTo>
                    <a:pt x="941" y="1536"/>
                  </a:lnTo>
                  <a:lnTo>
                    <a:pt x="923" y="1518"/>
                  </a:lnTo>
                  <a:lnTo>
                    <a:pt x="901" y="1497"/>
                  </a:lnTo>
                  <a:lnTo>
                    <a:pt x="878" y="1477"/>
                  </a:lnTo>
                  <a:lnTo>
                    <a:pt x="855" y="1457"/>
                  </a:lnTo>
                  <a:lnTo>
                    <a:pt x="833" y="1439"/>
                  </a:lnTo>
                  <a:lnTo>
                    <a:pt x="813" y="1422"/>
                  </a:lnTo>
                  <a:lnTo>
                    <a:pt x="797" y="1410"/>
                  </a:lnTo>
                  <a:lnTo>
                    <a:pt x="783" y="1399"/>
                  </a:lnTo>
                  <a:lnTo>
                    <a:pt x="769" y="1390"/>
                  </a:lnTo>
                  <a:lnTo>
                    <a:pt x="757" y="1382"/>
                  </a:lnTo>
                  <a:lnTo>
                    <a:pt x="745" y="1376"/>
                  </a:lnTo>
                  <a:lnTo>
                    <a:pt x="735" y="1373"/>
                  </a:lnTo>
                  <a:lnTo>
                    <a:pt x="724" y="1371"/>
                  </a:lnTo>
                  <a:lnTo>
                    <a:pt x="715" y="1372"/>
                  </a:lnTo>
                  <a:lnTo>
                    <a:pt x="707" y="1376"/>
                  </a:lnTo>
                  <a:lnTo>
                    <a:pt x="697" y="1389"/>
                  </a:lnTo>
                  <a:lnTo>
                    <a:pt x="692" y="1403"/>
                  </a:lnTo>
                  <a:lnTo>
                    <a:pt x="690" y="1416"/>
                  </a:lnTo>
                  <a:lnTo>
                    <a:pt x="683" y="1426"/>
                  </a:lnTo>
                  <a:lnTo>
                    <a:pt x="678" y="1430"/>
                  </a:lnTo>
                  <a:lnTo>
                    <a:pt x="673" y="1433"/>
                  </a:lnTo>
                  <a:lnTo>
                    <a:pt x="666" y="1435"/>
                  </a:lnTo>
                  <a:lnTo>
                    <a:pt x="660" y="1436"/>
                  </a:lnTo>
                  <a:lnTo>
                    <a:pt x="653" y="1437"/>
                  </a:lnTo>
                  <a:lnTo>
                    <a:pt x="647" y="1439"/>
                  </a:lnTo>
                  <a:lnTo>
                    <a:pt x="643" y="1441"/>
                  </a:lnTo>
                  <a:lnTo>
                    <a:pt x="638" y="1444"/>
                  </a:lnTo>
                  <a:lnTo>
                    <a:pt x="635" y="1460"/>
                  </a:lnTo>
                  <a:lnTo>
                    <a:pt x="635" y="1486"/>
                  </a:lnTo>
                  <a:lnTo>
                    <a:pt x="632" y="1512"/>
                  </a:lnTo>
                  <a:lnTo>
                    <a:pt x="624" y="1531"/>
                  </a:lnTo>
                  <a:lnTo>
                    <a:pt x="609" y="1535"/>
                  </a:lnTo>
                  <a:lnTo>
                    <a:pt x="593" y="1531"/>
                  </a:lnTo>
                  <a:lnTo>
                    <a:pt x="578" y="1518"/>
                  </a:lnTo>
                  <a:lnTo>
                    <a:pt x="563" y="1501"/>
                  </a:lnTo>
                  <a:lnTo>
                    <a:pt x="549" y="1481"/>
                  </a:lnTo>
                  <a:lnTo>
                    <a:pt x="535" y="1462"/>
                  </a:lnTo>
                  <a:lnTo>
                    <a:pt x="522" y="1445"/>
                  </a:lnTo>
                  <a:lnTo>
                    <a:pt x="510" y="1434"/>
                  </a:lnTo>
                  <a:lnTo>
                    <a:pt x="488" y="1422"/>
                  </a:lnTo>
                  <a:lnTo>
                    <a:pt x="470" y="1418"/>
                  </a:lnTo>
                  <a:lnTo>
                    <a:pt x="452" y="1418"/>
                  </a:lnTo>
                  <a:lnTo>
                    <a:pt x="437" y="1420"/>
                  </a:lnTo>
                  <a:lnTo>
                    <a:pt x="421" y="1424"/>
                  </a:lnTo>
                  <a:lnTo>
                    <a:pt x="404" y="1426"/>
                  </a:lnTo>
                  <a:lnTo>
                    <a:pt x="386" y="1425"/>
                  </a:lnTo>
                  <a:lnTo>
                    <a:pt x="363" y="1417"/>
                  </a:lnTo>
                  <a:lnTo>
                    <a:pt x="350" y="1410"/>
                  </a:lnTo>
                  <a:lnTo>
                    <a:pt x="336" y="1402"/>
                  </a:lnTo>
                  <a:lnTo>
                    <a:pt x="322" y="1392"/>
                  </a:lnTo>
                  <a:lnTo>
                    <a:pt x="307" y="1381"/>
                  </a:lnTo>
                  <a:lnTo>
                    <a:pt x="292" y="1368"/>
                  </a:lnTo>
                  <a:lnTo>
                    <a:pt x="276" y="1354"/>
                  </a:lnTo>
                  <a:lnTo>
                    <a:pt x="261" y="1338"/>
                  </a:lnTo>
                  <a:lnTo>
                    <a:pt x="246" y="1322"/>
                  </a:lnTo>
                  <a:lnTo>
                    <a:pt x="231" y="1305"/>
                  </a:lnTo>
                  <a:lnTo>
                    <a:pt x="216" y="1287"/>
                  </a:lnTo>
                  <a:lnTo>
                    <a:pt x="202" y="1268"/>
                  </a:lnTo>
                  <a:lnTo>
                    <a:pt x="190" y="1247"/>
                  </a:lnTo>
                  <a:lnTo>
                    <a:pt x="177" y="1228"/>
                  </a:lnTo>
                  <a:lnTo>
                    <a:pt x="167" y="1206"/>
                  </a:lnTo>
                  <a:lnTo>
                    <a:pt x="156" y="1185"/>
                  </a:lnTo>
                  <a:lnTo>
                    <a:pt x="148" y="1163"/>
                  </a:lnTo>
                  <a:lnTo>
                    <a:pt x="133" y="1116"/>
                  </a:lnTo>
                  <a:lnTo>
                    <a:pt x="118" y="1062"/>
                  </a:lnTo>
                  <a:lnTo>
                    <a:pt x="102" y="1004"/>
                  </a:lnTo>
                  <a:lnTo>
                    <a:pt x="86" y="944"/>
                  </a:lnTo>
                  <a:lnTo>
                    <a:pt x="68" y="886"/>
                  </a:lnTo>
                  <a:lnTo>
                    <a:pt x="47" y="830"/>
                  </a:lnTo>
                  <a:lnTo>
                    <a:pt x="25" y="781"/>
                  </a:lnTo>
                  <a:lnTo>
                    <a:pt x="0" y="7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0" name="未知"/>
            <p:cNvSpPr>
              <a:spLocks/>
            </p:cNvSpPr>
            <p:nvPr/>
          </p:nvSpPr>
          <p:spPr bwMode="auto">
            <a:xfrm>
              <a:off x="543" y="113"/>
              <a:ext cx="143" cy="240"/>
            </a:xfrm>
            <a:custGeom>
              <a:avLst/>
              <a:gdLst>
                <a:gd name="T0" fmla="*/ 0 w 283"/>
                <a:gd name="T1" fmla="*/ 485 h 485"/>
                <a:gd name="T2" fmla="*/ 5 w 283"/>
                <a:gd name="T3" fmla="*/ 468 h 485"/>
                <a:gd name="T4" fmla="*/ 11 w 283"/>
                <a:gd name="T5" fmla="*/ 446 h 485"/>
                <a:gd name="T6" fmla="*/ 20 w 283"/>
                <a:gd name="T7" fmla="*/ 421 h 485"/>
                <a:gd name="T8" fmla="*/ 31 w 283"/>
                <a:gd name="T9" fmla="*/ 391 h 485"/>
                <a:gd name="T10" fmla="*/ 45 w 283"/>
                <a:gd name="T11" fmla="*/ 359 h 485"/>
                <a:gd name="T12" fmla="*/ 61 w 283"/>
                <a:gd name="T13" fmla="*/ 324 h 485"/>
                <a:gd name="T14" fmla="*/ 77 w 283"/>
                <a:gd name="T15" fmla="*/ 288 h 485"/>
                <a:gd name="T16" fmla="*/ 97 w 283"/>
                <a:gd name="T17" fmla="*/ 251 h 485"/>
                <a:gd name="T18" fmla="*/ 116 w 283"/>
                <a:gd name="T19" fmla="*/ 214 h 485"/>
                <a:gd name="T20" fmla="*/ 138 w 283"/>
                <a:gd name="T21" fmla="*/ 178 h 485"/>
                <a:gd name="T22" fmla="*/ 160 w 283"/>
                <a:gd name="T23" fmla="*/ 144 h 485"/>
                <a:gd name="T24" fmla="*/ 183 w 283"/>
                <a:gd name="T25" fmla="*/ 111 h 485"/>
                <a:gd name="T26" fmla="*/ 207 w 283"/>
                <a:gd name="T27" fmla="*/ 81 h 485"/>
                <a:gd name="T28" fmla="*/ 232 w 283"/>
                <a:gd name="T29" fmla="*/ 56 h 485"/>
                <a:gd name="T30" fmla="*/ 256 w 283"/>
                <a:gd name="T31" fmla="*/ 35 h 485"/>
                <a:gd name="T32" fmla="*/ 281 w 283"/>
                <a:gd name="T33" fmla="*/ 20 h 485"/>
                <a:gd name="T34" fmla="*/ 283 w 283"/>
                <a:gd name="T35" fmla="*/ 13 h 485"/>
                <a:gd name="T36" fmla="*/ 282 w 283"/>
                <a:gd name="T37" fmla="*/ 8 h 485"/>
                <a:gd name="T38" fmla="*/ 281 w 283"/>
                <a:gd name="T39" fmla="*/ 3 h 485"/>
                <a:gd name="T40" fmla="*/ 276 w 283"/>
                <a:gd name="T41" fmla="*/ 1 h 485"/>
                <a:gd name="T42" fmla="*/ 271 w 283"/>
                <a:gd name="T43" fmla="*/ 0 h 485"/>
                <a:gd name="T44" fmla="*/ 264 w 283"/>
                <a:gd name="T45" fmla="*/ 1 h 485"/>
                <a:gd name="T46" fmla="*/ 255 w 283"/>
                <a:gd name="T47" fmla="*/ 5 h 485"/>
                <a:gd name="T48" fmla="*/ 244 w 283"/>
                <a:gd name="T49" fmla="*/ 12 h 485"/>
                <a:gd name="T50" fmla="*/ 237 w 283"/>
                <a:gd name="T51" fmla="*/ 19 h 485"/>
                <a:gd name="T52" fmla="*/ 227 w 283"/>
                <a:gd name="T53" fmla="*/ 31 h 485"/>
                <a:gd name="T54" fmla="*/ 214 w 283"/>
                <a:gd name="T55" fmla="*/ 48 h 485"/>
                <a:gd name="T56" fmla="*/ 199 w 283"/>
                <a:gd name="T57" fmla="*/ 68 h 485"/>
                <a:gd name="T58" fmla="*/ 182 w 283"/>
                <a:gd name="T59" fmla="*/ 93 h 485"/>
                <a:gd name="T60" fmla="*/ 164 w 283"/>
                <a:gd name="T61" fmla="*/ 119 h 485"/>
                <a:gd name="T62" fmla="*/ 145 w 283"/>
                <a:gd name="T63" fmla="*/ 150 h 485"/>
                <a:gd name="T64" fmla="*/ 126 w 283"/>
                <a:gd name="T65" fmla="*/ 183 h 485"/>
                <a:gd name="T66" fmla="*/ 106 w 283"/>
                <a:gd name="T67" fmla="*/ 218 h 485"/>
                <a:gd name="T68" fmla="*/ 86 w 283"/>
                <a:gd name="T69" fmla="*/ 254 h 485"/>
                <a:gd name="T70" fmla="*/ 68 w 283"/>
                <a:gd name="T71" fmla="*/ 292 h 485"/>
                <a:gd name="T72" fmla="*/ 49 w 283"/>
                <a:gd name="T73" fmla="*/ 331 h 485"/>
                <a:gd name="T74" fmla="*/ 34 w 283"/>
                <a:gd name="T75" fmla="*/ 369 h 485"/>
                <a:gd name="T76" fmla="*/ 21 w 283"/>
                <a:gd name="T77" fmla="*/ 408 h 485"/>
                <a:gd name="T78" fmla="*/ 9 w 283"/>
                <a:gd name="T79" fmla="*/ 446 h 485"/>
                <a:gd name="T80" fmla="*/ 0 w 283"/>
                <a:gd name="T81" fmla="*/ 48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3" h="485">
                  <a:moveTo>
                    <a:pt x="0" y="485"/>
                  </a:moveTo>
                  <a:lnTo>
                    <a:pt x="5" y="468"/>
                  </a:lnTo>
                  <a:lnTo>
                    <a:pt x="11" y="446"/>
                  </a:lnTo>
                  <a:lnTo>
                    <a:pt x="20" y="421"/>
                  </a:lnTo>
                  <a:lnTo>
                    <a:pt x="31" y="391"/>
                  </a:lnTo>
                  <a:lnTo>
                    <a:pt x="45" y="359"/>
                  </a:lnTo>
                  <a:lnTo>
                    <a:pt x="61" y="324"/>
                  </a:lnTo>
                  <a:lnTo>
                    <a:pt x="77" y="288"/>
                  </a:lnTo>
                  <a:lnTo>
                    <a:pt x="97" y="251"/>
                  </a:lnTo>
                  <a:lnTo>
                    <a:pt x="116" y="214"/>
                  </a:lnTo>
                  <a:lnTo>
                    <a:pt x="138" y="178"/>
                  </a:lnTo>
                  <a:lnTo>
                    <a:pt x="160" y="144"/>
                  </a:lnTo>
                  <a:lnTo>
                    <a:pt x="183" y="111"/>
                  </a:lnTo>
                  <a:lnTo>
                    <a:pt x="207" y="81"/>
                  </a:lnTo>
                  <a:lnTo>
                    <a:pt x="232" y="56"/>
                  </a:lnTo>
                  <a:lnTo>
                    <a:pt x="256" y="35"/>
                  </a:lnTo>
                  <a:lnTo>
                    <a:pt x="281" y="20"/>
                  </a:lnTo>
                  <a:lnTo>
                    <a:pt x="283" y="13"/>
                  </a:lnTo>
                  <a:lnTo>
                    <a:pt x="282" y="8"/>
                  </a:lnTo>
                  <a:lnTo>
                    <a:pt x="281" y="3"/>
                  </a:lnTo>
                  <a:lnTo>
                    <a:pt x="276" y="1"/>
                  </a:lnTo>
                  <a:lnTo>
                    <a:pt x="271" y="0"/>
                  </a:lnTo>
                  <a:lnTo>
                    <a:pt x="264" y="1"/>
                  </a:lnTo>
                  <a:lnTo>
                    <a:pt x="255" y="5"/>
                  </a:lnTo>
                  <a:lnTo>
                    <a:pt x="244" y="12"/>
                  </a:lnTo>
                  <a:lnTo>
                    <a:pt x="237" y="19"/>
                  </a:lnTo>
                  <a:lnTo>
                    <a:pt x="227" y="31"/>
                  </a:lnTo>
                  <a:lnTo>
                    <a:pt x="214" y="48"/>
                  </a:lnTo>
                  <a:lnTo>
                    <a:pt x="199" y="68"/>
                  </a:lnTo>
                  <a:lnTo>
                    <a:pt x="182" y="93"/>
                  </a:lnTo>
                  <a:lnTo>
                    <a:pt x="164" y="119"/>
                  </a:lnTo>
                  <a:lnTo>
                    <a:pt x="145" y="150"/>
                  </a:lnTo>
                  <a:lnTo>
                    <a:pt x="126" y="183"/>
                  </a:lnTo>
                  <a:lnTo>
                    <a:pt x="106" y="218"/>
                  </a:lnTo>
                  <a:lnTo>
                    <a:pt x="86" y="254"/>
                  </a:lnTo>
                  <a:lnTo>
                    <a:pt x="68" y="292"/>
                  </a:lnTo>
                  <a:lnTo>
                    <a:pt x="49" y="331"/>
                  </a:lnTo>
                  <a:lnTo>
                    <a:pt x="34" y="369"/>
                  </a:lnTo>
                  <a:lnTo>
                    <a:pt x="21" y="408"/>
                  </a:lnTo>
                  <a:lnTo>
                    <a:pt x="9" y="446"/>
                  </a:lnTo>
                  <a:lnTo>
                    <a:pt x="0" y="4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1" name="未知"/>
            <p:cNvSpPr>
              <a:spLocks/>
            </p:cNvSpPr>
            <p:nvPr/>
          </p:nvSpPr>
          <p:spPr bwMode="auto">
            <a:xfrm>
              <a:off x="518" y="106"/>
              <a:ext cx="106" cy="259"/>
            </a:xfrm>
            <a:custGeom>
              <a:avLst/>
              <a:gdLst>
                <a:gd name="T0" fmla="*/ 0 w 211"/>
                <a:gd name="T1" fmla="*/ 517 h 517"/>
                <a:gd name="T2" fmla="*/ 1 w 211"/>
                <a:gd name="T3" fmla="*/ 501 h 517"/>
                <a:gd name="T4" fmla="*/ 4 w 211"/>
                <a:gd name="T5" fmla="*/ 478 h 517"/>
                <a:gd name="T6" fmla="*/ 10 w 211"/>
                <a:gd name="T7" fmla="*/ 452 h 517"/>
                <a:gd name="T8" fmla="*/ 17 w 211"/>
                <a:gd name="T9" fmla="*/ 421 h 517"/>
                <a:gd name="T10" fmla="*/ 25 w 211"/>
                <a:gd name="T11" fmla="*/ 387 h 517"/>
                <a:gd name="T12" fmla="*/ 35 w 211"/>
                <a:gd name="T13" fmla="*/ 350 h 517"/>
                <a:gd name="T14" fmla="*/ 47 w 211"/>
                <a:gd name="T15" fmla="*/ 312 h 517"/>
                <a:gd name="T16" fmla="*/ 60 w 211"/>
                <a:gd name="T17" fmla="*/ 273 h 517"/>
                <a:gd name="T18" fmla="*/ 75 w 211"/>
                <a:gd name="T19" fmla="*/ 234 h 517"/>
                <a:gd name="T20" fmla="*/ 91 w 211"/>
                <a:gd name="T21" fmla="*/ 195 h 517"/>
                <a:gd name="T22" fmla="*/ 107 w 211"/>
                <a:gd name="T23" fmla="*/ 158 h 517"/>
                <a:gd name="T24" fmla="*/ 125 w 211"/>
                <a:gd name="T25" fmla="*/ 122 h 517"/>
                <a:gd name="T26" fmla="*/ 145 w 211"/>
                <a:gd name="T27" fmla="*/ 91 h 517"/>
                <a:gd name="T28" fmla="*/ 166 w 211"/>
                <a:gd name="T29" fmla="*/ 62 h 517"/>
                <a:gd name="T30" fmla="*/ 188 w 211"/>
                <a:gd name="T31" fmla="*/ 38 h 517"/>
                <a:gd name="T32" fmla="*/ 209 w 211"/>
                <a:gd name="T33" fmla="*/ 20 h 517"/>
                <a:gd name="T34" fmla="*/ 211 w 211"/>
                <a:gd name="T35" fmla="*/ 13 h 517"/>
                <a:gd name="T36" fmla="*/ 209 w 211"/>
                <a:gd name="T37" fmla="*/ 7 h 517"/>
                <a:gd name="T38" fmla="*/ 206 w 211"/>
                <a:gd name="T39" fmla="*/ 4 h 517"/>
                <a:gd name="T40" fmla="*/ 201 w 211"/>
                <a:gd name="T41" fmla="*/ 0 h 517"/>
                <a:gd name="T42" fmla="*/ 196 w 211"/>
                <a:gd name="T43" fmla="*/ 0 h 517"/>
                <a:gd name="T44" fmla="*/ 189 w 211"/>
                <a:gd name="T45" fmla="*/ 3 h 517"/>
                <a:gd name="T46" fmla="*/ 181 w 211"/>
                <a:gd name="T47" fmla="*/ 8 h 517"/>
                <a:gd name="T48" fmla="*/ 171 w 211"/>
                <a:gd name="T49" fmla="*/ 16 h 517"/>
                <a:gd name="T50" fmla="*/ 158 w 211"/>
                <a:gd name="T51" fmla="*/ 37 h 517"/>
                <a:gd name="T52" fmla="*/ 134 w 211"/>
                <a:gd name="T53" fmla="*/ 79 h 517"/>
                <a:gd name="T54" fmla="*/ 108 w 211"/>
                <a:gd name="T55" fmla="*/ 134 h 517"/>
                <a:gd name="T56" fmla="*/ 79 w 211"/>
                <a:gd name="T57" fmla="*/ 202 h 517"/>
                <a:gd name="T58" fmla="*/ 50 w 211"/>
                <a:gd name="T59" fmla="*/ 278 h 517"/>
                <a:gd name="T60" fmla="*/ 26 w 211"/>
                <a:gd name="T61" fmla="*/ 358 h 517"/>
                <a:gd name="T62" fmla="*/ 9 w 211"/>
                <a:gd name="T63" fmla="*/ 439 h 517"/>
                <a:gd name="T64" fmla="*/ 0 w 211"/>
                <a:gd name="T65" fmla="*/ 517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1" h="517">
                  <a:moveTo>
                    <a:pt x="0" y="517"/>
                  </a:moveTo>
                  <a:lnTo>
                    <a:pt x="1" y="501"/>
                  </a:lnTo>
                  <a:lnTo>
                    <a:pt x="4" y="478"/>
                  </a:lnTo>
                  <a:lnTo>
                    <a:pt x="10" y="452"/>
                  </a:lnTo>
                  <a:lnTo>
                    <a:pt x="17" y="421"/>
                  </a:lnTo>
                  <a:lnTo>
                    <a:pt x="25" y="387"/>
                  </a:lnTo>
                  <a:lnTo>
                    <a:pt x="35" y="350"/>
                  </a:lnTo>
                  <a:lnTo>
                    <a:pt x="47" y="312"/>
                  </a:lnTo>
                  <a:lnTo>
                    <a:pt x="60" y="273"/>
                  </a:lnTo>
                  <a:lnTo>
                    <a:pt x="75" y="234"/>
                  </a:lnTo>
                  <a:lnTo>
                    <a:pt x="91" y="195"/>
                  </a:lnTo>
                  <a:lnTo>
                    <a:pt x="107" y="158"/>
                  </a:lnTo>
                  <a:lnTo>
                    <a:pt x="125" y="122"/>
                  </a:lnTo>
                  <a:lnTo>
                    <a:pt x="145" y="91"/>
                  </a:lnTo>
                  <a:lnTo>
                    <a:pt x="166" y="62"/>
                  </a:lnTo>
                  <a:lnTo>
                    <a:pt x="188" y="38"/>
                  </a:lnTo>
                  <a:lnTo>
                    <a:pt x="209" y="20"/>
                  </a:lnTo>
                  <a:lnTo>
                    <a:pt x="211" y="13"/>
                  </a:lnTo>
                  <a:lnTo>
                    <a:pt x="209" y="7"/>
                  </a:lnTo>
                  <a:lnTo>
                    <a:pt x="206" y="4"/>
                  </a:lnTo>
                  <a:lnTo>
                    <a:pt x="201" y="0"/>
                  </a:lnTo>
                  <a:lnTo>
                    <a:pt x="196" y="0"/>
                  </a:lnTo>
                  <a:lnTo>
                    <a:pt x="189" y="3"/>
                  </a:lnTo>
                  <a:lnTo>
                    <a:pt x="181" y="8"/>
                  </a:lnTo>
                  <a:lnTo>
                    <a:pt x="171" y="16"/>
                  </a:lnTo>
                  <a:lnTo>
                    <a:pt x="158" y="37"/>
                  </a:lnTo>
                  <a:lnTo>
                    <a:pt x="134" y="79"/>
                  </a:lnTo>
                  <a:lnTo>
                    <a:pt x="108" y="134"/>
                  </a:lnTo>
                  <a:lnTo>
                    <a:pt x="79" y="202"/>
                  </a:lnTo>
                  <a:lnTo>
                    <a:pt x="50" y="278"/>
                  </a:lnTo>
                  <a:lnTo>
                    <a:pt x="26" y="358"/>
                  </a:lnTo>
                  <a:lnTo>
                    <a:pt x="9" y="439"/>
                  </a:lnTo>
                  <a:lnTo>
                    <a:pt x="0" y="5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2" name="未知"/>
            <p:cNvSpPr>
              <a:spLocks/>
            </p:cNvSpPr>
            <p:nvPr/>
          </p:nvSpPr>
          <p:spPr bwMode="auto">
            <a:xfrm>
              <a:off x="100" y="379"/>
              <a:ext cx="177" cy="81"/>
            </a:xfrm>
            <a:custGeom>
              <a:avLst/>
              <a:gdLst>
                <a:gd name="T0" fmla="*/ 23 w 353"/>
                <a:gd name="T1" fmla="*/ 154 h 162"/>
                <a:gd name="T2" fmla="*/ 31 w 353"/>
                <a:gd name="T3" fmla="*/ 159 h 162"/>
                <a:gd name="T4" fmla="*/ 44 w 353"/>
                <a:gd name="T5" fmla="*/ 161 h 162"/>
                <a:gd name="T6" fmla="*/ 58 w 353"/>
                <a:gd name="T7" fmla="*/ 162 h 162"/>
                <a:gd name="T8" fmla="*/ 75 w 353"/>
                <a:gd name="T9" fmla="*/ 162 h 162"/>
                <a:gd name="T10" fmla="*/ 91 w 353"/>
                <a:gd name="T11" fmla="*/ 160 h 162"/>
                <a:gd name="T12" fmla="*/ 108 w 353"/>
                <a:gd name="T13" fmla="*/ 157 h 162"/>
                <a:gd name="T14" fmla="*/ 124 w 353"/>
                <a:gd name="T15" fmla="*/ 152 h 162"/>
                <a:gd name="T16" fmla="*/ 139 w 353"/>
                <a:gd name="T17" fmla="*/ 145 h 162"/>
                <a:gd name="T18" fmla="*/ 147 w 353"/>
                <a:gd name="T19" fmla="*/ 142 h 162"/>
                <a:gd name="T20" fmla="*/ 157 w 353"/>
                <a:gd name="T21" fmla="*/ 136 h 162"/>
                <a:gd name="T22" fmla="*/ 169 w 353"/>
                <a:gd name="T23" fmla="*/ 130 h 162"/>
                <a:gd name="T24" fmla="*/ 182 w 353"/>
                <a:gd name="T25" fmla="*/ 124 h 162"/>
                <a:gd name="T26" fmla="*/ 197 w 353"/>
                <a:gd name="T27" fmla="*/ 117 h 162"/>
                <a:gd name="T28" fmla="*/ 212 w 353"/>
                <a:gd name="T29" fmla="*/ 110 h 162"/>
                <a:gd name="T30" fmla="*/ 228 w 353"/>
                <a:gd name="T31" fmla="*/ 104 h 162"/>
                <a:gd name="T32" fmla="*/ 244 w 353"/>
                <a:gd name="T33" fmla="*/ 97 h 162"/>
                <a:gd name="T34" fmla="*/ 260 w 353"/>
                <a:gd name="T35" fmla="*/ 89 h 162"/>
                <a:gd name="T36" fmla="*/ 277 w 353"/>
                <a:gd name="T37" fmla="*/ 83 h 162"/>
                <a:gd name="T38" fmla="*/ 290 w 353"/>
                <a:gd name="T39" fmla="*/ 76 h 162"/>
                <a:gd name="T40" fmla="*/ 304 w 353"/>
                <a:gd name="T41" fmla="*/ 70 h 162"/>
                <a:gd name="T42" fmla="*/ 316 w 353"/>
                <a:gd name="T43" fmla="*/ 64 h 162"/>
                <a:gd name="T44" fmla="*/ 326 w 353"/>
                <a:gd name="T45" fmla="*/ 61 h 162"/>
                <a:gd name="T46" fmla="*/ 334 w 353"/>
                <a:gd name="T47" fmla="*/ 57 h 162"/>
                <a:gd name="T48" fmla="*/ 339 w 353"/>
                <a:gd name="T49" fmla="*/ 55 h 162"/>
                <a:gd name="T50" fmla="*/ 351 w 353"/>
                <a:gd name="T51" fmla="*/ 45 h 162"/>
                <a:gd name="T52" fmla="*/ 353 w 353"/>
                <a:gd name="T53" fmla="*/ 30 h 162"/>
                <a:gd name="T54" fmla="*/ 344 w 353"/>
                <a:gd name="T55" fmla="*/ 15 h 162"/>
                <a:gd name="T56" fmla="*/ 333 w 353"/>
                <a:gd name="T57" fmla="*/ 1 h 162"/>
                <a:gd name="T58" fmla="*/ 327 w 353"/>
                <a:gd name="T59" fmla="*/ 0 h 162"/>
                <a:gd name="T60" fmla="*/ 320 w 353"/>
                <a:gd name="T61" fmla="*/ 0 h 162"/>
                <a:gd name="T62" fmla="*/ 310 w 353"/>
                <a:gd name="T63" fmla="*/ 1 h 162"/>
                <a:gd name="T64" fmla="*/ 300 w 353"/>
                <a:gd name="T65" fmla="*/ 3 h 162"/>
                <a:gd name="T66" fmla="*/ 288 w 353"/>
                <a:gd name="T67" fmla="*/ 7 h 162"/>
                <a:gd name="T68" fmla="*/ 275 w 353"/>
                <a:gd name="T69" fmla="*/ 11 h 162"/>
                <a:gd name="T70" fmla="*/ 262 w 353"/>
                <a:gd name="T71" fmla="*/ 17 h 162"/>
                <a:gd name="T72" fmla="*/ 249 w 353"/>
                <a:gd name="T73" fmla="*/ 22 h 162"/>
                <a:gd name="T74" fmla="*/ 243 w 353"/>
                <a:gd name="T75" fmla="*/ 23 h 162"/>
                <a:gd name="T76" fmla="*/ 234 w 353"/>
                <a:gd name="T77" fmla="*/ 26 h 162"/>
                <a:gd name="T78" fmla="*/ 221 w 353"/>
                <a:gd name="T79" fmla="*/ 31 h 162"/>
                <a:gd name="T80" fmla="*/ 206 w 353"/>
                <a:gd name="T81" fmla="*/ 36 h 162"/>
                <a:gd name="T82" fmla="*/ 189 w 353"/>
                <a:gd name="T83" fmla="*/ 41 h 162"/>
                <a:gd name="T84" fmla="*/ 171 w 353"/>
                <a:gd name="T85" fmla="*/ 48 h 162"/>
                <a:gd name="T86" fmla="*/ 151 w 353"/>
                <a:gd name="T87" fmla="*/ 55 h 162"/>
                <a:gd name="T88" fmla="*/ 130 w 353"/>
                <a:gd name="T89" fmla="*/ 62 h 162"/>
                <a:gd name="T90" fmla="*/ 111 w 353"/>
                <a:gd name="T91" fmla="*/ 69 h 162"/>
                <a:gd name="T92" fmla="*/ 90 w 353"/>
                <a:gd name="T93" fmla="*/ 76 h 162"/>
                <a:gd name="T94" fmla="*/ 71 w 353"/>
                <a:gd name="T95" fmla="*/ 83 h 162"/>
                <a:gd name="T96" fmla="*/ 55 w 353"/>
                <a:gd name="T97" fmla="*/ 89 h 162"/>
                <a:gd name="T98" fmla="*/ 40 w 353"/>
                <a:gd name="T99" fmla="*/ 93 h 162"/>
                <a:gd name="T100" fmla="*/ 28 w 353"/>
                <a:gd name="T101" fmla="*/ 98 h 162"/>
                <a:gd name="T102" fmla="*/ 18 w 353"/>
                <a:gd name="T103" fmla="*/ 101 h 162"/>
                <a:gd name="T104" fmla="*/ 14 w 353"/>
                <a:gd name="T105" fmla="*/ 102 h 162"/>
                <a:gd name="T106" fmla="*/ 3 w 353"/>
                <a:gd name="T107" fmla="*/ 109 h 162"/>
                <a:gd name="T108" fmla="*/ 0 w 353"/>
                <a:gd name="T109" fmla="*/ 120 h 162"/>
                <a:gd name="T110" fmla="*/ 7 w 353"/>
                <a:gd name="T111" fmla="*/ 135 h 162"/>
                <a:gd name="T112" fmla="*/ 23 w 353"/>
                <a:gd name="T113" fmla="*/ 154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3" h="162">
                  <a:moveTo>
                    <a:pt x="23" y="154"/>
                  </a:moveTo>
                  <a:lnTo>
                    <a:pt x="31" y="159"/>
                  </a:lnTo>
                  <a:lnTo>
                    <a:pt x="44" y="161"/>
                  </a:lnTo>
                  <a:lnTo>
                    <a:pt x="58" y="162"/>
                  </a:lnTo>
                  <a:lnTo>
                    <a:pt x="75" y="162"/>
                  </a:lnTo>
                  <a:lnTo>
                    <a:pt x="91" y="160"/>
                  </a:lnTo>
                  <a:lnTo>
                    <a:pt x="108" y="157"/>
                  </a:lnTo>
                  <a:lnTo>
                    <a:pt x="124" y="152"/>
                  </a:lnTo>
                  <a:lnTo>
                    <a:pt x="139" y="145"/>
                  </a:lnTo>
                  <a:lnTo>
                    <a:pt x="147" y="142"/>
                  </a:lnTo>
                  <a:lnTo>
                    <a:pt x="157" y="136"/>
                  </a:lnTo>
                  <a:lnTo>
                    <a:pt x="169" y="130"/>
                  </a:lnTo>
                  <a:lnTo>
                    <a:pt x="182" y="124"/>
                  </a:lnTo>
                  <a:lnTo>
                    <a:pt x="197" y="117"/>
                  </a:lnTo>
                  <a:lnTo>
                    <a:pt x="212" y="110"/>
                  </a:lnTo>
                  <a:lnTo>
                    <a:pt x="228" y="104"/>
                  </a:lnTo>
                  <a:lnTo>
                    <a:pt x="244" y="97"/>
                  </a:lnTo>
                  <a:lnTo>
                    <a:pt x="260" y="89"/>
                  </a:lnTo>
                  <a:lnTo>
                    <a:pt x="277" y="83"/>
                  </a:lnTo>
                  <a:lnTo>
                    <a:pt x="290" y="76"/>
                  </a:lnTo>
                  <a:lnTo>
                    <a:pt x="304" y="70"/>
                  </a:lnTo>
                  <a:lnTo>
                    <a:pt x="316" y="64"/>
                  </a:lnTo>
                  <a:lnTo>
                    <a:pt x="326" y="61"/>
                  </a:lnTo>
                  <a:lnTo>
                    <a:pt x="334" y="57"/>
                  </a:lnTo>
                  <a:lnTo>
                    <a:pt x="339" y="55"/>
                  </a:lnTo>
                  <a:lnTo>
                    <a:pt x="351" y="45"/>
                  </a:lnTo>
                  <a:lnTo>
                    <a:pt x="353" y="30"/>
                  </a:lnTo>
                  <a:lnTo>
                    <a:pt x="344" y="15"/>
                  </a:lnTo>
                  <a:lnTo>
                    <a:pt x="333" y="1"/>
                  </a:lnTo>
                  <a:lnTo>
                    <a:pt x="327" y="0"/>
                  </a:lnTo>
                  <a:lnTo>
                    <a:pt x="320" y="0"/>
                  </a:lnTo>
                  <a:lnTo>
                    <a:pt x="310" y="1"/>
                  </a:lnTo>
                  <a:lnTo>
                    <a:pt x="300" y="3"/>
                  </a:lnTo>
                  <a:lnTo>
                    <a:pt x="288" y="7"/>
                  </a:lnTo>
                  <a:lnTo>
                    <a:pt x="275" y="11"/>
                  </a:lnTo>
                  <a:lnTo>
                    <a:pt x="262" y="17"/>
                  </a:lnTo>
                  <a:lnTo>
                    <a:pt x="249" y="22"/>
                  </a:lnTo>
                  <a:lnTo>
                    <a:pt x="243" y="23"/>
                  </a:lnTo>
                  <a:lnTo>
                    <a:pt x="234" y="26"/>
                  </a:lnTo>
                  <a:lnTo>
                    <a:pt x="221" y="31"/>
                  </a:lnTo>
                  <a:lnTo>
                    <a:pt x="206" y="36"/>
                  </a:lnTo>
                  <a:lnTo>
                    <a:pt x="189" y="41"/>
                  </a:lnTo>
                  <a:lnTo>
                    <a:pt x="171" y="48"/>
                  </a:lnTo>
                  <a:lnTo>
                    <a:pt x="151" y="55"/>
                  </a:lnTo>
                  <a:lnTo>
                    <a:pt x="130" y="62"/>
                  </a:lnTo>
                  <a:lnTo>
                    <a:pt x="111" y="69"/>
                  </a:lnTo>
                  <a:lnTo>
                    <a:pt x="90" y="76"/>
                  </a:lnTo>
                  <a:lnTo>
                    <a:pt x="71" y="83"/>
                  </a:lnTo>
                  <a:lnTo>
                    <a:pt x="55" y="89"/>
                  </a:lnTo>
                  <a:lnTo>
                    <a:pt x="40" y="93"/>
                  </a:lnTo>
                  <a:lnTo>
                    <a:pt x="28" y="98"/>
                  </a:lnTo>
                  <a:lnTo>
                    <a:pt x="18" y="101"/>
                  </a:lnTo>
                  <a:lnTo>
                    <a:pt x="14" y="102"/>
                  </a:lnTo>
                  <a:lnTo>
                    <a:pt x="3" y="109"/>
                  </a:lnTo>
                  <a:lnTo>
                    <a:pt x="0" y="120"/>
                  </a:lnTo>
                  <a:lnTo>
                    <a:pt x="7" y="135"/>
                  </a:lnTo>
                  <a:lnTo>
                    <a:pt x="23" y="154"/>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3" name="未知"/>
            <p:cNvSpPr>
              <a:spLocks/>
            </p:cNvSpPr>
            <p:nvPr/>
          </p:nvSpPr>
          <p:spPr bwMode="auto">
            <a:xfrm>
              <a:off x="328" y="517"/>
              <a:ext cx="53" cy="62"/>
            </a:xfrm>
            <a:custGeom>
              <a:avLst/>
              <a:gdLst>
                <a:gd name="T0" fmla="*/ 65 w 107"/>
                <a:gd name="T1" fmla="*/ 0 h 123"/>
                <a:gd name="T2" fmla="*/ 61 w 107"/>
                <a:gd name="T3" fmla="*/ 7 h 123"/>
                <a:gd name="T4" fmla="*/ 55 w 107"/>
                <a:gd name="T5" fmla="*/ 20 h 123"/>
                <a:gd name="T6" fmla="*/ 46 w 107"/>
                <a:gd name="T7" fmla="*/ 37 h 123"/>
                <a:gd name="T8" fmla="*/ 37 w 107"/>
                <a:gd name="T9" fmla="*/ 55 h 123"/>
                <a:gd name="T10" fmla="*/ 27 w 107"/>
                <a:gd name="T11" fmla="*/ 73 h 123"/>
                <a:gd name="T12" fmla="*/ 16 w 107"/>
                <a:gd name="T13" fmla="*/ 91 h 123"/>
                <a:gd name="T14" fmla="*/ 7 w 107"/>
                <a:gd name="T15" fmla="*/ 103 h 123"/>
                <a:gd name="T16" fmla="*/ 0 w 107"/>
                <a:gd name="T17" fmla="*/ 110 h 123"/>
                <a:gd name="T18" fmla="*/ 10 w 107"/>
                <a:gd name="T19" fmla="*/ 111 h 123"/>
                <a:gd name="T20" fmla="*/ 25 w 107"/>
                <a:gd name="T21" fmla="*/ 114 h 123"/>
                <a:gd name="T22" fmla="*/ 42 w 107"/>
                <a:gd name="T23" fmla="*/ 117 h 123"/>
                <a:gd name="T24" fmla="*/ 59 w 107"/>
                <a:gd name="T25" fmla="*/ 121 h 123"/>
                <a:gd name="T26" fmla="*/ 75 w 107"/>
                <a:gd name="T27" fmla="*/ 122 h 123"/>
                <a:gd name="T28" fmla="*/ 89 w 107"/>
                <a:gd name="T29" fmla="*/ 123 h 123"/>
                <a:gd name="T30" fmla="*/ 100 w 107"/>
                <a:gd name="T31" fmla="*/ 121 h 123"/>
                <a:gd name="T32" fmla="*/ 106 w 107"/>
                <a:gd name="T33" fmla="*/ 115 h 123"/>
                <a:gd name="T34" fmla="*/ 107 w 107"/>
                <a:gd name="T35" fmla="*/ 106 h 123"/>
                <a:gd name="T36" fmla="*/ 104 w 107"/>
                <a:gd name="T37" fmla="*/ 91 h 123"/>
                <a:gd name="T38" fmla="*/ 98 w 107"/>
                <a:gd name="T39" fmla="*/ 73 h 123"/>
                <a:gd name="T40" fmla="*/ 91 w 107"/>
                <a:gd name="T41" fmla="*/ 55 h 123"/>
                <a:gd name="T42" fmla="*/ 83 w 107"/>
                <a:gd name="T43" fmla="*/ 37 h 123"/>
                <a:gd name="T44" fmla="*/ 75 w 107"/>
                <a:gd name="T45" fmla="*/ 20 h 123"/>
                <a:gd name="T46" fmla="*/ 68 w 107"/>
                <a:gd name="T47" fmla="*/ 8 h 123"/>
                <a:gd name="T48" fmla="*/ 65 w 107"/>
                <a:gd name="T49"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23">
                  <a:moveTo>
                    <a:pt x="65" y="0"/>
                  </a:moveTo>
                  <a:lnTo>
                    <a:pt x="61" y="7"/>
                  </a:lnTo>
                  <a:lnTo>
                    <a:pt x="55" y="20"/>
                  </a:lnTo>
                  <a:lnTo>
                    <a:pt x="46" y="37"/>
                  </a:lnTo>
                  <a:lnTo>
                    <a:pt x="37" y="55"/>
                  </a:lnTo>
                  <a:lnTo>
                    <a:pt x="27" y="73"/>
                  </a:lnTo>
                  <a:lnTo>
                    <a:pt x="16" y="91"/>
                  </a:lnTo>
                  <a:lnTo>
                    <a:pt x="7" y="103"/>
                  </a:lnTo>
                  <a:lnTo>
                    <a:pt x="0" y="110"/>
                  </a:lnTo>
                  <a:lnTo>
                    <a:pt x="10" y="111"/>
                  </a:lnTo>
                  <a:lnTo>
                    <a:pt x="25" y="114"/>
                  </a:lnTo>
                  <a:lnTo>
                    <a:pt x="42" y="117"/>
                  </a:lnTo>
                  <a:lnTo>
                    <a:pt x="59" y="121"/>
                  </a:lnTo>
                  <a:lnTo>
                    <a:pt x="75" y="122"/>
                  </a:lnTo>
                  <a:lnTo>
                    <a:pt x="89" y="123"/>
                  </a:lnTo>
                  <a:lnTo>
                    <a:pt x="100" y="121"/>
                  </a:lnTo>
                  <a:lnTo>
                    <a:pt x="106" y="115"/>
                  </a:lnTo>
                  <a:lnTo>
                    <a:pt x="107" y="106"/>
                  </a:lnTo>
                  <a:lnTo>
                    <a:pt x="104" y="91"/>
                  </a:lnTo>
                  <a:lnTo>
                    <a:pt x="98" y="73"/>
                  </a:lnTo>
                  <a:lnTo>
                    <a:pt x="91" y="55"/>
                  </a:lnTo>
                  <a:lnTo>
                    <a:pt x="83" y="37"/>
                  </a:lnTo>
                  <a:lnTo>
                    <a:pt x="75" y="20"/>
                  </a:lnTo>
                  <a:lnTo>
                    <a:pt x="68" y="8"/>
                  </a:lnTo>
                  <a:lnTo>
                    <a:pt x="65" y="0"/>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4" name="未知"/>
            <p:cNvSpPr>
              <a:spLocks/>
            </p:cNvSpPr>
            <p:nvPr/>
          </p:nvSpPr>
          <p:spPr bwMode="auto">
            <a:xfrm>
              <a:off x="304" y="372"/>
              <a:ext cx="161" cy="48"/>
            </a:xfrm>
            <a:custGeom>
              <a:avLst/>
              <a:gdLst>
                <a:gd name="T0" fmla="*/ 0 w 323"/>
                <a:gd name="T1" fmla="*/ 0 h 99"/>
                <a:gd name="T2" fmla="*/ 8 w 323"/>
                <a:gd name="T3" fmla="*/ 7 h 99"/>
                <a:gd name="T4" fmla="*/ 18 w 323"/>
                <a:gd name="T5" fmla="*/ 18 h 99"/>
                <a:gd name="T6" fmla="*/ 31 w 323"/>
                <a:gd name="T7" fmla="*/ 32 h 99"/>
                <a:gd name="T8" fmla="*/ 45 w 323"/>
                <a:gd name="T9" fmla="*/ 47 h 99"/>
                <a:gd name="T10" fmla="*/ 56 w 323"/>
                <a:gd name="T11" fmla="*/ 63 h 99"/>
                <a:gd name="T12" fmla="*/ 68 w 323"/>
                <a:gd name="T13" fmla="*/ 77 h 99"/>
                <a:gd name="T14" fmla="*/ 75 w 323"/>
                <a:gd name="T15" fmla="*/ 90 h 99"/>
                <a:gd name="T16" fmla="*/ 77 w 323"/>
                <a:gd name="T17" fmla="*/ 99 h 99"/>
                <a:gd name="T18" fmla="*/ 92 w 323"/>
                <a:gd name="T19" fmla="*/ 99 h 99"/>
                <a:gd name="T20" fmla="*/ 108 w 323"/>
                <a:gd name="T21" fmla="*/ 99 h 99"/>
                <a:gd name="T22" fmla="*/ 124 w 323"/>
                <a:gd name="T23" fmla="*/ 98 h 99"/>
                <a:gd name="T24" fmla="*/ 140 w 323"/>
                <a:gd name="T25" fmla="*/ 98 h 99"/>
                <a:gd name="T26" fmla="*/ 155 w 323"/>
                <a:gd name="T27" fmla="*/ 98 h 99"/>
                <a:gd name="T28" fmla="*/ 169 w 323"/>
                <a:gd name="T29" fmla="*/ 98 h 99"/>
                <a:gd name="T30" fmla="*/ 182 w 323"/>
                <a:gd name="T31" fmla="*/ 98 h 99"/>
                <a:gd name="T32" fmla="*/ 192 w 323"/>
                <a:gd name="T33" fmla="*/ 98 h 99"/>
                <a:gd name="T34" fmla="*/ 206 w 323"/>
                <a:gd name="T35" fmla="*/ 96 h 99"/>
                <a:gd name="T36" fmla="*/ 225 w 323"/>
                <a:gd name="T37" fmla="*/ 92 h 99"/>
                <a:gd name="T38" fmla="*/ 246 w 323"/>
                <a:gd name="T39" fmla="*/ 88 h 99"/>
                <a:gd name="T40" fmla="*/ 268 w 323"/>
                <a:gd name="T41" fmla="*/ 82 h 99"/>
                <a:gd name="T42" fmla="*/ 289 w 323"/>
                <a:gd name="T43" fmla="*/ 76 h 99"/>
                <a:gd name="T44" fmla="*/ 306 w 323"/>
                <a:gd name="T45" fmla="*/ 70 h 99"/>
                <a:gd name="T46" fmla="*/ 318 w 323"/>
                <a:gd name="T47" fmla="*/ 65 h 99"/>
                <a:gd name="T48" fmla="*/ 323 w 323"/>
                <a:gd name="T49" fmla="*/ 60 h 99"/>
                <a:gd name="T50" fmla="*/ 321 w 323"/>
                <a:gd name="T51" fmla="*/ 56 h 99"/>
                <a:gd name="T52" fmla="*/ 318 w 323"/>
                <a:gd name="T53" fmla="*/ 53 h 99"/>
                <a:gd name="T54" fmla="*/ 312 w 323"/>
                <a:gd name="T55" fmla="*/ 50 h 99"/>
                <a:gd name="T56" fmla="*/ 303 w 323"/>
                <a:gd name="T57" fmla="*/ 45 h 99"/>
                <a:gd name="T58" fmla="*/ 293 w 323"/>
                <a:gd name="T59" fmla="*/ 39 h 99"/>
                <a:gd name="T60" fmla="*/ 280 w 323"/>
                <a:gd name="T61" fmla="*/ 35 h 99"/>
                <a:gd name="T62" fmla="*/ 264 w 323"/>
                <a:gd name="T63" fmla="*/ 30 h 99"/>
                <a:gd name="T64" fmla="*/ 245 w 323"/>
                <a:gd name="T65" fmla="*/ 24 h 99"/>
                <a:gd name="T66" fmla="*/ 225 w 323"/>
                <a:gd name="T67" fmla="*/ 20 h 99"/>
                <a:gd name="T68" fmla="*/ 200 w 323"/>
                <a:gd name="T69" fmla="*/ 15 h 99"/>
                <a:gd name="T70" fmla="*/ 175 w 323"/>
                <a:gd name="T71" fmla="*/ 10 h 99"/>
                <a:gd name="T72" fmla="*/ 145 w 323"/>
                <a:gd name="T73" fmla="*/ 7 h 99"/>
                <a:gd name="T74" fmla="*/ 114 w 323"/>
                <a:gd name="T75" fmla="*/ 4 h 99"/>
                <a:gd name="T76" fmla="*/ 78 w 323"/>
                <a:gd name="T77" fmla="*/ 1 h 99"/>
                <a:gd name="T78" fmla="*/ 40 w 323"/>
                <a:gd name="T79" fmla="*/ 0 h 99"/>
                <a:gd name="T80" fmla="*/ 0 w 323"/>
                <a:gd name="T81"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3" h="99">
                  <a:moveTo>
                    <a:pt x="0" y="0"/>
                  </a:moveTo>
                  <a:lnTo>
                    <a:pt x="8" y="7"/>
                  </a:lnTo>
                  <a:lnTo>
                    <a:pt x="18" y="18"/>
                  </a:lnTo>
                  <a:lnTo>
                    <a:pt x="31" y="32"/>
                  </a:lnTo>
                  <a:lnTo>
                    <a:pt x="45" y="47"/>
                  </a:lnTo>
                  <a:lnTo>
                    <a:pt x="56" y="63"/>
                  </a:lnTo>
                  <a:lnTo>
                    <a:pt x="68" y="77"/>
                  </a:lnTo>
                  <a:lnTo>
                    <a:pt x="75" y="90"/>
                  </a:lnTo>
                  <a:lnTo>
                    <a:pt x="77" y="99"/>
                  </a:lnTo>
                  <a:lnTo>
                    <a:pt x="92" y="99"/>
                  </a:lnTo>
                  <a:lnTo>
                    <a:pt x="108" y="99"/>
                  </a:lnTo>
                  <a:lnTo>
                    <a:pt x="124" y="98"/>
                  </a:lnTo>
                  <a:lnTo>
                    <a:pt x="140" y="98"/>
                  </a:lnTo>
                  <a:lnTo>
                    <a:pt x="155" y="98"/>
                  </a:lnTo>
                  <a:lnTo>
                    <a:pt x="169" y="98"/>
                  </a:lnTo>
                  <a:lnTo>
                    <a:pt x="182" y="98"/>
                  </a:lnTo>
                  <a:lnTo>
                    <a:pt x="192" y="98"/>
                  </a:lnTo>
                  <a:lnTo>
                    <a:pt x="206" y="96"/>
                  </a:lnTo>
                  <a:lnTo>
                    <a:pt x="225" y="92"/>
                  </a:lnTo>
                  <a:lnTo>
                    <a:pt x="246" y="88"/>
                  </a:lnTo>
                  <a:lnTo>
                    <a:pt x="268" y="82"/>
                  </a:lnTo>
                  <a:lnTo>
                    <a:pt x="289" y="76"/>
                  </a:lnTo>
                  <a:lnTo>
                    <a:pt x="306" y="70"/>
                  </a:lnTo>
                  <a:lnTo>
                    <a:pt x="318" y="65"/>
                  </a:lnTo>
                  <a:lnTo>
                    <a:pt x="323" y="60"/>
                  </a:lnTo>
                  <a:lnTo>
                    <a:pt x="321" y="56"/>
                  </a:lnTo>
                  <a:lnTo>
                    <a:pt x="318" y="53"/>
                  </a:lnTo>
                  <a:lnTo>
                    <a:pt x="312" y="50"/>
                  </a:lnTo>
                  <a:lnTo>
                    <a:pt x="303" y="45"/>
                  </a:lnTo>
                  <a:lnTo>
                    <a:pt x="293" y="39"/>
                  </a:lnTo>
                  <a:lnTo>
                    <a:pt x="280" y="35"/>
                  </a:lnTo>
                  <a:lnTo>
                    <a:pt x="264" y="30"/>
                  </a:lnTo>
                  <a:lnTo>
                    <a:pt x="245" y="24"/>
                  </a:lnTo>
                  <a:lnTo>
                    <a:pt x="225" y="20"/>
                  </a:lnTo>
                  <a:lnTo>
                    <a:pt x="200" y="15"/>
                  </a:lnTo>
                  <a:lnTo>
                    <a:pt x="175" y="10"/>
                  </a:lnTo>
                  <a:lnTo>
                    <a:pt x="145" y="7"/>
                  </a:lnTo>
                  <a:lnTo>
                    <a:pt x="114" y="4"/>
                  </a:lnTo>
                  <a:lnTo>
                    <a:pt x="78" y="1"/>
                  </a:lnTo>
                  <a:lnTo>
                    <a:pt x="40" y="0"/>
                  </a:lnTo>
                  <a:lnTo>
                    <a:pt x="0" y="0"/>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5" name="未知"/>
            <p:cNvSpPr>
              <a:spLocks/>
            </p:cNvSpPr>
            <p:nvPr/>
          </p:nvSpPr>
          <p:spPr bwMode="auto">
            <a:xfrm>
              <a:off x="534" y="556"/>
              <a:ext cx="39" cy="99"/>
            </a:xfrm>
            <a:custGeom>
              <a:avLst/>
              <a:gdLst>
                <a:gd name="T0" fmla="*/ 45 w 80"/>
                <a:gd name="T1" fmla="*/ 0 h 198"/>
                <a:gd name="T2" fmla="*/ 44 w 80"/>
                <a:gd name="T3" fmla="*/ 12 h 198"/>
                <a:gd name="T4" fmla="*/ 41 w 80"/>
                <a:gd name="T5" fmla="*/ 33 h 198"/>
                <a:gd name="T6" fmla="*/ 35 w 80"/>
                <a:gd name="T7" fmla="*/ 61 h 198"/>
                <a:gd name="T8" fmla="*/ 27 w 80"/>
                <a:gd name="T9" fmla="*/ 91 h 198"/>
                <a:gd name="T10" fmla="*/ 19 w 80"/>
                <a:gd name="T11" fmla="*/ 122 h 198"/>
                <a:gd name="T12" fmla="*/ 11 w 80"/>
                <a:gd name="T13" fmla="*/ 152 h 198"/>
                <a:gd name="T14" fmla="*/ 5 w 80"/>
                <a:gd name="T15" fmla="*/ 176 h 198"/>
                <a:gd name="T16" fmla="*/ 0 w 80"/>
                <a:gd name="T17" fmla="*/ 193 h 198"/>
                <a:gd name="T18" fmla="*/ 4 w 80"/>
                <a:gd name="T19" fmla="*/ 195 h 198"/>
                <a:gd name="T20" fmla="*/ 11 w 80"/>
                <a:gd name="T21" fmla="*/ 197 h 198"/>
                <a:gd name="T22" fmla="*/ 18 w 80"/>
                <a:gd name="T23" fmla="*/ 198 h 198"/>
                <a:gd name="T24" fmla="*/ 27 w 80"/>
                <a:gd name="T25" fmla="*/ 197 h 198"/>
                <a:gd name="T26" fmla="*/ 35 w 80"/>
                <a:gd name="T27" fmla="*/ 195 h 198"/>
                <a:gd name="T28" fmla="*/ 42 w 80"/>
                <a:gd name="T29" fmla="*/ 193 h 198"/>
                <a:gd name="T30" fmla="*/ 48 w 80"/>
                <a:gd name="T31" fmla="*/ 190 h 198"/>
                <a:gd name="T32" fmla="*/ 50 w 80"/>
                <a:gd name="T33" fmla="*/ 185 h 198"/>
                <a:gd name="T34" fmla="*/ 56 w 80"/>
                <a:gd name="T35" fmla="*/ 176 h 198"/>
                <a:gd name="T36" fmla="*/ 65 w 80"/>
                <a:gd name="T37" fmla="*/ 165 h 198"/>
                <a:gd name="T38" fmla="*/ 75 w 80"/>
                <a:gd name="T39" fmla="*/ 153 h 198"/>
                <a:gd name="T40" fmla="*/ 80 w 80"/>
                <a:gd name="T41" fmla="*/ 136 h 198"/>
                <a:gd name="T42" fmla="*/ 80 w 80"/>
                <a:gd name="T43" fmla="*/ 122 h 198"/>
                <a:gd name="T44" fmla="*/ 78 w 80"/>
                <a:gd name="T45" fmla="*/ 104 h 198"/>
                <a:gd name="T46" fmla="*/ 75 w 80"/>
                <a:gd name="T47" fmla="*/ 83 h 198"/>
                <a:gd name="T48" fmla="*/ 72 w 80"/>
                <a:gd name="T49" fmla="*/ 61 h 198"/>
                <a:gd name="T50" fmla="*/ 66 w 80"/>
                <a:gd name="T51" fmla="*/ 40 h 198"/>
                <a:gd name="T52" fmla="*/ 60 w 80"/>
                <a:gd name="T53" fmla="*/ 21 h 198"/>
                <a:gd name="T54" fmla="*/ 53 w 80"/>
                <a:gd name="T55" fmla="*/ 8 h 198"/>
                <a:gd name="T56" fmla="*/ 45 w 80"/>
                <a:gd name="T57" fmla="*/ 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0" h="198">
                  <a:moveTo>
                    <a:pt x="45" y="0"/>
                  </a:moveTo>
                  <a:lnTo>
                    <a:pt x="44" y="12"/>
                  </a:lnTo>
                  <a:lnTo>
                    <a:pt x="41" y="33"/>
                  </a:lnTo>
                  <a:lnTo>
                    <a:pt x="35" y="61"/>
                  </a:lnTo>
                  <a:lnTo>
                    <a:pt x="27" y="91"/>
                  </a:lnTo>
                  <a:lnTo>
                    <a:pt x="19" y="122"/>
                  </a:lnTo>
                  <a:lnTo>
                    <a:pt x="11" y="152"/>
                  </a:lnTo>
                  <a:lnTo>
                    <a:pt x="5" y="176"/>
                  </a:lnTo>
                  <a:lnTo>
                    <a:pt x="0" y="193"/>
                  </a:lnTo>
                  <a:lnTo>
                    <a:pt x="4" y="195"/>
                  </a:lnTo>
                  <a:lnTo>
                    <a:pt x="11" y="197"/>
                  </a:lnTo>
                  <a:lnTo>
                    <a:pt x="18" y="198"/>
                  </a:lnTo>
                  <a:lnTo>
                    <a:pt x="27" y="197"/>
                  </a:lnTo>
                  <a:lnTo>
                    <a:pt x="35" y="195"/>
                  </a:lnTo>
                  <a:lnTo>
                    <a:pt x="42" y="193"/>
                  </a:lnTo>
                  <a:lnTo>
                    <a:pt x="48" y="190"/>
                  </a:lnTo>
                  <a:lnTo>
                    <a:pt x="50" y="185"/>
                  </a:lnTo>
                  <a:lnTo>
                    <a:pt x="56" y="176"/>
                  </a:lnTo>
                  <a:lnTo>
                    <a:pt x="65" y="165"/>
                  </a:lnTo>
                  <a:lnTo>
                    <a:pt x="75" y="153"/>
                  </a:lnTo>
                  <a:lnTo>
                    <a:pt x="80" y="136"/>
                  </a:lnTo>
                  <a:lnTo>
                    <a:pt x="80" y="122"/>
                  </a:lnTo>
                  <a:lnTo>
                    <a:pt x="78" y="104"/>
                  </a:lnTo>
                  <a:lnTo>
                    <a:pt x="75" y="83"/>
                  </a:lnTo>
                  <a:lnTo>
                    <a:pt x="72" y="61"/>
                  </a:lnTo>
                  <a:lnTo>
                    <a:pt x="66" y="40"/>
                  </a:lnTo>
                  <a:lnTo>
                    <a:pt x="60" y="21"/>
                  </a:lnTo>
                  <a:lnTo>
                    <a:pt x="53" y="8"/>
                  </a:lnTo>
                  <a:lnTo>
                    <a:pt x="45" y="0"/>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6" name="未知"/>
            <p:cNvSpPr>
              <a:spLocks/>
            </p:cNvSpPr>
            <p:nvPr/>
          </p:nvSpPr>
          <p:spPr bwMode="auto">
            <a:xfrm>
              <a:off x="738" y="95"/>
              <a:ext cx="163" cy="104"/>
            </a:xfrm>
            <a:custGeom>
              <a:avLst/>
              <a:gdLst>
                <a:gd name="T0" fmla="*/ 325 w 325"/>
                <a:gd name="T1" fmla="*/ 46 h 209"/>
                <a:gd name="T2" fmla="*/ 322 w 325"/>
                <a:gd name="T3" fmla="*/ 55 h 209"/>
                <a:gd name="T4" fmla="*/ 316 w 325"/>
                <a:gd name="T5" fmla="*/ 66 h 209"/>
                <a:gd name="T6" fmla="*/ 306 w 325"/>
                <a:gd name="T7" fmla="*/ 77 h 209"/>
                <a:gd name="T8" fmla="*/ 295 w 325"/>
                <a:gd name="T9" fmla="*/ 89 h 209"/>
                <a:gd name="T10" fmla="*/ 282 w 325"/>
                <a:gd name="T11" fmla="*/ 100 h 209"/>
                <a:gd name="T12" fmla="*/ 267 w 325"/>
                <a:gd name="T13" fmla="*/ 109 h 209"/>
                <a:gd name="T14" fmla="*/ 252 w 325"/>
                <a:gd name="T15" fmla="*/ 119 h 209"/>
                <a:gd name="T16" fmla="*/ 237 w 325"/>
                <a:gd name="T17" fmla="*/ 124 h 209"/>
                <a:gd name="T18" fmla="*/ 229 w 325"/>
                <a:gd name="T19" fmla="*/ 128 h 209"/>
                <a:gd name="T20" fmla="*/ 219 w 325"/>
                <a:gd name="T21" fmla="*/ 131 h 209"/>
                <a:gd name="T22" fmla="*/ 206 w 325"/>
                <a:gd name="T23" fmla="*/ 136 h 209"/>
                <a:gd name="T24" fmla="*/ 193 w 325"/>
                <a:gd name="T25" fmla="*/ 142 h 209"/>
                <a:gd name="T26" fmla="*/ 178 w 325"/>
                <a:gd name="T27" fmla="*/ 147 h 209"/>
                <a:gd name="T28" fmla="*/ 162 w 325"/>
                <a:gd name="T29" fmla="*/ 153 h 209"/>
                <a:gd name="T30" fmla="*/ 146 w 325"/>
                <a:gd name="T31" fmla="*/ 160 h 209"/>
                <a:gd name="T32" fmla="*/ 130 w 325"/>
                <a:gd name="T33" fmla="*/ 167 h 209"/>
                <a:gd name="T34" fmla="*/ 114 w 325"/>
                <a:gd name="T35" fmla="*/ 173 h 209"/>
                <a:gd name="T36" fmla="*/ 98 w 325"/>
                <a:gd name="T37" fmla="*/ 180 h 209"/>
                <a:gd name="T38" fmla="*/ 83 w 325"/>
                <a:gd name="T39" fmla="*/ 185 h 209"/>
                <a:gd name="T40" fmla="*/ 70 w 325"/>
                <a:gd name="T41" fmla="*/ 191 h 209"/>
                <a:gd name="T42" fmla="*/ 57 w 325"/>
                <a:gd name="T43" fmla="*/ 196 h 209"/>
                <a:gd name="T44" fmla="*/ 47 w 325"/>
                <a:gd name="T45" fmla="*/ 200 h 209"/>
                <a:gd name="T46" fmla="*/ 40 w 325"/>
                <a:gd name="T47" fmla="*/ 204 h 209"/>
                <a:gd name="T48" fmla="*/ 34 w 325"/>
                <a:gd name="T49" fmla="*/ 206 h 209"/>
                <a:gd name="T50" fmla="*/ 25 w 325"/>
                <a:gd name="T51" fmla="*/ 209 h 209"/>
                <a:gd name="T52" fmla="*/ 17 w 325"/>
                <a:gd name="T53" fmla="*/ 209 h 209"/>
                <a:gd name="T54" fmla="*/ 11 w 325"/>
                <a:gd name="T55" fmla="*/ 205 h 209"/>
                <a:gd name="T56" fmla="*/ 7 w 325"/>
                <a:gd name="T57" fmla="*/ 199 h 209"/>
                <a:gd name="T58" fmla="*/ 3 w 325"/>
                <a:gd name="T59" fmla="*/ 192 h 209"/>
                <a:gd name="T60" fmla="*/ 1 w 325"/>
                <a:gd name="T61" fmla="*/ 183 h 209"/>
                <a:gd name="T62" fmla="*/ 0 w 325"/>
                <a:gd name="T63" fmla="*/ 174 h 209"/>
                <a:gd name="T64" fmla="*/ 0 w 325"/>
                <a:gd name="T65" fmla="*/ 165 h 209"/>
                <a:gd name="T66" fmla="*/ 2 w 325"/>
                <a:gd name="T67" fmla="*/ 160 h 209"/>
                <a:gd name="T68" fmla="*/ 8 w 325"/>
                <a:gd name="T69" fmla="*/ 154 h 209"/>
                <a:gd name="T70" fmla="*/ 15 w 325"/>
                <a:gd name="T71" fmla="*/ 149 h 209"/>
                <a:gd name="T72" fmla="*/ 25 w 325"/>
                <a:gd name="T73" fmla="*/ 143 h 209"/>
                <a:gd name="T74" fmla="*/ 36 w 325"/>
                <a:gd name="T75" fmla="*/ 136 h 209"/>
                <a:gd name="T76" fmla="*/ 48 w 325"/>
                <a:gd name="T77" fmla="*/ 130 h 209"/>
                <a:gd name="T78" fmla="*/ 61 w 325"/>
                <a:gd name="T79" fmla="*/ 124 h 209"/>
                <a:gd name="T80" fmla="*/ 74 w 325"/>
                <a:gd name="T81" fmla="*/ 119 h 209"/>
                <a:gd name="T82" fmla="*/ 78 w 325"/>
                <a:gd name="T83" fmla="*/ 115 h 209"/>
                <a:gd name="T84" fmla="*/ 86 w 325"/>
                <a:gd name="T85" fmla="*/ 111 h 209"/>
                <a:gd name="T86" fmla="*/ 98 w 325"/>
                <a:gd name="T87" fmla="*/ 105 h 209"/>
                <a:gd name="T88" fmla="*/ 113 w 325"/>
                <a:gd name="T89" fmla="*/ 98 h 209"/>
                <a:gd name="T90" fmla="*/ 128 w 325"/>
                <a:gd name="T91" fmla="*/ 89 h 209"/>
                <a:gd name="T92" fmla="*/ 146 w 325"/>
                <a:gd name="T93" fmla="*/ 81 h 209"/>
                <a:gd name="T94" fmla="*/ 165 w 325"/>
                <a:gd name="T95" fmla="*/ 70 h 209"/>
                <a:gd name="T96" fmla="*/ 184 w 325"/>
                <a:gd name="T97" fmla="*/ 61 h 209"/>
                <a:gd name="T98" fmla="*/ 203 w 325"/>
                <a:gd name="T99" fmla="*/ 51 h 209"/>
                <a:gd name="T100" fmla="*/ 221 w 325"/>
                <a:gd name="T101" fmla="*/ 42 h 209"/>
                <a:gd name="T102" fmla="*/ 240 w 325"/>
                <a:gd name="T103" fmla="*/ 32 h 209"/>
                <a:gd name="T104" fmla="*/ 256 w 325"/>
                <a:gd name="T105" fmla="*/ 24 h 209"/>
                <a:gd name="T106" fmla="*/ 269 w 325"/>
                <a:gd name="T107" fmla="*/ 16 h 209"/>
                <a:gd name="T108" fmla="*/ 281 w 325"/>
                <a:gd name="T109" fmla="*/ 10 h 209"/>
                <a:gd name="T110" fmla="*/ 289 w 325"/>
                <a:gd name="T111" fmla="*/ 6 h 209"/>
                <a:gd name="T112" fmla="*/ 294 w 325"/>
                <a:gd name="T113" fmla="*/ 4 h 209"/>
                <a:gd name="T114" fmla="*/ 305 w 325"/>
                <a:gd name="T115" fmla="*/ 0 h 209"/>
                <a:gd name="T116" fmla="*/ 316 w 325"/>
                <a:gd name="T117" fmla="*/ 6 h 209"/>
                <a:gd name="T118" fmla="*/ 321 w 325"/>
                <a:gd name="T119" fmla="*/ 21 h 209"/>
                <a:gd name="T120" fmla="*/ 325 w 325"/>
                <a:gd name="T121" fmla="*/ 46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5" h="209">
                  <a:moveTo>
                    <a:pt x="325" y="46"/>
                  </a:moveTo>
                  <a:lnTo>
                    <a:pt x="322" y="55"/>
                  </a:lnTo>
                  <a:lnTo>
                    <a:pt x="316" y="66"/>
                  </a:lnTo>
                  <a:lnTo>
                    <a:pt x="306" y="77"/>
                  </a:lnTo>
                  <a:lnTo>
                    <a:pt x="295" y="89"/>
                  </a:lnTo>
                  <a:lnTo>
                    <a:pt x="282" y="100"/>
                  </a:lnTo>
                  <a:lnTo>
                    <a:pt x="267" y="109"/>
                  </a:lnTo>
                  <a:lnTo>
                    <a:pt x="252" y="119"/>
                  </a:lnTo>
                  <a:lnTo>
                    <a:pt x="237" y="124"/>
                  </a:lnTo>
                  <a:lnTo>
                    <a:pt x="229" y="128"/>
                  </a:lnTo>
                  <a:lnTo>
                    <a:pt x="219" y="131"/>
                  </a:lnTo>
                  <a:lnTo>
                    <a:pt x="206" y="136"/>
                  </a:lnTo>
                  <a:lnTo>
                    <a:pt x="193" y="142"/>
                  </a:lnTo>
                  <a:lnTo>
                    <a:pt x="178" y="147"/>
                  </a:lnTo>
                  <a:lnTo>
                    <a:pt x="162" y="153"/>
                  </a:lnTo>
                  <a:lnTo>
                    <a:pt x="146" y="160"/>
                  </a:lnTo>
                  <a:lnTo>
                    <a:pt x="130" y="167"/>
                  </a:lnTo>
                  <a:lnTo>
                    <a:pt x="114" y="173"/>
                  </a:lnTo>
                  <a:lnTo>
                    <a:pt x="98" y="180"/>
                  </a:lnTo>
                  <a:lnTo>
                    <a:pt x="83" y="185"/>
                  </a:lnTo>
                  <a:lnTo>
                    <a:pt x="70" y="191"/>
                  </a:lnTo>
                  <a:lnTo>
                    <a:pt x="57" y="196"/>
                  </a:lnTo>
                  <a:lnTo>
                    <a:pt x="47" y="200"/>
                  </a:lnTo>
                  <a:lnTo>
                    <a:pt x="40" y="204"/>
                  </a:lnTo>
                  <a:lnTo>
                    <a:pt x="34" y="206"/>
                  </a:lnTo>
                  <a:lnTo>
                    <a:pt x="25" y="209"/>
                  </a:lnTo>
                  <a:lnTo>
                    <a:pt x="17" y="209"/>
                  </a:lnTo>
                  <a:lnTo>
                    <a:pt x="11" y="205"/>
                  </a:lnTo>
                  <a:lnTo>
                    <a:pt x="7" y="199"/>
                  </a:lnTo>
                  <a:lnTo>
                    <a:pt x="3" y="192"/>
                  </a:lnTo>
                  <a:lnTo>
                    <a:pt x="1" y="183"/>
                  </a:lnTo>
                  <a:lnTo>
                    <a:pt x="0" y="174"/>
                  </a:lnTo>
                  <a:lnTo>
                    <a:pt x="0" y="165"/>
                  </a:lnTo>
                  <a:lnTo>
                    <a:pt x="2" y="160"/>
                  </a:lnTo>
                  <a:lnTo>
                    <a:pt x="8" y="154"/>
                  </a:lnTo>
                  <a:lnTo>
                    <a:pt x="15" y="149"/>
                  </a:lnTo>
                  <a:lnTo>
                    <a:pt x="25" y="143"/>
                  </a:lnTo>
                  <a:lnTo>
                    <a:pt x="36" y="136"/>
                  </a:lnTo>
                  <a:lnTo>
                    <a:pt x="48" y="130"/>
                  </a:lnTo>
                  <a:lnTo>
                    <a:pt x="61" y="124"/>
                  </a:lnTo>
                  <a:lnTo>
                    <a:pt x="74" y="119"/>
                  </a:lnTo>
                  <a:lnTo>
                    <a:pt x="78" y="115"/>
                  </a:lnTo>
                  <a:lnTo>
                    <a:pt x="86" y="111"/>
                  </a:lnTo>
                  <a:lnTo>
                    <a:pt x="98" y="105"/>
                  </a:lnTo>
                  <a:lnTo>
                    <a:pt x="113" y="98"/>
                  </a:lnTo>
                  <a:lnTo>
                    <a:pt x="128" y="89"/>
                  </a:lnTo>
                  <a:lnTo>
                    <a:pt x="146" y="81"/>
                  </a:lnTo>
                  <a:lnTo>
                    <a:pt x="165" y="70"/>
                  </a:lnTo>
                  <a:lnTo>
                    <a:pt x="184" y="61"/>
                  </a:lnTo>
                  <a:lnTo>
                    <a:pt x="203" y="51"/>
                  </a:lnTo>
                  <a:lnTo>
                    <a:pt x="221" y="42"/>
                  </a:lnTo>
                  <a:lnTo>
                    <a:pt x="240" y="32"/>
                  </a:lnTo>
                  <a:lnTo>
                    <a:pt x="256" y="24"/>
                  </a:lnTo>
                  <a:lnTo>
                    <a:pt x="269" y="16"/>
                  </a:lnTo>
                  <a:lnTo>
                    <a:pt x="281" y="10"/>
                  </a:lnTo>
                  <a:lnTo>
                    <a:pt x="289" y="6"/>
                  </a:lnTo>
                  <a:lnTo>
                    <a:pt x="294" y="4"/>
                  </a:lnTo>
                  <a:lnTo>
                    <a:pt x="305" y="0"/>
                  </a:lnTo>
                  <a:lnTo>
                    <a:pt x="316" y="6"/>
                  </a:lnTo>
                  <a:lnTo>
                    <a:pt x="321" y="21"/>
                  </a:lnTo>
                  <a:lnTo>
                    <a:pt x="325" y="46"/>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7" name="未知"/>
            <p:cNvSpPr>
              <a:spLocks/>
            </p:cNvSpPr>
            <p:nvPr/>
          </p:nvSpPr>
          <p:spPr bwMode="auto">
            <a:xfrm>
              <a:off x="775" y="339"/>
              <a:ext cx="63" cy="58"/>
            </a:xfrm>
            <a:custGeom>
              <a:avLst/>
              <a:gdLst>
                <a:gd name="T0" fmla="*/ 0 w 125"/>
                <a:gd name="T1" fmla="*/ 0 h 110"/>
                <a:gd name="T2" fmla="*/ 7 w 125"/>
                <a:gd name="T3" fmla="*/ 2 h 110"/>
                <a:gd name="T4" fmla="*/ 21 w 125"/>
                <a:gd name="T5" fmla="*/ 7 h 110"/>
                <a:gd name="T6" fmla="*/ 40 w 125"/>
                <a:gd name="T7" fmla="*/ 13 h 110"/>
                <a:gd name="T8" fmla="*/ 59 w 125"/>
                <a:gd name="T9" fmla="*/ 18 h 110"/>
                <a:gd name="T10" fmla="*/ 80 w 125"/>
                <a:gd name="T11" fmla="*/ 24 h 110"/>
                <a:gd name="T12" fmla="*/ 100 w 125"/>
                <a:gd name="T13" fmla="*/ 29 h 110"/>
                <a:gd name="T14" fmla="*/ 115 w 125"/>
                <a:gd name="T15" fmla="*/ 31 h 110"/>
                <a:gd name="T16" fmla="*/ 125 w 125"/>
                <a:gd name="T17" fmla="*/ 31 h 110"/>
                <a:gd name="T18" fmla="*/ 118 w 125"/>
                <a:gd name="T19" fmla="*/ 39 h 110"/>
                <a:gd name="T20" fmla="*/ 111 w 125"/>
                <a:gd name="T21" fmla="*/ 52 h 110"/>
                <a:gd name="T22" fmla="*/ 102 w 125"/>
                <a:gd name="T23" fmla="*/ 66 h 110"/>
                <a:gd name="T24" fmla="*/ 93 w 125"/>
                <a:gd name="T25" fmla="*/ 79 h 110"/>
                <a:gd name="T26" fmla="*/ 82 w 125"/>
                <a:gd name="T27" fmla="*/ 92 h 110"/>
                <a:gd name="T28" fmla="*/ 73 w 125"/>
                <a:gd name="T29" fmla="*/ 104 h 110"/>
                <a:gd name="T30" fmla="*/ 64 w 125"/>
                <a:gd name="T31" fmla="*/ 109 h 110"/>
                <a:gd name="T32" fmla="*/ 56 w 125"/>
                <a:gd name="T33" fmla="*/ 110 h 110"/>
                <a:gd name="T34" fmla="*/ 48 w 125"/>
                <a:gd name="T35" fmla="*/ 105 h 110"/>
                <a:gd name="T36" fmla="*/ 40 w 125"/>
                <a:gd name="T37" fmla="*/ 92 h 110"/>
                <a:gd name="T38" fmla="*/ 30 w 125"/>
                <a:gd name="T39" fmla="*/ 76 h 110"/>
                <a:gd name="T40" fmla="*/ 22 w 125"/>
                <a:gd name="T41" fmla="*/ 57 h 110"/>
                <a:gd name="T42" fmla="*/ 15 w 125"/>
                <a:gd name="T43" fmla="*/ 39 h 110"/>
                <a:gd name="T44" fmla="*/ 9 w 125"/>
                <a:gd name="T45" fmla="*/ 22 h 110"/>
                <a:gd name="T46" fmla="*/ 4 w 125"/>
                <a:gd name="T47" fmla="*/ 8 h 110"/>
                <a:gd name="T48" fmla="*/ 0 w 125"/>
                <a:gd name="T4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5" h="110">
                  <a:moveTo>
                    <a:pt x="0" y="0"/>
                  </a:moveTo>
                  <a:lnTo>
                    <a:pt x="7" y="2"/>
                  </a:lnTo>
                  <a:lnTo>
                    <a:pt x="21" y="7"/>
                  </a:lnTo>
                  <a:lnTo>
                    <a:pt x="40" y="13"/>
                  </a:lnTo>
                  <a:lnTo>
                    <a:pt x="59" y="18"/>
                  </a:lnTo>
                  <a:lnTo>
                    <a:pt x="80" y="24"/>
                  </a:lnTo>
                  <a:lnTo>
                    <a:pt x="100" y="29"/>
                  </a:lnTo>
                  <a:lnTo>
                    <a:pt x="115" y="31"/>
                  </a:lnTo>
                  <a:lnTo>
                    <a:pt x="125" y="31"/>
                  </a:lnTo>
                  <a:lnTo>
                    <a:pt x="118" y="39"/>
                  </a:lnTo>
                  <a:lnTo>
                    <a:pt x="111" y="52"/>
                  </a:lnTo>
                  <a:lnTo>
                    <a:pt x="102" y="66"/>
                  </a:lnTo>
                  <a:lnTo>
                    <a:pt x="93" y="79"/>
                  </a:lnTo>
                  <a:lnTo>
                    <a:pt x="82" y="92"/>
                  </a:lnTo>
                  <a:lnTo>
                    <a:pt x="73" y="104"/>
                  </a:lnTo>
                  <a:lnTo>
                    <a:pt x="64" y="109"/>
                  </a:lnTo>
                  <a:lnTo>
                    <a:pt x="56" y="110"/>
                  </a:lnTo>
                  <a:lnTo>
                    <a:pt x="48" y="105"/>
                  </a:lnTo>
                  <a:lnTo>
                    <a:pt x="40" y="92"/>
                  </a:lnTo>
                  <a:lnTo>
                    <a:pt x="30" y="76"/>
                  </a:lnTo>
                  <a:lnTo>
                    <a:pt x="22" y="57"/>
                  </a:lnTo>
                  <a:lnTo>
                    <a:pt x="15" y="39"/>
                  </a:lnTo>
                  <a:lnTo>
                    <a:pt x="9" y="22"/>
                  </a:lnTo>
                  <a:lnTo>
                    <a:pt x="4" y="8"/>
                  </a:lnTo>
                  <a:lnTo>
                    <a:pt x="0" y="0"/>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8" name="未知"/>
            <p:cNvSpPr>
              <a:spLocks/>
            </p:cNvSpPr>
            <p:nvPr/>
          </p:nvSpPr>
          <p:spPr bwMode="auto">
            <a:xfrm>
              <a:off x="618" y="199"/>
              <a:ext cx="100" cy="139"/>
            </a:xfrm>
            <a:custGeom>
              <a:avLst/>
              <a:gdLst>
                <a:gd name="T0" fmla="*/ 181 w 198"/>
                <a:gd name="T1" fmla="*/ 0 h 273"/>
                <a:gd name="T2" fmla="*/ 181 w 198"/>
                <a:gd name="T3" fmla="*/ 25 h 273"/>
                <a:gd name="T4" fmla="*/ 184 w 198"/>
                <a:gd name="T5" fmla="*/ 63 h 273"/>
                <a:gd name="T6" fmla="*/ 190 w 198"/>
                <a:gd name="T7" fmla="*/ 101 h 273"/>
                <a:gd name="T8" fmla="*/ 198 w 198"/>
                <a:gd name="T9" fmla="*/ 123 h 273"/>
                <a:gd name="T10" fmla="*/ 188 w 198"/>
                <a:gd name="T11" fmla="*/ 133 h 273"/>
                <a:gd name="T12" fmla="*/ 177 w 198"/>
                <a:gd name="T13" fmla="*/ 145 h 273"/>
                <a:gd name="T14" fmla="*/ 166 w 198"/>
                <a:gd name="T15" fmla="*/ 156 h 273"/>
                <a:gd name="T16" fmla="*/ 155 w 198"/>
                <a:gd name="T17" fmla="*/ 168 h 273"/>
                <a:gd name="T18" fmla="*/ 144 w 198"/>
                <a:gd name="T19" fmla="*/ 179 h 273"/>
                <a:gd name="T20" fmla="*/ 135 w 198"/>
                <a:gd name="T21" fmla="*/ 189 h 273"/>
                <a:gd name="T22" fmla="*/ 125 w 198"/>
                <a:gd name="T23" fmla="*/ 198 h 273"/>
                <a:gd name="T24" fmla="*/ 118 w 198"/>
                <a:gd name="T25" fmla="*/ 206 h 273"/>
                <a:gd name="T26" fmla="*/ 107 w 198"/>
                <a:gd name="T27" fmla="*/ 214 h 273"/>
                <a:gd name="T28" fmla="*/ 92 w 198"/>
                <a:gd name="T29" fmla="*/ 225 h 273"/>
                <a:gd name="T30" fmla="*/ 73 w 198"/>
                <a:gd name="T31" fmla="*/ 237 h 273"/>
                <a:gd name="T32" fmla="*/ 55 w 198"/>
                <a:gd name="T33" fmla="*/ 250 h 273"/>
                <a:gd name="T34" fmla="*/ 37 w 198"/>
                <a:gd name="T35" fmla="*/ 260 h 273"/>
                <a:gd name="T36" fmla="*/ 20 w 198"/>
                <a:gd name="T37" fmla="*/ 268 h 273"/>
                <a:gd name="T38" fmla="*/ 8 w 198"/>
                <a:gd name="T39" fmla="*/ 273 h 273"/>
                <a:gd name="T40" fmla="*/ 1 w 198"/>
                <a:gd name="T41" fmla="*/ 273 h 273"/>
                <a:gd name="T42" fmla="*/ 0 w 198"/>
                <a:gd name="T43" fmla="*/ 270 h 273"/>
                <a:gd name="T44" fmla="*/ 0 w 198"/>
                <a:gd name="T45" fmla="*/ 265 h 273"/>
                <a:gd name="T46" fmla="*/ 1 w 198"/>
                <a:gd name="T47" fmla="*/ 258 h 273"/>
                <a:gd name="T48" fmla="*/ 3 w 198"/>
                <a:gd name="T49" fmla="*/ 248 h 273"/>
                <a:gd name="T50" fmla="*/ 7 w 198"/>
                <a:gd name="T51" fmla="*/ 238 h 273"/>
                <a:gd name="T52" fmla="*/ 12 w 198"/>
                <a:gd name="T53" fmla="*/ 224 h 273"/>
                <a:gd name="T54" fmla="*/ 19 w 198"/>
                <a:gd name="T55" fmla="*/ 210 h 273"/>
                <a:gd name="T56" fmla="*/ 29 w 198"/>
                <a:gd name="T57" fmla="*/ 193 h 273"/>
                <a:gd name="T58" fmla="*/ 39 w 198"/>
                <a:gd name="T59" fmla="*/ 175 h 273"/>
                <a:gd name="T60" fmla="*/ 53 w 198"/>
                <a:gd name="T61" fmla="*/ 154 h 273"/>
                <a:gd name="T62" fmla="*/ 68 w 198"/>
                <a:gd name="T63" fmla="*/ 132 h 273"/>
                <a:gd name="T64" fmla="*/ 85 w 198"/>
                <a:gd name="T65" fmla="*/ 109 h 273"/>
                <a:gd name="T66" fmla="*/ 105 w 198"/>
                <a:gd name="T67" fmla="*/ 84 h 273"/>
                <a:gd name="T68" fmla="*/ 128 w 198"/>
                <a:gd name="T69" fmla="*/ 57 h 273"/>
                <a:gd name="T70" fmla="*/ 153 w 198"/>
                <a:gd name="T71" fmla="*/ 30 h 273"/>
                <a:gd name="T72" fmla="*/ 181 w 198"/>
                <a:gd name="T73"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8" h="273">
                  <a:moveTo>
                    <a:pt x="181" y="0"/>
                  </a:moveTo>
                  <a:lnTo>
                    <a:pt x="181" y="25"/>
                  </a:lnTo>
                  <a:lnTo>
                    <a:pt x="184" y="63"/>
                  </a:lnTo>
                  <a:lnTo>
                    <a:pt x="190" y="101"/>
                  </a:lnTo>
                  <a:lnTo>
                    <a:pt x="198" y="123"/>
                  </a:lnTo>
                  <a:lnTo>
                    <a:pt x="188" y="133"/>
                  </a:lnTo>
                  <a:lnTo>
                    <a:pt x="177" y="145"/>
                  </a:lnTo>
                  <a:lnTo>
                    <a:pt x="166" y="156"/>
                  </a:lnTo>
                  <a:lnTo>
                    <a:pt x="155" y="168"/>
                  </a:lnTo>
                  <a:lnTo>
                    <a:pt x="144" y="179"/>
                  </a:lnTo>
                  <a:lnTo>
                    <a:pt x="135" y="189"/>
                  </a:lnTo>
                  <a:lnTo>
                    <a:pt x="125" y="198"/>
                  </a:lnTo>
                  <a:lnTo>
                    <a:pt x="118" y="206"/>
                  </a:lnTo>
                  <a:lnTo>
                    <a:pt x="107" y="214"/>
                  </a:lnTo>
                  <a:lnTo>
                    <a:pt x="92" y="225"/>
                  </a:lnTo>
                  <a:lnTo>
                    <a:pt x="73" y="237"/>
                  </a:lnTo>
                  <a:lnTo>
                    <a:pt x="55" y="250"/>
                  </a:lnTo>
                  <a:lnTo>
                    <a:pt x="37" y="260"/>
                  </a:lnTo>
                  <a:lnTo>
                    <a:pt x="20" y="268"/>
                  </a:lnTo>
                  <a:lnTo>
                    <a:pt x="8" y="273"/>
                  </a:lnTo>
                  <a:lnTo>
                    <a:pt x="1" y="273"/>
                  </a:lnTo>
                  <a:lnTo>
                    <a:pt x="0" y="270"/>
                  </a:lnTo>
                  <a:lnTo>
                    <a:pt x="0" y="265"/>
                  </a:lnTo>
                  <a:lnTo>
                    <a:pt x="1" y="258"/>
                  </a:lnTo>
                  <a:lnTo>
                    <a:pt x="3" y="248"/>
                  </a:lnTo>
                  <a:lnTo>
                    <a:pt x="7" y="238"/>
                  </a:lnTo>
                  <a:lnTo>
                    <a:pt x="12" y="224"/>
                  </a:lnTo>
                  <a:lnTo>
                    <a:pt x="19" y="210"/>
                  </a:lnTo>
                  <a:lnTo>
                    <a:pt x="29" y="193"/>
                  </a:lnTo>
                  <a:lnTo>
                    <a:pt x="39" y="175"/>
                  </a:lnTo>
                  <a:lnTo>
                    <a:pt x="53" y="154"/>
                  </a:lnTo>
                  <a:lnTo>
                    <a:pt x="68" y="132"/>
                  </a:lnTo>
                  <a:lnTo>
                    <a:pt x="85" y="109"/>
                  </a:lnTo>
                  <a:lnTo>
                    <a:pt x="105" y="84"/>
                  </a:lnTo>
                  <a:lnTo>
                    <a:pt x="128" y="57"/>
                  </a:lnTo>
                  <a:lnTo>
                    <a:pt x="153" y="30"/>
                  </a:lnTo>
                  <a:lnTo>
                    <a:pt x="181" y="0"/>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69" name="未知"/>
            <p:cNvSpPr>
              <a:spLocks/>
            </p:cNvSpPr>
            <p:nvPr/>
          </p:nvSpPr>
          <p:spPr bwMode="auto">
            <a:xfrm>
              <a:off x="667" y="508"/>
              <a:ext cx="86" cy="67"/>
            </a:xfrm>
            <a:custGeom>
              <a:avLst/>
              <a:gdLst>
                <a:gd name="T0" fmla="*/ 0 w 170"/>
                <a:gd name="T1" fmla="*/ 0 h 132"/>
                <a:gd name="T2" fmla="*/ 9 w 170"/>
                <a:gd name="T3" fmla="*/ 8 h 132"/>
                <a:gd name="T4" fmla="*/ 27 w 170"/>
                <a:gd name="T5" fmla="*/ 20 h 132"/>
                <a:gd name="T6" fmla="*/ 52 w 170"/>
                <a:gd name="T7" fmla="*/ 35 h 132"/>
                <a:gd name="T8" fmla="*/ 79 w 170"/>
                <a:gd name="T9" fmla="*/ 50 h 132"/>
                <a:gd name="T10" fmla="*/ 107 w 170"/>
                <a:gd name="T11" fmla="*/ 66 h 132"/>
                <a:gd name="T12" fmla="*/ 133 w 170"/>
                <a:gd name="T13" fmla="*/ 79 h 132"/>
                <a:gd name="T14" fmla="*/ 155 w 170"/>
                <a:gd name="T15" fmla="*/ 92 h 132"/>
                <a:gd name="T16" fmla="*/ 170 w 170"/>
                <a:gd name="T17" fmla="*/ 101 h 132"/>
                <a:gd name="T18" fmla="*/ 169 w 170"/>
                <a:gd name="T19" fmla="*/ 106 h 132"/>
                <a:gd name="T20" fmla="*/ 167 w 170"/>
                <a:gd name="T21" fmla="*/ 112 h 132"/>
                <a:gd name="T22" fmla="*/ 161 w 170"/>
                <a:gd name="T23" fmla="*/ 117 h 132"/>
                <a:gd name="T24" fmla="*/ 155 w 170"/>
                <a:gd name="T25" fmla="*/ 123 h 132"/>
                <a:gd name="T26" fmla="*/ 148 w 170"/>
                <a:gd name="T27" fmla="*/ 128 h 132"/>
                <a:gd name="T28" fmla="*/ 143 w 170"/>
                <a:gd name="T29" fmla="*/ 131 h 132"/>
                <a:gd name="T30" fmla="*/ 136 w 170"/>
                <a:gd name="T31" fmla="*/ 132 h 132"/>
                <a:gd name="T32" fmla="*/ 131 w 170"/>
                <a:gd name="T33" fmla="*/ 131 h 132"/>
                <a:gd name="T34" fmla="*/ 127 w 170"/>
                <a:gd name="T35" fmla="*/ 130 h 132"/>
                <a:gd name="T36" fmla="*/ 121 w 170"/>
                <a:gd name="T37" fmla="*/ 129 h 132"/>
                <a:gd name="T38" fmla="*/ 114 w 170"/>
                <a:gd name="T39" fmla="*/ 129 h 132"/>
                <a:gd name="T40" fmla="*/ 107 w 170"/>
                <a:gd name="T41" fmla="*/ 130 h 132"/>
                <a:gd name="T42" fmla="*/ 99 w 170"/>
                <a:gd name="T43" fmla="*/ 129 h 132"/>
                <a:gd name="T44" fmla="*/ 91 w 170"/>
                <a:gd name="T45" fmla="*/ 128 h 132"/>
                <a:gd name="T46" fmla="*/ 83 w 170"/>
                <a:gd name="T47" fmla="*/ 124 h 132"/>
                <a:gd name="T48" fmla="*/ 75 w 170"/>
                <a:gd name="T49" fmla="*/ 119 h 132"/>
                <a:gd name="T50" fmla="*/ 65 w 170"/>
                <a:gd name="T51" fmla="*/ 109 h 132"/>
                <a:gd name="T52" fmla="*/ 53 w 170"/>
                <a:gd name="T53" fmla="*/ 96 h 132"/>
                <a:gd name="T54" fmla="*/ 40 w 170"/>
                <a:gd name="T55" fmla="*/ 79 h 132"/>
                <a:gd name="T56" fmla="*/ 26 w 170"/>
                <a:gd name="T57" fmla="*/ 61 h 132"/>
                <a:gd name="T58" fmla="*/ 15 w 170"/>
                <a:gd name="T59" fmla="*/ 44 h 132"/>
                <a:gd name="T60" fmla="*/ 6 w 170"/>
                <a:gd name="T61" fmla="*/ 27 h 132"/>
                <a:gd name="T62" fmla="*/ 0 w 170"/>
                <a:gd name="T63" fmla="*/ 12 h 132"/>
                <a:gd name="T64" fmla="*/ 0 w 170"/>
                <a:gd name="T65"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0" h="132">
                  <a:moveTo>
                    <a:pt x="0" y="0"/>
                  </a:moveTo>
                  <a:lnTo>
                    <a:pt x="9" y="8"/>
                  </a:lnTo>
                  <a:lnTo>
                    <a:pt x="27" y="20"/>
                  </a:lnTo>
                  <a:lnTo>
                    <a:pt x="52" y="35"/>
                  </a:lnTo>
                  <a:lnTo>
                    <a:pt x="79" y="50"/>
                  </a:lnTo>
                  <a:lnTo>
                    <a:pt x="107" y="66"/>
                  </a:lnTo>
                  <a:lnTo>
                    <a:pt x="133" y="79"/>
                  </a:lnTo>
                  <a:lnTo>
                    <a:pt x="155" y="92"/>
                  </a:lnTo>
                  <a:lnTo>
                    <a:pt x="170" y="101"/>
                  </a:lnTo>
                  <a:lnTo>
                    <a:pt x="169" y="106"/>
                  </a:lnTo>
                  <a:lnTo>
                    <a:pt x="167" y="112"/>
                  </a:lnTo>
                  <a:lnTo>
                    <a:pt x="161" y="117"/>
                  </a:lnTo>
                  <a:lnTo>
                    <a:pt x="155" y="123"/>
                  </a:lnTo>
                  <a:lnTo>
                    <a:pt x="148" y="128"/>
                  </a:lnTo>
                  <a:lnTo>
                    <a:pt x="143" y="131"/>
                  </a:lnTo>
                  <a:lnTo>
                    <a:pt x="136" y="132"/>
                  </a:lnTo>
                  <a:lnTo>
                    <a:pt x="131" y="131"/>
                  </a:lnTo>
                  <a:lnTo>
                    <a:pt x="127" y="130"/>
                  </a:lnTo>
                  <a:lnTo>
                    <a:pt x="121" y="129"/>
                  </a:lnTo>
                  <a:lnTo>
                    <a:pt x="114" y="129"/>
                  </a:lnTo>
                  <a:lnTo>
                    <a:pt x="107" y="130"/>
                  </a:lnTo>
                  <a:lnTo>
                    <a:pt x="99" y="129"/>
                  </a:lnTo>
                  <a:lnTo>
                    <a:pt x="91" y="128"/>
                  </a:lnTo>
                  <a:lnTo>
                    <a:pt x="83" y="124"/>
                  </a:lnTo>
                  <a:lnTo>
                    <a:pt x="75" y="119"/>
                  </a:lnTo>
                  <a:lnTo>
                    <a:pt x="65" y="109"/>
                  </a:lnTo>
                  <a:lnTo>
                    <a:pt x="53" y="96"/>
                  </a:lnTo>
                  <a:lnTo>
                    <a:pt x="40" y="79"/>
                  </a:lnTo>
                  <a:lnTo>
                    <a:pt x="26" y="61"/>
                  </a:lnTo>
                  <a:lnTo>
                    <a:pt x="15" y="44"/>
                  </a:lnTo>
                  <a:lnTo>
                    <a:pt x="6" y="27"/>
                  </a:lnTo>
                  <a:lnTo>
                    <a:pt x="0" y="12"/>
                  </a:lnTo>
                  <a:lnTo>
                    <a:pt x="0" y="0"/>
                  </a:lnTo>
                  <a:close/>
                </a:path>
              </a:pathLst>
            </a:custGeom>
            <a:solidFill>
              <a:srgbClr val="FF4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0" name="未知"/>
            <p:cNvSpPr>
              <a:spLocks/>
            </p:cNvSpPr>
            <p:nvPr/>
          </p:nvSpPr>
          <p:spPr bwMode="auto">
            <a:xfrm>
              <a:off x="67" y="369"/>
              <a:ext cx="151" cy="39"/>
            </a:xfrm>
            <a:custGeom>
              <a:avLst/>
              <a:gdLst>
                <a:gd name="T0" fmla="*/ 302 w 302"/>
                <a:gd name="T1" fmla="*/ 0 h 75"/>
                <a:gd name="T2" fmla="*/ 300 w 302"/>
                <a:gd name="T3" fmla="*/ 0 h 75"/>
                <a:gd name="T4" fmla="*/ 293 w 302"/>
                <a:gd name="T5" fmla="*/ 0 h 75"/>
                <a:gd name="T6" fmla="*/ 283 w 302"/>
                <a:gd name="T7" fmla="*/ 0 h 75"/>
                <a:gd name="T8" fmla="*/ 270 w 302"/>
                <a:gd name="T9" fmla="*/ 0 h 75"/>
                <a:gd name="T10" fmla="*/ 254 w 302"/>
                <a:gd name="T11" fmla="*/ 0 h 75"/>
                <a:gd name="T12" fmla="*/ 236 w 302"/>
                <a:gd name="T13" fmla="*/ 1 h 75"/>
                <a:gd name="T14" fmla="*/ 216 w 302"/>
                <a:gd name="T15" fmla="*/ 1 h 75"/>
                <a:gd name="T16" fmla="*/ 195 w 302"/>
                <a:gd name="T17" fmla="*/ 1 h 75"/>
                <a:gd name="T18" fmla="*/ 173 w 302"/>
                <a:gd name="T19" fmla="*/ 2 h 75"/>
                <a:gd name="T20" fmla="*/ 153 w 302"/>
                <a:gd name="T21" fmla="*/ 3 h 75"/>
                <a:gd name="T22" fmla="*/ 132 w 302"/>
                <a:gd name="T23" fmla="*/ 4 h 75"/>
                <a:gd name="T24" fmla="*/ 113 w 302"/>
                <a:gd name="T25" fmla="*/ 6 h 75"/>
                <a:gd name="T26" fmla="*/ 96 w 302"/>
                <a:gd name="T27" fmla="*/ 7 h 75"/>
                <a:gd name="T28" fmla="*/ 81 w 302"/>
                <a:gd name="T29" fmla="*/ 8 h 75"/>
                <a:gd name="T30" fmla="*/ 68 w 302"/>
                <a:gd name="T31" fmla="*/ 10 h 75"/>
                <a:gd name="T32" fmla="*/ 60 w 302"/>
                <a:gd name="T33" fmla="*/ 12 h 75"/>
                <a:gd name="T34" fmla="*/ 44 w 302"/>
                <a:gd name="T35" fmla="*/ 18 h 75"/>
                <a:gd name="T36" fmla="*/ 32 w 302"/>
                <a:gd name="T37" fmla="*/ 25 h 75"/>
                <a:gd name="T38" fmla="*/ 20 w 302"/>
                <a:gd name="T39" fmla="*/ 31 h 75"/>
                <a:gd name="T40" fmla="*/ 12 w 302"/>
                <a:gd name="T41" fmla="*/ 37 h 75"/>
                <a:gd name="T42" fmla="*/ 6 w 302"/>
                <a:gd name="T43" fmla="*/ 45 h 75"/>
                <a:gd name="T44" fmla="*/ 2 w 302"/>
                <a:gd name="T45" fmla="*/ 53 h 75"/>
                <a:gd name="T46" fmla="*/ 0 w 302"/>
                <a:gd name="T47" fmla="*/ 62 h 75"/>
                <a:gd name="T48" fmla="*/ 2 w 302"/>
                <a:gd name="T49" fmla="*/ 72 h 75"/>
                <a:gd name="T50" fmla="*/ 5 w 302"/>
                <a:gd name="T51" fmla="*/ 75 h 75"/>
                <a:gd name="T52" fmla="*/ 12 w 302"/>
                <a:gd name="T53" fmla="*/ 75 h 75"/>
                <a:gd name="T54" fmla="*/ 23 w 302"/>
                <a:gd name="T55" fmla="*/ 72 h 75"/>
                <a:gd name="T56" fmla="*/ 38 w 302"/>
                <a:gd name="T57" fmla="*/ 69 h 75"/>
                <a:gd name="T58" fmla="*/ 57 w 302"/>
                <a:gd name="T59" fmla="*/ 63 h 75"/>
                <a:gd name="T60" fmla="*/ 78 w 302"/>
                <a:gd name="T61" fmla="*/ 57 h 75"/>
                <a:gd name="T62" fmla="*/ 100 w 302"/>
                <a:gd name="T63" fmla="*/ 50 h 75"/>
                <a:gd name="T64" fmla="*/ 124 w 302"/>
                <a:gd name="T65" fmla="*/ 42 h 75"/>
                <a:gd name="T66" fmla="*/ 149 w 302"/>
                <a:gd name="T67" fmla="*/ 34 h 75"/>
                <a:gd name="T68" fmla="*/ 173 w 302"/>
                <a:gd name="T69" fmla="*/ 27 h 75"/>
                <a:gd name="T70" fmla="*/ 199 w 302"/>
                <a:gd name="T71" fmla="*/ 19 h 75"/>
                <a:gd name="T72" fmla="*/ 223 w 302"/>
                <a:gd name="T73" fmla="*/ 14 h 75"/>
                <a:gd name="T74" fmla="*/ 246 w 302"/>
                <a:gd name="T75" fmla="*/ 8 h 75"/>
                <a:gd name="T76" fmla="*/ 267 w 302"/>
                <a:gd name="T77" fmla="*/ 3 h 75"/>
                <a:gd name="T78" fmla="*/ 286 w 302"/>
                <a:gd name="T79" fmla="*/ 1 h 75"/>
                <a:gd name="T80" fmla="*/ 302 w 302"/>
                <a:gd name="T8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02" h="75">
                  <a:moveTo>
                    <a:pt x="302" y="0"/>
                  </a:moveTo>
                  <a:lnTo>
                    <a:pt x="300" y="0"/>
                  </a:lnTo>
                  <a:lnTo>
                    <a:pt x="293" y="0"/>
                  </a:lnTo>
                  <a:lnTo>
                    <a:pt x="283" y="0"/>
                  </a:lnTo>
                  <a:lnTo>
                    <a:pt x="270" y="0"/>
                  </a:lnTo>
                  <a:lnTo>
                    <a:pt x="254" y="0"/>
                  </a:lnTo>
                  <a:lnTo>
                    <a:pt x="236" y="1"/>
                  </a:lnTo>
                  <a:lnTo>
                    <a:pt x="216" y="1"/>
                  </a:lnTo>
                  <a:lnTo>
                    <a:pt x="195" y="1"/>
                  </a:lnTo>
                  <a:lnTo>
                    <a:pt x="173" y="2"/>
                  </a:lnTo>
                  <a:lnTo>
                    <a:pt x="153" y="3"/>
                  </a:lnTo>
                  <a:lnTo>
                    <a:pt x="132" y="4"/>
                  </a:lnTo>
                  <a:lnTo>
                    <a:pt x="113" y="6"/>
                  </a:lnTo>
                  <a:lnTo>
                    <a:pt x="96" y="7"/>
                  </a:lnTo>
                  <a:lnTo>
                    <a:pt x="81" y="8"/>
                  </a:lnTo>
                  <a:lnTo>
                    <a:pt x="68" y="10"/>
                  </a:lnTo>
                  <a:lnTo>
                    <a:pt x="60" y="12"/>
                  </a:lnTo>
                  <a:lnTo>
                    <a:pt x="44" y="18"/>
                  </a:lnTo>
                  <a:lnTo>
                    <a:pt x="32" y="25"/>
                  </a:lnTo>
                  <a:lnTo>
                    <a:pt x="20" y="31"/>
                  </a:lnTo>
                  <a:lnTo>
                    <a:pt x="12" y="37"/>
                  </a:lnTo>
                  <a:lnTo>
                    <a:pt x="6" y="45"/>
                  </a:lnTo>
                  <a:lnTo>
                    <a:pt x="2" y="53"/>
                  </a:lnTo>
                  <a:lnTo>
                    <a:pt x="0" y="62"/>
                  </a:lnTo>
                  <a:lnTo>
                    <a:pt x="2" y="72"/>
                  </a:lnTo>
                  <a:lnTo>
                    <a:pt x="5" y="75"/>
                  </a:lnTo>
                  <a:lnTo>
                    <a:pt x="12" y="75"/>
                  </a:lnTo>
                  <a:lnTo>
                    <a:pt x="23" y="72"/>
                  </a:lnTo>
                  <a:lnTo>
                    <a:pt x="38" y="69"/>
                  </a:lnTo>
                  <a:lnTo>
                    <a:pt x="57" y="63"/>
                  </a:lnTo>
                  <a:lnTo>
                    <a:pt x="78" y="57"/>
                  </a:lnTo>
                  <a:lnTo>
                    <a:pt x="100" y="50"/>
                  </a:lnTo>
                  <a:lnTo>
                    <a:pt x="124" y="42"/>
                  </a:lnTo>
                  <a:lnTo>
                    <a:pt x="149" y="34"/>
                  </a:lnTo>
                  <a:lnTo>
                    <a:pt x="173" y="27"/>
                  </a:lnTo>
                  <a:lnTo>
                    <a:pt x="199" y="19"/>
                  </a:lnTo>
                  <a:lnTo>
                    <a:pt x="223" y="14"/>
                  </a:lnTo>
                  <a:lnTo>
                    <a:pt x="246" y="8"/>
                  </a:lnTo>
                  <a:lnTo>
                    <a:pt x="267" y="3"/>
                  </a:lnTo>
                  <a:lnTo>
                    <a:pt x="286" y="1"/>
                  </a:lnTo>
                  <a:lnTo>
                    <a:pt x="302" y="0"/>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1" name="未知"/>
            <p:cNvSpPr>
              <a:spLocks/>
            </p:cNvSpPr>
            <p:nvPr/>
          </p:nvSpPr>
          <p:spPr bwMode="auto">
            <a:xfrm>
              <a:off x="179" y="436"/>
              <a:ext cx="143" cy="102"/>
            </a:xfrm>
            <a:custGeom>
              <a:avLst/>
              <a:gdLst>
                <a:gd name="T0" fmla="*/ 279 w 283"/>
                <a:gd name="T1" fmla="*/ 8 h 204"/>
                <a:gd name="T2" fmla="*/ 275 w 283"/>
                <a:gd name="T3" fmla="*/ 4 h 204"/>
                <a:gd name="T4" fmla="*/ 271 w 283"/>
                <a:gd name="T5" fmla="*/ 1 h 204"/>
                <a:gd name="T6" fmla="*/ 265 w 283"/>
                <a:gd name="T7" fmla="*/ 0 h 204"/>
                <a:gd name="T8" fmla="*/ 259 w 283"/>
                <a:gd name="T9" fmla="*/ 0 h 204"/>
                <a:gd name="T10" fmla="*/ 252 w 283"/>
                <a:gd name="T11" fmla="*/ 1 h 204"/>
                <a:gd name="T12" fmla="*/ 244 w 283"/>
                <a:gd name="T13" fmla="*/ 4 h 204"/>
                <a:gd name="T14" fmla="*/ 234 w 283"/>
                <a:gd name="T15" fmla="*/ 7 h 204"/>
                <a:gd name="T16" fmla="*/ 224 w 283"/>
                <a:gd name="T17" fmla="*/ 10 h 204"/>
                <a:gd name="T18" fmla="*/ 217 w 283"/>
                <a:gd name="T19" fmla="*/ 14 h 204"/>
                <a:gd name="T20" fmla="*/ 206 w 283"/>
                <a:gd name="T21" fmla="*/ 18 h 204"/>
                <a:gd name="T22" fmla="*/ 195 w 283"/>
                <a:gd name="T23" fmla="*/ 24 h 204"/>
                <a:gd name="T24" fmla="*/ 181 w 283"/>
                <a:gd name="T25" fmla="*/ 32 h 204"/>
                <a:gd name="T26" fmla="*/ 166 w 283"/>
                <a:gd name="T27" fmla="*/ 42 h 204"/>
                <a:gd name="T28" fmla="*/ 150 w 283"/>
                <a:gd name="T29" fmla="*/ 51 h 204"/>
                <a:gd name="T30" fmla="*/ 134 w 283"/>
                <a:gd name="T31" fmla="*/ 61 h 204"/>
                <a:gd name="T32" fmla="*/ 116 w 283"/>
                <a:gd name="T33" fmla="*/ 70 h 204"/>
                <a:gd name="T34" fmla="*/ 99 w 283"/>
                <a:gd name="T35" fmla="*/ 81 h 204"/>
                <a:gd name="T36" fmla="*/ 83 w 283"/>
                <a:gd name="T37" fmla="*/ 91 h 204"/>
                <a:gd name="T38" fmla="*/ 68 w 283"/>
                <a:gd name="T39" fmla="*/ 100 h 204"/>
                <a:gd name="T40" fmla="*/ 53 w 283"/>
                <a:gd name="T41" fmla="*/ 109 h 204"/>
                <a:gd name="T42" fmla="*/ 40 w 283"/>
                <a:gd name="T43" fmla="*/ 118 h 204"/>
                <a:gd name="T44" fmla="*/ 30 w 283"/>
                <a:gd name="T45" fmla="*/ 123 h 204"/>
                <a:gd name="T46" fmla="*/ 22 w 283"/>
                <a:gd name="T47" fmla="*/ 128 h 204"/>
                <a:gd name="T48" fmla="*/ 16 w 283"/>
                <a:gd name="T49" fmla="*/ 131 h 204"/>
                <a:gd name="T50" fmla="*/ 5 w 283"/>
                <a:gd name="T51" fmla="*/ 141 h 204"/>
                <a:gd name="T52" fmla="*/ 0 w 283"/>
                <a:gd name="T53" fmla="*/ 151 h 204"/>
                <a:gd name="T54" fmla="*/ 1 w 283"/>
                <a:gd name="T55" fmla="*/ 161 h 204"/>
                <a:gd name="T56" fmla="*/ 7 w 283"/>
                <a:gd name="T57" fmla="*/ 168 h 204"/>
                <a:gd name="T58" fmla="*/ 10 w 283"/>
                <a:gd name="T59" fmla="*/ 171 h 204"/>
                <a:gd name="T60" fmla="*/ 15 w 283"/>
                <a:gd name="T61" fmla="*/ 173 h 204"/>
                <a:gd name="T62" fmla="*/ 20 w 283"/>
                <a:gd name="T63" fmla="*/ 174 h 204"/>
                <a:gd name="T64" fmla="*/ 24 w 283"/>
                <a:gd name="T65" fmla="*/ 176 h 204"/>
                <a:gd name="T66" fmla="*/ 29 w 283"/>
                <a:gd name="T67" fmla="*/ 179 h 204"/>
                <a:gd name="T68" fmla="*/ 35 w 283"/>
                <a:gd name="T69" fmla="*/ 182 h 204"/>
                <a:gd name="T70" fmla="*/ 41 w 283"/>
                <a:gd name="T71" fmla="*/ 184 h 204"/>
                <a:gd name="T72" fmla="*/ 47 w 283"/>
                <a:gd name="T73" fmla="*/ 188 h 204"/>
                <a:gd name="T74" fmla="*/ 54 w 283"/>
                <a:gd name="T75" fmla="*/ 191 h 204"/>
                <a:gd name="T76" fmla="*/ 62 w 283"/>
                <a:gd name="T77" fmla="*/ 196 h 204"/>
                <a:gd name="T78" fmla="*/ 70 w 283"/>
                <a:gd name="T79" fmla="*/ 199 h 204"/>
                <a:gd name="T80" fmla="*/ 79 w 283"/>
                <a:gd name="T81" fmla="*/ 203 h 204"/>
                <a:gd name="T82" fmla="*/ 89 w 283"/>
                <a:gd name="T83" fmla="*/ 204 h 204"/>
                <a:gd name="T84" fmla="*/ 99 w 283"/>
                <a:gd name="T85" fmla="*/ 202 h 204"/>
                <a:gd name="T86" fmla="*/ 109 w 283"/>
                <a:gd name="T87" fmla="*/ 197 h 204"/>
                <a:gd name="T88" fmla="*/ 120 w 283"/>
                <a:gd name="T89" fmla="*/ 187 h 204"/>
                <a:gd name="T90" fmla="*/ 134 w 283"/>
                <a:gd name="T91" fmla="*/ 172 h 204"/>
                <a:gd name="T92" fmla="*/ 153 w 283"/>
                <a:gd name="T93" fmla="*/ 154 h 204"/>
                <a:gd name="T94" fmla="*/ 175 w 283"/>
                <a:gd name="T95" fmla="*/ 134 h 204"/>
                <a:gd name="T96" fmla="*/ 198 w 283"/>
                <a:gd name="T97" fmla="*/ 114 h 204"/>
                <a:gd name="T98" fmla="*/ 220 w 283"/>
                <a:gd name="T99" fmla="*/ 94 h 204"/>
                <a:gd name="T100" fmla="*/ 240 w 283"/>
                <a:gd name="T101" fmla="*/ 77 h 204"/>
                <a:gd name="T102" fmla="*/ 255 w 283"/>
                <a:gd name="T103" fmla="*/ 66 h 204"/>
                <a:gd name="T104" fmla="*/ 264 w 283"/>
                <a:gd name="T105" fmla="*/ 59 h 204"/>
                <a:gd name="T106" fmla="*/ 273 w 283"/>
                <a:gd name="T107" fmla="*/ 50 h 204"/>
                <a:gd name="T108" fmla="*/ 281 w 283"/>
                <a:gd name="T109" fmla="*/ 35 h 204"/>
                <a:gd name="T110" fmla="*/ 283 w 283"/>
                <a:gd name="T111" fmla="*/ 21 h 204"/>
                <a:gd name="T112" fmla="*/ 279 w 283"/>
                <a:gd name="T113" fmla="*/ 8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3" h="204">
                  <a:moveTo>
                    <a:pt x="279" y="8"/>
                  </a:moveTo>
                  <a:lnTo>
                    <a:pt x="275" y="4"/>
                  </a:lnTo>
                  <a:lnTo>
                    <a:pt x="271" y="1"/>
                  </a:lnTo>
                  <a:lnTo>
                    <a:pt x="265" y="0"/>
                  </a:lnTo>
                  <a:lnTo>
                    <a:pt x="259" y="0"/>
                  </a:lnTo>
                  <a:lnTo>
                    <a:pt x="252" y="1"/>
                  </a:lnTo>
                  <a:lnTo>
                    <a:pt x="244" y="4"/>
                  </a:lnTo>
                  <a:lnTo>
                    <a:pt x="234" y="7"/>
                  </a:lnTo>
                  <a:lnTo>
                    <a:pt x="224" y="10"/>
                  </a:lnTo>
                  <a:lnTo>
                    <a:pt x="217" y="14"/>
                  </a:lnTo>
                  <a:lnTo>
                    <a:pt x="206" y="18"/>
                  </a:lnTo>
                  <a:lnTo>
                    <a:pt x="195" y="24"/>
                  </a:lnTo>
                  <a:lnTo>
                    <a:pt x="181" y="32"/>
                  </a:lnTo>
                  <a:lnTo>
                    <a:pt x="166" y="42"/>
                  </a:lnTo>
                  <a:lnTo>
                    <a:pt x="150" y="51"/>
                  </a:lnTo>
                  <a:lnTo>
                    <a:pt x="134" y="61"/>
                  </a:lnTo>
                  <a:lnTo>
                    <a:pt x="116" y="70"/>
                  </a:lnTo>
                  <a:lnTo>
                    <a:pt x="99" y="81"/>
                  </a:lnTo>
                  <a:lnTo>
                    <a:pt x="83" y="91"/>
                  </a:lnTo>
                  <a:lnTo>
                    <a:pt x="68" y="100"/>
                  </a:lnTo>
                  <a:lnTo>
                    <a:pt x="53" y="109"/>
                  </a:lnTo>
                  <a:lnTo>
                    <a:pt x="40" y="118"/>
                  </a:lnTo>
                  <a:lnTo>
                    <a:pt x="30" y="123"/>
                  </a:lnTo>
                  <a:lnTo>
                    <a:pt x="22" y="128"/>
                  </a:lnTo>
                  <a:lnTo>
                    <a:pt x="16" y="131"/>
                  </a:lnTo>
                  <a:lnTo>
                    <a:pt x="5" y="141"/>
                  </a:lnTo>
                  <a:lnTo>
                    <a:pt x="0" y="151"/>
                  </a:lnTo>
                  <a:lnTo>
                    <a:pt x="1" y="161"/>
                  </a:lnTo>
                  <a:lnTo>
                    <a:pt x="7" y="168"/>
                  </a:lnTo>
                  <a:lnTo>
                    <a:pt x="10" y="171"/>
                  </a:lnTo>
                  <a:lnTo>
                    <a:pt x="15" y="173"/>
                  </a:lnTo>
                  <a:lnTo>
                    <a:pt x="20" y="174"/>
                  </a:lnTo>
                  <a:lnTo>
                    <a:pt x="24" y="176"/>
                  </a:lnTo>
                  <a:lnTo>
                    <a:pt x="29" y="179"/>
                  </a:lnTo>
                  <a:lnTo>
                    <a:pt x="35" y="182"/>
                  </a:lnTo>
                  <a:lnTo>
                    <a:pt x="41" y="184"/>
                  </a:lnTo>
                  <a:lnTo>
                    <a:pt x="47" y="188"/>
                  </a:lnTo>
                  <a:lnTo>
                    <a:pt x="54" y="191"/>
                  </a:lnTo>
                  <a:lnTo>
                    <a:pt x="62" y="196"/>
                  </a:lnTo>
                  <a:lnTo>
                    <a:pt x="70" y="199"/>
                  </a:lnTo>
                  <a:lnTo>
                    <a:pt x="79" y="203"/>
                  </a:lnTo>
                  <a:lnTo>
                    <a:pt x="89" y="204"/>
                  </a:lnTo>
                  <a:lnTo>
                    <a:pt x="99" y="202"/>
                  </a:lnTo>
                  <a:lnTo>
                    <a:pt x="109" y="197"/>
                  </a:lnTo>
                  <a:lnTo>
                    <a:pt x="120" y="187"/>
                  </a:lnTo>
                  <a:lnTo>
                    <a:pt x="134" y="172"/>
                  </a:lnTo>
                  <a:lnTo>
                    <a:pt x="153" y="154"/>
                  </a:lnTo>
                  <a:lnTo>
                    <a:pt x="175" y="134"/>
                  </a:lnTo>
                  <a:lnTo>
                    <a:pt x="198" y="114"/>
                  </a:lnTo>
                  <a:lnTo>
                    <a:pt x="220" y="94"/>
                  </a:lnTo>
                  <a:lnTo>
                    <a:pt x="240" y="77"/>
                  </a:lnTo>
                  <a:lnTo>
                    <a:pt x="255" y="66"/>
                  </a:lnTo>
                  <a:lnTo>
                    <a:pt x="264" y="59"/>
                  </a:lnTo>
                  <a:lnTo>
                    <a:pt x="273" y="50"/>
                  </a:lnTo>
                  <a:lnTo>
                    <a:pt x="281" y="35"/>
                  </a:lnTo>
                  <a:lnTo>
                    <a:pt x="283" y="21"/>
                  </a:lnTo>
                  <a:lnTo>
                    <a:pt x="279" y="8"/>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2" name="未知"/>
            <p:cNvSpPr>
              <a:spLocks/>
            </p:cNvSpPr>
            <p:nvPr/>
          </p:nvSpPr>
          <p:spPr bwMode="auto">
            <a:xfrm>
              <a:off x="457" y="482"/>
              <a:ext cx="69" cy="152"/>
            </a:xfrm>
            <a:custGeom>
              <a:avLst/>
              <a:gdLst>
                <a:gd name="T0" fmla="*/ 43 w 140"/>
                <a:gd name="T1" fmla="*/ 247 h 304"/>
                <a:gd name="T2" fmla="*/ 42 w 140"/>
                <a:gd name="T3" fmla="*/ 257 h 304"/>
                <a:gd name="T4" fmla="*/ 44 w 140"/>
                <a:gd name="T5" fmla="*/ 267 h 304"/>
                <a:gd name="T6" fmla="*/ 50 w 140"/>
                <a:gd name="T7" fmla="*/ 275 h 304"/>
                <a:gd name="T8" fmla="*/ 58 w 140"/>
                <a:gd name="T9" fmla="*/ 283 h 304"/>
                <a:gd name="T10" fmla="*/ 66 w 140"/>
                <a:gd name="T11" fmla="*/ 291 h 304"/>
                <a:gd name="T12" fmla="*/ 75 w 140"/>
                <a:gd name="T13" fmla="*/ 297 h 304"/>
                <a:gd name="T14" fmla="*/ 82 w 140"/>
                <a:gd name="T15" fmla="*/ 301 h 304"/>
                <a:gd name="T16" fmla="*/ 88 w 140"/>
                <a:gd name="T17" fmla="*/ 304 h 304"/>
                <a:gd name="T18" fmla="*/ 94 w 140"/>
                <a:gd name="T19" fmla="*/ 273 h 304"/>
                <a:gd name="T20" fmla="*/ 100 w 140"/>
                <a:gd name="T21" fmla="*/ 241 h 304"/>
                <a:gd name="T22" fmla="*/ 107 w 140"/>
                <a:gd name="T23" fmla="*/ 211 h 304"/>
                <a:gd name="T24" fmla="*/ 114 w 140"/>
                <a:gd name="T25" fmla="*/ 181 h 304"/>
                <a:gd name="T26" fmla="*/ 121 w 140"/>
                <a:gd name="T27" fmla="*/ 156 h 304"/>
                <a:gd name="T28" fmla="*/ 127 w 140"/>
                <a:gd name="T29" fmla="*/ 132 h 304"/>
                <a:gd name="T30" fmla="*/ 132 w 140"/>
                <a:gd name="T31" fmla="*/ 114 h 304"/>
                <a:gd name="T32" fmla="*/ 134 w 140"/>
                <a:gd name="T33" fmla="*/ 100 h 304"/>
                <a:gd name="T34" fmla="*/ 137 w 140"/>
                <a:gd name="T35" fmla="*/ 77 h 304"/>
                <a:gd name="T36" fmla="*/ 140 w 140"/>
                <a:gd name="T37" fmla="*/ 53 h 304"/>
                <a:gd name="T38" fmla="*/ 140 w 140"/>
                <a:gd name="T39" fmla="*/ 30 h 304"/>
                <a:gd name="T40" fmla="*/ 134 w 140"/>
                <a:gd name="T41" fmla="*/ 13 h 304"/>
                <a:gd name="T42" fmla="*/ 129 w 140"/>
                <a:gd name="T43" fmla="*/ 7 h 304"/>
                <a:gd name="T44" fmla="*/ 126 w 140"/>
                <a:gd name="T45" fmla="*/ 2 h 304"/>
                <a:gd name="T46" fmla="*/ 121 w 140"/>
                <a:gd name="T47" fmla="*/ 0 h 304"/>
                <a:gd name="T48" fmla="*/ 118 w 140"/>
                <a:gd name="T49" fmla="*/ 0 h 304"/>
                <a:gd name="T50" fmla="*/ 113 w 140"/>
                <a:gd name="T51" fmla="*/ 2 h 304"/>
                <a:gd name="T52" fmla="*/ 109 w 140"/>
                <a:gd name="T53" fmla="*/ 7 h 304"/>
                <a:gd name="T54" fmla="*/ 103 w 140"/>
                <a:gd name="T55" fmla="*/ 15 h 304"/>
                <a:gd name="T56" fmla="*/ 96 w 140"/>
                <a:gd name="T57" fmla="*/ 25 h 304"/>
                <a:gd name="T58" fmla="*/ 88 w 140"/>
                <a:gd name="T59" fmla="*/ 40 h 304"/>
                <a:gd name="T60" fmla="*/ 77 w 140"/>
                <a:gd name="T61" fmla="*/ 59 h 304"/>
                <a:gd name="T62" fmla="*/ 65 w 140"/>
                <a:gd name="T63" fmla="*/ 81 h 304"/>
                <a:gd name="T64" fmla="*/ 52 w 140"/>
                <a:gd name="T65" fmla="*/ 104 h 304"/>
                <a:gd name="T66" fmla="*/ 38 w 140"/>
                <a:gd name="T67" fmla="*/ 126 h 304"/>
                <a:gd name="T68" fmla="*/ 27 w 140"/>
                <a:gd name="T69" fmla="*/ 145 h 304"/>
                <a:gd name="T70" fmla="*/ 18 w 140"/>
                <a:gd name="T71" fmla="*/ 161 h 304"/>
                <a:gd name="T72" fmla="*/ 11 w 140"/>
                <a:gd name="T73" fmla="*/ 173 h 304"/>
                <a:gd name="T74" fmla="*/ 3 w 140"/>
                <a:gd name="T75" fmla="*/ 190 h 304"/>
                <a:gd name="T76" fmla="*/ 0 w 140"/>
                <a:gd name="T77" fmla="*/ 206 h 304"/>
                <a:gd name="T78" fmla="*/ 3 w 140"/>
                <a:gd name="T79" fmla="*/ 221 h 304"/>
                <a:gd name="T80" fmla="*/ 8 w 140"/>
                <a:gd name="T81" fmla="*/ 233 h 304"/>
                <a:gd name="T82" fmla="*/ 15 w 140"/>
                <a:gd name="T83" fmla="*/ 242 h 304"/>
                <a:gd name="T84" fmla="*/ 24 w 140"/>
                <a:gd name="T85" fmla="*/ 248 h 304"/>
                <a:gd name="T86" fmla="*/ 34 w 140"/>
                <a:gd name="T87" fmla="*/ 249 h 304"/>
                <a:gd name="T88" fmla="*/ 43 w 140"/>
                <a:gd name="T89" fmla="*/ 247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0" h="304">
                  <a:moveTo>
                    <a:pt x="43" y="247"/>
                  </a:moveTo>
                  <a:lnTo>
                    <a:pt x="42" y="257"/>
                  </a:lnTo>
                  <a:lnTo>
                    <a:pt x="44" y="267"/>
                  </a:lnTo>
                  <a:lnTo>
                    <a:pt x="50" y="275"/>
                  </a:lnTo>
                  <a:lnTo>
                    <a:pt x="58" y="283"/>
                  </a:lnTo>
                  <a:lnTo>
                    <a:pt x="66" y="291"/>
                  </a:lnTo>
                  <a:lnTo>
                    <a:pt x="75" y="297"/>
                  </a:lnTo>
                  <a:lnTo>
                    <a:pt x="82" y="301"/>
                  </a:lnTo>
                  <a:lnTo>
                    <a:pt x="88" y="304"/>
                  </a:lnTo>
                  <a:lnTo>
                    <a:pt x="94" y="273"/>
                  </a:lnTo>
                  <a:lnTo>
                    <a:pt x="100" y="241"/>
                  </a:lnTo>
                  <a:lnTo>
                    <a:pt x="107" y="211"/>
                  </a:lnTo>
                  <a:lnTo>
                    <a:pt x="114" y="181"/>
                  </a:lnTo>
                  <a:lnTo>
                    <a:pt x="121" y="156"/>
                  </a:lnTo>
                  <a:lnTo>
                    <a:pt x="127" y="132"/>
                  </a:lnTo>
                  <a:lnTo>
                    <a:pt x="132" y="114"/>
                  </a:lnTo>
                  <a:lnTo>
                    <a:pt x="134" y="100"/>
                  </a:lnTo>
                  <a:lnTo>
                    <a:pt x="137" y="77"/>
                  </a:lnTo>
                  <a:lnTo>
                    <a:pt x="140" y="53"/>
                  </a:lnTo>
                  <a:lnTo>
                    <a:pt x="140" y="30"/>
                  </a:lnTo>
                  <a:lnTo>
                    <a:pt x="134" y="13"/>
                  </a:lnTo>
                  <a:lnTo>
                    <a:pt x="129" y="7"/>
                  </a:lnTo>
                  <a:lnTo>
                    <a:pt x="126" y="2"/>
                  </a:lnTo>
                  <a:lnTo>
                    <a:pt x="121" y="0"/>
                  </a:lnTo>
                  <a:lnTo>
                    <a:pt x="118" y="0"/>
                  </a:lnTo>
                  <a:lnTo>
                    <a:pt x="113" y="2"/>
                  </a:lnTo>
                  <a:lnTo>
                    <a:pt x="109" y="7"/>
                  </a:lnTo>
                  <a:lnTo>
                    <a:pt x="103" y="15"/>
                  </a:lnTo>
                  <a:lnTo>
                    <a:pt x="96" y="25"/>
                  </a:lnTo>
                  <a:lnTo>
                    <a:pt x="88" y="40"/>
                  </a:lnTo>
                  <a:lnTo>
                    <a:pt x="77" y="59"/>
                  </a:lnTo>
                  <a:lnTo>
                    <a:pt x="65" y="81"/>
                  </a:lnTo>
                  <a:lnTo>
                    <a:pt x="52" y="104"/>
                  </a:lnTo>
                  <a:lnTo>
                    <a:pt x="38" y="126"/>
                  </a:lnTo>
                  <a:lnTo>
                    <a:pt x="27" y="145"/>
                  </a:lnTo>
                  <a:lnTo>
                    <a:pt x="18" y="161"/>
                  </a:lnTo>
                  <a:lnTo>
                    <a:pt x="11" y="173"/>
                  </a:lnTo>
                  <a:lnTo>
                    <a:pt x="3" y="190"/>
                  </a:lnTo>
                  <a:lnTo>
                    <a:pt x="0" y="206"/>
                  </a:lnTo>
                  <a:lnTo>
                    <a:pt x="3" y="221"/>
                  </a:lnTo>
                  <a:lnTo>
                    <a:pt x="8" y="233"/>
                  </a:lnTo>
                  <a:lnTo>
                    <a:pt x="15" y="242"/>
                  </a:lnTo>
                  <a:lnTo>
                    <a:pt x="24" y="248"/>
                  </a:lnTo>
                  <a:lnTo>
                    <a:pt x="34" y="249"/>
                  </a:lnTo>
                  <a:lnTo>
                    <a:pt x="43" y="247"/>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3" name="未知"/>
            <p:cNvSpPr>
              <a:spLocks/>
            </p:cNvSpPr>
            <p:nvPr/>
          </p:nvSpPr>
          <p:spPr bwMode="auto">
            <a:xfrm>
              <a:off x="561" y="496"/>
              <a:ext cx="73" cy="182"/>
            </a:xfrm>
            <a:custGeom>
              <a:avLst/>
              <a:gdLst>
                <a:gd name="T0" fmla="*/ 0 w 145"/>
                <a:gd name="T1" fmla="*/ 0 h 366"/>
                <a:gd name="T2" fmla="*/ 3 w 145"/>
                <a:gd name="T3" fmla="*/ 29 h 366"/>
                <a:gd name="T4" fmla="*/ 17 w 145"/>
                <a:gd name="T5" fmla="*/ 64 h 366"/>
                <a:gd name="T6" fmla="*/ 39 w 145"/>
                <a:gd name="T7" fmla="*/ 107 h 366"/>
                <a:gd name="T8" fmla="*/ 64 w 145"/>
                <a:gd name="T9" fmla="*/ 153 h 366"/>
                <a:gd name="T10" fmla="*/ 91 w 145"/>
                <a:gd name="T11" fmla="*/ 204 h 366"/>
                <a:gd name="T12" fmla="*/ 114 w 145"/>
                <a:gd name="T13" fmla="*/ 257 h 366"/>
                <a:gd name="T14" fmla="*/ 130 w 145"/>
                <a:gd name="T15" fmla="*/ 312 h 366"/>
                <a:gd name="T16" fmla="*/ 137 w 145"/>
                <a:gd name="T17" fmla="*/ 366 h 366"/>
                <a:gd name="T18" fmla="*/ 144 w 145"/>
                <a:gd name="T19" fmla="*/ 343 h 366"/>
                <a:gd name="T20" fmla="*/ 145 w 145"/>
                <a:gd name="T21" fmla="*/ 318 h 366"/>
                <a:gd name="T22" fmla="*/ 143 w 145"/>
                <a:gd name="T23" fmla="*/ 291 h 366"/>
                <a:gd name="T24" fmla="*/ 137 w 145"/>
                <a:gd name="T25" fmla="*/ 264 h 366"/>
                <a:gd name="T26" fmla="*/ 128 w 145"/>
                <a:gd name="T27" fmla="*/ 236 h 366"/>
                <a:gd name="T28" fmla="*/ 116 w 145"/>
                <a:gd name="T29" fmla="*/ 207 h 366"/>
                <a:gd name="T30" fmla="*/ 104 w 145"/>
                <a:gd name="T31" fmla="*/ 178 h 366"/>
                <a:gd name="T32" fmla="*/ 89 w 145"/>
                <a:gd name="T33" fmla="*/ 151 h 366"/>
                <a:gd name="T34" fmla="*/ 74 w 145"/>
                <a:gd name="T35" fmla="*/ 124 h 366"/>
                <a:gd name="T36" fmla="*/ 59 w 145"/>
                <a:gd name="T37" fmla="*/ 98 h 366"/>
                <a:gd name="T38" fmla="*/ 44 w 145"/>
                <a:gd name="T39" fmla="*/ 75 h 366"/>
                <a:gd name="T40" fmla="*/ 30 w 145"/>
                <a:gd name="T41" fmla="*/ 53 h 366"/>
                <a:gd name="T42" fmla="*/ 18 w 145"/>
                <a:gd name="T43" fmla="*/ 34 h 366"/>
                <a:gd name="T44" fmla="*/ 9 w 145"/>
                <a:gd name="T45" fmla="*/ 19 h 366"/>
                <a:gd name="T46" fmla="*/ 2 w 145"/>
                <a:gd name="T47" fmla="*/ 8 h 366"/>
                <a:gd name="T48" fmla="*/ 0 w 145"/>
                <a:gd name="T49"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5" h="366">
                  <a:moveTo>
                    <a:pt x="0" y="0"/>
                  </a:moveTo>
                  <a:lnTo>
                    <a:pt x="3" y="29"/>
                  </a:lnTo>
                  <a:lnTo>
                    <a:pt x="17" y="64"/>
                  </a:lnTo>
                  <a:lnTo>
                    <a:pt x="39" y="107"/>
                  </a:lnTo>
                  <a:lnTo>
                    <a:pt x="64" y="153"/>
                  </a:lnTo>
                  <a:lnTo>
                    <a:pt x="91" y="204"/>
                  </a:lnTo>
                  <a:lnTo>
                    <a:pt x="114" y="257"/>
                  </a:lnTo>
                  <a:lnTo>
                    <a:pt x="130" y="312"/>
                  </a:lnTo>
                  <a:lnTo>
                    <a:pt x="137" y="366"/>
                  </a:lnTo>
                  <a:lnTo>
                    <a:pt x="144" y="343"/>
                  </a:lnTo>
                  <a:lnTo>
                    <a:pt x="145" y="318"/>
                  </a:lnTo>
                  <a:lnTo>
                    <a:pt x="143" y="291"/>
                  </a:lnTo>
                  <a:lnTo>
                    <a:pt x="137" y="264"/>
                  </a:lnTo>
                  <a:lnTo>
                    <a:pt x="128" y="236"/>
                  </a:lnTo>
                  <a:lnTo>
                    <a:pt x="116" y="207"/>
                  </a:lnTo>
                  <a:lnTo>
                    <a:pt x="104" y="178"/>
                  </a:lnTo>
                  <a:lnTo>
                    <a:pt x="89" y="151"/>
                  </a:lnTo>
                  <a:lnTo>
                    <a:pt x="74" y="124"/>
                  </a:lnTo>
                  <a:lnTo>
                    <a:pt x="59" y="98"/>
                  </a:lnTo>
                  <a:lnTo>
                    <a:pt x="44" y="75"/>
                  </a:lnTo>
                  <a:lnTo>
                    <a:pt x="30" y="53"/>
                  </a:lnTo>
                  <a:lnTo>
                    <a:pt x="18" y="34"/>
                  </a:lnTo>
                  <a:lnTo>
                    <a:pt x="9" y="19"/>
                  </a:lnTo>
                  <a:lnTo>
                    <a:pt x="2" y="8"/>
                  </a:lnTo>
                  <a:lnTo>
                    <a:pt x="0" y="0"/>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4" name="未知"/>
            <p:cNvSpPr>
              <a:spLocks/>
            </p:cNvSpPr>
            <p:nvPr/>
          </p:nvSpPr>
          <p:spPr bwMode="auto">
            <a:xfrm>
              <a:off x="767" y="44"/>
              <a:ext cx="129" cy="92"/>
            </a:xfrm>
            <a:custGeom>
              <a:avLst/>
              <a:gdLst>
                <a:gd name="T0" fmla="*/ 0 w 260"/>
                <a:gd name="T1" fmla="*/ 183 h 183"/>
                <a:gd name="T2" fmla="*/ 7 w 260"/>
                <a:gd name="T3" fmla="*/ 177 h 183"/>
                <a:gd name="T4" fmla="*/ 23 w 260"/>
                <a:gd name="T5" fmla="*/ 160 h 183"/>
                <a:gd name="T6" fmla="*/ 47 w 260"/>
                <a:gd name="T7" fmla="*/ 136 h 183"/>
                <a:gd name="T8" fmla="*/ 76 w 260"/>
                <a:gd name="T9" fmla="*/ 107 h 183"/>
                <a:gd name="T10" fmla="*/ 106 w 260"/>
                <a:gd name="T11" fmla="*/ 77 h 183"/>
                <a:gd name="T12" fmla="*/ 135 w 260"/>
                <a:gd name="T13" fmla="*/ 51 h 183"/>
                <a:gd name="T14" fmla="*/ 160 w 260"/>
                <a:gd name="T15" fmla="*/ 30 h 183"/>
                <a:gd name="T16" fmla="*/ 177 w 260"/>
                <a:gd name="T17" fmla="*/ 17 h 183"/>
                <a:gd name="T18" fmla="*/ 192 w 260"/>
                <a:gd name="T19" fmla="*/ 10 h 183"/>
                <a:gd name="T20" fmla="*/ 206 w 260"/>
                <a:gd name="T21" fmla="*/ 6 h 183"/>
                <a:gd name="T22" fmla="*/ 218 w 260"/>
                <a:gd name="T23" fmla="*/ 1 h 183"/>
                <a:gd name="T24" fmla="*/ 228 w 260"/>
                <a:gd name="T25" fmla="*/ 0 h 183"/>
                <a:gd name="T26" fmla="*/ 237 w 260"/>
                <a:gd name="T27" fmla="*/ 0 h 183"/>
                <a:gd name="T28" fmla="*/ 245 w 260"/>
                <a:gd name="T29" fmla="*/ 2 h 183"/>
                <a:gd name="T30" fmla="*/ 253 w 260"/>
                <a:gd name="T31" fmla="*/ 8 h 183"/>
                <a:gd name="T32" fmla="*/ 260 w 260"/>
                <a:gd name="T33" fmla="*/ 16 h 183"/>
                <a:gd name="T34" fmla="*/ 260 w 260"/>
                <a:gd name="T35" fmla="*/ 19 h 183"/>
                <a:gd name="T36" fmla="*/ 255 w 260"/>
                <a:gd name="T37" fmla="*/ 25 h 183"/>
                <a:gd name="T38" fmla="*/ 245 w 260"/>
                <a:gd name="T39" fmla="*/ 32 h 183"/>
                <a:gd name="T40" fmla="*/ 233 w 260"/>
                <a:gd name="T41" fmla="*/ 40 h 183"/>
                <a:gd name="T42" fmla="*/ 215 w 260"/>
                <a:gd name="T43" fmla="*/ 51 h 183"/>
                <a:gd name="T44" fmla="*/ 197 w 260"/>
                <a:gd name="T45" fmla="*/ 61 h 183"/>
                <a:gd name="T46" fmla="*/ 176 w 260"/>
                <a:gd name="T47" fmla="*/ 72 h 183"/>
                <a:gd name="T48" fmla="*/ 154 w 260"/>
                <a:gd name="T49" fmla="*/ 84 h 183"/>
                <a:gd name="T50" fmla="*/ 132 w 260"/>
                <a:gd name="T51" fmla="*/ 97 h 183"/>
                <a:gd name="T52" fmla="*/ 109 w 260"/>
                <a:gd name="T53" fmla="*/ 109 h 183"/>
                <a:gd name="T54" fmla="*/ 86 w 260"/>
                <a:gd name="T55" fmla="*/ 122 h 183"/>
                <a:gd name="T56" fmla="*/ 66 w 260"/>
                <a:gd name="T57" fmla="*/ 135 h 183"/>
                <a:gd name="T58" fmla="*/ 45 w 260"/>
                <a:gd name="T59" fmla="*/ 148 h 183"/>
                <a:gd name="T60" fmla="*/ 28 w 260"/>
                <a:gd name="T61" fmla="*/ 160 h 183"/>
                <a:gd name="T62" fmla="*/ 11 w 260"/>
                <a:gd name="T63" fmla="*/ 171 h 183"/>
                <a:gd name="T64" fmla="*/ 0 w 260"/>
                <a:gd name="T65"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0" h="183">
                  <a:moveTo>
                    <a:pt x="0" y="183"/>
                  </a:moveTo>
                  <a:lnTo>
                    <a:pt x="7" y="177"/>
                  </a:lnTo>
                  <a:lnTo>
                    <a:pt x="23" y="160"/>
                  </a:lnTo>
                  <a:lnTo>
                    <a:pt x="47" y="136"/>
                  </a:lnTo>
                  <a:lnTo>
                    <a:pt x="76" y="107"/>
                  </a:lnTo>
                  <a:lnTo>
                    <a:pt x="106" y="77"/>
                  </a:lnTo>
                  <a:lnTo>
                    <a:pt x="135" y="51"/>
                  </a:lnTo>
                  <a:lnTo>
                    <a:pt x="160" y="30"/>
                  </a:lnTo>
                  <a:lnTo>
                    <a:pt x="177" y="17"/>
                  </a:lnTo>
                  <a:lnTo>
                    <a:pt x="192" y="10"/>
                  </a:lnTo>
                  <a:lnTo>
                    <a:pt x="206" y="6"/>
                  </a:lnTo>
                  <a:lnTo>
                    <a:pt x="218" y="1"/>
                  </a:lnTo>
                  <a:lnTo>
                    <a:pt x="228" y="0"/>
                  </a:lnTo>
                  <a:lnTo>
                    <a:pt x="237" y="0"/>
                  </a:lnTo>
                  <a:lnTo>
                    <a:pt x="245" y="2"/>
                  </a:lnTo>
                  <a:lnTo>
                    <a:pt x="253" y="8"/>
                  </a:lnTo>
                  <a:lnTo>
                    <a:pt x="260" y="16"/>
                  </a:lnTo>
                  <a:lnTo>
                    <a:pt x="260" y="19"/>
                  </a:lnTo>
                  <a:lnTo>
                    <a:pt x="255" y="25"/>
                  </a:lnTo>
                  <a:lnTo>
                    <a:pt x="245" y="32"/>
                  </a:lnTo>
                  <a:lnTo>
                    <a:pt x="233" y="40"/>
                  </a:lnTo>
                  <a:lnTo>
                    <a:pt x="215" y="51"/>
                  </a:lnTo>
                  <a:lnTo>
                    <a:pt x="197" y="61"/>
                  </a:lnTo>
                  <a:lnTo>
                    <a:pt x="176" y="72"/>
                  </a:lnTo>
                  <a:lnTo>
                    <a:pt x="154" y="84"/>
                  </a:lnTo>
                  <a:lnTo>
                    <a:pt x="132" y="97"/>
                  </a:lnTo>
                  <a:lnTo>
                    <a:pt x="109" y="109"/>
                  </a:lnTo>
                  <a:lnTo>
                    <a:pt x="86" y="122"/>
                  </a:lnTo>
                  <a:lnTo>
                    <a:pt x="66" y="135"/>
                  </a:lnTo>
                  <a:lnTo>
                    <a:pt x="45" y="148"/>
                  </a:lnTo>
                  <a:lnTo>
                    <a:pt x="28" y="160"/>
                  </a:lnTo>
                  <a:lnTo>
                    <a:pt x="11" y="171"/>
                  </a:lnTo>
                  <a:lnTo>
                    <a:pt x="0" y="183"/>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5" name="未知"/>
            <p:cNvSpPr>
              <a:spLocks/>
            </p:cNvSpPr>
            <p:nvPr/>
          </p:nvSpPr>
          <p:spPr bwMode="auto">
            <a:xfrm>
              <a:off x="747" y="203"/>
              <a:ext cx="153" cy="67"/>
            </a:xfrm>
            <a:custGeom>
              <a:avLst/>
              <a:gdLst>
                <a:gd name="T0" fmla="*/ 0 w 304"/>
                <a:gd name="T1" fmla="*/ 101 h 132"/>
                <a:gd name="T2" fmla="*/ 3 w 304"/>
                <a:gd name="T3" fmla="*/ 92 h 132"/>
                <a:gd name="T4" fmla="*/ 14 w 304"/>
                <a:gd name="T5" fmla="*/ 83 h 132"/>
                <a:gd name="T6" fmla="*/ 31 w 304"/>
                <a:gd name="T7" fmla="*/ 75 h 132"/>
                <a:gd name="T8" fmla="*/ 48 w 304"/>
                <a:gd name="T9" fmla="*/ 65 h 132"/>
                <a:gd name="T10" fmla="*/ 71 w 304"/>
                <a:gd name="T11" fmla="*/ 58 h 132"/>
                <a:gd name="T12" fmla="*/ 102 w 304"/>
                <a:gd name="T13" fmla="*/ 48 h 132"/>
                <a:gd name="T14" fmla="*/ 139 w 304"/>
                <a:gd name="T15" fmla="*/ 39 h 132"/>
                <a:gd name="T16" fmla="*/ 177 w 304"/>
                <a:gd name="T17" fmla="*/ 29 h 132"/>
                <a:gd name="T18" fmla="*/ 213 w 304"/>
                <a:gd name="T19" fmla="*/ 18 h 132"/>
                <a:gd name="T20" fmla="*/ 244 w 304"/>
                <a:gd name="T21" fmla="*/ 10 h 132"/>
                <a:gd name="T22" fmla="*/ 265 w 304"/>
                <a:gd name="T23" fmla="*/ 4 h 132"/>
                <a:gd name="T24" fmla="*/ 279 w 304"/>
                <a:gd name="T25" fmla="*/ 0 h 132"/>
                <a:gd name="T26" fmla="*/ 293 w 304"/>
                <a:gd name="T27" fmla="*/ 1 h 132"/>
                <a:gd name="T28" fmla="*/ 301 w 304"/>
                <a:gd name="T29" fmla="*/ 8 h 132"/>
                <a:gd name="T30" fmla="*/ 304 w 304"/>
                <a:gd name="T31" fmla="*/ 16 h 132"/>
                <a:gd name="T32" fmla="*/ 302 w 304"/>
                <a:gd name="T33" fmla="*/ 30 h 132"/>
                <a:gd name="T34" fmla="*/ 295 w 304"/>
                <a:gd name="T35" fmla="*/ 50 h 132"/>
                <a:gd name="T36" fmla="*/ 288 w 304"/>
                <a:gd name="T37" fmla="*/ 71 h 132"/>
                <a:gd name="T38" fmla="*/ 283 w 304"/>
                <a:gd name="T39" fmla="*/ 88 h 132"/>
                <a:gd name="T40" fmla="*/ 273 w 304"/>
                <a:gd name="T41" fmla="*/ 105 h 132"/>
                <a:gd name="T42" fmla="*/ 254 w 304"/>
                <a:gd name="T43" fmla="*/ 115 h 132"/>
                <a:gd name="T44" fmla="*/ 230 w 304"/>
                <a:gd name="T45" fmla="*/ 116 h 132"/>
                <a:gd name="T46" fmla="*/ 207 w 304"/>
                <a:gd name="T47" fmla="*/ 116 h 132"/>
                <a:gd name="T48" fmla="*/ 178 w 304"/>
                <a:gd name="T49" fmla="*/ 118 h 132"/>
                <a:gd name="T50" fmla="*/ 148 w 304"/>
                <a:gd name="T51" fmla="*/ 120 h 132"/>
                <a:gd name="T52" fmla="*/ 117 w 304"/>
                <a:gd name="T53" fmla="*/ 123 h 132"/>
                <a:gd name="T54" fmla="*/ 90 w 304"/>
                <a:gd name="T55" fmla="*/ 125 h 132"/>
                <a:gd name="T56" fmla="*/ 67 w 304"/>
                <a:gd name="T57" fmla="*/ 129 h 132"/>
                <a:gd name="T58" fmla="*/ 52 w 304"/>
                <a:gd name="T59" fmla="*/ 130 h 132"/>
                <a:gd name="T60" fmla="*/ 41 w 304"/>
                <a:gd name="T61" fmla="*/ 132 h 132"/>
                <a:gd name="T62" fmla="*/ 26 w 304"/>
                <a:gd name="T63" fmla="*/ 130 h 132"/>
                <a:gd name="T64" fmla="*/ 11 w 304"/>
                <a:gd name="T65" fmla="*/ 123 h 132"/>
                <a:gd name="T66" fmla="*/ 2 w 304"/>
                <a:gd name="T67" fmla="*/ 11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4" h="132">
                  <a:moveTo>
                    <a:pt x="1" y="107"/>
                  </a:moveTo>
                  <a:lnTo>
                    <a:pt x="0" y="101"/>
                  </a:lnTo>
                  <a:lnTo>
                    <a:pt x="1" y="96"/>
                  </a:lnTo>
                  <a:lnTo>
                    <a:pt x="3" y="92"/>
                  </a:lnTo>
                  <a:lnTo>
                    <a:pt x="8" y="87"/>
                  </a:lnTo>
                  <a:lnTo>
                    <a:pt x="14" y="83"/>
                  </a:lnTo>
                  <a:lnTo>
                    <a:pt x="22" y="79"/>
                  </a:lnTo>
                  <a:lnTo>
                    <a:pt x="31" y="75"/>
                  </a:lnTo>
                  <a:lnTo>
                    <a:pt x="41" y="69"/>
                  </a:lnTo>
                  <a:lnTo>
                    <a:pt x="48" y="65"/>
                  </a:lnTo>
                  <a:lnTo>
                    <a:pt x="59" y="62"/>
                  </a:lnTo>
                  <a:lnTo>
                    <a:pt x="71" y="58"/>
                  </a:lnTo>
                  <a:lnTo>
                    <a:pt x="86" y="54"/>
                  </a:lnTo>
                  <a:lnTo>
                    <a:pt x="102" y="48"/>
                  </a:lnTo>
                  <a:lnTo>
                    <a:pt x="121" y="44"/>
                  </a:lnTo>
                  <a:lnTo>
                    <a:pt x="139" y="39"/>
                  </a:lnTo>
                  <a:lnTo>
                    <a:pt x="159" y="33"/>
                  </a:lnTo>
                  <a:lnTo>
                    <a:pt x="177" y="29"/>
                  </a:lnTo>
                  <a:lnTo>
                    <a:pt x="196" y="23"/>
                  </a:lnTo>
                  <a:lnTo>
                    <a:pt x="213" y="18"/>
                  </a:lnTo>
                  <a:lnTo>
                    <a:pt x="229" y="15"/>
                  </a:lnTo>
                  <a:lnTo>
                    <a:pt x="244" y="10"/>
                  </a:lnTo>
                  <a:lnTo>
                    <a:pt x="256" y="7"/>
                  </a:lnTo>
                  <a:lnTo>
                    <a:pt x="265" y="4"/>
                  </a:lnTo>
                  <a:lnTo>
                    <a:pt x="271" y="2"/>
                  </a:lnTo>
                  <a:lnTo>
                    <a:pt x="279" y="0"/>
                  </a:lnTo>
                  <a:lnTo>
                    <a:pt x="286" y="0"/>
                  </a:lnTo>
                  <a:lnTo>
                    <a:pt x="293" y="1"/>
                  </a:lnTo>
                  <a:lnTo>
                    <a:pt x="297" y="4"/>
                  </a:lnTo>
                  <a:lnTo>
                    <a:pt x="301" y="8"/>
                  </a:lnTo>
                  <a:lnTo>
                    <a:pt x="304" y="12"/>
                  </a:lnTo>
                  <a:lnTo>
                    <a:pt x="304" y="16"/>
                  </a:lnTo>
                  <a:lnTo>
                    <a:pt x="304" y="20"/>
                  </a:lnTo>
                  <a:lnTo>
                    <a:pt x="302" y="30"/>
                  </a:lnTo>
                  <a:lnTo>
                    <a:pt x="298" y="39"/>
                  </a:lnTo>
                  <a:lnTo>
                    <a:pt x="295" y="50"/>
                  </a:lnTo>
                  <a:lnTo>
                    <a:pt x="290" y="63"/>
                  </a:lnTo>
                  <a:lnTo>
                    <a:pt x="288" y="71"/>
                  </a:lnTo>
                  <a:lnTo>
                    <a:pt x="286" y="79"/>
                  </a:lnTo>
                  <a:lnTo>
                    <a:pt x="283" y="88"/>
                  </a:lnTo>
                  <a:lnTo>
                    <a:pt x="279" y="96"/>
                  </a:lnTo>
                  <a:lnTo>
                    <a:pt x="273" y="105"/>
                  </a:lnTo>
                  <a:lnTo>
                    <a:pt x="265" y="110"/>
                  </a:lnTo>
                  <a:lnTo>
                    <a:pt x="254" y="115"/>
                  </a:lnTo>
                  <a:lnTo>
                    <a:pt x="240" y="116"/>
                  </a:lnTo>
                  <a:lnTo>
                    <a:pt x="230" y="116"/>
                  </a:lnTo>
                  <a:lnTo>
                    <a:pt x="220" y="116"/>
                  </a:lnTo>
                  <a:lnTo>
                    <a:pt x="207" y="116"/>
                  </a:lnTo>
                  <a:lnTo>
                    <a:pt x="193" y="117"/>
                  </a:lnTo>
                  <a:lnTo>
                    <a:pt x="178" y="118"/>
                  </a:lnTo>
                  <a:lnTo>
                    <a:pt x="163" y="118"/>
                  </a:lnTo>
                  <a:lnTo>
                    <a:pt x="148" y="120"/>
                  </a:lnTo>
                  <a:lnTo>
                    <a:pt x="133" y="122"/>
                  </a:lnTo>
                  <a:lnTo>
                    <a:pt x="117" y="123"/>
                  </a:lnTo>
                  <a:lnTo>
                    <a:pt x="104" y="124"/>
                  </a:lnTo>
                  <a:lnTo>
                    <a:pt x="90" y="125"/>
                  </a:lnTo>
                  <a:lnTo>
                    <a:pt x="77" y="126"/>
                  </a:lnTo>
                  <a:lnTo>
                    <a:pt x="67" y="129"/>
                  </a:lnTo>
                  <a:lnTo>
                    <a:pt x="57" y="129"/>
                  </a:lnTo>
                  <a:lnTo>
                    <a:pt x="52" y="130"/>
                  </a:lnTo>
                  <a:lnTo>
                    <a:pt x="47" y="131"/>
                  </a:lnTo>
                  <a:lnTo>
                    <a:pt x="41" y="132"/>
                  </a:lnTo>
                  <a:lnTo>
                    <a:pt x="34" y="131"/>
                  </a:lnTo>
                  <a:lnTo>
                    <a:pt x="26" y="130"/>
                  </a:lnTo>
                  <a:lnTo>
                    <a:pt x="19" y="126"/>
                  </a:lnTo>
                  <a:lnTo>
                    <a:pt x="11" y="123"/>
                  </a:lnTo>
                  <a:lnTo>
                    <a:pt x="7" y="118"/>
                  </a:lnTo>
                  <a:lnTo>
                    <a:pt x="2" y="113"/>
                  </a:lnTo>
                  <a:lnTo>
                    <a:pt x="1" y="107"/>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6" name="未知"/>
            <p:cNvSpPr>
              <a:spLocks/>
            </p:cNvSpPr>
            <p:nvPr/>
          </p:nvSpPr>
          <p:spPr bwMode="auto">
            <a:xfrm>
              <a:off x="640" y="427"/>
              <a:ext cx="124" cy="95"/>
            </a:xfrm>
            <a:custGeom>
              <a:avLst/>
              <a:gdLst>
                <a:gd name="T0" fmla="*/ 233 w 251"/>
                <a:gd name="T1" fmla="*/ 119 h 192"/>
                <a:gd name="T2" fmla="*/ 247 w 251"/>
                <a:gd name="T3" fmla="*/ 134 h 192"/>
                <a:gd name="T4" fmla="*/ 251 w 251"/>
                <a:gd name="T5" fmla="*/ 156 h 192"/>
                <a:gd name="T6" fmla="*/ 247 w 251"/>
                <a:gd name="T7" fmla="*/ 177 h 192"/>
                <a:gd name="T8" fmla="*/ 244 w 251"/>
                <a:gd name="T9" fmla="*/ 192 h 192"/>
                <a:gd name="T10" fmla="*/ 217 w 251"/>
                <a:gd name="T11" fmla="*/ 174 h 192"/>
                <a:gd name="T12" fmla="*/ 190 w 251"/>
                <a:gd name="T13" fmla="*/ 157 h 192"/>
                <a:gd name="T14" fmla="*/ 163 w 251"/>
                <a:gd name="T15" fmla="*/ 141 h 192"/>
                <a:gd name="T16" fmla="*/ 138 w 251"/>
                <a:gd name="T17" fmla="*/ 126 h 192"/>
                <a:gd name="T18" fmla="*/ 114 w 251"/>
                <a:gd name="T19" fmla="*/ 112 h 192"/>
                <a:gd name="T20" fmla="*/ 93 w 251"/>
                <a:gd name="T21" fmla="*/ 101 h 192"/>
                <a:gd name="T22" fmla="*/ 77 w 251"/>
                <a:gd name="T23" fmla="*/ 90 h 192"/>
                <a:gd name="T24" fmla="*/ 65 w 251"/>
                <a:gd name="T25" fmla="*/ 83 h 192"/>
                <a:gd name="T26" fmla="*/ 56 w 251"/>
                <a:gd name="T27" fmla="*/ 78 h 192"/>
                <a:gd name="T28" fmla="*/ 46 w 251"/>
                <a:gd name="T29" fmla="*/ 71 h 192"/>
                <a:gd name="T30" fmla="*/ 35 w 251"/>
                <a:gd name="T31" fmla="*/ 63 h 192"/>
                <a:gd name="T32" fmla="*/ 26 w 251"/>
                <a:gd name="T33" fmla="*/ 56 h 192"/>
                <a:gd name="T34" fmla="*/ 18 w 251"/>
                <a:gd name="T35" fmla="*/ 48 h 192"/>
                <a:gd name="T36" fmla="*/ 10 w 251"/>
                <a:gd name="T37" fmla="*/ 40 h 192"/>
                <a:gd name="T38" fmla="*/ 5 w 251"/>
                <a:gd name="T39" fmla="*/ 32 h 192"/>
                <a:gd name="T40" fmla="*/ 2 w 251"/>
                <a:gd name="T41" fmla="*/ 24 h 192"/>
                <a:gd name="T42" fmla="*/ 1 w 251"/>
                <a:gd name="T43" fmla="*/ 17 h 192"/>
                <a:gd name="T44" fmla="*/ 0 w 251"/>
                <a:gd name="T45" fmla="*/ 11 h 192"/>
                <a:gd name="T46" fmla="*/ 1 w 251"/>
                <a:gd name="T47" fmla="*/ 6 h 192"/>
                <a:gd name="T48" fmla="*/ 4 w 251"/>
                <a:gd name="T49" fmla="*/ 3 h 192"/>
                <a:gd name="T50" fmla="*/ 9 w 251"/>
                <a:gd name="T51" fmla="*/ 0 h 192"/>
                <a:gd name="T52" fmla="*/ 16 w 251"/>
                <a:gd name="T53" fmla="*/ 0 h 192"/>
                <a:gd name="T54" fmla="*/ 25 w 251"/>
                <a:gd name="T55" fmla="*/ 2 h 192"/>
                <a:gd name="T56" fmla="*/ 36 w 251"/>
                <a:gd name="T57" fmla="*/ 5 h 192"/>
                <a:gd name="T58" fmla="*/ 53 w 251"/>
                <a:gd name="T59" fmla="*/ 10 h 192"/>
                <a:gd name="T60" fmla="*/ 73 w 251"/>
                <a:gd name="T61" fmla="*/ 14 h 192"/>
                <a:gd name="T62" fmla="*/ 97 w 251"/>
                <a:gd name="T63" fmla="*/ 20 h 192"/>
                <a:gd name="T64" fmla="*/ 124 w 251"/>
                <a:gd name="T65" fmla="*/ 27 h 192"/>
                <a:gd name="T66" fmla="*/ 149 w 251"/>
                <a:gd name="T67" fmla="*/ 33 h 192"/>
                <a:gd name="T68" fmla="*/ 171 w 251"/>
                <a:gd name="T69" fmla="*/ 38 h 192"/>
                <a:gd name="T70" fmla="*/ 190 w 251"/>
                <a:gd name="T71" fmla="*/ 42 h 192"/>
                <a:gd name="T72" fmla="*/ 202 w 251"/>
                <a:gd name="T73" fmla="*/ 45 h 192"/>
                <a:gd name="T74" fmla="*/ 221 w 251"/>
                <a:gd name="T75" fmla="*/ 52 h 192"/>
                <a:gd name="T76" fmla="*/ 233 w 251"/>
                <a:gd name="T77" fmla="*/ 62 h 192"/>
                <a:gd name="T78" fmla="*/ 243 w 251"/>
                <a:gd name="T79" fmla="*/ 73 h 192"/>
                <a:gd name="T80" fmla="*/ 247 w 251"/>
                <a:gd name="T81" fmla="*/ 85 h 192"/>
                <a:gd name="T82" fmla="*/ 248 w 251"/>
                <a:gd name="T83" fmla="*/ 96 h 192"/>
                <a:gd name="T84" fmla="*/ 246 w 251"/>
                <a:gd name="T85" fmla="*/ 106 h 192"/>
                <a:gd name="T86" fmla="*/ 241 w 251"/>
                <a:gd name="T87" fmla="*/ 114 h 192"/>
                <a:gd name="T88" fmla="*/ 233 w 251"/>
                <a:gd name="T89" fmla="*/ 119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1" h="192">
                  <a:moveTo>
                    <a:pt x="233" y="119"/>
                  </a:moveTo>
                  <a:lnTo>
                    <a:pt x="247" y="134"/>
                  </a:lnTo>
                  <a:lnTo>
                    <a:pt x="251" y="156"/>
                  </a:lnTo>
                  <a:lnTo>
                    <a:pt x="247" y="177"/>
                  </a:lnTo>
                  <a:lnTo>
                    <a:pt x="244" y="192"/>
                  </a:lnTo>
                  <a:lnTo>
                    <a:pt x="217" y="174"/>
                  </a:lnTo>
                  <a:lnTo>
                    <a:pt x="190" y="157"/>
                  </a:lnTo>
                  <a:lnTo>
                    <a:pt x="163" y="141"/>
                  </a:lnTo>
                  <a:lnTo>
                    <a:pt x="138" y="126"/>
                  </a:lnTo>
                  <a:lnTo>
                    <a:pt x="114" y="112"/>
                  </a:lnTo>
                  <a:lnTo>
                    <a:pt x="93" y="101"/>
                  </a:lnTo>
                  <a:lnTo>
                    <a:pt x="77" y="90"/>
                  </a:lnTo>
                  <a:lnTo>
                    <a:pt x="65" y="83"/>
                  </a:lnTo>
                  <a:lnTo>
                    <a:pt x="56" y="78"/>
                  </a:lnTo>
                  <a:lnTo>
                    <a:pt x="46" y="71"/>
                  </a:lnTo>
                  <a:lnTo>
                    <a:pt x="35" y="63"/>
                  </a:lnTo>
                  <a:lnTo>
                    <a:pt x="26" y="56"/>
                  </a:lnTo>
                  <a:lnTo>
                    <a:pt x="18" y="48"/>
                  </a:lnTo>
                  <a:lnTo>
                    <a:pt x="10" y="40"/>
                  </a:lnTo>
                  <a:lnTo>
                    <a:pt x="5" y="32"/>
                  </a:lnTo>
                  <a:lnTo>
                    <a:pt x="2" y="24"/>
                  </a:lnTo>
                  <a:lnTo>
                    <a:pt x="1" y="17"/>
                  </a:lnTo>
                  <a:lnTo>
                    <a:pt x="0" y="11"/>
                  </a:lnTo>
                  <a:lnTo>
                    <a:pt x="1" y="6"/>
                  </a:lnTo>
                  <a:lnTo>
                    <a:pt x="4" y="3"/>
                  </a:lnTo>
                  <a:lnTo>
                    <a:pt x="9" y="0"/>
                  </a:lnTo>
                  <a:lnTo>
                    <a:pt x="16" y="0"/>
                  </a:lnTo>
                  <a:lnTo>
                    <a:pt x="25" y="2"/>
                  </a:lnTo>
                  <a:lnTo>
                    <a:pt x="36" y="5"/>
                  </a:lnTo>
                  <a:lnTo>
                    <a:pt x="53" y="10"/>
                  </a:lnTo>
                  <a:lnTo>
                    <a:pt x="73" y="14"/>
                  </a:lnTo>
                  <a:lnTo>
                    <a:pt x="97" y="20"/>
                  </a:lnTo>
                  <a:lnTo>
                    <a:pt x="124" y="27"/>
                  </a:lnTo>
                  <a:lnTo>
                    <a:pt x="149" y="33"/>
                  </a:lnTo>
                  <a:lnTo>
                    <a:pt x="171" y="38"/>
                  </a:lnTo>
                  <a:lnTo>
                    <a:pt x="190" y="42"/>
                  </a:lnTo>
                  <a:lnTo>
                    <a:pt x="202" y="45"/>
                  </a:lnTo>
                  <a:lnTo>
                    <a:pt x="221" y="52"/>
                  </a:lnTo>
                  <a:lnTo>
                    <a:pt x="233" y="62"/>
                  </a:lnTo>
                  <a:lnTo>
                    <a:pt x="243" y="73"/>
                  </a:lnTo>
                  <a:lnTo>
                    <a:pt x="247" y="85"/>
                  </a:lnTo>
                  <a:lnTo>
                    <a:pt x="248" y="96"/>
                  </a:lnTo>
                  <a:lnTo>
                    <a:pt x="246" y="106"/>
                  </a:lnTo>
                  <a:lnTo>
                    <a:pt x="241" y="114"/>
                  </a:lnTo>
                  <a:lnTo>
                    <a:pt x="233" y="119"/>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7" name="未知"/>
            <p:cNvSpPr>
              <a:spLocks/>
            </p:cNvSpPr>
            <p:nvPr/>
          </p:nvSpPr>
          <p:spPr bwMode="auto">
            <a:xfrm>
              <a:off x="620" y="471"/>
              <a:ext cx="86" cy="175"/>
            </a:xfrm>
            <a:custGeom>
              <a:avLst/>
              <a:gdLst>
                <a:gd name="T0" fmla="*/ 0 w 171"/>
                <a:gd name="T1" fmla="*/ 0 h 353"/>
                <a:gd name="T2" fmla="*/ 19 w 171"/>
                <a:gd name="T3" fmla="*/ 23 h 353"/>
                <a:gd name="T4" fmla="*/ 35 w 171"/>
                <a:gd name="T5" fmla="*/ 58 h 353"/>
                <a:gd name="T6" fmla="*/ 51 w 171"/>
                <a:gd name="T7" fmla="*/ 103 h 353"/>
                <a:gd name="T8" fmla="*/ 67 w 171"/>
                <a:gd name="T9" fmla="*/ 153 h 353"/>
                <a:gd name="T10" fmla="*/ 86 w 171"/>
                <a:gd name="T11" fmla="*/ 207 h 353"/>
                <a:gd name="T12" fmla="*/ 109 w 171"/>
                <a:gd name="T13" fmla="*/ 260 h 353"/>
                <a:gd name="T14" fmla="*/ 136 w 171"/>
                <a:gd name="T15" fmla="*/ 310 h 353"/>
                <a:gd name="T16" fmla="*/ 171 w 171"/>
                <a:gd name="T17" fmla="*/ 353 h 353"/>
                <a:gd name="T18" fmla="*/ 131 w 171"/>
                <a:gd name="T19" fmla="*/ 325 h 353"/>
                <a:gd name="T20" fmla="*/ 97 w 171"/>
                <a:gd name="T21" fmla="*/ 281 h 353"/>
                <a:gd name="T22" fmla="*/ 70 w 171"/>
                <a:gd name="T23" fmla="*/ 227 h 353"/>
                <a:gd name="T24" fmla="*/ 48 w 171"/>
                <a:gd name="T25" fmla="*/ 168 h 353"/>
                <a:gd name="T26" fmla="*/ 30 w 171"/>
                <a:gd name="T27" fmla="*/ 111 h 353"/>
                <a:gd name="T28" fmla="*/ 18 w 171"/>
                <a:gd name="T29" fmla="*/ 59 h 353"/>
                <a:gd name="T30" fmla="*/ 7 w 171"/>
                <a:gd name="T31" fmla="*/ 21 h 353"/>
                <a:gd name="T32" fmla="*/ 0 w 171"/>
                <a:gd name="T33"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1" h="353">
                  <a:moveTo>
                    <a:pt x="0" y="0"/>
                  </a:moveTo>
                  <a:lnTo>
                    <a:pt x="19" y="23"/>
                  </a:lnTo>
                  <a:lnTo>
                    <a:pt x="35" y="58"/>
                  </a:lnTo>
                  <a:lnTo>
                    <a:pt x="51" y="103"/>
                  </a:lnTo>
                  <a:lnTo>
                    <a:pt x="67" y="153"/>
                  </a:lnTo>
                  <a:lnTo>
                    <a:pt x="86" y="207"/>
                  </a:lnTo>
                  <a:lnTo>
                    <a:pt x="109" y="260"/>
                  </a:lnTo>
                  <a:lnTo>
                    <a:pt x="136" y="310"/>
                  </a:lnTo>
                  <a:lnTo>
                    <a:pt x="171" y="353"/>
                  </a:lnTo>
                  <a:lnTo>
                    <a:pt x="131" y="325"/>
                  </a:lnTo>
                  <a:lnTo>
                    <a:pt x="97" y="281"/>
                  </a:lnTo>
                  <a:lnTo>
                    <a:pt x="70" y="227"/>
                  </a:lnTo>
                  <a:lnTo>
                    <a:pt x="48" y="168"/>
                  </a:lnTo>
                  <a:lnTo>
                    <a:pt x="30" y="111"/>
                  </a:lnTo>
                  <a:lnTo>
                    <a:pt x="18" y="59"/>
                  </a:lnTo>
                  <a:lnTo>
                    <a:pt x="7" y="21"/>
                  </a:lnTo>
                  <a:lnTo>
                    <a:pt x="0" y="0"/>
                  </a:lnTo>
                  <a:close/>
                </a:path>
              </a:pathLst>
            </a:custGeom>
            <a:solidFill>
              <a:srgbClr val="FFE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8" name="未知"/>
            <p:cNvSpPr>
              <a:spLocks/>
            </p:cNvSpPr>
            <p:nvPr/>
          </p:nvSpPr>
          <p:spPr bwMode="auto">
            <a:xfrm>
              <a:off x="404" y="471"/>
              <a:ext cx="67" cy="90"/>
            </a:xfrm>
            <a:custGeom>
              <a:avLst/>
              <a:gdLst>
                <a:gd name="T0" fmla="*/ 136 w 136"/>
                <a:gd name="T1" fmla="*/ 0 h 182"/>
                <a:gd name="T2" fmla="*/ 128 w 136"/>
                <a:gd name="T3" fmla="*/ 8 h 182"/>
                <a:gd name="T4" fmla="*/ 118 w 136"/>
                <a:gd name="T5" fmla="*/ 19 h 182"/>
                <a:gd name="T6" fmla="*/ 106 w 136"/>
                <a:gd name="T7" fmla="*/ 30 h 182"/>
                <a:gd name="T8" fmla="*/ 95 w 136"/>
                <a:gd name="T9" fmla="*/ 42 h 182"/>
                <a:gd name="T10" fmla="*/ 83 w 136"/>
                <a:gd name="T11" fmla="*/ 54 h 182"/>
                <a:gd name="T12" fmla="*/ 75 w 136"/>
                <a:gd name="T13" fmla="*/ 66 h 182"/>
                <a:gd name="T14" fmla="*/ 68 w 136"/>
                <a:gd name="T15" fmla="*/ 74 h 182"/>
                <a:gd name="T16" fmla="*/ 65 w 136"/>
                <a:gd name="T17" fmla="*/ 81 h 182"/>
                <a:gd name="T18" fmla="*/ 58 w 136"/>
                <a:gd name="T19" fmla="*/ 86 h 182"/>
                <a:gd name="T20" fmla="*/ 51 w 136"/>
                <a:gd name="T21" fmla="*/ 94 h 182"/>
                <a:gd name="T22" fmla="*/ 43 w 136"/>
                <a:gd name="T23" fmla="*/ 103 h 182"/>
                <a:gd name="T24" fmla="*/ 35 w 136"/>
                <a:gd name="T25" fmla="*/ 112 h 182"/>
                <a:gd name="T26" fmla="*/ 27 w 136"/>
                <a:gd name="T27" fmla="*/ 122 h 182"/>
                <a:gd name="T28" fmla="*/ 20 w 136"/>
                <a:gd name="T29" fmla="*/ 132 h 182"/>
                <a:gd name="T30" fmla="*/ 14 w 136"/>
                <a:gd name="T31" fmla="*/ 139 h 182"/>
                <a:gd name="T32" fmla="*/ 9 w 136"/>
                <a:gd name="T33" fmla="*/ 143 h 182"/>
                <a:gd name="T34" fmla="*/ 4 w 136"/>
                <a:gd name="T35" fmla="*/ 150 h 182"/>
                <a:gd name="T36" fmla="*/ 0 w 136"/>
                <a:gd name="T37" fmla="*/ 159 h 182"/>
                <a:gd name="T38" fmla="*/ 0 w 136"/>
                <a:gd name="T39" fmla="*/ 167 h 182"/>
                <a:gd name="T40" fmla="*/ 4 w 136"/>
                <a:gd name="T41" fmla="*/ 175 h 182"/>
                <a:gd name="T42" fmla="*/ 8 w 136"/>
                <a:gd name="T43" fmla="*/ 180 h 182"/>
                <a:gd name="T44" fmla="*/ 14 w 136"/>
                <a:gd name="T45" fmla="*/ 182 h 182"/>
                <a:gd name="T46" fmla="*/ 21 w 136"/>
                <a:gd name="T47" fmla="*/ 179 h 182"/>
                <a:gd name="T48" fmla="*/ 29 w 136"/>
                <a:gd name="T49" fmla="*/ 168 h 182"/>
                <a:gd name="T50" fmla="*/ 36 w 136"/>
                <a:gd name="T51" fmla="*/ 156 h 182"/>
                <a:gd name="T52" fmla="*/ 43 w 136"/>
                <a:gd name="T53" fmla="*/ 145 h 182"/>
                <a:gd name="T54" fmla="*/ 49 w 136"/>
                <a:gd name="T55" fmla="*/ 135 h 182"/>
                <a:gd name="T56" fmla="*/ 53 w 136"/>
                <a:gd name="T57" fmla="*/ 127 h 182"/>
                <a:gd name="T58" fmla="*/ 58 w 136"/>
                <a:gd name="T59" fmla="*/ 119 h 182"/>
                <a:gd name="T60" fmla="*/ 61 w 136"/>
                <a:gd name="T61" fmla="*/ 112 h 182"/>
                <a:gd name="T62" fmla="*/ 66 w 136"/>
                <a:gd name="T63" fmla="*/ 105 h 182"/>
                <a:gd name="T64" fmla="*/ 69 w 136"/>
                <a:gd name="T65" fmla="*/ 99 h 182"/>
                <a:gd name="T66" fmla="*/ 75 w 136"/>
                <a:gd name="T67" fmla="*/ 91 h 182"/>
                <a:gd name="T68" fmla="*/ 82 w 136"/>
                <a:gd name="T69" fmla="*/ 80 h 182"/>
                <a:gd name="T70" fmla="*/ 91 w 136"/>
                <a:gd name="T71" fmla="*/ 67 h 182"/>
                <a:gd name="T72" fmla="*/ 102 w 136"/>
                <a:gd name="T73" fmla="*/ 51 h 182"/>
                <a:gd name="T74" fmla="*/ 112 w 136"/>
                <a:gd name="T75" fmla="*/ 36 h 182"/>
                <a:gd name="T76" fmla="*/ 122 w 136"/>
                <a:gd name="T77" fmla="*/ 22 h 182"/>
                <a:gd name="T78" fmla="*/ 130 w 136"/>
                <a:gd name="T79" fmla="*/ 10 h 182"/>
                <a:gd name="T80" fmla="*/ 136 w 136"/>
                <a:gd name="T8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6" h="182">
                  <a:moveTo>
                    <a:pt x="136" y="0"/>
                  </a:moveTo>
                  <a:lnTo>
                    <a:pt x="128" y="8"/>
                  </a:lnTo>
                  <a:lnTo>
                    <a:pt x="118" y="19"/>
                  </a:lnTo>
                  <a:lnTo>
                    <a:pt x="106" y="30"/>
                  </a:lnTo>
                  <a:lnTo>
                    <a:pt x="95" y="42"/>
                  </a:lnTo>
                  <a:lnTo>
                    <a:pt x="83" y="54"/>
                  </a:lnTo>
                  <a:lnTo>
                    <a:pt x="75" y="66"/>
                  </a:lnTo>
                  <a:lnTo>
                    <a:pt x="68" y="74"/>
                  </a:lnTo>
                  <a:lnTo>
                    <a:pt x="65" y="81"/>
                  </a:lnTo>
                  <a:lnTo>
                    <a:pt x="58" y="86"/>
                  </a:lnTo>
                  <a:lnTo>
                    <a:pt x="51" y="94"/>
                  </a:lnTo>
                  <a:lnTo>
                    <a:pt x="43" y="103"/>
                  </a:lnTo>
                  <a:lnTo>
                    <a:pt x="35" y="112"/>
                  </a:lnTo>
                  <a:lnTo>
                    <a:pt x="27" y="122"/>
                  </a:lnTo>
                  <a:lnTo>
                    <a:pt x="20" y="132"/>
                  </a:lnTo>
                  <a:lnTo>
                    <a:pt x="14" y="139"/>
                  </a:lnTo>
                  <a:lnTo>
                    <a:pt x="9" y="143"/>
                  </a:lnTo>
                  <a:lnTo>
                    <a:pt x="4" y="150"/>
                  </a:lnTo>
                  <a:lnTo>
                    <a:pt x="0" y="159"/>
                  </a:lnTo>
                  <a:lnTo>
                    <a:pt x="0" y="167"/>
                  </a:lnTo>
                  <a:lnTo>
                    <a:pt x="4" y="175"/>
                  </a:lnTo>
                  <a:lnTo>
                    <a:pt x="8" y="180"/>
                  </a:lnTo>
                  <a:lnTo>
                    <a:pt x="14" y="182"/>
                  </a:lnTo>
                  <a:lnTo>
                    <a:pt x="21" y="179"/>
                  </a:lnTo>
                  <a:lnTo>
                    <a:pt x="29" y="168"/>
                  </a:lnTo>
                  <a:lnTo>
                    <a:pt x="36" y="156"/>
                  </a:lnTo>
                  <a:lnTo>
                    <a:pt x="43" y="145"/>
                  </a:lnTo>
                  <a:lnTo>
                    <a:pt x="49" y="135"/>
                  </a:lnTo>
                  <a:lnTo>
                    <a:pt x="53" y="127"/>
                  </a:lnTo>
                  <a:lnTo>
                    <a:pt x="58" y="119"/>
                  </a:lnTo>
                  <a:lnTo>
                    <a:pt x="61" y="112"/>
                  </a:lnTo>
                  <a:lnTo>
                    <a:pt x="66" y="105"/>
                  </a:lnTo>
                  <a:lnTo>
                    <a:pt x="69" y="99"/>
                  </a:lnTo>
                  <a:lnTo>
                    <a:pt x="75" y="91"/>
                  </a:lnTo>
                  <a:lnTo>
                    <a:pt x="82" y="80"/>
                  </a:lnTo>
                  <a:lnTo>
                    <a:pt x="91" y="67"/>
                  </a:lnTo>
                  <a:lnTo>
                    <a:pt x="102" y="51"/>
                  </a:lnTo>
                  <a:lnTo>
                    <a:pt x="112" y="36"/>
                  </a:lnTo>
                  <a:lnTo>
                    <a:pt x="122" y="22"/>
                  </a:lnTo>
                  <a:lnTo>
                    <a:pt x="130" y="10"/>
                  </a:lnTo>
                  <a:lnTo>
                    <a:pt x="13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79" name="未知"/>
            <p:cNvSpPr>
              <a:spLocks/>
            </p:cNvSpPr>
            <p:nvPr/>
          </p:nvSpPr>
          <p:spPr bwMode="auto">
            <a:xfrm>
              <a:off x="408" y="612"/>
              <a:ext cx="27" cy="55"/>
            </a:xfrm>
            <a:custGeom>
              <a:avLst/>
              <a:gdLst>
                <a:gd name="T0" fmla="*/ 45 w 55"/>
                <a:gd name="T1" fmla="*/ 6 h 109"/>
                <a:gd name="T2" fmla="*/ 37 w 55"/>
                <a:gd name="T3" fmla="*/ 1 h 109"/>
                <a:gd name="T4" fmla="*/ 30 w 55"/>
                <a:gd name="T5" fmla="*/ 0 h 109"/>
                <a:gd name="T6" fmla="*/ 25 w 55"/>
                <a:gd name="T7" fmla="*/ 3 h 109"/>
                <a:gd name="T8" fmla="*/ 21 w 55"/>
                <a:gd name="T9" fmla="*/ 7 h 109"/>
                <a:gd name="T10" fmla="*/ 17 w 55"/>
                <a:gd name="T11" fmla="*/ 14 h 109"/>
                <a:gd name="T12" fmla="*/ 15 w 55"/>
                <a:gd name="T13" fmla="*/ 21 h 109"/>
                <a:gd name="T14" fmla="*/ 12 w 55"/>
                <a:gd name="T15" fmla="*/ 30 h 109"/>
                <a:gd name="T16" fmla="*/ 8 w 55"/>
                <a:gd name="T17" fmla="*/ 38 h 109"/>
                <a:gd name="T18" fmla="*/ 2 w 55"/>
                <a:gd name="T19" fmla="*/ 58 h 109"/>
                <a:gd name="T20" fmla="*/ 0 w 55"/>
                <a:gd name="T21" fmla="*/ 79 h 109"/>
                <a:gd name="T22" fmla="*/ 1 w 55"/>
                <a:gd name="T23" fmla="*/ 96 h 109"/>
                <a:gd name="T24" fmla="*/ 7 w 55"/>
                <a:gd name="T25" fmla="*/ 105 h 109"/>
                <a:gd name="T26" fmla="*/ 16 w 55"/>
                <a:gd name="T27" fmla="*/ 109 h 109"/>
                <a:gd name="T28" fmla="*/ 23 w 55"/>
                <a:gd name="T29" fmla="*/ 109 h 109"/>
                <a:gd name="T30" fmla="*/ 29 w 55"/>
                <a:gd name="T31" fmla="*/ 107 h 109"/>
                <a:gd name="T32" fmla="*/ 35 w 55"/>
                <a:gd name="T33" fmla="*/ 103 h 109"/>
                <a:gd name="T34" fmla="*/ 38 w 55"/>
                <a:gd name="T35" fmla="*/ 97 h 109"/>
                <a:gd name="T36" fmla="*/ 41 w 55"/>
                <a:gd name="T37" fmla="*/ 90 h 109"/>
                <a:gd name="T38" fmla="*/ 45 w 55"/>
                <a:gd name="T39" fmla="*/ 81 h 109"/>
                <a:gd name="T40" fmla="*/ 47 w 55"/>
                <a:gd name="T41" fmla="*/ 71 h 109"/>
                <a:gd name="T42" fmla="*/ 52 w 55"/>
                <a:gd name="T43" fmla="*/ 51 h 109"/>
                <a:gd name="T44" fmla="*/ 55 w 55"/>
                <a:gd name="T45" fmla="*/ 33 h 109"/>
                <a:gd name="T46" fmla="*/ 54 w 55"/>
                <a:gd name="T47" fmla="*/ 18 h 109"/>
                <a:gd name="T48" fmla="*/ 45 w 55"/>
                <a:gd name="T49" fmla="*/ 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 h="109">
                  <a:moveTo>
                    <a:pt x="45" y="6"/>
                  </a:moveTo>
                  <a:lnTo>
                    <a:pt x="37" y="1"/>
                  </a:lnTo>
                  <a:lnTo>
                    <a:pt x="30" y="0"/>
                  </a:lnTo>
                  <a:lnTo>
                    <a:pt x="25" y="3"/>
                  </a:lnTo>
                  <a:lnTo>
                    <a:pt x="21" y="7"/>
                  </a:lnTo>
                  <a:lnTo>
                    <a:pt x="17" y="14"/>
                  </a:lnTo>
                  <a:lnTo>
                    <a:pt x="15" y="21"/>
                  </a:lnTo>
                  <a:lnTo>
                    <a:pt x="12" y="30"/>
                  </a:lnTo>
                  <a:lnTo>
                    <a:pt x="8" y="38"/>
                  </a:lnTo>
                  <a:lnTo>
                    <a:pt x="2" y="58"/>
                  </a:lnTo>
                  <a:lnTo>
                    <a:pt x="0" y="79"/>
                  </a:lnTo>
                  <a:lnTo>
                    <a:pt x="1" y="96"/>
                  </a:lnTo>
                  <a:lnTo>
                    <a:pt x="7" y="105"/>
                  </a:lnTo>
                  <a:lnTo>
                    <a:pt x="16" y="109"/>
                  </a:lnTo>
                  <a:lnTo>
                    <a:pt x="23" y="109"/>
                  </a:lnTo>
                  <a:lnTo>
                    <a:pt x="29" y="107"/>
                  </a:lnTo>
                  <a:lnTo>
                    <a:pt x="35" y="103"/>
                  </a:lnTo>
                  <a:lnTo>
                    <a:pt x="38" y="97"/>
                  </a:lnTo>
                  <a:lnTo>
                    <a:pt x="41" y="90"/>
                  </a:lnTo>
                  <a:lnTo>
                    <a:pt x="45" y="81"/>
                  </a:lnTo>
                  <a:lnTo>
                    <a:pt x="47" y="71"/>
                  </a:lnTo>
                  <a:lnTo>
                    <a:pt x="52" y="51"/>
                  </a:lnTo>
                  <a:lnTo>
                    <a:pt x="55" y="33"/>
                  </a:lnTo>
                  <a:lnTo>
                    <a:pt x="54" y="18"/>
                  </a:lnTo>
                  <a:lnTo>
                    <a:pt x="45"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80" name="未知"/>
            <p:cNvSpPr>
              <a:spLocks/>
            </p:cNvSpPr>
            <p:nvPr/>
          </p:nvSpPr>
          <p:spPr bwMode="auto">
            <a:xfrm>
              <a:off x="432" y="632"/>
              <a:ext cx="39" cy="46"/>
            </a:xfrm>
            <a:custGeom>
              <a:avLst/>
              <a:gdLst>
                <a:gd name="T0" fmla="*/ 9 w 77"/>
                <a:gd name="T1" fmla="*/ 27 h 94"/>
                <a:gd name="T2" fmla="*/ 7 w 77"/>
                <a:gd name="T3" fmla="*/ 34 h 94"/>
                <a:gd name="T4" fmla="*/ 5 w 77"/>
                <a:gd name="T5" fmla="*/ 42 h 94"/>
                <a:gd name="T6" fmla="*/ 1 w 77"/>
                <a:gd name="T7" fmla="*/ 51 h 94"/>
                <a:gd name="T8" fmla="*/ 0 w 77"/>
                <a:gd name="T9" fmla="*/ 61 h 94"/>
                <a:gd name="T10" fmla="*/ 0 w 77"/>
                <a:gd name="T11" fmla="*/ 69 h 94"/>
                <a:gd name="T12" fmla="*/ 3 w 77"/>
                <a:gd name="T13" fmla="*/ 77 h 94"/>
                <a:gd name="T14" fmla="*/ 12 w 77"/>
                <a:gd name="T15" fmla="*/ 84 h 94"/>
                <a:gd name="T16" fmla="*/ 24 w 77"/>
                <a:gd name="T17" fmla="*/ 89 h 94"/>
                <a:gd name="T18" fmla="*/ 38 w 77"/>
                <a:gd name="T19" fmla="*/ 93 h 94"/>
                <a:gd name="T20" fmla="*/ 50 w 77"/>
                <a:gd name="T21" fmla="*/ 94 h 94"/>
                <a:gd name="T22" fmla="*/ 59 w 77"/>
                <a:gd name="T23" fmla="*/ 94 h 94"/>
                <a:gd name="T24" fmla="*/ 66 w 77"/>
                <a:gd name="T25" fmla="*/ 92 h 94"/>
                <a:gd name="T26" fmla="*/ 70 w 77"/>
                <a:gd name="T27" fmla="*/ 88 h 94"/>
                <a:gd name="T28" fmla="*/ 74 w 77"/>
                <a:gd name="T29" fmla="*/ 84 h 94"/>
                <a:gd name="T30" fmla="*/ 76 w 77"/>
                <a:gd name="T31" fmla="*/ 79 h 94"/>
                <a:gd name="T32" fmla="*/ 77 w 77"/>
                <a:gd name="T33" fmla="*/ 73 h 94"/>
                <a:gd name="T34" fmla="*/ 76 w 77"/>
                <a:gd name="T35" fmla="*/ 58 h 94"/>
                <a:gd name="T36" fmla="*/ 73 w 77"/>
                <a:gd name="T37" fmla="*/ 41 h 94"/>
                <a:gd name="T38" fmla="*/ 63 w 77"/>
                <a:gd name="T39" fmla="*/ 25 h 94"/>
                <a:gd name="T40" fmla="*/ 51 w 77"/>
                <a:gd name="T41" fmla="*/ 12 h 94"/>
                <a:gd name="T42" fmla="*/ 44 w 77"/>
                <a:gd name="T43" fmla="*/ 8 h 94"/>
                <a:gd name="T44" fmla="*/ 37 w 77"/>
                <a:gd name="T45" fmla="*/ 4 h 94"/>
                <a:gd name="T46" fmla="*/ 30 w 77"/>
                <a:gd name="T47" fmla="*/ 1 h 94"/>
                <a:gd name="T48" fmla="*/ 25 w 77"/>
                <a:gd name="T49" fmla="*/ 0 h 94"/>
                <a:gd name="T50" fmla="*/ 20 w 77"/>
                <a:gd name="T51" fmla="*/ 1 h 94"/>
                <a:gd name="T52" fmla="*/ 16 w 77"/>
                <a:gd name="T53" fmla="*/ 5 h 94"/>
                <a:gd name="T54" fmla="*/ 13 w 77"/>
                <a:gd name="T55" fmla="*/ 15 h 94"/>
                <a:gd name="T56" fmla="*/ 9 w 77"/>
                <a:gd name="T57" fmla="*/ 2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7" h="94">
                  <a:moveTo>
                    <a:pt x="9" y="27"/>
                  </a:moveTo>
                  <a:lnTo>
                    <a:pt x="7" y="34"/>
                  </a:lnTo>
                  <a:lnTo>
                    <a:pt x="5" y="42"/>
                  </a:lnTo>
                  <a:lnTo>
                    <a:pt x="1" y="51"/>
                  </a:lnTo>
                  <a:lnTo>
                    <a:pt x="0" y="61"/>
                  </a:lnTo>
                  <a:lnTo>
                    <a:pt x="0" y="69"/>
                  </a:lnTo>
                  <a:lnTo>
                    <a:pt x="3" y="77"/>
                  </a:lnTo>
                  <a:lnTo>
                    <a:pt x="12" y="84"/>
                  </a:lnTo>
                  <a:lnTo>
                    <a:pt x="24" y="89"/>
                  </a:lnTo>
                  <a:lnTo>
                    <a:pt x="38" y="93"/>
                  </a:lnTo>
                  <a:lnTo>
                    <a:pt x="50" y="94"/>
                  </a:lnTo>
                  <a:lnTo>
                    <a:pt x="59" y="94"/>
                  </a:lnTo>
                  <a:lnTo>
                    <a:pt x="66" y="92"/>
                  </a:lnTo>
                  <a:lnTo>
                    <a:pt x="70" y="88"/>
                  </a:lnTo>
                  <a:lnTo>
                    <a:pt x="74" y="84"/>
                  </a:lnTo>
                  <a:lnTo>
                    <a:pt x="76" y="79"/>
                  </a:lnTo>
                  <a:lnTo>
                    <a:pt x="77" y="73"/>
                  </a:lnTo>
                  <a:lnTo>
                    <a:pt x="76" y="58"/>
                  </a:lnTo>
                  <a:lnTo>
                    <a:pt x="73" y="41"/>
                  </a:lnTo>
                  <a:lnTo>
                    <a:pt x="63" y="25"/>
                  </a:lnTo>
                  <a:lnTo>
                    <a:pt x="51" y="12"/>
                  </a:lnTo>
                  <a:lnTo>
                    <a:pt x="44" y="8"/>
                  </a:lnTo>
                  <a:lnTo>
                    <a:pt x="37" y="4"/>
                  </a:lnTo>
                  <a:lnTo>
                    <a:pt x="30" y="1"/>
                  </a:lnTo>
                  <a:lnTo>
                    <a:pt x="25" y="0"/>
                  </a:lnTo>
                  <a:lnTo>
                    <a:pt x="20" y="1"/>
                  </a:lnTo>
                  <a:lnTo>
                    <a:pt x="16" y="5"/>
                  </a:lnTo>
                  <a:lnTo>
                    <a:pt x="13" y="15"/>
                  </a:lnTo>
                  <a:lnTo>
                    <a:pt x="9"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81" name="未知"/>
            <p:cNvSpPr>
              <a:spLocks/>
            </p:cNvSpPr>
            <p:nvPr/>
          </p:nvSpPr>
          <p:spPr bwMode="auto">
            <a:xfrm>
              <a:off x="473" y="667"/>
              <a:ext cx="29" cy="21"/>
            </a:xfrm>
            <a:custGeom>
              <a:avLst/>
              <a:gdLst>
                <a:gd name="T0" fmla="*/ 10 w 53"/>
                <a:gd name="T1" fmla="*/ 0 h 38"/>
                <a:gd name="T2" fmla="*/ 10 w 53"/>
                <a:gd name="T3" fmla="*/ 7 h 38"/>
                <a:gd name="T4" fmla="*/ 8 w 53"/>
                <a:gd name="T5" fmla="*/ 15 h 38"/>
                <a:gd name="T6" fmla="*/ 4 w 53"/>
                <a:gd name="T7" fmla="*/ 22 h 38"/>
                <a:gd name="T8" fmla="*/ 0 w 53"/>
                <a:gd name="T9" fmla="*/ 30 h 38"/>
                <a:gd name="T10" fmla="*/ 7 w 53"/>
                <a:gd name="T11" fmla="*/ 31 h 38"/>
                <a:gd name="T12" fmla="*/ 15 w 53"/>
                <a:gd name="T13" fmla="*/ 33 h 38"/>
                <a:gd name="T14" fmla="*/ 23 w 53"/>
                <a:gd name="T15" fmla="*/ 35 h 38"/>
                <a:gd name="T16" fmla="*/ 32 w 53"/>
                <a:gd name="T17" fmla="*/ 37 h 38"/>
                <a:gd name="T18" fmla="*/ 39 w 53"/>
                <a:gd name="T19" fmla="*/ 38 h 38"/>
                <a:gd name="T20" fmla="*/ 46 w 53"/>
                <a:gd name="T21" fmla="*/ 38 h 38"/>
                <a:gd name="T22" fmla="*/ 50 w 53"/>
                <a:gd name="T23" fmla="*/ 37 h 38"/>
                <a:gd name="T24" fmla="*/ 53 w 53"/>
                <a:gd name="T25" fmla="*/ 33 h 38"/>
                <a:gd name="T26" fmla="*/ 53 w 53"/>
                <a:gd name="T27" fmla="*/ 29 h 38"/>
                <a:gd name="T28" fmla="*/ 49 w 53"/>
                <a:gd name="T29" fmla="*/ 25 h 38"/>
                <a:gd name="T30" fmla="*/ 45 w 53"/>
                <a:gd name="T31" fmla="*/ 21 h 38"/>
                <a:gd name="T32" fmla="*/ 38 w 53"/>
                <a:gd name="T33" fmla="*/ 16 h 38"/>
                <a:gd name="T34" fmla="*/ 31 w 53"/>
                <a:gd name="T35" fmla="*/ 13 h 38"/>
                <a:gd name="T36" fmla="*/ 23 w 53"/>
                <a:gd name="T37" fmla="*/ 8 h 38"/>
                <a:gd name="T38" fmla="*/ 16 w 53"/>
                <a:gd name="T39" fmla="*/ 5 h 38"/>
                <a:gd name="T40" fmla="*/ 10 w 53"/>
                <a:gd name="T4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 h="38">
                  <a:moveTo>
                    <a:pt x="10" y="0"/>
                  </a:moveTo>
                  <a:lnTo>
                    <a:pt x="10" y="7"/>
                  </a:lnTo>
                  <a:lnTo>
                    <a:pt x="8" y="15"/>
                  </a:lnTo>
                  <a:lnTo>
                    <a:pt x="4" y="22"/>
                  </a:lnTo>
                  <a:lnTo>
                    <a:pt x="0" y="30"/>
                  </a:lnTo>
                  <a:lnTo>
                    <a:pt x="7" y="31"/>
                  </a:lnTo>
                  <a:lnTo>
                    <a:pt x="15" y="33"/>
                  </a:lnTo>
                  <a:lnTo>
                    <a:pt x="23" y="35"/>
                  </a:lnTo>
                  <a:lnTo>
                    <a:pt x="32" y="37"/>
                  </a:lnTo>
                  <a:lnTo>
                    <a:pt x="39" y="38"/>
                  </a:lnTo>
                  <a:lnTo>
                    <a:pt x="46" y="38"/>
                  </a:lnTo>
                  <a:lnTo>
                    <a:pt x="50" y="37"/>
                  </a:lnTo>
                  <a:lnTo>
                    <a:pt x="53" y="33"/>
                  </a:lnTo>
                  <a:lnTo>
                    <a:pt x="53" y="29"/>
                  </a:lnTo>
                  <a:lnTo>
                    <a:pt x="49" y="25"/>
                  </a:lnTo>
                  <a:lnTo>
                    <a:pt x="45" y="21"/>
                  </a:lnTo>
                  <a:lnTo>
                    <a:pt x="38" y="16"/>
                  </a:lnTo>
                  <a:lnTo>
                    <a:pt x="31" y="13"/>
                  </a:lnTo>
                  <a:lnTo>
                    <a:pt x="23" y="8"/>
                  </a:lnTo>
                  <a:lnTo>
                    <a:pt x="16" y="5"/>
                  </a:lnTo>
                  <a:lnTo>
                    <a:pt x="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82" name="未知"/>
            <p:cNvSpPr>
              <a:spLocks/>
            </p:cNvSpPr>
            <p:nvPr/>
          </p:nvSpPr>
          <p:spPr bwMode="auto">
            <a:xfrm>
              <a:off x="665" y="388"/>
              <a:ext cx="108" cy="21"/>
            </a:xfrm>
            <a:custGeom>
              <a:avLst/>
              <a:gdLst>
                <a:gd name="T0" fmla="*/ 0 w 219"/>
                <a:gd name="T1" fmla="*/ 2 h 42"/>
                <a:gd name="T2" fmla="*/ 12 w 219"/>
                <a:gd name="T3" fmla="*/ 0 h 42"/>
                <a:gd name="T4" fmla="*/ 27 w 219"/>
                <a:gd name="T5" fmla="*/ 0 h 42"/>
                <a:gd name="T6" fmla="*/ 43 w 219"/>
                <a:gd name="T7" fmla="*/ 0 h 42"/>
                <a:gd name="T8" fmla="*/ 59 w 219"/>
                <a:gd name="T9" fmla="*/ 0 h 42"/>
                <a:gd name="T10" fmla="*/ 75 w 219"/>
                <a:gd name="T11" fmla="*/ 2 h 42"/>
                <a:gd name="T12" fmla="*/ 89 w 219"/>
                <a:gd name="T13" fmla="*/ 3 h 42"/>
                <a:gd name="T14" fmla="*/ 100 w 219"/>
                <a:gd name="T15" fmla="*/ 4 h 42"/>
                <a:gd name="T16" fmla="*/ 107 w 219"/>
                <a:gd name="T17" fmla="*/ 6 h 42"/>
                <a:gd name="T18" fmla="*/ 115 w 219"/>
                <a:gd name="T19" fmla="*/ 4 h 42"/>
                <a:gd name="T20" fmla="*/ 126 w 219"/>
                <a:gd name="T21" fmla="*/ 4 h 42"/>
                <a:gd name="T22" fmla="*/ 138 w 219"/>
                <a:gd name="T23" fmla="*/ 5 h 42"/>
                <a:gd name="T24" fmla="*/ 151 w 219"/>
                <a:gd name="T25" fmla="*/ 5 h 42"/>
                <a:gd name="T26" fmla="*/ 164 w 219"/>
                <a:gd name="T27" fmla="*/ 7 h 42"/>
                <a:gd name="T28" fmla="*/ 175 w 219"/>
                <a:gd name="T29" fmla="*/ 9 h 42"/>
                <a:gd name="T30" fmla="*/ 184 w 219"/>
                <a:gd name="T31" fmla="*/ 9 h 42"/>
                <a:gd name="T32" fmla="*/ 190 w 219"/>
                <a:gd name="T33" fmla="*/ 9 h 42"/>
                <a:gd name="T34" fmla="*/ 199 w 219"/>
                <a:gd name="T35" fmla="*/ 9 h 42"/>
                <a:gd name="T36" fmla="*/ 207 w 219"/>
                <a:gd name="T37" fmla="*/ 13 h 42"/>
                <a:gd name="T38" fmla="*/ 214 w 219"/>
                <a:gd name="T39" fmla="*/ 19 h 42"/>
                <a:gd name="T40" fmla="*/ 218 w 219"/>
                <a:gd name="T41" fmla="*/ 26 h 42"/>
                <a:gd name="T42" fmla="*/ 219 w 219"/>
                <a:gd name="T43" fmla="*/ 34 h 42"/>
                <a:gd name="T44" fmla="*/ 216 w 219"/>
                <a:gd name="T45" fmla="*/ 38 h 42"/>
                <a:gd name="T46" fmla="*/ 207 w 219"/>
                <a:gd name="T47" fmla="*/ 42 h 42"/>
                <a:gd name="T48" fmla="*/ 195 w 219"/>
                <a:gd name="T49" fmla="*/ 41 h 42"/>
                <a:gd name="T50" fmla="*/ 181 w 219"/>
                <a:gd name="T51" fmla="*/ 37 h 42"/>
                <a:gd name="T52" fmla="*/ 168 w 219"/>
                <a:gd name="T53" fmla="*/ 34 h 42"/>
                <a:gd name="T54" fmla="*/ 158 w 219"/>
                <a:gd name="T55" fmla="*/ 32 h 42"/>
                <a:gd name="T56" fmla="*/ 148 w 219"/>
                <a:gd name="T57" fmla="*/ 28 h 42"/>
                <a:gd name="T58" fmla="*/ 139 w 219"/>
                <a:gd name="T59" fmla="*/ 27 h 42"/>
                <a:gd name="T60" fmla="*/ 131 w 219"/>
                <a:gd name="T61" fmla="*/ 25 h 42"/>
                <a:gd name="T62" fmla="*/ 125 w 219"/>
                <a:gd name="T63" fmla="*/ 23 h 42"/>
                <a:gd name="T64" fmla="*/ 118 w 219"/>
                <a:gd name="T65" fmla="*/ 22 h 42"/>
                <a:gd name="T66" fmla="*/ 108 w 219"/>
                <a:gd name="T67" fmla="*/ 21 h 42"/>
                <a:gd name="T68" fmla="*/ 95 w 219"/>
                <a:gd name="T69" fmla="*/ 18 h 42"/>
                <a:gd name="T70" fmla="*/ 78 w 219"/>
                <a:gd name="T71" fmla="*/ 15 h 42"/>
                <a:gd name="T72" fmla="*/ 60 w 219"/>
                <a:gd name="T73" fmla="*/ 12 h 42"/>
                <a:gd name="T74" fmla="*/ 42 w 219"/>
                <a:gd name="T75" fmla="*/ 10 h 42"/>
                <a:gd name="T76" fmla="*/ 25 w 219"/>
                <a:gd name="T77" fmla="*/ 6 h 42"/>
                <a:gd name="T78" fmla="*/ 10 w 219"/>
                <a:gd name="T79" fmla="*/ 4 h 42"/>
                <a:gd name="T80" fmla="*/ 0 w 219"/>
                <a:gd name="T81" fmla="*/ 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9" h="42">
                  <a:moveTo>
                    <a:pt x="0" y="2"/>
                  </a:moveTo>
                  <a:lnTo>
                    <a:pt x="12" y="0"/>
                  </a:lnTo>
                  <a:lnTo>
                    <a:pt x="27" y="0"/>
                  </a:lnTo>
                  <a:lnTo>
                    <a:pt x="43" y="0"/>
                  </a:lnTo>
                  <a:lnTo>
                    <a:pt x="59" y="0"/>
                  </a:lnTo>
                  <a:lnTo>
                    <a:pt x="75" y="2"/>
                  </a:lnTo>
                  <a:lnTo>
                    <a:pt x="89" y="3"/>
                  </a:lnTo>
                  <a:lnTo>
                    <a:pt x="100" y="4"/>
                  </a:lnTo>
                  <a:lnTo>
                    <a:pt x="107" y="6"/>
                  </a:lnTo>
                  <a:lnTo>
                    <a:pt x="115" y="4"/>
                  </a:lnTo>
                  <a:lnTo>
                    <a:pt x="126" y="4"/>
                  </a:lnTo>
                  <a:lnTo>
                    <a:pt x="138" y="5"/>
                  </a:lnTo>
                  <a:lnTo>
                    <a:pt x="151" y="5"/>
                  </a:lnTo>
                  <a:lnTo>
                    <a:pt x="164" y="7"/>
                  </a:lnTo>
                  <a:lnTo>
                    <a:pt x="175" y="9"/>
                  </a:lnTo>
                  <a:lnTo>
                    <a:pt x="184" y="9"/>
                  </a:lnTo>
                  <a:lnTo>
                    <a:pt x="190" y="9"/>
                  </a:lnTo>
                  <a:lnTo>
                    <a:pt x="199" y="9"/>
                  </a:lnTo>
                  <a:lnTo>
                    <a:pt x="207" y="13"/>
                  </a:lnTo>
                  <a:lnTo>
                    <a:pt x="214" y="19"/>
                  </a:lnTo>
                  <a:lnTo>
                    <a:pt x="218" y="26"/>
                  </a:lnTo>
                  <a:lnTo>
                    <a:pt x="219" y="34"/>
                  </a:lnTo>
                  <a:lnTo>
                    <a:pt x="216" y="38"/>
                  </a:lnTo>
                  <a:lnTo>
                    <a:pt x="207" y="42"/>
                  </a:lnTo>
                  <a:lnTo>
                    <a:pt x="195" y="41"/>
                  </a:lnTo>
                  <a:lnTo>
                    <a:pt x="181" y="37"/>
                  </a:lnTo>
                  <a:lnTo>
                    <a:pt x="168" y="34"/>
                  </a:lnTo>
                  <a:lnTo>
                    <a:pt x="158" y="32"/>
                  </a:lnTo>
                  <a:lnTo>
                    <a:pt x="148" y="28"/>
                  </a:lnTo>
                  <a:lnTo>
                    <a:pt x="139" y="27"/>
                  </a:lnTo>
                  <a:lnTo>
                    <a:pt x="131" y="25"/>
                  </a:lnTo>
                  <a:lnTo>
                    <a:pt x="125" y="23"/>
                  </a:lnTo>
                  <a:lnTo>
                    <a:pt x="118" y="22"/>
                  </a:lnTo>
                  <a:lnTo>
                    <a:pt x="108" y="21"/>
                  </a:lnTo>
                  <a:lnTo>
                    <a:pt x="95" y="18"/>
                  </a:lnTo>
                  <a:lnTo>
                    <a:pt x="78" y="15"/>
                  </a:lnTo>
                  <a:lnTo>
                    <a:pt x="60" y="12"/>
                  </a:lnTo>
                  <a:lnTo>
                    <a:pt x="42" y="10"/>
                  </a:lnTo>
                  <a:lnTo>
                    <a:pt x="25" y="6"/>
                  </a:lnTo>
                  <a:lnTo>
                    <a:pt x="10" y="4"/>
                  </a:ln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83" name="未知"/>
            <p:cNvSpPr>
              <a:spLocks/>
            </p:cNvSpPr>
            <p:nvPr/>
          </p:nvSpPr>
          <p:spPr bwMode="auto">
            <a:xfrm>
              <a:off x="798" y="450"/>
              <a:ext cx="49" cy="37"/>
            </a:xfrm>
            <a:custGeom>
              <a:avLst/>
              <a:gdLst>
                <a:gd name="T0" fmla="*/ 0 w 98"/>
                <a:gd name="T1" fmla="*/ 17 h 76"/>
                <a:gd name="T2" fmla="*/ 3 w 98"/>
                <a:gd name="T3" fmla="*/ 7 h 76"/>
                <a:gd name="T4" fmla="*/ 6 w 98"/>
                <a:gd name="T5" fmla="*/ 3 h 76"/>
                <a:gd name="T6" fmla="*/ 12 w 98"/>
                <a:gd name="T7" fmla="*/ 0 h 76"/>
                <a:gd name="T8" fmla="*/ 18 w 98"/>
                <a:gd name="T9" fmla="*/ 0 h 76"/>
                <a:gd name="T10" fmla="*/ 24 w 98"/>
                <a:gd name="T11" fmla="*/ 3 h 76"/>
                <a:gd name="T12" fmla="*/ 32 w 98"/>
                <a:gd name="T13" fmla="*/ 6 h 76"/>
                <a:gd name="T14" fmla="*/ 41 w 98"/>
                <a:gd name="T15" fmla="*/ 10 h 76"/>
                <a:gd name="T16" fmla="*/ 49 w 98"/>
                <a:gd name="T17" fmla="*/ 13 h 76"/>
                <a:gd name="T18" fmla="*/ 58 w 98"/>
                <a:gd name="T19" fmla="*/ 17 h 76"/>
                <a:gd name="T20" fmla="*/ 67 w 98"/>
                <a:gd name="T21" fmla="*/ 22 h 76"/>
                <a:gd name="T22" fmla="*/ 76 w 98"/>
                <a:gd name="T23" fmla="*/ 28 h 76"/>
                <a:gd name="T24" fmla="*/ 84 w 98"/>
                <a:gd name="T25" fmla="*/ 35 h 76"/>
                <a:gd name="T26" fmla="*/ 90 w 98"/>
                <a:gd name="T27" fmla="*/ 42 h 76"/>
                <a:gd name="T28" fmla="*/ 96 w 98"/>
                <a:gd name="T29" fmla="*/ 49 h 76"/>
                <a:gd name="T30" fmla="*/ 98 w 98"/>
                <a:gd name="T31" fmla="*/ 55 h 76"/>
                <a:gd name="T32" fmla="*/ 98 w 98"/>
                <a:gd name="T33" fmla="*/ 59 h 76"/>
                <a:gd name="T34" fmla="*/ 95 w 98"/>
                <a:gd name="T35" fmla="*/ 67 h 76"/>
                <a:gd name="T36" fmla="*/ 90 w 98"/>
                <a:gd name="T37" fmla="*/ 73 h 76"/>
                <a:gd name="T38" fmla="*/ 84 w 98"/>
                <a:gd name="T39" fmla="*/ 75 h 76"/>
                <a:gd name="T40" fmla="*/ 79 w 98"/>
                <a:gd name="T41" fmla="*/ 76 h 76"/>
                <a:gd name="T42" fmla="*/ 71 w 98"/>
                <a:gd name="T43" fmla="*/ 75 h 76"/>
                <a:gd name="T44" fmla="*/ 62 w 98"/>
                <a:gd name="T45" fmla="*/ 72 h 76"/>
                <a:gd name="T46" fmla="*/ 54 w 98"/>
                <a:gd name="T47" fmla="*/ 68 h 76"/>
                <a:gd name="T48" fmla="*/ 45 w 98"/>
                <a:gd name="T49" fmla="*/ 63 h 76"/>
                <a:gd name="T50" fmla="*/ 36 w 98"/>
                <a:gd name="T51" fmla="*/ 58 h 76"/>
                <a:gd name="T52" fmla="*/ 27 w 98"/>
                <a:gd name="T53" fmla="*/ 52 h 76"/>
                <a:gd name="T54" fmla="*/ 19 w 98"/>
                <a:gd name="T55" fmla="*/ 48 h 76"/>
                <a:gd name="T56" fmla="*/ 12 w 98"/>
                <a:gd name="T57" fmla="*/ 43 h 76"/>
                <a:gd name="T58" fmla="*/ 6 w 98"/>
                <a:gd name="T59" fmla="*/ 37 h 76"/>
                <a:gd name="T60" fmla="*/ 1 w 98"/>
                <a:gd name="T61" fmla="*/ 31 h 76"/>
                <a:gd name="T62" fmla="*/ 0 w 98"/>
                <a:gd name="T63" fmla="*/ 25 h 76"/>
                <a:gd name="T64" fmla="*/ 0 w 98"/>
                <a:gd name="T65" fmla="*/ 17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8" h="76">
                  <a:moveTo>
                    <a:pt x="0" y="17"/>
                  </a:moveTo>
                  <a:lnTo>
                    <a:pt x="3" y="7"/>
                  </a:lnTo>
                  <a:lnTo>
                    <a:pt x="6" y="3"/>
                  </a:lnTo>
                  <a:lnTo>
                    <a:pt x="12" y="0"/>
                  </a:lnTo>
                  <a:lnTo>
                    <a:pt x="18" y="0"/>
                  </a:lnTo>
                  <a:lnTo>
                    <a:pt x="24" y="3"/>
                  </a:lnTo>
                  <a:lnTo>
                    <a:pt x="32" y="6"/>
                  </a:lnTo>
                  <a:lnTo>
                    <a:pt x="41" y="10"/>
                  </a:lnTo>
                  <a:lnTo>
                    <a:pt x="49" y="13"/>
                  </a:lnTo>
                  <a:lnTo>
                    <a:pt x="58" y="17"/>
                  </a:lnTo>
                  <a:lnTo>
                    <a:pt x="67" y="22"/>
                  </a:lnTo>
                  <a:lnTo>
                    <a:pt x="76" y="28"/>
                  </a:lnTo>
                  <a:lnTo>
                    <a:pt x="84" y="35"/>
                  </a:lnTo>
                  <a:lnTo>
                    <a:pt x="90" y="42"/>
                  </a:lnTo>
                  <a:lnTo>
                    <a:pt x="96" y="49"/>
                  </a:lnTo>
                  <a:lnTo>
                    <a:pt x="98" y="55"/>
                  </a:lnTo>
                  <a:lnTo>
                    <a:pt x="98" y="59"/>
                  </a:lnTo>
                  <a:lnTo>
                    <a:pt x="95" y="67"/>
                  </a:lnTo>
                  <a:lnTo>
                    <a:pt x="90" y="73"/>
                  </a:lnTo>
                  <a:lnTo>
                    <a:pt x="84" y="75"/>
                  </a:lnTo>
                  <a:lnTo>
                    <a:pt x="79" y="76"/>
                  </a:lnTo>
                  <a:lnTo>
                    <a:pt x="71" y="75"/>
                  </a:lnTo>
                  <a:lnTo>
                    <a:pt x="62" y="72"/>
                  </a:lnTo>
                  <a:lnTo>
                    <a:pt x="54" y="68"/>
                  </a:lnTo>
                  <a:lnTo>
                    <a:pt x="45" y="63"/>
                  </a:lnTo>
                  <a:lnTo>
                    <a:pt x="36" y="58"/>
                  </a:lnTo>
                  <a:lnTo>
                    <a:pt x="27" y="52"/>
                  </a:lnTo>
                  <a:lnTo>
                    <a:pt x="19" y="48"/>
                  </a:lnTo>
                  <a:lnTo>
                    <a:pt x="12" y="43"/>
                  </a:lnTo>
                  <a:lnTo>
                    <a:pt x="6" y="37"/>
                  </a:lnTo>
                  <a:lnTo>
                    <a:pt x="1" y="31"/>
                  </a:lnTo>
                  <a:lnTo>
                    <a:pt x="0" y="25"/>
                  </a:lnTo>
                  <a:lnTo>
                    <a:pt x="0"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84" name="未知"/>
            <p:cNvSpPr>
              <a:spLocks/>
            </p:cNvSpPr>
            <p:nvPr/>
          </p:nvSpPr>
          <p:spPr bwMode="auto">
            <a:xfrm>
              <a:off x="793" y="480"/>
              <a:ext cx="41" cy="48"/>
            </a:xfrm>
            <a:custGeom>
              <a:avLst/>
              <a:gdLst>
                <a:gd name="T0" fmla="*/ 41 w 81"/>
                <a:gd name="T1" fmla="*/ 9 h 96"/>
                <a:gd name="T2" fmla="*/ 46 w 81"/>
                <a:gd name="T3" fmla="*/ 12 h 96"/>
                <a:gd name="T4" fmla="*/ 54 w 81"/>
                <a:gd name="T5" fmla="*/ 16 h 96"/>
                <a:gd name="T6" fmla="*/ 64 w 81"/>
                <a:gd name="T7" fmla="*/ 20 h 96"/>
                <a:gd name="T8" fmla="*/ 71 w 81"/>
                <a:gd name="T9" fmla="*/ 25 h 96"/>
                <a:gd name="T10" fmla="*/ 78 w 81"/>
                <a:gd name="T11" fmla="*/ 32 h 96"/>
                <a:gd name="T12" fmla="*/ 81 w 81"/>
                <a:gd name="T13" fmla="*/ 40 h 96"/>
                <a:gd name="T14" fmla="*/ 80 w 81"/>
                <a:gd name="T15" fmla="*/ 50 h 96"/>
                <a:gd name="T16" fmla="*/ 75 w 81"/>
                <a:gd name="T17" fmla="*/ 63 h 96"/>
                <a:gd name="T18" fmla="*/ 67 w 81"/>
                <a:gd name="T19" fmla="*/ 76 h 96"/>
                <a:gd name="T20" fmla="*/ 60 w 81"/>
                <a:gd name="T21" fmla="*/ 85 h 96"/>
                <a:gd name="T22" fmla="*/ 54 w 81"/>
                <a:gd name="T23" fmla="*/ 91 h 96"/>
                <a:gd name="T24" fmla="*/ 48 w 81"/>
                <a:gd name="T25" fmla="*/ 95 h 96"/>
                <a:gd name="T26" fmla="*/ 42 w 81"/>
                <a:gd name="T27" fmla="*/ 96 h 96"/>
                <a:gd name="T28" fmla="*/ 36 w 81"/>
                <a:gd name="T29" fmla="*/ 96 h 96"/>
                <a:gd name="T30" fmla="*/ 31 w 81"/>
                <a:gd name="T31" fmla="*/ 94 h 96"/>
                <a:gd name="T32" fmla="*/ 26 w 81"/>
                <a:gd name="T33" fmla="*/ 91 h 96"/>
                <a:gd name="T34" fmla="*/ 15 w 81"/>
                <a:gd name="T35" fmla="*/ 80 h 96"/>
                <a:gd name="T36" fmla="*/ 6 w 81"/>
                <a:gd name="T37" fmla="*/ 65 h 96"/>
                <a:gd name="T38" fmla="*/ 0 w 81"/>
                <a:gd name="T39" fmla="*/ 47 h 96"/>
                <a:gd name="T40" fmla="*/ 0 w 81"/>
                <a:gd name="T41" fmla="*/ 30 h 96"/>
                <a:gd name="T42" fmla="*/ 3 w 81"/>
                <a:gd name="T43" fmla="*/ 21 h 96"/>
                <a:gd name="T44" fmla="*/ 4 w 81"/>
                <a:gd name="T45" fmla="*/ 13 h 96"/>
                <a:gd name="T46" fmla="*/ 6 w 81"/>
                <a:gd name="T47" fmla="*/ 6 h 96"/>
                <a:gd name="T48" fmla="*/ 10 w 81"/>
                <a:gd name="T49" fmla="*/ 2 h 96"/>
                <a:gd name="T50" fmla="*/ 14 w 81"/>
                <a:gd name="T51" fmla="*/ 0 h 96"/>
                <a:gd name="T52" fmla="*/ 20 w 81"/>
                <a:gd name="T53" fmla="*/ 0 h 96"/>
                <a:gd name="T54" fmla="*/ 29 w 81"/>
                <a:gd name="T55" fmla="*/ 2 h 96"/>
                <a:gd name="T56" fmla="*/ 41 w 81"/>
                <a:gd name="T57" fmla="*/ 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1" h="96">
                  <a:moveTo>
                    <a:pt x="41" y="9"/>
                  </a:moveTo>
                  <a:lnTo>
                    <a:pt x="46" y="12"/>
                  </a:lnTo>
                  <a:lnTo>
                    <a:pt x="54" y="16"/>
                  </a:lnTo>
                  <a:lnTo>
                    <a:pt x="64" y="20"/>
                  </a:lnTo>
                  <a:lnTo>
                    <a:pt x="71" y="25"/>
                  </a:lnTo>
                  <a:lnTo>
                    <a:pt x="78" y="32"/>
                  </a:lnTo>
                  <a:lnTo>
                    <a:pt x="81" y="40"/>
                  </a:lnTo>
                  <a:lnTo>
                    <a:pt x="80" y="50"/>
                  </a:lnTo>
                  <a:lnTo>
                    <a:pt x="75" y="63"/>
                  </a:lnTo>
                  <a:lnTo>
                    <a:pt x="67" y="76"/>
                  </a:lnTo>
                  <a:lnTo>
                    <a:pt x="60" y="85"/>
                  </a:lnTo>
                  <a:lnTo>
                    <a:pt x="54" y="91"/>
                  </a:lnTo>
                  <a:lnTo>
                    <a:pt x="48" y="95"/>
                  </a:lnTo>
                  <a:lnTo>
                    <a:pt x="42" y="96"/>
                  </a:lnTo>
                  <a:lnTo>
                    <a:pt x="36" y="96"/>
                  </a:lnTo>
                  <a:lnTo>
                    <a:pt x="31" y="94"/>
                  </a:lnTo>
                  <a:lnTo>
                    <a:pt x="26" y="91"/>
                  </a:lnTo>
                  <a:lnTo>
                    <a:pt x="15" y="80"/>
                  </a:lnTo>
                  <a:lnTo>
                    <a:pt x="6" y="65"/>
                  </a:lnTo>
                  <a:lnTo>
                    <a:pt x="0" y="47"/>
                  </a:lnTo>
                  <a:lnTo>
                    <a:pt x="0" y="30"/>
                  </a:lnTo>
                  <a:lnTo>
                    <a:pt x="3" y="21"/>
                  </a:lnTo>
                  <a:lnTo>
                    <a:pt x="4" y="13"/>
                  </a:lnTo>
                  <a:lnTo>
                    <a:pt x="6" y="6"/>
                  </a:lnTo>
                  <a:lnTo>
                    <a:pt x="10" y="2"/>
                  </a:lnTo>
                  <a:lnTo>
                    <a:pt x="14" y="0"/>
                  </a:lnTo>
                  <a:lnTo>
                    <a:pt x="20" y="0"/>
                  </a:lnTo>
                  <a:lnTo>
                    <a:pt x="29" y="2"/>
                  </a:lnTo>
                  <a:lnTo>
                    <a:pt x="41"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85" name="未知"/>
            <p:cNvSpPr>
              <a:spLocks/>
            </p:cNvSpPr>
            <p:nvPr/>
          </p:nvSpPr>
          <p:spPr bwMode="auto">
            <a:xfrm>
              <a:off x="798" y="531"/>
              <a:ext cx="18" cy="25"/>
            </a:xfrm>
            <a:custGeom>
              <a:avLst/>
              <a:gdLst>
                <a:gd name="T0" fmla="*/ 8 w 37"/>
                <a:gd name="T1" fmla="*/ 0 h 53"/>
                <a:gd name="T2" fmla="*/ 14 w 37"/>
                <a:gd name="T3" fmla="*/ 4 h 53"/>
                <a:gd name="T4" fmla="*/ 21 w 37"/>
                <a:gd name="T5" fmla="*/ 8 h 53"/>
                <a:gd name="T6" fmla="*/ 29 w 37"/>
                <a:gd name="T7" fmla="*/ 11 h 53"/>
                <a:gd name="T8" fmla="*/ 37 w 37"/>
                <a:gd name="T9" fmla="*/ 12 h 53"/>
                <a:gd name="T10" fmla="*/ 29 w 37"/>
                <a:gd name="T11" fmla="*/ 26 h 53"/>
                <a:gd name="T12" fmla="*/ 21 w 37"/>
                <a:gd name="T13" fmla="*/ 40 h 53"/>
                <a:gd name="T14" fmla="*/ 12 w 37"/>
                <a:gd name="T15" fmla="*/ 50 h 53"/>
                <a:gd name="T16" fmla="*/ 4 w 37"/>
                <a:gd name="T17" fmla="*/ 53 h 53"/>
                <a:gd name="T18" fmla="*/ 0 w 37"/>
                <a:gd name="T19" fmla="*/ 45 h 53"/>
                <a:gd name="T20" fmla="*/ 2 w 37"/>
                <a:gd name="T21" fmla="*/ 31 h 53"/>
                <a:gd name="T22" fmla="*/ 6 w 37"/>
                <a:gd name="T23" fmla="*/ 15 h 53"/>
                <a:gd name="T24" fmla="*/ 8 w 37"/>
                <a:gd name="T2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 h="53">
                  <a:moveTo>
                    <a:pt x="8" y="0"/>
                  </a:moveTo>
                  <a:lnTo>
                    <a:pt x="14" y="4"/>
                  </a:lnTo>
                  <a:lnTo>
                    <a:pt x="21" y="8"/>
                  </a:lnTo>
                  <a:lnTo>
                    <a:pt x="29" y="11"/>
                  </a:lnTo>
                  <a:lnTo>
                    <a:pt x="37" y="12"/>
                  </a:lnTo>
                  <a:lnTo>
                    <a:pt x="29" y="26"/>
                  </a:lnTo>
                  <a:lnTo>
                    <a:pt x="21" y="40"/>
                  </a:lnTo>
                  <a:lnTo>
                    <a:pt x="12" y="50"/>
                  </a:lnTo>
                  <a:lnTo>
                    <a:pt x="4" y="53"/>
                  </a:lnTo>
                  <a:lnTo>
                    <a:pt x="0" y="45"/>
                  </a:lnTo>
                  <a:lnTo>
                    <a:pt x="2" y="31"/>
                  </a:lnTo>
                  <a:lnTo>
                    <a:pt x="6" y="15"/>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grpSp>
      <p:sp>
        <p:nvSpPr>
          <p:cNvPr id="86" name="Text Box 39"/>
          <p:cNvSpPr txBox="1">
            <a:spLocks noChangeArrowheads="1"/>
          </p:cNvSpPr>
          <p:nvPr/>
        </p:nvSpPr>
        <p:spPr bwMode="auto">
          <a:xfrm>
            <a:off x="2554288" y="44323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lang="en-US" altLang="zh-CN" sz="1600" i="0" kern="0">
                <a:solidFill>
                  <a:srgbClr val="0033CC"/>
                </a:solidFill>
              </a:rPr>
              <a:t>WH</a:t>
            </a:r>
          </a:p>
        </p:txBody>
      </p:sp>
      <p:sp>
        <p:nvSpPr>
          <p:cNvPr id="87" name="Text Box 40"/>
          <p:cNvSpPr txBox="1">
            <a:spLocks noChangeArrowheads="1"/>
          </p:cNvSpPr>
          <p:nvPr/>
        </p:nvSpPr>
        <p:spPr bwMode="auto">
          <a:xfrm>
            <a:off x="6973888" y="44323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en-US" altLang="zh-CN" sz="1600">
                <a:solidFill>
                  <a:srgbClr val="FF3300"/>
                </a:solidFill>
              </a:rPr>
              <a:t>SH</a:t>
            </a:r>
          </a:p>
        </p:txBody>
      </p:sp>
      <p:sp>
        <p:nvSpPr>
          <p:cNvPr id="88" name="未知"/>
          <p:cNvSpPr>
            <a:spLocks/>
          </p:cNvSpPr>
          <p:nvPr/>
        </p:nvSpPr>
        <p:spPr bwMode="auto">
          <a:xfrm>
            <a:off x="2782888" y="2527300"/>
            <a:ext cx="4419600" cy="1778000"/>
          </a:xfrm>
          <a:custGeom>
            <a:avLst/>
            <a:gdLst>
              <a:gd name="T0" fmla="*/ 0 w 2784"/>
              <a:gd name="T1" fmla="*/ 720 h 1120"/>
              <a:gd name="T2" fmla="*/ 240 w 2784"/>
              <a:gd name="T3" fmla="*/ 720 h 1120"/>
              <a:gd name="T4" fmla="*/ 480 w 2784"/>
              <a:gd name="T5" fmla="*/ 672 h 1120"/>
              <a:gd name="T6" fmla="*/ 720 w 2784"/>
              <a:gd name="T7" fmla="*/ 624 h 1120"/>
              <a:gd name="T8" fmla="*/ 912 w 2784"/>
              <a:gd name="T9" fmla="*/ 576 h 1120"/>
              <a:gd name="T10" fmla="*/ 1152 w 2784"/>
              <a:gd name="T11" fmla="*/ 624 h 1120"/>
              <a:gd name="T12" fmla="*/ 1488 w 2784"/>
              <a:gd name="T13" fmla="*/ 864 h 1120"/>
              <a:gd name="T14" fmla="*/ 1824 w 2784"/>
              <a:gd name="T15" fmla="*/ 1104 h 1120"/>
              <a:gd name="T16" fmla="*/ 2016 w 2784"/>
              <a:gd name="T17" fmla="*/ 960 h 1120"/>
              <a:gd name="T18" fmla="*/ 2160 w 2784"/>
              <a:gd name="T19" fmla="*/ 624 h 1120"/>
              <a:gd name="T20" fmla="*/ 2352 w 2784"/>
              <a:gd name="T21" fmla="*/ 816 h 1120"/>
              <a:gd name="T22" fmla="*/ 2496 w 2784"/>
              <a:gd name="T23" fmla="*/ 864 h 1120"/>
              <a:gd name="T24" fmla="*/ 2640 w 2784"/>
              <a:gd name="T25" fmla="*/ 288 h 1120"/>
              <a:gd name="T26" fmla="*/ 2784 w 2784"/>
              <a:gd name="T27" fmla="*/ 0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84" h="1120">
                <a:moveTo>
                  <a:pt x="0" y="720"/>
                </a:moveTo>
                <a:cubicBezTo>
                  <a:pt x="80" y="724"/>
                  <a:pt x="160" y="728"/>
                  <a:pt x="240" y="720"/>
                </a:cubicBezTo>
                <a:cubicBezTo>
                  <a:pt x="320" y="712"/>
                  <a:pt x="400" y="688"/>
                  <a:pt x="480" y="672"/>
                </a:cubicBezTo>
                <a:cubicBezTo>
                  <a:pt x="560" y="656"/>
                  <a:pt x="648" y="640"/>
                  <a:pt x="720" y="624"/>
                </a:cubicBezTo>
                <a:cubicBezTo>
                  <a:pt x="792" y="608"/>
                  <a:pt x="840" y="576"/>
                  <a:pt x="912" y="576"/>
                </a:cubicBezTo>
                <a:cubicBezTo>
                  <a:pt x="984" y="576"/>
                  <a:pt x="1056" y="576"/>
                  <a:pt x="1152" y="624"/>
                </a:cubicBezTo>
                <a:cubicBezTo>
                  <a:pt x="1248" y="672"/>
                  <a:pt x="1376" y="784"/>
                  <a:pt x="1488" y="864"/>
                </a:cubicBezTo>
                <a:cubicBezTo>
                  <a:pt x="1600" y="944"/>
                  <a:pt x="1736" y="1088"/>
                  <a:pt x="1824" y="1104"/>
                </a:cubicBezTo>
                <a:cubicBezTo>
                  <a:pt x="1912" y="1120"/>
                  <a:pt x="1960" y="1040"/>
                  <a:pt x="2016" y="960"/>
                </a:cubicBezTo>
                <a:cubicBezTo>
                  <a:pt x="2072" y="880"/>
                  <a:pt x="2104" y="648"/>
                  <a:pt x="2160" y="624"/>
                </a:cubicBezTo>
                <a:cubicBezTo>
                  <a:pt x="2216" y="600"/>
                  <a:pt x="2296" y="776"/>
                  <a:pt x="2352" y="816"/>
                </a:cubicBezTo>
                <a:cubicBezTo>
                  <a:pt x="2408" y="856"/>
                  <a:pt x="2448" y="952"/>
                  <a:pt x="2496" y="864"/>
                </a:cubicBezTo>
                <a:cubicBezTo>
                  <a:pt x="2544" y="776"/>
                  <a:pt x="2592" y="432"/>
                  <a:pt x="2640" y="288"/>
                </a:cubicBezTo>
                <a:cubicBezTo>
                  <a:pt x="2688" y="144"/>
                  <a:pt x="2736" y="72"/>
                  <a:pt x="2784" y="0"/>
                </a:cubicBezTo>
              </a:path>
            </a:pathLst>
          </a:custGeom>
          <a:noFill/>
          <a:ln w="2222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89" name="AutoShape 42"/>
          <p:cNvSpPr>
            <a:spLocks noChangeArrowheads="1"/>
          </p:cNvSpPr>
          <p:nvPr/>
        </p:nvSpPr>
        <p:spPr bwMode="auto">
          <a:xfrm>
            <a:off x="2478088" y="3517900"/>
            <a:ext cx="304800" cy="304800"/>
          </a:xfrm>
          <a:prstGeom prst="sun">
            <a:avLst>
              <a:gd name="adj" fmla="val 25000"/>
            </a:avLst>
          </a:prstGeom>
          <a:solidFill>
            <a:srgbClr val="FF66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90" name="AutoShape 43"/>
          <p:cNvSpPr>
            <a:spLocks noChangeArrowheads="1"/>
          </p:cNvSpPr>
          <p:nvPr/>
        </p:nvSpPr>
        <p:spPr bwMode="auto">
          <a:xfrm>
            <a:off x="7202488" y="3517900"/>
            <a:ext cx="304800" cy="304800"/>
          </a:xfrm>
          <a:prstGeom prst="sun">
            <a:avLst>
              <a:gd name="adj" fmla="val 25000"/>
            </a:avLst>
          </a:prstGeom>
          <a:solidFill>
            <a:srgbClr val="FF66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91" name="AutoShape 44"/>
          <p:cNvSpPr>
            <a:spLocks noChangeArrowheads="1"/>
          </p:cNvSpPr>
          <p:nvPr/>
        </p:nvSpPr>
        <p:spPr bwMode="auto">
          <a:xfrm>
            <a:off x="6288088" y="2060575"/>
            <a:ext cx="1219200" cy="914400"/>
          </a:xfrm>
          <a:prstGeom prst="lightningBolt">
            <a:avLst/>
          </a:prstGeom>
          <a:gradFill rotWithShape="0">
            <a:gsLst>
              <a:gs pos="0">
                <a:srgbClr val="000000"/>
              </a:gs>
              <a:gs pos="100000">
                <a:srgbClr val="000000">
                  <a:gamma/>
                  <a:tint val="0"/>
                  <a:invGamma/>
                </a:srgb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92" name="AutoShape 45"/>
          <p:cNvSpPr>
            <a:spLocks noChangeArrowheads="1"/>
          </p:cNvSpPr>
          <p:nvPr/>
        </p:nvSpPr>
        <p:spPr bwMode="auto">
          <a:xfrm>
            <a:off x="6745288" y="2316163"/>
            <a:ext cx="1219200" cy="914400"/>
          </a:xfrm>
          <a:prstGeom prst="lightningBolt">
            <a:avLst/>
          </a:prstGeom>
          <a:gradFill rotWithShape="0">
            <a:gsLst>
              <a:gs pos="0">
                <a:srgbClr val="000000"/>
              </a:gs>
              <a:gs pos="100000">
                <a:srgbClr val="000000">
                  <a:gamma/>
                  <a:tint val="0"/>
                  <a:invGamma/>
                </a:srgbClr>
              </a:gs>
            </a:gsLst>
            <a:lin ang="27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b="0" i="0" kern="0">
              <a:solidFill>
                <a:sysClr val="windowText" lastClr="000000"/>
              </a:solidFill>
            </a:endParaRPr>
          </a:p>
        </p:txBody>
      </p:sp>
      <p:sp>
        <p:nvSpPr>
          <p:cNvPr id="93" name="Text Box 46"/>
          <p:cNvSpPr txBox="1">
            <a:spLocks noChangeArrowheads="1"/>
          </p:cNvSpPr>
          <p:nvPr/>
        </p:nvSpPr>
        <p:spPr bwMode="auto">
          <a:xfrm>
            <a:off x="512763" y="4787900"/>
            <a:ext cx="895985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marL="258763" indent="-258763" defTabSz="814388">
              <a:defRPr sz="2000" b="1" i="1">
                <a:solidFill>
                  <a:schemeClr val="tx1"/>
                </a:solidFill>
                <a:latin typeface="Arial" pitchFamily="34" charset="0"/>
                <a:ea typeface="宋体" pitchFamily="2" charset="-122"/>
              </a:defRPr>
            </a:lvl1pPr>
            <a:lvl2pPr marL="742950" indent="-285750" defTabSz="814388">
              <a:defRPr sz="2000" b="1" i="1">
                <a:solidFill>
                  <a:schemeClr val="tx1"/>
                </a:solidFill>
                <a:latin typeface="Arial" pitchFamily="34" charset="0"/>
                <a:ea typeface="宋体" pitchFamily="2" charset="-122"/>
              </a:defRPr>
            </a:lvl2pPr>
            <a:lvl3pPr marL="1143000" indent="-228600" defTabSz="814388">
              <a:defRPr sz="2000" b="1" i="1">
                <a:solidFill>
                  <a:schemeClr val="tx1"/>
                </a:solidFill>
                <a:latin typeface="Arial" pitchFamily="34" charset="0"/>
                <a:ea typeface="宋体" pitchFamily="2" charset="-122"/>
              </a:defRPr>
            </a:lvl3pPr>
            <a:lvl4pPr marL="1600200" indent="-228600" defTabSz="814388">
              <a:defRPr sz="2000" b="1" i="1">
                <a:solidFill>
                  <a:schemeClr val="tx1"/>
                </a:solidFill>
                <a:latin typeface="Arial" pitchFamily="34" charset="0"/>
                <a:ea typeface="宋体" pitchFamily="2" charset="-122"/>
              </a:defRPr>
            </a:lvl4pPr>
            <a:lvl5pPr marL="2057400" indent="-228600" defTabSz="814388">
              <a:defRPr sz="2000" b="1" i="1">
                <a:solidFill>
                  <a:schemeClr val="tx1"/>
                </a:solidFill>
                <a:latin typeface="Arial" pitchFamily="34" charset="0"/>
                <a:ea typeface="宋体" pitchFamily="2" charset="-122"/>
              </a:defRPr>
            </a:lvl5pPr>
            <a:lvl6pPr marL="25146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814388"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以上是一个病态问题</a:t>
            </a:r>
          </a:p>
          <a:p>
            <a:pPr algn="l">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蝴蝶效应（ </a:t>
            </a:r>
            <a:r>
              <a:rPr lang="en-US" altLang="zh-CN" sz="2800" i="0">
                <a:latin typeface="Times New Roman" pitchFamily="18" charset="0"/>
                <a:ea typeface="黑体" pitchFamily="49" charset="-122"/>
              </a:rPr>
              <a:t>The Butterfly Effect</a:t>
            </a:r>
            <a:r>
              <a:rPr lang="zh-CN" altLang="en-US" sz="2800" i="0">
                <a:latin typeface="Times New Roman" pitchFamily="18" charset="0"/>
                <a:ea typeface="黑体" pitchFamily="49" charset="-122"/>
              </a:rPr>
              <a:t>）是指在一个动力系统中，初始条件下微小的变化能带动整个系统的长期的巨大的连锁反应。这是一种混沌现象。</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strips(upRight)">
                                      <p:cBhvr>
                                        <p:cTn id="7" dur="500"/>
                                        <p:tgtEl>
                                          <p:spTgt spid="51"/>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86"/>
                                        </p:tgtEl>
                                        <p:attrNameLst>
                                          <p:attrName>style.visibility</p:attrName>
                                        </p:attrNameLst>
                                      </p:cBhvr>
                                      <p:to>
                                        <p:strVal val="visible"/>
                                      </p:to>
                                    </p:set>
                                  </p:childTnLst>
                                </p:cTn>
                              </p:par>
                            </p:childTnLst>
                          </p:cTn>
                        </p:par>
                        <p:par>
                          <p:cTn id="12" fill="hold" nodeType="afterGroup">
                            <p:stCondLst>
                              <p:cond delay="500"/>
                            </p:stCondLst>
                            <p:childTnLst>
                              <p:par>
                                <p:cTn id="13" presetID="23" presetClass="entr" presetSubtype="16" fill="hold" grpId="0" nodeType="afterEffect">
                                  <p:stCondLst>
                                    <p:cond delay="0"/>
                                  </p:stCondLst>
                                  <p:childTnLst>
                                    <p:set>
                                      <p:cBhvr>
                                        <p:cTn id="14" dur="1" fill="hold">
                                          <p:stCondLst>
                                            <p:cond delay="0"/>
                                          </p:stCondLst>
                                        </p:cTn>
                                        <p:tgtEl>
                                          <p:spTgt spid="89"/>
                                        </p:tgtEl>
                                        <p:attrNameLst>
                                          <p:attrName>style.visibility</p:attrName>
                                        </p:attrNameLst>
                                      </p:cBhvr>
                                      <p:to>
                                        <p:strVal val="visible"/>
                                      </p:to>
                                    </p:set>
                                    <p:anim calcmode="lin" valueType="num">
                                      <p:cBhvr>
                                        <p:cTn id="15" dur="500" fill="hold"/>
                                        <p:tgtEl>
                                          <p:spTgt spid="89"/>
                                        </p:tgtEl>
                                        <p:attrNameLst>
                                          <p:attrName>ppt_w</p:attrName>
                                        </p:attrNameLst>
                                      </p:cBhvr>
                                      <p:tavLst>
                                        <p:tav tm="0">
                                          <p:val>
                                            <p:fltVal val="0"/>
                                          </p:val>
                                        </p:tav>
                                        <p:tav tm="100000">
                                          <p:val>
                                            <p:strVal val="#ppt_w"/>
                                          </p:val>
                                        </p:tav>
                                      </p:tavLst>
                                    </p:anim>
                                    <p:anim calcmode="lin" valueType="num">
                                      <p:cBhvr>
                                        <p:cTn id="16" dur="500" fill="hold"/>
                                        <p:tgtEl>
                                          <p:spTgt spid="8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3" name="chimes.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wipe(left)">
                                      <p:cBhvr>
                                        <p:cTn id="21" dur="500"/>
                                        <p:tgtEl>
                                          <p:spTgt spid="54"/>
                                        </p:tgtEl>
                                      </p:cBhvr>
                                    </p:animEffect>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wipe(up)">
                                      <p:cBhvr>
                                        <p:cTn id="25" dur="500"/>
                                        <p:tgtEl>
                                          <p:spTgt spid="55"/>
                                        </p:tgtEl>
                                      </p:cBhvr>
                                    </p:animEffect>
                                  </p:childTnLst>
                                </p:cTn>
                              </p:par>
                            </p:childTnLst>
                          </p:cTn>
                        </p:par>
                        <p:par>
                          <p:cTn id="26" fill="hold" nodeType="afterGroup">
                            <p:stCondLst>
                              <p:cond delay="1000"/>
                            </p:stCondLst>
                            <p:childTnLst>
                              <p:par>
                                <p:cTn id="27" presetID="1" presetClass="entr" presetSubtype="0" fill="hold" grpId="0" nodeType="afterEffect">
                                  <p:stCondLst>
                                    <p:cond delay="0"/>
                                  </p:stCondLst>
                                  <p:childTnLst>
                                    <p:set>
                                      <p:cBhvr>
                                        <p:cTn id="28" dur="1" fill="hold">
                                          <p:stCondLst>
                                            <p:cond delay="499"/>
                                          </p:stCondLst>
                                        </p:cTn>
                                        <p:tgtEl>
                                          <p:spTgt spid="87"/>
                                        </p:tgtEl>
                                        <p:attrNameLst>
                                          <p:attrName>style.visibility</p:attrName>
                                        </p:attrNameLst>
                                      </p:cBhvr>
                                      <p:to>
                                        <p:strVal val="visible"/>
                                      </p:to>
                                    </p:set>
                                  </p:childTnLst>
                                </p:cTn>
                              </p:par>
                            </p:childTnLst>
                          </p:cTn>
                        </p:par>
                        <p:par>
                          <p:cTn id="29" fill="hold" nodeType="afterGroup">
                            <p:stCondLst>
                              <p:cond delay="1500"/>
                            </p:stCondLst>
                            <p:childTnLst>
                              <p:par>
                                <p:cTn id="30" presetID="23" presetClass="entr" presetSubtype="16" fill="hold" grpId="0" nodeType="afterEffect">
                                  <p:stCondLst>
                                    <p:cond delay="0"/>
                                  </p:stCondLst>
                                  <p:childTnLst>
                                    <p:set>
                                      <p:cBhvr>
                                        <p:cTn id="31" dur="1" fill="hold">
                                          <p:stCondLst>
                                            <p:cond delay="0"/>
                                          </p:stCondLst>
                                        </p:cTn>
                                        <p:tgtEl>
                                          <p:spTgt spid="90"/>
                                        </p:tgtEl>
                                        <p:attrNameLst>
                                          <p:attrName>style.visibility</p:attrName>
                                        </p:attrNameLst>
                                      </p:cBhvr>
                                      <p:to>
                                        <p:strVal val="visible"/>
                                      </p:to>
                                    </p:set>
                                    <p:anim calcmode="lin" valueType="num">
                                      <p:cBhvr>
                                        <p:cTn id="32" dur="500" fill="hold"/>
                                        <p:tgtEl>
                                          <p:spTgt spid="90"/>
                                        </p:tgtEl>
                                        <p:attrNameLst>
                                          <p:attrName>ppt_w</p:attrName>
                                        </p:attrNameLst>
                                      </p:cBhvr>
                                      <p:tavLst>
                                        <p:tav tm="0">
                                          <p:val>
                                            <p:fltVal val="0"/>
                                          </p:val>
                                        </p:tav>
                                        <p:tav tm="100000">
                                          <p:val>
                                            <p:strVal val="#ppt_w"/>
                                          </p:val>
                                        </p:tav>
                                      </p:tavLst>
                                    </p:anim>
                                    <p:anim calcmode="lin" valueType="num">
                                      <p:cBhvr>
                                        <p:cTn id="33" dur="500" fill="hold"/>
                                        <p:tgtEl>
                                          <p:spTgt spid="9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nodeType="clickEffect">
                                  <p:stCondLst>
                                    <p:cond delay="0"/>
                                  </p:stCondLst>
                                  <p:childTnLst>
                                    <p:set>
                                      <p:cBhvr>
                                        <p:cTn id="37" dur="1" fill="hold">
                                          <p:stCondLst>
                                            <p:cond delay="0"/>
                                          </p:stCondLst>
                                        </p:cTn>
                                        <p:tgtEl>
                                          <p:spTgt spid="56"/>
                                        </p:tgtEl>
                                        <p:attrNameLst>
                                          <p:attrName>style.visibility</p:attrName>
                                        </p:attrNameLst>
                                      </p:cBhvr>
                                      <p:to>
                                        <p:strVal val="visible"/>
                                      </p:to>
                                    </p:set>
                                    <p:anim calcmode="lin" valueType="num">
                                      <p:cBhvr additive="base">
                                        <p:cTn id="38" dur="500" fill="hold"/>
                                        <p:tgtEl>
                                          <p:spTgt spid="56"/>
                                        </p:tgtEl>
                                        <p:attrNameLst>
                                          <p:attrName>ppt_x</p:attrName>
                                        </p:attrNameLst>
                                      </p:cBhvr>
                                      <p:tavLst>
                                        <p:tav tm="0">
                                          <p:val>
                                            <p:strVal val="0-#ppt_w/2"/>
                                          </p:val>
                                        </p:tav>
                                        <p:tav tm="100000">
                                          <p:val>
                                            <p:strVal val="#ppt_x"/>
                                          </p:val>
                                        </p:tav>
                                      </p:tavLst>
                                    </p:anim>
                                    <p:anim calcmode="lin" valueType="num">
                                      <p:cBhvr additive="base">
                                        <p:cTn id="39" dur="500" fill="hold"/>
                                        <p:tgtEl>
                                          <p:spTgt spid="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2" name="WHOOSH.WAV"/>
                                        </p:tgtEl>
                                      </p:cMediaNode>
                                    </p:audio>
                                  </p:sub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88"/>
                                        </p:tgtEl>
                                        <p:attrNameLst>
                                          <p:attrName>style.visibility</p:attrName>
                                        </p:attrNameLst>
                                      </p:cBhvr>
                                      <p:to>
                                        <p:strVal val="visible"/>
                                      </p:to>
                                    </p:set>
                                    <p:animEffect transition="in" filter="wipe(left)">
                                      <p:cBhvr>
                                        <p:cTn id="44" dur="500"/>
                                        <p:tgtEl>
                                          <p:spTgt spid="88"/>
                                        </p:tgtEl>
                                      </p:cBhvr>
                                    </p:animEffect>
                                  </p:childTnLst>
                                  <p:subTnLst>
                                    <p:audio>
                                      <p:cMediaNode>
                                        <p:cTn display="0" masterRel="sameClick">
                                          <p:stCondLst>
                                            <p:cond evt="begin" delay="0">
                                              <p:tn val="42"/>
                                            </p:cond>
                                          </p:stCondLst>
                                          <p:endCondLst>
                                            <p:cond evt="onStopAudio" delay="0">
                                              <p:tgtEl>
                                                <p:sldTgt/>
                                              </p:tgtEl>
                                            </p:cond>
                                          </p:endCondLst>
                                        </p:cTn>
                                        <p:tgtEl>
                                          <p:sndTgt r:embed="rId2" name="WHOOSH.WAV"/>
                                        </p:tgtEl>
                                      </p:cMediaNode>
                                    </p:audio>
                                  </p:subTnLst>
                                </p:cTn>
                              </p:par>
                            </p:childTnLst>
                          </p:cTn>
                        </p:par>
                        <p:par>
                          <p:cTn id="45" fill="hold" nodeType="afterGroup">
                            <p:stCondLst>
                              <p:cond delay="500"/>
                            </p:stCondLst>
                            <p:childTnLst>
                              <p:par>
                                <p:cTn id="46" presetID="11" presetClass="entr" presetSubtype="0" fill="hold" grpId="0" nodeType="afterEffect">
                                  <p:stCondLst>
                                    <p:cond delay="0"/>
                                  </p:stCondLst>
                                  <p:childTnLst>
                                    <p:set>
                                      <p:cBhvr>
                                        <p:cTn id="47" dur="1000">
                                          <p:stCondLst>
                                            <p:cond delay="0"/>
                                          </p:stCondLst>
                                        </p:cTn>
                                        <p:tgtEl>
                                          <p:spTgt spid="91"/>
                                        </p:tgtEl>
                                        <p:attrNameLst>
                                          <p:attrName>style.visibility</p:attrName>
                                        </p:attrNameLst>
                                      </p:cBhvr>
                                      <p:to>
                                        <p:strVal val="visible"/>
                                      </p:to>
                                    </p:set>
                                  </p:childTnLst>
                                  <p:subTnLst>
                                    <p:audio>
                                      <p:cMediaNode>
                                        <p:cTn display="0" masterRel="sameClick">
                                          <p:stCondLst>
                                            <p:cond evt="begin" delay="0">
                                              <p:tn val="46"/>
                                            </p:cond>
                                          </p:stCondLst>
                                          <p:endCondLst>
                                            <p:cond evt="onStopAudio" delay="0">
                                              <p:tgtEl>
                                                <p:sldTgt/>
                                              </p:tgtEl>
                                            </p:cond>
                                          </p:endCondLst>
                                        </p:cTn>
                                        <p:tgtEl>
                                          <p:sndTgt r:embed="rId4" name="EXPLODE.WAV"/>
                                        </p:tgtEl>
                                      </p:cMediaNode>
                                    </p:audio>
                                  </p:subTnLst>
                                </p:cTn>
                              </p:par>
                            </p:childTnLst>
                          </p:cTn>
                        </p:par>
                        <p:par>
                          <p:cTn id="48" fill="hold" nodeType="afterGroup">
                            <p:stCondLst>
                              <p:cond delay="1500"/>
                            </p:stCondLst>
                            <p:childTnLst>
                              <p:par>
                                <p:cTn id="49" presetID="22" presetClass="entr" presetSubtype="1" fill="hold" grpId="0" nodeType="afterEffect">
                                  <p:stCondLst>
                                    <p:cond delay="0"/>
                                  </p:stCondLst>
                                  <p:childTnLst>
                                    <p:set>
                                      <p:cBhvr>
                                        <p:cTn id="50" dur="1" fill="hold">
                                          <p:stCondLst>
                                            <p:cond delay="0"/>
                                          </p:stCondLst>
                                        </p:cTn>
                                        <p:tgtEl>
                                          <p:spTgt spid="92"/>
                                        </p:tgtEl>
                                        <p:attrNameLst>
                                          <p:attrName>style.visibility</p:attrName>
                                        </p:attrNameLst>
                                      </p:cBhvr>
                                      <p:to>
                                        <p:strVal val="visible"/>
                                      </p:to>
                                    </p:set>
                                    <p:animEffect transition="in" filter="wipe(up)">
                                      <p:cBhvr>
                                        <p:cTn id="51" dur="500"/>
                                        <p:tgtEl>
                                          <p:spTgt spid="92"/>
                                        </p:tgtEl>
                                      </p:cBhvr>
                                    </p:animEffect>
                                  </p:childTnLst>
                                  <p:subTnLst>
                                    <p:audio>
                                      <p:cMediaNode>
                                        <p:cTn display="0" masterRel="sameClick">
                                          <p:stCondLst>
                                            <p:cond evt="begin" delay="0">
                                              <p:tn val="49"/>
                                            </p:cond>
                                          </p:stCondLst>
                                          <p:endCondLst>
                                            <p:cond evt="onStopAudio" delay="0">
                                              <p:tgtEl>
                                                <p:sldTgt/>
                                              </p:tgtEl>
                                            </p:cond>
                                          </p:endCondLst>
                                        </p:cTn>
                                        <p:tgtEl>
                                          <p:sndTgt r:embed="rId4" name="EXPLODE.WAV"/>
                                        </p:tgtEl>
                                      </p:cMediaNode>
                                    </p:audio>
                                  </p:sub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93"/>
                                        </p:tgtEl>
                                        <p:attrNameLst>
                                          <p:attrName>style.visibility</p:attrName>
                                        </p:attrNameLst>
                                      </p:cBhvr>
                                      <p:to>
                                        <p:strVal val="visible"/>
                                      </p:to>
                                    </p:set>
                                    <p:animEffect transition="in" filter="wipe(left)">
                                      <p:cBhvr>
                                        <p:cTn id="56" dur="500"/>
                                        <p:tgtEl>
                                          <p:spTgt spid="93"/>
                                        </p:tgtEl>
                                      </p:cBhvr>
                                    </p:animEffect>
                                  </p:childTnLst>
                                  <p:subTnLst>
                                    <p:audio>
                                      <p:cMediaNode>
                                        <p:cTn display="0" masterRel="sameClick">
                                          <p:stCondLst>
                                            <p:cond evt="begin" delay="0">
                                              <p:tn val="54"/>
                                            </p:cond>
                                          </p:stCondLst>
                                          <p:endCondLst>
                                            <p:cond evt="onStopAudio" delay="0">
                                              <p:tgtEl>
                                                <p:sldTgt/>
                                              </p:tgtEl>
                                            </p:cond>
                                          </p:endCondLst>
                                        </p:cTn>
                                        <p:tgtEl>
                                          <p:sndTgt r:embed="rId5"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utoUpdateAnimBg="0"/>
      <p:bldP spid="87" grpId="0" autoUpdateAnimBg="0"/>
      <p:bldP spid="89" grpId="0" animBg="1"/>
      <p:bldP spid="90" grpId="0" animBg="1"/>
      <p:bldP spid="91" grpId="0" animBg="1"/>
      <p:bldP spid="92" grpId="0" animBg="1"/>
      <p:bldP spid="9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E9C38C7-0FFE-4E05-9DB1-88903D19FB08}" type="slidenum">
              <a:rPr lang="zh-CN" altLang="en-US" i="0" smtClean="0"/>
              <a:pPr/>
              <a:t>61</a:t>
            </a:fld>
            <a:endParaRPr lang="en-US" altLang="zh-CN" i="0" smtClean="0"/>
          </a:p>
        </p:txBody>
      </p:sp>
      <p:sp>
        <p:nvSpPr>
          <p:cNvPr id="5939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68EFD3A-EB99-4AC6-85F6-A94703B836AE}" type="datetime1">
              <a:rPr lang="zh-CN" altLang="en-US" sz="1800" i="0" smtClean="0"/>
              <a:pPr/>
              <a:t>2024/9/8</a:t>
            </a:fld>
            <a:endParaRPr lang="en-US" altLang="zh-CN" sz="1000" i="0" smtClean="0"/>
          </a:p>
        </p:txBody>
      </p:sp>
      <p:sp>
        <p:nvSpPr>
          <p:cNvPr id="828418" name="Rectangle 2"/>
          <p:cNvSpPr>
            <a:spLocks noGrp="1" noChangeArrowheads="1"/>
          </p:cNvSpPr>
          <p:nvPr>
            <p:ph type="title"/>
          </p:nvPr>
        </p:nvSpPr>
        <p:spPr/>
        <p:txBody>
          <a:bodyPr/>
          <a:lstStyle/>
          <a:p>
            <a:pPr>
              <a:defRPr/>
            </a:pPr>
            <a:r>
              <a:rPr lang="zh-CN" altLang="zh-CN" smtClean="0"/>
              <a:t>5.</a:t>
            </a:r>
            <a:r>
              <a:rPr lang="zh-CN" altLang="en-US" smtClean="0"/>
              <a:t>3</a:t>
            </a:r>
            <a:r>
              <a:rPr lang="zh-CN" altLang="zh-CN" smtClean="0"/>
              <a:t>  数学问题的适定性</a:t>
            </a:r>
            <a:endParaRPr lang="zh-CN" altLang="en-US" smtClean="0"/>
          </a:p>
        </p:txBody>
      </p:sp>
      <p:sp>
        <p:nvSpPr>
          <p:cNvPr id="59397" name="Rectangle 3"/>
          <p:cNvSpPr>
            <a:spLocks noGrp="1" noChangeArrowheads="1"/>
          </p:cNvSpPr>
          <p:nvPr>
            <p:ph type="body" idx="1"/>
          </p:nvPr>
        </p:nvSpPr>
        <p:spPr>
          <a:xfrm>
            <a:off x="650874" y="1143000"/>
            <a:ext cx="9054653" cy="4936736"/>
          </a:xfrm>
        </p:spPr>
        <p:txBody>
          <a:bodyPr/>
          <a:lstStyle/>
          <a:p>
            <a:r>
              <a:rPr lang="zh-CN" altLang="en-US" dirty="0" smtClean="0"/>
              <a:t>“良态”问题和“病态”问题</a:t>
            </a:r>
          </a:p>
          <a:p>
            <a:pPr lvl="1"/>
            <a:r>
              <a:rPr lang="zh-CN" altLang="en-US" dirty="0" smtClean="0">
                <a:solidFill>
                  <a:schemeClr val="accent3">
                    <a:lumMod val="50000"/>
                  </a:schemeClr>
                </a:solidFill>
              </a:rPr>
              <a:t>在适定的情况下，若对于原始数据很小的变化</a:t>
            </a:r>
            <a:r>
              <a:rPr lang="en-US" altLang="zh-CN" dirty="0" smtClean="0">
                <a:solidFill>
                  <a:schemeClr val="accent3">
                    <a:lumMod val="50000"/>
                  </a:schemeClr>
                </a:solidFill>
                <a:latin typeface="宋体" pitchFamily="2" charset="-122"/>
              </a:rPr>
              <a:t>，</a:t>
            </a:r>
            <a:r>
              <a:rPr lang="zh-CN" altLang="en-US" dirty="0" smtClean="0">
                <a:solidFill>
                  <a:schemeClr val="accent3">
                    <a:lumMod val="50000"/>
                  </a:schemeClr>
                </a:solidFill>
                <a:latin typeface="宋体" pitchFamily="2" charset="-122"/>
              </a:rPr>
              <a:t>数学模型解的变化也很小，则称该数学问题是</a:t>
            </a:r>
            <a:r>
              <a:rPr lang="zh-CN" altLang="en-US" dirty="0" smtClean="0">
                <a:solidFill>
                  <a:schemeClr val="accent3">
                    <a:lumMod val="50000"/>
                  </a:schemeClr>
                </a:solidFill>
              </a:rPr>
              <a:t>良态问题；</a:t>
            </a:r>
          </a:p>
          <a:p>
            <a:pPr lvl="1"/>
            <a:r>
              <a:rPr lang="zh-CN" altLang="en-US" dirty="0" smtClean="0">
                <a:solidFill>
                  <a:schemeClr val="accent3">
                    <a:lumMod val="50000"/>
                  </a:schemeClr>
                </a:solidFill>
              </a:rPr>
              <a:t>若原始数据很小的变化</a:t>
            </a:r>
            <a:r>
              <a:rPr lang="en-US" altLang="zh-CN" dirty="0" smtClean="0">
                <a:solidFill>
                  <a:schemeClr val="accent3">
                    <a:lumMod val="50000"/>
                  </a:schemeClr>
                </a:solidFill>
                <a:latin typeface="宋体" pitchFamily="2" charset="-122"/>
              </a:rPr>
              <a:t>，</a:t>
            </a:r>
            <a:r>
              <a:rPr lang="zh-CN" altLang="en-US" dirty="0" smtClean="0">
                <a:solidFill>
                  <a:schemeClr val="accent3">
                    <a:lumMod val="50000"/>
                  </a:schemeClr>
                </a:solidFill>
                <a:latin typeface="宋体" pitchFamily="2" charset="-122"/>
              </a:rPr>
              <a:t>数学模型解的变化很大，则称为病态问题</a:t>
            </a:r>
          </a:p>
          <a:p>
            <a:r>
              <a:rPr lang="zh-CN" altLang="en-US" dirty="0" smtClean="0">
                <a:latin typeface="宋体" pitchFamily="2" charset="-122"/>
              </a:rPr>
              <a:t>舍入误差对计算结果影响小的算法称为</a:t>
            </a:r>
            <a:r>
              <a:rPr lang="zh-CN" altLang="en-US" u="sng" dirty="0" smtClean="0">
                <a:solidFill>
                  <a:srgbClr val="FF3300"/>
                </a:solidFill>
                <a:latin typeface="宋体" pitchFamily="2" charset="-122"/>
              </a:rPr>
              <a:t>稳定的算法</a:t>
            </a:r>
            <a:r>
              <a:rPr lang="zh-CN" altLang="en-US" dirty="0" smtClean="0">
                <a:latin typeface="宋体" pitchFamily="2" charset="-122"/>
              </a:rPr>
              <a:t>,否则称为</a:t>
            </a:r>
            <a:r>
              <a:rPr lang="zh-CN" altLang="en-US" u="sng" dirty="0" smtClean="0">
                <a:solidFill>
                  <a:srgbClr val="FF3300"/>
                </a:solidFill>
                <a:latin typeface="宋体" pitchFamily="2" charset="-122"/>
              </a:rPr>
              <a:t>不稳定的算法</a:t>
            </a:r>
            <a:r>
              <a:rPr lang="zh-CN" altLang="en-US" dirty="0" smtClean="0">
                <a:latin typeface="宋体" pitchFamily="2" charset="-122"/>
              </a:rPr>
              <a:t>.</a:t>
            </a:r>
            <a:endParaRPr lang="en-US" altLang="zh-CN" dirty="0" smtClean="0">
              <a:latin typeface="宋体" pitchFamily="2" charset="-122"/>
            </a:endParaRPr>
          </a:p>
          <a:p>
            <a:endParaRPr lang="zh-CN" altLang="en-US" dirty="0" smtClean="0">
              <a:latin typeface="宋体" pitchFamily="2" charset="-122"/>
            </a:endParaRPr>
          </a:p>
          <a:p>
            <a:r>
              <a:rPr lang="zh-CN" altLang="en-US" sz="3200" dirty="0" smtClean="0">
                <a:solidFill>
                  <a:srgbClr val="0000FF"/>
                </a:solidFill>
                <a:latin typeface="宋体" pitchFamily="2" charset="-122"/>
              </a:rPr>
              <a:t>数学问题的性态</a:t>
            </a:r>
            <a:r>
              <a:rPr lang="en-US" altLang="zh-CN" sz="3200" dirty="0" smtClean="0">
                <a:solidFill>
                  <a:srgbClr val="0000FF"/>
                </a:solidFill>
                <a:latin typeface="宋体" pitchFamily="2" charset="-122"/>
              </a:rPr>
              <a:t>(</a:t>
            </a:r>
            <a:r>
              <a:rPr lang="zh-CN" altLang="en-US" sz="3200" dirty="0" smtClean="0"/>
              <a:t>良态、病态</a:t>
            </a:r>
            <a:r>
              <a:rPr lang="en-US" altLang="zh-CN" sz="3200" dirty="0" smtClean="0">
                <a:solidFill>
                  <a:srgbClr val="0000FF"/>
                </a:solidFill>
                <a:latin typeface="宋体" pitchFamily="2" charset="-122"/>
              </a:rPr>
              <a:t>)</a:t>
            </a:r>
            <a:r>
              <a:rPr lang="zh-CN" altLang="en-US" sz="3200" dirty="0" smtClean="0">
                <a:solidFill>
                  <a:srgbClr val="0000FF"/>
                </a:solidFill>
                <a:latin typeface="宋体" pitchFamily="2" charset="-122"/>
              </a:rPr>
              <a:t>是针对数学问题的</a:t>
            </a:r>
            <a:endParaRPr lang="en-US" altLang="zh-CN" sz="3200" dirty="0" smtClean="0">
              <a:solidFill>
                <a:srgbClr val="0000FF"/>
              </a:solidFill>
              <a:latin typeface="宋体" pitchFamily="2" charset="-122"/>
            </a:endParaRPr>
          </a:p>
          <a:p>
            <a:r>
              <a:rPr lang="zh-CN" altLang="en-US" sz="3200" dirty="0" smtClean="0">
                <a:solidFill>
                  <a:srgbClr val="0000FF"/>
                </a:solidFill>
                <a:latin typeface="宋体" pitchFamily="2" charset="-122"/>
              </a:rPr>
              <a:t>数值稳定性是针对数值方法的</a:t>
            </a:r>
          </a:p>
        </p:txBody>
      </p:sp>
    </p:spTree>
  </p:cSld>
  <p:clrMapOvr>
    <a:masterClrMapping/>
  </p:clrMapOvr>
  <p:transition>
    <p:strips dir="l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0886C74-8E10-49AD-A195-7E24581B2840}" type="slidenum">
              <a:rPr lang="zh-CN" altLang="en-US" i="0" smtClean="0"/>
              <a:pPr/>
              <a:t>62</a:t>
            </a:fld>
            <a:endParaRPr lang="en-US" altLang="zh-CN" i="0" smtClean="0"/>
          </a:p>
        </p:txBody>
      </p:sp>
      <p:sp>
        <p:nvSpPr>
          <p:cNvPr id="6041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90EC1EA-0CF7-407C-A677-C8BD53132E24}" type="datetime1">
              <a:rPr lang="zh-CN" altLang="en-US" sz="1800" i="0" smtClean="0"/>
              <a:pPr/>
              <a:t>2024/9/8</a:t>
            </a:fld>
            <a:endParaRPr lang="en-US" altLang="zh-CN" sz="1000" i="0" smtClean="0"/>
          </a:p>
        </p:txBody>
      </p:sp>
      <p:sp>
        <p:nvSpPr>
          <p:cNvPr id="830466" name="Rectangle 2"/>
          <p:cNvSpPr>
            <a:spLocks noGrp="1" noChangeArrowheads="1"/>
          </p:cNvSpPr>
          <p:nvPr>
            <p:ph type="title"/>
          </p:nvPr>
        </p:nvSpPr>
        <p:spPr/>
        <p:txBody>
          <a:bodyPr/>
          <a:lstStyle/>
          <a:p>
            <a:pPr>
              <a:defRPr/>
            </a:pPr>
            <a:r>
              <a:rPr lang="zh-CN" altLang="zh-CN" smtClean="0"/>
              <a:t>5.</a:t>
            </a:r>
            <a:r>
              <a:rPr lang="zh-CN" altLang="en-US" smtClean="0"/>
              <a:t>3</a:t>
            </a:r>
            <a:r>
              <a:rPr lang="zh-CN" altLang="zh-CN" smtClean="0"/>
              <a:t>  数学问题的适定性</a:t>
            </a:r>
            <a:endParaRPr lang="zh-CN" altLang="en-US" smtClean="0"/>
          </a:p>
        </p:txBody>
      </p:sp>
      <p:sp>
        <p:nvSpPr>
          <p:cNvPr id="60421" name="Rectangle 3"/>
          <p:cNvSpPr>
            <a:spLocks noGrp="1" noChangeArrowheads="1"/>
          </p:cNvSpPr>
          <p:nvPr>
            <p:ph type="body" idx="1"/>
          </p:nvPr>
        </p:nvSpPr>
        <p:spPr>
          <a:xfrm>
            <a:off x="650875" y="1143000"/>
            <a:ext cx="8820150" cy="438150"/>
          </a:xfrm>
        </p:spPr>
        <p:txBody>
          <a:bodyPr/>
          <a:lstStyle/>
          <a:p>
            <a:r>
              <a:rPr lang="zh-CN" altLang="en-US" sz="3200" smtClean="0"/>
              <a:t>稳定算法和不稳定算法</a:t>
            </a:r>
          </a:p>
        </p:txBody>
      </p:sp>
      <p:grpSp>
        <p:nvGrpSpPr>
          <p:cNvPr id="2" name="Group 4"/>
          <p:cNvGrpSpPr>
            <a:grpSpLocks/>
          </p:cNvGrpSpPr>
          <p:nvPr/>
        </p:nvGrpSpPr>
        <p:grpSpPr bwMode="auto">
          <a:xfrm>
            <a:off x="908050" y="2559050"/>
            <a:ext cx="5943600" cy="3581400"/>
            <a:chOff x="672" y="1776"/>
            <a:chExt cx="3456" cy="2256"/>
          </a:xfrm>
        </p:grpSpPr>
        <p:sp>
          <p:nvSpPr>
            <p:cNvPr id="60441" name="Line 5"/>
            <p:cNvSpPr>
              <a:spLocks noChangeShapeType="1"/>
            </p:cNvSpPr>
            <p:nvPr/>
          </p:nvSpPr>
          <p:spPr bwMode="auto">
            <a:xfrm>
              <a:off x="672" y="1776"/>
              <a:ext cx="0" cy="22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2" name="Line 6"/>
            <p:cNvSpPr>
              <a:spLocks noChangeShapeType="1"/>
            </p:cNvSpPr>
            <p:nvPr/>
          </p:nvSpPr>
          <p:spPr bwMode="auto">
            <a:xfrm flipV="1">
              <a:off x="672" y="4032"/>
              <a:ext cx="34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30471" name="Freeform 7"/>
          <p:cNvSpPr>
            <a:spLocks/>
          </p:cNvSpPr>
          <p:nvPr/>
        </p:nvSpPr>
        <p:spPr bwMode="auto">
          <a:xfrm>
            <a:off x="1320800" y="2470150"/>
            <a:ext cx="2944813" cy="3136900"/>
          </a:xfrm>
          <a:custGeom>
            <a:avLst/>
            <a:gdLst>
              <a:gd name="T0" fmla="*/ 0 w 1712"/>
              <a:gd name="T1" fmla="*/ 2147483647 h 1976"/>
              <a:gd name="T2" fmla="*/ 2147483647 w 1712"/>
              <a:gd name="T3" fmla="*/ 2147483647 h 1976"/>
              <a:gd name="T4" fmla="*/ 2147483647 w 1712"/>
              <a:gd name="T5" fmla="*/ 504031250 h 1976"/>
              <a:gd name="T6" fmla="*/ 2147483647 w 1712"/>
              <a:gd name="T7" fmla="*/ 141128750 h 1976"/>
              <a:gd name="T8" fmla="*/ 0 60000 65536"/>
              <a:gd name="T9" fmla="*/ 0 60000 65536"/>
              <a:gd name="T10" fmla="*/ 0 60000 65536"/>
              <a:gd name="T11" fmla="*/ 0 60000 65536"/>
              <a:gd name="T12" fmla="*/ 0 w 1712"/>
              <a:gd name="T13" fmla="*/ 0 h 1976"/>
              <a:gd name="T14" fmla="*/ 1712 w 1712"/>
              <a:gd name="T15" fmla="*/ 1976 h 1976"/>
            </a:gdLst>
            <a:ahLst/>
            <a:cxnLst>
              <a:cxn ang="T8">
                <a:pos x="T0" y="T1"/>
              </a:cxn>
              <a:cxn ang="T9">
                <a:pos x="T2" y="T3"/>
              </a:cxn>
              <a:cxn ang="T10">
                <a:pos x="T4" y="T5"/>
              </a:cxn>
              <a:cxn ang="T11">
                <a:pos x="T6" y="T7"/>
              </a:cxn>
            </a:cxnLst>
            <a:rect l="T12" t="T13" r="T14" b="T15"/>
            <a:pathLst>
              <a:path w="1712" h="1976">
                <a:moveTo>
                  <a:pt x="0" y="1976"/>
                </a:moveTo>
                <a:cubicBezTo>
                  <a:pt x="464" y="1764"/>
                  <a:pt x="928" y="1552"/>
                  <a:pt x="1200" y="1256"/>
                </a:cubicBezTo>
                <a:cubicBezTo>
                  <a:pt x="1472" y="960"/>
                  <a:pt x="1552" y="400"/>
                  <a:pt x="1632" y="200"/>
                </a:cubicBezTo>
                <a:cubicBezTo>
                  <a:pt x="1712" y="0"/>
                  <a:pt x="1696" y="28"/>
                  <a:pt x="1680" y="56"/>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472" name="Freeform 8"/>
          <p:cNvSpPr>
            <a:spLocks/>
          </p:cNvSpPr>
          <p:nvPr/>
        </p:nvSpPr>
        <p:spPr bwMode="auto">
          <a:xfrm>
            <a:off x="1320800" y="2635250"/>
            <a:ext cx="3054350" cy="3048000"/>
          </a:xfrm>
          <a:custGeom>
            <a:avLst/>
            <a:gdLst>
              <a:gd name="T0" fmla="*/ 0 w 1776"/>
              <a:gd name="T1" fmla="*/ 2147483647 h 1920"/>
              <a:gd name="T2" fmla="*/ 2147483647 w 1776"/>
              <a:gd name="T3" fmla="*/ 2147483647 h 1920"/>
              <a:gd name="T4" fmla="*/ 2147483647 w 1776"/>
              <a:gd name="T5" fmla="*/ 1330642500 h 1920"/>
              <a:gd name="T6" fmla="*/ 2147483647 w 1776"/>
              <a:gd name="T7" fmla="*/ 0 h 1920"/>
              <a:gd name="T8" fmla="*/ 0 60000 65536"/>
              <a:gd name="T9" fmla="*/ 0 60000 65536"/>
              <a:gd name="T10" fmla="*/ 0 60000 65536"/>
              <a:gd name="T11" fmla="*/ 0 60000 65536"/>
              <a:gd name="T12" fmla="*/ 0 w 1776"/>
              <a:gd name="T13" fmla="*/ 0 h 1920"/>
              <a:gd name="T14" fmla="*/ 1776 w 1776"/>
              <a:gd name="T15" fmla="*/ 1920 h 1920"/>
            </a:gdLst>
            <a:ahLst/>
            <a:cxnLst>
              <a:cxn ang="T8">
                <a:pos x="T0" y="T1"/>
              </a:cxn>
              <a:cxn ang="T9">
                <a:pos x="T2" y="T3"/>
              </a:cxn>
              <a:cxn ang="T10">
                <a:pos x="T4" y="T5"/>
              </a:cxn>
              <a:cxn ang="T11">
                <a:pos x="T6" y="T7"/>
              </a:cxn>
            </a:cxnLst>
            <a:rect l="T12" t="T13" r="T14" b="T15"/>
            <a:pathLst>
              <a:path w="1776" h="1920">
                <a:moveTo>
                  <a:pt x="0" y="1920"/>
                </a:moveTo>
                <a:cubicBezTo>
                  <a:pt x="392" y="1796"/>
                  <a:pt x="784" y="1672"/>
                  <a:pt x="1056" y="1440"/>
                </a:cubicBezTo>
                <a:cubicBezTo>
                  <a:pt x="1328" y="1208"/>
                  <a:pt x="1512" y="768"/>
                  <a:pt x="1632" y="528"/>
                </a:cubicBezTo>
                <a:cubicBezTo>
                  <a:pt x="1752" y="288"/>
                  <a:pt x="1752" y="88"/>
                  <a:pt x="1776" y="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473" name="Freeform 9"/>
          <p:cNvSpPr>
            <a:spLocks/>
          </p:cNvSpPr>
          <p:nvPr/>
        </p:nvSpPr>
        <p:spPr bwMode="auto">
          <a:xfrm>
            <a:off x="1320800" y="2635250"/>
            <a:ext cx="3136900" cy="3124200"/>
          </a:xfrm>
          <a:custGeom>
            <a:avLst/>
            <a:gdLst>
              <a:gd name="T0" fmla="*/ 0 w 1824"/>
              <a:gd name="T1" fmla="*/ 2147483647 h 1968"/>
              <a:gd name="T2" fmla="*/ 2147483647 w 1824"/>
              <a:gd name="T3" fmla="*/ 2147483647 h 1968"/>
              <a:gd name="T4" fmla="*/ 2147483647 w 1824"/>
              <a:gd name="T5" fmla="*/ 1572577500 h 1968"/>
              <a:gd name="T6" fmla="*/ 2147483647 w 1824"/>
              <a:gd name="T7" fmla="*/ 0 h 1968"/>
              <a:gd name="T8" fmla="*/ 0 60000 65536"/>
              <a:gd name="T9" fmla="*/ 0 60000 65536"/>
              <a:gd name="T10" fmla="*/ 0 60000 65536"/>
              <a:gd name="T11" fmla="*/ 0 60000 65536"/>
              <a:gd name="T12" fmla="*/ 0 w 1824"/>
              <a:gd name="T13" fmla="*/ 0 h 1968"/>
              <a:gd name="T14" fmla="*/ 1824 w 1824"/>
              <a:gd name="T15" fmla="*/ 1968 h 1968"/>
            </a:gdLst>
            <a:ahLst/>
            <a:cxnLst>
              <a:cxn ang="T8">
                <a:pos x="T0" y="T1"/>
              </a:cxn>
              <a:cxn ang="T9">
                <a:pos x="T2" y="T3"/>
              </a:cxn>
              <a:cxn ang="T10">
                <a:pos x="T4" y="T5"/>
              </a:cxn>
              <a:cxn ang="T11">
                <a:pos x="T6" y="T7"/>
              </a:cxn>
            </a:cxnLst>
            <a:rect l="T12" t="T13" r="T14" b="T15"/>
            <a:pathLst>
              <a:path w="1824" h="1968">
                <a:moveTo>
                  <a:pt x="0" y="1968"/>
                </a:moveTo>
                <a:cubicBezTo>
                  <a:pt x="364" y="1912"/>
                  <a:pt x="728" y="1856"/>
                  <a:pt x="1008" y="1632"/>
                </a:cubicBezTo>
                <a:cubicBezTo>
                  <a:pt x="1288" y="1408"/>
                  <a:pt x="1544" y="896"/>
                  <a:pt x="1680" y="624"/>
                </a:cubicBezTo>
                <a:cubicBezTo>
                  <a:pt x="1816" y="352"/>
                  <a:pt x="1800" y="104"/>
                  <a:pt x="1824" y="0"/>
                </a:cubicBez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474" name="Freeform 10"/>
          <p:cNvSpPr>
            <a:spLocks/>
          </p:cNvSpPr>
          <p:nvPr/>
        </p:nvSpPr>
        <p:spPr bwMode="auto">
          <a:xfrm>
            <a:off x="1320800" y="4006850"/>
            <a:ext cx="3632200" cy="1828800"/>
          </a:xfrm>
          <a:custGeom>
            <a:avLst/>
            <a:gdLst>
              <a:gd name="T0" fmla="*/ 0 w 2112"/>
              <a:gd name="T1" fmla="*/ 2147483647 h 1152"/>
              <a:gd name="T2" fmla="*/ 2147483647 w 2112"/>
              <a:gd name="T3" fmla="*/ 2056447500 h 1152"/>
              <a:gd name="T4" fmla="*/ 2147483647 w 2112"/>
              <a:gd name="T5" fmla="*/ 1451610000 h 1152"/>
              <a:gd name="T6" fmla="*/ 2147483647 w 2112"/>
              <a:gd name="T7" fmla="*/ 483870000 h 1152"/>
              <a:gd name="T8" fmla="*/ 2147483647 w 2112"/>
              <a:gd name="T9" fmla="*/ 0 h 1152"/>
              <a:gd name="T10" fmla="*/ 0 60000 65536"/>
              <a:gd name="T11" fmla="*/ 0 60000 65536"/>
              <a:gd name="T12" fmla="*/ 0 60000 65536"/>
              <a:gd name="T13" fmla="*/ 0 60000 65536"/>
              <a:gd name="T14" fmla="*/ 0 60000 65536"/>
              <a:gd name="T15" fmla="*/ 0 w 2112"/>
              <a:gd name="T16" fmla="*/ 0 h 1152"/>
              <a:gd name="T17" fmla="*/ 2112 w 2112"/>
              <a:gd name="T18" fmla="*/ 1152 h 1152"/>
            </a:gdLst>
            <a:ahLst/>
            <a:cxnLst>
              <a:cxn ang="T10">
                <a:pos x="T0" y="T1"/>
              </a:cxn>
              <a:cxn ang="T11">
                <a:pos x="T2" y="T3"/>
              </a:cxn>
              <a:cxn ang="T12">
                <a:pos x="T4" y="T5"/>
              </a:cxn>
              <a:cxn ang="T13">
                <a:pos x="T6" y="T7"/>
              </a:cxn>
              <a:cxn ang="T14">
                <a:pos x="T8" y="T9"/>
              </a:cxn>
            </a:cxnLst>
            <a:rect l="T15" t="T16" r="T17" b="T18"/>
            <a:pathLst>
              <a:path w="2112" h="1152">
                <a:moveTo>
                  <a:pt x="0" y="1152"/>
                </a:moveTo>
                <a:cubicBezTo>
                  <a:pt x="336" y="1032"/>
                  <a:pt x="672" y="912"/>
                  <a:pt x="864" y="816"/>
                </a:cubicBezTo>
                <a:cubicBezTo>
                  <a:pt x="1056" y="720"/>
                  <a:pt x="1024" y="680"/>
                  <a:pt x="1152" y="576"/>
                </a:cubicBezTo>
                <a:cubicBezTo>
                  <a:pt x="1280" y="472"/>
                  <a:pt x="1472" y="288"/>
                  <a:pt x="1632" y="192"/>
                </a:cubicBezTo>
                <a:cubicBezTo>
                  <a:pt x="1792" y="96"/>
                  <a:pt x="1952" y="48"/>
                  <a:pt x="2112" y="0"/>
                </a:cubicBezTo>
              </a:path>
            </a:pathLst>
          </a:custGeom>
          <a:noFill/>
          <a:ln w="381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475" name="Freeform 11"/>
          <p:cNvSpPr>
            <a:spLocks/>
          </p:cNvSpPr>
          <p:nvPr/>
        </p:nvSpPr>
        <p:spPr bwMode="auto">
          <a:xfrm>
            <a:off x="1320800" y="3079750"/>
            <a:ext cx="2228850" cy="2755900"/>
          </a:xfrm>
          <a:custGeom>
            <a:avLst/>
            <a:gdLst>
              <a:gd name="T0" fmla="*/ 0 w 1296"/>
              <a:gd name="T1" fmla="*/ 2147483647 h 1736"/>
              <a:gd name="T2" fmla="*/ 2147483647 w 1296"/>
              <a:gd name="T3" fmla="*/ 2147483647 h 1736"/>
              <a:gd name="T4" fmla="*/ 2147483647 w 1296"/>
              <a:gd name="T5" fmla="*/ 2147483647 h 1736"/>
              <a:gd name="T6" fmla="*/ 2147483647 w 1296"/>
              <a:gd name="T7" fmla="*/ 383063750 h 1736"/>
              <a:gd name="T8" fmla="*/ 2147483647 w 1296"/>
              <a:gd name="T9" fmla="*/ 20161250 h 1736"/>
              <a:gd name="T10" fmla="*/ 0 60000 65536"/>
              <a:gd name="T11" fmla="*/ 0 60000 65536"/>
              <a:gd name="T12" fmla="*/ 0 60000 65536"/>
              <a:gd name="T13" fmla="*/ 0 60000 65536"/>
              <a:gd name="T14" fmla="*/ 0 60000 65536"/>
              <a:gd name="T15" fmla="*/ 0 w 1296"/>
              <a:gd name="T16" fmla="*/ 0 h 1736"/>
              <a:gd name="T17" fmla="*/ 1296 w 1296"/>
              <a:gd name="T18" fmla="*/ 1736 h 1736"/>
            </a:gdLst>
            <a:ahLst/>
            <a:cxnLst>
              <a:cxn ang="T10">
                <a:pos x="T0" y="T1"/>
              </a:cxn>
              <a:cxn ang="T11">
                <a:pos x="T2" y="T3"/>
              </a:cxn>
              <a:cxn ang="T12">
                <a:pos x="T4" y="T5"/>
              </a:cxn>
              <a:cxn ang="T13">
                <a:pos x="T6" y="T7"/>
              </a:cxn>
              <a:cxn ang="T14">
                <a:pos x="T8" y="T9"/>
              </a:cxn>
            </a:cxnLst>
            <a:rect l="T15" t="T16" r="T17" b="T18"/>
            <a:pathLst>
              <a:path w="1296" h="1736">
                <a:moveTo>
                  <a:pt x="0" y="1736"/>
                </a:moveTo>
                <a:cubicBezTo>
                  <a:pt x="376" y="1588"/>
                  <a:pt x="752" y="1440"/>
                  <a:pt x="960" y="1304"/>
                </a:cubicBezTo>
                <a:cubicBezTo>
                  <a:pt x="1168" y="1168"/>
                  <a:pt x="1200" y="1112"/>
                  <a:pt x="1248" y="920"/>
                </a:cubicBezTo>
                <a:cubicBezTo>
                  <a:pt x="1296" y="728"/>
                  <a:pt x="1240" y="304"/>
                  <a:pt x="1248" y="152"/>
                </a:cubicBezTo>
                <a:cubicBezTo>
                  <a:pt x="1256" y="0"/>
                  <a:pt x="1276" y="4"/>
                  <a:pt x="1296" y="8"/>
                </a:cubicBezTo>
              </a:path>
            </a:pathLst>
          </a:custGeom>
          <a:noFill/>
          <a:ln w="381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 name="Group 12"/>
          <p:cNvGrpSpPr>
            <a:grpSpLocks/>
          </p:cNvGrpSpPr>
          <p:nvPr/>
        </p:nvGrpSpPr>
        <p:grpSpPr bwMode="auto">
          <a:xfrm>
            <a:off x="5384800" y="1559774"/>
            <a:ext cx="1733550" cy="842117"/>
            <a:chOff x="3120" y="1491"/>
            <a:chExt cx="672" cy="244"/>
          </a:xfrm>
        </p:grpSpPr>
        <p:sp>
          <p:nvSpPr>
            <p:cNvPr id="60439" name="AutoShape 13"/>
            <p:cNvSpPr>
              <a:spLocks/>
            </p:cNvSpPr>
            <p:nvPr/>
          </p:nvSpPr>
          <p:spPr bwMode="auto">
            <a:xfrm>
              <a:off x="3120" y="1567"/>
              <a:ext cx="672" cy="168"/>
            </a:xfrm>
            <a:prstGeom prst="borderCallout1">
              <a:avLst>
                <a:gd name="adj1" fmla="val 120870"/>
                <a:gd name="adj2" fmla="val 89287"/>
                <a:gd name="adj3" fmla="val 120870"/>
                <a:gd name="adj4" fmla="val -70236"/>
              </a:avLst>
            </a:prstGeom>
            <a:gradFill rotWithShape="0">
              <a:gsLst>
                <a:gs pos="0">
                  <a:srgbClr val="7283CA"/>
                </a:gs>
                <a:gs pos="100000">
                  <a:srgbClr val="353D5D"/>
                </a:gs>
              </a:gsLst>
              <a:path path="shape">
                <a:fillToRect l="50000" t="50000" r="50000" b="50000"/>
              </a:path>
            </a:gradFill>
            <a:ln w="28575">
              <a:solidFill>
                <a:schemeClr val="tx1"/>
              </a:solidFill>
              <a:miter lim="800000"/>
              <a:headEnd/>
              <a:tailEnd/>
            </a:ln>
          </p:spPr>
          <p:txBody>
            <a:bodyPr anchor="ctr">
              <a:spAutoFit/>
            </a:bodyPr>
            <a:lstStyle/>
            <a:p>
              <a:endParaRPr lang="zh-CN" altLang="en-US" sz="1600" b="0" i="0">
                <a:latin typeface="Arial Black" pitchFamily="34" charset="0"/>
              </a:endParaRPr>
            </a:p>
          </p:txBody>
        </p:sp>
        <p:sp>
          <p:nvSpPr>
            <p:cNvPr id="60440" name="Text Box 14"/>
            <p:cNvSpPr txBox="1">
              <a:spLocks noChangeArrowheads="1"/>
            </p:cNvSpPr>
            <p:nvPr/>
          </p:nvSpPr>
          <p:spPr bwMode="auto">
            <a:xfrm>
              <a:off x="3120" y="1491"/>
              <a:ext cx="57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endParaRPr lang="en-US" altLang="zh-CN" i="0" dirty="0" smtClean="0">
                <a:solidFill>
                  <a:schemeClr val="bg1"/>
                </a:solidFill>
                <a:latin typeface="Arial Black" pitchFamily="34" charset="0"/>
              </a:endParaRPr>
            </a:p>
            <a:p>
              <a:r>
                <a:rPr lang="zh-CN" altLang="en-US" sz="2400" i="0" dirty="0" smtClean="0">
                  <a:solidFill>
                    <a:schemeClr val="bg1"/>
                  </a:solidFill>
                  <a:latin typeface="Arial Black" pitchFamily="34" charset="0"/>
                </a:rPr>
                <a:t>真</a:t>
              </a:r>
              <a:r>
                <a:rPr lang="zh-CN" altLang="en-US" sz="2400" i="0" dirty="0">
                  <a:solidFill>
                    <a:schemeClr val="bg1"/>
                  </a:solidFill>
                  <a:latin typeface="Arial Black" pitchFamily="34" charset="0"/>
                </a:rPr>
                <a:t>解</a:t>
              </a:r>
            </a:p>
          </p:txBody>
        </p:sp>
      </p:grpSp>
      <p:grpSp>
        <p:nvGrpSpPr>
          <p:cNvPr id="4" name="Group 15"/>
          <p:cNvGrpSpPr>
            <a:grpSpLocks/>
          </p:cNvGrpSpPr>
          <p:nvPr/>
        </p:nvGrpSpPr>
        <p:grpSpPr bwMode="auto">
          <a:xfrm>
            <a:off x="5118100" y="2863850"/>
            <a:ext cx="4540250" cy="519113"/>
            <a:chOff x="3120" y="1968"/>
            <a:chExt cx="2640" cy="327"/>
          </a:xfrm>
        </p:grpSpPr>
        <p:sp>
          <p:nvSpPr>
            <p:cNvPr id="60437" name="AutoShape 16"/>
            <p:cNvSpPr>
              <a:spLocks/>
            </p:cNvSpPr>
            <p:nvPr/>
          </p:nvSpPr>
          <p:spPr bwMode="auto">
            <a:xfrm>
              <a:off x="3216" y="2025"/>
              <a:ext cx="2544" cy="236"/>
            </a:xfrm>
            <a:prstGeom prst="borderCallout1">
              <a:avLst>
                <a:gd name="adj1" fmla="val -20870"/>
                <a:gd name="adj2" fmla="val 97171"/>
                <a:gd name="adj3" fmla="val -20870"/>
                <a:gd name="adj4" fmla="val -20125"/>
              </a:avLst>
            </a:prstGeom>
            <a:gradFill rotWithShape="0">
              <a:gsLst>
                <a:gs pos="0">
                  <a:srgbClr val="CC0000"/>
                </a:gs>
                <a:gs pos="100000">
                  <a:srgbClr val="5E0000"/>
                </a:gs>
              </a:gsLst>
              <a:path path="shape">
                <a:fillToRect l="50000" t="50000" r="50000" b="50000"/>
              </a:path>
            </a:gradFill>
            <a:ln w="38100">
              <a:solidFill>
                <a:srgbClr val="CC0000"/>
              </a:solidFill>
              <a:miter lim="800000"/>
              <a:headEnd/>
              <a:tailEnd/>
            </a:ln>
          </p:spPr>
          <p:txBody>
            <a:bodyPr anchor="ctr">
              <a:spAutoFit/>
            </a:bodyPr>
            <a:lstStyle/>
            <a:p>
              <a:endParaRPr lang="zh-CN" altLang="en-US" sz="1600" b="0" i="0">
                <a:latin typeface="Arial Black" pitchFamily="34" charset="0"/>
              </a:endParaRPr>
            </a:p>
          </p:txBody>
        </p:sp>
        <p:sp>
          <p:nvSpPr>
            <p:cNvPr id="60438" name="Text Box 17"/>
            <p:cNvSpPr txBox="1">
              <a:spLocks noChangeArrowheads="1"/>
            </p:cNvSpPr>
            <p:nvPr/>
          </p:nvSpPr>
          <p:spPr bwMode="auto">
            <a:xfrm>
              <a:off x="3120" y="1968"/>
              <a:ext cx="26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1"/>
                  </a:solidFill>
                  <a:latin typeface="Arial Black" pitchFamily="34" charset="0"/>
                </a:rPr>
                <a:t>参数模型精确解(良态)</a:t>
              </a:r>
            </a:p>
          </p:txBody>
        </p:sp>
      </p:grpSp>
      <p:grpSp>
        <p:nvGrpSpPr>
          <p:cNvPr id="5" name="Group 18"/>
          <p:cNvGrpSpPr>
            <a:grpSpLocks/>
          </p:cNvGrpSpPr>
          <p:nvPr/>
        </p:nvGrpSpPr>
        <p:grpSpPr bwMode="auto">
          <a:xfrm>
            <a:off x="5035550" y="3378200"/>
            <a:ext cx="4540250" cy="557213"/>
            <a:chOff x="3072" y="2292"/>
            <a:chExt cx="2640" cy="351"/>
          </a:xfrm>
        </p:grpSpPr>
        <p:sp>
          <p:nvSpPr>
            <p:cNvPr id="830483" name="AutoShape 19"/>
            <p:cNvSpPr>
              <a:spLocks/>
            </p:cNvSpPr>
            <p:nvPr/>
          </p:nvSpPr>
          <p:spPr bwMode="auto">
            <a:xfrm>
              <a:off x="3168" y="2361"/>
              <a:ext cx="2544" cy="236"/>
            </a:xfrm>
            <a:prstGeom prst="borderCallout1">
              <a:avLst>
                <a:gd name="adj1" fmla="val -20870"/>
                <a:gd name="adj2" fmla="val 97171"/>
                <a:gd name="adj3" fmla="val -20870"/>
                <a:gd name="adj4" fmla="val -20125"/>
              </a:avLst>
            </a:prstGeom>
            <a:gradFill rotWithShape="0">
              <a:gsLst>
                <a:gs pos="0">
                  <a:schemeClr val="accent2"/>
                </a:gs>
                <a:gs pos="100000">
                  <a:schemeClr val="accent2">
                    <a:gamma/>
                    <a:shade val="46275"/>
                    <a:invGamma/>
                  </a:schemeClr>
                </a:gs>
              </a:gsLst>
              <a:lin ang="5400000" scaled="1"/>
            </a:gradFill>
            <a:ln w="38100">
              <a:solidFill>
                <a:schemeClr val="accent2"/>
              </a:solidFill>
              <a:miter lim="800000"/>
              <a:headEnd/>
              <a:tailEnd/>
            </a:ln>
            <a:effectLst/>
          </p:spPr>
          <p:txBody>
            <a:bodyPr anchor="ctr">
              <a:spAutoFit/>
            </a:bodyPr>
            <a:lstStyle/>
            <a:p>
              <a:pPr>
                <a:defRPr/>
              </a:pPr>
              <a:endParaRPr lang="zh-CN" altLang="en-US" sz="1600" b="0" i="0">
                <a:latin typeface="Arial Black" pitchFamily="34" charset="0"/>
              </a:endParaRPr>
            </a:p>
          </p:txBody>
        </p:sp>
        <p:sp>
          <p:nvSpPr>
            <p:cNvPr id="830484" name="Text Box 20"/>
            <p:cNvSpPr txBox="1">
              <a:spLocks noChangeArrowheads="1"/>
            </p:cNvSpPr>
            <p:nvPr/>
          </p:nvSpPr>
          <p:spPr bwMode="auto">
            <a:xfrm>
              <a:off x="3072" y="2292"/>
              <a:ext cx="2640" cy="351"/>
            </a:xfrm>
            <a:prstGeom prst="rect">
              <a:avLst/>
            </a:prstGeom>
            <a:gradFill rotWithShape="0">
              <a:gsLst>
                <a:gs pos="0">
                  <a:schemeClr val="accent2"/>
                </a:gs>
                <a:gs pos="100000">
                  <a:schemeClr val="accent2">
                    <a:gamma/>
                    <a:shade val="46275"/>
                    <a:invGamma/>
                  </a:schemeClr>
                </a:gs>
              </a:gsLst>
              <a:lin ang="5400000" scaled="1"/>
            </a:gradFill>
            <a:ln w="38100">
              <a:solidFill>
                <a:schemeClr val="accent2"/>
              </a:solidFill>
              <a:miter lim="800000"/>
              <a:headEnd/>
              <a:tailEnd/>
            </a:ln>
            <a:effectLst/>
          </p:spPr>
          <p:txBody>
            <a:bodyPr anchor="ctr">
              <a:spAutoFit/>
            </a:bodyPr>
            <a:lstStyle/>
            <a:p>
              <a:pPr>
                <a:spcBef>
                  <a:spcPct val="50000"/>
                </a:spcBef>
                <a:defRPr/>
              </a:pPr>
              <a:r>
                <a:rPr lang="zh-CN" altLang="en-US" sz="2800" i="0">
                  <a:solidFill>
                    <a:schemeClr val="bg1"/>
                  </a:solidFill>
                  <a:latin typeface="Arial Black" pitchFamily="34" charset="0"/>
                </a:rPr>
                <a:t>计算模型近似解(稳定)</a:t>
              </a:r>
            </a:p>
          </p:txBody>
        </p:sp>
      </p:grpSp>
      <p:grpSp>
        <p:nvGrpSpPr>
          <p:cNvPr id="6" name="Group 21"/>
          <p:cNvGrpSpPr>
            <a:grpSpLocks/>
          </p:cNvGrpSpPr>
          <p:nvPr/>
        </p:nvGrpSpPr>
        <p:grpSpPr bwMode="auto">
          <a:xfrm>
            <a:off x="3549650" y="4154488"/>
            <a:ext cx="6108700" cy="557212"/>
            <a:chOff x="2208" y="2781"/>
            <a:chExt cx="3552" cy="351"/>
          </a:xfrm>
        </p:grpSpPr>
        <p:sp>
          <p:nvSpPr>
            <p:cNvPr id="60432" name="AutoShape 22"/>
            <p:cNvSpPr>
              <a:spLocks/>
            </p:cNvSpPr>
            <p:nvPr/>
          </p:nvSpPr>
          <p:spPr bwMode="auto">
            <a:xfrm>
              <a:off x="3216" y="2850"/>
              <a:ext cx="2544" cy="236"/>
            </a:xfrm>
            <a:prstGeom prst="borderCallout1">
              <a:avLst>
                <a:gd name="adj1" fmla="val -20870"/>
                <a:gd name="adj2" fmla="val 97171"/>
                <a:gd name="adj3" fmla="val -20870"/>
                <a:gd name="adj4" fmla="val -20125"/>
              </a:avLst>
            </a:prstGeom>
            <a:gradFill rotWithShape="0">
              <a:gsLst>
                <a:gs pos="0">
                  <a:srgbClr val="008080"/>
                </a:gs>
                <a:gs pos="100000">
                  <a:srgbClr val="003B3B"/>
                </a:gs>
              </a:gsLst>
              <a:path path="shape">
                <a:fillToRect l="50000" t="50000" r="50000" b="50000"/>
              </a:path>
            </a:gradFill>
            <a:ln w="38100">
              <a:solidFill>
                <a:srgbClr val="FFCC00"/>
              </a:solidFill>
              <a:miter lim="800000"/>
              <a:headEnd/>
              <a:tailEnd/>
            </a:ln>
          </p:spPr>
          <p:txBody>
            <a:bodyPr anchor="ctr">
              <a:spAutoFit/>
            </a:bodyPr>
            <a:lstStyle/>
            <a:p>
              <a:endParaRPr lang="zh-CN" altLang="en-US" sz="1600" b="0" i="0">
                <a:latin typeface="Arial Black" pitchFamily="34" charset="0"/>
              </a:endParaRPr>
            </a:p>
          </p:txBody>
        </p:sp>
        <p:sp>
          <p:nvSpPr>
            <p:cNvPr id="60433" name="Text Box 23"/>
            <p:cNvSpPr txBox="1">
              <a:spLocks noChangeArrowheads="1"/>
            </p:cNvSpPr>
            <p:nvPr/>
          </p:nvSpPr>
          <p:spPr bwMode="auto">
            <a:xfrm>
              <a:off x="3120" y="2781"/>
              <a:ext cx="2640" cy="351"/>
            </a:xfrm>
            <a:prstGeom prst="rect">
              <a:avLst/>
            </a:prstGeom>
            <a:noFill/>
            <a:ln w="38100">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1"/>
                  </a:solidFill>
                  <a:latin typeface="Arial Black" pitchFamily="34" charset="0"/>
                </a:rPr>
                <a:t>计算模型近似解(不稳定)</a:t>
              </a:r>
            </a:p>
          </p:txBody>
        </p:sp>
        <p:sp>
          <p:nvSpPr>
            <p:cNvPr id="60434" name="Line 24"/>
            <p:cNvSpPr>
              <a:spLocks noChangeShapeType="1"/>
            </p:cNvSpPr>
            <p:nvPr/>
          </p:nvSpPr>
          <p:spPr bwMode="auto">
            <a:xfrm>
              <a:off x="2208" y="2928"/>
              <a:ext cx="1008" cy="0"/>
            </a:xfrm>
            <a:prstGeom prst="line">
              <a:avLst/>
            </a:prstGeom>
            <a:noFill/>
            <a:ln w="38100">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7" presetClass="entr" presetSubtype="4" fill="hold" grpId="0" nodeType="afterEffect">
                                  <p:stCondLst>
                                    <p:cond delay="0"/>
                                  </p:stCondLst>
                                  <p:childTnLst>
                                    <p:set>
                                      <p:cBhvr>
                                        <p:cTn id="9" dur="1" fill="hold">
                                          <p:stCondLst>
                                            <p:cond delay="0"/>
                                          </p:stCondLst>
                                        </p:cTn>
                                        <p:tgtEl>
                                          <p:spTgt spid="830471"/>
                                        </p:tgtEl>
                                        <p:attrNameLst>
                                          <p:attrName>style.visibility</p:attrName>
                                        </p:attrNameLst>
                                      </p:cBhvr>
                                      <p:to>
                                        <p:strVal val="visible"/>
                                      </p:to>
                                    </p:set>
                                    <p:anim calcmode="lin" valueType="num">
                                      <p:cBhvr>
                                        <p:cTn id="10" dur="500" fill="hold"/>
                                        <p:tgtEl>
                                          <p:spTgt spid="830471"/>
                                        </p:tgtEl>
                                        <p:attrNameLst>
                                          <p:attrName>ppt_x</p:attrName>
                                        </p:attrNameLst>
                                      </p:cBhvr>
                                      <p:tavLst>
                                        <p:tav tm="0">
                                          <p:val>
                                            <p:strVal val="#ppt_x"/>
                                          </p:val>
                                        </p:tav>
                                        <p:tav tm="100000">
                                          <p:val>
                                            <p:strVal val="#ppt_x"/>
                                          </p:val>
                                        </p:tav>
                                      </p:tavLst>
                                    </p:anim>
                                    <p:anim calcmode="lin" valueType="num">
                                      <p:cBhvr>
                                        <p:cTn id="11" dur="500" fill="hold"/>
                                        <p:tgtEl>
                                          <p:spTgt spid="830471"/>
                                        </p:tgtEl>
                                        <p:attrNameLst>
                                          <p:attrName>ppt_y</p:attrName>
                                        </p:attrNameLst>
                                      </p:cBhvr>
                                      <p:tavLst>
                                        <p:tav tm="0">
                                          <p:val>
                                            <p:strVal val="#ppt_y+#ppt_h/2"/>
                                          </p:val>
                                        </p:tav>
                                        <p:tav tm="100000">
                                          <p:val>
                                            <p:strVal val="#ppt_y"/>
                                          </p:val>
                                        </p:tav>
                                      </p:tavLst>
                                    </p:anim>
                                    <p:anim calcmode="lin" valueType="num">
                                      <p:cBhvr>
                                        <p:cTn id="12" dur="500" fill="hold"/>
                                        <p:tgtEl>
                                          <p:spTgt spid="830471"/>
                                        </p:tgtEl>
                                        <p:attrNameLst>
                                          <p:attrName>ppt_w</p:attrName>
                                        </p:attrNameLst>
                                      </p:cBhvr>
                                      <p:tavLst>
                                        <p:tav tm="0">
                                          <p:val>
                                            <p:strVal val="#ppt_w"/>
                                          </p:val>
                                        </p:tav>
                                        <p:tav tm="100000">
                                          <p:val>
                                            <p:strVal val="#ppt_w"/>
                                          </p:val>
                                        </p:tav>
                                      </p:tavLst>
                                    </p:anim>
                                    <p:anim calcmode="lin" valueType="num">
                                      <p:cBhvr>
                                        <p:cTn id="13" dur="500" fill="hold"/>
                                        <p:tgtEl>
                                          <p:spTgt spid="830471"/>
                                        </p:tgtEl>
                                        <p:attrNameLst>
                                          <p:attrName>ppt_h</p:attrName>
                                        </p:attrNameLst>
                                      </p:cBhvr>
                                      <p:tavLst>
                                        <p:tav tm="0">
                                          <p:val>
                                            <p:fltVal val="0"/>
                                          </p:val>
                                        </p:tav>
                                        <p:tav tm="100000">
                                          <p:val>
                                            <p:strVal val="#ppt_h"/>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4" fill="hold" grpId="0" nodeType="clickEffect">
                                  <p:stCondLst>
                                    <p:cond delay="0"/>
                                  </p:stCondLst>
                                  <p:childTnLst>
                                    <p:set>
                                      <p:cBhvr>
                                        <p:cTn id="22" dur="1" fill="hold">
                                          <p:stCondLst>
                                            <p:cond delay="0"/>
                                          </p:stCondLst>
                                        </p:cTn>
                                        <p:tgtEl>
                                          <p:spTgt spid="830472"/>
                                        </p:tgtEl>
                                        <p:attrNameLst>
                                          <p:attrName>style.visibility</p:attrName>
                                        </p:attrNameLst>
                                      </p:cBhvr>
                                      <p:to>
                                        <p:strVal val="visible"/>
                                      </p:to>
                                    </p:set>
                                    <p:anim calcmode="lin" valueType="num">
                                      <p:cBhvr>
                                        <p:cTn id="23" dur="500" fill="hold"/>
                                        <p:tgtEl>
                                          <p:spTgt spid="830472"/>
                                        </p:tgtEl>
                                        <p:attrNameLst>
                                          <p:attrName>ppt_x</p:attrName>
                                        </p:attrNameLst>
                                      </p:cBhvr>
                                      <p:tavLst>
                                        <p:tav tm="0">
                                          <p:val>
                                            <p:strVal val="#ppt_x"/>
                                          </p:val>
                                        </p:tav>
                                        <p:tav tm="100000">
                                          <p:val>
                                            <p:strVal val="#ppt_x"/>
                                          </p:val>
                                        </p:tav>
                                      </p:tavLst>
                                    </p:anim>
                                    <p:anim calcmode="lin" valueType="num">
                                      <p:cBhvr>
                                        <p:cTn id="24" dur="500" fill="hold"/>
                                        <p:tgtEl>
                                          <p:spTgt spid="830472"/>
                                        </p:tgtEl>
                                        <p:attrNameLst>
                                          <p:attrName>ppt_y</p:attrName>
                                        </p:attrNameLst>
                                      </p:cBhvr>
                                      <p:tavLst>
                                        <p:tav tm="0">
                                          <p:val>
                                            <p:strVal val="#ppt_y+#ppt_h/2"/>
                                          </p:val>
                                        </p:tav>
                                        <p:tav tm="100000">
                                          <p:val>
                                            <p:strVal val="#ppt_y"/>
                                          </p:val>
                                        </p:tav>
                                      </p:tavLst>
                                    </p:anim>
                                    <p:anim calcmode="lin" valueType="num">
                                      <p:cBhvr>
                                        <p:cTn id="25" dur="500" fill="hold"/>
                                        <p:tgtEl>
                                          <p:spTgt spid="830472"/>
                                        </p:tgtEl>
                                        <p:attrNameLst>
                                          <p:attrName>ppt_w</p:attrName>
                                        </p:attrNameLst>
                                      </p:cBhvr>
                                      <p:tavLst>
                                        <p:tav tm="0">
                                          <p:val>
                                            <p:strVal val="#ppt_w"/>
                                          </p:val>
                                        </p:tav>
                                        <p:tav tm="100000">
                                          <p:val>
                                            <p:strVal val="#ppt_w"/>
                                          </p:val>
                                        </p:tav>
                                      </p:tavLst>
                                    </p:anim>
                                    <p:anim calcmode="lin" valueType="num">
                                      <p:cBhvr>
                                        <p:cTn id="26" dur="500" fill="hold"/>
                                        <p:tgtEl>
                                          <p:spTgt spid="830472"/>
                                        </p:tgtEl>
                                        <p:attrNameLst>
                                          <p:attrName>ppt_h</p:attrName>
                                        </p:attrNameLst>
                                      </p:cBhvr>
                                      <p:tavLst>
                                        <p:tav tm="0">
                                          <p:val>
                                            <p:fltVal val="0"/>
                                          </p:val>
                                        </p:tav>
                                        <p:tav tm="100000">
                                          <p:val>
                                            <p:strVal val="#ppt_h"/>
                                          </p:val>
                                        </p:tav>
                                      </p:tavLst>
                                    </p:anim>
                                  </p:childTnLst>
                                </p:cTn>
                              </p:par>
                            </p:childTnLst>
                          </p:cTn>
                        </p:par>
                        <p:par>
                          <p:cTn id="27" fill="hold" nodeType="afterGroup">
                            <p:stCondLst>
                              <p:cond delay="500"/>
                            </p:stCondLst>
                            <p:childTnLst>
                              <p:par>
                                <p:cTn id="28" presetID="2" presetClass="entr" presetSubtype="8"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0-#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4" fill="hold" grpId="0" nodeType="clickEffect">
                                  <p:stCondLst>
                                    <p:cond delay="0"/>
                                  </p:stCondLst>
                                  <p:childTnLst>
                                    <p:set>
                                      <p:cBhvr>
                                        <p:cTn id="35" dur="1" fill="hold">
                                          <p:stCondLst>
                                            <p:cond delay="0"/>
                                          </p:stCondLst>
                                        </p:cTn>
                                        <p:tgtEl>
                                          <p:spTgt spid="830473"/>
                                        </p:tgtEl>
                                        <p:attrNameLst>
                                          <p:attrName>style.visibility</p:attrName>
                                        </p:attrNameLst>
                                      </p:cBhvr>
                                      <p:to>
                                        <p:strVal val="visible"/>
                                      </p:to>
                                    </p:set>
                                    <p:anim calcmode="lin" valueType="num">
                                      <p:cBhvr>
                                        <p:cTn id="36" dur="500" fill="hold"/>
                                        <p:tgtEl>
                                          <p:spTgt spid="830473"/>
                                        </p:tgtEl>
                                        <p:attrNameLst>
                                          <p:attrName>ppt_x</p:attrName>
                                        </p:attrNameLst>
                                      </p:cBhvr>
                                      <p:tavLst>
                                        <p:tav tm="0">
                                          <p:val>
                                            <p:strVal val="#ppt_x"/>
                                          </p:val>
                                        </p:tav>
                                        <p:tav tm="100000">
                                          <p:val>
                                            <p:strVal val="#ppt_x"/>
                                          </p:val>
                                        </p:tav>
                                      </p:tavLst>
                                    </p:anim>
                                    <p:anim calcmode="lin" valueType="num">
                                      <p:cBhvr>
                                        <p:cTn id="37" dur="500" fill="hold"/>
                                        <p:tgtEl>
                                          <p:spTgt spid="830473"/>
                                        </p:tgtEl>
                                        <p:attrNameLst>
                                          <p:attrName>ppt_y</p:attrName>
                                        </p:attrNameLst>
                                      </p:cBhvr>
                                      <p:tavLst>
                                        <p:tav tm="0">
                                          <p:val>
                                            <p:strVal val="#ppt_y+#ppt_h/2"/>
                                          </p:val>
                                        </p:tav>
                                        <p:tav tm="100000">
                                          <p:val>
                                            <p:strVal val="#ppt_y"/>
                                          </p:val>
                                        </p:tav>
                                      </p:tavLst>
                                    </p:anim>
                                    <p:anim calcmode="lin" valueType="num">
                                      <p:cBhvr>
                                        <p:cTn id="38" dur="500" fill="hold"/>
                                        <p:tgtEl>
                                          <p:spTgt spid="830473"/>
                                        </p:tgtEl>
                                        <p:attrNameLst>
                                          <p:attrName>ppt_w</p:attrName>
                                        </p:attrNameLst>
                                      </p:cBhvr>
                                      <p:tavLst>
                                        <p:tav tm="0">
                                          <p:val>
                                            <p:strVal val="#ppt_w"/>
                                          </p:val>
                                        </p:tav>
                                        <p:tav tm="100000">
                                          <p:val>
                                            <p:strVal val="#ppt_w"/>
                                          </p:val>
                                        </p:tav>
                                      </p:tavLst>
                                    </p:anim>
                                    <p:anim calcmode="lin" valueType="num">
                                      <p:cBhvr>
                                        <p:cTn id="39" dur="500" fill="hold"/>
                                        <p:tgtEl>
                                          <p:spTgt spid="830473"/>
                                        </p:tgtEl>
                                        <p:attrNameLst>
                                          <p:attrName>ppt_h</p:attrName>
                                        </p:attrNameLst>
                                      </p:cBhvr>
                                      <p:tavLst>
                                        <p:tav tm="0">
                                          <p:val>
                                            <p:fltVal val="0"/>
                                          </p:val>
                                        </p:tav>
                                        <p:tav tm="100000">
                                          <p:val>
                                            <p:strVal val="#ppt_h"/>
                                          </p:val>
                                        </p:tav>
                                      </p:tavLst>
                                    </p:anim>
                                  </p:childTnLst>
                                </p:cTn>
                              </p:par>
                            </p:childTnLst>
                          </p:cTn>
                        </p:par>
                        <p:par>
                          <p:cTn id="40" fill="hold" nodeType="afterGroup">
                            <p:stCondLst>
                              <p:cond delay="500"/>
                            </p:stCondLst>
                            <p:childTnLst>
                              <p:par>
                                <p:cTn id="41" presetID="2" presetClass="entr" presetSubtype="8"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0-#ppt_w/2"/>
                                          </p:val>
                                        </p:tav>
                                        <p:tav tm="100000">
                                          <p:val>
                                            <p:strVal val="#ppt_x"/>
                                          </p:val>
                                        </p:tav>
                                      </p:tavLst>
                                    </p:anim>
                                    <p:anim calcmode="lin" valueType="num">
                                      <p:cBhvr additive="base">
                                        <p:cTn id="4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grpId="0" nodeType="clickEffect">
                                  <p:stCondLst>
                                    <p:cond delay="0"/>
                                  </p:stCondLst>
                                  <p:childTnLst>
                                    <p:set>
                                      <p:cBhvr>
                                        <p:cTn id="48" dur="1" fill="hold">
                                          <p:stCondLst>
                                            <p:cond delay="0"/>
                                          </p:stCondLst>
                                        </p:cTn>
                                        <p:tgtEl>
                                          <p:spTgt spid="830474"/>
                                        </p:tgtEl>
                                        <p:attrNameLst>
                                          <p:attrName>style.visibility</p:attrName>
                                        </p:attrNameLst>
                                      </p:cBhvr>
                                      <p:to>
                                        <p:strVal val="visible"/>
                                      </p:to>
                                    </p:set>
                                    <p:anim calcmode="lin" valueType="num">
                                      <p:cBhvr>
                                        <p:cTn id="49" dur="500" fill="hold"/>
                                        <p:tgtEl>
                                          <p:spTgt spid="830474"/>
                                        </p:tgtEl>
                                        <p:attrNameLst>
                                          <p:attrName>ppt_x</p:attrName>
                                        </p:attrNameLst>
                                      </p:cBhvr>
                                      <p:tavLst>
                                        <p:tav tm="0">
                                          <p:val>
                                            <p:strVal val="#ppt_x"/>
                                          </p:val>
                                        </p:tav>
                                        <p:tav tm="100000">
                                          <p:val>
                                            <p:strVal val="#ppt_x"/>
                                          </p:val>
                                        </p:tav>
                                      </p:tavLst>
                                    </p:anim>
                                    <p:anim calcmode="lin" valueType="num">
                                      <p:cBhvr>
                                        <p:cTn id="50" dur="500" fill="hold"/>
                                        <p:tgtEl>
                                          <p:spTgt spid="830474"/>
                                        </p:tgtEl>
                                        <p:attrNameLst>
                                          <p:attrName>ppt_y</p:attrName>
                                        </p:attrNameLst>
                                      </p:cBhvr>
                                      <p:tavLst>
                                        <p:tav tm="0">
                                          <p:val>
                                            <p:strVal val="#ppt_y+#ppt_h/2"/>
                                          </p:val>
                                        </p:tav>
                                        <p:tav tm="100000">
                                          <p:val>
                                            <p:strVal val="#ppt_y"/>
                                          </p:val>
                                        </p:tav>
                                      </p:tavLst>
                                    </p:anim>
                                    <p:anim calcmode="lin" valueType="num">
                                      <p:cBhvr>
                                        <p:cTn id="51" dur="500" fill="hold"/>
                                        <p:tgtEl>
                                          <p:spTgt spid="830474"/>
                                        </p:tgtEl>
                                        <p:attrNameLst>
                                          <p:attrName>ppt_w</p:attrName>
                                        </p:attrNameLst>
                                      </p:cBhvr>
                                      <p:tavLst>
                                        <p:tav tm="0">
                                          <p:val>
                                            <p:strVal val="#ppt_w"/>
                                          </p:val>
                                        </p:tav>
                                        <p:tav tm="100000">
                                          <p:val>
                                            <p:strVal val="#ppt_w"/>
                                          </p:val>
                                        </p:tav>
                                      </p:tavLst>
                                    </p:anim>
                                    <p:anim calcmode="lin" valueType="num">
                                      <p:cBhvr>
                                        <p:cTn id="52" dur="500" fill="hold"/>
                                        <p:tgtEl>
                                          <p:spTgt spid="830474"/>
                                        </p:tgtEl>
                                        <p:attrNameLst>
                                          <p:attrName>ppt_h</p:attrName>
                                        </p:attrNameLst>
                                      </p:cBhvr>
                                      <p:tavLst>
                                        <p:tav tm="0">
                                          <p:val>
                                            <p:fltVal val="0"/>
                                          </p:val>
                                        </p:tav>
                                        <p:tav tm="100000">
                                          <p:val>
                                            <p:strVal val="#ppt_h"/>
                                          </p:val>
                                        </p:tav>
                                      </p:tavLst>
                                    </p:anim>
                                  </p:childTnLst>
                                </p:cTn>
                              </p:par>
                            </p:childTnLst>
                          </p:cTn>
                        </p:par>
                        <p:par>
                          <p:cTn id="53" fill="hold" nodeType="afterGroup">
                            <p:stCondLst>
                              <p:cond delay="500"/>
                            </p:stCondLst>
                            <p:childTnLst>
                              <p:par>
                                <p:cTn id="54" presetID="17" presetClass="entr" presetSubtype="4" fill="hold" grpId="0" nodeType="afterEffect">
                                  <p:stCondLst>
                                    <p:cond delay="0"/>
                                  </p:stCondLst>
                                  <p:childTnLst>
                                    <p:set>
                                      <p:cBhvr>
                                        <p:cTn id="55" dur="1" fill="hold">
                                          <p:stCondLst>
                                            <p:cond delay="0"/>
                                          </p:stCondLst>
                                        </p:cTn>
                                        <p:tgtEl>
                                          <p:spTgt spid="830475"/>
                                        </p:tgtEl>
                                        <p:attrNameLst>
                                          <p:attrName>style.visibility</p:attrName>
                                        </p:attrNameLst>
                                      </p:cBhvr>
                                      <p:to>
                                        <p:strVal val="visible"/>
                                      </p:to>
                                    </p:set>
                                    <p:anim calcmode="lin" valueType="num">
                                      <p:cBhvr>
                                        <p:cTn id="56" dur="500" fill="hold"/>
                                        <p:tgtEl>
                                          <p:spTgt spid="830475"/>
                                        </p:tgtEl>
                                        <p:attrNameLst>
                                          <p:attrName>ppt_x</p:attrName>
                                        </p:attrNameLst>
                                      </p:cBhvr>
                                      <p:tavLst>
                                        <p:tav tm="0">
                                          <p:val>
                                            <p:strVal val="#ppt_x"/>
                                          </p:val>
                                        </p:tav>
                                        <p:tav tm="100000">
                                          <p:val>
                                            <p:strVal val="#ppt_x"/>
                                          </p:val>
                                        </p:tav>
                                      </p:tavLst>
                                    </p:anim>
                                    <p:anim calcmode="lin" valueType="num">
                                      <p:cBhvr>
                                        <p:cTn id="57" dur="500" fill="hold"/>
                                        <p:tgtEl>
                                          <p:spTgt spid="830475"/>
                                        </p:tgtEl>
                                        <p:attrNameLst>
                                          <p:attrName>ppt_y</p:attrName>
                                        </p:attrNameLst>
                                      </p:cBhvr>
                                      <p:tavLst>
                                        <p:tav tm="0">
                                          <p:val>
                                            <p:strVal val="#ppt_y+#ppt_h/2"/>
                                          </p:val>
                                        </p:tav>
                                        <p:tav tm="100000">
                                          <p:val>
                                            <p:strVal val="#ppt_y"/>
                                          </p:val>
                                        </p:tav>
                                      </p:tavLst>
                                    </p:anim>
                                    <p:anim calcmode="lin" valueType="num">
                                      <p:cBhvr>
                                        <p:cTn id="58" dur="500" fill="hold"/>
                                        <p:tgtEl>
                                          <p:spTgt spid="830475"/>
                                        </p:tgtEl>
                                        <p:attrNameLst>
                                          <p:attrName>ppt_w</p:attrName>
                                        </p:attrNameLst>
                                      </p:cBhvr>
                                      <p:tavLst>
                                        <p:tav tm="0">
                                          <p:val>
                                            <p:strVal val="#ppt_w"/>
                                          </p:val>
                                        </p:tav>
                                        <p:tav tm="100000">
                                          <p:val>
                                            <p:strVal val="#ppt_w"/>
                                          </p:val>
                                        </p:tav>
                                      </p:tavLst>
                                    </p:anim>
                                    <p:anim calcmode="lin" valueType="num">
                                      <p:cBhvr>
                                        <p:cTn id="59" dur="500" fill="hold"/>
                                        <p:tgtEl>
                                          <p:spTgt spid="830475"/>
                                        </p:tgtEl>
                                        <p:attrNameLst>
                                          <p:attrName>ppt_h</p:attrName>
                                        </p:attrNameLst>
                                      </p:cBhvr>
                                      <p:tavLst>
                                        <p:tav tm="0">
                                          <p:val>
                                            <p:fltVal val="0"/>
                                          </p:val>
                                        </p:tav>
                                        <p:tav tm="100000">
                                          <p:val>
                                            <p:strVal val="#ppt_h"/>
                                          </p:val>
                                        </p:tav>
                                      </p:tavLst>
                                    </p:anim>
                                  </p:childTnLst>
                                </p:cTn>
                              </p:par>
                            </p:childTnLst>
                          </p:cTn>
                        </p:par>
                        <p:par>
                          <p:cTn id="60" fill="hold" nodeType="afterGroup">
                            <p:stCondLst>
                              <p:cond delay="1000"/>
                            </p:stCondLst>
                            <p:childTnLst>
                              <p:par>
                                <p:cTn id="61" presetID="2" presetClass="entr" presetSubtype="8" fill="hold" nodeType="after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additive="base">
                                        <p:cTn id="63" dur="500" fill="hold"/>
                                        <p:tgtEl>
                                          <p:spTgt spid="6"/>
                                        </p:tgtEl>
                                        <p:attrNameLst>
                                          <p:attrName>ppt_x</p:attrName>
                                        </p:attrNameLst>
                                      </p:cBhvr>
                                      <p:tavLst>
                                        <p:tav tm="0">
                                          <p:val>
                                            <p:strVal val="0-#ppt_w/2"/>
                                          </p:val>
                                        </p:tav>
                                        <p:tav tm="100000">
                                          <p:val>
                                            <p:strVal val="#ppt_x"/>
                                          </p:val>
                                        </p:tav>
                                      </p:tavLst>
                                    </p:anim>
                                    <p:anim calcmode="lin" valueType="num">
                                      <p:cBhvr additive="base">
                                        <p:cTn id="6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471" grpId="0" animBg="1"/>
      <p:bldP spid="830472" grpId="0" animBg="1"/>
      <p:bldP spid="830473" grpId="0" animBg="1"/>
      <p:bldP spid="830474" grpId="0" animBg="1"/>
      <p:bldP spid="83047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B470238-54FF-462D-8623-5B200A4E3534}" type="slidenum">
              <a:rPr lang="zh-CN" altLang="en-US" i="0" smtClean="0"/>
              <a:pPr/>
              <a:t>63</a:t>
            </a:fld>
            <a:endParaRPr lang="en-US" altLang="zh-CN" i="0" smtClean="0"/>
          </a:p>
        </p:txBody>
      </p:sp>
      <p:sp>
        <p:nvSpPr>
          <p:cNvPr id="6144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0E46250-E1A3-451A-AF49-CE68AF07FA6E}" type="datetime1">
              <a:rPr lang="zh-CN" altLang="en-US" sz="1800" i="0" smtClean="0"/>
              <a:pPr/>
              <a:t>2024/9/8</a:t>
            </a:fld>
            <a:endParaRPr lang="en-US" altLang="zh-CN" sz="1000" i="0" smtClean="0"/>
          </a:p>
        </p:txBody>
      </p:sp>
      <p:sp>
        <p:nvSpPr>
          <p:cNvPr id="832514" name="Rectangle 2"/>
          <p:cNvSpPr>
            <a:spLocks noGrp="1" noChangeArrowheads="1"/>
          </p:cNvSpPr>
          <p:nvPr>
            <p:ph type="title"/>
          </p:nvPr>
        </p:nvSpPr>
        <p:spPr/>
        <p:txBody>
          <a:bodyPr/>
          <a:lstStyle/>
          <a:p>
            <a:pPr>
              <a:defRPr/>
            </a:pPr>
            <a:r>
              <a:rPr lang="zh-CN" altLang="zh-CN" smtClean="0"/>
              <a:t>5.</a:t>
            </a:r>
            <a:r>
              <a:rPr lang="zh-CN" altLang="en-US" smtClean="0"/>
              <a:t>3</a:t>
            </a:r>
            <a:r>
              <a:rPr lang="zh-CN" altLang="zh-CN" smtClean="0"/>
              <a:t>  数学问题的适定性</a:t>
            </a:r>
            <a:endParaRPr lang="zh-CN" altLang="en-US" smtClean="0"/>
          </a:p>
        </p:txBody>
      </p:sp>
      <p:sp>
        <p:nvSpPr>
          <p:cNvPr id="61445" name="Rectangle 3"/>
          <p:cNvSpPr>
            <a:spLocks noGrp="1" noChangeArrowheads="1"/>
          </p:cNvSpPr>
          <p:nvPr>
            <p:ph type="body" idx="1"/>
          </p:nvPr>
        </p:nvSpPr>
        <p:spPr>
          <a:xfrm>
            <a:off x="650875" y="1143000"/>
            <a:ext cx="8820150" cy="438150"/>
          </a:xfrm>
        </p:spPr>
        <p:txBody>
          <a:bodyPr/>
          <a:lstStyle/>
          <a:p>
            <a:r>
              <a:rPr lang="zh-CN" altLang="en-US" sz="3200" smtClean="0"/>
              <a:t>参数模型是病态的曲线图</a:t>
            </a:r>
          </a:p>
        </p:txBody>
      </p:sp>
      <p:grpSp>
        <p:nvGrpSpPr>
          <p:cNvPr id="2" name="Group 4"/>
          <p:cNvGrpSpPr>
            <a:grpSpLocks/>
          </p:cNvGrpSpPr>
          <p:nvPr/>
        </p:nvGrpSpPr>
        <p:grpSpPr bwMode="auto">
          <a:xfrm>
            <a:off x="825500" y="2362200"/>
            <a:ext cx="5943600" cy="3581400"/>
            <a:chOff x="672" y="1776"/>
            <a:chExt cx="3456" cy="2256"/>
          </a:xfrm>
        </p:grpSpPr>
        <p:sp>
          <p:nvSpPr>
            <p:cNvPr id="61470" name="Line 5"/>
            <p:cNvSpPr>
              <a:spLocks noChangeShapeType="1"/>
            </p:cNvSpPr>
            <p:nvPr/>
          </p:nvSpPr>
          <p:spPr bwMode="auto">
            <a:xfrm>
              <a:off x="672" y="1776"/>
              <a:ext cx="0" cy="22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1" name="Line 6"/>
            <p:cNvSpPr>
              <a:spLocks noChangeShapeType="1"/>
            </p:cNvSpPr>
            <p:nvPr/>
          </p:nvSpPr>
          <p:spPr bwMode="auto">
            <a:xfrm flipV="1">
              <a:off x="672" y="4032"/>
              <a:ext cx="3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32519" name="Freeform 7"/>
          <p:cNvSpPr>
            <a:spLocks/>
          </p:cNvSpPr>
          <p:nvPr/>
        </p:nvSpPr>
        <p:spPr bwMode="auto">
          <a:xfrm>
            <a:off x="1238250" y="2273300"/>
            <a:ext cx="2944813" cy="3136900"/>
          </a:xfrm>
          <a:custGeom>
            <a:avLst/>
            <a:gdLst>
              <a:gd name="T0" fmla="*/ 0 w 1712"/>
              <a:gd name="T1" fmla="*/ 2147483647 h 1976"/>
              <a:gd name="T2" fmla="*/ 2147483647 w 1712"/>
              <a:gd name="T3" fmla="*/ 2147483647 h 1976"/>
              <a:gd name="T4" fmla="*/ 2147483647 w 1712"/>
              <a:gd name="T5" fmla="*/ 504031250 h 1976"/>
              <a:gd name="T6" fmla="*/ 2147483647 w 1712"/>
              <a:gd name="T7" fmla="*/ 141128750 h 1976"/>
              <a:gd name="T8" fmla="*/ 0 60000 65536"/>
              <a:gd name="T9" fmla="*/ 0 60000 65536"/>
              <a:gd name="T10" fmla="*/ 0 60000 65536"/>
              <a:gd name="T11" fmla="*/ 0 60000 65536"/>
              <a:gd name="T12" fmla="*/ 0 w 1712"/>
              <a:gd name="T13" fmla="*/ 0 h 1976"/>
              <a:gd name="T14" fmla="*/ 1712 w 1712"/>
              <a:gd name="T15" fmla="*/ 1976 h 1976"/>
            </a:gdLst>
            <a:ahLst/>
            <a:cxnLst>
              <a:cxn ang="T8">
                <a:pos x="T0" y="T1"/>
              </a:cxn>
              <a:cxn ang="T9">
                <a:pos x="T2" y="T3"/>
              </a:cxn>
              <a:cxn ang="T10">
                <a:pos x="T4" y="T5"/>
              </a:cxn>
              <a:cxn ang="T11">
                <a:pos x="T6" y="T7"/>
              </a:cxn>
            </a:cxnLst>
            <a:rect l="T12" t="T13" r="T14" b="T15"/>
            <a:pathLst>
              <a:path w="1712" h="1976">
                <a:moveTo>
                  <a:pt x="0" y="1976"/>
                </a:moveTo>
                <a:cubicBezTo>
                  <a:pt x="464" y="1764"/>
                  <a:pt x="928" y="1552"/>
                  <a:pt x="1200" y="1256"/>
                </a:cubicBezTo>
                <a:cubicBezTo>
                  <a:pt x="1472" y="960"/>
                  <a:pt x="1552" y="400"/>
                  <a:pt x="1632" y="200"/>
                </a:cubicBezTo>
                <a:cubicBezTo>
                  <a:pt x="1712" y="0"/>
                  <a:pt x="1696" y="28"/>
                  <a:pt x="1680" y="56"/>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2520" name="Freeform 8"/>
          <p:cNvSpPr>
            <a:spLocks/>
          </p:cNvSpPr>
          <p:nvPr/>
        </p:nvSpPr>
        <p:spPr bwMode="auto">
          <a:xfrm>
            <a:off x="1238250" y="2819400"/>
            <a:ext cx="3797300" cy="2667000"/>
          </a:xfrm>
          <a:custGeom>
            <a:avLst/>
            <a:gdLst>
              <a:gd name="T0" fmla="*/ 0 w 1776"/>
              <a:gd name="T1" fmla="*/ 2147483647 h 1920"/>
              <a:gd name="T2" fmla="*/ 2147483647 w 1776"/>
              <a:gd name="T3" fmla="*/ 2147483647 h 1920"/>
              <a:gd name="T4" fmla="*/ 2147483647 w 1776"/>
              <a:gd name="T5" fmla="*/ 1018773164 h 1920"/>
              <a:gd name="T6" fmla="*/ 2147483647 w 1776"/>
              <a:gd name="T7" fmla="*/ 0 h 1920"/>
              <a:gd name="T8" fmla="*/ 0 60000 65536"/>
              <a:gd name="T9" fmla="*/ 0 60000 65536"/>
              <a:gd name="T10" fmla="*/ 0 60000 65536"/>
              <a:gd name="T11" fmla="*/ 0 60000 65536"/>
              <a:gd name="T12" fmla="*/ 0 w 1776"/>
              <a:gd name="T13" fmla="*/ 0 h 1920"/>
              <a:gd name="T14" fmla="*/ 1776 w 1776"/>
              <a:gd name="T15" fmla="*/ 1920 h 1920"/>
            </a:gdLst>
            <a:ahLst/>
            <a:cxnLst>
              <a:cxn ang="T8">
                <a:pos x="T0" y="T1"/>
              </a:cxn>
              <a:cxn ang="T9">
                <a:pos x="T2" y="T3"/>
              </a:cxn>
              <a:cxn ang="T10">
                <a:pos x="T4" y="T5"/>
              </a:cxn>
              <a:cxn ang="T11">
                <a:pos x="T6" y="T7"/>
              </a:cxn>
            </a:cxnLst>
            <a:rect l="T12" t="T13" r="T14" b="T15"/>
            <a:pathLst>
              <a:path w="1776" h="1920">
                <a:moveTo>
                  <a:pt x="0" y="1920"/>
                </a:moveTo>
                <a:cubicBezTo>
                  <a:pt x="392" y="1796"/>
                  <a:pt x="784" y="1672"/>
                  <a:pt x="1056" y="1440"/>
                </a:cubicBezTo>
                <a:cubicBezTo>
                  <a:pt x="1328" y="1208"/>
                  <a:pt x="1512" y="768"/>
                  <a:pt x="1632" y="528"/>
                </a:cubicBezTo>
                <a:cubicBezTo>
                  <a:pt x="1752" y="288"/>
                  <a:pt x="1752" y="88"/>
                  <a:pt x="1776" y="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2521" name="Freeform 9"/>
          <p:cNvSpPr>
            <a:spLocks/>
          </p:cNvSpPr>
          <p:nvPr/>
        </p:nvSpPr>
        <p:spPr bwMode="auto">
          <a:xfrm>
            <a:off x="1238250" y="2743200"/>
            <a:ext cx="3879850" cy="2819400"/>
          </a:xfrm>
          <a:custGeom>
            <a:avLst/>
            <a:gdLst>
              <a:gd name="T0" fmla="*/ 0 w 1824"/>
              <a:gd name="T1" fmla="*/ 2147483647 h 1968"/>
              <a:gd name="T2" fmla="*/ 2147483647 w 1824"/>
              <a:gd name="T3" fmla="*/ 2147483647 h 1968"/>
              <a:gd name="T4" fmla="*/ 2147483647 w 1824"/>
              <a:gd name="T5" fmla="*/ 1280700989 h 1968"/>
              <a:gd name="T6" fmla="*/ 2147483647 w 1824"/>
              <a:gd name="T7" fmla="*/ 0 h 1968"/>
              <a:gd name="T8" fmla="*/ 0 60000 65536"/>
              <a:gd name="T9" fmla="*/ 0 60000 65536"/>
              <a:gd name="T10" fmla="*/ 0 60000 65536"/>
              <a:gd name="T11" fmla="*/ 0 60000 65536"/>
              <a:gd name="T12" fmla="*/ 0 w 1824"/>
              <a:gd name="T13" fmla="*/ 0 h 1968"/>
              <a:gd name="T14" fmla="*/ 1824 w 1824"/>
              <a:gd name="T15" fmla="*/ 1968 h 1968"/>
            </a:gdLst>
            <a:ahLst/>
            <a:cxnLst>
              <a:cxn ang="T8">
                <a:pos x="T0" y="T1"/>
              </a:cxn>
              <a:cxn ang="T9">
                <a:pos x="T2" y="T3"/>
              </a:cxn>
              <a:cxn ang="T10">
                <a:pos x="T4" y="T5"/>
              </a:cxn>
              <a:cxn ang="T11">
                <a:pos x="T6" y="T7"/>
              </a:cxn>
            </a:cxnLst>
            <a:rect l="T12" t="T13" r="T14" b="T15"/>
            <a:pathLst>
              <a:path w="1824" h="1968">
                <a:moveTo>
                  <a:pt x="0" y="1968"/>
                </a:moveTo>
                <a:cubicBezTo>
                  <a:pt x="364" y="1912"/>
                  <a:pt x="728" y="1856"/>
                  <a:pt x="1008" y="1632"/>
                </a:cubicBezTo>
                <a:cubicBezTo>
                  <a:pt x="1288" y="1408"/>
                  <a:pt x="1544" y="896"/>
                  <a:pt x="1680" y="624"/>
                </a:cubicBezTo>
                <a:cubicBezTo>
                  <a:pt x="1816" y="352"/>
                  <a:pt x="1800" y="104"/>
                  <a:pt x="1824" y="0"/>
                </a:cubicBezTo>
              </a:path>
            </a:pathLst>
          </a:custGeom>
          <a:noFill/>
          <a:ln w="38100">
            <a:solidFill>
              <a:srgbClr val="99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2522" name="Freeform 10"/>
          <p:cNvSpPr>
            <a:spLocks/>
          </p:cNvSpPr>
          <p:nvPr/>
        </p:nvSpPr>
        <p:spPr bwMode="auto">
          <a:xfrm>
            <a:off x="1238250" y="4572000"/>
            <a:ext cx="4044950" cy="1066800"/>
          </a:xfrm>
          <a:custGeom>
            <a:avLst/>
            <a:gdLst>
              <a:gd name="T0" fmla="*/ 0 w 2112"/>
              <a:gd name="T1" fmla="*/ 987901250 h 1152"/>
              <a:gd name="T2" fmla="*/ 2147483647 w 2112"/>
              <a:gd name="T3" fmla="*/ 699763385 h 1152"/>
              <a:gd name="T4" fmla="*/ 2147483647 w 2112"/>
              <a:gd name="T5" fmla="*/ 493950625 h 1152"/>
              <a:gd name="T6" fmla="*/ 2147483647 w 2112"/>
              <a:gd name="T7" fmla="*/ 164650208 h 1152"/>
              <a:gd name="T8" fmla="*/ 2147483647 w 2112"/>
              <a:gd name="T9" fmla="*/ 0 h 1152"/>
              <a:gd name="T10" fmla="*/ 0 60000 65536"/>
              <a:gd name="T11" fmla="*/ 0 60000 65536"/>
              <a:gd name="T12" fmla="*/ 0 60000 65536"/>
              <a:gd name="T13" fmla="*/ 0 60000 65536"/>
              <a:gd name="T14" fmla="*/ 0 60000 65536"/>
              <a:gd name="T15" fmla="*/ 0 w 2112"/>
              <a:gd name="T16" fmla="*/ 0 h 1152"/>
              <a:gd name="T17" fmla="*/ 2112 w 2112"/>
              <a:gd name="T18" fmla="*/ 1152 h 1152"/>
            </a:gdLst>
            <a:ahLst/>
            <a:cxnLst>
              <a:cxn ang="T10">
                <a:pos x="T0" y="T1"/>
              </a:cxn>
              <a:cxn ang="T11">
                <a:pos x="T2" y="T3"/>
              </a:cxn>
              <a:cxn ang="T12">
                <a:pos x="T4" y="T5"/>
              </a:cxn>
              <a:cxn ang="T13">
                <a:pos x="T6" y="T7"/>
              </a:cxn>
              <a:cxn ang="T14">
                <a:pos x="T8" y="T9"/>
              </a:cxn>
            </a:cxnLst>
            <a:rect l="T15" t="T16" r="T17" b="T18"/>
            <a:pathLst>
              <a:path w="2112" h="1152">
                <a:moveTo>
                  <a:pt x="0" y="1152"/>
                </a:moveTo>
                <a:cubicBezTo>
                  <a:pt x="336" y="1032"/>
                  <a:pt x="672" y="912"/>
                  <a:pt x="864" y="816"/>
                </a:cubicBezTo>
                <a:cubicBezTo>
                  <a:pt x="1056" y="720"/>
                  <a:pt x="1024" y="680"/>
                  <a:pt x="1152" y="576"/>
                </a:cubicBezTo>
                <a:cubicBezTo>
                  <a:pt x="1280" y="472"/>
                  <a:pt x="1472" y="288"/>
                  <a:pt x="1632" y="192"/>
                </a:cubicBezTo>
                <a:cubicBezTo>
                  <a:pt x="1792" y="96"/>
                  <a:pt x="1952" y="48"/>
                  <a:pt x="2112" y="0"/>
                </a:cubicBezTo>
              </a:path>
            </a:pathLst>
          </a:custGeom>
          <a:noFill/>
          <a:ln w="381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2523" name="Freeform 11"/>
          <p:cNvSpPr>
            <a:spLocks/>
          </p:cNvSpPr>
          <p:nvPr/>
        </p:nvSpPr>
        <p:spPr bwMode="auto">
          <a:xfrm>
            <a:off x="1238250" y="3048000"/>
            <a:ext cx="2476500" cy="2590800"/>
          </a:xfrm>
          <a:custGeom>
            <a:avLst/>
            <a:gdLst>
              <a:gd name="T0" fmla="*/ 0 w 1296"/>
              <a:gd name="T1" fmla="*/ 2147483647 h 1736"/>
              <a:gd name="T2" fmla="*/ 2147483647 w 1296"/>
              <a:gd name="T3" fmla="*/ 2147483647 h 1736"/>
              <a:gd name="T4" fmla="*/ 2147483647 w 1296"/>
              <a:gd name="T5" fmla="*/ 2049067600 h 1736"/>
              <a:gd name="T6" fmla="*/ 2147483647 w 1296"/>
              <a:gd name="T7" fmla="*/ 338541149 h 1736"/>
              <a:gd name="T8" fmla="*/ 2147483647 w 1296"/>
              <a:gd name="T9" fmla="*/ 17817720 h 1736"/>
              <a:gd name="T10" fmla="*/ 0 60000 65536"/>
              <a:gd name="T11" fmla="*/ 0 60000 65536"/>
              <a:gd name="T12" fmla="*/ 0 60000 65536"/>
              <a:gd name="T13" fmla="*/ 0 60000 65536"/>
              <a:gd name="T14" fmla="*/ 0 60000 65536"/>
              <a:gd name="T15" fmla="*/ 0 w 1296"/>
              <a:gd name="T16" fmla="*/ 0 h 1736"/>
              <a:gd name="T17" fmla="*/ 1296 w 1296"/>
              <a:gd name="T18" fmla="*/ 1736 h 1736"/>
            </a:gdLst>
            <a:ahLst/>
            <a:cxnLst>
              <a:cxn ang="T10">
                <a:pos x="T0" y="T1"/>
              </a:cxn>
              <a:cxn ang="T11">
                <a:pos x="T2" y="T3"/>
              </a:cxn>
              <a:cxn ang="T12">
                <a:pos x="T4" y="T5"/>
              </a:cxn>
              <a:cxn ang="T13">
                <a:pos x="T6" y="T7"/>
              </a:cxn>
              <a:cxn ang="T14">
                <a:pos x="T8" y="T9"/>
              </a:cxn>
            </a:cxnLst>
            <a:rect l="T15" t="T16" r="T17" b="T18"/>
            <a:pathLst>
              <a:path w="1296" h="1736">
                <a:moveTo>
                  <a:pt x="0" y="1736"/>
                </a:moveTo>
                <a:cubicBezTo>
                  <a:pt x="376" y="1588"/>
                  <a:pt x="752" y="1440"/>
                  <a:pt x="960" y="1304"/>
                </a:cubicBezTo>
                <a:cubicBezTo>
                  <a:pt x="1168" y="1168"/>
                  <a:pt x="1200" y="1112"/>
                  <a:pt x="1248" y="920"/>
                </a:cubicBezTo>
                <a:cubicBezTo>
                  <a:pt x="1296" y="728"/>
                  <a:pt x="1240" y="304"/>
                  <a:pt x="1248" y="152"/>
                </a:cubicBezTo>
                <a:cubicBezTo>
                  <a:pt x="1256" y="0"/>
                  <a:pt x="1276" y="4"/>
                  <a:pt x="1296" y="8"/>
                </a:cubicBezTo>
              </a:path>
            </a:pathLst>
          </a:custGeom>
          <a:noFill/>
          <a:ln w="381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 name="Group 12"/>
          <p:cNvGrpSpPr>
            <a:grpSpLocks/>
          </p:cNvGrpSpPr>
          <p:nvPr/>
        </p:nvGrpSpPr>
        <p:grpSpPr bwMode="auto">
          <a:xfrm>
            <a:off x="5035550" y="1828800"/>
            <a:ext cx="1155700" cy="522288"/>
            <a:chOff x="3120" y="1440"/>
            <a:chExt cx="672" cy="329"/>
          </a:xfrm>
        </p:grpSpPr>
        <p:sp>
          <p:nvSpPr>
            <p:cNvPr id="61468" name="AutoShape 13"/>
            <p:cNvSpPr>
              <a:spLocks/>
            </p:cNvSpPr>
            <p:nvPr/>
          </p:nvSpPr>
          <p:spPr bwMode="auto">
            <a:xfrm>
              <a:off x="3120" y="1533"/>
              <a:ext cx="672" cy="236"/>
            </a:xfrm>
            <a:prstGeom prst="borderCallout1">
              <a:avLst>
                <a:gd name="adj1" fmla="val 120870"/>
                <a:gd name="adj2" fmla="val 89287"/>
                <a:gd name="adj3" fmla="val 120870"/>
                <a:gd name="adj4" fmla="val -70236"/>
              </a:avLst>
            </a:prstGeom>
            <a:gradFill rotWithShape="0">
              <a:gsLst>
                <a:gs pos="0">
                  <a:srgbClr val="7283CA"/>
                </a:gs>
                <a:gs pos="100000">
                  <a:srgbClr val="353D5D"/>
                </a:gs>
              </a:gsLst>
              <a:path path="shape">
                <a:fillToRect l="50000" t="50000" r="50000" b="50000"/>
              </a:path>
            </a:gradFill>
            <a:ln w="38100">
              <a:solidFill>
                <a:schemeClr val="tx1"/>
              </a:solidFill>
              <a:miter lim="800000"/>
              <a:headEnd/>
              <a:tailEnd/>
            </a:ln>
          </p:spPr>
          <p:txBody>
            <a:bodyPr anchor="ctr">
              <a:spAutoFit/>
            </a:bodyPr>
            <a:lstStyle/>
            <a:p>
              <a:endParaRPr lang="zh-CN" altLang="en-US" sz="1600" b="0" i="0">
                <a:latin typeface="Arial Black" pitchFamily="34" charset="0"/>
              </a:endParaRPr>
            </a:p>
          </p:txBody>
        </p:sp>
        <p:sp>
          <p:nvSpPr>
            <p:cNvPr id="61469" name="Text Box 14"/>
            <p:cNvSpPr txBox="1">
              <a:spLocks noChangeArrowheads="1"/>
            </p:cNvSpPr>
            <p:nvPr/>
          </p:nvSpPr>
          <p:spPr bwMode="auto">
            <a:xfrm>
              <a:off x="3120" y="1440"/>
              <a:ext cx="5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1"/>
                  </a:solidFill>
                  <a:latin typeface="Arial Black" pitchFamily="34" charset="0"/>
                </a:rPr>
                <a:t>真解</a:t>
              </a:r>
              <a:endParaRPr lang="zh-CN" altLang="en-US" sz="1600" b="0" i="0">
                <a:solidFill>
                  <a:schemeClr val="bg1"/>
                </a:solidFill>
                <a:latin typeface="Arial Black" pitchFamily="34" charset="0"/>
              </a:endParaRPr>
            </a:p>
          </p:txBody>
        </p:sp>
      </p:grpSp>
      <p:grpSp>
        <p:nvGrpSpPr>
          <p:cNvPr id="4" name="Group 15"/>
          <p:cNvGrpSpPr>
            <a:grpSpLocks/>
          </p:cNvGrpSpPr>
          <p:nvPr/>
        </p:nvGrpSpPr>
        <p:grpSpPr bwMode="auto">
          <a:xfrm>
            <a:off x="5283200" y="3290888"/>
            <a:ext cx="4622800" cy="519112"/>
            <a:chOff x="3072" y="2025"/>
            <a:chExt cx="2688" cy="327"/>
          </a:xfrm>
        </p:grpSpPr>
        <p:sp>
          <p:nvSpPr>
            <p:cNvPr id="61466" name="AutoShape 16"/>
            <p:cNvSpPr>
              <a:spLocks/>
            </p:cNvSpPr>
            <p:nvPr/>
          </p:nvSpPr>
          <p:spPr bwMode="auto">
            <a:xfrm flipV="1">
              <a:off x="3170" y="2062"/>
              <a:ext cx="2590" cy="236"/>
            </a:xfrm>
            <a:prstGeom prst="borderCallout1">
              <a:avLst>
                <a:gd name="adj1" fmla="val -20870"/>
                <a:gd name="adj2" fmla="val 97171"/>
                <a:gd name="adj3" fmla="val -20870"/>
                <a:gd name="adj4" fmla="val -20125"/>
              </a:avLst>
            </a:prstGeom>
            <a:gradFill rotWithShape="0">
              <a:gsLst>
                <a:gs pos="0">
                  <a:srgbClr val="CC0000"/>
                </a:gs>
                <a:gs pos="100000">
                  <a:srgbClr val="5E0000"/>
                </a:gs>
              </a:gsLst>
              <a:path path="shape">
                <a:fillToRect l="50000" t="50000" r="50000" b="50000"/>
              </a:path>
            </a:gradFill>
            <a:ln w="38100">
              <a:solidFill>
                <a:srgbClr val="CC0000"/>
              </a:solidFill>
              <a:miter lim="800000"/>
              <a:headEnd/>
              <a:tailEnd/>
            </a:ln>
          </p:spPr>
          <p:txBody>
            <a:bodyPr rot="10800000" anchor="ctr">
              <a:spAutoFit/>
            </a:bodyPr>
            <a:lstStyle/>
            <a:p>
              <a:endParaRPr lang="zh-CN" altLang="en-US" sz="1600" b="0" i="0">
                <a:latin typeface="Arial Black" pitchFamily="34" charset="0"/>
              </a:endParaRPr>
            </a:p>
          </p:txBody>
        </p:sp>
        <p:sp>
          <p:nvSpPr>
            <p:cNvPr id="61467" name="Text Box 17"/>
            <p:cNvSpPr txBox="1">
              <a:spLocks noChangeArrowheads="1"/>
            </p:cNvSpPr>
            <p:nvPr/>
          </p:nvSpPr>
          <p:spPr bwMode="auto">
            <a:xfrm>
              <a:off x="3072" y="2025"/>
              <a:ext cx="26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1"/>
                  </a:solidFill>
                  <a:latin typeface="Arial Black" pitchFamily="34" charset="0"/>
                </a:rPr>
                <a:t>参数模型精确解(病态)</a:t>
              </a:r>
              <a:endParaRPr lang="zh-CN" altLang="en-US" sz="1600" b="0" i="0">
                <a:solidFill>
                  <a:schemeClr val="bg1"/>
                </a:solidFill>
                <a:latin typeface="Arial Black" pitchFamily="34" charset="0"/>
              </a:endParaRPr>
            </a:p>
          </p:txBody>
        </p:sp>
      </p:grpSp>
      <p:grpSp>
        <p:nvGrpSpPr>
          <p:cNvPr id="5" name="Group 18"/>
          <p:cNvGrpSpPr>
            <a:grpSpLocks/>
          </p:cNvGrpSpPr>
          <p:nvPr/>
        </p:nvGrpSpPr>
        <p:grpSpPr bwMode="auto">
          <a:xfrm>
            <a:off x="5283200" y="3957638"/>
            <a:ext cx="4540250" cy="557212"/>
            <a:chOff x="3072" y="2292"/>
            <a:chExt cx="2640" cy="351"/>
          </a:xfrm>
        </p:grpSpPr>
        <p:sp>
          <p:nvSpPr>
            <p:cNvPr id="61464" name="AutoShape 19"/>
            <p:cNvSpPr>
              <a:spLocks/>
            </p:cNvSpPr>
            <p:nvPr/>
          </p:nvSpPr>
          <p:spPr bwMode="auto">
            <a:xfrm>
              <a:off x="3168" y="2361"/>
              <a:ext cx="2544" cy="236"/>
            </a:xfrm>
            <a:prstGeom prst="borderCallout1">
              <a:avLst>
                <a:gd name="adj1" fmla="val -20870"/>
                <a:gd name="adj2" fmla="val 97171"/>
                <a:gd name="adj3" fmla="val -20870"/>
                <a:gd name="adj4" fmla="val -20125"/>
              </a:avLst>
            </a:prstGeom>
            <a:gradFill rotWithShape="0">
              <a:gsLst>
                <a:gs pos="0">
                  <a:srgbClr val="9900CC"/>
                </a:gs>
                <a:gs pos="100000">
                  <a:srgbClr val="47005E"/>
                </a:gs>
              </a:gsLst>
              <a:lin ang="5400000" scaled="1"/>
            </a:gradFill>
            <a:ln w="38100">
              <a:solidFill>
                <a:srgbClr val="9900CC"/>
              </a:solidFill>
              <a:miter lim="800000"/>
              <a:headEnd/>
              <a:tailEnd/>
            </a:ln>
          </p:spPr>
          <p:txBody>
            <a:bodyPr anchor="ctr">
              <a:spAutoFit/>
            </a:bodyPr>
            <a:lstStyle/>
            <a:p>
              <a:endParaRPr lang="zh-CN" altLang="en-US" sz="1600" b="0" i="0">
                <a:latin typeface="Arial Black" pitchFamily="34" charset="0"/>
              </a:endParaRPr>
            </a:p>
          </p:txBody>
        </p:sp>
        <p:sp>
          <p:nvSpPr>
            <p:cNvPr id="61465" name="Text Box 20"/>
            <p:cNvSpPr txBox="1">
              <a:spLocks noChangeArrowheads="1"/>
            </p:cNvSpPr>
            <p:nvPr/>
          </p:nvSpPr>
          <p:spPr bwMode="auto">
            <a:xfrm>
              <a:off x="3072" y="2292"/>
              <a:ext cx="2640" cy="351"/>
            </a:xfrm>
            <a:prstGeom prst="rect">
              <a:avLst/>
            </a:prstGeom>
            <a:gradFill rotWithShape="0">
              <a:gsLst>
                <a:gs pos="0">
                  <a:srgbClr val="9900CC"/>
                </a:gs>
                <a:gs pos="100000">
                  <a:srgbClr val="47005E"/>
                </a:gs>
              </a:gsLst>
              <a:lin ang="5400000" scaled="1"/>
            </a:gradFill>
            <a:ln w="38100">
              <a:solidFill>
                <a:srgbClr val="9900CC"/>
              </a:solidFill>
              <a:miter lim="800000"/>
              <a:headEnd/>
              <a:tailEnd/>
            </a:ln>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1"/>
                  </a:solidFill>
                  <a:latin typeface="Arial Black" pitchFamily="34" charset="0"/>
                </a:rPr>
                <a:t>计算模型近似解(稳定)</a:t>
              </a:r>
              <a:endParaRPr lang="zh-CN" altLang="en-US" sz="1600" b="0" i="0">
                <a:solidFill>
                  <a:schemeClr val="bg1"/>
                </a:solidFill>
                <a:latin typeface="Arial Black" pitchFamily="34" charset="0"/>
              </a:endParaRPr>
            </a:p>
          </p:txBody>
        </p:sp>
      </p:grpSp>
      <p:grpSp>
        <p:nvGrpSpPr>
          <p:cNvPr id="6" name="Group 21"/>
          <p:cNvGrpSpPr>
            <a:grpSpLocks/>
          </p:cNvGrpSpPr>
          <p:nvPr/>
        </p:nvGrpSpPr>
        <p:grpSpPr bwMode="auto">
          <a:xfrm>
            <a:off x="3054350" y="4795838"/>
            <a:ext cx="6438900" cy="557212"/>
            <a:chOff x="1776" y="3021"/>
            <a:chExt cx="3744" cy="351"/>
          </a:xfrm>
        </p:grpSpPr>
        <p:sp>
          <p:nvSpPr>
            <p:cNvPr id="61460" name="AutoShape 22"/>
            <p:cNvSpPr>
              <a:spLocks/>
            </p:cNvSpPr>
            <p:nvPr/>
          </p:nvSpPr>
          <p:spPr bwMode="auto">
            <a:xfrm>
              <a:off x="2976" y="3090"/>
              <a:ext cx="2544" cy="236"/>
            </a:xfrm>
            <a:prstGeom prst="borderCallout1">
              <a:avLst>
                <a:gd name="adj1" fmla="val -20870"/>
                <a:gd name="adj2" fmla="val 97171"/>
                <a:gd name="adj3" fmla="val -20870"/>
                <a:gd name="adj4" fmla="val -20125"/>
              </a:avLst>
            </a:prstGeom>
            <a:gradFill rotWithShape="0">
              <a:gsLst>
                <a:gs pos="0">
                  <a:srgbClr val="008080"/>
                </a:gs>
                <a:gs pos="100000">
                  <a:srgbClr val="003B3B"/>
                </a:gs>
              </a:gsLst>
              <a:path path="shape">
                <a:fillToRect l="50000" t="50000" r="50000" b="50000"/>
              </a:path>
            </a:gradFill>
            <a:ln w="38100">
              <a:solidFill>
                <a:srgbClr val="FFCC00"/>
              </a:solidFill>
              <a:miter lim="800000"/>
              <a:headEnd/>
              <a:tailEnd/>
            </a:ln>
          </p:spPr>
          <p:txBody>
            <a:bodyPr anchor="ctr">
              <a:spAutoFit/>
            </a:bodyPr>
            <a:lstStyle/>
            <a:p>
              <a:endParaRPr lang="zh-CN" altLang="en-US" sz="1600" b="0" i="0">
                <a:latin typeface="Arial Black" pitchFamily="34" charset="0"/>
              </a:endParaRPr>
            </a:p>
          </p:txBody>
        </p:sp>
        <p:grpSp>
          <p:nvGrpSpPr>
            <p:cNvPr id="61461" name="Group 23"/>
            <p:cNvGrpSpPr>
              <a:grpSpLocks/>
            </p:cNvGrpSpPr>
            <p:nvPr/>
          </p:nvGrpSpPr>
          <p:grpSpPr bwMode="auto">
            <a:xfrm>
              <a:off x="1776" y="3021"/>
              <a:ext cx="3744" cy="351"/>
              <a:chOff x="1776" y="3021"/>
              <a:chExt cx="3744" cy="351"/>
            </a:xfrm>
          </p:grpSpPr>
          <p:sp>
            <p:nvSpPr>
              <p:cNvPr id="61462" name="Text Box 24"/>
              <p:cNvSpPr txBox="1">
                <a:spLocks noChangeArrowheads="1"/>
              </p:cNvSpPr>
              <p:nvPr/>
            </p:nvSpPr>
            <p:spPr bwMode="auto">
              <a:xfrm>
                <a:off x="2880" y="3021"/>
                <a:ext cx="2640" cy="351"/>
              </a:xfrm>
              <a:prstGeom prst="rect">
                <a:avLst/>
              </a:prstGeom>
              <a:noFill/>
              <a:ln w="38100">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1"/>
                    </a:solidFill>
                    <a:latin typeface="Arial Black" pitchFamily="34" charset="0"/>
                  </a:rPr>
                  <a:t>计算模型近似解(不稳定)</a:t>
                </a:r>
              </a:p>
            </p:txBody>
          </p:sp>
          <p:sp>
            <p:nvSpPr>
              <p:cNvPr id="61463" name="Line 25"/>
              <p:cNvSpPr>
                <a:spLocks noChangeShapeType="1"/>
              </p:cNvSpPr>
              <p:nvPr/>
            </p:nvSpPr>
            <p:spPr bwMode="auto">
              <a:xfrm>
                <a:off x="1776" y="3168"/>
                <a:ext cx="1200" cy="0"/>
              </a:xfrm>
              <a:prstGeom prst="line">
                <a:avLst/>
              </a:prstGeom>
              <a:noFill/>
              <a:ln w="38100">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32538" name="Freeform 26"/>
          <p:cNvSpPr>
            <a:spLocks/>
          </p:cNvSpPr>
          <p:nvPr/>
        </p:nvSpPr>
        <p:spPr bwMode="auto">
          <a:xfrm>
            <a:off x="1238250" y="2120900"/>
            <a:ext cx="3192463" cy="3289300"/>
          </a:xfrm>
          <a:custGeom>
            <a:avLst/>
            <a:gdLst>
              <a:gd name="T0" fmla="*/ 0 w 1856"/>
              <a:gd name="T1" fmla="*/ 2147483647 h 2072"/>
              <a:gd name="T2" fmla="*/ 1420159253 w 1856"/>
              <a:gd name="T3" fmla="*/ 2147483647 h 2072"/>
              <a:gd name="T4" fmla="*/ 2147483647 w 1856"/>
              <a:gd name="T5" fmla="*/ 2147483647 h 2072"/>
              <a:gd name="T6" fmla="*/ 2147483647 w 1856"/>
              <a:gd name="T7" fmla="*/ 2147483647 h 2072"/>
              <a:gd name="T8" fmla="*/ 2147483647 w 1856"/>
              <a:gd name="T9" fmla="*/ 1713706250 h 2072"/>
              <a:gd name="T10" fmla="*/ 2147483647 w 1856"/>
              <a:gd name="T11" fmla="*/ 262096250 h 2072"/>
              <a:gd name="T12" fmla="*/ 2147483647 w 1856"/>
              <a:gd name="T13" fmla="*/ 141128750 h 2072"/>
              <a:gd name="T14" fmla="*/ 0 60000 65536"/>
              <a:gd name="T15" fmla="*/ 0 60000 65536"/>
              <a:gd name="T16" fmla="*/ 0 60000 65536"/>
              <a:gd name="T17" fmla="*/ 0 60000 65536"/>
              <a:gd name="T18" fmla="*/ 0 60000 65536"/>
              <a:gd name="T19" fmla="*/ 0 60000 65536"/>
              <a:gd name="T20" fmla="*/ 0 60000 65536"/>
              <a:gd name="T21" fmla="*/ 0 w 1856"/>
              <a:gd name="T22" fmla="*/ 0 h 2072"/>
              <a:gd name="T23" fmla="*/ 1856 w 1856"/>
              <a:gd name="T24" fmla="*/ 2072 h 20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6" h="2072">
                <a:moveTo>
                  <a:pt x="0" y="2072"/>
                </a:moveTo>
                <a:cubicBezTo>
                  <a:pt x="164" y="2032"/>
                  <a:pt x="328" y="1992"/>
                  <a:pt x="480" y="1928"/>
                </a:cubicBezTo>
                <a:cubicBezTo>
                  <a:pt x="632" y="1864"/>
                  <a:pt x="768" y="1800"/>
                  <a:pt x="912" y="1688"/>
                </a:cubicBezTo>
                <a:cubicBezTo>
                  <a:pt x="1056" y="1576"/>
                  <a:pt x="1224" y="1424"/>
                  <a:pt x="1344" y="1256"/>
                </a:cubicBezTo>
                <a:cubicBezTo>
                  <a:pt x="1464" y="1088"/>
                  <a:pt x="1552" y="872"/>
                  <a:pt x="1632" y="680"/>
                </a:cubicBezTo>
                <a:cubicBezTo>
                  <a:pt x="1712" y="488"/>
                  <a:pt x="1792" y="208"/>
                  <a:pt x="1824" y="104"/>
                </a:cubicBezTo>
                <a:cubicBezTo>
                  <a:pt x="1856" y="0"/>
                  <a:pt x="1840" y="28"/>
                  <a:pt x="1824" y="56"/>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8" name="Group 27"/>
          <p:cNvGrpSpPr>
            <a:grpSpLocks/>
          </p:cNvGrpSpPr>
          <p:nvPr/>
        </p:nvGrpSpPr>
        <p:grpSpPr bwMode="auto">
          <a:xfrm>
            <a:off x="4870450" y="2452688"/>
            <a:ext cx="4622800" cy="519112"/>
            <a:chOff x="2832" y="1545"/>
            <a:chExt cx="2688" cy="327"/>
          </a:xfrm>
        </p:grpSpPr>
        <p:sp>
          <p:nvSpPr>
            <p:cNvPr id="61458" name="AutoShape 28"/>
            <p:cNvSpPr>
              <a:spLocks/>
            </p:cNvSpPr>
            <p:nvPr/>
          </p:nvSpPr>
          <p:spPr bwMode="auto">
            <a:xfrm flipV="1">
              <a:off x="2930" y="1582"/>
              <a:ext cx="2590" cy="236"/>
            </a:xfrm>
            <a:prstGeom prst="borderCallout1">
              <a:avLst>
                <a:gd name="adj1" fmla="val -20870"/>
                <a:gd name="adj2" fmla="val 97171"/>
                <a:gd name="adj3" fmla="val -20870"/>
                <a:gd name="adj4" fmla="val -20125"/>
              </a:avLst>
            </a:prstGeom>
            <a:gradFill rotWithShape="0">
              <a:gsLst>
                <a:gs pos="0">
                  <a:srgbClr val="0000FF"/>
                </a:gs>
                <a:gs pos="100000">
                  <a:srgbClr val="000076"/>
                </a:gs>
              </a:gsLst>
              <a:path path="shape">
                <a:fillToRect l="50000" t="50000" r="50000" b="50000"/>
              </a:path>
            </a:gradFill>
            <a:ln w="38100">
              <a:solidFill>
                <a:srgbClr val="0000FF"/>
              </a:solidFill>
              <a:miter lim="800000"/>
              <a:headEnd/>
              <a:tailEnd/>
            </a:ln>
          </p:spPr>
          <p:txBody>
            <a:bodyPr rot="10800000" anchor="ctr">
              <a:spAutoFit/>
            </a:bodyPr>
            <a:lstStyle/>
            <a:p>
              <a:endParaRPr lang="zh-CN" altLang="en-US" sz="1600" b="0" i="0">
                <a:latin typeface="Arial Black" pitchFamily="34" charset="0"/>
              </a:endParaRPr>
            </a:p>
          </p:txBody>
        </p:sp>
        <p:sp>
          <p:nvSpPr>
            <p:cNvPr id="61459" name="Text Box 29"/>
            <p:cNvSpPr txBox="1">
              <a:spLocks noChangeArrowheads="1"/>
            </p:cNvSpPr>
            <p:nvPr/>
          </p:nvSpPr>
          <p:spPr bwMode="auto">
            <a:xfrm>
              <a:off x="2832" y="1545"/>
              <a:ext cx="26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1"/>
                  </a:solidFill>
                  <a:latin typeface="Arial Black" pitchFamily="34" charset="0"/>
                </a:rPr>
                <a:t>数学模型精确解</a:t>
              </a:r>
              <a:endParaRPr lang="zh-CN" altLang="en-US" sz="1600" b="0" i="0">
                <a:solidFill>
                  <a:schemeClr val="bg1"/>
                </a:solidFill>
                <a:latin typeface="Arial Black"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7" presetClass="entr" presetSubtype="4" fill="hold" grpId="0" nodeType="afterEffect">
                                  <p:stCondLst>
                                    <p:cond delay="0"/>
                                  </p:stCondLst>
                                  <p:childTnLst>
                                    <p:set>
                                      <p:cBhvr>
                                        <p:cTn id="9" dur="1" fill="hold">
                                          <p:stCondLst>
                                            <p:cond delay="0"/>
                                          </p:stCondLst>
                                        </p:cTn>
                                        <p:tgtEl>
                                          <p:spTgt spid="832519"/>
                                        </p:tgtEl>
                                        <p:attrNameLst>
                                          <p:attrName>style.visibility</p:attrName>
                                        </p:attrNameLst>
                                      </p:cBhvr>
                                      <p:to>
                                        <p:strVal val="visible"/>
                                      </p:to>
                                    </p:set>
                                    <p:anim calcmode="lin" valueType="num">
                                      <p:cBhvr>
                                        <p:cTn id="10" dur="500" fill="hold"/>
                                        <p:tgtEl>
                                          <p:spTgt spid="832519"/>
                                        </p:tgtEl>
                                        <p:attrNameLst>
                                          <p:attrName>ppt_x</p:attrName>
                                        </p:attrNameLst>
                                      </p:cBhvr>
                                      <p:tavLst>
                                        <p:tav tm="0">
                                          <p:val>
                                            <p:strVal val="#ppt_x"/>
                                          </p:val>
                                        </p:tav>
                                        <p:tav tm="100000">
                                          <p:val>
                                            <p:strVal val="#ppt_x"/>
                                          </p:val>
                                        </p:tav>
                                      </p:tavLst>
                                    </p:anim>
                                    <p:anim calcmode="lin" valueType="num">
                                      <p:cBhvr>
                                        <p:cTn id="11" dur="500" fill="hold"/>
                                        <p:tgtEl>
                                          <p:spTgt spid="832519"/>
                                        </p:tgtEl>
                                        <p:attrNameLst>
                                          <p:attrName>ppt_y</p:attrName>
                                        </p:attrNameLst>
                                      </p:cBhvr>
                                      <p:tavLst>
                                        <p:tav tm="0">
                                          <p:val>
                                            <p:strVal val="#ppt_y+#ppt_h/2"/>
                                          </p:val>
                                        </p:tav>
                                        <p:tav tm="100000">
                                          <p:val>
                                            <p:strVal val="#ppt_y"/>
                                          </p:val>
                                        </p:tav>
                                      </p:tavLst>
                                    </p:anim>
                                    <p:anim calcmode="lin" valueType="num">
                                      <p:cBhvr>
                                        <p:cTn id="12" dur="500" fill="hold"/>
                                        <p:tgtEl>
                                          <p:spTgt spid="832519"/>
                                        </p:tgtEl>
                                        <p:attrNameLst>
                                          <p:attrName>ppt_w</p:attrName>
                                        </p:attrNameLst>
                                      </p:cBhvr>
                                      <p:tavLst>
                                        <p:tav tm="0">
                                          <p:val>
                                            <p:strVal val="#ppt_w"/>
                                          </p:val>
                                        </p:tav>
                                        <p:tav tm="100000">
                                          <p:val>
                                            <p:strVal val="#ppt_w"/>
                                          </p:val>
                                        </p:tav>
                                      </p:tavLst>
                                    </p:anim>
                                    <p:anim calcmode="lin" valueType="num">
                                      <p:cBhvr>
                                        <p:cTn id="13" dur="500" fill="hold"/>
                                        <p:tgtEl>
                                          <p:spTgt spid="8325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32538"/>
                                        </p:tgtEl>
                                        <p:attrNameLst>
                                          <p:attrName>style.visibility</p:attrName>
                                        </p:attrNameLst>
                                      </p:cBhvr>
                                      <p:to>
                                        <p:strVal val="visible"/>
                                      </p:to>
                                    </p:set>
                                    <p:anim calcmode="lin" valueType="num">
                                      <p:cBhvr additive="base">
                                        <p:cTn id="23" dur="500" fill="hold"/>
                                        <p:tgtEl>
                                          <p:spTgt spid="832538"/>
                                        </p:tgtEl>
                                        <p:attrNameLst>
                                          <p:attrName>ppt_x</p:attrName>
                                        </p:attrNameLst>
                                      </p:cBhvr>
                                      <p:tavLst>
                                        <p:tav tm="0">
                                          <p:val>
                                            <p:strVal val="0-#ppt_w/2"/>
                                          </p:val>
                                        </p:tav>
                                        <p:tav tm="100000">
                                          <p:val>
                                            <p:strVal val="#ppt_x"/>
                                          </p:val>
                                        </p:tav>
                                      </p:tavLst>
                                    </p:anim>
                                    <p:anim calcmode="lin" valueType="num">
                                      <p:cBhvr additive="base">
                                        <p:cTn id="24" dur="500" fill="hold"/>
                                        <p:tgtEl>
                                          <p:spTgt spid="832538"/>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8"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0-#ppt_w/2"/>
                                          </p:val>
                                        </p:tav>
                                        <p:tav tm="100000">
                                          <p:val>
                                            <p:strVal val="#ppt_x"/>
                                          </p:val>
                                        </p:tav>
                                      </p:tavLst>
                                    </p:anim>
                                    <p:anim calcmode="lin" valueType="num">
                                      <p:cBhvr additive="base">
                                        <p:cTn id="2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4" fill="hold" grpId="0" nodeType="clickEffect">
                                  <p:stCondLst>
                                    <p:cond delay="0"/>
                                  </p:stCondLst>
                                  <p:childTnLst>
                                    <p:set>
                                      <p:cBhvr>
                                        <p:cTn id="33" dur="1" fill="hold">
                                          <p:stCondLst>
                                            <p:cond delay="0"/>
                                          </p:stCondLst>
                                        </p:cTn>
                                        <p:tgtEl>
                                          <p:spTgt spid="832520"/>
                                        </p:tgtEl>
                                        <p:attrNameLst>
                                          <p:attrName>style.visibility</p:attrName>
                                        </p:attrNameLst>
                                      </p:cBhvr>
                                      <p:to>
                                        <p:strVal val="visible"/>
                                      </p:to>
                                    </p:set>
                                    <p:anim calcmode="lin" valueType="num">
                                      <p:cBhvr>
                                        <p:cTn id="34" dur="500" fill="hold"/>
                                        <p:tgtEl>
                                          <p:spTgt spid="832520"/>
                                        </p:tgtEl>
                                        <p:attrNameLst>
                                          <p:attrName>ppt_x</p:attrName>
                                        </p:attrNameLst>
                                      </p:cBhvr>
                                      <p:tavLst>
                                        <p:tav tm="0">
                                          <p:val>
                                            <p:strVal val="#ppt_x"/>
                                          </p:val>
                                        </p:tav>
                                        <p:tav tm="100000">
                                          <p:val>
                                            <p:strVal val="#ppt_x"/>
                                          </p:val>
                                        </p:tav>
                                      </p:tavLst>
                                    </p:anim>
                                    <p:anim calcmode="lin" valueType="num">
                                      <p:cBhvr>
                                        <p:cTn id="35" dur="500" fill="hold"/>
                                        <p:tgtEl>
                                          <p:spTgt spid="832520"/>
                                        </p:tgtEl>
                                        <p:attrNameLst>
                                          <p:attrName>ppt_y</p:attrName>
                                        </p:attrNameLst>
                                      </p:cBhvr>
                                      <p:tavLst>
                                        <p:tav tm="0">
                                          <p:val>
                                            <p:strVal val="#ppt_y+#ppt_h/2"/>
                                          </p:val>
                                        </p:tav>
                                        <p:tav tm="100000">
                                          <p:val>
                                            <p:strVal val="#ppt_y"/>
                                          </p:val>
                                        </p:tav>
                                      </p:tavLst>
                                    </p:anim>
                                    <p:anim calcmode="lin" valueType="num">
                                      <p:cBhvr>
                                        <p:cTn id="36" dur="500" fill="hold"/>
                                        <p:tgtEl>
                                          <p:spTgt spid="832520"/>
                                        </p:tgtEl>
                                        <p:attrNameLst>
                                          <p:attrName>ppt_w</p:attrName>
                                        </p:attrNameLst>
                                      </p:cBhvr>
                                      <p:tavLst>
                                        <p:tav tm="0">
                                          <p:val>
                                            <p:strVal val="#ppt_w"/>
                                          </p:val>
                                        </p:tav>
                                        <p:tav tm="100000">
                                          <p:val>
                                            <p:strVal val="#ppt_w"/>
                                          </p:val>
                                        </p:tav>
                                      </p:tavLst>
                                    </p:anim>
                                    <p:anim calcmode="lin" valueType="num">
                                      <p:cBhvr>
                                        <p:cTn id="37" dur="500" fill="hold"/>
                                        <p:tgtEl>
                                          <p:spTgt spid="832520"/>
                                        </p:tgtEl>
                                        <p:attrNameLst>
                                          <p:attrName>ppt_h</p:attrName>
                                        </p:attrNameLst>
                                      </p:cBhvr>
                                      <p:tavLst>
                                        <p:tav tm="0">
                                          <p:val>
                                            <p:fltVal val="0"/>
                                          </p:val>
                                        </p:tav>
                                        <p:tav tm="100000">
                                          <p:val>
                                            <p:strVal val="#ppt_h"/>
                                          </p:val>
                                        </p:tav>
                                      </p:tavLst>
                                    </p:anim>
                                  </p:childTnLst>
                                </p:cTn>
                              </p:par>
                            </p:childTnLst>
                          </p:cTn>
                        </p:par>
                        <p:par>
                          <p:cTn id="38" fill="hold" nodeType="afterGroup">
                            <p:stCondLst>
                              <p:cond delay="500"/>
                            </p:stCondLst>
                            <p:childTnLst>
                              <p:par>
                                <p:cTn id="39" presetID="2" presetClass="entr" presetSubtype="8" fill="hold" nodeType="after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500" fill="hold"/>
                                        <p:tgtEl>
                                          <p:spTgt spid="4"/>
                                        </p:tgtEl>
                                        <p:attrNameLst>
                                          <p:attrName>ppt_x</p:attrName>
                                        </p:attrNameLst>
                                      </p:cBhvr>
                                      <p:tavLst>
                                        <p:tav tm="0">
                                          <p:val>
                                            <p:strVal val="0-#ppt_w/2"/>
                                          </p:val>
                                        </p:tav>
                                        <p:tav tm="100000">
                                          <p:val>
                                            <p:strVal val="#ppt_x"/>
                                          </p:val>
                                        </p:tav>
                                      </p:tavLst>
                                    </p:anim>
                                    <p:anim calcmode="lin" valueType="num">
                                      <p:cBhvr additive="base">
                                        <p:cTn id="4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4" fill="hold" grpId="0" nodeType="clickEffect">
                                  <p:stCondLst>
                                    <p:cond delay="0"/>
                                  </p:stCondLst>
                                  <p:childTnLst>
                                    <p:set>
                                      <p:cBhvr>
                                        <p:cTn id="46" dur="1" fill="hold">
                                          <p:stCondLst>
                                            <p:cond delay="0"/>
                                          </p:stCondLst>
                                        </p:cTn>
                                        <p:tgtEl>
                                          <p:spTgt spid="832521"/>
                                        </p:tgtEl>
                                        <p:attrNameLst>
                                          <p:attrName>style.visibility</p:attrName>
                                        </p:attrNameLst>
                                      </p:cBhvr>
                                      <p:to>
                                        <p:strVal val="visible"/>
                                      </p:to>
                                    </p:set>
                                    <p:anim calcmode="lin" valueType="num">
                                      <p:cBhvr>
                                        <p:cTn id="47" dur="500" fill="hold"/>
                                        <p:tgtEl>
                                          <p:spTgt spid="832521"/>
                                        </p:tgtEl>
                                        <p:attrNameLst>
                                          <p:attrName>ppt_x</p:attrName>
                                        </p:attrNameLst>
                                      </p:cBhvr>
                                      <p:tavLst>
                                        <p:tav tm="0">
                                          <p:val>
                                            <p:strVal val="#ppt_x"/>
                                          </p:val>
                                        </p:tav>
                                        <p:tav tm="100000">
                                          <p:val>
                                            <p:strVal val="#ppt_x"/>
                                          </p:val>
                                        </p:tav>
                                      </p:tavLst>
                                    </p:anim>
                                    <p:anim calcmode="lin" valueType="num">
                                      <p:cBhvr>
                                        <p:cTn id="48" dur="500" fill="hold"/>
                                        <p:tgtEl>
                                          <p:spTgt spid="832521"/>
                                        </p:tgtEl>
                                        <p:attrNameLst>
                                          <p:attrName>ppt_y</p:attrName>
                                        </p:attrNameLst>
                                      </p:cBhvr>
                                      <p:tavLst>
                                        <p:tav tm="0">
                                          <p:val>
                                            <p:strVal val="#ppt_y+#ppt_h/2"/>
                                          </p:val>
                                        </p:tav>
                                        <p:tav tm="100000">
                                          <p:val>
                                            <p:strVal val="#ppt_y"/>
                                          </p:val>
                                        </p:tav>
                                      </p:tavLst>
                                    </p:anim>
                                    <p:anim calcmode="lin" valueType="num">
                                      <p:cBhvr>
                                        <p:cTn id="49" dur="500" fill="hold"/>
                                        <p:tgtEl>
                                          <p:spTgt spid="832521"/>
                                        </p:tgtEl>
                                        <p:attrNameLst>
                                          <p:attrName>ppt_w</p:attrName>
                                        </p:attrNameLst>
                                      </p:cBhvr>
                                      <p:tavLst>
                                        <p:tav tm="0">
                                          <p:val>
                                            <p:strVal val="#ppt_w"/>
                                          </p:val>
                                        </p:tav>
                                        <p:tav tm="100000">
                                          <p:val>
                                            <p:strVal val="#ppt_w"/>
                                          </p:val>
                                        </p:tav>
                                      </p:tavLst>
                                    </p:anim>
                                    <p:anim calcmode="lin" valueType="num">
                                      <p:cBhvr>
                                        <p:cTn id="50" dur="500" fill="hold"/>
                                        <p:tgtEl>
                                          <p:spTgt spid="832521"/>
                                        </p:tgtEl>
                                        <p:attrNameLst>
                                          <p:attrName>ppt_h</p:attrName>
                                        </p:attrNameLst>
                                      </p:cBhvr>
                                      <p:tavLst>
                                        <p:tav tm="0">
                                          <p:val>
                                            <p:fltVal val="0"/>
                                          </p:val>
                                        </p:tav>
                                        <p:tav tm="100000">
                                          <p:val>
                                            <p:strVal val="#ppt_h"/>
                                          </p:val>
                                        </p:tav>
                                      </p:tavLst>
                                    </p:anim>
                                  </p:childTnLst>
                                </p:cTn>
                              </p:par>
                            </p:childTnLst>
                          </p:cTn>
                        </p:par>
                        <p:par>
                          <p:cTn id="51" fill="hold" nodeType="afterGroup">
                            <p:stCondLst>
                              <p:cond delay="500"/>
                            </p:stCondLst>
                            <p:childTnLst>
                              <p:par>
                                <p:cTn id="52" presetID="2" presetClass="entr" presetSubtype="8" fill="hold" nodeType="after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additive="base">
                                        <p:cTn id="54" dur="500" fill="hold"/>
                                        <p:tgtEl>
                                          <p:spTgt spid="5"/>
                                        </p:tgtEl>
                                        <p:attrNameLst>
                                          <p:attrName>ppt_x</p:attrName>
                                        </p:attrNameLst>
                                      </p:cBhvr>
                                      <p:tavLst>
                                        <p:tav tm="0">
                                          <p:val>
                                            <p:strVal val="0-#ppt_w/2"/>
                                          </p:val>
                                        </p:tav>
                                        <p:tav tm="100000">
                                          <p:val>
                                            <p:strVal val="#ppt_x"/>
                                          </p:val>
                                        </p:tav>
                                      </p:tavLst>
                                    </p:anim>
                                    <p:anim calcmode="lin" valueType="num">
                                      <p:cBhvr additive="base">
                                        <p:cTn id="5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4" fill="hold" grpId="0" nodeType="clickEffect">
                                  <p:stCondLst>
                                    <p:cond delay="0"/>
                                  </p:stCondLst>
                                  <p:childTnLst>
                                    <p:set>
                                      <p:cBhvr>
                                        <p:cTn id="59" dur="1" fill="hold">
                                          <p:stCondLst>
                                            <p:cond delay="0"/>
                                          </p:stCondLst>
                                        </p:cTn>
                                        <p:tgtEl>
                                          <p:spTgt spid="832522"/>
                                        </p:tgtEl>
                                        <p:attrNameLst>
                                          <p:attrName>style.visibility</p:attrName>
                                        </p:attrNameLst>
                                      </p:cBhvr>
                                      <p:to>
                                        <p:strVal val="visible"/>
                                      </p:to>
                                    </p:set>
                                    <p:anim calcmode="lin" valueType="num">
                                      <p:cBhvr>
                                        <p:cTn id="60" dur="500" fill="hold"/>
                                        <p:tgtEl>
                                          <p:spTgt spid="832522"/>
                                        </p:tgtEl>
                                        <p:attrNameLst>
                                          <p:attrName>ppt_x</p:attrName>
                                        </p:attrNameLst>
                                      </p:cBhvr>
                                      <p:tavLst>
                                        <p:tav tm="0">
                                          <p:val>
                                            <p:strVal val="#ppt_x"/>
                                          </p:val>
                                        </p:tav>
                                        <p:tav tm="100000">
                                          <p:val>
                                            <p:strVal val="#ppt_x"/>
                                          </p:val>
                                        </p:tav>
                                      </p:tavLst>
                                    </p:anim>
                                    <p:anim calcmode="lin" valueType="num">
                                      <p:cBhvr>
                                        <p:cTn id="61" dur="500" fill="hold"/>
                                        <p:tgtEl>
                                          <p:spTgt spid="832522"/>
                                        </p:tgtEl>
                                        <p:attrNameLst>
                                          <p:attrName>ppt_y</p:attrName>
                                        </p:attrNameLst>
                                      </p:cBhvr>
                                      <p:tavLst>
                                        <p:tav tm="0">
                                          <p:val>
                                            <p:strVal val="#ppt_y+#ppt_h/2"/>
                                          </p:val>
                                        </p:tav>
                                        <p:tav tm="100000">
                                          <p:val>
                                            <p:strVal val="#ppt_y"/>
                                          </p:val>
                                        </p:tav>
                                      </p:tavLst>
                                    </p:anim>
                                    <p:anim calcmode="lin" valueType="num">
                                      <p:cBhvr>
                                        <p:cTn id="62" dur="500" fill="hold"/>
                                        <p:tgtEl>
                                          <p:spTgt spid="832522"/>
                                        </p:tgtEl>
                                        <p:attrNameLst>
                                          <p:attrName>ppt_w</p:attrName>
                                        </p:attrNameLst>
                                      </p:cBhvr>
                                      <p:tavLst>
                                        <p:tav tm="0">
                                          <p:val>
                                            <p:strVal val="#ppt_w"/>
                                          </p:val>
                                        </p:tav>
                                        <p:tav tm="100000">
                                          <p:val>
                                            <p:strVal val="#ppt_w"/>
                                          </p:val>
                                        </p:tav>
                                      </p:tavLst>
                                    </p:anim>
                                    <p:anim calcmode="lin" valueType="num">
                                      <p:cBhvr>
                                        <p:cTn id="63" dur="500" fill="hold"/>
                                        <p:tgtEl>
                                          <p:spTgt spid="832522"/>
                                        </p:tgtEl>
                                        <p:attrNameLst>
                                          <p:attrName>ppt_h</p:attrName>
                                        </p:attrNameLst>
                                      </p:cBhvr>
                                      <p:tavLst>
                                        <p:tav tm="0">
                                          <p:val>
                                            <p:fltVal val="0"/>
                                          </p:val>
                                        </p:tav>
                                        <p:tav tm="100000">
                                          <p:val>
                                            <p:strVal val="#ppt_h"/>
                                          </p:val>
                                        </p:tav>
                                      </p:tavLst>
                                    </p:anim>
                                  </p:childTnLst>
                                </p:cTn>
                              </p:par>
                            </p:childTnLst>
                          </p:cTn>
                        </p:par>
                        <p:par>
                          <p:cTn id="64" fill="hold" nodeType="afterGroup">
                            <p:stCondLst>
                              <p:cond delay="500"/>
                            </p:stCondLst>
                            <p:childTnLst>
                              <p:par>
                                <p:cTn id="65" presetID="17" presetClass="entr" presetSubtype="4" fill="hold" grpId="0" nodeType="afterEffect">
                                  <p:stCondLst>
                                    <p:cond delay="0"/>
                                  </p:stCondLst>
                                  <p:childTnLst>
                                    <p:set>
                                      <p:cBhvr>
                                        <p:cTn id="66" dur="1" fill="hold">
                                          <p:stCondLst>
                                            <p:cond delay="0"/>
                                          </p:stCondLst>
                                        </p:cTn>
                                        <p:tgtEl>
                                          <p:spTgt spid="832523"/>
                                        </p:tgtEl>
                                        <p:attrNameLst>
                                          <p:attrName>style.visibility</p:attrName>
                                        </p:attrNameLst>
                                      </p:cBhvr>
                                      <p:to>
                                        <p:strVal val="visible"/>
                                      </p:to>
                                    </p:set>
                                    <p:anim calcmode="lin" valueType="num">
                                      <p:cBhvr>
                                        <p:cTn id="67" dur="500" fill="hold"/>
                                        <p:tgtEl>
                                          <p:spTgt spid="832523"/>
                                        </p:tgtEl>
                                        <p:attrNameLst>
                                          <p:attrName>ppt_x</p:attrName>
                                        </p:attrNameLst>
                                      </p:cBhvr>
                                      <p:tavLst>
                                        <p:tav tm="0">
                                          <p:val>
                                            <p:strVal val="#ppt_x"/>
                                          </p:val>
                                        </p:tav>
                                        <p:tav tm="100000">
                                          <p:val>
                                            <p:strVal val="#ppt_x"/>
                                          </p:val>
                                        </p:tav>
                                      </p:tavLst>
                                    </p:anim>
                                    <p:anim calcmode="lin" valueType="num">
                                      <p:cBhvr>
                                        <p:cTn id="68" dur="500" fill="hold"/>
                                        <p:tgtEl>
                                          <p:spTgt spid="832523"/>
                                        </p:tgtEl>
                                        <p:attrNameLst>
                                          <p:attrName>ppt_y</p:attrName>
                                        </p:attrNameLst>
                                      </p:cBhvr>
                                      <p:tavLst>
                                        <p:tav tm="0">
                                          <p:val>
                                            <p:strVal val="#ppt_y+#ppt_h/2"/>
                                          </p:val>
                                        </p:tav>
                                        <p:tav tm="100000">
                                          <p:val>
                                            <p:strVal val="#ppt_y"/>
                                          </p:val>
                                        </p:tav>
                                      </p:tavLst>
                                    </p:anim>
                                    <p:anim calcmode="lin" valueType="num">
                                      <p:cBhvr>
                                        <p:cTn id="69" dur="500" fill="hold"/>
                                        <p:tgtEl>
                                          <p:spTgt spid="832523"/>
                                        </p:tgtEl>
                                        <p:attrNameLst>
                                          <p:attrName>ppt_w</p:attrName>
                                        </p:attrNameLst>
                                      </p:cBhvr>
                                      <p:tavLst>
                                        <p:tav tm="0">
                                          <p:val>
                                            <p:strVal val="#ppt_w"/>
                                          </p:val>
                                        </p:tav>
                                        <p:tav tm="100000">
                                          <p:val>
                                            <p:strVal val="#ppt_w"/>
                                          </p:val>
                                        </p:tav>
                                      </p:tavLst>
                                    </p:anim>
                                    <p:anim calcmode="lin" valueType="num">
                                      <p:cBhvr>
                                        <p:cTn id="70" dur="500" fill="hold"/>
                                        <p:tgtEl>
                                          <p:spTgt spid="832523"/>
                                        </p:tgtEl>
                                        <p:attrNameLst>
                                          <p:attrName>ppt_h</p:attrName>
                                        </p:attrNameLst>
                                      </p:cBhvr>
                                      <p:tavLst>
                                        <p:tav tm="0">
                                          <p:val>
                                            <p:fltVal val="0"/>
                                          </p:val>
                                        </p:tav>
                                        <p:tav tm="100000">
                                          <p:val>
                                            <p:strVal val="#ppt_h"/>
                                          </p:val>
                                        </p:tav>
                                      </p:tavLst>
                                    </p:anim>
                                  </p:childTnLst>
                                </p:cTn>
                              </p:par>
                            </p:childTnLst>
                          </p:cTn>
                        </p:par>
                        <p:par>
                          <p:cTn id="71" fill="hold" nodeType="afterGroup">
                            <p:stCondLst>
                              <p:cond delay="1000"/>
                            </p:stCondLst>
                            <p:childTnLst>
                              <p:par>
                                <p:cTn id="72" presetID="2" presetClass="entr" presetSubtype="8" fill="hold" nodeType="afterEffect">
                                  <p:stCondLst>
                                    <p:cond delay="0"/>
                                  </p:stCondLst>
                                  <p:childTnLst>
                                    <p:set>
                                      <p:cBhvr>
                                        <p:cTn id="73" dur="1" fill="hold">
                                          <p:stCondLst>
                                            <p:cond delay="0"/>
                                          </p:stCondLst>
                                        </p:cTn>
                                        <p:tgtEl>
                                          <p:spTgt spid="6"/>
                                        </p:tgtEl>
                                        <p:attrNameLst>
                                          <p:attrName>style.visibility</p:attrName>
                                        </p:attrNameLst>
                                      </p:cBhvr>
                                      <p:to>
                                        <p:strVal val="visible"/>
                                      </p:to>
                                    </p:set>
                                    <p:anim calcmode="lin" valueType="num">
                                      <p:cBhvr additive="base">
                                        <p:cTn id="74" dur="500" fill="hold"/>
                                        <p:tgtEl>
                                          <p:spTgt spid="6"/>
                                        </p:tgtEl>
                                        <p:attrNameLst>
                                          <p:attrName>ppt_x</p:attrName>
                                        </p:attrNameLst>
                                      </p:cBhvr>
                                      <p:tavLst>
                                        <p:tav tm="0">
                                          <p:val>
                                            <p:strVal val="0-#ppt_w/2"/>
                                          </p:val>
                                        </p:tav>
                                        <p:tav tm="100000">
                                          <p:val>
                                            <p:strVal val="#ppt_x"/>
                                          </p:val>
                                        </p:tav>
                                      </p:tavLst>
                                    </p:anim>
                                    <p:anim calcmode="lin" valueType="num">
                                      <p:cBhvr additive="base">
                                        <p:cTn id="7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19" grpId="0" animBg="1"/>
      <p:bldP spid="832520" grpId="0" animBg="1"/>
      <p:bldP spid="832521" grpId="0" animBg="1"/>
      <p:bldP spid="832522" grpId="0" animBg="1"/>
      <p:bldP spid="832523" grpId="0" animBg="1"/>
      <p:bldP spid="83253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2184C9D2-C91E-4C11-9A81-CA976DD9C672}" type="slidenum">
              <a:rPr lang="zh-CN" altLang="en-US" i="0" smtClean="0"/>
              <a:pPr/>
              <a:t>64</a:t>
            </a:fld>
            <a:endParaRPr lang="en-US" altLang="zh-CN" i="0" smtClean="0"/>
          </a:p>
        </p:txBody>
      </p:sp>
      <p:sp>
        <p:nvSpPr>
          <p:cNvPr id="624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10D8D1F-98E8-4024-AC42-CF33920BB4E1}" type="datetime1">
              <a:rPr lang="zh-CN" altLang="en-US" sz="1800" i="0" smtClean="0"/>
              <a:pPr/>
              <a:t>2024/9/8</a:t>
            </a:fld>
            <a:endParaRPr lang="en-US" altLang="zh-CN" sz="1000" i="0" smtClean="0"/>
          </a:p>
        </p:txBody>
      </p:sp>
      <p:sp>
        <p:nvSpPr>
          <p:cNvPr id="920578" name="Rectangle 2"/>
          <p:cNvSpPr>
            <a:spLocks noGrp="1" noChangeArrowheads="1"/>
          </p:cNvSpPr>
          <p:nvPr>
            <p:ph type="title"/>
          </p:nvPr>
        </p:nvSpPr>
        <p:spPr/>
        <p:txBody>
          <a:bodyPr/>
          <a:lstStyle/>
          <a:p>
            <a:pPr>
              <a:defRPr/>
            </a:pPr>
            <a:r>
              <a:rPr lang="zh-CN" altLang="zh-CN" smtClean="0"/>
              <a:t>5.</a:t>
            </a:r>
            <a:r>
              <a:rPr lang="zh-CN" altLang="en-US" smtClean="0"/>
              <a:t>3</a:t>
            </a:r>
            <a:r>
              <a:rPr lang="zh-CN" altLang="zh-CN" smtClean="0"/>
              <a:t>  数学问题的适定性</a:t>
            </a:r>
            <a:endParaRPr lang="zh-CN" altLang="en-US" smtClean="0"/>
          </a:p>
        </p:txBody>
      </p:sp>
      <p:sp>
        <p:nvSpPr>
          <p:cNvPr id="920580" name="Text Box 4"/>
          <p:cNvSpPr txBox="1">
            <a:spLocks noChangeArrowheads="1"/>
          </p:cNvSpPr>
          <p:nvPr/>
        </p:nvSpPr>
        <p:spPr bwMode="auto">
          <a:xfrm>
            <a:off x="609600" y="1295400"/>
            <a:ext cx="8820150" cy="987425"/>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0" tIns="0" rIns="0" bIns="0">
            <a:spAutoFit/>
          </a:bodyPr>
          <a:lstStyle>
            <a:lvl1pPr marL="228600">
              <a:tabLst>
                <a:tab pos="2800350" algn="l"/>
              </a:tabLst>
              <a:defRPr sz="2000" b="1" i="1">
                <a:solidFill>
                  <a:schemeClr val="tx1"/>
                </a:solidFill>
                <a:latin typeface="Arial" pitchFamily="34" charset="0"/>
                <a:ea typeface="宋体" pitchFamily="2" charset="-122"/>
              </a:defRPr>
            </a:lvl1pPr>
            <a:lvl2pPr marL="742950" indent="-285750">
              <a:tabLst>
                <a:tab pos="2800350" algn="l"/>
              </a:tabLst>
              <a:defRPr sz="2000" b="1" i="1">
                <a:solidFill>
                  <a:schemeClr val="tx1"/>
                </a:solidFill>
                <a:latin typeface="Arial" pitchFamily="34" charset="0"/>
                <a:ea typeface="宋体" pitchFamily="2" charset="-122"/>
              </a:defRPr>
            </a:lvl2pPr>
            <a:lvl3pPr marL="1143000" indent="-228600">
              <a:tabLst>
                <a:tab pos="2800350" algn="l"/>
              </a:tabLst>
              <a:defRPr sz="2000" b="1" i="1">
                <a:solidFill>
                  <a:schemeClr val="tx1"/>
                </a:solidFill>
                <a:latin typeface="Arial" pitchFamily="34" charset="0"/>
                <a:ea typeface="宋体" pitchFamily="2" charset="-122"/>
              </a:defRPr>
            </a:lvl3pPr>
            <a:lvl4pPr marL="1600200" indent="-228600">
              <a:tabLst>
                <a:tab pos="2800350" algn="l"/>
              </a:tabLst>
              <a:defRPr sz="2000" b="1" i="1">
                <a:solidFill>
                  <a:schemeClr val="tx1"/>
                </a:solidFill>
                <a:latin typeface="Arial" pitchFamily="34" charset="0"/>
                <a:ea typeface="宋体" pitchFamily="2" charset="-122"/>
              </a:defRPr>
            </a:lvl4pPr>
            <a:lvl5pPr marL="2057400" indent="-228600">
              <a:tabLst>
                <a:tab pos="2800350" algn="l"/>
              </a:tabLst>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9pPr>
          </a:lstStyle>
          <a:p>
            <a:pPr algn="l" eaLnBrk="1" hangingPunct="1"/>
            <a:r>
              <a:rPr lang="zh-CN" altLang="en-US" sz="3200" i="0">
                <a:latin typeface="楷体_GB2312" pitchFamily="49" charset="-122"/>
                <a:ea typeface="楷体_GB2312" pitchFamily="49" charset="-122"/>
                <a:cs typeface="Times New Roman" pitchFamily="18" charset="0"/>
              </a:rPr>
              <a:t>结论：数值计算中应尽量避免误差危害，还应区分是否为病态问题和算法的数值稳定性</a:t>
            </a:r>
          </a:p>
        </p:txBody>
      </p:sp>
      <p:sp>
        <p:nvSpPr>
          <p:cNvPr id="920581" name="Text Box 5"/>
          <p:cNvSpPr txBox="1">
            <a:spLocks noChangeArrowheads="1"/>
          </p:cNvSpPr>
          <p:nvPr/>
        </p:nvSpPr>
        <p:spPr bwMode="auto">
          <a:xfrm>
            <a:off x="609600" y="2514600"/>
            <a:ext cx="8839200" cy="3790950"/>
          </a:xfrm>
          <a:prstGeom prst="rect">
            <a:avLst/>
          </a:prstGeom>
          <a:solidFill>
            <a:srgbClr val="CCCCFF"/>
          </a:solidFill>
          <a:ln w="12700">
            <a:solidFill>
              <a:srgbClr val="6600CC"/>
            </a:solidFill>
            <a:miter lim="800000"/>
            <a:headEnd/>
            <a:tailEnd/>
          </a:ln>
          <a:effectLst>
            <a:outerShdw dist="107763" dir="2700000" algn="ctr" rotWithShape="0">
              <a:srgbClr val="6600CC"/>
            </a:outerShdw>
          </a:effectLst>
        </p:spPr>
        <p:txBody>
          <a:bodyPr lIns="90488" tIns="137160" rIns="90488" bIns="137160">
            <a:spAutoFit/>
          </a:bodyPr>
          <a:lstStyle>
            <a:lvl1pPr marL="228600">
              <a:tabLst>
                <a:tab pos="2800350" algn="l"/>
              </a:tabLst>
              <a:defRPr sz="2000" b="1" i="1">
                <a:solidFill>
                  <a:schemeClr val="tx1"/>
                </a:solidFill>
                <a:latin typeface="Arial" pitchFamily="34" charset="0"/>
                <a:ea typeface="宋体" pitchFamily="2" charset="-122"/>
              </a:defRPr>
            </a:lvl1pPr>
            <a:lvl2pPr marL="857250">
              <a:tabLst>
                <a:tab pos="2800350" algn="l"/>
              </a:tabLst>
              <a:defRPr sz="2000" b="1" i="1">
                <a:solidFill>
                  <a:schemeClr val="tx1"/>
                </a:solidFill>
                <a:latin typeface="Arial" pitchFamily="34" charset="0"/>
                <a:ea typeface="宋体" pitchFamily="2" charset="-122"/>
              </a:defRPr>
            </a:lvl2pPr>
            <a:lvl3pPr marL="1143000" indent="-228600">
              <a:tabLst>
                <a:tab pos="2800350" algn="l"/>
              </a:tabLst>
              <a:defRPr sz="2000" b="1" i="1">
                <a:solidFill>
                  <a:schemeClr val="tx1"/>
                </a:solidFill>
                <a:latin typeface="Arial" pitchFamily="34" charset="0"/>
                <a:ea typeface="宋体" pitchFamily="2" charset="-122"/>
              </a:defRPr>
            </a:lvl3pPr>
            <a:lvl4pPr marL="1600200" indent="-228600">
              <a:tabLst>
                <a:tab pos="2800350" algn="l"/>
              </a:tabLst>
              <a:defRPr sz="2000" b="1" i="1">
                <a:solidFill>
                  <a:schemeClr val="tx1"/>
                </a:solidFill>
                <a:latin typeface="Arial" pitchFamily="34" charset="0"/>
                <a:ea typeface="宋体" pitchFamily="2" charset="-122"/>
              </a:defRPr>
            </a:lvl4pPr>
            <a:lvl5pPr marL="2057400" indent="-228600">
              <a:tabLst>
                <a:tab pos="2800350" algn="l"/>
              </a:tabLst>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tabLst>
                <a:tab pos="2800350" algn="l"/>
              </a:tabLst>
              <a:defRPr sz="2000" b="1" i="1">
                <a:solidFill>
                  <a:schemeClr val="tx1"/>
                </a:solidFill>
                <a:latin typeface="Arial" pitchFamily="34" charset="0"/>
                <a:ea typeface="宋体" pitchFamily="2" charset="-122"/>
              </a:defRPr>
            </a:lvl9pPr>
          </a:lstStyle>
          <a:p>
            <a:pPr algn="l" eaLnBrk="1" hangingPunct="1">
              <a:lnSpc>
                <a:spcPct val="90000"/>
              </a:lnSpc>
              <a:spcBef>
                <a:spcPct val="30000"/>
              </a:spcBef>
              <a:buSzPct val="80000"/>
              <a:buFont typeface="Wingdings" pitchFamily="2" charset="2"/>
              <a:buChar char="q"/>
            </a:pPr>
            <a:r>
              <a:rPr lang="zh-CN" altLang="en-US" sz="3200" i="0">
                <a:latin typeface="楷体_GB2312" pitchFamily="49" charset="-122"/>
                <a:ea typeface="楷体_GB2312" pitchFamily="49" charset="-122"/>
                <a:cs typeface="Times New Roman" pitchFamily="18" charset="0"/>
              </a:rPr>
              <a:t>误差的定性分析中首先要分清问题是否病态，</a:t>
            </a:r>
          </a:p>
          <a:p>
            <a:pPr lvl="1" algn="l" eaLnBrk="1" hangingPunct="1">
              <a:lnSpc>
                <a:spcPct val="90000"/>
              </a:lnSpc>
              <a:spcBef>
                <a:spcPct val="30000"/>
              </a:spcBef>
              <a:buSzPct val="80000"/>
              <a:buFont typeface="Wingdings" pitchFamily="2" charset="2"/>
              <a:buChar char="Ø"/>
            </a:pPr>
            <a:r>
              <a:rPr lang="zh-CN" altLang="en-US" sz="3200" i="0">
                <a:latin typeface="楷体_GB2312" pitchFamily="49" charset="-122"/>
                <a:ea typeface="楷体_GB2312" pitchFamily="49" charset="-122"/>
                <a:cs typeface="Times New Roman" pitchFamily="18" charset="0"/>
              </a:rPr>
              <a:t>如果问题计算结果相对误差很大就是病态问题，对病态问题计算结果就可能不可靠，</a:t>
            </a:r>
          </a:p>
          <a:p>
            <a:pPr lvl="1" algn="l" eaLnBrk="1" hangingPunct="1">
              <a:lnSpc>
                <a:spcPct val="90000"/>
              </a:lnSpc>
              <a:spcBef>
                <a:spcPct val="30000"/>
              </a:spcBef>
              <a:buSzPct val="80000"/>
              <a:buFont typeface="Wingdings" pitchFamily="2" charset="2"/>
              <a:buChar char="Ø"/>
            </a:pPr>
            <a:r>
              <a:rPr lang="zh-CN" altLang="en-US" sz="3200" i="0">
                <a:latin typeface="楷体_GB2312" pitchFamily="49" charset="-122"/>
                <a:ea typeface="楷体_GB2312" pitchFamily="49" charset="-122"/>
                <a:cs typeface="Times New Roman" pitchFamily="18" charset="0"/>
              </a:rPr>
              <a:t>对良态问题主要考虑算法的稳定性，对不稳定的算法计算结果也不可靠</a:t>
            </a:r>
          </a:p>
          <a:p>
            <a:pPr algn="l" eaLnBrk="1" hangingPunct="1">
              <a:lnSpc>
                <a:spcPct val="90000"/>
              </a:lnSpc>
              <a:spcBef>
                <a:spcPct val="30000"/>
              </a:spcBef>
              <a:buSzPct val="80000"/>
              <a:buFont typeface="Wingdings" pitchFamily="2" charset="2"/>
              <a:buChar char="q"/>
            </a:pPr>
            <a:r>
              <a:rPr lang="zh-CN" altLang="en-US" sz="3200" i="0">
                <a:latin typeface="楷体_GB2312" pitchFamily="49" charset="-122"/>
                <a:ea typeface="楷体_GB2312" pitchFamily="49" charset="-122"/>
                <a:cs typeface="Times New Roman" pitchFamily="18" charset="0"/>
              </a:rPr>
              <a:t>计算中还要根据以前给出的原则尽量避免舍入误差增长</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0580"/>
                                        </p:tgtEl>
                                        <p:attrNameLst>
                                          <p:attrName>style.visibility</p:attrName>
                                        </p:attrNameLst>
                                      </p:cBhvr>
                                      <p:to>
                                        <p:strVal val="visible"/>
                                      </p:to>
                                    </p:set>
                                    <p:animEffect transition="in" filter="box(in)">
                                      <p:cBhvr>
                                        <p:cTn id="7" dur="500"/>
                                        <p:tgtEl>
                                          <p:spTgt spid="920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20581"/>
                                        </p:tgtEl>
                                        <p:attrNameLst>
                                          <p:attrName>style.visibility</p:attrName>
                                        </p:attrNameLst>
                                      </p:cBhvr>
                                      <p:to>
                                        <p:strVal val="visible"/>
                                      </p:to>
                                    </p:set>
                                    <p:animEffect transition="in" filter="box(in)">
                                      <p:cBhvr>
                                        <p:cTn id="12" dur="500"/>
                                        <p:tgtEl>
                                          <p:spTgt spid="920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80" grpId="0" animBg="1" autoUpdateAnimBg="0"/>
      <p:bldP spid="920581" grpId="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Rectangle 2"/>
          <p:cNvSpPr>
            <a:spLocks noGrp="1" noChangeArrowheads="1"/>
          </p:cNvSpPr>
          <p:nvPr>
            <p:ph type="ctrTitle"/>
          </p:nvPr>
        </p:nvSpPr>
        <p:spPr>
          <a:xfrm>
            <a:off x="1096963" y="2136775"/>
            <a:ext cx="7608887" cy="1736725"/>
          </a:xfrm>
        </p:spPr>
        <p:txBody>
          <a:bodyPr/>
          <a:lstStyle/>
          <a:p>
            <a:pPr>
              <a:defRPr/>
            </a:pPr>
            <a:r>
              <a:rPr lang="zh-CN" altLang="en-US" sz="6000" smtClean="0"/>
              <a:t>§6  误差分配原则</a:t>
            </a:r>
            <a:br>
              <a:rPr lang="zh-CN" altLang="en-US" sz="6000" smtClean="0"/>
            </a:br>
            <a:r>
              <a:rPr lang="zh-CN" altLang="en-US" sz="6000" smtClean="0"/>
              <a:t>     与处理方法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4DE543F-E0C1-475D-8E63-D54FBC55D56B}" type="slidenum">
              <a:rPr lang="zh-CN" altLang="en-US" i="0" smtClean="0"/>
              <a:pPr/>
              <a:t>66</a:t>
            </a:fld>
            <a:endParaRPr lang="en-US" altLang="zh-CN" i="0" smtClean="0"/>
          </a:p>
        </p:txBody>
      </p:sp>
      <p:sp>
        <p:nvSpPr>
          <p:cNvPr id="6451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DE0B163-21A3-44C0-AD81-7195E875E956}" type="datetime1">
              <a:rPr lang="zh-CN" altLang="en-US" sz="1800" i="0" smtClean="0"/>
              <a:pPr/>
              <a:t>2024/9/8</a:t>
            </a:fld>
            <a:endParaRPr lang="en-US" altLang="zh-CN" sz="1000" i="0" smtClean="0"/>
          </a:p>
        </p:txBody>
      </p:sp>
      <p:sp>
        <p:nvSpPr>
          <p:cNvPr id="836610" name="Rectangle 2"/>
          <p:cNvSpPr>
            <a:spLocks noGrp="1" noChangeArrowheads="1"/>
          </p:cNvSpPr>
          <p:nvPr>
            <p:ph type="title"/>
          </p:nvPr>
        </p:nvSpPr>
        <p:spPr>
          <a:xfrm>
            <a:off x="685800" y="228600"/>
            <a:ext cx="8585200" cy="658813"/>
          </a:xfrm>
        </p:spPr>
        <p:txBody>
          <a:bodyPr/>
          <a:lstStyle/>
          <a:p>
            <a:pPr>
              <a:defRPr/>
            </a:pPr>
            <a:r>
              <a:rPr lang="zh-CN" altLang="en-US" smtClean="0"/>
              <a:t>6</a:t>
            </a:r>
            <a:r>
              <a:rPr lang="zh-CN" altLang="zh-CN" smtClean="0"/>
              <a:t>.</a:t>
            </a:r>
            <a:r>
              <a:rPr lang="zh-CN" altLang="en-US" smtClean="0"/>
              <a:t>1</a:t>
            </a:r>
            <a:r>
              <a:rPr lang="zh-CN" altLang="zh-CN" smtClean="0"/>
              <a:t>  </a:t>
            </a:r>
            <a:r>
              <a:rPr lang="zh-CN" altLang="en-US" smtClean="0"/>
              <a:t>误差配置原理</a:t>
            </a:r>
          </a:p>
        </p:txBody>
      </p:sp>
      <p:sp>
        <p:nvSpPr>
          <p:cNvPr id="836611" name="Rectangle 3"/>
          <p:cNvSpPr>
            <a:spLocks noGrp="1" noChangeArrowheads="1"/>
          </p:cNvSpPr>
          <p:nvPr>
            <p:ph type="body" idx="1"/>
          </p:nvPr>
        </p:nvSpPr>
        <p:spPr>
          <a:xfrm>
            <a:off x="650875" y="1143000"/>
            <a:ext cx="8820150" cy="5481638"/>
          </a:xfrm>
        </p:spPr>
        <p:txBody>
          <a:bodyPr/>
          <a:lstStyle/>
          <a:p>
            <a:pPr marL="457200" indent="-457200" defTabSz="914400">
              <a:lnSpc>
                <a:spcPct val="80000"/>
              </a:lnSpc>
            </a:pPr>
            <a:r>
              <a:rPr lang="zh-CN" altLang="en-US" smtClean="0">
                <a:latin typeface="Arial" pitchFamily="34" charset="0"/>
              </a:rPr>
              <a:t>计算模型的近似解相对于参数模型精确解的</a:t>
            </a:r>
          </a:p>
          <a:p>
            <a:pPr marL="457200" indent="-457200" defTabSz="914400">
              <a:lnSpc>
                <a:spcPct val="80000"/>
              </a:lnSpc>
              <a:buFont typeface="Wingdings" pitchFamily="2" charset="2"/>
              <a:buNone/>
            </a:pPr>
            <a:r>
              <a:rPr lang="zh-CN" altLang="en-US" smtClean="0">
                <a:latin typeface="Arial" pitchFamily="34" charset="0"/>
              </a:rPr>
              <a:t>       总误差=截断误差+舍入误差,即</a:t>
            </a:r>
            <a:r>
              <a:rPr lang="zh-CN" altLang="en-US" smtClean="0">
                <a:sym typeface="Symbol" pitchFamily="18" charset="2"/>
              </a:rPr>
              <a:t></a:t>
            </a:r>
            <a:r>
              <a:rPr lang="en-US" altLang="zh-CN" smtClean="0"/>
              <a:t> = R+</a:t>
            </a:r>
            <a:r>
              <a:rPr lang="en-US" altLang="zh-CN" smtClean="0">
                <a:sym typeface="Symbol" pitchFamily="18" charset="2"/>
              </a:rPr>
              <a:t></a:t>
            </a:r>
          </a:p>
          <a:p>
            <a:pPr marL="457200" indent="-457200" defTabSz="914400">
              <a:lnSpc>
                <a:spcPct val="80000"/>
              </a:lnSpc>
            </a:pPr>
            <a:r>
              <a:rPr lang="zh-CN" altLang="en-US" smtClean="0">
                <a:sym typeface="Symbol" pitchFamily="18" charset="2"/>
              </a:rPr>
              <a:t>1) </a:t>
            </a:r>
            <a:r>
              <a:rPr lang="en-US" altLang="zh-CN" smtClean="0">
                <a:sym typeface="Symbol" pitchFamily="18" charset="2"/>
              </a:rPr>
              <a:t>R&lt;,</a:t>
            </a:r>
            <a:endParaRPr lang="zh-CN" altLang="en-US" smtClean="0">
              <a:sym typeface="Symbol" pitchFamily="18" charset="2"/>
            </a:endParaRPr>
          </a:p>
          <a:p>
            <a:pPr marL="909638" lvl="1" indent="-338138" defTabSz="914400">
              <a:lnSpc>
                <a:spcPct val="80000"/>
              </a:lnSpc>
            </a:pPr>
            <a:r>
              <a:rPr lang="zh-CN" altLang="en-US" smtClean="0">
                <a:sym typeface="Symbol" pitchFamily="18" charset="2"/>
              </a:rPr>
              <a:t>舍入误差大于截断误差时,总误差的主部取决于舍入误差的主部;过多位字长部分的计算工作量可提高计算精度;</a:t>
            </a:r>
          </a:p>
          <a:p>
            <a:pPr marL="457200" indent="-457200" defTabSz="914400">
              <a:lnSpc>
                <a:spcPct val="80000"/>
              </a:lnSpc>
            </a:pPr>
            <a:r>
              <a:rPr lang="zh-CN" altLang="en-US" smtClean="0">
                <a:sym typeface="Symbol" pitchFamily="18" charset="2"/>
              </a:rPr>
              <a:t>(2) </a:t>
            </a:r>
            <a:r>
              <a:rPr lang="en-US" altLang="zh-CN" smtClean="0">
                <a:sym typeface="Symbol" pitchFamily="18" charset="2"/>
              </a:rPr>
              <a:t>R&gt;,</a:t>
            </a:r>
            <a:endParaRPr lang="zh-CN" altLang="en-US" smtClean="0">
              <a:sym typeface="Symbol" pitchFamily="18" charset="2"/>
            </a:endParaRPr>
          </a:p>
          <a:p>
            <a:pPr marL="909638" lvl="1" indent="-338138" defTabSz="914400">
              <a:lnSpc>
                <a:spcPct val="80000"/>
              </a:lnSpc>
            </a:pPr>
            <a:r>
              <a:rPr lang="zh-CN" altLang="en-US" smtClean="0">
                <a:sym typeface="Symbol" pitchFamily="18" charset="2"/>
              </a:rPr>
              <a:t>舍入误差小于截断误差时,总误差的主部取决于截断误差的主部;此时过多位字长部分的计算工作量无意义;</a:t>
            </a:r>
          </a:p>
          <a:p>
            <a:pPr marL="457200" indent="-457200" defTabSz="914400">
              <a:lnSpc>
                <a:spcPct val="80000"/>
              </a:lnSpc>
            </a:pPr>
            <a:r>
              <a:rPr lang="zh-CN" altLang="en-US" smtClean="0">
                <a:sym typeface="Symbol" pitchFamily="18" charset="2"/>
              </a:rPr>
              <a:t>(3) </a:t>
            </a:r>
            <a:r>
              <a:rPr lang="en-US" altLang="zh-CN" smtClean="0">
                <a:sym typeface="Symbol" pitchFamily="18" charset="2"/>
              </a:rPr>
              <a:t>R,</a:t>
            </a:r>
          </a:p>
          <a:p>
            <a:pPr marL="909638" lvl="1" indent="-338138" defTabSz="914400">
              <a:lnSpc>
                <a:spcPct val="80000"/>
              </a:lnSpc>
            </a:pPr>
            <a:r>
              <a:rPr lang="zh-CN" altLang="en-US" smtClean="0">
                <a:sym typeface="Symbol" pitchFamily="18" charset="2"/>
              </a:rPr>
              <a:t>此时,不会出现过多位字长和过多公式项上计算量的浪费</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36611">
                                            <p:txEl>
                                              <p:pRg st="0" end="0"/>
                                            </p:txEl>
                                          </p:spTgt>
                                        </p:tgtEl>
                                        <p:attrNameLst>
                                          <p:attrName>style.visibility</p:attrName>
                                        </p:attrNameLst>
                                      </p:cBhvr>
                                      <p:to>
                                        <p:strVal val="visible"/>
                                      </p:to>
                                    </p:set>
                                    <p:animEffect transition="in" filter="wipe(up)">
                                      <p:cBhvr>
                                        <p:cTn id="7" dur="500"/>
                                        <p:tgtEl>
                                          <p:spTgt spid="836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36611">
                                            <p:txEl>
                                              <p:pRg st="1" end="1"/>
                                            </p:txEl>
                                          </p:spTgt>
                                        </p:tgtEl>
                                        <p:attrNameLst>
                                          <p:attrName>style.visibility</p:attrName>
                                        </p:attrNameLst>
                                      </p:cBhvr>
                                      <p:to>
                                        <p:strVal val="visible"/>
                                      </p:to>
                                    </p:set>
                                    <p:animEffect transition="in" filter="wipe(up)">
                                      <p:cBhvr>
                                        <p:cTn id="12" dur="500"/>
                                        <p:tgtEl>
                                          <p:spTgt spid="8366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36611">
                                            <p:txEl>
                                              <p:pRg st="2" end="2"/>
                                            </p:txEl>
                                          </p:spTgt>
                                        </p:tgtEl>
                                        <p:attrNameLst>
                                          <p:attrName>style.visibility</p:attrName>
                                        </p:attrNameLst>
                                      </p:cBhvr>
                                      <p:to>
                                        <p:strVal val="visible"/>
                                      </p:to>
                                    </p:set>
                                    <p:animEffect transition="in" filter="wipe(up)">
                                      <p:cBhvr>
                                        <p:cTn id="17" dur="500"/>
                                        <p:tgtEl>
                                          <p:spTgt spid="8366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36611">
                                            <p:txEl>
                                              <p:pRg st="3" end="3"/>
                                            </p:txEl>
                                          </p:spTgt>
                                        </p:tgtEl>
                                        <p:attrNameLst>
                                          <p:attrName>style.visibility</p:attrName>
                                        </p:attrNameLst>
                                      </p:cBhvr>
                                      <p:to>
                                        <p:strVal val="visible"/>
                                      </p:to>
                                    </p:set>
                                    <p:animEffect transition="in" filter="wipe(up)">
                                      <p:cBhvr>
                                        <p:cTn id="22" dur="500"/>
                                        <p:tgtEl>
                                          <p:spTgt spid="8366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36611">
                                            <p:txEl>
                                              <p:pRg st="4" end="4"/>
                                            </p:txEl>
                                          </p:spTgt>
                                        </p:tgtEl>
                                        <p:attrNameLst>
                                          <p:attrName>style.visibility</p:attrName>
                                        </p:attrNameLst>
                                      </p:cBhvr>
                                      <p:to>
                                        <p:strVal val="visible"/>
                                      </p:to>
                                    </p:set>
                                    <p:animEffect transition="in" filter="wipe(up)">
                                      <p:cBhvr>
                                        <p:cTn id="27" dur="500"/>
                                        <p:tgtEl>
                                          <p:spTgt spid="8366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36611">
                                            <p:txEl>
                                              <p:pRg st="5" end="5"/>
                                            </p:txEl>
                                          </p:spTgt>
                                        </p:tgtEl>
                                        <p:attrNameLst>
                                          <p:attrName>style.visibility</p:attrName>
                                        </p:attrNameLst>
                                      </p:cBhvr>
                                      <p:to>
                                        <p:strVal val="visible"/>
                                      </p:to>
                                    </p:set>
                                    <p:animEffect transition="in" filter="wipe(up)">
                                      <p:cBhvr>
                                        <p:cTn id="32" dur="500"/>
                                        <p:tgtEl>
                                          <p:spTgt spid="8366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836611">
                                            <p:txEl>
                                              <p:pRg st="6" end="6"/>
                                            </p:txEl>
                                          </p:spTgt>
                                        </p:tgtEl>
                                        <p:attrNameLst>
                                          <p:attrName>style.visibility</p:attrName>
                                        </p:attrNameLst>
                                      </p:cBhvr>
                                      <p:to>
                                        <p:strVal val="visible"/>
                                      </p:to>
                                    </p:set>
                                    <p:animEffect transition="in" filter="wipe(up)">
                                      <p:cBhvr>
                                        <p:cTn id="37" dur="500"/>
                                        <p:tgtEl>
                                          <p:spTgt spid="83661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836611">
                                            <p:txEl>
                                              <p:pRg st="7" end="7"/>
                                            </p:txEl>
                                          </p:spTgt>
                                        </p:tgtEl>
                                        <p:attrNameLst>
                                          <p:attrName>style.visibility</p:attrName>
                                        </p:attrNameLst>
                                      </p:cBhvr>
                                      <p:to>
                                        <p:strVal val="visible"/>
                                      </p:to>
                                    </p:set>
                                    <p:animEffect transition="in" filter="wipe(up)">
                                      <p:cBhvr>
                                        <p:cTn id="42" dur="500"/>
                                        <p:tgtEl>
                                          <p:spTgt spid="8366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611" grpId="0" build="p" bldLvl="2"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CB78C5E-BF27-4F05-9687-756FBF66002E}" type="slidenum">
              <a:rPr lang="zh-CN" altLang="en-US" i="0" smtClean="0"/>
              <a:pPr/>
              <a:t>67</a:t>
            </a:fld>
            <a:endParaRPr lang="en-US" altLang="zh-CN" i="0" smtClean="0"/>
          </a:p>
        </p:txBody>
      </p:sp>
      <p:sp>
        <p:nvSpPr>
          <p:cNvPr id="6553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33258FC-625F-4DA3-A115-C19AC42B1643}" type="datetime1">
              <a:rPr lang="zh-CN" altLang="en-US" sz="1800" i="0" smtClean="0"/>
              <a:pPr/>
              <a:t>2024/9/8</a:t>
            </a:fld>
            <a:endParaRPr lang="en-US" altLang="zh-CN" sz="1000" i="0" smtClean="0"/>
          </a:p>
        </p:txBody>
      </p:sp>
      <p:sp>
        <p:nvSpPr>
          <p:cNvPr id="838658" name="Rectangle 2"/>
          <p:cNvSpPr>
            <a:spLocks noGrp="1" noChangeArrowheads="1"/>
          </p:cNvSpPr>
          <p:nvPr>
            <p:ph type="title"/>
          </p:nvPr>
        </p:nvSpPr>
        <p:spPr>
          <a:xfrm>
            <a:off x="762000" y="304800"/>
            <a:ext cx="8585200" cy="658813"/>
          </a:xfrm>
        </p:spPr>
        <p:txBody>
          <a:bodyPr/>
          <a:lstStyle/>
          <a:p>
            <a:pPr>
              <a:defRPr/>
            </a:pPr>
            <a:r>
              <a:rPr lang="zh-CN" altLang="en-US" smtClean="0"/>
              <a:t>6</a:t>
            </a:r>
            <a:r>
              <a:rPr lang="zh-CN" altLang="zh-CN" smtClean="0"/>
              <a:t>.</a:t>
            </a:r>
            <a:r>
              <a:rPr lang="zh-CN" altLang="en-US" smtClean="0"/>
              <a:t>2</a:t>
            </a:r>
            <a:r>
              <a:rPr lang="zh-CN" altLang="zh-CN" smtClean="0"/>
              <a:t>  </a:t>
            </a:r>
            <a:r>
              <a:rPr lang="zh-CN" altLang="en-US" smtClean="0"/>
              <a:t>误差配置的处理方法</a:t>
            </a:r>
          </a:p>
        </p:txBody>
      </p:sp>
      <p:sp>
        <p:nvSpPr>
          <p:cNvPr id="838659" name="Rectangle 3"/>
          <p:cNvSpPr>
            <a:spLocks noGrp="1" noChangeArrowheads="1"/>
          </p:cNvSpPr>
          <p:nvPr>
            <p:ph type="body" idx="1"/>
          </p:nvPr>
        </p:nvSpPr>
        <p:spPr>
          <a:xfrm>
            <a:off x="247650" y="1371600"/>
            <a:ext cx="9658350" cy="2154238"/>
          </a:xfrm>
        </p:spPr>
        <p:txBody>
          <a:bodyPr/>
          <a:lstStyle/>
          <a:p>
            <a:pPr>
              <a:lnSpc>
                <a:spcPct val="80000"/>
              </a:lnSpc>
              <a:buFont typeface="Wingdings" pitchFamily="2" charset="2"/>
              <a:buNone/>
            </a:pPr>
            <a:r>
              <a:rPr lang="zh-CN" altLang="en-US" smtClean="0"/>
              <a:t>	1.  给定运算误差</a:t>
            </a:r>
            <a:r>
              <a:rPr lang="en-US" altLang="zh-CN" smtClean="0">
                <a:sym typeface="Symbol" pitchFamily="18" charset="2"/>
              </a:rPr>
              <a:t></a:t>
            </a:r>
            <a:r>
              <a:rPr lang="en-US" altLang="zh-CN" smtClean="0"/>
              <a:t> ，</a:t>
            </a:r>
            <a:r>
              <a:rPr lang="zh-CN" altLang="en-US" smtClean="0"/>
              <a:t>确定参与运算的数值字长</a:t>
            </a:r>
          </a:p>
          <a:p>
            <a:pPr lvl="1">
              <a:lnSpc>
                <a:spcPct val="80000"/>
              </a:lnSpc>
            </a:pPr>
            <a:r>
              <a:rPr lang="zh-CN" altLang="en-US" smtClean="0"/>
              <a:t>若计算公式表示为</a:t>
            </a:r>
          </a:p>
          <a:p>
            <a:pPr lvl="1">
              <a:lnSpc>
                <a:spcPct val="80000"/>
              </a:lnSpc>
              <a:buFontTx/>
              <a:buNone/>
            </a:pPr>
            <a:r>
              <a:rPr lang="zh-CN" altLang="en-US" smtClean="0"/>
              <a:t>			</a:t>
            </a:r>
            <a:r>
              <a:rPr lang="en-US" altLang="zh-CN" i="1" smtClean="0"/>
              <a:t>y</a:t>
            </a:r>
            <a:r>
              <a:rPr lang="en-US" altLang="zh-CN" smtClean="0"/>
              <a:t>=</a:t>
            </a:r>
            <a:r>
              <a:rPr lang="en-US" altLang="zh-CN" i="1" smtClean="0"/>
              <a:t>f</a:t>
            </a:r>
            <a:r>
              <a:rPr lang="en-US" altLang="zh-CN" smtClean="0"/>
              <a:t>(</a:t>
            </a:r>
            <a:r>
              <a:rPr lang="en-US" altLang="zh-CN" i="1" smtClean="0"/>
              <a:t>x</a:t>
            </a:r>
            <a:r>
              <a:rPr lang="en-US" altLang="zh-CN" baseline="-25000" smtClean="0"/>
              <a:t>1</a:t>
            </a:r>
            <a:r>
              <a:rPr lang="en-US" altLang="zh-CN" smtClean="0"/>
              <a:t>, </a:t>
            </a:r>
            <a:r>
              <a:rPr lang="en-US" altLang="zh-CN" i="1" smtClean="0"/>
              <a:t>x</a:t>
            </a:r>
            <a:r>
              <a:rPr lang="en-US" altLang="zh-CN" baseline="-25000" smtClean="0"/>
              <a:t>2 </a:t>
            </a:r>
            <a:r>
              <a:rPr lang="en-US" altLang="zh-CN" smtClean="0"/>
              <a:t>, …, </a:t>
            </a:r>
            <a:r>
              <a:rPr lang="en-US" altLang="zh-CN" i="1" smtClean="0"/>
              <a:t>x</a:t>
            </a:r>
            <a:r>
              <a:rPr lang="en-US" altLang="zh-CN" baseline="-25000" smtClean="0"/>
              <a:t>n</a:t>
            </a:r>
            <a:r>
              <a:rPr lang="en-US" altLang="zh-CN" smtClean="0"/>
              <a:t>)，</a:t>
            </a:r>
          </a:p>
          <a:p>
            <a:pPr lvl="1">
              <a:lnSpc>
                <a:spcPct val="80000"/>
              </a:lnSpc>
              <a:buFontTx/>
              <a:buNone/>
            </a:pPr>
            <a:r>
              <a:rPr lang="en-US" altLang="zh-CN" smtClean="0"/>
              <a:t>	</a:t>
            </a:r>
            <a:r>
              <a:rPr lang="zh-CN" altLang="en-US" smtClean="0"/>
              <a:t>设其允许的舍入误差为</a:t>
            </a:r>
            <a:r>
              <a:rPr lang="zh-CN" altLang="en-US" smtClean="0">
                <a:sym typeface="Symbol" pitchFamily="18" charset="2"/>
              </a:rPr>
              <a:t></a:t>
            </a:r>
            <a:r>
              <a:rPr lang="en-US" altLang="zh-CN" i="1" smtClean="0"/>
              <a:t>x</a:t>
            </a:r>
            <a:r>
              <a:rPr lang="en-US" altLang="zh-CN" i="1" baseline="-25000" smtClean="0"/>
              <a:t>i</a:t>
            </a:r>
            <a:r>
              <a:rPr lang="zh-CN" altLang="en-US" smtClean="0"/>
              <a:t>，则计算结果的舍入误差可按下式近似计算</a:t>
            </a:r>
          </a:p>
        </p:txBody>
      </p:sp>
      <p:graphicFrame>
        <p:nvGraphicFramePr>
          <p:cNvPr id="838660" name="Object 4" descr="再生纸"/>
          <p:cNvGraphicFramePr>
            <a:graphicFrameLocks noChangeAspect="1"/>
          </p:cNvGraphicFramePr>
          <p:nvPr/>
        </p:nvGraphicFramePr>
        <p:xfrm>
          <a:off x="1820863" y="3429000"/>
          <a:ext cx="6321425" cy="1104900"/>
        </p:xfrm>
        <a:graphic>
          <a:graphicData uri="http://schemas.openxmlformats.org/presentationml/2006/ole">
            <mc:AlternateContent xmlns:mc="http://schemas.openxmlformats.org/markup-compatibility/2006">
              <mc:Choice xmlns:v="urn:schemas-microsoft-com:vml" Requires="v">
                <p:oleObj spid="_x0000_s65588" name="Equation" r:id="rId4" imgW="2270743" imgH="426711" progId="Equation.DSMT4">
                  <p:embed/>
                </p:oleObj>
              </mc:Choice>
              <mc:Fallback>
                <p:oleObj name="Equation" r:id="rId4" imgW="2270743" imgH="426711" progId="Equation.DSMT4">
                  <p:embed/>
                  <p:pic>
                    <p:nvPicPr>
                      <p:cNvPr id="0" name="Object 4"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0863" y="3429000"/>
                        <a:ext cx="6321425" cy="11049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661" name="Object 5" descr="再生纸"/>
          <p:cNvGraphicFramePr>
            <a:graphicFrameLocks noChangeAspect="1"/>
          </p:cNvGraphicFramePr>
          <p:nvPr/>
        </p:nvGraphicFramePr>
        <p:xfrm>
          <a:off x="1816100" y="4608513"/>
          <a:ext cx="2908300" cy="1438275"/>
        </p:xfrm>
        <a:graphic>
          <a:graphicData uri="http://schemas.openxmlformats.org/presentationml/2006/ole">
            <mc:AlternateContent xmlns:mc="http://schemas.openxmlformats.org/markup-compatibility/2006">
              <mc:Choice xmlns:v="urn:schemas-microsoft-com:vml" Requires="v">
                <p:oleObj spid="_x0000_s65589" name="Equation" r:id="rId7" imgW="1143038" imgH="617176" progId="Equation.3">
                  <p:embed/>
                </p:oleObj>
              </mc:Choice>
              <mc:Fallback>
                <p:oleObj name="Equation" r:id="rId7" imgW="1143038" imgH="617176" progId="Equation.3">
                  <p:embed/>
                  <p:pic>
                    <p:nvPicPr>
                      <p:cNvPr id="0" name="Object 5" descr="再生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6100" y="4608513"/>
                        <a:ext cx="2908300" cy="143827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838659">
                                            <p:txEl>
                                              <p:pRg st="0" end="0"/>
                                            </p:txEl>
                                          </p:spTgt>
                                        </p:tgtEl>
                                        <p:attrNameLst>
                                          <p:attrName>style.visibility</p:attrName>
                                        </p:attrNameLst>
                                      </p:cBhvr>
                                      <p:to>
                                        <p:strVal val="visible"/>
                                      </p:to>
                                    </p:set>
                                    <p:animEffect transition="in" filter="wipe(up)">
                                      <p:cBhvr>
                                        <p:cTn id="7" dur="75"/>
                                        <p:tgtEl>
                                          <p:spTgt spid="838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838659">
                                            <p:txEl>
                                              <p:pRg st="1" end="1"/>
                                            </p:txEl>
                                          </p:spTgt>
                                        </p:tgtEl>
                                        <p:attrNameLst>
                                          <p:attrName>style.visibility</p:attrName>
                                        </p:attrNameLst>
                                      </p:cBhvr>
                                      <p:to>
                                        <p:strVal val="visible"/>
                                      </p:to>
                                    </p:set>
                                    <p:animEffect transition="in" filter="wipe(up)">
                                      <p:cBhvr>
                                        <p:cTn id="12" dur="75"/>
                                        <p:tgtEl>
                                          <p:spTgt spid="8386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838659">
                                            <p:txEl>
                                              <p:pRg st="2" end="2"/>
                                            </p:txEl>
                                          </p:spTgt>
                                        </p:tgtEl>
                                        <p:attrNameLst>
                                          <p:attrName>style.visibility</p:attrName>
                                        </p:attrNameLst>
                                      </p:cBhvr>
                                      <p:to>
                                        <p:strVal val="visible"/>
                                      </p:to>
                                    </p:set>
                                    <p:animEffect transition="in" filter="wipe(up)">
                                      <p:cBhvr>
                                        <p:cTn id="17" dur="75"/>
                                        <p:tgtEl>
                                          <p:spTgt spid="8386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838659">
                                            <p:txEl>
                                              <p:pRg st="3" end="3"/>
                                            </p:txEl>
                                          </p:spTgt>
                                        </p:tgtEl>
                                        <p:attrNameLst>
                                          <p:attrName>style.visibility</p:attrName>
                                        </p:attrNameLst>
                                      </p:cBhvr>
                                      <p:to>
                                        <p:strVal val="visible"/>
                                      </p:to>
                                    </p:set>
                                    <p:animEffect transition="in" filter="wipe(up)">
                                      <p:cBhvr>
                                        <p:cTn id="22" dur="75"/>
                                        <p:tgtEl>
                                          <p:spTgt spid="838659">
                                            <p:txEl>
                                              <p:pRg st="3" end="3"/>
                                            </p:txEl>
                                          </p:spTgt>
                                        </p:tgtEl>
                                      </p:cBhvr>
                                    </p:animEffect>
                                  </p:childTnLst>
                                </p:cTn>
                              </p:par>
                            </p:childTnLst>
                          </p:cTn>
                        </p:par>
                        <p:par>
                          <p:cTn id="23" fill="hold" nodeType="afterGroup">
                            <p:stCondLst>
                              <p:cond delay="2400"/>
                            </p:stCondLst>
                            <p:childTnLst>
                              <p:par>
                                <p:cTn id="24" presetID="2" presetClass="entr" presetSubtype="8" fill="hold" nodeType="afterEffect">
                                  <p:stCondLst>
                                    <p:cond delay="0"/>
                                  </p:stCondLst>
                                  <p:childTnLst>
                                    <p:set>
                                      <p:cBhvr>
                                        <p:cTn id="25" dur="1" fill="hold">
                                          <p:stCondLst>
                                            <p:cond delay="0"/>
                                          </p:stCondLst>
                                        </p:cTn>
                                        <p:tgtEl>
                                          <p:spTgt spid="838660"/>
                                        </p:tgtEl>
                                        <p:attrNameLst>
                                          <p:attrName>style.visibility</p:attrName>
                                        </p:attrNameLst>
                                      </p:cBhvr>
                                      <p:to>
                                        <p:strVal val="visible"/>
                                      </p:to>
                                    </p:set>
                                    <p:anim calcmode="lin" valueType="num">
                                      <p:cBhvr additive="base">
                                        <p:cTn id="26" dur="500" fill="hold"/>
                                        <p:tgtEl>
                                          <p:spTgt spid="838660"/>
                                        </p:tgtEl>
                                        <p:attrNameLst>
                                          <p:attrName>ppt_x</p:attrName>
                                        </p:attrNameLst>
                                      </p:cBhvr>
                                      <p:tavLst>
                                        <p:tav tm="0">
                                          <p:val>
                                            <p:strVal val="0-#ppt_w/2"/>
                                          </p:val>
                                        </p:tav>
                                        <p:tav tm="100000">
                                          <p:val>
                                            <p:strVal val="#ppt_x"/>
                                          </p:val>
                                        </p:tav>
                                      </p:tavLst>
                                    </p:anim>
                                    <p:anim calcmode="lin" valueType="num">
                                      <p:cBhvr additive="base">
                                        <p:cTn id="27" dur="500" fill="hold"/>
                                        <p:tgtEl>
                                          <p:spTgt spid="838660"/>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2900"/>
                            </p:stCondLst>
                            <p:childTnLst>
                              <p:par>
                                <p:cTn id="29" presetID="2" presetClass="entr" presetSubtype="8" fill="hold" nodeType="afterEffect">
                                  <p:stCondLst>
                                    <p:cond delay="5000"/>
                                  </p:stCondLst>
                                  <p:childTnLst>
                                    <p:set>
                                      <p:cBhvr>
                                        <p:cTn id="30" dur="1" fill="hold">
                                          <p:stCondLst>
                                            <p:cond delay="0"/>
                                          </p:stCondLst>
                                        </p:cTn>
                                        <p:tgtEl>
                                          <p:spTgt spid="838661"/>
                                        </p:tgtEl>
                                        <p:attrNameLst>
                                          <p:attrName>style.visibility</p:attrName>
                                        </p:attrNameLst>
                                      </p:cBhvr>
                                      <p:to>
                                        <p:strVal val="visible"/>
                                      </p:to>
                                    </p:set>
                                    <p:anim calcmode="lin" valueType="num">
                                      <p:cBhvr additive="base">
                                        <p:cTn id="31" dur="500" fill="hold"/>
                                        <p:tgtEl>
                                          <p:spTgt spid="838661"/>
                                        </p:tgtEl>
                                        <p:attrNameLst>
                                          <p:attrName>ppt_x</p:attrName>
                                        </p:attrNameLst>
                                      </p:cBhvr>
                                      <p:tavLst>
                                        <p:tav tm="0">
                                          <p:val>
                                            <p:strVal val="0-#ppt_w/2"/>
                                          </p:val>
                                        </p:tav>
                                        <p:tav tm="100000">
                                          <p:val>
                                            <p:strVal val="#ppt_x"/>
                                          </p:val>
                                        </p:tav>
                                      </p:tavLst>
                                    </p:anim>
                                    <p:anim calcmode="lin" valueType="num">
                                      <p:cBhvr additive="base">
                                        <p:cTn id="32" dur="500" fill="hold"/>
                                        <p:tgtEl>
                                          <p:spTgt spid="8386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8659" grpId="0" build="p" bldLvl="2"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31D844A-0E84-4299-88E5-53694F0ADD87}" type="slidenum">
              <a:rPr lang="zh-CN" altLang="en-US" i="0" smtClean="0"/>
              <a:pPr/>
              <a:t>68</a:t>
            </a:fld>
            <a:endParaRPr lang="en-US" altLang="zh-CN" i="0" smtClean="0"/>
          </a:p>
        </p:txBody>
      </p:sp>
      <p:sp>
        <p:nvSpPr>
          <p:cNvPr id="6656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F4670491-A77E-484B-9B4D-2599406B9702}" type="datetime1">
              <a:rPr lang="zh-CN" altLang="en-US" sz="1800" i="0" smtClean="0"/>
              <a:pPr/>
              <a:t>2024/9/8</a:t>
            </a:fld>
            <a:endParaRPr lang="en-US" altLang="zh-CN" sz="1000" i="0" smtClean="0"/>
          </a:p>
        </p:txBody>
      </p:sp>
      <p:sp>
        <p:nvSpPr>
          <p:cNvPr id="840709" name="Rectangle 5"/>
          <p:cNvSpPr>
            <a:spLocks noGrp="1" noChangeArrowheads="1"/>
          </p:cNvSpPr>
          <p:nvPr>
            <p:ph type="body" idx="1"/>
          </p:nvPr>
        </p:nvSpPr>
        <p:spPr>
          <a:xfrm>
            <a:off x="165100" y="1295400"/>
            <a:ext cx="9575800" cy="822325"/>
          </a:xfrm>
        </p:spPr>
        <p:txBody>
          <a:bodyPr/>
          <a:lstStyle/>
          <a:p>
            <a:pPr>
              <a:spcBef>
                <a:spcPct val="50000"/>
              </a:spcBef>
              <a:buFont typeface="Wingdings" pitchFamily="2" charset="2"/>
              <a:buNone/>
            </a:pPr>
            <a:r>
              <a:rPr lang="zh-CN" altLang="en-US" sz="3200" b="0" smtClean="0">
                <a:latin typeface="宋体" pitchFamily="2" charset="-122"/>
              </a:rPr>
              <a:t>	</a:t>
            </a:r>
            <a:r>
              <a:rPr lang="zh-CN" altLang="en-US" smtClean="0">
                <a:latin typeface="宋体" pitchFamily="2" charset="-122"/>
              </a:rPr>
              <a:t>例1.12长方形面积</a:t>
            </a:r>
            <a:r>
              <a:rPr lang="en-US" altLang="zh-CN" smtClean="0">
                <a:latin typeface="宋体" pitchFamily="2" charset="-122"/>
              </a:rPr>
              <a:t>s=ab,</a:t>
            </a:r>
            <a:r>
              <a:rPr lang="zh-CN" altLang="en-US" smtClean="0">
                <a:latin typeface="宋体" pitchFamily="2" charset="-122"/>
              </a:rPr>
              <a:t>其中</a:t>
            </a:r>
            <a:r>
              <a:rPr lang="en-US" altLang="zh-CN" smtClean="0">
                <a:latin typeface="宋体" pitchFamily="2" charset="-122"/>
              </a:rPr>
              <a:t>a</a:t>
            </a:r>
            <a:r>
              <a:rPr lang="zh-CN" altLang="en-US" sz="3200" smtClean="0">
                <a:sym typeface="Symbol" pitchFamily="18" charset="2"/>
              </a:rPr>
              <a:t></a:t>
            </a:r>
            <a:r>
              <a:rPr lang="zh-CN" altLang="en-US" smtClean="0"/>
              <a:t> 5</a:t>
            </a:r>
            <a:r>
              <a:rPr lang="en-US" altLang="zh-CN" smtClean="0"/>
              <a:t>m, </a:t>
            </a:r>
            <a:r>
              <a:rPr lang="en-US" altLang="zh-CN" smtClean="0">
                <a:latin typeface="宋体" pitchFamily="2" charset="-122"/>
              </a:rPr>
              <a:t>b</a:t>
            </a:r>
            <a:r>
              <a:rPr lang="zh-CN" altLang="en-US" sz="3200" smtClean="0">
                <a:sym typeface="Symbol" pitchFamily="18" charset="2"/>
              </a:rPr>
              <a:t></a:t>
            </a:r>
            <a:r>
              <a:rPr lang="zh-CN" altLang="en-US" smtClean="0"/>
              <a:t> 200</a:t>
            </a:r>
            <a:r>
              <a:rPr lang="en-US" altLang="zh-CN" smtClean="0"/>
              <a:t>m，</a:t>
            </a:r>
            <a:r>
              <a:rPr lang="zh-CN" altLang="en-US" smtClean="0"/>
              <a:t>计算</a:t>
            </a:r>
            <a:r>
              <a:rPr lang="en-US" altLang="zh-CN" smtClean="0"/>
              <a:t>S</a:t>
            </a:r>
            <a:r>
              <a:rPr lang="zh-CN" altLang="en-US" smtClean="0"/>
              <a:t>的运算误差要求为</a:t>
            </a:r>
            <a:r>
              <a:rPr lang="zh-CN" altLang="en-US" smtClean="0">
                <a:sym typeface="Symbol" pitchFamily="18" charset="2"/>
              </a:rPr>
              <a:t></a:t>
            </a:r>
            <a:r>
              <a:rPr lang="en-US" altLang="zh-CN" smtClean="0">
                <a:latin typeface="宋体" pitchFamily="2" charset="-122"/>
              </a:rPr>
              <a:t>s=1m</a:t>
            </a:r>
            <a:r>
              <a:rPr lang="en-US" altLang="zh-CN" baseline="30000" smtClean="0">
                <a:latin typeface="宋体" pitchFamily="2" charset="-122"/>
              </a:rPr>
              <a:t>2</a:t>
            </a:r>
            <a:r>
              <a:rPr lang="en-US" altLang="zh-CN" smtClean="0">
                <a:latin typeface="宋体" pitchFamily="2" charset="-122"/>
              </a:rPr>
              <a:t>，</a:t>
            </a:r>
            <a:r>
              <a:rPr lang="zh-CN" altLang="en-US" smtClean="0">
                <a:latin typeface="宋体" pitchFamily="2" charset="-122"/>
              </a:rPr>
              <a:t>试确定两直角边的允许误差</a:t>
            </a:r>
          </a:p>
        </p:txBody>
      </p:sp>
      <p:sp>
        <p:nvSpPr>
          <p:cNvPr id="840710" name="Text Box 6"/>
          <p:cNvSpPr txBox="1">
            <a:spLocks noChangeArrowheads="1"/>
          </p:cNvSpPr>
          <p:nvPr/>
        </p:nvSpPr>
        <p:spPr bwMode="auto">
          <a:xfrm>
            <a:off x="1981200" y="2460625"/>
            <a:ext cx="6356350" cy="3357563"/>
          </a:xfrm>
          <a:prstGeom prst="rect">
            <a:avLst/>
          </a:prstGeom>
          <a:noFill/>
          <a:ln w="349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spcBef>
                <a:spcPct val="50000"/>
              </a:spcBef>
            </a:pPr>
            <a:r>
              <a:rPr lang="zh-CN" altLang="en-US" sz="3200" i="0">
                <a:latin typeface="宋体" pitchFamily="2" charset="-122"/>
              </a:rPr>
              <a:t>解：</a:t>
            </a:r>
          </a:p>
          <a:p>
            <a:pPr algn="l">
              <a:spcBef>
                <a:spcPct val="50000"/>
              </a:spcBef>
            </a:pPr>
            <a:endParaRPr lang="zh-CN" altLang="en-US" sz="3200" i="0">
              <a:latin typeface="宋体" pitchFamily="2" charset="-122"/>
            </a:endParaRPr>
          </a:p>
          <a:p>
            <a:pPr>
              <a:spcBef>
                <a:spcPct val="50000"/>
              </a:spcBef>
            </a:pPr>
            <a:endParaRPr lang="zh-CN" altLang="en-US" sz="3200" i="0">
              <a:latin typeface="宋体" pitchFamily="2" charset="-122"/>
            </a:endParaRPr>
          </a:p>
          <a:p>
            <a:pPr>
              <a:spcBef>
                <a:spcPct val="50000"/>
              </a:spcBef>
            </a:pPr>
            <a:endParaRPr lang="zh-CN" altLang="en-US" sz="3200" i="0">
              <a:latin typeface="宋体" pitchFamily="2" charset="-122"/>
            </a:endParaRPr>
          </a:p>
          <a:p>
            <a:pPr>
              <a:spcBef>
                <a:spcPct val="50000"/>
              </a:spcBef>
            </a:pPr>
            <a:endParaRPr lang="zh-CN" altLang="en-US" sz="2400" b="0" i="0">
              <a:latin typeface="宋体" pitchFamily="2" charset="-122"/>
            </a:endParaRPr>
          </a:p>
        </p:txBody>
      </p:sp>
      <p:sp>
        <p:nvSpPr>
          <p:cNvPr id="840711" name="Text Box 7"/>
          <p:cNvSpPr txBox="1">
            <a:spLocks noChangeArrowheads="1"/>
          </p:cNvSpPr>
          <p:nvPr/>
        </p:nvSpPr>
        <p:spPr bwMode="auto">
          <a:xfrm>
            <a:off x="3248025" y="2438400"/>
            <a:ext cx="2687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latin typeface="宋体" pitchFamily="2" charset="-122"/>
              </a:rPr>
              <a:t>因为</a:t>
            </a:r>
            <a:r>
              <a:rPr lang="en-US" altLang="zh-CN" sz="2800">
                <a:latin typeface="Times New Roman" pitchFamily="18" charset="0"/>
              </a:rPr>
              <a:t>d</a:t>
            </a:r>
            <a:r>
              <a:rPr lang="en-US" altLang="zh-CN" sz="2800" i="0">
                <a:latin typeface="宋体" pitchFamily="2" charset="-122"/>
              </a:rPr>
              <a:t>s=b</a:t>
            </a:r>
            <a:r>
              <a:rPr lang="en-US" altLang="zh-CN" sz="2800">
                <a:latin typeface="Times New Roman" pitchFamily="18" charset="0"/>
              </a:rPr>
              <a:t>d</a:t>
            </a:r>
            <a:r>
              <a:rPr lang="en-US" altLang="zh-CN" sz="2800" i="0">
                <a:latin typeface="宋体" pitchFamily="2" charset="-122"/>
              </a:rPr>
              <a:t>a+a</a:t>
            </a:r>
            <a:r>
              <a:rPr lang="en-US" altLang="zh-CN" sz="2800">
                <a:latin typeface="Times New Roman" pitchFamily="18" charset="0"/>
              </a:rPr>
              <a:t>d</a:t>
            </a:r>
            <a:r>
              <a:rPr lang="en-US" altLang="zh-CN" sz="2800" i="0">
                <a:latin typeface="宋体" pitchFamily="2" charset="-122"/>
              </a:rPr>
              <a:t>b</a:t>
            </a:r>
            <a:endParaRPr lang="en-US" altLang="zh-CN" sz="2800" b="0" i="0">
              <a:latin typeface="宋体" pitchFamily="2" charset="-122"/>
            </a:endParaRPr>
          </a:p>
        </p:txBody>
      </p:sp>
      <p:sp>
        <p:nvSpPr>
          <p:cNvPr id="840712" name="Text Box 8"/>
          <p:cNvSpPr txBox="1">
            <a:spLocks noChangeArrowheads="1"/>
          </p:cNvSpPr>
          <p:nvPr/>
        </p:nvSpPr>
        <p:spPr bwMode="auto">
          <a:xfrm>
            <a:off x="3308350" y="3032125"/>
            <a:ext cx="2757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latin typeface="宋体" pitchFamily="2" charset="-122"/>
              </a:rPr>
              <a:t>令</a:t>
            </a:r>
            <a:r>
              <a:rPr lang="en-US" altLang="zh-CN" sz="2800">
                <a:latin typeface="Times New Roman" pitchFamily="18" charset="0"/>
              </a:rPr>
              <a:t>d</a:t>
            </a:r>
            <a:r>
              <a:rPr lang="en-US" altLang="zh-CN" sz="2800" i="0">
                <a:latin typeface="宋体" pitchFamily="2" charset="-122"/>
              </a:rPr>
              <a:t>a=</a:t>
            </a:r>
            <a:r>
              <a:rPr lang="en-US" altLang="zh-CN" sz="2800">
                <a:latin typeface="Times New Roman" pitchFamily="18" charset="0"/>
              </a:rPr>
              <a:t>d</a:t>
            </a:r>
            <a:r>
              <a:rPr lang="en-US" altLang="zh-CN" sz="2800" i="0">
                <a:latin typeface="宋体" pitchFamily="2" charset="-122"/>
              </a:rPr>
              <a:t>b=</a:t>
            </a:r>
            <a:r>
              <a:rPr lang="zh-CN" altLang="en-US" sz="3200" i="0">
                <a:latin typeface="Arial Narrow" pitchFamily="34" charset="0"/>
                <a:sym typeface="Symbol" pitchFamily="18" charset="2"/>
              </a:rPr>
              <a:t></a:t>
            </a:r>
            <a:r>
              <a:rPr lang="en-US" altLang="zh-CN" sz="2800" i="0">
                <a:latin typeface="宋体" pitchFamily="2" charset="-122"/>
              </a:rPr>
              <a:t>,</a:t>
            </a:r>
            <a:r>
              <a:rPr lang="zh-CN" altLang="en-US" sz="2800" i="0">
                <a:latin typeface="宋体" pitchFamily="2" charset="-122"/>
              </a:rPr>
              <a:t>解得</a:t>
            </a:r>
          </a:p>
        </p:txBody>
      </p:sp>
      <p:sp>
        <p:nvSpPr>
          <p:cNvPr id="840713" name="Text Box 9"/>
          <p:cNvSpPr txBox="1">
            <a:spLocks noChangeArrowheads="1"/>
          </p:cNvSpPr>
          <p:nvPr/>
        </p:nvSpPr>
        <p:spPr bwMode="auto">
          <a:xfrm>
            <a:off x="3438525" y="3622675"/>
            <a:ext cx="384175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nSpc>
                <a:spcPct val="80000"/>
              </a:lnSpc>
              <a:spcBef>
                <a:spcPct val="50000"/>
              </a:spcBef>
            </a:pPr>
            <a:r>
              <a:rPr lang="zh-CN" altLang="en-US" sz="3200" i="0">
                <a:latin typeface="Arial Narrow" pitchFamily="34" charset="0"/>
                <a:sym typeface="Symbol" pitchFamily="18" charset="2"/>
              </a:rPr>
              <a:t></a:t>
            </a:r>
            <a:r>
              <a:rPr lang="en-US" altLang="zh-CN" sz="2800" i="0">
                <a:latin typeface="宋体" pitchFamily="2" charset="-122"/>
              </a:rPr>
              <a:t>=</a:t>
            </a:r>
            <a:r>
              <a:rPr lang="en-US" altLang="zh-CN" sz="2800">
                <a:latin typeface="Times New Roman" pitchFamily="18" charset="0"/>
              </a:rPr>
              <a:t>d</a:t>
            </a:r>
            <a:r>
              <a:rPr lang="en-US" altLang="zh-CN" sz="2800" i="0">
                <a:latin typeface="宋体" pitchFamily="2" charset="-122"/>
              </a:rPr>
              <a:t>s/(a+b)=1/(5+200)</a:t>
            </a:r>
          </a:p>
          <a:p>
            <a:pPr>
              <a:lnSpc>
                <a:spcPct val="80000"/>
              </a:lnSpc>
              <a:spcBef>
                <a:spcPct val="50000"/>
              </a:spcBef>
            </a:pPr>
            <a:r>
              <a:rPr lang="zh-CN" altLang="en-US" sz="3600" i="0">
                <a:latin typeface="Arial Narrow" pitchFamily="34" charset="0"/>
                <a:sym typeface="Symbol" pitchFamily="18" charset="2"/>
              </a:rPr>
              <a:t></a:t>
            </a:r>
            <a:r>
              <a:rPr lang="zh-CN" altLang="en-US" sz="2800" i="0">
                <a:latin typeface="宋体" pitchFamily="2" charset="-122"/>
              </a:rPr>
              <a:t>0.005=0.5*10</a:t>
            </a:r>
            <a:r>
              <a:rPr lang="zh-CN" altLang="en-US" sz="2800" i="0" baseline="30000">
                <a:latin typeface="宋体" pitchFamily="2" charset="-122"/>
              </a:rPr>
              <a:t>-2</a:t>
            </a:r>
          </a:p>
        </p:txBody>
      </p:sp>
      <p:sp>
        <p:nvSpPr>
          <p:cNvPr id="840714" name="Text Box 10"/>
          <p:cNvSpPr txBox="1">
            <a:spLocks noChangeArrowheads="1"/>
          </p:cNvSpPr>
          <p:nvPr/>
        </p:nvSpPr>
        <p:spPr bwMode="auto">
          <a:xfrm>
            <a:off x="2559050" y="4876800"/>
            <a:ext cx="4471988"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lgn="l">
              <a:lnSpc>
                <a:spcPct val="60000"/>
              </a:lnSpc>
              <a:spcBef>
                <a:spcPct val="50000"/>
              </a:spcBef>
            </a:pPr>
            <a:r>
              <a:rPr lang="zh-CN" altLang="en-US" sz="2800" i="0">
                <a:latin typeface="宋体" pitchFamily="2" charset="-122"/>
              </a:rPr>
              <a:t>可见数值</a:t>
            </a:r>
            <a:r>
              <a:rPr lang="en-US" altLang="zh-CN" sz="2800" i="0">
                <a:latin typeface="宋体" pitchFamily="2" charset="-122"/>
              </a:rPr>
              <a:t>a、b</a:t>
            </a:r>
            <a:r>
              <a:rPr lang="zh-CN" altLang="en-US" sz="2800" i="0">
                <a:latin typeface="宋体" pitchFamily="2" charset="-122"/>
              </a:rPr>
              <a:t>的字长应取至</a:t>
            </a:r>
          </a:p>
          <a:p>
            <a:pPr algn="l">
              <a:lnSpc>
                <a:spcPct val="60000"/>
              </a:lnSpc>
              <a:spcBef>
                <a:spcPct val="50000"/>
              </a:spcBef>
            </a:pPr>
            <a:r>
              <a:rPr lang="zh-CN" altLang="en-US" sz="2800" i="0">
                <a:latin typeface="宋体" pitchFamily="2" charset="-122"/>
              </a:rPr>
              <a:t>小数后2位</a:t>
            </a:r>
            <a:endParaRPr lang="zh-CN" altLang="en-US" sz="2800" b="0" i="0">
              <a:latin typeface="宋体" pitchFamily="2" charset="-122"/>
            </a:endParaRPr>
          </a:p>
        </p:txBody>
      </p:sp>
      <p:sp>
        <p:nvSpPr>
          <p:cNvPr id="840715" name="Rectangle 11"/>
          <p:cNvSpPr>
            <a:spLocks noGrp="1" noChangeArrowheads="1"/>
          </p:cNvSpPr>
          <p:nvPr>
            <p:ph type="title"/>
          </p:nvPr>
        </p:nvSpPr>
        <p:spPr>
          <a:xfrm>
            <a:off x="685800" y="228600"/>
            <a:ext cx="7924800" cy="762000"/>
          </a:xfrm>
          <a:effectLst>
            <a:outerShdw dist="53882" dir="2700000" algn="ctr" rotWithShape="0">
              <a:schemeClr val="bg2"/>
            </a:outerShdw>
          </a:effectLst>
        </p:spPr>
        <p:txBody>
          <a:bodyPr lIns="92075" tIns="46038" rIns="92075" bIns="46038" anchor="ctr"/>
          <a:lstStyle/>
          <a:p>
            <a:pPr>
              <a:defRPr/>
            </a:pPr>
            <a:r>
              <a:rPr lang="zh-CN" altLang="en-US" smtClean="0"/>
              <a:t>6</a:t>
            </a:r>
            <a:r>
              <a:rPr lang="zh-CN" altLang="zh-CN" smtClean="0"/>
              <a:t>.</a:t>
            </a:r>
            <a:r>
              <a:rPr lang="zh-CN" altLang="en-US" smtClean="0"/>
              <a:t>2</a:t>
            </a:r>
            <a:r>
              <a:rPr lang="zh-CN" altLang="zh-CN" smtClean="0"/>
              <a:t>  </a:t>
            </a:r>
            <a:r>
              <a:rPr lang="zh-CN" altLang="en-US" smtClean="0"/>
              <a:t>误差配置的处理方法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grpId="0" nodeType="afterEffect">
                                  <p:stCondLst>
                                    <p:cond delay="0"/>
                                  </p:stCondLst>
                                  <p:iterate type="lt">
                                    <p:tmPct val="100000"/>
                                  </p:iterate>
                                  <p:childTnLst>
                                    <p:set>
                                      <p:cBhvr>
                                        <p:cTn id="6" dur="1" fill="hold">
                                          <p:stCondLst>
                                            <p:cond delay="0"/>
                                          </p:stCondLst>
                                        </p:cTn>
                                        <p:tgtEl>
                                          <p:spTgt spid="840709">
                                            <p:txEl>
                                              <p:pRg st="0" end="0"/>
                                            </p:txEl>
                                          </p:spTgt>
                                        </p:tgtEl>
                                        <p:attrNameLst>
                                          <p:attrName>style.visibility</p:attrName>
                                        </p:attrNameLst>
                                      </p:cBhvr>
                                      <p:to>
                                        <p:strVal val="visible"/>
                                      </p:to>
                                    </p:set>
                                    <p:anim calcmode="lin" valueType="num">
                                      <p:cBhvr>
                                        <p:cTn id="7" dur="75" fill="hold"/>
                                        <p:tgtEl>
                                          <p:spTgt spid="840709">
                                            <p:txEl>
                                              <p:pRg st="0" end="0"/>
                                            </p:txEl>
                                          </p:spTgt>
                                        </p:tgtEl>
                                        <p:attrNameLst>
                                          <p:attrName>ppt_x</p:attrName>
                                        </p:attrNameLst>
                                      </p:cBhvr>
                                      <p:tavLst>
                                        <p:tav tm="0">
                                          <p:val>
                                            <p:strVal val="#ppt_x-#ppt_w/2"/>
                                          </p:val>
                                        </p:tav>
                                        <p:tav tm="100000">
                                          <p:val>
                                            <p:strVal val="#ppt_x"/>
                                          </p:val>
                                        </p:tav>
                                      </p:tavLst>
                                    </p:anim>
                                    <p:anim calcmode="lin" valueType="num">
                                      <p:cBhvr>
                                        <p:cTn id="8" dur="75" fill="hold"/>
                                        <p:tgtEl>
                                          <p:spTgt spid="840709">
                                            <p:txEl>
                                              <p:pRg st="0" end="0"/>
                                            </p:txEl>
                                          </p:spTgt>
                                        </p:tgtEl>
                                        <p:attrNameLst>
                                          <p:attrName>ppt_y</p:attrName>
                                        </p:attrNameLst>
                                      </p:cBhvr>
                                      <p:tavLst>
                                        <p:tav tm="0">
                                          <p:val>
                                            <p:strVal val="#ppt_y"/>
                                          </p:val>
                                        </p:tav>
                                        <p:tav tm="100000">
                                          <p:val>
                                            <p:strVal val="#ppt_y"/>
                                          </p:val>
                                        </p:tav>
                                      </p:tavLst>
                                    </p:anim>
                                    <p:anim calcmode="lin" valueType="num">
                                      <p:cBhvr>
                                        <p:cTn id="9" dur="75" fill="hold"/>
                                        <p:tgtEl>
                                          <p:spTgt spid="840709">
                                            <p:txEl>
                                              <p:pRg st="0" end="0"/>
                                            </p:txEl>
                                          </p:spTgt>
                                        </p:tgtEl>
                                        <p:attrNameLst>
                                          <p:attrName>ppt_w</p:attrName>
                                        </p:attrNameLst>
                                      </p:cBhvr>
                                      <p:tavLst>
                                        <p:tav tm="0">
                                          <p:val>
                                            <p:fltVal val="0"/>
                                          </p:val>
                                        </p:tav>
                                        <p:tav tm="100000">
                                          <p:val>
                                            <p:strVal val="#ppt_w"/>
                                          </p:val>
                                        </p:tav>
                                      </p:tavLst>
                                    </p:anim>
                                    <p:anim calcmode="lin" valueType="num">
                                      <p:cBhvr>
                                        <p:cTn id="10" dur="75" fill="hold"/>
                                        <p:tgtEl>
                                          <p:spTgt spid="840709">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840710"/>
                                        </p:tgtEl>
                                        <p:attrNameLst>
                                          <p:attrName>style.visibility</p:attrName>
                                        </p:attrNameLst>
                                      </p:cBhvr>
                                      <p:to>
                                        <p:strVal val="visible"/>
                                      </p:to>
                                    </p:set>
                                    <p:anim calcmode="lin" valueType="num">
                                      <p:cBhvr additive="base">
                                        <p:cTn id="15" dur="500" fill="hold"/>
                                        <p:tgtEl>
                                          <p:spTgt spid="840710"/>
                                        </p:tgtEl>
                                        <p:attrNameLst>
                                          <p:attrName>ppt_x</p:attrName>
                                        </p:attrNameLst>
                                      </p:cBhvr>
                                      <p:tavLst>
                                        <p:tav tm="0">
                                          <p:val>
                                            <p:strVal val="0-#ppt_w/2"/>
                                          </p:val>
                                        </p:tav>
                                        <p:tav tm="100000">
                                          <p:val>
                                            <p:strVal val="#ppt_x"/>
                                          </p:val>
                                        </p:tav>
                                      </p:tavLst>
                                    </p:anim>
                                    <p:anim calcmode="lin" valueType="num">
                                      <p:cBhvr additive="base">
                                        <p:cTn id="16" dur="500" fill="hold"/>
                                        <p:tgtEl>
                                          <p:spTgt spid="840710"/>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840711"/>
                                        </p:tgtEl>
                                        <p:attrNameLst>
                                          <p:attrName>style.visibility</p:attrName>
                                        </p:attrNameLst>
                                      </p:cBhvr>
                                      <p:to>
                                        <p:strVal val="visible"/>
                                      </p:to>
                                    </p:set>
                                    <p:animEffect transition="in" filter="dissolve">
                                      <p:cBhvr>
                                        <p:cTn id="20" dur="500"/>
                                        <p:tgtEl>
                                          <p:spTgt spid="84071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840712"/>
                                        </p:tgtEl>
                                        <p:attrNameLst>
                                          <p:attrName>style.visibility</p:attrName>
                                        </p:attrNameLst>
                                      </p:cBhvr>
                                      <p:to>
                                        <p:strVal val="visible"/>
                                      </p:to>
                                    </p:set>
                                    <p:animEffect transition="in" filter="dissolve">
                                      <p:cBhvr>
                                        <p:cTn id="25" dur="500"/>
                                        <p:tgtEl>
                                          <p:spTgt spid="8407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840713"/>
                                        </p:tgtEl>
                                        <p:attrNameLst>
                                          <p:attrName>style.visibility</p:attrName>
                                        </p:attrNameLst>
                                      </p:cBhvr>
                                      <p:to>
                                        <p:strVal val="visible"/>
                                      </p:to>
                                    </p:set>
                                    <p:animEffect transition="in" filter="dissolve">
                                      <p:cBhvr>
                                        <p:cTn id="30" dur="500"/>
                                        <p:tgtEl>
                                          <p:spTgt spid="8407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7" presetClass="entr" presetSubtype="4" fill="hold" grpId="0" nodeType="clickEffect">
                                  <p:stCondLst>
                                    <p:cond delay="0"/>
                                  </p:stCondLst>
                                  <p:childTnLst>
                                    <p:set>
                                      <p:cBhvr>
                                        <p:cTn id="34" dur="1" fill="hold">
                                          <p:stCondLst>
                                            <p:cond delay="0"/>
                                          </p:stCondLst>
                                        </p:cTn>
                                        <p:tgtEl>
                                          <p:spTgt spid="840714"/>
                                        </p:tgtEl>
                                        <p:attrNameLst>
                                          <p:attrName>style.visibility</p:attrName>
                                        </p:attrNameLst>
                                      </p:cBhvr>
                                      <p:to>
                                        <p:strVal val="visible"/>
                                      </p:to>
                                    </p:set>
                                    <p:anim calcmode="lin" valueType="num">
                                      <p:cBhvr additive="base">
                                        <p:cTn id="35" dur="5000" fill="hold"/>
                                        <p:tgtEl>
                                          <p:spTgt spid="840714"/>
                                        </p:tgtEl>
                                        <p:attrNameLst>
                                          <p:attrName>ppt_x</p:attrName>
                                        </p:attrNameLst>
                                      </p:cBhvr>
                                      <p:tavLst>
                                        <p:tav tm="0">
                                          <p:val>
                                            <p:strVal val="#ppt_x"/>
                                          </p:val>
                                        </p:tav>
                                        <p:tav tm="100000">
                                          <p:val>
                                            <p:strVal val="#ppt_x"/>
                                          </p:val>
                                        </p:tav>
                                      </p:tavLst>
                                    </p:anim>
                                    <p:anim calcmode="lin" valueType="num">
                                      <p:cBhvr additive="base">
                                        <p:cTn id="36" dur="5000" fill="hold"/>
                                        <p:tgtEl>
                                          <p:spTgt spid="8407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09" grpId="0" build="p" autoUpdateAnimBg="0" advAuto="0"/>
      <p:bldP spid="840710" grpId="0" animBg="1" autoUpdateAnimBg="0"/>
      <p:bldP spid="840711" grpId="0" autoUpdateAnimBg="0"/>
      <p:bldP spid="840712" grpId="0" autoUpdateAnimBg="0"/>
      <p:bldP spid="840713" grpId="0" autoUpdateAnimBg="0"/>
      <p:bldP spid="840714"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A13B12C-E4ED-4C8D-9074-E64BEF20CDB0}" type="slidenum">
              <a:rPr lang="zh-CN" altLang="en-US" i="0" smtClean="0"/>
              <a:pPr/>
              <a:t>69</a:t>
            </a:fld>
            <a:endParaRPr lang="en-US" altLang="zh-CN" i="0" smtClean="0"/>
          </a:p>
        </p:txBody>
      </p:sp>
      <p:sp>
        <p:nvSpPr>
          <p:cNvPr id="6758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C57C7E95-DBFE-4CCD-B947-2B6D7BEA7C63}" type="datetime1">
              <a:rPr lang="zh-CN" altLang="en-US" sz="1800" i="0" smtClean="0"/>
              <a:pPr/>
              <a:t>2024/9/8</a:t>
            </a:fld>
            <a:endParaRPr lang="en-US" altLang="zh-CN" sz="1000" i="0" smtClean="0"/>
          </a:p>
        </p:txBody>
      </p:sp>
      <p:sp>
        <p:nvSpPr>
          <p:cNvPr id="841730" name="Rectangle 2"/>
          <p:cNvSpPr>
            <a:spLocks noGrp="1" noChangeArrowheads="1"/>
          </p:cNvSpPr>
          <p:nvPr>
            <p:ph type="title"/>
          </p:nvPr>
        </p:nvSpPr>
        <p:spPr>
          <a:xfrm>
            <a:off x="685800" y="304800"/>
            <a:ext cx="8585200" cy="658813"/>
          </a:xfrm>
        </p:spPr>
        <p:txBody>
          <a:bodyPr/>
          <a:lstStyle/>
          <a:p>
            <a:pPr>
              <a:defRPr/>
            </a:pPr>
            <a:r>
              <a:rPr lang="zh-CN" altLang="en-US" smtClean="0"/>
              <a:t>6</a:t>
            </a:r>
            <a:r>
              <a:rPr lang="zh-CN" altLang="zh-CN" smtClean="0"/>
              <a:t>.</a:t>
            </a:r>
            <a:r>
              <a:rPr lang="zh-CN" altLang="en-US" smtClean="0"/>
              <a:t>2</a:t>
            </a:r>
            <a:r>
              <a:rPr lang="zh-CN" altLang="zh-CN" smtClean="0"/>
              <a:t>  </a:t>
            </a:r>
            <a:r>
              <a:rPr lang="zh-CN" altLang="en-US" smtClean="0"/>
              <a:t>误差配置的处理方法</a:t>
            </a:r>
          </a:p>
        </p:txBody>
      </p:sp>
      <p:sp>
        <p:nvSpPr>
          <p:cNvPr id="841731" name="Rectangle 3"/>
          <p:cNvSpPr>
            <a:spLocks noGrp="1" noChangeArrowheads="1"/>
          </p:cNvSpPr>
          <p:nvPr>
            <p:ph type="body" idx="1"/>
          </p:nvPr>
        </p:nvSpPr>
        <p:spPr>
          <a:xfrm>
            <a:off x="660400" y="1371600"/>
            <a:ext cx="8997950" cy="3822700"/>
          </a:xfrm>
        </p:spPr>
        <p:txBody>
          <a:bodyPr/>
          <a:lstStyle/>
          <a:p>
            <a:pPr>
              <a:lnSpc>
                <a:spcPct val="120000"/>
              </a:lnSpc>
            </a:pPr>
            <a:r>
              <a:rPr lang="zh-CN" altLang="en-US" smtClean="0"/>
              <a:t>2.  近似式的项数已定而字长待定</a:t>
            </a:r>
          </a:p>
          <a:p>
            <a:pPr lvl="1">
              <a:lnSpc>
                <a:spcPct val="120000"/>
              </a:lnSpc>
            </a:pPr>
            <a:r>
              <a:rPr lang="zh-CN" altLang="en-US" smtClean="0"/>
              <a:t>估算余式</a:t>
            </a:r>
            <a:r>
              <a:rPr lang="en-US" altLang="zh-CN" smtClean="0"/>
              <a:t>R</a:t>
            </a:r>
            <a:r>
              <a:rPr lang="en-US" altLang="zh-CN" baseline="-25000" smtClean="0"/>
              <a:t>n</a:t>
            </a:r>
            <a:r>
              <a:rPr lang="zh-CN" altLang="en-US" smtClean="0"/>
              <a:t>的大小</a:t>
            </a:r>
          </a:p>
          <a:p>
            <a:pPr lvl="1">
              <a:lnSpc>
                <a:spcPct val="120000"/>
              </a:lnSpc>
            </a:pPr>
            <a:r>
              <a:rPr lang="zh-CN" altLang="en-US" smtClean="0"/>
              <a:t>令</a:t>
            </a:r>
            <a:r>
              <a:rPr lang="en-US" altLang="zh-CN" smtClean="0">
                <a:sym typeface="Symbol" pitchFamily="18" charset="2"/>
              </a:rPr>
              <a:t></a:t>
            </a:r>
            <a:r>
              <a:rPr lang="en-US" altLang="zh-CN" smtClean="0"/>
              <a:t>= R</a:t>
            </a:r>
            <a:r>
              <a:rPr lang="en-US" altLang="zh-CN" baseline="-25000" smtClean="0"/>
              <a:t>n </a:t>
            </a:r>
            <a:r>
              <a:rPr lang="zh-CN" altLang="en-US" smtClean="0"/>
              <a:t>, 按照1可确定数值字长</a:t>
            </a:r>
          </a:p>
          <a:p>
            <a:pPr>
              <a:lnSpc>
                <a:spcPct val="120000"/>
              </a:lnSpc>
            </a:pPr>
            <a:r>
              <a:rPr lang="zh-CN" altLang="en-US" smtClean="0"/>
              <a:t>3.  总误差</a:t>
            </a:r>
            <a:r>
              <a:rPr lang="zh-CN" altLang="en-US" smtClean="0">
                <a:sym typeface="Symbol" pitchFamily="18" charset="2"/>
              </a:rPr>
              <a:t></a:t>
            </a:r>
            <a:r>
              <a:rPr lang="zh-CN" altLang="en-US" smtClean="0"/>
              <a:t>给定，要求确定项数和数值字长.</a:t>
            </a:r>
          </a:p>
          <a:p>
            <a:pPr lvl="1">
              <a:lnSpc>
                <a:spcPct val="120000"/>
              </a:lnSpc>
            </a:pPr>
            <a:r>
              <a:rPr lang="zh-CN" altLang="en-US" smtClean="0"/>
              <a:t>	应取</a:t>
            </a:r>
            <a:r>
              <a:rPr lang="en-US" altLang="zh-CN" smtClean="0">
                <a:sym typeface="Symbol" pitchFamily="18" charset="2"/>
              </a:rPr>
              <a:t></a:t>
            </a:r>
            <a:r>
              <a:rPr lang="en-US" altLang="zh-CN" smtClean="0"/>
              <a:t> = R</a:t>
            </a:r>
            <a:r>
              <a:rPr lang="en-US" altLang="zh-CN" baseline="-25000" smtClean="0"/>
              <a:t>n </a:t>
            </a:r>
            <a:r>
              <a:rPr lang="en-US" altLang="zh-CN" smtClean="0"/>
              <a:t>= </a:t>
            </a:r>
            <a:r>
              <a:rPr lang="zh-CN" altLang="en-US" smtClean="0">
                <a:sym typeface="Symbol" pitchFamily="18" charset="2"/>
              </a:rPr>
              <a:t></a:t>
            </a:r>
            <a:r>
              <a:rPr lang="en-US" altLang="zh-CN" smtClean="0"/>
              <a:t>/2</a:t>
            </a:r>
            <a:r>
              <a:rPr lang="en-US" altLang="zh-CN" baseline="-25000" smtClean="0"/>
              <a:t> </a:t>
            </a:r>
            <a:r>
              <a:rPr lang="zh-CN" altLang="en-US" smtClean="0"/>
              <a:t>，按照</a:t>
            </a:r>
            <a:r>
              <a:rPr lang="en-US" altLang="zh-CN" smtClean="0"/>
              <a:t>R</a:t>
            </a:r>
            <a:r>
              <a:rPr lang="en-US" altLang="zh-CN" baseline="-25000" smtClean="0"/>
              <a:t>n</a:t>
            </a:r>
            <a:r>
              <a:rPr lang="zh-CN" altLang="en-US" smtClean="0"/>
              <a:t>的大小，确定项数</a:t>
            </a:r>
          </a:p>
          <a:p>
            <a:pPr lvl="1">
              <a:lnSpc>
                <a:spcPct val="120000"/>
              </a:lnSpc>
            </a:pPr>
            <a:r>
              <a:rPr lang="zh-CN" altLang="en-US" smtClean="0"/>
              <a:t>在计算公式和</a:t>
            </a:r>
            <a:r>
              <a:rPr lang="en-US" altLang="zh-CN" smtClean="0">
                <a:sym typeface="Symbol" pitchFamily="18" charset="2"/>
              </a:rPr>
              <a:t></a:t>
            </a:r>
            <a:r>
              <a:rPr lang="zh-CN" altLang="en-US" smtClean="0"/>
              <a:t>已定情况下，按照1可确定数值字长</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841731">
                                            <p:txEl>
                                              <p:pRg st="0" end="0"/>
                                            </p:txEl>
                                          </p:spTgt>
                                        </p:tgtEl>
                                        <p:attrNameLst>
                                          <p:attrName>style.visibility</p:attrName>
                                        </p:attrNameLst>
                                      </p:cBhvr>
                                      <p:to>
                                        <p:strVal val="visible"/>
                                      </p:to>
                                    </p:set>
                                    <p:animEffect transition="in" filter="wipe(up)">
                                      <p:cBhvr>
                                        <p:cTn id="7" dur="75"/>
                                        <p:tgtEl>
                                          <p:spTgt spid="841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841731">
                                            <p:txEl>
                                              <p:pRg st="1" end="1"/>
                                            </p:txEl>
                                          </p:spTgt>
                                        </p:tgtEl>
                                        <p:attrNameLst>
                                          <p:attrName>style.visibility</p:attrName>
                                        </p:attrNameLst>
                                      </p:cBhvr>
                                      <p:to>
                                        <p:strVal val="visible"/>
                                      </p:to>
                                    </p:set>
                                    <p:animEffect transition="in" filter="wipe(up)">
                                      <p:cBhvr>
                                        <p:cTn id="12" dur="75"/>
                                        <p:tgtEl>
                                          <p:spTgt spid="8417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841731">
                                            <p:txEl>
                                              <p:pRg st="2" end="2"/>
                                            </p:txEl>
                                          </p:spTgt>
                                        </p:tgtEl>
                                        <p:attrNameLst>
                                          <p:attrName>style.visibility</p:attrName>
                                        </p:attrNameLst>
                                      </p:cBhvr>
                                      <p:to>
                                        <p:strVal val="visible"/>
                                      </p:to>
                                    </p:set>
                                    <p:animEffect transition="in" filter="wipe(up)">
                                      <p:cBhvr>
                                        <p:cTn id="17" dur="75"/>
                                        <p:tgtEl>
                                          <p:spTgt spid="8417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841731">
                                            <p:txEl>
                                              <p:pRg st="3" end="3"/>
                                            </p:txEl>
                                          </p:spTgt>
                                        </p:tgtEl>
                                        <p:attrNameLst>
                                          <p:attrName>style.visibility</p:attrName>
                                        </p:attrNameLst>
                                      </p:cBhvr>
                                      <p:to>
                                        <p:strVal val="visible"/>
                                      </p:to>
                                    </p:set>
                                    <p:animEffect transition="in" filter="wipe(up)">
                                      <p:cBhvr>
                                        <p:cTn id="22" dur="75"/>
                                        <p:tgtEl>
                                          <p:spTgt spid="8417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841731">
                                            <p:txEl>
                                              <p:pRg st="4" end="4"/>
                                            </p:txEl>
                                          </p:spTgt>
                                        </p:tgtEl>
                                        <p:attrNameLst>
                                          <p:attrName>style.visibility</p:attrName>
                                        </p:attrNameLst>
                                      </p:cBhvr>
                                      <p:to>
                                        <p:strVal val="visible"/>
                                      </p:to>
                                    </p:set>
                                    <p:animEffect transition="in" filter="wipe(up)">
                                      <p:cBhvr>
                                        <p:cTn id="27" dur="75"/>
                                        <p:tgtEl>
                                          <p:spTgt spid="8417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841731">
                                            <p:txEl>
                                              <p:pRg st="5" end="5"/>
                                            </p:txEl>
                                          </p:spTgt>
                                        </p:tgtEl>
                                        <p:attrNameLst>
                                          <p:attrName>style.visibility</p:attrName>
                                        </p:attrNameLst>
                                      </p:cBhvr>
                                      <p:to>
                                        <p:strVal val="visible"/>
                                      </p:to>
                                    </p:set>
                                    <p:animEffect transition="in" filter="wipe(up)">
                                      <p:cBhvr>
                                        <p:cTn id="32" dur="75"/>
                                        <p:tgtEl>
                                          <p:spTgt spid="8417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731" grpId="0" build="p" bldLvl="2"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8468B34-1EA0-4701-AA45-B77BA07B04E9}" type="slidenum">
              <a:rPr lang="zh-CN" altLang="en-US" i="0" smtClean="0"/>
              <a:pPr/>
              <a:t>70</a:t>
            </a:fld>
            <a:endParaRPr lang="en-US" altLang="zh-CN" i="0" smtClean="0"/>
          </a:p>
        </p:txBody>
      </p:sp>
      <p:sp>
        <p:nvSpPr>
          <p:cNvPr id="6861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3E814E9-7BCB-4343-8A34-8D68B6BF84BA}" type="datetime1">
              <a:rPr lang="zh-CN" altLang="en-US" sz="1800" i="0" smtClean="0"/>
              <a:pPr/>
              <a:t>2024/9/8</a:t>
            </a:fld>
            <a:endParaRPr lang="en-US" altLang="zh-CN" sz="1000" i="0" smtClean="0"/>
          </a:p>
        </p:txBody>
      </p:sp>
      <p:sp>
        <p:nvSpPr>
          <p:cNvPr id="880642" name="Rectangle 2"/>
          <p:cNvSpPr>
            <a:spLocks noGrp="1" noChangeArrowheads="1"/>
          </p:cNvSpPr>
          <p:nvPr>
            <p:ph type="title"/>
          </p:nvPr>
        </p:nvSpPr>
        <p:spPr/>
        <p:txBody>
          <a:bodyPr/>
          <a:lstStyle/>
          <a:p>
            <a:pPr>
              <a:defRPr/>
            </a:pPr>
            <a:r>
              <a:rPr lang="zh-CN" altLang="en-US" smtClean="0"/>
              <a:t>6</a:t>
            </a:r>
            <a:r>
              <a:rPr lang="zh-CN" altLang="zh-CN" smtClean="0"/>
              <a:t>.</a:t>
            </a:r>
            <a:r>
              <a:rPr lang="zh-CN" altLang="en-US" smtClean="0"/>
              <a:t>2</a:t>
            </a:r>
            <a:r>
              <a:rPr lang="zh-CN" altLang="zh-CN" smtClean="0"/>
              <a:t>  </a:t>
            </a:r>
            <a:r>
              <a:rPr lang="zh-CN" altLang="en-US" smtClean="0"/>
              <a:t>误差配置的处理方法</a:t>
            </a:r>
          </a:p>
        </p:txBody>
      </p:sp>
      <p:graphicFrame>
        <p:nvGraphicFramePr>
          <p:cNvPr id="68613" name="Object 3" descr="再生纸"/>
          <p:cNvGraphicFramePr>
            <a:graphicFrameLocks noChangeAspect="1"/>
          </p:cNvGraphicFramePr>
          <p:nvPr/>
        </p:nvGraphicFramePr>
        <p:xfrm>
          <a:off x="560388" y="981075"/>
          <a:ext cx="8420100" cy="1476375"/>
        </p:xfrm>
        <a:graphic>
          <a:graphicData uri="http://schemas.openxmlformats.org/presentationml/2006/ole">
            <mc:AlternateContent xmlns:mc="http://schemas.openxmlformats.org/markup-compatibility/2006">
              <mc:Choice xmlns:v="urn:schemas-microsoft-com:vml" Requires="v">
                <p:oleObj spid="_x0000_s68722" name="公式" r:id="rId4" imgW="3352800" imgH="622300" progId="Equation.3">
                  <p:embed/>
                </p:oleObj>
              </mc:Choice>
              <mc:Fallback>
                <p:oleObj name="公式" r:id="rId4" imgW="3352800" imgH="622300" progId="Equation.3">
                  <p:embed/>
                  <p:pic>
                    <p:nvPicPr>
                      <p:cNvPr id="0" name="Object 3"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981075"/>
                        <a:ext cx="8420100" cy="147637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44" name="Object 4" descr="再生纸"/>
          <p:cNvGraphicFramePr>
            <a:graphicFrameLocks noChangeAspect="1"/>
          </p:cNvGraphicFramePr>
          <p:nvPr/>
        </p:nvGraphicFramePr>
        <p:xfrm>
          <a:off x="6821488" y="3048000"/>
          <a:ext cx="2589212" cy="1130300"/>
        </p:xfrm>
        <a:graphic>
          <a:graphicData uri="http://schemas.openxmlformats.org/presentationml/2006/ole">
            <mc:AlternateContent xmlns:mc="http://schemas.openxmlformats.org/markup-compatibility/2006">
              <mc:Choice xmlns:v="urn:schemas-microsoft-com:vml" Requires="v">
                <p:oleObj spid="_x0000_s68723" name="Equation" r:id="rId7" imgW="761669" imgH="431613" progId="Equation.3">
                  <p:embed/>
                </p:oleObj>
              </mc:Choice>
              <mc:Fallback>
                <p:oleObj name="Equation" r:id="rId7" imgW="761669" imgH="431613" progId="Equation.3">
                  <p:embed/>
                  <p:pic>
                    <p:nvPicPr>
                      <p:cNvPr id="0" name="Object 4" descr="再生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1488" y="3048000"/>
                        <a:ext cx="2589212" cy="113030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645" name="Rectangle 5" descr="再生纸"/>
          <p:cNvSpPr>
            <a:spLocks noGrp="1" noChangeArrowheads="1"/>
          </p:cNvSpPr>
          <p:nvPr>
            <p:ph type="body" idx="1"/>
          </p:nvPr>
        </p:nvSpPr>
        <p:spPr>
          <a:xfrm>
            <a:off x="330200" y="2362200"/>
            <a:ext cx="8915400" cy="1181100"/>
          </a:xfrm>
          <a:noFill/>
        </p:spPr>
        <p:txBody>
          <a:bodyPr lIns="92075" tIns="46038" rIns="92075" bIns="46038"/>
          <a:lstStyle/>
          <a:p>
            <a:pPr lvl="1">
              <a:lnSpc>
                <a:spcPct val="110000"/>
              </a:lnSpc>
              <a:buFontTx/>
              <a:buNone/>
            </a:pPr>
            <a:r>
              <a:rPr lang="zh-CN" altLang="en-US" smtClean="0">
                <a:solidFill>
                  <a:schemeClr val="bg2"/>
                </a:solidFill>
              </a:rPr>
              <a:t>解：取</a:t>
            </a:r>
            <a:r>
              <a:rPr lang="en-US" altLang="zh-CN" smtClean="0">
                <a:solidFill>
                  <a:schemeClr val="bg2"/>
                </a:solidFill>
              </a:rPr>
              <a:t>R</a:t>
            </a:r>
            <a:r>
              <a:rPr lang="en-US" altLang="zh-CN" baseline="-25000" smtClean="0">
                <a:solidFill>
                  <a:schemeClr val="bg2"/>
                </a:solidFill>
              </a:rPr>
              <a:t>n</a:t>
            </a:r>
            <a:r>
              <a:rPr lang="en-US" altLang="zh-CN" smtClean="0">
                <a:solidFill>
                  <a:schemeClr val="bg2"/>
                </a:solidFill>
              </a:rPr>
              <a:t>=</a:t>
            </a:r>
            <a:r>
              <a:rPr lang="en-US" altLang="zh-CN" smtClean="0">
                <a:solidFill>
                  <a:schemeClr val="bg2"/>
                </a:solidFill>
                <a:sym typeface="Symbol" pitchFamily="18" charset="2"/>
              </a:rPr>
              <a:t></a:t>
            </a:r>
            <a:r>
              <a:rPr lang="en-US" altLang="zh-CN" smtClean="0">
                <a:solidFill>
                  <a:schemeClr val="bg2"/>
                </a:solidFill>
              </a:rPr>
              <a:t>/2=0.0005, </a:t>
            </a:r>
            <a:r>
              <a:rPr lang="en-US" altLang="zh-CN" smtClean="0">
                <a:solidFill>
                  <a:schemeClr val="bg2"/>
                </a:solidFill>
                <a:sym typeface="Symbol" pitchFamily="18" charset="2"/>
              </a:rPr>
              <a:t></a:t>
            </a:r>
            <a:r>
              <a:rPr lang="en-US" altLang="zh-CN" smtClean="0">
                <a:solidFill>
                  <a:schemeClr val="bg2"/>
                </a:solidFill>
              </a:rPr>
              <a:t>=</a:t>
            </a:r>
            <a:r>
              <a:rPr lang="en-US" altLang="zh-CN" smtClean="0">
                <a:solidFill>
                  <a:schemeClr val="bg2"/>
                </a:solidFill>
                <a:sym typeface="Symbol" pitchFamily="18" charset="2"/>
              </a:rPr>
              <a:t></a:t>
            </a:r>
            <a:r>
              <a:rPr lang="en-US" altLang="zh-CN" smtClean="0">
                <a:solidFill>
                  <a:schemeClr val="bg2"/>
                </a:solidFill>
              </a:rPr>
              <a:t>/2=0.0005</a:t>
            </a:r>
          </a:p>
          <a:p>
            <a:pPr lvl="1">
              <a:lnSpc>
                <a:spcPct val="110000"/>
              </a:lnSpc>
              <a:buFontTx/>
              <a:buNone/>
            </a:pPr>
            <a:r>
              <a:rPr lang="en-US" altLang="zh-CN" smtClean="0">
                <a:solidFill>
                  <a:schemeClr val="bg2"/>
                </a:solidFill>
              </a:rPr>
              <a:t>            	   </a:t>
            </a:r>
            <a:r>
              <a:rPr lang="zh-CN" altLang="en-US" smtClean="0">
                <a:solidFill>
                  <a:schemeClr val="bg2"/>
                </a:solidFill>
              </a:rPr>
              <a:t>设计算公式为</a:t>
            </a:r>
          </a:p>
        </p:txBody>
      </p:sp>
      <p:grpSp>
        <p:nvGrpSpPr>
          <p:cNvPr id="2" name="Group 6"/>
          <p:cNvGrpSpPr>
            <a:grpSpLocks/>
          </p:cNvGrpSpPr>
          <p:nvPr/>
        </p:nvGrpSpPr>
        <p:grpSpPr bwMode="auto">
          <a:xfrm>
            <a:off x="825500" y="4921250"/>
            <a:ext cx="1485900" cy="1312863"/>
            <a:chOff x="480" y="3100"/>
            <a:chExt cx="864" cy="827"/>
          </a:xfrm>
        </p:grpSpPr>
        <p:sp>
          <p:nvSpPr>
            <p:cNvPr id="68630" name="Rectangle 7" descr="宽上对角线"/>
            <p:cNvSpPr>
              <a:spLocks noChangeArrowheads="1"/>
            </p:cNvSpPr>
            <p:nvPr/>
          </p:nvSpPr>
          <p:spPr bwMode="auto">
            <a:xfrm>
              <a:off x="768" y="3216"/>
              <a:ext cx="432" cy="432"/>
            </a:xfrm>
            <a:prstGeom prst="rect">
              <a:avLst/>
            </a:prstGeom>
            <a:pattFill prst="wdUpDiag">
              <a:fgClr>
                <a:srgbClr val="000000"/>
              </a:fgClr>
              <a:bgClr>
                <a:srgbClr val="FFFFFF"/>
              </a:bgClr>
            </a:pattFill>
            <a:ln w="28575">
              <a:solidFill>
                <a:schemeClr val="bg1"/>
              </a:solidFill>
              <a:miter lim="800000"/>
              <a:headEnd/>
              <a:tailEnd/>
            </a:ln>
          </p:spPr>
          <p:txBody>
            <a:bodyPr wrap="none" anchor="ctr">
              <a:spAutoFit/>
            </a:bodyPr>
            <a:lstStyle/>
            <a:p>
              <a:endParaRPr lang="zh-CN" altLang="en-US"/>
            </a:p>
          </p:txBody>
        </p:sp>
        <p:sp>
          <p:nvSpPr>
            <p:cNvPr id="68631" name="Text Box 8"/>
            <p:cNvSpPr txBox="1">
              <a:spLocks noChangeArrowheads="1"/>
            </p:cNvSpPr>
            <p:nvPr/>
          </p:nvSpPr>
          <p:spPr bwMode="auto">
            <a:xfrm>
              <a:off x="480" y="310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b="0" i="0">
                  <a:solidFill>
                    <a:schemeClr val="bg2"/>
                  </a:solidFill>
                  <a:latin typeface="宋体" pitchFamily="2" charset="-122"/>
                </a:rPr>
                <a:t>1</a:t>
              </a:r>
              <a:endParaRPr lang="zh-CN" altLang="en-US" sz="2800" b="0" i="0">
                <a:latin typeface="宋体" pitchFamily="2" charset="-122"/>
              </a:endParaRPr>
            </a:p>
          </p:txBody>
        </p:sp>
        <p:sp>
          <p:nvSpPr>
            <p:cNvPr id="68632" name="Text Box 9"/>
            <p:cNvSpPr txBox="1">
              <a:spLocks noChangeArrowheads="1"/>
            </p:cNvSpPr>
            <p:nvPr/>
          </p:nvSpPr>
          <p:spPr bwMode="auto">
            <a:xfrm>
              <a:off x="480" y="360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b="0" i="0">
                  <a:solidFill>
                    <a:schemeClr val="bg2"/>
                  </a:solidFill>
                  <a:latin typeface="宋体" pitchFamily="2" charset="-122"/>
                </a:rPr>
                <a:t>0</a:t>
              </a:r>
              <a:endParaRPr lang="zh-CN" altLang="en-US" sz="2800" b="0" i="0">
                <a:latin typeface="宋体" pitchFamily="2" charset="-122"/>
              </a:endParaRPr>
            </a:p>
          </p:txBody>
        </p:sp>
        <p:sp>
          <p:nvSpPr>
            <p:cNvPr id="68633" name="Text Box 10"/>
            <p:cNvSpPr txBox="1">
              <a:spLocks noChangeArrowheads="1"/>
            </p:cNvSpPr>
            <p:nvPr/>
          </p:nvSpPr>
          <p:spPr bwMode="auto">
            <a:xfrm>
              <a:off x="1008" y="360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b="0" i="0">
                  <a:solidFill>
                    <a:schemeClr val="bg2"/>
                  </a:solidFill>
                  <a:latin typeface="宋体" pitchFamily="2" charset="-122"/>
                </a:rPr>
                <a:t>1</a:t>
              </a:r>
              <a:endParaRPr lang="zh-CN" altLang="en-US" sz="2800" b="0" i="0">
                <a:latin typeface="宋体" pitchFamily="2" charset="-122"/>
              </a:endParaRPr>
            </a:p>
          </p:txBody>
        </p:sp>
      </p:grpSp>
      <p:grpSp>
        <p:nvGrpSpPr>
          <p:cNvPr id="3" name="Group 11"/>
          <p:cNvGrpSpPr>
            <a:grpSpLocks/>
          </p:cNvGrpSpPr>
          <p:nvPr/>
        </p:nvGrpSpPr>
        <p:grpSpPr bwMode="auto">
          <a:xfrm>
            <a:off x="2063750" y="5562600"/>
            <a:ext cx="990600" cy="671513"/>
            <a:chOff x="1200" y="3504"/>
            <a:chExt cx="576" cy="423"/>
          </a:xfrm>
        </p:grpSpPr>
        <p:sp>
          <p:nvSpPr>
            <p:cNvPr id="68628" name="Rectangle 12" descr="宽上对角线"/>
            <p:cNvSpPr>
              <a:spLocks noChangeArrowheads="1"/>
            </p:cNvSpPr>
            <p:nvPr/>
          </p:nvSpPr>
          <p:spPr bwMode="auto">
            <a:xfrm>
              <a:off x="1200" y="3504"/>
              <a:ext cx="432" cy="144"/>
            </a:xfrm>
            <a:prstGeom prst="rect">
              <a:avLst/>
            </a:prstGeom>
            <a:pattFill prst="wdUpDiag">
              <a:fgClr>
                <a:srgbClr val="000000"/>
              </a:fgClr>
              <a:bgClr>
                <a:srgbClr val="FFFFFF"/>
              </a:bgClr>
            </a:pattFill>
            <a:ln w="28575">
              <a:solidFill>
                <a:schemeClr val="bg1"/>
              </a:solidFill>
              <a:miter lim="800000"/>
              <a:headEnd/>
              <a:tailEnd/>
            </a:ln>
          </p:spPr>
          <p:txBody>
            <a:bodyPr anchor="ctr">
              <a:spAutoFit/>
            </a:bodyPr>
            <a:lstStyle/>
            <a:p>
              <a:endParaRPr lang="zh-CN" altLang="en-US"/>
            </a:p>
          </p:txBody>
        </p:sp>
        <p:sp>
          <p:nvSpPr>
            <p:cNvPr id="68629" name="Text Box 13"/>
            <p:cNvSpPr txBox="1">
              <a:spLocks noChangeArrowheads="1"/>
            </p:cNvSpPr>
            <p:nvPr/>
          </p:nvSpPr>
          <p:spPr bwMode="auto">
            <a:xfrm>
              <a:off x="1440" y="360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2"/>
                  </a:solidFill>
                  <a:latin typeface="宋体" pitchFamily="2" charset="-122"/>
                </a:rPr>
                <a:t>2</a:t>
              </a:r>
              <a:endParaRPr lang="zh-CN" altLang="en-US" sz="2800" b="0" i="0">
                <a:latin typeface="宋体" pitchFamily="2" charset="-122"/>
              </a:endParaRPr>
            </a:p>
          </p:txBody>
        </p:sp>
      </p:grpSp>
      <p:grpSp>
        <p:nvGrpSpPr>
          <p:cNvPr id="4" name="Group 14"/>
          <p:cNvGrpSpPr>
            <a:grpSpLocks/>
          </p:cNvGrpSpPr>
          <p:nvPr/>
        </p:nvGrpSpPr>
        <p:grpSpPr bwMode="auto">
          <a:xfrm>
            <a:off x="2806700" y="5695950"/>
            <a:ext cx="990600" cy="538163"/>
            <a:chOff x="1632" y="3588"/>
            <a:chExt cx="576" cy="339"/>
          </a:xfrm>
        </p:grpSpPr>
        <p:sp>
          <p:nvSpPr>
            <p:cNvPr id="68626" name="Rectangle 15" descr="宽上对角线"/>
            <p:cNvSpPr>
              <a:spLocks noChangeArrowheads="1"/>
            </p:cNvSpPr>
            <p:nvPr/>
          </p:nvSpPr>
          <p:spPr bwMode="auto">
            <a:xfrm>
              <a:off x="1632" y="3588"/>
              <a:ext cx="432" cy="68"/>
            </a:xfrm>
            <a:prstGeom prst="rect">
              <a:avLst/>
            </a:prstGeom>
            <a:pattFill prst="wdUpDiag">
              <a:fgClr>
                <a:srgbClr val="000000"/>
              </a:fgClr>
              <a:bgClr>
                <a:srgbClr val="FFFFFF"/>
              </a:bgClr>
            </a:pattFill>
            <a:ln w="28575">
              <a:solidFill>
                <a:schemeClr val="bg1"/>
              </a:solidFill>
              <a:miter lim="800000"/>
              <a:headEnd/>
              <a:tailEnd/>
            </a:ln>
          </p:spPr>
          <p:txBody>
            <a:bodyPr anchor="ctr">
              <a:spAutoFit/>
            </a:bodyPr>
            <a:lstStyle/>
            <a:p>
              <a:endParaRPr lang="zh-CN" altLang="en-US"/>
            </a:p>
          </p:txBody>
        </p:sp>
        <p:sp>
          <p:nvSpPr>
            <p:cNvPr id="68627" name="Text Box 16"/>
            <p:cNvSpPr txBox="1">
              <a:spLocks noChangeArrowheads="1"/>
            </p:cNvSpPr>
            <p:nvPr/>
          </p:nvSpPr>
          <p:spPr bwMode="auto">
            <a:xfrm>
              <a:off x="1872" y="3600"/>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zh-CN" altLang="en-US" sz="2800" i="0">
                  <a:solidFill>
                    <a:schemeClr val="bg2"/>
                  </a:solidFill>
                  <a:latin typeface="宋体" pitchFamily="2" charset="-122"/>
                </a:rPr>
                <a:t>3</a:t>
              </a:r>
              <a:endParaRPr lang="zh-CN" altLang="en-US" sz="2800" b="0" i="0">
                <a:latin typeface="宋体" pitchFamily="2" charset="-122"/>
              </a:endParaRPr>
            </a:p>
          </p:txBody>
        </p:sp>
      </p:grpSp>
      <p:sp>
        <p:nvSpPr>
          <p:cNvPr id="880657" name="Line 17"/>
          <p:cNvSpPr>
            <a:spLocks noChangeShapeType="1"/>
          </p:cNvSpPr>
          <p:nvPr/>
        </p:nvSpPr>
        <p:spPr bwMode="auto">
          <a:xfrm>
            <a:off x="1320800" y="3657600"/>
            <a:ext cx="0" cy="2438400"/>
          </a:xfrm>
          <a:prstGeom prst="line">
            <a:avLst/>
          </a:prstGeom>
          <a:noFill/>
          <a:ln w="38100">
            <a:solidFill>
              <a:schemeClr val="bg2"/>
            </a:solidFill>
            <a:round/>
            <a:headEnd type="triangle" w="med" len="me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880658" name="Line 18"/>
          <p:cNvSpPr>
            <a:spLocks noChangeShapeType="1"/>
          </p:cNvSpPr>
          <p:nvPr/>
        </p:nvSpPr>
        <p:spPr bwMode="auto">
          <a:xfrm>
            <a:off x="990600" y="5791200"/>
            <a:ext cx="34671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80659" name="Arc 19"/>
          <p:cNvSpPr>
            <a:spLocks/>
          </p:cNvSpPr>
          <p:nvPr/>
        </p:nvSpPr>
        <p:spPr bwMode="auto">
          <a:xfrm rot="10800000">
            <a:off x="1485900" y="3581400"/>
            <a:ext cx="2322513" cy="2057400"/>
          </a:xfrm>
          <a:custGeom>
            <a:avLst/>
            <a:gdLst>
              <a:gd name="T0" fmla="*/ 0 w 24303"/>
              <a:gd name="T1" fmla="*/ 146902932 h 21600"/>
              <a:gd name="T2" fmla="*/ 2147483647 w 24303"/>
              <a:gd name="T3" fmla="*/ 2147483647 h 21600"/>
              <a:gd name="T4" fmla="*/ 2147483647 w 24303"/>
              <a:gd name="T5" fmla="*/ 2147483647 h 21600"/>
              <a:gd name="T6" fmla="*/ 0 60000 65536"/>
              <a:gd name="T7" fmla="*/ 0 60000 65536"/>
              <a:gd name="T8" fmla="*/ 0 60000 65536"/>
              <a:gd name="T9" fmla="*/ 0 w 24303"/>
              <a:gd name="T10" fmla="*/ 0 h 21600"/>
              <a:gd name="T11" fmla="*/ 24303 w 24303"/>
              <a:gd name="T12" fmla="*/ 21600 h 21600"/>
            </a:gdLst>
            <a:ahLst/>
            <a:cxnLst>
              <a:cxn ang="T6">
                <a:pos x="T0" y="T1"/>
              </a:cxn>
              <a:cxn ang="T7">
                <a:pos x="T2" y="T3"/>
              </a:cxn>
              <a:cxn ang="T8">
                <a:pos x="T4" y="T5"/>
              </a:cxn>
            </a:cxnLst>
            <a:rect l="T9" t="T10" r="T11" b="T12"/>
            <a:pathLst>
              <a:path w="24303" h="21600" fill="none" extrusionOk="0">
                <a:moveTo>
                  <a:pt x="-1" y="169"/>
                </a:moveTo>
                <a:cubicBezTo>
                  <a:pt x="896" y="56"/>
                  <a:pt x="1799" y="-1"/>
                  <a:pt x="2703" y="0"/>
                </a:cubicBezTo>
                <a:cubicBezTo>
                  <a:pt x="14632" y="0"/>
                  <a:pt x="24303" y="9670"/>
                  <a:pt x="24303" y="21600"/>
                </a:cubicBezTo>
              </a:path>
              <a:path w="24303" h="21600" stroke="0" extrusionOk="0">
                <a:moveTo>
                  <a:pt x="-1" y="169"/>
                </a:moveTo>
                <a:cubicBezTo>
                  <a:pt x="896" y="56"/>
                  <a:pt x="1799" y="-1"/>
                  <a:pt x="2703" y="0"/>
                </a:cubicBezTo>
                <a:cubicBezTo>
                  <a:pt x="14632" y="0"/>
                  <a:pt x="24303" y="9670"/>
                  <a:pt x="24303" y="21600"/>
                </a:cubicBezTo>
                <a:lnTo>
                  <a:pt x="2703" y="21600"/>
                </a:lnTo>
                <a:lnTo>
                  <a:pt x="-1" y="169"/>
                </a:lnTo>
                <a:close/>
              </a:path>
            </a:pathLst>
          </a:cu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880660" name="Text Box 20"/>
          <p:cNvSpPr txBox="1">
            <a:spLocks noChangeArrowheads="1"/>
          </p:cNvSpPr>
          <p:nvPr/>
        </p:nvSpPr>
        <p:spPr bwMode="auto">
          <a:xfrm>
            <a:off x="1485900" y="3352800"/>
            <a:ext cx="1403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b="1" i="1">
                <a:solidFill>
                  <a:schemeClr val="tx1"/>
                </a:solidFill>
                <a:latin typeface="Arial" pitchFamily="34" charset="0"/>
                <a:ea typeface="宋体" pitchFamily="2" charset="-122"/>
              </a:defRPr>
            </a:lvl1pPr>
            <a:lvl2pPr marL="742950" indent="-285750">
              <a:defRPr sz="2000" b="1" i="1">
                <a:solidFill>
                  <a:schemeClr val="tx1"/>
                </a:solidFill>
                <a:latin typeface="Arial" pitchFamily="34" charset="0"/>
                <a:ea typeface="宋体" pitchFamily="2" charset="-122"/>
              </a:defRPr>
            </a:lvl2pPr>
            <a:lvl3pPr marL="1143000" indent="-228600">
              <a:defRPr sz="2000" b="1" i="1">
                <a:solidFill>
                  <a:schemeClr val="tx1"/>
                </a:solidFill>
                <a:latin typeface="Arial" pitchFamily="34" charset="0"/>
                <a:ea typeface="宋体" pitchFamily="2" charset="-122"/>
              </a:defRPr>
            </a:lvl3pPr>
            <a:lvl4pPr marL="1600200" indent="-228600">
              <a:defRPr sz="2000" b="1" i="1">
                <a:solidFill>
                  <a:schemeClr val="tx1"/>
                </a:solidFill>
                <a:latin typeface="Arial" pitchFamily="34" charset="0"/>
                <a:ea typeface="宋体" pitchFamily="2" charset="-122"/>
              </a:defRPr>
            </a:lvl4pPr>
            <a:lvl5pPr marL="2057400" indent="-228600">
              <a:defRPr sz="2000" b="1" i="1">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000" b="1" i="1">
                <a:solidFill>
                  <a:schemeClr val="tx1"/>
                </a:solidFill>
                <a:latin typeface="Arial" pitchFamily="34" charset="0"/>
                <a:ea typeface="宋体" pitchFamily="2" charset="-122"/>
              </a:defRPr>
            </a:lvl9pPr>
          </a:lstStyle>
          <a:p>
            <a:pPr>
              <a:spcBef>
                <a:spcPct val="50000"/>
              </a:spcBef>
            </a:pPr>
            <a:r>
              <a:rPr lang="en-US" altLang="zh-CN" sz="2800" i="0">
                <a:solidFill>
                  <a:schemeClr val="bg2"/>
                </a:solidFill>
                <a:latin typeface="宋体" pitchFamily="2" charset="-122"/>
              </a:rPr>
              <a:t>y=1/x</a:t>
            </a:r>
            <a:r>
              <a:rPr lang="en-US" altLang="zh-CN" sz="2800" i="0" baseline="30000">
                <a:solidFill>
                  <a:schemeClr val="bg2"/>
                </a:solidFill>
                <a:latin typeface="宋体" pitchFamily="2" charset="-122"/>
              </a:rPr>
              <a:t>5</a:t>
            </a:r>
            <a:endParaRPr lang="en-US" altLang="zh-CN" sz="2800" b="0" i="0">
              <a:latin typeface="宋体" pitchFamily="2" charset="-122"/>
            </a:endParaRPr>
          </a:p>
        </p:txBody>
      </p:sp>
      <p:graphicFrame>
        <p:nvGraphicFramePr>
          <p:cNvPr id="880661" name="Object 21" descr="再生纸"/>
          <p:cNvGraphicFramePr>
            <a:graphicFrameLocks noChangeAspect="1"/>
          </p:cNvGraphicFramePr>
          <p:nvPr/>
        </p:nvGraphicFramePr>
        <p:xfrm>
          <a:off x="4622800" y="4419600"/>
          <a:ext cx="2889250" cy="1111250"/>
        </p:xfrm>
        <a:graphic>
          <a:graphicData uri="http://schemas.openxmlformats.org/presentationml/2006/ole">
            <mc:AlternateContent xmlns:mc="http://schemas.openxmlformats.org/markup-compatibility/2006">
              <mc:Choice xmlns:v="urn:schemas-microsoft-com:vml" Requires="v">
                <p:oleObj spid="_x0000_s68724" name="Equation" r:id="rId9" imgW="863225" imgH="431613" progId="Equation.3">
                  <p:embed/>
                </p:oleObj>
              </mc:Choice>
              <mc:Fallback>
                <p:oleObj name="Equation" r:id="rId9" imgW="863225" imgH="431613" progId="Equation.3">
                  <p:embed/>
                  <p:pic>
                    <p:nvPicPr>
                      <p:cNvPr id="0" name="Object 21" descr="再生纸"/>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22800" y="4419600"/>
                        <a:ext cx="2889250" cy="111125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662" name="Rectangle 22"/>
          <p:cNvSpPr>
            <a:spLocks noChangeArrowheads="1"/>
          </p:cNvSpPr>
          <p:nvPr/>
        </p:nvSpPr>
        <p:spPr bwMode="auto">
          <a:xfrm>
            <a:off x="3302000" y="4067175"/>
            <a:ext cx="3398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l"/>
            <a:r>
              <a:rPr lang="zh-CN" altLang="en-US" sz="2800" i="0">
                <a:solidFill>
                  <a:schemeClr val="bg2"/>
                </a:solidFill>
                <a:latin typeface="Times New Roman" pitchFamily="18" charset="0"/>
              </a:rPr>
              <a:t>则截断误差估计如下</a:t>
            </a:r>
          </a:p>
        </p:txBody>
      </p:sp>
      <p:graphicFrame>
        <p:nvGraphicFramePr>
          <p:cNvPr id="880663" name="Object 23" descr="再生纸"/>
          <p:cNvGraphicFramePr>
            <a:graphicFrameLocks noChangeAspect="1"/>
          </p:cNvGraphicFramePr>
          <p:nvPr/>
        </p:nvGraphicFramePr>
        <p:xfrm>
          <a:off x="5486400" y="5632450"/>
          <a:ext cx="3136900" cy="996950"/>
        </p:xfrm>
        <a:graphic>
          <a:graphicData uri="http://schemas.openxmlformats.org/presentationml/2006/ole">
            <mc:AlternateContent xmlns:mc="http://schemas.openxmlformats.org/markup-compatibility/2006">
              <mc:Choice xmlns:v="urn:schemas-microsoft-com:vml" Requires="v">
                <p:oleObj spid="_x0000_s68725" name="Equation" r:id="rId11" imgW="952087" imgH="393529" progId="Equation.3">
                  <p:embed/>
                </p:oleObj>
              </mc:Choice>
              <mc:Fallback>
                <p:oleObj name="Equation" r:id="rId11" imgW="952087" imgH="393529" progId="Equation.3">
                  <p:embed/>
                  <p:pic>
                    <p:nvPicPr>
                      <p:cNvPr id="0" name="Object 23" descr="再生纸"/>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5632450"/>
                        <a:ext cx="3136900" cy="996950"/>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880645">
                                            <p:txEl>
                                              <p:pRg st="0" end="0"/>
                                            </p:txEl>
                                          </p:spTgt>
                                        </p:tgtEl>
                                        <p:attrNameLst>
                                          <p:attrName>style.visibility</p:attrName>
                                        </p:attrNameLst>
                                      </p:cBhvr>
                                      <p:to>
                                        <p:strVal val="visible"/>
                                      </p:to>
                                    </p:set>
                                    <p:animEffect transition="in" filter="wipe(up)">
                                      <p:cBhvr>
                                        <p:cTn id="7" dur="75"/>
                                        <p:tgtEl>
                                          <p:spTgt spid="880645">
                                            <p:txEl>
                                              <p:pRg st="0" end="0"/>
                                            </p:txEl>
                                          </p:spTgt>
                                        </p:tgtEl>
                                      </p:cBhvr>
                                    </p:animEffect>
                                  </p:childTnLst>
                                </p:cTn>
                              </p:par>
                              <p:par>
                                <p:cTn id="8" presetID="22" presetClass="entr" presetSubtype="1" fill="hold" grpId="0" nodeType="withEffect">
                                  <p:stCondLst>
                                    <p:cond delay="0"/>
                                  </p:stCondLst>
                                  <p:iterate type="lt">
                                    <p:tmPct val="100000"/>
                                  </p:iterate>
                                  <p:childTnLst>
                                    <p:set>
                                      <p:cBhvr>
                                        <p:cTn id="9" dur="1" fill="hold">
                                          <p:stCondLst>
                                            <p:cond delay="0"/>
                                          </p:stCondLst>
                                        </p:cTn>
                                        <p:tgtEl>
                                          <p:spTgt spid="880645">
                                            <p:txEl>
                                              <p:pRg st="1" end="1"/>
                                            </p:txEl>
                                          </p:spTgt>
                                        </p:tgtEl>
                                        <p:attrNameLst>
                                          <p:attrName>style.visibility</p:attrName>
                                        </p:attrNameLst>
                                      </p:cBhvr>
                                      <p:to>
                                        <p:strVal val="visible"/>
                                      </p:to>
                                    </p:set>
                                    <p:animEffect transition="in" filter="wipe(up)">
                                      <p:cBhvr>
                                        <p:cTn id="10" dur="75"/>
                                        <p:tgtEl>
                                          <p:spTgt spid="88064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880644"/>
                                        </p:tgtEl>
                                        <p:attrNameLst>
                                          <p:attrName>style.visibility</p:attrName>
                                        </p:attrNameLst>
                                      </p:cBhvr>
                                      <p:to>
                                        <p:strVal val="visible"/>
                                      </p:to>
                                    </p:set>
                                    <p:animEffect transition="in" filter="dissolve">
                                      <p:cBhvr>
                                        <p:cTn id="15" dur="500"/>
                                        <p:tgtEl>
                                          <p:spTgt spid="88064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880662"/>
                                        </p:tgtEl>
                                        <p:attrNameLst>
                                          <p:attrName>style.visibility</p:attrName>
                                        </p:attrNameLst>
                                      </p:cBhvr>
                                      <p:to>
                                        <p:strVal val="visible"/>
                                      </p:to>
                                    </p:set>
                                    <p:anim calcmode="lin" valueType="num">
                                      <p:cBhvr additive="base">
                                        <p:cTn id="20" dur="500" fill="hold"/>
                                        <p:tgtEl>
                                          <p:spTgt spid="880662"/>
                                        </p:tgtEl>
                                        <p:attrNameLst>
                                          <p:attrName>ppt_x</p:attrName>
                                        </p:attrNameLst>
                                      </p:cBhvr>
                                      <p:tavLst>
                                        <p:tav tm="0">
                                          <p:val>
                                            <p:strVal val="0-#ppt_w/2"/>
                                          </p:val>
                                        </p:tav>
                                        <p:tav tm="100000">
                                          <p:val>
                                            <p:strVal val="#ppt_x"/>
                                          </p:val>
                                        </p:tav>
                                      </p:tavLst>
                                    </p:anim>
                                    <p:anim calcmode="lin" valueType="num">
                                      <p:cBhvr additive="base">
                                        <p:cTn id="21" dur="500" fill="hold"/>
                                        <p:tgtEl>
                                          <p:spTgt spid="880662"/>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880661"/>
                                        </p:tgtEl>
                                        <p:attrNameLst>
                                          <p:attrName>style.visibility</p:attrName>
                                        </p:attrNameLst>
                                      </p:cBhvr>
                                      <p:to>
                                        <p:strVal val="visible"/>
                                      </p:to>
                                    </p:set>
                                    <p:animEffect transition="in" filter="dissolve">
                                      <p:cBhvr>
                                        <p:cTn id="26" dur="500"/>
                                        <p:tgtEl>
                                          <p:spTgt spid="88066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880663"/>
                                        </p:tgtEl>
                                        <p:attrNameLst>
                                          <p:attrName>style.visibility</p:attrName>
                                        </p:attrNameLst>
                                      </p:cBhvr>
                                      <p:to>
                                        <p:strVal val="visible"/>
                                      </p:to>
                                    </p:set>
                                    <p:animEffect transition="in" filter="dissolve">
                                      <p:cBhvr>
                                        <p:cTn id="31" dur="500"/>
                                        <p:tgtEl>
                                          <p:spTgt spid="88066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80657"/>
                                        </p:tgtEl>
                                        <p:attrNameLst>
                                          <p:attrName>style.visibility</p:attrName>
                                        </p:attrNameLst>
                                      </p:cBhvr>
                                      <p:to>
                                        <p:strVal val="visible"/>
                                      </p:to>
                                    </p:set>
                                    <p:animEffect transition="in" filter="dissolve">
                                      <p:cBhvr>
                                        <p:cTn id="36" dur="500"/>
                                        <p:tgtEl>
                                          <p:spTgt spid="880657"/>
                                        </p:tgtEl>
                                      </p:cBhvr>
                                    </p:animEffect>
                                  </p:childTnLst>
                                </p:cTn>
                              </p:par>
                            </p:childTnLst>
                          </p:cTn>
                        </p:par>
                        <p:par>
                          <p:cTn id="37" fill="hold" nodeType="afterGroup">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880658"/>
                                        </p:tgtEl>
                                        <p:attrNameLst>
                                          <p:attrName>style.visibility</p:attrName>
                                        </p:attrNameLst>
                                      </p:cBhvr>
                                      <p:to>
                                        <p:strVal val="visible"/>
                                      </p:to>
                                    </p:set>
                                    <p:animEffect transition="in" filter="dissolve">
                                      <p:cBhvr>
                                        <p:cTn id="40" dur="500"/>
                                        <p:tgtEl>
                                          <p:spTgt spid="88065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0-#ppt_w/2"/>
                                          </p:val>
                                        </p:tav>
                                        <p:tav tm="100000">
                                          <p:val>
                                            <p:strVal val="#ppt_x"/>
                                          </p:val>
                                        </p:tav>
                                      </p:tavLst>
                                    </p:anim>
                                    <p:anim calcmode="lin" valueType="num">
                                      <p:cBhvr additive="base">
                                        <p:cTn id="4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0-#ppt_w/2"/>
                                          </p:val>
                                        </p:tav>
                                        <p:tav tm="100000">
                                          <p:val>
                                            <p:strVal val="#ppt_x"/>
                                          </p:val>
                                        </p:tav>
                                      </p:tavLst>
                                    </p:anim>
                                    <p:anim calcmode="lin" valueType="num">
                                      <p:cBhvr additive="base">
                                        <p:cTn id="5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0-#ppt_w/2"/>
                                          </p:val>
                                        </p:tav>
                                        <p:tav tm="100000">
                                          <p:val>
                                            <p:strVal val="#ppt_x"/>
                                          </p:val>
                                        </p:tav>
                                      </p:tavLst>
                                    </p:anim>
                                    <p:anim calcmode="lin" valueType="num">
                                      <p:cBhvr additive="base">
                                        <p:cTn id="5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880659"/>
                                        </p:tgtEl>
                                        <p:attrNameLst>
                                          <p:attrName>style.visibility</p:attrName>
                                        </p:attrNameLst>
                                      </p:cBhvr>
                                      <p:to>
                                        <p:strVal val="visible"/>
                                      </p:to>
                                    </p:set>
                                    <p:animEffect transition="in" filter="dissolve">
                                      <p:cBhvr>
                                        <p:cTn id="63" dur="500"/>
                                        <p:tgtEl>
                                          <p:spTgt spid="880659"/>
                                        </p:tgtEl>
                                      </p:cBhvr>
                                    </p:animEffect>
                                  </p:childTnLst>
                                </p:cTn>
                              </p:par>
                            </p:childTnLst>
                          </p:cTn>
                        </p:par>
                        <p:par>
                          <p:cTn id="64" fill="hold" nodeType="afterGroup">
                            <p:stCondLst>
                              <p:cond delay="500"/>
                            </p:stCondLst>
                            <p:childTnLst>
                              <p:par>
                                <p:cTn id="65" presetID="9" presetClass="entr" presetSubtype="0" fill="hold" grpId="0" nodeType="afterEffect">
                                  <p:stCondLst>
                                    <p:cond delay="0"/>
                                  </p:stCondLst>
                                  <p:childTnLst>
                                    <p:set>
                                      <p:cBhvr>
                                        <p:cTn id="66" dur="1" fill="hold">
                                          <p:stCondLst>
                                            <p:cond delay="0"/>
                                          </p:stCondLst>
                                        </p:cTn>
                                        <p:tgtEl>
                                          <p:spTgt spid="880660"/>
                                        </p:tgtEl>
                                        <p:attrNameLst>
                                          <p:attrName>style.visibility</p:attrName>
                                        </p:attrNameLst>
                                      </p:cBhvr>
                                      <p:to>
                                        <p:strVal val="visible"/>
                                      </p:to>
                                    </p:set>
                                    <p:animEffect transition="in" filter="dissolve">
                                      <p:cBhvr>
                                        <p:cTn id="67" dur="500"/>
                                        <p:tgtEl>
                                          <p:spTgt spid="88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45" grpId="0" build="p" autoUpdateAnimBg="0"/>
      <p:bldP spid="880657" grpId="0" animBg="1"/>
      <p:bldP spid="880658" grpId="0" animBg="1"/>
      <p:bldP spid="880659" grpId="0" animBg="1"/>
      <p:bldP spid="880660" grpId="0" autoUpdateAnimBg="0"/>
      <p:bldP spid="880662"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36815330-9124-4818-B984-ABFCB97AECC8}" type="slidenum">
              <a:rPr lang="zh-CN" altLang="en-US" i="0" smtClean="0"/>
              <a:pPr/>
              <a:t>71</a:t>
            </a:fld>
            <a:endParaRPr lang="en-US" altLang="zh-CN" i="0" smtClean="0"/>
          </a:p>
        </p:txBody>
      </p:sp>
      <p:sp>
        <p:nvSpPr>
          <p:cNvPr id="6963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465C3F6-EA87-443D-99CC-BA2015FAB259}" type="datetime1">
              <a:rPr lang="zh-CN" altLang="en-US" sz="1800" i="0" smtClean="0"/>
              <a:pPr/>
              <a:t>2024/9/8</a:t>
            </a:fld>
            <a:endParaRPr lang="en-US" altLang="zh-CN" sz="1000" i="0" smtClean="0"/>
          </a:p>
        </p:txBody>
      </p:sp>
      <p:sp>
        <p:nvSpPr>
          <p:cNvPr id="881666" name="Rectangle 2"/>
          <p:cNvSpPr>
            <a:spLocks noGrp="1" noChangeArrowheads="1"/>
          </p:cNvSpPr>
          <p:nvPr>
            <p:ph type="title"/>
          </p:nvPr>
        </p:nvSpPr>
        <p:spPr/>
        <p:txBody>
          <a:bodyPr/>
          <a:lstStyle/>
          <a:p>
            <a:pPr>
              <a:defRPr/>
            </a:pPr>
            <a:r>
              <a:rPr lang="zh-CN" altLang="en-US" smtClean="0"/>
              <a:t>6</a:t>
            </a:r>
            <a:r>
              <a:rPr lang="zh-CN" altLang="zh-CN" smtClean="0"/>
              <a:t>.</a:t>
            </a:r>
            <a:r>
              <a:rPr lang="zh-CN" altLang="en-US" smtClean="0"/>
              <a:t>2</a:t>
            </a:r>
            <a:r>
              <a:rPr lang="zh-CN" altLang="zh-CN" smtClean="0"/>
              <a:t>  </a:t>
            </a:r>
            <a:r>
              <a:rPr lang="zh-CN" altLang="en-US" smtClean="0"/>
              <a:t>误差配置的处理方法</a:t>
            </a:r>
          </a:p>
        </p:txBody>
      </p:sp>
      <p:sp>
        <p:nvSpPr>
          <p:cNvPr id="69637" name="Rectangle 3"/>
          <p:cNvSpPr>
            <a:spLocks noGrp="1" noChangeArrowheads="1"/>
          </p:cNvSpPr>
          <p:nvPr>
            <p:ph type="body" idx="1"/>
          </p:nvPr>
        </p:nvSpPr>
        <p:spPr>
          <a:xfrm>
            <a:off x="990600" y="1143000"/>
            <a:ext cx="8458200" cy="4117975"/>
          </a:xfrm>
        </p:spPr>
        <p:txBody>
          <a:bodyPr/>
          <a:lstStyle/>
          <a:p>
            <a:pPr>
              <a:buFont typeface="Wingdings" pitchFamily="2" charset="2"/>
              <a:buNone/>
            </a:pPr>
            <a:r>
              <a:rPr lang="zh-CN" altLang="en-US" smtClean="0"/>
              <a:t>令</a:t>
            </a:r>
            <a:r>
              <a:rPr lang="en-US" altLang="zh-CN" smtClean="0"/>
              <a:t>R</a:t>
            </a:r>
            <a:r>
              <a:rPr lang="en-US" altLang="zh-CN" baseline="-25000" smtClean="0"/>
              <a:t>n </a:t>
            </a:r>
            <a:r>
              <a:rPr lang="zh-CN" altLang="en-US" smtClean="0"/>
              <a:t>≤1/4</a:t>
            </a:r>
            <a:r>
              <a:rPr lang="en-US" altLang="zh-CN" smtClean="0"/>
              <a:t>n</a:t>
            </a:r>
            <a:r>
              <a:rPr lang="en-US" altLang="zh-CN" baseline="30000" smtClean="0"/>
              <a:t>4</a:t>
            </a:r>
            <a:r>
              <a:rPr lang="zh-CN" altLang="en-US" smtClean="0"/>
              <a:t>≤0.0005</a:t>
            </a:r>
          </a:p>
          <a:p>
            <a:pPr>
              <a:buFont typeface="Wingdings" pitchFamily="2" charset="2"/>
              <a:buNone/>
            </a:pPr>
            <a:r>
              <a:rPr lang="zh-CN" altLang="en-US" smtClean="0"/>
              <a:t>则</a:t>
            </a:r>
            <a:r>
              <a:rPr lang="en-US" altLang="zh-CN" smtClean="0"/>
              <a:t>n</a:t>
            </a:r>
            <a:r>
              <a:rPr lang="zh-CN" altLang="en-US" smtClean="0"/>
              <a:t>应满足   </a:t>
            </a:r>
            <a:r>
              <a:rPr lang="en-US" altLang="zh-CN" smtClean="0"/>
              <a:t>n≥(500)</a:t>
            </a:r>
            <a:r>
              <a:rPr lang="en-US" altLang="zh-CN" baseline="30000" smtClean="0"/>
              <a:t>4</a:t>
            </a:r>
            <a:r>
              <a:rPr lang="en-US" altLang="zh-CN" smtClean="0">
                <a:sym typeface="Symbol" pitchFamily="18" charset="2"/>
              </a:rPr>
              <a:t></a:t>
            </a:r>
            <a:r>
              <a:rPr lang="en-US" altLang="zh-CN" smtClean="0"/>
              <a:t>4.7</a:t>
            </a:r>
          </a:p>
          <a:p>
            <a:pPr>
              <a:buFont typeface="Wingdings" pitchFamily="2" charset="2"/>
              <a:buNone/>
            </a:pPr>
            <a:r>
              <a:rPr lang="zh-CN" altLang="en-US" smtClean="0"/>
              <a:t>取</a:t>
            </a:r>
            <a:r>
              <a:rPr lang="en-US" altLang="zh-CN" smtClean="0"/>
              <a:t>n=5,</a:t>
            </a:r>
            <a:r>
              <a:rPr lang="zh-CN" altLang="en-US" smtClean="0"/>
              <a:t>设计算每项数值的舍入误差为</a:t>
            </a:r>
            <a:r>
              <a:rPr lang="zh-CN" altLang="en-US" smtClean="0">
                <a:sym typeface="Symbol" pitchFamily="18" charset="2"/>
              </a:rPr>
              <a:t></a:t>
            </a:r>
            <a:endParaRPr lang="en-US" altLang="zh-CN" b="0" smtClean="0">
              <a:latin typeface="宋体" pitchFamily="2" charset="-122"/>
            </a:endParaRPr>
          </a:p>
          <a:p>
            <a:pPr>
              <a:buFont typeface="Wingdings" pitchFamily="2" charset="2"/>
              <a:buNone/>
            </a:pPr>
            <a:r>
              <a:rPr lang="zh-CN" altLang="en-US" b="0" smtClean="0">
                <a:latin typeface="宋体" pitchFamily="2" charset="-122"/>
              </a:rPr>
              <a:t>令4</a:t>
            </a:r>
            <a:r>
              <a:rPr lang="zh-CN" altLang="en-US" smtClean="0">
                <a:sym typeface="Symbol" pitchFamily="18" charset="2"/>
              </a:rPr>
              <a:t></a:t>
            </a:r>
            <a:r>
              <a:rPr lang="zh-CN" altLang="en-US" smtClean="0"/>
              <a:t>≤</a:t>
            </a:r>
            <a:r>
              <a:rPr lang="en-US" altLang="zh-CN" smtClean="0">
                <a:solidFill>
                  <a:schemeClr val="bg2"/>
                </a:solidFill>
                <a:sym typeface="Symbol" pitchFamily="18" charset="2"/>
              </a:rPr>
              <a:t></a:t>
            </a:r>
            <a:r>
              <a:rPr lang="en-US" altLang="zh-CN" smtClean="0"/>
              <a:t>=0.0005</a:t>
            </a:r>
          </a:p>
          <a:p>
            <a:pPr>
              <a:buFont typeface="Wingdings" pitchFamily="2" charset="2"/>
              <a:buNone/>
            </a:pPr>
            <a:r>
              <a:rPr lang="zh-CN" altLang="en-US" smtClean="0"/>
              <a:t> 	 </a:t>
            </a:r>
            <a:r>
              <a:rPr lang="zh-CN" altLang="en-US" smtClean="0">
                <a:sym typeface="Symbol" pitchFamily="18" charset="2"/>
              </a:rPr>
              <a:t></a:t>
            </a:r>
            <a:r>
              <a:rPr lang="zh-CN" altLang="en-US" smtClean="0"/>
              <a:t>0.0002,</a:t>
            </a:r>
          </a:p>
          <a:p>
            <a:pPr>
              <a:buFont typeface="Wingdings" pitchFamily="2" charset="2"/>
              <a:buNone/>
            </a:pPr>
            <a:r>
              <a:rPr lang="zh-CN" altLang="en-US" smtClean="0"/>
              <a:t>取</a:t>
            </a:r>
            <a:r>
              <a:rPr lang="zh-CN" altLang="en-US" smtClean="0">
                <a:sym typeface="Symbol" pitchFamily="18" charset="2"/>
              </a:rPr>
              <a:t></a:t>
            </a:r>
            <a:r>
              <a:rPr lang="zh-CN" altLang="en-US" smtClean="0"/>
              <a:t>=0.00005=</a:t>
            </a:r>
            <a:r>
              <a:rPr lang="zh-CN" altLang="en-US" smtClean="0">
                <a:latin typeface="宋体" pitchFamily="2" charset="-122"/>
              </a:rPr>
              <a:t>0.5*10</a:t>
            </a:r>
            <a:r>
              <a:rPr lang="zh-CN" altLang="en-US" baseline="30000" smtClean="0">
                <a:latin typeface="宋体" pitchFamily="2" charset="-122"/>
              </a:rPr>
              <a:t>-4</a:t>
            </a:r>
            <a:r>
              <a:rPr lang="zh-CN" altLang="en-US" smtClean="0"/>
              <a:t>&lt;0.0002</a:t>
            </a:r>
          </a:p>
          <a:p>
            <a:pPr>
              <a:buFont typeface="Wingdings" pitchFamily="2" charset="2"/>
              <a:buNone/>
            </a:pPr>
            <a:r>
              <a:rPr lang="en-US" altLang="zh-CN" smtClean="0"/>
              <a:t>S</a:t>
            </a:r>
            <a:r>
              <a:rPr lang="en-US" altLang="zh-CN" baseline="-25000" smtClean="0"/>
              <a:t>5</a:t>
            </a:r>
            <a:r>
              <a:rPr lang="en-US" altLang="zh-CN" smtClean="0"/>
              <a:t>=1+0.0313+0.0041+0.0010+0.0003  =1.0367</a:t>
            </a:r>
          </a:p>
          <a:p>
            <a:pPr>
              <a:buFont typeface="Wingdings" pitchFamily="2" charset="2"/>
              <a:buNone/>
            </a:pPr>
            <a:r>
              <a:rPr lang="zh-CN" altLang="en-US" smtClean="0"/>
              <a:t>按</a:t>
            </a:r>
            <a:r>
              <a:rPr lang="en-US" altLang="zh-CN" smtClean="0">
                <a:solidFill>
                  <a:schemeClr val="bg2"/>
                </a:solidFill>
                <a:sym typeface="Symbol" pitchFamily="18" charset="2"/>
              </a:rPr>
              <a:t></a:t>
            </a:r>
            <a:r>
              <a:rPr lang="en-US" altLang="zh-CN" smtClean="0"/>
              <a:t>=</a:t>
            </a:r>
            <a:r>
              <a:rPr lang="zh-CN" altLang="en-US" smtClean="0">
                <a:latin typeface="宋体" pitchFamily="2" charset="-122"/>
              </a:rPr>
              <a:t>0.5*10</a:t>
            </a:r>
            <a:r>
              <a:rPr lang="zh-CN" altLang="en-US" baseline="30000" smtClean="0">
                <a:latin typeface="宋体" pitchFamily="2" charset="-122"/>
              </a:rPr>
              <a:t>-3</a:t>
            </a:r>
            <a:r>
              <a:rPr lang="zh-CN" altLang="en-US" smtClean="0"/>
              <a:t>，将</a:t>
            </a:r>
            <a:r>
              <a:rPr lang="en-US" altLang="zh-CN" smtClean="0"/>
              <a:t>S</a:t>
            </a:r>
            <a:r>
              <a:rPr lang="en-US" altLang="zh-CN" baseline="-25000" smtClean="0"/>
              <a:t>5</a:t>
            </a:r>
            <a:r>
              <a:rPr lang="zh-CN" altLang="en-US" smtClean="0"/>
              <a:t>舍入为1.037</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8A15D26-A69E-42DF-A250-9E7CE054D818}" type="slidenum">
              <a:rPr lang="zh-CN" altLang="en-US" i="0" smtClean="0"/>
              <a:pPr/>
              <a:t>72</a:t>
            </a:fld>
            <a:endParaRPr lang="en-US" altLang="zh-CN" i="0" smtClean="0"/>
          </a:p>
        </p:txBody>
      </p:sp>
      <p:sp>
        <p:nvSpPr>
          <p:cNvPr id="70659"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B6E9DF0-7666-4BD6-8923-24946D8221CE}" type="datetime1">
              <a:rPr lang="zh-CN" altLang="en-US" sz="1800" i="0" smtClean="0"/>
              <a:pPr/>
              <a:t>2024/9/8</a:t>
            </a:fld>
            <a:endParaRPr lang="en-US" altLang="zh-CN" sz="1000" i="0" smtClean="0"/>
          </a:p>
        </p:txBody>
      </p:sp>
      <p:sp>
        <p:nvSpPr>
          <p:cNvPr id="844802" name="Rectangle 2"/>
          <p:cNvSpPr>
            <a:spLocks noGrp="1" noChangeArrowheads="1"/>
          </p:cNvSpPr>
          <p:nvPr>
            <p:ph type="title"/>
          </p:nvPr>
        </p:nvSpPr>
        <p:spPr>
          <a:xfrm>
            <a:off x="609600" y="255588"/>
            <a:ext cx="8585200" cy="658812"/>
          </a:xfrm>
        </p:spPr>
        <p:txBody>
          <a:bodyPr/>
          <a:lstStyle/>
          <a:p>
            <a:pPr>
              <a:defRPr/>
            </a:pPr>
            <a:r>
              <a:rPr lang="zh-CN" altLang="en-US" smtClean="0"/>
              <a:t>6</a:t>
            </a:r>
            <a:r>
              <a:rPr lang="zh-CN" altLang="zh-CN" smtClean="0"/>
              <a:t>.</a:t>
            </a:r>
            <a:r>
              <a:rPr lang="zh-CN" altLang="en-US" smtClean="0"/>
              <a:t>2</a:t>
            </a:r>
            <a:r>
              <a:rPr lang="zh-CN" altLang="zh-CN" smtClean="0"/>
              <a:t>  </a:t>
            </a:r>
            <a:r>
              <a:rPr lang="zh-CN" altLang="en-US" smtClean="0"/>
              <a:t>误差配置的处理方法</a:t>
            </a:r>
          </a:p>
        </p:txBody>
      </p:sp>
      <p:sp>
        <p:nvSpPr>
          <p:cNvPr id="70661" name="Rectangle 3"/>
          <p:cNvSpPr>
            <a:spLocks noGrp="1" noChangeArrowheads="1"/>
          </p:cNvSpPr>
          <p:nvPr>
            <p:ph type="body" idx="1"/>
          </p:nvPr>
        </p:nvSpPr>
        <p:spPr>
          <a:xfrm>
            <a:off x="650875" y="1143000"/>
            <a:ext cx="8820150" cy="469900"/>
          </a:xfrm>
        </p:spPr>
        <p:txBody>
          <a:bodyPr/>
          <a:lstStyle/>
          <a:p>
            <a:pPr>
              <a:lnSpc>
                <a:spcPct val="110000"/>
              </a:lnSpc>
            </a:pPr>
            <a:r>
              <a:rPr lang="zh-CN" altLang="en-US" smtClean="0"/>
              <a:t>4.  数值字长已定，待定近似式项数</a:t>
            </a:r>
          </a:p>
        </p:txBody>
      </p:sp>
      <p:grpSp>
        <p:nvGrpSpPr>
          <p:cNvPr id="70662" name="Group 4"/>
          <p:cNvGrpSpPr>
            <a:grpSpLocks/>
          </p:cNvGrpSpPr>
          <p:nvPr/>
        </p:nvGrpSpPr>
        <p:grpSpPr bwMode="auto">
          <a:xfrm>
            <a:off x="660400" y="1600200"/>
            <a:ext cx="8915400" cy="3033713"/>
            <a:chOff x="384" y="1200"/>
            <a:chExt cx="5184" cy="1911"/>
          </a:xfrm>
        </p:grpSpPr>
        <p:grpSp>
          <p:nvGrpSpPr>
            <p:cNvPr id="70666" name="Group 5"/>
            <p:cNvGrpSpPr>
              <a:grpSpLocks/>
            </p:cNvGrpSpPr>
            <p:nvPr/>
          </p:nvGrpSpPr>
          <p:grpSpPr bwMode="auto">
            <a:xfrm>
              <a:off x="720" y="1200"/>
              <a:ext cx="4383" cy="1911"/>
              <a:chOff x="720" y="1200"/>
              <a:chExt cx="4383" cy="1911"/>
            </a:xfrm>
          </p:grpSpPr>
          <p:graphicFrame>
            <p:nvGraphicFramePr>
              <p:cNvPr id="70668" name="Object 6" descr="再生纸"/>
              <p:cNvGraphicFramePr>
                <a:graphicFrameLocks noChangeAspect="1"/>
              </p:cNvGraphicFramePr>
              <p:nvPr/>
            </p:nvGraphicFramePr>
            <p:xfrm>
              <a:off x="1920" y="1248"/>
              <a:ext cx="995" cy="295"/>
            </p:xfrm>
            <a:graphic>
              <a:graphicData uri="http://schemas.openxmlformats.org/presentationml/2006/ole">
                <mc:AlternateContent xmlns:mc="http://schemas.openxmlformats.org/markup-compatibility/2006">
                  <mc:Choice xmlns:v="urn:schemas-microsoft-com:vml" Requires="v">
                    <p:oleObj spid="_x0000_s70811" name="Equation" r:id="rId4" imgW="571411" imgH="160017" progId="Equation.3">
                      <p:embed/>
                    </p:oleObj>
                  </mc:Choice>
                  <mc:Fallback>
                    <p:oleObj name="Equation" r:id="rId4" imgW="571411" imgH="160017" progId="Equation.3">
                      <p:embed/>
                      <p:pic>
                        <p:nvPicPr>
                          <p:cNvPr id="0" name="Object 6" descr="再生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0" y="1248"/>
                            <a:ext cx="995" cy="29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9" name="Rectangle 7"/>
              <p:cNvSpPr>
                <a:spLocks noChangeArrowheads="1"/>
              </p:cNvSpPr>
              <p:nvPr/>
            </p:nvSpPr>
            <p:spPr bwMode="auto">
              <a:xfrm>
                <a:off x="2832" y="1209"/>
                <a:ext cx="7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l">
                  <a:spcBef>
                    <a:spcPct val="50000"/>
                  </a:spcBef>
                </a:pPr>
                <a:r>
                  <a:rPr lang="zh-CN" altLang="en-US" sz="2800" i="0">
                    <a:latin typeface="Times New Roman" pitchFamily="18" charset="0"/>
                  </a:rPr>
                  <a:t>，计算</a:t>
                </a:r>
              </a:p>
            </p:txBody>
          </p:sp>
          <p:graphicFrame>
            <p:nvGraphicFramePr>
              <p:cNvPr id="70670" name="Object 8" descr="再生纸"/>
              <p:cNvGraphicFramePr>
                <a:graphicFrameLocks noChangeAspect="1"/>
              </p:cNvGraphicFramePr>
              <p:nvPr/>
            </p:nvGraphicFramePr>
            <p:xfrm>
              <a:off x="3600" y="1200"/>
              <a:ext cx="303" cy="337"/>
            </p:xfrm>
            <a:graphic>
              <a:graphicData uri="http://schemas.openxmlformats.org/presentationml/2006/ole">
                <mc:AlternateContent xmlns:mc="http://schemas.openxmlformats.org/markup-compatibility/2006">
                  <mc:Choice xmlns:v="urn:schemas-microsoft-com:vml" Requires="v">
                    <p:oleObj spid="_x0000_s70812" name="Equation" r:id="rId7" imgW="160021" imgH="190465" progId="Equation.3">
                      <p:embed/>
                    </p:oleObj>
                  </mc:Choice>
                  <mc:Fallback>
                    <p:oleObj name="Equation" r:id="rId7" imgW="160021" imgH="190465" progId="Equation.3">
                      <p:embed/>
                      <p:pic>
                        <p:nvPicPr>
                          <p:cNvPr id="0" name="Object 8" descr="再生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 y="1200"/>
                            <a:ext cx="303" cy="337"/>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1" name="Rectangle 9"/>
              <p:cNvSpPr>
                <a:spLocks noChangeArrowheads="1"/>
              </p:cNvSpPr>
              <p:nvPr/>
            </p:nvSpPr>
            <p:spPr bwMode="auto">
              <a:xfrm>
                <a:off x="3625" y="1200"/>
                <a:ext cx="11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l">
                  <a:spcBef>
                    <a:spcPct val="50000"/>
                  </a:spcBef>
                </a:pPr>
                <a:r>
                  <a:rPr lang="zh-CN" altLang="en-US" sz="2800" i="0">
                    <a:latin typeface="Times New Roman" pitchFamily="18" charset="0"/>
                  </a:rPr>
                  <a:t>，时，利用</a:t>
                </a:r>
              </a:p>
            </p:txBody>
          </p:sp>
          <p:graphicFrame>
            <p:nvGraphicFramePr>
              <p:cNvPr id="70672" name="Object 10" descr="再生纸"/>
              <p:cNvGraphicFramePr>
                <a:graphicFrameLocks noChangeAspect="1"/>
              </p:cNvGraphicFramePr>
              <p:nvPr/>
            </p:nvGraphicFramePr>
            <p:xfrm>
              <a:off x="1536" y="1824"/>
              <a:ext cx="3160" cy="695"/>
            </p:xfrm>
            <a:graphic>
              <a:graphicData uri="http://schemas.openxmlformats.org/presentationml/2006/ole">
                <mc:AlternateContent xmlns:mc="http://schemas.openxmlformats.org/markup-compatibility/2006">
                  <mc:Choice xmlns:v="urn:schemas-microsoft-com:vml" Requires="v">
                    <p:oleObj spid="_x0000_s70813" name="Equation" r:id="rId9" imgW="1836462" imgH="403821" progId="Equation.3">
                      <p:embed/>
                    </p:oleObj>
                  </mc:Choice>
                  <mc:Fallback>
                    <p:oleObj name="Equation" r:id="rId9" imgW="1836462" imgH="403821" progId="Equation.3">
                      <p:embed/>
                      <p:pic>
                        <p:nvPicPr>
                          <p:cNvPr id="0" name="Object 10" descr="再生纸"/>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36" y="1824"/>
                            <a:ext cx="3160" cy="69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3" name="Rectangle 11"/>
              <p:cNvSpPr>
                <a:spLocks noChangeArrowheads="1"/>
              </p:cNvSpPr>
              <p:nvPr/>
            </p:nvSpPr>
            <p:spPr bwMode="auto">
              <a:xfrm>
                <a:off x="720" y="1584"/>
                <a:ext cx="26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l">
                  <a:spcBef>
                    <a:spcPct val="50000"/>
                  </a:spcBef>
                </a:pPr>
                <a:r>
                  <a:rPr lang="zh-CN" altLang="en-US" sz="2800" i="0">
                    <a:latin typeface="Times New Roman" pitchFamily="18" charset="0"/>
                  </a:rPr>
                  <a:t>的</a:t>
                </a:r>
                <a:r>
                  <a:rPr lang="zh-CN" altLang="en-US" sz="2800" i="0"/>
                  <a:t>泰勒公式</a:t>
                </a:r>
                <a:r>
                  <a:rPr lang="zh-CN" altLang="en-US" sz="2800" i="0">
                    <a:latin typeface="Times New Roman" pitchFamily="18" charset="0"/>
                  </a:rPr>
                  <a:t>展开式的部分和</a:t>
                </a:r>
              </a:p>
            </p:txBody>
          </p:sp>
          <p:graphicFrame>
            <p:nvGraphicFramePr>
              <p:cNvPr id="70674" name="Object 12" descr="再生纸"/>
              <p:cNvGraphicFramePr>
                <a:graphicFrameLocks noChangeAspect="1"/>
              </p:cNvGraphicFramePr>
              <p:nvPr/>
            </p:nvGraphicFramePr>
            <p:xfrm>
              <a:off x="4800" y="1200"/>
              <a:ext cx="303" cy="337"/>
            </p:xfrm>
            <a:graphic>
              <a:graphicData uri="http://schemas.openxmlformats.org/presentationml/2006/ole">
                <mc:AlternateContent xmlns:mc="http://schemas.openxmlformats.org/markup-compatibility/2006">
                  <mc:Choice xmlns:v="urn:schemas-microsoft-com:vml" Requires="v">
                    <p:oleObj spid="_x0000_s70814" name="Equation" r:id="rId11" imgW="160021" imgH="190465" progId="Equation.3">
                      <p:embed/>
                    </p:oleObj>
                  </mc:Choice>
                  <mc:Fallback>
                    <p:oleObj name="Equation" r:id="rId11" imgW="160021" imgH="190465" progId="Equation.3">
                      <p:embed/>
                      <p:pic>
                        <p:nvPicPr>
                          <p:cNvPr id="0" name="Object 12" descr="再生纸"/>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0" y="1200"/>
                            <a:ext cx="303" cy="337"/>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5" name="Rectangle 13"/>
              <p:cNvSpPr>
                <a:spLocks noChangeArrowheads="1"/>
              </p:cNvSpPr>
              <p:nvPr/>
            </p:nvSpPr>
            <p:spPr bwMode="auto">
              <a:xfrm>
                <a:off x="720" y="2400"/>
                <a:ext cx="5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l">
                  <a:spcBef>
                    <a:spcPct val="50000"/>
                  </a:spcBef>
                </a:pPr>
                <a:r>
                  <a:rPr lang="zh-CN" altLang="en-US" sz="2800" i="0">
                    <a:latin typeface="Times New Roman" pitchFamily="18" charset="0"/>
                  </a:rPr>
                  <a:t>近似</a:t>
                </a:r>
              </a:p>
            </p:txBody>
          </p:sp>
          <p:graphicFrame>
            <p:nvGraphicFramePr>
              <p:cNvPr id="70676" name="Object 14" descr="再生纸"/>
              <p:cNvGraphicFramePr>
                <a:graphicFrameLocks noChangeAspect="1"/>
              </p:cNvGraphicFramePr>
              <p:nvPr/>
            </p:nvGraphicFramePr>
            <p:xfrm>
              <a:off x="1248" y="2400"/>
              <a:ext cx="303" cy="337"/>
            </p:xfrm>
            <a:graphic>
              <a:graphicData uri="http://schemas.openxmlformats.org/presentationml/2006/ole">
                <mc:AlternateContent xmlns:mc="http://schemas.openxmlformats.org/markup-compatibility/2006">
                  <mc:Choice xmlns:v="urn:schemas-microsoft-com:vml" Requires="v">
                    <p:oleObj spid="_x0000_s70815" name="Equation" r:id="rId13" imgW="160021" imgH="190465" progId="Equation.3">
                      <p:embed/>
                    </p:oleObj>
                  </mc:Choice>
                  <mc:Fallback>
                    <p:oleObj name="Equation" r:id="rId13" imgW="160021" imgH="190465" progId="Equation.3">
                      <p:embed/>
                      <p:pic>
                        <p:nvPicPr>
                          <p:cNvPr id="0" name="Object 14" descr="再生纸"/>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48" y="2400"/>
                            <a:ext cx="303" cy="337"/>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7" name="Rectangle 15"/>
              <p:cNvSpPr>
                <a:spLocks noChangeArrowheads="1"/>
              </p:cNvSpPr>
              <p:nvPr/>
            </p:nvSpPr>
            <p:spPr bwMode="auto">
              <a:xfrm>
                <a:off x="1440" y="2448"/>
                <a:ext cx="33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l">
                  <a:spcBef>
                    <a:spcPct val="50000"/>
                  </a:spcBef>
                </a:pPr>
                <a:r>
                  <a:rPr lang="zh-CN" altLang="en-US" sz="2800" i="0">
                    <a:latin typeface="Times New Roman" pitchFamily="18" charset="0"/>
                  </a:rPr>
                  <a:t>，若各项结果均截取至小数后5位，</a:t>
                </a:r>
              </a:p>
            </p:txBody>
          </p:sp>
          <p:sp>
            <p:nvSpPr>
              <p:cNvPr id="70678" name="Rectangle 16"/>
              <p:cNvSpPr>
                <a:spLocks noChangeArrowheads="1"/>
              </p:cNvSpPr>
              <p:nvPr/>
            </p:nvSpPr>
            <p:spPr bwMode="auto">
              <a:xfrm>
                <a:off x="768" y="2784"/>
                <a:ext cx="17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l">
                  <a:spcBef>
                    <a:spcPct val="50000"/>
                  </a:spcBef>
                </a:pPr>
                <a:r>
                  <a:rPr lang="zh-CN" altLang="en-US" sz="2800" i="0">
                    <a:latin typeface="Times New Roman" pitchFamily="18" charset="0"/>
                  </a:rPr>
                  <a:t>试确定该取几项？</a:t>
                </a:r>
              </a:p>
            </p:txBody>
          </p:sp>
        </p:grpSp>
        <p:sp>
          <p:nvSpPr>
            <p:cNvPr id="70667" name="Rectangle 17"/>
            <p:cNvSpPr>
              <a:spLocks noChangeArrowheads="1"/>
            </p:cNvSpPr>
            <p:nvPr/>
          </p:nvSpPr>
          <p:spPr bwMode="auto">
            <a:xfrm>
              <a:off x="384" y="1248"/>
              <a:ext cx="5184"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457200" indent="-457200" algn="l">
                <a:lnSpc>
                  <a:spcPct val="110000"/>
                </a:lnSpc>
                <a:spcBef>
                  <a:spcPct val="20000"/>
                </a:spcBef>
                <a:buClr>
                  <a:schemeClr val="accent2"/>
                </a:buClr>
                <a:buFont typeface="Wingdings 3" pitchFamily="18" charset="2"/>
                <a:buChar char="p"/>
              </a:pPr>
              <a:r>
                <a:rPr lang="zh-CN" altLang="en-US" sz="2800" i="0">
                  <a:latin typeface="Times New Roman" pitchFamily="18" charset="0"/>
                </a:rPr>
                <a:t>例1.14 对于</a:t>
              </a:r>
              <a:endParaRPr lang="zh-CN" altLang="en-US" sz="3200" i="0">
                <a:latin typeface="Times New Roman" pitchFamily="18" charset="0"/>
              </a:endParaRPr>
            </a:p>
          </p:txBody>
        </p:sp>
      </p:grpSp>
      <p:sp>
        <p:nvSpPr>
          <p:cNvPr id="70663" name="Rectangle 18"/>
          <p:cNvSpPr>
            <a:spLocks noChangeArrowheads="1"/>
          </p:cNvSpPr>
          <p:nvPr/>
        </p:nvSpPr>
        <p:spPr bwMode="auto">
          <a:xfrm>
            <a:off x="660400" y="4648200"/>
            <a:ext cx="8915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457200" indent="-457200" algn="l">
              <a:lnSpc>
                <a:spcPct val="110000"/>
              </a:lnSpc>
              <a:spcBef>
                <a:spcPct val="20000"/>
              </a:spcBef>
              <a:buClr>
                <a:schemeClr val="accent2"/>
              </a:buClr>
              <a:buFont typeface="Wingdings 3" pitchFamily="18" charset="2"/>
              <a:buChar char="p"/>
            </a:pPr>
            <a:r>
              <a:rPr lang="zh-CN" altLang="en-US" sz="2800" i="0">
                <a:latin typeface="Times New Roman" pitchFamily="18" charset="0"/>
              </a:rPr>
              <a:t>解：</a:t>
            </a:r>
          </a:p>
        </p:txBody>
      </p:sp>
      <p:graphicFrame>
        <p:nvGraphicFramePr>
          <p:cNvPr id="70664" name="Object 19" descr="再生纸"/>
          <p:cNvGraphicFramePr>
            <a:graphicFrameLocks noChangeAspect="1"/>
          </p:cNvGraphicFramePr>
          <p:nvPr/>
        </p:nvGraphicFramePr>
        <p:xfrm>
          <a:off x="1898650" y="4572000"/>
          <a:ext cx="7099300" cy="1101725"/>
        </p:xfrm>
        <a:graphic>
          <a:graphicData uri="http://schemas.openxmlformats.org/presentationml/2006/ole">
            <mc:AlternateContent xmlns:mc="http://schemas.openxmlformats.org/markup-compatibility/2006">
              <mc:Choice xmlns:v="urn:schemas-microsoft-com:vml" Requires="v">
                <p:oleObj spid="_x0000_s70816" name="Equation" r:id="rId15" imgW="2560335" imgH="426711" progId="Equation.3">
                  <p:embed/>
                </p:oleObj>
              </mc:Choice>
              <mc:Fallback>
                <p:oleObj name="Equation" r:id="rId15" imgW="2560335" imgH="426711" progId="Equation.3">
                  <p:embed/>
                  <p:pic>
                    <p:nvPicPr>
                      <p:cNvPr id="0" name="Object 19" descr="再生纸"/>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98650" y="4572000"/>
                        <a:ext cx="7099300" cy="1101725"/>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5" name="Rectangle 20"/>
          <p:cNvSpPr>
            <a:spLocks noChangeArrowheads="1"/>
          </p:cNvSpPr>
          <p:nvPr/>
        </p:nvSpPr>
        <p:spPr bwMode="auto">
          <a:xfrm>
            <a:off x="82550" y="5715000"/>
            <a:ext cx="9906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lnSpc>
                <a:spcPct val="90000"/>
              </a:lnSpc>
              <a:spcBef>
                <a:spcPct val="50000"/>
              </a:spcBef>
              <a:buClr>
                <a:schemeClr val="accent2"/>
              </a:buClr>
              <a:buFont typeface="Wingdings 3" pitchFamily="18" charset="2"/>
              <a:buNone/>
            </a:pPr>
            <a:r>
              <a:rPr lang="zh-CN" altLang="en-US" sz="2800" i="0">
                <a:latin typeface="Times New Roman" pitchFamily="18" charset="0"/>
              </a:rPr>
              <a:t>初取</a:t>
            </a:r>
            <a:r>
              <a:rPr lang="en-US" altLang="zh-CN" sz="2800" i="0">
                <a:latin typeface="Times New Roman" pitchFamily="18" charset="0"/>
              </a:rPr>
              <a:t>n=3,</a:t>
            </a:r>
            <a:r>
              <a:rPr lang="zh-CN" altLang="en-US" sz="2800" i="0">
                <a:latin typeface="Times New Roman" pitchFamily="18" charset="0"/>
              </a:rPr>
              <a:t>则有</a:t>
            </a:r>
            <a:r>
              <a:rPr lang="en-US" altLang="zh-CN" sz="2800" i="0">
                <a:latin typeface="Times New Roman" pitchFamily="18" charset="0"/>
              </a:rPr>
              <a:t>R</a:t>
            </a:r>
            <a:r>
              <a:rPr lang="en-US" altLang="zh-CN" sz="2800" i="0" baseline="-25000">
                <a:latin typeface="Times New Roman" pitchFamily="18" charset="0"/>
              </a:rPr>
              <a:t>3</a:t>
            </a:r>
            <a:r>
              <a:rPr lang="en-US" altLang="zh-CN" sz="2800" i="0">
                <a:latin typeface="Times New Roman" pitchFamily="18" charset="0"/>
              </a:rPr>
              <a:t>(x)&lt;3/4!=0.125,</a:t>
            </a:r>
            <a:r>
              <a:rPr lang="zh-CN" altLang="en-US" sz="2800" i="0">
                <a:latin typeface="Times New Roman" pitchFamily="18" charset="0"/>
              </a:rPr>
              <a:t> </a:t>
            </a:r>
            <a:r>
              <a:rPr lang="en-US" altLang="zh-CN" sz="2800" i="0">
                <a:latin typeface="Times New Roman" pitchFamily="18" charset="0"/>
                <a:sym typeface="Symbol" pitchFamily="18" charset="2"/>
              </a:rPr>
              <a:t></a:t>
            </a:r>
            <a:r>
              <a:rPr lang="en-US" altLang="zh-CN" sz="2800" i="0" baseline="-25000">
                <a:latin typeface="Times New Roman" pitchFamily="18" charset="0"/>
              </a:rPr>
              <a:t>3</a:t>
            </a:r>
            <a:r>
              <a:rPr lang="en-US" altLang="zh-CN" sz="2800" i="0">
                <a:latin typeface="Times New Roman" pitchFamily="18" charset="0"/>
              </a:rPr>
              <a:t>=3*(</a:t>
            </a:r>
            <a:r>
              <a:rPr lang="zh-CN" altLang="en-US" sz="2800" i="0">
                <a:latin typeface="宋体" pitchFamily="2" charset="-122"/>
              </a:rPr>
              <a:t>0.5*10</a:t>
            </a:r>
            <a:r>
              <a:rPr lang="zh-CN" altLang="en-US" sz="2800" i="0" baseline="30000">
                <a:latin typeface="宋体" pitchFamily="2" charset="-122"/>
              </a:rPr>
              <a:t>-5</a:t>
            </a:r>
            <a:r>
              <a:rPr lang="en-US" altLang="zh-CN" sz="2800" i="0">
                <a:latin typeface="Times New Roman" pitchFamily="18" charset="0"/>
              </a:rPr>
              <a:t>)=0.000015</a:t>
            </a:r>
          </a:p>
        </p:txBody>
      </p:sp>
    </p:spTree>
  </p:cSld>
  <p:clrMapOvr>
    <a:masterClrMapping/>
  </p:clrMapOvr>
  <p:transition>
    <p:cover dir="l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4D151B7C-473A-4F63-AD57-094255329A74}" type="slidenum">
              <a:rPr lang="zh-CN" altLang="en-US" i="0" smtClean="0"/>
              <a:pPr/>
              <a:t>73</a:t>
            </a:fld>
            <a:endParaRPr lang="en-US" altLang="zh-CN" i="0" smtClean="0"/>
          </a:p>
        </p:txBody>
      </p:sp>
      <p:sp>
        <p:nvSpPr>
          <p:cNvPr id="7168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EAE99C44-40D2-44FB-9AD8-FEEA5DE1330B}" type="datetime1">
              <a:rPr lang="zh-CN" altLang="en-US" sz="1800" i="0" smtClean="0"/>
              <a:pPr/>
              <a:t>2024/9/8</a:t>
            </a:fld>
            <a:endParaRPr lang="en-US" altLang="zh-CN" sz="1000" i="0" smtClean="0"/>
          </a:p>
        </p:txBody>
      </p:sp>
      <p:sp>
        <p:nvSpPr>
          <p:cNvPr id="846850" name="Rectangle 2"/>
          <p:cNvSpPr>
            <a:spLocks noGrp="1" noChangeArrowheads="1"/>
          </p:cNvSpPr>
          <p:nvPr>
            <p:ph type="title"/>
          </p:nvPr>
        </p:nvSpPr>
        <p:spPr/>
        <p:txBody>
          <a:bodyPr/>
          <a:lstStyle/>
          <a:p>
            <a:pPr>
              <a:defRPr/>
            </a:pPr>
            <a:r>
              <a:rPr lang="zh-CN" altLang="en-US" smtClean="0"/>
              <a:t>6</a:t>
            </a:r>
            <a:r>
              <a:rPr lang="zh-CN" altLang="zh-CN" smtClean="0"/>
              <a:t>.</a:t>
            </a:r>
            <a:r>
              <a:rPr lang="zh-CN" altLang="en-US" smtClean="0"/>
              <a:t>2</a:t>
            </a:r>
            <a:r>
              <a:rPr lang="zh-CN" altLang="zh-CN" smtClean="0"/>
              <a:t>  </a:t>
            </a:r>
            <a:r>
              <a:rPr lang="zh-CN" altLang="en-US" smtClean="0"/>
              <a:t>误差配置的处理方法</a:t>
            </a:r>
          </a:p>
        </p:txBody>
      </p:sp>
      <p:sp>
        <p:nvSpPr>
          <p:cNvPr id="846851" name="Rectangle 3"/>
          <p:cNvSpPr>
            <a:spLocks noGrp="1" noChangeArrowheads="1"/>
          </p:cNvSpPr>
          <p:nvPr>
            <p:ph type="body" idx="1"/>
          </p:nvPr>
        </p:nvSpPr>
        <p:spPr>
          <a:xfrm>
            <a:off x="650875" y="1143000"/>
            <a:ext cx="8820150" cy="4117975"/>
          </a:xfrm>
        </p:spPr>
        <p:txBody>
          <a:bodyPr/>
          <a:lstStyle/>
          <a:p>
            <a:pPr>
              <a:buFont typeface="Wingdings" pitchFamily="2" charset="2"/>
              <a:buNone/>
            </a:pPr>
            <a:r>
              <a:rPr lang="zh-CN" altLang="en-US" smtClean="0"/>
              <a:t>     因为</a:t>
            </a:r>
            <a:r>
              <a:rPr lang="en-US" altLang="zh-CN" smtClean="0"/>
              <a:t>R</a:t>
            </a:r>
            <a:r>
              <a:rPr lang="en-US" altLang="zh-CN" baseline="-25000" smtClean="0"/>
              <a:t>3</a:t>
            </a:r>
            <a:r>
              <a:rPr lang="en-US" altLang="zh-CN" smtClean="0"/>
              <a:t>(x)&gt; </a:t>
            </a:r>
            <a:r>
              <a:rPr lang="en-US" altLang="zh-CN" smtClean="0">
                <a:sym typeface="Symbol" pitchFamily="18" charset="2"/>
              </a:rPr>
              <a:t></a:t>
            </a:r>
            <a:r>
              <a:rPr lang="en-US" altLang="zh-CN" baseline="-25000" smtClean="0"/>
              <a:t>3</a:t>
            </a:r>
            <a:r>
              <a:rPr lang="en-US" altLang="zh-CN" smtClean="0"/>
              <a:t>,</a:t>
            </a:r>
            <a:r>
              <a:rPr lang="zh-CN" altLang="en-US" smtClean="0"/>
              <a:t>再取</a:t>
            </a:r>
            <a:r>
              <a:rPr lang="en-US" altLang="zh-CN" smtClean="0"/>
              <a:t>n=6,</a:t>
            </a:r>
            <a:r>
              <a:rPr lang="zh-CN" altLang="en-US" smtClean="0"/>
              <a:t>有</a:t>
            </a:r>
          </a:p>
          <a:p>
            <a:pPr>
              <a:buFont typeface="Wingdings" pitchFamily="2" charset="2"/>
              <a:buNone/>
            </a:pPr>
            <a:r>
              <a:rPr lang="zh-CN" altLang="en-US" smtClean="0"/>
              <a:t>		 </a:t>
            </a:r>
            <a:r>
              <a:rPr lang="en-US" altLang="zh-CN" smtClean="0"/>
              <a:t>R</a:t>
            </a:r>
            <a:r>
              <a:rPr lang="en-US" altLang="zh-CN" baseline="-25000" smtClean="0"/>
              <a:t>6</a:t>
            </a:r>
            <a:r>
              <a:rPr lang="en-US" altLang="zh-CN" smtClean="0"/>
              <a:t>(x)&lt;3/7!=0.00059，</a:t>
            </a:r>
          </a:p>
          <a:p>
            <a:pPr>
              <a:buFont typeface="Wingdings" pitchFamily="2" charset="2"/>
              <a:buNone/>
            </a:pPr>
            <a:r>
              <a:rPr lang="zh-CN" altLang="en-US" smtClean="0"/>
              <a:t>		 </a:t>
            </a:r>
            <a:r>
              <a:rPr lang="en-US" altLang="zh-CN" smtClean="0">
                <a:sym typeface="Symbol" pitchFamily="18" charset="2"/>
              </a:rPr>
              <a:t></a:t>
            </a:r>
            <a:r>
              <a:rPr lang="en-US" altLang="zh-CN" baseline="-25000" smtClean="0"/>
              <a:t>6</a:t>
            </a:r>
            <a:r>
              <a:rPr lang="en-US" altLang="zh-CN" smtClean="0"/>
              <a:t>=6*(</a:t>
            </a:r>
            <a:r>
              <a:rPr lang="zh-CN" altLang="en-US" smtClean="0">
                <a:latin typeface="宋体" pitchFamily="2" charset="-122"/>
              </a:rPr>
              <a:t>0.5*10</a:t>
            </a:r>
            <a:r>
              <a:rPr lang="zh-CN" altLang="en-US" baseline="30000" smtClean="0">
                <a:latin typeface="宋体" pitchFamily="2" charset="-122"/>
              </a:rPr>
              <a:t>-5</a:t>
            </a:r>
            <a:r>
              <a:rPr lang="en-US" altLang="zh-CN" smtClean="0"/>
              <a:t>)=0.00003</a:t>
            </a:r>
          </a:p>
          <a:p>
            <a:pPr>
              <a:buFont typeface="Wingdings" pitchFamily="2" charset="2"/>
              <a:buNone/>
            </a:pPr>
            <a:r>
              <a:rPr lang="en-US" altLang="zh-CN" smtClean="0"/>
              <a:t>	</a:t>
            </a:r>
          </a:p>
          <a:p>
            <a:pPr>
              <a:buFont typeface="Wingdings" pitchFamily="2" charset="2"/>
              <a:buNone/>
            </a:pPr>
            <a:r>
              <a:rPr lang="zh-CN" altLang="en-US" smtClean="0"/>
              <a:t>   因为</a:t>
            </a:r>
            <a:r>
              <a:rPr lang="en-US" altLang="zh-CN" smtClean="0"/>
              <a:t>R</a:t>
            </a:r>
            <a:r>
              <a:rPr lang="en-US" altLang="zh-CN" baseline="-25000" smtClean="0"/>
              <a:t>6</a:t>
            </a:r>
            <a:r>
              <a:rPr lang="en-US" altLang="zh-CN" smtClean="0"/>
              <a:t>(x)&gt; </a:t>
            </a:r>
            <a:r>
              <a:rPr lang="en-US" altLang="zh-CN" smtClean="0">
                <a:sym typeface="Symbol" pitchFamily="18" charset="2"/>
              </a:rPr>
              <a:t></a:t>
            </a:r>
            <a:r>
              <a:rPr lang="en-US" altLang="zh-CN" baseline="-25000" smtClean="0"/>
              <a:t>6</a:t>
            </a:r>
            <a:r>
              <a:rPr lang="en-US" altLang="zh-CN" smtClean="0"/>
              <a:t>,</a:t>
            </a:r>
            <a:r>
              <a:rPr lang="zh-CN" altLang="en-US" smtClean="0"/>
              <a:t>增大至</a:t>
            </a:r>
            <a:r>
              <a:rPr lang="en-US" altLang="zh-CN" smtClean="0"/>
              <a:t>n=7,</a:t>
            </a:r>
            <a:r>
              <a:rPr lang="zh-CN" altLang="en-US" smtClean="0"/>
              <a:t>有</a:t>
            </a:r>
          </a:p>
          <a:p>
            <a:pPr>
              <a:buFont typeface="Wingdings" pitchFamily="2" charset="2"/>
              <a:buNone/>
            </a:pPr>
            <a:r>
              <a:rPr lang="zh-CN" altLang="en-US" smtClean="0"/>
              <a:t>		 </a:t>
            </a:r>
            <a:r>
              <a:rPr lang="en-US" altLang="zh-CN" smtClean="0"/>
              <a:t>R</a:t>
            </a:r>
            <a:r>
              <a:rPr lang="en-US" altLang="zh-CN" baseline="-25000" smtClean="0"/>
              <a:t>7</a:t>
            </a:r>
            <a:r>
              <a:rPr lang="en-US" altLang="zh-CN" smtClean="0"/>
              <a:t>(x)&lt;3/8!=0.000074，</a:t>
            </a:r>
          </a:p>
          <a:p>
            <a:pPr>
              <a:buFont typeface="Wingdings" pitchFamily="2" charset="2"/>
              <a:buNone/>
            </a:pPr>
            <a:r>
              <a:rPr lang="zh-CN" altLang="en-US" smtClean="0"/>
              <a:t>		 </a:t>
            </a:r>
            <a:r>
              <a:rPr lang="en-US" altLang="zh-CN" smtClean="0">
                <a:sym typeface="Symbol" pitchFamily="18" charset="2"/>
              </a:rPr>
              <a:t></a:t>
            </a:r>
            <a:r>
              <a:rPr lang="en-US" altLang="zh-CN" baseline="-25000" smtClean="0"/>
              <a:t>7</a:t>
            </a:r>
            <a:r>
              <a:rPr lang="en-US" altLang="zh-CN" smtClean="0"/>
              <a:t>=7*(</a:t>
            </a:r>
            <a:r>
              <a:rPr lang="zh-CN" altLang="en-US" smtClean="0">
                <a:latin typeface="宋体" pitchFamily="2" charset="-122"/>
              </a:rPr>
              <a:t>0.5*10</a:t>
            </a:r>
            <a:r>
              <a:rPr lang="zh-CN" altLang="en-US" baseline="30000" smtClean="0">
                <a:latin typeface="宋体" pitchFamily="2" charset="-122"/>
              </a:rPr>
              <a:t>-5</a:t>
            </a:r>
            <a:r>
              <a:rPr lang="en-US" altLang="zh-CN" smtClean="0"/>
              <a:t>)=0.000035</a:t>
            </a:r>
          </a:p>
          <a:p>
            <a:pPr>
              <a:buFont typeface="Wingdings" pitchFamily="2" charset="2"/>
              <a:buNone/>
            </a:pPr>
            <a:r>
              <a:rPr lang="zh-CN" altLang="en-US" smtClean="0"/>
              <a:t>这时</a:t>
            </a:r>
            <a:r>
              <a:rPr lang="en-US" altLang="zh-CN" smtClean="0"/>
              <a:t>R</a:t>
            </a:r>
            <a:r>
              <a:rPr lang="en-US" altLang="zh-CN" baseline="-25000" smtClean="0"/>
              <a:t>7</a:t>
            </a:r>
            <a:r>
              <a:rPr lang="en-US" altLang="zh-CN" smtClean="0"/>
              <a:t>(x) </a:t>
            </a:r>
            <a:r>
              <a:rPr lang="en-US" altLang="zh-CN" smtClean="0">
                <a:sym typeface="Symbol" pitchFamily="18" charset="2"/>
              </a:rPr>
              <a:t></a:t>
            </a:r>
            <a:r>
              <a:rPr lang="en-US" altLang="zh-CN" smtClean="0"/>
              <a:t> </a:t>
            </a:r>
            <a:r>
              <a:rPr lang="en-US" altLang="zh-CN" smtClean="0">
                <a:sym typeface="Symbol" pitchFamily="18" charset="2"/>
              </a:rPr>
              <a:t></a:t>
            </a:r>
            <a:r>
              <a:rPr lang="en-US" altLang="zh-CN" baseline="-25000" smtClean="0"/>
              <a:t>7</a:t>
            </a:r>
            <a:r>
              <a:rPr lang="en-US" altLang="zh-CN" smtClean="0"/>
              <a:t>，</a:t>
            </a:r>
            <a:r>
              <a:rPr lang="zh-CN" altLang="en-US" smtClean="0"/>
              <a:t>所以应取8项进行计算为宜</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46851">
                                            <p:txEl>
                                              <p:pRg st="0" end="0"/>
                                            </p:txEl>
                                          </p:spTgt>
                                        </p:tgtEl>
                                        <p:attrNameLst>
                                          <p:attrName>style.visibility</p:attrName>
                                        </p:attrNameLst>
                                      </p:cBhvr>
                                      <p:to>
                                        <p:strVal val="visible"/>
                                      </p:to>
                                    </p:set>
                                    <p:animEffect transition="in" filter="wipe(up)">
                                      <p:cBhvr>
                                        <p:cTn id="7" dur="500"/>
                                        <p:tgtEl>
                                          <p:spTgt spid="846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6851">
                                            <p:txEl>
                                              <p:pRg st="1" end="1"/>
                                            </p:txEl>
                                          </p:spTgt>
                                        </p:tgtEl>
                                        <p:attrNameLst>
                                          <p:attrName>style.visibility</p:attrName>
                                        </p:attrNameLst>
                                      </p:cBhvr>
                                      <p:to>
                                        <p:strVal val="visible"/>
                                      </p:to>
                                    </p:set>
                                    <p:animEffect transition="in" filter="wipe(up)">
                                      <p:cBhvr>
                                        <p:cTn id="12" dur="500"/>
                                        <p:tgtEl>
                                          <p:spTgt spid="8468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46851">
                                            <p:txEl>
                                              <p:pRg st="2" end="2"/>
                                            </p:txEl>
                                          </p:spTgt>
                                        </p:tgtEl>
                                        <p:attrNameLst>
                                          <p:attrName>style.visibility</p:attrName>
                                        </p:attrNameLst>
                                      </p:cBhvr>
                                      <p:to>
                                        <p:strVal val="visible"/>
                                      </p:to>
                                    </p:set>
                                    <p:animEffect transition="in" filter="wipe(up)">
                                      <p:cBhvr>
                                        <p:cTn id="17" dur="500"/>
                                        <p:tgtEl>
                                          <p:spTgt spid="8468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46851">
                                            <p:txEl>
                                              <p:pRg st="3" end="3"/>
                                            </p:txEl>
                                          </p:spTgt>
                                        </p:tgtEl>
                                        <p:attrNameLst>
                                          <p:attrName>style.visibility</p:attrName>
                                        </p:attrNameLst>
                                      </p:cBhvr>
                                      <p:to>
                                        <p:strVal val="visible"/>
                                      </p:to>
                                    </p:set>
                                    <p:animEffect transition="in" filter="wipe(up)">
                                      <p:cBhvr>
                                        <p:cTn id="22" dur="500"/>
                                        <p:tgtEl>
                                          <p:spTgt spid="8468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46851">
                                            <p:txEl>
                                              <p:pRg st="4" end="4"/>
                                            </p:txEl>
                                          </p:spTgt>
                                        </p:tgtEl>
                                        <p:attrNameLst>
                                          <p:attrName>style.visibility</p:attrName>
                                        </p:attrNameLst>
                                      </p:cBhvr>
                                      <p:to>
                                        <p:strVal val="visible"/>
                                      </p:to>
                                    </p:set>
                                    <p:animEffect transition="in" filter="wipe(up)">
                                      <p:cBhvr>
                                        <p:cTn id="27" dur="500"/>
                                        <p:tgtEl>
                                          <p:spTgt spid="8468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46851">
                                            <p:txEl>
                                              <p:pRg st="5" end="5"/>
                                            </p:txEl>
                                          </p:spTgt>
                                        </p:tgtEl>
                                        <p:attrNameLst>
                                          <p:attrName>style.visibility</p:attrName>
                                        </p:attrNameLst>
                                      </p:cBhvr>
                                      <p:to>
                                        <p:strVal val="visible"/>
                                      </p:to>
                                    </p:set>
                                    <p:animEffect transition="in" filter="wipe(up)">
                                      <p:cBhvr>
                                        <p:cTn id="32" dur="500"/>
                                        <p:tgtEl>
                                          <p:spTgt spid="84685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846851">
                                            <p:txEl>
                                              <p:pRg st="6" end="6"/>
                                            </p:txEl>
                                          </p:spTgt>
                                        </p:tgtEl>
                                        <p:attrNameLst>
                                          <p:attrName>style.visibility</p:attrName>
                                        </p:attrNameLst>
                                      </p:cBhvr>
                                      <p:to>
                                        <p:strVal val="visible"/>
                                      </p:to>
                                    </p:set>
                                    <p:animEffect transition="in" filter="wipe(up)">
                                      <p:cBhvr>
                                        <p:cTn id="37" dur="500"/>
                                        <p:tgtEl>
                                          <p:spTgt spid="84685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846851">
                                            <p:txEl>
                                              <p:pRg st="7" end="7"/>
                                            </p:txEl>
                                          </p:spTgt>
                                        </p:tgtEl>
                                        <p:attrNameLst>
                                          <p:attrName>style.visibility</p:attrName>
                                        </p:attrNameLst>
                                      </p:cBhvr>
                                      <p:to>
                                        <p:strVal val="visible"/>
                                      </p:to>
                                    </p:set>
                                    <p:animEffect transition="in" filter="wipe(up)">
                                      <p:cBhvr>
                                        <p:cTn id="42" dur="500"/>
                                        <p:tgtEl>
                                          <p:spTgt spid="84685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51" grpId="0" build="p" bldLvl="2"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5C6089FA-9782-4DE3-B964-C2FB8332A0FE}" type="slidenum">
              <a:rPr lang="zh-CN" altLang="en-US" i="0" smtClean="0"/>
              <a:pPr/>
              <a:t>74</a:t>
            </a:fld>
            <a:endParaRPr lang="en-US" altLang="zh-CN" i="0" smtClean="0"/>
          </a:p>
        </p:txBody>
      </p:sp>
      <p:sp>
        <p:nvSpPr>
          <p:cNvPr id="7270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7D267D17-581B-46B3-ADE5-2B803266017E}" type="datetime1">
              <a:rPr lang="zh-CN" altLang="en-US" sz="1800" i="0" smtClean="0"/>
              <a:pPr/>
              <a:t>2024/9/8</a:t>
            </a:fld>
            <a:endParaRPr lang="en-US" altLang="zh-CN" sz="1000" i="0" smtClean="0"/>
          </a:p>
        </p:txBody>
      </p:sp>
      <p:sp>
        <p:nvSpPr>
          <p:cNvPr id="847874" name="Rectangle 2"/>
          <p:cNvSpPr>
            <a:spLocks noGrp="1" noChangeArrowheads="1"/>
          </p:cNvSpPr>
          <p:nvPr>
            <p:ph type="title"/>
          </p:nvPr>
        </p:nvSpPr>
        <p:spPr/>
        <p:txBody>
          <a:bodyPr/>
          <a:lstStyle/>
          <a:p>
            <a:pPr>
              <a:defRPr/>
            </a:pPr>
            <a:r>
              <a:rPr lang="zh-CN" altLang="en-US" smtClean="0"/>
              <a:t>总  结</a:t>
            </a:r>
          </a:p>
        </p:txBody>
      </p:sp>
      <p:sp>
        <p:nvSpPr>
          <p:cNvPr id="847875" name="Rectangle 3"/>
          <p:cNvSpPr>
            <a:spLocks noChangeArrowheads="1"/>
          </p:cNvSpPr>
          <p:nvPr/>
        </p:nvSpPr>
        <p:spPr bwMode="auto">
          <a:xfrm>
            <a:off x="431800" y="1143000"/>
            <a:ext cx="90805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绝对误差 </a:t>
            </a:r>
            <a:r>
              <a:rPr lang="zh-CN" altLang="en-US" sz="2800" i="0">
                <a:latin typeface="Times New Roman" pitchFamily="18" charset="0"/>
                <a:ea typeface="黑体" pitchFamily="49" charset="-122"/>
                <a:sym typeface="Symbol" pitchFamily="18" charset="2"/>
              </a:rPr>
              <a:t></a:t>
            </a:r>
            <a:endParaRPr lang="en-US" altLang="zh-CN" sz="2800" i="0">
              <a:latin typeface="宋体" pitchFamily="2" charset="-122"/>
              <a:ea typeface="黑体" pitchFamily="49" charset="-122"/>
            </a:endParaRPr>
          </a:p>
          <a:p>
            <a:pPr marL="649288" lvl="1" indent="-261938" algn="l" defTabSz="814388">
              <a:lnSpc>
                <a:spcPct val="90000"/>
              </a:lnSpc>
              <a:spcBef>
                <a:spcPct val="35000"/>
              </a:spcBef>
              <a:buClr>
                <a:srgbClr val="27305F"/>
              </a:buClr>
              <a:buFontTx/>
              <a:buChar char="–"/>
            </a:pPr>
            <a:r>
              <a:rPr lang="zh-CN" altLang="en-US" sz="2800" i="0">
                <a:latin typeface="Times New Roman" pitchFamily="18" charset="0"/>
                <a:ea typeface="黑体" pitchFamily="49" charset="-122"/>
              </a:rPr>
              <a:t>设</a:t>
            </a:r>
            <a:r>
              <a:rPr lang="en-US" altLang="zh-CN" sz="2800" i="0">
                <a:latin typeface="Times New Roman" pitchFamily="18" charset="0"/>
                <a:ea typeface="黑体" pitchFamily="49" charset="-122"/>
              </a:rPr>
              <a:t>A</a:t>
            </a:r>
            <a:r>
              <a:rPr lang="zh-CN" altLang="en-US" sz="2800" i="0">
                <a:latin typeface="Times New Roman" pitchFamily="18" charset="0"/>
                <a:ea typeface="黑体" pitchFamily="49" charset="-122"/>
              </a:rPr>
              <a:t>是精确值，</a:t>
            </a:r>
            <a:r>
              <a:rPr lang="en-US" altLang="zh-CN" sz="2800" i="0">
                <a:latin typeface="Times New Roman" pitchFamily="18" charset="0"/>
                <a:ea typeface="黑体" pitchFamily="49" charset="-122"/>
              </a:rPr>
              <a:t>a</a:t>
            </a:r>
            <a:r>
              <a:rPr lang="zh-CN" altLang="en-US" sz="2800" i="0">
                <a:latin typeface="Times New Roman" pitchFamily="18" charset="0"/>
                <a:ea typeface="黑体" pitchFamily="49" charset="-122"/>
              </a:rPr>
              <a:t>是近似值，则定义两者之差    </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=a-A</a:t>
            </a:r>
            <a:r>
              <a:rPr lang="zh-CN" altLang="en-US" sz="2800" i="0">
                <a:latin typeface="宋体" pitchFamily="2" charset="-122"/>
                <a:ea typeface="黑体" pitchFamily="49" charset="-122"/>
              </a:rPr>
              <a:t>为近似数</a:t>
            </a:r>
            <a:r>
              <a:rPr lang="en-US" altLang="zh-CN" sz="2800" i="0">
                <a:latin typeface="宋体" pitchFamily="2" charset="-122"/>
                <a:ea typeface="黑体" pitchFamily="49" charset="-122"/>
              </a:rPr>
              <a:t>a</a:t>
            </a:r>
            <a:r>
              <a:rPr lang="zh-CN" altLang="en-US" sz="2800" i="0">
                <a:latin typeface="宋体" pitchFamily="2" charset="-122"/>
                <a:ea typeface="黑体" pitchFamily="49" charset="-122"/>
              </a:rPr>
              <a:t>的绝对误差</a:t>
            </a:r>
          </a:p>
        </p:txBody>
      </p:sp>
      <p:sp>
        <p:nvSpPr>
          <p:cNvPr id="847876" name="Rectangle 4"/>
          <p:cNvSpPr>
            <a:spLocks noChangeArrowheads="1"/>
          </p:cNvSpPr>
          <p:nvPr/>
        </p:nvSpPr>
        <p:spPr bwMode="auto">
          <a:xfrm>
            <a:off x="431800" y="2590800"/>
            <a:ext cx="924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绝对误差限 </a:t>
            </a:r>
            <a:r>
              <a:rPr lang="zh-CN" altLang="en-US" sz="2800" i="0">
                <a:latin typeface="Times New Roman" pitchFamily="18" charset="0"/>
                <a:ea typeface="黑体" pitchFamily="49" charset="-122"/>
                <a:sym typeface="Symbol" pitchFamily="18" charset="2"/>
              </a:rPr>
              <a:t></a:t>
            </a:r>
            <a:endParaRPr lang="zh-CN" altLang="en-US" sz="2800" i="0">
              <a:latin typeface="宋体" pitchFamily="2" charset="-122"/>
              <a:ea typeface="黑体" pitchFamily="49" charset="-122"/>
            </a:endParaRPr>
          </a:p>
          <a:p>
            <a:pPr marL="649288" lvl="1" indent="-261938" algn="l" defTabSz="814388">
              <a:lnSpc>
                <a:spcPct val="90000"/>
              </a:lnSpc>
              <a:spcBef>
                <a:spcPct val="35000"/>
              </a:spcBef>
              <a:buClr>
                <a:srgbClr val="27305F"/>
              </a:buClr>
              <a:buFontTx/>
              <a:buChar char="–"/>
            </a:pPr>
            <a:r>
              <a:rPr lang="zh-CN" altLang="zh-CN" sz="2800" i="0">
                <a:latin typeface="宋体" pitchFamily="2" charset="-122"/>
                <a:ea typeface="黑体" pitchFamily="49" charset="-122"/>
              </a:rPr>
              <a:t>|</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|=|a-A|&lt;</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t>
            </a:r>
            <a:r>
              <a:rPr lang="zh-CN" altLang="en-US" sz="2800" i="0">
                <a:latin typeface="宋体" pitchFamily="2" charset="-122"/>
                <a:ea typeface="黑体" pitchFamily="49" charset="-122"/>
              </a:rPr>
              <a:t>上界)，称为绝对误差限</a:t>
            </a:r>
            <a:endParaRPr lang="zh-CN" altLang="zh-CN" sz="2800" i="0">
              <a:latin typeface="宋体" pitchFamily="2" charset="-122"/>
              <a:ea typeface="黑体" pitchFamily="49" charset="-122"/>
            </a:endParaRPr>
          </a:p>
        </p:txBody>
      </p:sp>
      <p:sp>
        <p:nvSpPr>
          <p:cNvPr id="847877" name="Rectangle 5"/>
          <p:cNvSpPr>
            <a:spLocks noChangeArrowheads="1"/>
          </p:cNvSpPr>
          <p:nvPr/>
        </p:nvSpPr>
        <p:spPr bwMode="auto">
          <a:xfrm>
            <a:off x="431800" y="3657600"/>
            <a:ext cx="924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相对误差 </a:t>
            </a:r>
            <a:r>
              <a:rPr lang="zh-CN" altLang="en-US" sz="2800" i="0">
                <a:latin typeface="Times New Roman" pitchFamily="18" charset="0"/>
                <a:ea typeface="黑体" pitchFamily="49" charset="-122"/>
                <a:sym typeface="Symbol" pitchFamily="18" charset="2"/>
              </a:rPr>
              <a:t></a:t>
            </a:r>
            <a:endParaRPr lang="zh-CN" altLang="en-US" sz="2800" i="0">
              <a:latin typeface="宋体" pitchFamily="2" charset="-122"/>
              <a:ea typeface="黑体" pitchFamily="49" charset="-122"/>
            </a:endParaRPr>
          </a:p>
          <a:p>
            <a:pPr marL="649288" lvl="1" indent="-261938" algn="l" defTabSz="814388">
              <a:lnSpc>
                <a:spcPct val="90000"/>
              </a:lnSpc>
              <a:spcBef>
                <a:spcPct val="35000"/>
              </a:spcBef>
              <a:buClr>
                <a:srgbClr val="27305F"/>
              </a:buClr>
              <a:buFontTx/>
              <a:buChar char="–"/>
            </a:pPr>
            <a:r>
              <a:rPr lang="zh-CN" altLang="en-US" sz="2800" i="0">
                <a:latin typeface="宋体" pitchFamily="2" charset="-122"/>
                <a:ea typeface="黑体" pitchFamily="49" charset="-122"/>
              </a:rPr>
              <a:t>绝对误差与精确值之比</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a:t>
            </a:r>
            <a:r>
              <a:rPr lang="en-US" altLang="zh-CN" sz="2800" i="0">
                <a:latin typeface="Times New Roman" pitchFamily="18" charset="0"/>
                <a:ea typeface="黑体" pitchFamily="49" charset="-122"/>
              </a:rPr>
              <a:t> </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a:t>
            </a:r>
            <a:r>
              <a:rPr lang="zh-CN" altLang="en-US" sz="2800" i="0">
                <a:latin typeface="宋体" pitchFamily="2" charset="-122"/>
                <a:ea typeface="黑体" pitchFamily="49" charset="-122"/>
              </a:rPr>
              <a:t>为相对误差</a:t>
            </a:r>
          </a:p>
        </p:txBody>
      </p:sp>
      <p:sp>
        <p:nvSpPr>
          <p:cNvPr id="847878" name="Rectangle 6"/>
          <p:cNvSpPr>
            <a:spLocks noChangeArrowheads="1"/>
          </p:cNvSpPr>
          <p:nvPr/>
        </p:nvSpPr>
        <p:spPr bwMode="auto">
          <a:xfrm>
            <a:off x="431800" y="4724400"/>
            <a:ext cx="924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相对误差限 </a:t>
            </a:r>
            <a:r>
              <a:rPr lang="en-US" altLang="zh-CN" sz="2800" i="0">
                <a:latin typeface="宋体" pitchFamily="2" charset="-122"/>
                <a:ea typeface="黑体" pitchFamily="49" charset="-122"/>
              </a:rPr>
              <a:t>η</a:t>
            </a:r>
            <a:endParaRPr lang="zh-CN" altLang="zh-CN" sz="2800" i="0">
              <a:latin typeface="宋体" pitchFamily="2" charset="-122"/>
              <a:ea typeface="黑体" pitchFamily="49" charset="-122"/>
            </a:endParaRPr>
          </a:p>
          <a:p>
            <a:pPr marL="649288" lvl="1" indent="-261938" algn="l" defTabSz="814388">
              <a:lnSpc>
                <a:spcPct val="90000"/>
              </a:lnSpc>
              <a:spcBef>
                <a:spcPct val="35000"/>
              </a:spcBef>
              <a:buClr>
                <a:srgbClr val="27305F"/>
              </a:buClr>
              <a:buFontTx/>
              <a:buChar char="–"/>
            </a:pPr>
            <a:r>
              <a:rPr lang="zh-CN" altLang="zh-CN" sz="2800" i="0">
                <a:latin typeface="宋体" pitchFamily="2" charset="-122"/>
                <a:ea typeface="黑体" pitchFamily="49" charset="-122"/>
              </a:rPr>
              <a:t>|</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/A|&lt;η</a:t>
            </a:r>
            <a:r>
              <a:rPr lang="en-US" altLang="zh-CN" sz="2800" i="0">
                <a:latin typeface="Times New Roman" pitchFamily="18" charset="0"/>
                <a:ea typeface="黑体" pitchFamily="49" charset="-122"/>
              </a:rPr>
              <a:t> (</a:t>
            </a:r>
            <a:r>
              <a:rPr lang="zh-CN" altLang="en-US" sz="2800" i="0">
                <a:latin typeface="宋体" pitchFamily="2" charset="-122"/>
                <a:ea typeface="黑体" pitchFamily="49" charset="-122"/>
              </a:rPr>
              <a:t>上界</a:t>
            </a:r>
            <a:r>
              <a:rPr lang="zh-CN" altLang="zh-CN" sz="2800" i="0">
                <a:latin typeface="Times New Roman" pitchFamily="18" charset="0"/>
                <a:ea typeface="黑体" pitchFamily="49" charset="-122"/>
              </a:rPr>
              <a:t>)，</a:t>
            </a:r>
            <a:r>
              <a:rPr lang="zh-CN" altLang="en-US" sz="2800" i="0">
                <a:latin typeface="Times New Roman" pitchFamily="18" charset="0"/>
                <a:ea typeface="黑体" pitchFamily="49" charset="-122"/>
              </a:rPr>
              <a:t>称为相对误差限</a:t>
            </a:r>
          </a:p>
        </p:txBody>
      </p:sp>
      <p:sp>
        <p:nvSpPr>
          <p:cNvPr id="847879" name="Rectangle 7"/>
          <p:cNvSpPr>
            <a:spLocks noChangeArrowheads="1"/>
          </p:cNvSpPr>
          <p:nvPr/>
        </p:nvSpPr>
        <p:spPr bwMode="auto">
          <a:xfrm>
            <a:off x="431800" y="5791200"/>
            <a:ext cx="924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i="0">
                <a:latin typeface="Times New Roman" pitchFamily="18" charset="0"/>
                <a:ea typeface="黑体" pitchFamily="49" charset="-122"/>
              </a:rPr>
              <a:t>绝对误差和相对误差有关系：</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 </a:t>
            </a:r>
            <a:r>
              <a:rPr lang="zh-CN" altLang="en-US" sz="2800" i="0">
                <a:latin typeface="Times New Roman" pitchFamily="18" charset="0"/>
                <a:ea typeface="黑体" pitchFamily="49" charset="-122"/>
                <a:sym typeface="Symbol" pitchFamily="18" charset="2"/>
              </a:rPr>
              <a:t></a:t>
            </a:r>
            <a:r>
              <a:rPr lang="en-US" altLang="zh-CN" sz="2800" i="0">
                <a:latin typeface="宋体" pitchFamily="2" charset="-122"/>
                <a:ea typeface="黑体" pitchFamily="49" charset="-122"/>
              </a:rPr>
              <a:t>A</a:t>
            </a:r>
            <a:endParaRPr lang="zh-CN" altLang="en-US" sz="2800" i="0">
              <a:latin typeface="宋体" pitchFamily="2" charset="-122"/>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grpId="0" nodeType="afterEffect">
                                  <p:stCondLst>
                                    <p:cond delay="0"/>
                                  </p:stCondLst>
                                  <p:iterate type="lt">
                                    <p:tmPct val="100000"/>
                                  </p:iterate>
                                  <p:childTnLst>
                                    <p:set>
                                      <p:cBhvr>
                                        <p:cTn id="6" dur="1" fill="hold">
                                          <p:stCondLst>
                                            <p:cond delay="0"/>
                                          </p:stCondLst>
                                        </p:cTn>
                                        <p:tgtEl>
                                          <p:spTgt spid="847875"/>
                                        </p:tgtEl>
                                        <p:attrNameLst>
                                          <p:attrName>style.visibility</p:attrName>
                                        </p:attrNameLst>
                                      </p:cBhvr>
                                      <p:to>
                                        <p:strVal val="visible"/>
                                      </p:to>
                                    </p:set>
                                    <p:anim calcmode="lin" valueType="num">
                                      <p:cBhvr>
                                        <p:cTn id="7" dur="75" fill="hold"/>
                                        <p:tgtEl>
                                          <p:spTgt spid="847875"/>
                                        </p:tgtEl>
                                        <p:attrNameLst>
                                          <p:attrName>ppt_x</p:attrName>
                                        </p:attrNameLst>
                                      </p:cBhvr>
                                      <p:tavLst>
                                        <p:tav tm="0">
                                          <p:val>
                                            <p:strVal val="#ppt_x-#ppt_w/2"/>
                                          </p:val>
                                        </p:tav>
                                        <p:tav tm="100000">
                                          <p:val>
                                            <p:strVal val="#ppt_x"/>
                                          </p:val>
                                        </p:tav>
                                      </p:tavLst>
                                    </p:anim>
                                    <p:anim calcmode="lin" valueType="num">
                                      <p:cBhvr>
                                        <p:cTn id="8" dur="75" fill="hold"/>
                                        <p:tgtEl>
                                          <p:spTgt spid="847875"/>
                                        </p:tgtEl>
                                        <p:attrNameLst>
                                          <p:attrName>ppt_y</p:attrName>
                                        </p:attrNameLst>
                                      </p:cBhvr>
                                      <p:tavLst>
                                        <p:tav tm="0">
                                          <p:val>
                                            <p:strVal val="#ppt_y"/>
                                          </p:val>
                                        </p:tav>
                                        <p:tav tm="100000">
                                          <p:val>
                                            <p:strVal val="#ppt_y"/>
                                          </p:val>
                                        </p:tav>
                                      </p:tavLst>
                                    </p:anim>
                                    <p:anim calcmode="lin" valueType="num">
                                      <p:cBhvr>
                                        <p:cTn id="9" dur="75" fill="hold"/>
                                        <p:tgtEl>
                                          <p:spTgt spid="847875"/>
                                        </p:tgtEl>
                                        <p:attrNameLst>
                                          <p:attrName>ppt_w</p:attrName>
                                        </p:attrNameLst>
                                      </p:cBhvr>
                                      <p:tavLst>
                                        <p:tav tm="0">
                                          <p:val>
                                            <p:fltVal val="0"/>
                                          </p:val>
                                        </p:tav>
                                        <p:tav tm="100000">
                                          <p:val>
                                            <p:strVal val="#ppt_w"/>
                                          </p:val>
                                        </p:tav>
                                      </p:tavLst>
                                    </p:anim>
                                    <p:anim calcmode="lin" valueType="num">
                                      <p:cBhvr>
                                        <p:cTn id="10" dur="75" fill="hold"/>
                                        <p:tgtEl>
                                          <p:spTgt spid="847875"/>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iterate type="lt">
                                    <p:tmPct val="100000"/>
                                  </p:iterate>
                                  <p:childTnLst>
                                    <p:set>
                                      <p:cBhvr>
                                        <p:cTn id="14" dur="1" fill="hold">
                                          <p:stCondLst>
                                            <p:cond delay="0"/>
                                          </p:stCondLst>
                                        </p:cTn>
                                        <p:tgtEl>
                                          <p:spTgt spid="847876"/>
                                        </p:tgtEl>
                                        <p:attrNameLst>
                                          <p:attrName>style.visibility</p:attrName>
                                        </p:attrNameLst>
                                      </p:cBhvr>
                                      <p:to>
                                        <p:strVal val="visible"/>
                                      </p:to>
                                    </p:set>
                                    <p:anim calcmode="lin" valueType="num">
                                      <p:cBhvr>
                                        <p:cTn id="15" dur="75" fill="hold"/>
                                        <p:tgtEl>
                                          <p:spTgt spid="847876"/>
                                        </p:tgtEl>
                                        <p:attrNameLst>
                                          <p:attrName>ppt_x</p:attrName>
                                        </p:attrNameLst>
                                      </p:cBhvr>
                                      <p:tavLst>
                                        <p:tav tm="0">
                                          <p:val>
                                            <p:strVal val="#ppt_x-#ppt_w/2"/>
                                          </p:val>
                                        </p:tav>
                                        <p:tav tm="100000">
                                          <p:val>
                                            <p:strVal val="#ppt_x"/>
                                          </p:val>
                                        </p:tav>
                                      </p:tavLst>
                                    </p:anim>
                                    <p:anim calcmode="lin" valueType="num">
                                      <p:cBhvr>
                                        <p:cTn id="16" dur="75" fill="hold"/>
                                        <p:tgtEl>
                                          <p:spTgt spid="847876"/>
                                        </p:tgtEl>
                                        <p:attrNameLst>
                                          <p:attrName>ppt_y</p:attrName>
                                        </p:attrNameLst>
                                      </p:cBhvr>
                                      <p:tavLst>
                                        <p:tav tm="0">
                                          <p:val>
                                            <p:strVal val="#ppt_y"/>
                                          </p:val>
                                        </p:tav>
                                        <p:tav tm="100000">
                                          <p:val>
                                            <p:strVal val="#ppt_y"/>
                                          </p:val>
                                        </p:tav>
                                      </p:tavLst>
                                    </p:anim>
                                    <p:anim calcmode="lin" valueType="num">
                                      <p:cBhvr>
                                        <p:cTn id="17" dur="75" fill="hold"/>
                                        <p:tgtEl>
                                          <p:spTgt spid="847876"/>
                                        </p:tgtEl>
                                        <p:attrNameLst>
                                          <p:attrName>ppt_w</p:attrName>
                                        </p:attrNameLst>
                                      </p:cBhvr>
                                      <p:tavLst>
                                        <p:tav tm="0">
                                          <p:val>
                                            <p:fltVal val="0"/>
                                          </p:val>
                                        </p:tav>
                                        <p:tav tm="100000">
                                          <p:val>
                                            <p:strVal val="#ppt_w"/>
                                          </p:val>
                                        </p:tav>
                                      </p:tavLst>
                                    </p:anim>
                                    <p:anim calcmode="lin" valueType="num">
                                      <p:cBhvr>
                                        <p:cTn id="18" dur="75" fill="hold"/>
                                        <p:tgtEl>
                                          <p:spTgt spid="847876"/>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iterate type="lt">
                                    <p:tmPct val="100000"/>
                                  </p:iterate>
                                  <p:childTnLst>
                                    <p:set>
                                      <p:cBhvr>
                                        <p:cTn id="22" dur="1" fill="hold">
                                          <p:stCondLst>
                                            <p:cond delay="0"/>
                                          </p:stCondLst>
                                        </p:cTn>
                                        <p:tgtEl>
                                          <p:spTgt spid="847877"/>
                                        </p:tgtEl>
                                        <p:attrNameLst>
                                          <p:attrName>style.visibility</p:attrName>
                                        </p:attrNameLst>
                                      </p:cBhvr>
                                      <p:to>
                                        <p:strVal val="visible"/>
                                      </p:to>
                                    </p:set>
                                    <p:anim calcmode="lin" valueType="num">
                                      <p:cBhvr>
                                        <p:cTn id="23" dur="75" fill="hold"/>
                                        <p:tgtEl>
                                          <p:spTgt spid="847877"/>
                                        </p:tgtEl>
                                        <p:attrNameLst>
                                          <p:attrName>ppt_x</p:attrName>
                                        </p:attrNameLst>
                                      </p:cBhvr>
                                      <p:tavLst>
                                        <p:tav tm="0">
                                          <p:val>
                                            <p:strVal val="#ppt_x-#ppt_w/2"/>
                                          </p:val>
                                        </p:tav>
                                        <p:tav tm="100000">
                                          <p:val>
                                            <p:strVal val="#ppt_x"/>
                                          </p:val>
                                        </p:tav>
                                      </p:tavLst>
                                    </p:anim>
                                    <p:anim calcmode="lin" valueType="num">
                                      <p:cBhvr>
                                        <p:cTn id="24" dur="75" fill="hold"/>
                                        <p:tgtEl>
                                          <p:spTgt spid="847877"/>
                                        </p:tgtEl>
                                        <p:attrNameLst>
                                          <p:attrName>ppt_y</p:attrName>
                                        </p:attrNameLst>
                                      </p:cBhvr>
                                      <p:tavLst>
                                        <p:tav tm="0">
                                          <p:val>
                                            <p:strVal val="#ppt_y"/>
                                          </p:val>
                                        </p:tav>
                                        <p:tav tm="100000">
                                          <p:val>
                                            <p:strVal val="#ppt_y"/>
                                          </p:val>
                                        </p:tav>
                                      </p:tavLst>
                                    </p:anim>
                                    <p:anim calcmode="lin" valueType="num">
                                      <p:cBhvr>
                                        <p:cTn id="25" dur="75" fill="hold"/>
                                        <p:tgtEl>
                                          <p:spTgt spid="847877"/>
                                        </p:tgtEl>
                                        <p:attrNameLst>
                                          <p:attrName>ppt_w</p:attrName>
                                        </p:attrNameLst>
                                      </p:cBhvr>
                                      <p:tavLst>
                                        <p:tav tm="0">
                                          <p:val>
                                            <p:fltVal val="0"/>
                                          </p:val>
                                        </p:tav>
                                        <p:tav tm="100000">
                                          <p:val>
                                            <p:strVal val="#ppt_w"/>
                                          </p:val>
                                        </p:tav>
                                      </p:tavLst>
                                    </p:anim>
                                    <p:anim calcmode="lin" valueType="num">
                                      <p:cBhvr>
                                        <p:cTn id="26" dur="75" fill="hold"/>
                                        <p:tgtEl>
                                          <p:spTgt spid="847877"/>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iterate type="lt">
                                    <p:tmPct val="100000"/>
                                  </p:iterate>
                                  <p:childTnLst>
                                    <p:set>
                                      <p:cBhvr>
                                        <p:cTn id="30" dur="1" fill="hold">
                                          <p:stCondLst>
                                            <p:cond delay="0"/>
                                          </p:stCondLst>
                                        </p:cTn>
                                        <p:tgtEl>
                                          <p:spTgt spid="847878"/>
                                        </p:tgtEl>
                                        <p:attrNameLst>
                                          <p:attrName>style.visibility</p:attrName>
                                        </p:attrNameLst>
                                      </p:cBhvr>
                                      <p:to>
                                        <p:strVal val="visible"/>
                                      </p:to>
                                    </p:set>
                                    <p:anim calcmode="lin" valueType="num">
                                      <p:cBhvr>
                                        <p:cTn id="31" dur="75" fill="hold"/>
                                        <p:tgtEl>
                                          <p:spTgt spid="847878"/>
                                        </p:tgtEl>
                                        <p:attrNameLst>
                                          <p:attrName>ppt_x</p:attrName>
                                        </p:attrNameLst>
                                      </p:cBhvr>
                                      <p:tavLst>
                                        <p:tav tm="0">
                                          <p:val>
                                            <p:strVal val="#ppt_x-#ppt_w/2"/>
                                          </p:val>
                                        </p:tav>
                                        <p:tav tm="100000">
                                          <p:val>
                                            <p:strVal val="#ppt_x"/>
                                          </p:val>
                                        </p:tav>
                                      </p:tavLst>
                                    </p:anim>
                                    <p:anim calcmode="lin" valueType="num">
                                      <p:cBhvr>
                                        <p:cTn id="32" dur="75" fill="hold"/>
                                        <p:tgtEl>
                                          <p:spTgt spid="847878"/>
                                        </p:tgtEl>
                                        <p:attrNameLst>
                                          <p:attrName>ppt_y</p:attrName>
                                        </p:attrNameLst>
                                      </p:cBhvr>
                                      <p:tavLst>
                                        <p:tav tm="0">
                                          <p:val>
                                            <p:strVal val="#ppt_y"/>
                                          </p:val>
                                        </p:tav>
                                        <p:tav tm="100000">
                                          <p:val>
                                            <p:strVal val="#ppt_y"/>
                                          </p:val>
                                        </p:tav>
                                      </p:tavLst>
                                    </p:anim>
                                    <p:anim calcmode="lin" valueType="num">
                                      <p:cBhvr>
                                        <p:cTn id="33" dur="75" fill="hold"/>
                                        <p:tgtEl>
                                          <p:spTgt spid="847878"/>
                                        </p:tgtEl>
                                        <p:attrNameLst>
                                          <p:attrName>ppt_w</p:attrName>
                                        </p:attrNameLst>
                                      </p:cBhvr>
                                      <p:tavLst>
                                        <p:tav tm="0">
                                          <p:val>
                                            <p:fltVal val="0"/>
                                          </p:val>
                                        </p:tav>
                                        <p:tav tm="100000">
                                          <p:val>
                                            <p:strVal val="#ppt_w"/>
                                          </p:val>
                                        </p:tav>
                                      </p:tavLst>
                                    </p:anim>
                                    <p:anim calcmode="lin" valueType="num">
                                      <p:cBhvr>
                                        <p:cTn id="34" dur="75" fill="hold"/>
                                        <p:tgtEl>
                                          <p:spTgt spid="847878"/>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grpId="0" nodeType="clickEffect">
                                  <p:stCondLst>
                                    <p:cond delay="0"/>
                                  </p:stCondLst>
                                  <p:iterate type="lt">
                                    <p:tmPct val="100000"/>
                                  </p:iterate>
                                  <p:childTnLst>
                                    <p:set>
                                      <p:cBhvr>
                                        <p:cTn id="38" dur="1" fill="hold">
                                          <p:stCondLst>
                                            <p:cond delay="0"/>
                                          </p:stCondLst>
                                        </p:cTn>
                                        <p:tgtEl>
                                          <p:spTgt spid="847879"/>
                                        </p:tgtEl>
                                        <p:attrNameLst>
                                          <p:attrName>style.visibility</p:attrName>
                                        </p:attrNameLst>
                                      </p:cBhvr>
                                      <p:to>
                                        <p:strVal val="visible"/>
                                      </p:to>
                                    </p:set>
                                    <p:anim calcmode="lin" valueType="num">
                                      <p:cBhvr>
                                        <p:cTn id="39" dur="75" fill="hold"/>
                                        <p:tgtEl>
                                          <p:spTgt spid="847879"/>
                                        </p:tgtEl>
                                        <p:attrNameLst>
                                          <p:attrName>ppt_x</p:attrName>
                                        </p:attrNameLst>
                                      </p:cBhvr>
                                      <p:tavLst>
                                        <p:tav tm="0">
                                          <p:val>
                                            <p:strVal val="#ppt_x-#ppt_w/2"/>
                                          </p:val>
                                        </p:tav>
                                        <p:tav tm="100000">
                                          <p:val>
                                            <p:strVal val="#ppt_x"/>
                                          </p:val>
                                        </p:tav>
                                      </p:tavLst>
                                    </p:anim>
                                    <p:anim calcmode="lin" valueType="num">
                                      <p:cBhvr>
                                        <p:cTn id="40" dur="75" fill="hold"/>
                                        <p:tgtEl>
                                          <p:spTgt spid="847879"/>
                                        </p:tgtEl>
                                        <p:attrNameLst>
                                          <p:attrName>ppt_y</p:attrName>
                                        </p:attrNameLst>
                                      </p:cBhvr>
                                      <p:tavLst>
                                        <p:tav tm="0">
                                          <p:val>
                                            <p:strVal val="#ppt_y"/>
                                          </p:val>
                                        </p:tav>
                                        <p:tav tm="100000">
                                          <p:val>
                                            <p:strVal val="#ppt_y"/>
                                          </p:val>
                                        </p:tav>
                                      </p:tavLst>
                                    </p:anim>
                                    <p:anim calcmode="lin" valueType="num">
                                      <p:cBhvr>
                                        <p:cTn id="41" dur="75" fill="hold"/>
                                        <p:tgtEl>
                                          <p:spTgt spid="847879"/>
                                        </p:tgtEl>
                                        <p:attrNameLst>
                                          <p:attrName>ppt_w</p:attrName>
                                        </p:attrNameLst>
                                      </p:cBhvr>
                                      <p:tavLst>
                                        <p:tav tm="0">
                                          <p:val>
                                            <p:fltVal val="0"/>
                                          </p:val>
                                        </p:tav>
                                        <p:tav tm="100000">
                                          <p:val>
                                            <p:strVal val="#ppt_w"/>
                                          </p:val>
                                        </p:tav>
                                      </p:tavLst>
                                    </p:anim>
                                    <p:anim calcmode="lin" valueType="num">
                                      <p:cBhvr>
                                        <p:cTn id="42" dur="75" fill="hold"/>
                                        <p:tgtEl>
                                          <p:spTgt spid="84787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5" grpId="0" autoUpdateAnimBg="0"/>
      <p:bldP spid="847876" grpId="0" autoUpdateAnimBg="0" rev="1"/>
      <p:bldP spid="847877" grpId="0" autoUpdateAnimBg="0" rev="1"/>
      <p:bldP spid="847878" grpId="0" autoUpdateAnimBg="0" rev="1"/>
      <p:bldP spid="847879" grpId="0" autoUpdateAnimBg="0" rev="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0F7F0DAB-835C-4F81-9E1C-3ACECDE7D339}" type="slidenum">
              <a:rPr lang="zh-CN" altLang="en-US" i="0" smtClean="0"/>
              <a:pPr/>
              <a:t>75</a:t>
            </a:fld>
            <a:endParaRPr lang="en-US" altLang="zh-CN" i="0" smtClean="0"/>
          </a:p>
        </p:txBody>
      </p:sp>
      <p:sp>
        <p:nvSpPr>
          <p:cNvPr id="1843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BBA98578-0464-4904-84A0-F5821A2A8D6C}" type="datetime1">
              <a:rPr lang="zh-CN" altLang="en-US" sz="1800" i="0" smtClean="0"/>
              <a:pPr/>
              <a:t>2024/9/8</a:t>
            </a:fld>
            <a:endParaRPr lang="en-US" altLang="zh-CN" sz="1000" i="0" smtClean="0"/>
          </a:p>
        </p:txBody>
      </p:sp>
      <p:sp>
        <p:nvSpPr>
          <p:cNvPr id="913410" name="Rectangle 2"/>
          <p:cNvSpPr>
            <a:spLocks noGrp="1" noChangeArrowheads="1"/>
          </p:cNvSpPr>
          <p:nvPr>
            <p:ph type="title"/>
          </p:nvPr>
        </p:nvSpPr>
        <p:spPr/>
        <p:txBody>
          <a:bodyPr/>
          <a:lstStyle/>
          <a:p>
            <a:pPr>
              <a:defRPr/>
            </a:pPr>
            <a:r>
              <a:rPr lang="zh-CN" altLang="en-US" smtClean="0"/>
              <a:t>小结</a:t>
            </a:r>
          </a:p>
        </p:txBody>
      </p:sp>
      <p:sp>
        <p:nvSpPr>
          <p:cNvPr id="18437" name="Rectangle 3"/>
          <p:cNvSpPr>
            <a:spLocks noGrp="1" noChangeArrowheads="1"/>
          </p:cNvSpPr>
          <p:nvPr>
            <p:ph type="body" idx="1"/>
          </p:nvPr>
        </p:nvSpPr>
        <p:spPr>
          <a:xfrm>
            <a:off x="650875" y="1143000"/>
            <a:ext cx="8820150" cy="5378450"/>
          </a:xfrm>
        </p:spPr>
        <p:txBody>
          <a:bodyPr/>
          <a:lstStyle/>
          <a:p>
            <a:pPr>
              <a:spcBef>
                <a:spcPct val="0"/>
              </a:spcBef>
            </a:pPr>
            <a:r>
              <a:rPr lang="en-US" altLang="zh-CN" dirty="0" smtClean="0"/>
              <a:t>2.2 </a:t>
            </a:r>
            <a:r>
              <a:rPr lang="zh-CN" altLang="en-US" dirty="0" smtClean="0"/>
              <a:t>舍入方法</a:t>
            </a:r>
          </a:p>
          <a:p>
            <a:pPr lvl="1">
              <a:spcBef>
                <a:spcPct val="0"/>
              </a:spcBef>
            </a:pPr>
            <a:r>
              <a:rPr lang="zh-CN" altLang="en-US" dirty="0" smtClean="0"/>
              <a:t>截断法</a:t>
            </a:r>
            <a:r>
              <a:rPr lang="en-US" altLang="zh-CN" dirty="0" smtClean="0"/>
              <a:t>: </a:t>
            </a:r>
            <a:r>
              <a:rPr lang="zh-CN" altLang="en-US" dirty="0" smtClean="0"/>
              <a:t>截断法产生的绝对误差限不超过近似数</a:t>
            </a:r>
            <a:r>
              <a:rPr lang="en-US" altLang="zh-CN" dirty="0" smtClean="0"/>
              <a:t>a</a:t>
            </a:r>
            <a:r>
              <a:rPr lang="zh-CN" altLang="en-US" dirty="0" smtClean="0"/>
              <a:t>最末位的</a:t>
            </a:r>
            <a:r>
              <a:rPr lang="en-US" altLang="zh-CN" dirty="0" smtClean="0"/>
              <a:t>1</a:t>
            </a:r>
            <a:r>
              <a:rPr lang="zh-CN" altLang="en-US" dirty="0" smtClean="0"/>
              <a:t>个单位</a:t>
            </a:r>
          </a:p>
          <a:p>
            <a:pPr lvl="1">
              <a:spcBef>
                <a:spcPct val="0"/>
              </a:spcBef>
            </a:pPr>
            <a:r>
              <a:rPr lang="zh-CN" altLang="en-US" dirty="0" smtClean="0"/>
              <a:t>四舍五入法</a:t>
            </a:r>
            <a:r>
              <a:rPr lang="en-US" altLang="zh-CN" dirty="0" smtClean="0"/>
              <a:t>: </a:t>
            </a:r>
            <a:r>
              <a:rPr lang="zh-CN" altLang="en-US" dirty="0" smtClean="0"/>
              <a:t>凡是由准确值经过四舍五入而得到的近似值，其绝对误差限等于该近似值末位的半个单位</a:t>
            </a:r>
          </a:p>
          <a:p>
            <a:pPr>
              <a:spcBef>
                <a:spcPct val="0"/>
              </a:spcBef>
            </a:pPr>
            <a:r>
              <a:rPr lang="zh-CN" altLang="en-US" dirty="0" smtClean="0">
                <a:solidFill>
                  <a:srgbClr val="0000FF"/>
                </a:solidFill>
              </a:rPr>
              <a:t>我们希望所表示的数本身就能显示出它的准确程度，于是引入</a:t>
            </a:r>
          </a:p>
          <a:p>
            <a:pPr>
              <a:spcBef>
                <a:spcPct val="0"/>
              </a:spcBef>
            </a:pPr>
            <a:r>
              <a:rPr lang="en-US" altLang="zh-CN" dirty="0" smtClean="0"/>
              <a:t>2.3   </a:t>
            </a:r>
            <a:r>
              <a:rPr lang="zh-CN" altLang="en-US" dirty="0" smtClean="0"/>
              <a:t>有效数字</a:t>
            </a:r>
            <a:r>
              <a:rPr lang="en-US" altLang="zh-CN" dirty="0" smtClean="0"/>
              <a:t>   </a:t>
            </a:r>
            <a:r>
              <a:rPr lang="zh-CN" altLang="en-US" dirty="0" smtClean="0">
                <a:solidFill>
                  <a:srgbClr val="FF3300"/>
                </a:solidFill>
              </a:rPr>
              <a:t>反映绝对误差限</a:t>
            </a:r>
          </a:p>
          <a:p>
            <a:pPr lvl="1">
              <a:spcBef>
                <a:spcPct val="0"/>
              </a:spcBef>
            </a:pPr>
            <a:r>
              <a:rPr lang="zh-CN" altLang="en-US" dirty="0" smtClean="0"/>
              <a:t>对于给出的有效数，其绝对误差限不大于其最末数字的半个单位 </a:t>
            </a:r>
          </a:p>
          <a:p>
            <a:pPr lvl="1">
              <a:spcBef>
                <a:spcPct val="0"/>
              </a:spcBef>
            </a:pPr>
            <a:r>
              <a:rPr lang="zh-CN" altLang="en-US" dirty="0" smtClean="0"/>
              <a:t>由准确值经过四舍五入的得到近似值，从它的末位数字到第一位非零数字都是有效数字</a:t>
            </a:r>
          </a:p>
          <a:p>
            <a:pPr>
              <a:spcBef>
                <a:spcPct val="0"/>
              </a:spcBef>
            </a:pPr>
            <a:r>
              <a:rPr lang="zh-CN" altLang="en-US" dirty="0" smtClean="0">
                <a:solidFill>
                  <a:srgbClr val="0000FF"/>
                </a:solidFill>
              </a:rPr>
              <a:t>在讲了有效数字之后，规定，</a:t>
            </a:r>
            <a:r>
              <a:rPr lang="zh-CN" altLang="en-US" u="sng" dirty="0" smtClean="0">
                <a:solidFill>
                  <a:srgbClr val="0000FF"/>
                </a:solidFill>
              </a:rPr>
              <a:t>所写出的数都应该是有效数字</a:t>
            </a:r>
          </a:p>
        </p:txBody>
      </p:sp>
    </p:spTree>
    <p:extLst>
      <p:ext uri="{BB962C8B-B14F-4D97-AF65-F5344CB8AC3E}">
        <p14:creationId xmlns:p14="http://schemas.microsoft.com/office/powerpoint/2010/main" val="41132465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D4F5EFC4-1A13-4C8A-B718-836CAECE46F0}" type="slidenum">
              <a:rPr lang="zh-CN" altLang="en-US" i="0" smtClean="0"/>
              <a:pPr/>
              <a:t>76</a:t>
            </a:fld>
            <a:endParaRPr lang="en-US" altLang="zh-CN" i="0" smtClean="0"/>
          </a:p>
        </p:txBody>
      </p:sp>
      <p:sp>
        <p:nvSpPr>
          <p:cNvPr id="73731"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ADE8BF5-3042-4D53-A1F7-8ED1EF493763}" type="datetime1">
              <a:rPr lang="zh-CN" altLang="en-US" sz="1800" i="0" smtClean="0"/>
              <a:pPr/>
              <a:t>2024/9/8</a:t>
            </a:fld>
            <a:endParaRPr lang="en-US" altLang="zh-CN" sz="1000" i="0" smtClean="0"/>
          </a:p>
        </p:txBody>
      </p:sp>
      <p:sp>
        <p:nvSpPr>
          <p:cNvPr id="849922" name="Rectangle 2"/>
          <p:cNvSpPr>
            <a:spLocks noGrp="1" noChangeArrowheads="1"/>
          </p:cNvSpPr>
          <p:nvPr>
            <p:ph type="title"/>
          </p:nvPr>
        </p:nvSpPr>
        <p:spPr/>
        <p:txBody>
          <a:bodyPr/>
          <a:lstStyle/>
          <a:p>
            <a:pPr>
              <a:defRPr/>
            </a:pPr>
            <a:r>
              <a:rPr lang="zh-CN" altLang="en-US" smtClean="0"/>
              <a:t>总  结</a:t>
            </a:r>
          </a:p>
        </p:txBody>
      </p:sp>
      <p:sp>
        <p:nvSpPr>
          <p:cNvPr id="73733" name="Rectangle 3"/>
          <p:cNvSpPr>
            <a:spLocks noGrp="1" noChangeArrowheads="1"/>
          </p:cNvSpPr>
          <p:nvPr>
            <p:ph type="body" idx="1"/>
          </p:nvPr>
        </p:nvSpPr>
        <p:spPr>
          <a:xfrm>
            <a:off x="650875" y="1143000"/>
            <a:ext cx="8820150" cy="3468642"/>
          </a:xfrm>
        </p:spPr>
        <p:txBody>
          <a:bodyPr/>
          <a:lstStyle/>
          <a:p>
            <a:r>
              <a:rPr lang="zh-CN" altLang="en-US" dirty="0" smtClean="0">
                <a:latin typeface="Arial" pitchFamily="34" charset="0"/>
              </a:rPr>
              <a:t>算术运算中的误差</a:t>
            </a:r>
          </a:p>
          <a:p>
            <a:pPr lvl="1"/>
            <a:r>
              <a:rPr lang="zh-CN" altLang="en-US" dirty="0" smtClean="0">
                <a:latin typeface="Arial" pitchFamily="34" charset="0"/>
              </a:rPr>
              <a:t>明确数据误差在算术运算中的传播规律并对结果误差进行估计</a:t>
            </a:r>
            <a:endParaRPr lang="en-US" altLang="zh-CN" dirty="0" smtClean="0">
              <a:latin typeface="Arial" pitchFamily="34" charset="0"/>
            </a:endParaRPr>
          </a:p>
          <a:p>
            <a:pPr lvl="1"/>
            <a:endParaRPr lang="en-US" altLang="zh-CN" dirty="0" smtClean="0">
              <a:latin typeface="Arial" pitchFamily="34" charset="0"/>
            </a:endParaRPr>
          </a:p>
          <a:p>
            <a:pPr marL="258763" lvl="1" indent="-258763">
              <a:buSzPct val="60000"/>
              <a:buFont typeface="Wingdings" pitchFamily="2" charset="2"/>
              <a:buChar char="n"/>
            </a:pPr>
            <a:r>
              <a:rPr lang="zh-CN" altLang="en-US" dirty="0" smtClean="0">
                <a:latin typeface="Arial" pitchFamily="34" charset="0"/>
                <a:cs typeface="+mn-cs"/>
              </a:rPr>
              <a:t>数值计算</a:t>
            </a:r>
            <a:r>
              <a:rPr lang="zh-CN" altLang="en-US" dirty="0">
                <a:latin typeface="Arial" pitchFamily="34" charset="0"/>
                <a:cs typeface="+mn-cs"/>
              </a:rPr>
              <a:t>中的</a:t>
            </a:r>
            <a:r>
              <a:rPr lang="zh-CN" altLang="en-US" dirty="0" smtClean="0">
                <a:latin typeface="Arial" pitchFamily="34" charset="0"/>
                <a:cs typeface="+mn-cs"/>
              </a:rPr>
              <a:t>误差</a:t>
            </a:r>
            <a:endParaRPr lang="en-US" altLang="zh-CN" dirty="0" smtClean="0">
              <a:latin typeface="Arial" pitchFamily="34" charset="0"/>
              <a:cs typeface="+mn-cs"/>
            </a:endParaRPr>
          </a:p>
          <a:p>
            <a:pPr marL="636588" lvl="2" indent="-258763">
              <a:buSzPct val="60000"/>
              <a:buFont typeface="Wingdings" pitchFamily="2" charset="2"/>
              <a:buChar char="n"/>
            </a:pPr>
            <a:r>
              <a:rPr lang="zh-CN" altLang="en-US" dirty="0">
                <a:latin typeface="Arial" pitchFamily="34" charset="0"/>
                <a:cs typeface="+mn-cs"/>
              </a:rPr>
              <a:t>模型误差、</a:t>
            </a:r>
            <a:r>
              <a:rPr lang="zh-CN" altLang="en-US" dirty="0" smtClean="0">
                <a:latin typeface="Arial" pitchFamily="34" charset="0"/>
                <a:cs typeface="+mn-cs"/>
              </a:rPr>
              <a:t>观测误差</a:t>
            </a:r>
            <a:endParaRPr lang="en-US" altLang="zh-CN" dirty="0" smtClean="0">
              <a:latin typeface="Arial" pitchFamily="34" charset="0"/>
              <a:cs typeface="+mn-cs"/>
            </a:endParaRPr>
          </a:p>
          <a:p>
            <a:pPr marL="636588" lvl="2" indent="-258763">
              <a:buSzPct val="60000"/>
              <a:buFont typeface="Wingdings" pitchFamily="2" charset="2"/>
              <a:buChar char="n"/>
            </a:pPr>
            <a:r>
              <a:rPr lang="zh-CN" altLang="en-US" dirty="0" smtClean="0">
                <a:latin typeface="Arial" pitchFamily="34" charset="0"/>
                <a:cs typeface="+mn-cs"/>
              </a:rPr>
              <a:t>截断误差、舍入误差</a:t>
            </a:r>
            <a:endParaRPr lang="zh-CN" altLang="en-US" dirty="0">
              <a:latin typeface="Arial" pitchFamily="34" charset="0"/>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11AE2041-E4C0-471B-824F-A90733154DF9}" type="slidenum">
              <a:rPr lang="zh-CN" altLang="en-US" i="0" smtClean="0"/>
              <a:pPr/>
              <a:t>77</a:t>
            </a:fld>
            <a:endParaRPr lang="en-US" altLang="zh-CN" i="0" smtClean="0"/>
          </a:p>
        </p:txBody>
      </p:sp>
      <p:sp>
        <p:nvSpPr>
          <p:cNvPr id="74755"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i="1">
                <a:solidFill>
                  <a:schemeClr val="tx1"/>
                </a:solidFill>
                <a:latin typeface="Arial" pitchFamily="34" charset="0"/>
                <a:ea typeface="宋体" pitchFamily="2" charset="-122"/>
              </a:defRPr>
            </a:lvl1pPr>
            <a:lvl2pPr marL="742950" indent="-285750" defTabSz="1157288">
              <a:defRPr sz="2000" b="1" i="1">
                <a:solidFill>
                  <a:schemeClr val="tx1"/>
                </a:solidFill>
                <a:latin typeface="Arial" pitchFamily="34" charset="0"/>
                <a:ea typeface="宋体" pitchFamily="2" charset="-122"/>
              </a:defRPr>
            </a:lvl2pPr>
            <a:lvl3pPr marL="1143000" indent="-228600" defTabSz="1157288">
              <a:defRPr sz="2000" b="1" i="1">
                <a:solidFill>
                  <a:schemeClr val="tx1"/>
                </a:solidFill>
                <a:latin typeface="Arial" pitchFamily="34" charset="0"/>
                <a:ea typeface="宋体" pitchFamily="2" charset="-122"/>
              </a:defRPr>
            </a:lvl3pPr>
            <a:lvl4pPr marL="1600200" indent="-228600" defTabSz="1157288">
              <a:defRPr sz="2000" b="1" i="1">
                <a:solidFill>
                  <a:schemeClr val="tx1"/>
                </a:solidFill>
                <a:latin typeface="Arial" pitchFamily="34" charset="0"/>
                <a:ea typeface="宋体" pitchFamily="2" charset="-122"/>
              </a:defRPr>
            </a:lvl4pPr>
            <a:lvl5pPr marL="2057400" indent="-228600" defTabSz="1157288">
              <a:defRPr sz="2000" b="1" i="1">
                <a:solidFill>
                  <a:schemeClr val="tx1"/>
                </a:solidFill>
                <a:latin typeface="Arial" pitchFamily="34" charset="0"/>
                <a:ea typeface="宋体" pitchFamily="2" charset="-122"/>
              </a:defRPr>
            </a:lvl5pPr>
            <a:lvl6pPr marL="25146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6pPr>
            <a:lvl7pPr marL="29718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7pPr>
            <a:lvl8pPr marL="34290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8pPr>
            <a:lvl9pPr marL="3886200" indent="-228600" algn="ctr" defTabSz="1157288" eaLnBrk="0" fontAlgn="base" hangingPunct="0">
              <a:spcBef>
                <a:spcPct val="0"/>
              </a:spcBef>
              <a:spcAft>
                <a:spcPct val="0"/>
              </a:spcAft>
              <a:defRPr sz="2000" b="1" i="1">
                <a:solidFill>
                  <a:schemeClr val="tx1"/>
                </a:solidFill>
                <a:latin typeface="Arial" pitchFamily="34" charset="0"/>
                <a:ea typeface="宋体" pitchFamily="2" charset="-122"/>
              </a:defRPr>
            </a:lvl9pPr>
          </a:lstStyle>
          <a:p>
            <a:fld id="{950FA11F-6173-48A5-8598-2C1A4701E9E5}" type="datetime1">
              <a:rPr lang="zh-CN" altLang="en-US" sz="1800" i="0" smtClean="0"/>
              <a:pPr/>
              <a:t>2024/9/8</a:t>
            </a:fld>
            <a:endParaRPr lang="en-US" altLang="zh-CN" sz="1000" i="0" smtClean="0"/>
          </a:p>
        </p:txBody>
      </p:sp>
      <p:sp>
        <p:nvSpPr>
          <p:cNvPr id="883714" name="Rectangle 2"/>
          <p:cNvSpPr>
            <a:spLocks noGrp="1" noChangeArrowheads="1"/>
          </p:cNvSpPr>
          <p:nvPr>
            <p:ph type="title"/>
          </p:nvPr>
        </p:nvSpPr>
        <p:spPr/>
        <p:txBody>
          <a:bodyPr/>
          <a:lstStyle/>
          <a:p>
            <a:pPr>
              <a:defRPr/>
            </a:pPr>
            <a:r>
              <a:rPr lang="zh-CN" altLang="en-US" smtClean="0"/>
              <a:t>总  结</a:t>
            </a:r>
          </a:p>
        </p:txBody>
      </p:sp>
      <p:sp>
        <p:nvSpPr>
          <p:cNvPr id="74757" name="Rectangle 3"/>
          <p:cNvSpPr>
            <a:spLocks noGrp="1" noChangeArrowheads="1"/>
          </p:cNvSpPr>
          <p:nvPr>
            <p:ph type="body" idx="1"/>
          </p:nvPr>
        </p:nvSpPr>
        <p:spPr>
          <a:xfrm>
            <a:off x="650875" y="1262063"/>
            <a:ext cx="8820150" cy="3051175"/>
          </a:xfrm>
        </p:spPr>
        <p:txBody>
          <a:bodyPr/>
          <a:lstStyle/>
          <a:p>
            <a:r>
              <a:rPr lang="zh-CN" altLang="en-US" smtClean="0">
                <a:latin typeface="Arial" pitchFamily="34" charset="0"/>
              </a:rPr>
              <a:t>误差的处理方法</a:t>
            </a:r>
          </a:p>
          <a:p>
            <a:pPr lvl="1"/>
            <a:r>
              <a:rPr lang="zh-CN" altLang="en-US" smtClean="0">
                <a:sym typeface="Symbol" pitchFamily="18" charset="2"/>
              </a:rPr>
              <a:t></a:t>
            </a:r>
            <a:r>
              <a:rPr lang="en-US" altLang="zh-CN" smtClean="0"/>
              <a:t> = R+</a:t>
            </a:r>
            <a:r>
              <a:rPr lang="en-US" altLang="zh-CN" smtClean="0">
                <a:sym typeface="Symbol" pitchFamily="18" charset="2"/>
              </a:rPr>
              <a:t></a:t>
            </a:r>
            <a:r>
              <a:rPr lang="zh-CN" altLang="en-US" smtClean="0"/>
              <a:t> </a:t>
            </a:r>
          </a:p>
          <a:p>
            <a:pPr lvl="1"/>
            <a:r>
              <a:rPr lang="zh-CN" altLang="en-US" smtClean="0"/>
              <a:t>1.  给定运算误差</a:t>
            </a:r>
            <a:r>
              <a:rPr lang="en-US" altLang="zh-CN" smtClean="0">
                <a:sym typeface="Symbol" pitchFamily="18" charset="2"/>
              </a:rPr>
              <a:t></a:t>
            </a:r>
            <a:r>
              <a:rPr lang="en-US" altLang="zh-CN" smtClean="0"/>
              <a:t> ，</a:t>
            </a:r>
            <a:r>
              <a:rPr lang="zh-CN" altLang="en-US" smtClean="0"/>
              <a:t>确定参与运算的数值字长</a:t>
            </a:r>
          </a:p>
          <a:p>
            <a:pPr lvl="1"/>
            <a:r>
              <a:rPr lang="zh-CN" altLang="en-US" smtClean="0"/>
              <a:t>2.  近似式的项数已定而字长待定</a:t>
            </a:r>
          </a:p>
          <a:p>
            <a:pPr lvl="1"/>
            <a:r>
              <a:rPr lang="zh-CN" altLang="en-US" smtClean="0"/>
              <a:t>3.  总误差</a:t>
            </a:r>
            <a:r>
              <a:rPr lang="zh-CN" altLang="en-US" smtClean="0">
                <a:sym typeface="Symbol" pitchFamily="18" charset="2"/>
              </a:rPr>
              <a:t></a:t>
            </a:r>
            <a:r>
              <a:rPr lang="zh-CN" altLang="en-US" smtClean="0"/>
              <a:t>给定，要求确定项数和数值字长.</a:t>
            </a:r>
          </a:p>
          <a:p>
            <a:pPr lvl="1"/>
            <a:r>
              <a:rPr lang="zh-CN" altLang="en-US" smtClean="0"/>
              <a:t>4.  数值字长已定，待定近似式项数</a:t>
            </a:r>
          </a:p>
        </p:txBody>
      </p:sp>
      <p:grpSp>
        <p:nvGrpSpPr>
          <p:cNvPr id="2" name="Group 4"/>
          <p:cNvGrpSpPr>
            <a:grpSpLocks/>
          </p:cNvGrpSpPr>
          <p:nvPr/>
        </p:nvGrpSpPr>
        <p:grpSpPr bwMode="auto">
          <a:xfrm>
            <a:off x="2806700" y="3886200"/>
            <a:ext cx="4787900" cy="2667000"/>
            <a:chOff x="1632" y="2448"/>
            <a:chExt cx="2784" cy="1680"/>
          </a:xfrm>
        </p:grpSpPr>
        <p:sp>
          <p:nvSpPr>
            <p:cNvPr id="74759" name="AutoShape 5"/>
            <p:cNvSpPr>
              <a:spLocks noChangeArrowheads="1"/>
            </p:cNvSpPr>
            <p:nvPr/>
          </p:nvSpPr>
          <p:spPr bwMode="auto">
            <a:xfrm>
              <a:off x="1632" y="2448"/>
              <a:ext cx="2784" cy="1680"/>
            </a:xfrm>
            <a:prstGeom prst="irregularSeal2">
              <a:avLst/>
            </a:prstGeom>
            <a:solidFill>
              <a:srgbClr val="FFFF99"/>
            </a:solidFill>
            <a:ln w="38100">
              <a:solidFill>
                <a:srgbClr val="FF3300"/>
              </a:solidFill>
              <a:miter lim="800000"/>
              <a:headEnd/>
              <a:tailEnd/>
            </a:ln>
          </p:spPr>
          <p:txBody>
            <a:bodyPr wrap="none" anchor="ctr"/>
            <a:lstStyle/>
            <a:p>
              <a:endParaRPr lang="zh-CN" altLang="en-US"/>
            </a:p>
          </p:txBody>
        </p:sp>
        <p:sp>
          <p:nvSpPr>
            <p:cNvPr id="74760" name="Rectangle 6"/>
            <p:cNvSpPr>
              <a:spLocks noChangeArrowheads="1"/>
            </p:cNvSpPr>
            <p:nvPr/>
          </p:nvSpPr>
          <p:spPr bwMode="auto">
            <a:xfrm>
              <a:off x="2368" y="2947"/>
              <a:ext cx="101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3200" i="0">
                  <a:latin typeface="Times New Roman" pitchFamily="18" charset="0"/>
                  <a:sym typeface="Symbol" pitchFamily="18" charset="2"/>
                </a:rPr>
                <a:t></a:t>
              </a:r>
              <a:r>
                <a:rPr lang="en-US" altLang="zh-CN" sz="3200" i="0">
                  <a:latin typeface="Times New Roman" pitchFamily="18" charset="0"/>
                </a:rPr>
                <a:t> = R+</a:t>
              </a:r>
              <a:r>
                <a:rPr lang="en-US" altLang="zh-CN" sz="3200" i="0">
                  <a:latin typeface="Times New Roman" pitchFamily="18" charset="0"/>
                  <a:sym typeface="Symbol" pitchFamily="18" charset="2"/>
                </a:rPr>
                <a:t></a:t>
              </a:r>
              <a:endParaRPr lang="zh-CN" altLang="en-US" sz="3200" i="0">
                <a:latin typeface="Times New Roman" pitchFamily="18" charset="0"/>
                <a:sym typeface="Symbol" pitchFamily="18" charset="2"/>
              </a:endParaRPr>
            </a:p>
          </p:txBody>
        </p:sp>
        <p:sp>
          <p:nvSpPr>
            <p:cNvPr id="74761" name="Rectangle 7"/>
            <p:cNvSpPr>
              <a:spLocks noChangeArrowheads="1"/>
            </p:cNvSpPr>
            <p:nvPr/>
          </p:nvSpPr>
          <p:spPr bwMode="auto">
            <a:xfrm>
              <a:off x="2444" y="3379"/>
              <a:ext cx="62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en-US" altLang="zh-CN" sz="3200" i="0">
                  <a:latin typeface="Times New Roman" pitchFamily="18" charset="0"/>
                  <a:sym typeface="Symbol" pitchFamily="18" charset="2"/>
                </a:rPr>
                <a:t>R</a:t>
              </a:r>
              <a:endParaRPr lang="zh-CN" altLang="en-US" sz="3200" i="0">
                <a:latin typeface="Times New Roman" pitchFamily="18" charset="0"/>
                <a:sym typeface="Symbol" pitchFamily="18" charset="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ppt_x</p:attrName>
                                        </p:attrNameLst>
                                      </p:cBhvr>
                                      <p:tavLst>
                                        <p:tav tm="0">
                                          <p:val>
                                            <p:fltVal val="0.5"/>
                                          </p:val>
                                        </p:tav>
                                        <p:tav tm="100000">
                                          <p:val>
                                            <p:strVal val="#ppt_x"/>
                                          </p:val>
                                        </p:tav>
                                      </p:tavLst>
                                    </p:anim>
                                    <p:anim calcmode="lin" valueType="num">
                                      <p:cBhvr>
                                        <p:cTn id="10" dur="500" fill="hold"/>
                                        <p:tgtEl>
                                          <p:spTgt spid="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p:cNvSpPr>
            <a:spLocks noChangeArrowheads="1"/>
          </p:cNvSpPr>
          <p:nvPr/>
        </p:nvSpPr>
        <p:spPr bwMode="auto">
          <a:xfrm>
            <a:off x="3017838" y="2133600"/>
            <a:ext cx="4329112" cy="2362200"/>
          </a:xfrm>
          <a:prstGeom prst="rect">
            <a:avLst/>
          </a:prstGeom>
          <a:gradFill rotWithShape="0">
            <a:gsLst>
              <a:gs pos="0">
                <a:srgbClr val="3333FF"/>
              </a:gs>
              <a:gs pos="100000">
                <a:srgbClr val="3333FF">
                  <a:gamma/>
                  <a:tint val="35294"/>
                  <a:invGamma/>
                </a:srgbClr>
              </a:gs>
            </a:gsLst>
            <a:lin ang="5400000" scaled="1"/>
          </a:gradFill>
          <a:ln w="22225">
            <a:solidFill>
              <a:srgbClr val="000000"/>
            </a:solidFill>
            <a:miter lim="800000"/>
            <a:headEnd/>
            <a:tailEnd/>
          </a:ln>
        </p:spPr>
        <p:txBody>
          <a:bodyPr anchor="ctr"/>
          <a:lstStyle/>
          <a:p>
            <a:pPr>
              <a:defRPr/>
            </a:pPr>
            <a:r>
              <a:rPr lang="zh-CN" altLang="en-US" sz="4800" i="0" dirty="0">
                <a:solidFill>
                  <a:srgbClr val="FF0000"/>
                </a:solidFill>
                <a:effectLst>
                  <a:outerShdw blurRad="38100" dist="38100" dir="2700000" algn="tl">
                    <a:srgbClr val="000000"/>
                  </a:outerShdw>
                </a:effectLst>
                <a:latin typeface="Times New Roman" pitchFamily="18" charset="0"/>
                <a:ea typeface=""/>
              </a:rPr>
              <a:t>作业</a:t>
            </a:r>
            <a:endParaRPr lang="zh-CN" altLang="en-US" sz="4800" b="0" i="0" dirty="0">
              <a:solidFill>
                <a:srgbClr val="FF0000"/>
              </a:solidFill>
              <a:effectLst>
                <a:outerShdw blurRad="38100" dist="38100" dir="2700000" algn="tl">
                  <a:srgbClr val="000000"/>
                </a:outerShdw>
              </a:effectLst>
              <a:latin typeface="Times New Roman" pitchFamily="18" charset="0"/>
              <a:ea typeface=""/>
            </a:endParaRPr>
          </a:p>
          <a:p>
            <a:pPr>
              <a:defRPr/>
            </a:pPr>
            <a:r>
              <a:rPr lang="zh-CN" altLang="en-US" sz="4800" i="0" dirty="0">
                <a:solidFill>
                  <a:srgbClr val="FFFFFF"/>
                </a:solidFill>
                <a:effectLst>
                  <a:outerShdw blurRad="38100" dist="38100" dir="2700000" algn="tl">
                    <a:srgbClr val="000000"/>
                  </a:outerShdw>
                </a:effectLst>
                <a:latin typeface="Times New Roman" pitchFamily="18" charset="0"/>
              </a:rPr>
              <a:t>习题一1,2,3,4,5,12</a:t>
            </a:r>
            <a:endParaRPr lang="zh-TW" altLang="en-US" sz="6000" b="0" i="0" dirty="0">
              <a:latin typeface="Times New Roman" pitchFamily="18" charset="0"/>
              <a:ea typeface="華康儷簡宋" pitchFamily="2" charset="-120"/>
            </a:endParaRPr>
          </a:p>
        </p:txBody>
      </p:sp>
      <p:grpSp>
        <p:nvGrpSpPr>
          <p:cNvPr id="75779" name="Group 3"/>
          <p:cNvGrpSpPr>
            <a:grpSpLocks/>
          </p:cNvGrpSpPr>
          <p:nvPr/>
        </p:nvGrpSpPr>
        <p:grpSpPr bwMode="auto">
          <a:xfrm>
            <a:off x="1155700" y="1981200"/>
            <a:ext cx="1700213" cy="2743200"/>
            <a:chOff x="202" y="926"/>
            <a:chExt cx="1939" cy="2770"/>
          </a:xfrm>
        </p:grpSpPr>
        <p:sp>
          <p:nvSpPr>
            <p:cNvPr id="75798" name="Freeform 4"/>
            <p:cNvSpPr>
              <a:spLocks/>
            </p:cNvSpPr>
            <p:nvPr/>
          </p:nvSpPr>
          <p:spPr bwMode="auto">
            <a:xfrm>
              <a:off x="202" y="926"/>
              <a:ext cx="1939" cy="2770"/>
            </a:xfrm>
            <a:custGeom>
              <a:avLst/>
              <a:gdLst>
                <a:gd name="T0" fmla="*/ 17 w 1939"/>
                <a:gd name="T1" fmla="*/ 506 h 2770"/>
                <a:gd name="T2" fmla="*/ 9 w 1939"/>
                <a:gd name="T3" fmla="*/ 736 h 2770"/>
                <a:gd name="T4" fmla="*/ 42 w 1939"/>
                <a:gd name="T5" fmla="*/ 956 h 2770"/>
                <a:gd name="T6" fmla="*/ 296 w 1939"/>
                <a:gd name="T7" fmla="*/ 1284 h 2770"/>
                <a:gd name="T8" fmla="*/ 495 w 1939"/>
                <a:gd name="T9" fmla="*/ 1555 h 2770"/>
                <a:gd name="T10" fmla="*/ 576 w 1939"/>
                <a:gd name="T11" fmla="*/ 1791 h 2770"/>
                <a:gd name="T12" fmla="*/ 661 w 1939"/>
                <a:gd name="T13" fmla="*/ 2220 h 2770"/>
                <a:gd name="T14" fmla="*/ 750 w 1939"/>
                <a:gd name="T15" fmla="*/ 2699 h 2770"/>
                <a:gd name="T16" fmla="*/ 775 w 1939"/>
                <a:gd name="T17" fmla="*/ 2744 h 2770"/>
                <a:gd name="T18" fmla="*/ 811 w 1939"/>
                <a:gd name="T19" fmla="*/ 2766 h 2770"/>
                <a:gd name="T20" fmla="*/ 863 w 1939"/>
                <a:gd name="T21" fmla="*/ 2770 h 2770"/>
                <a:gd name="T22" fmla="*/ 911 w 1939"/>
                <a:gd name="T23" fmla="*/ 2758 h 2770"/>
                <a:gd name="T24" fmla="*/ 944 w 1939"/>
                <a:gd name="T25" fmla="*/ 2721 h 2770"/>
                <a:gd name="T26" fmla="*/ 958 w 1939"/>
                <a:gd name="T27" fmla="*/ 2661 h 2770"/>
                <a:gd name="T28" fmla="*/ 958 w 1939"/>
                <a:gd name="T29" fmla="*/ 2572 h 2770"/>
                <a:gd name="T30" fmla="*/ 899 w 1939"/>
                <a:gd name="T31" fmla="*/ 2161 h 2770"/>
                <a:gd name="T32" fmla="*/ 933 w 1939"/>
                <a:gd name="T33" fmla="*/ 2105 h 2770"/>
                <a:gd name="T34" fmla="*/ 1208 w 1939"/>
                <a:gd name="T35" fmla="*/ 2501 h 2770"/>
                <a:gd name="T36" fmla="*/ 1419 w 1939"/>
                <a:gd name="T37" fmla="*/ 2741 h 2770"/>
                <a:gd name="T38" fmla="*/ 1473 w 1939"/>
                <a:gd name="T39" fmla="*/ 2731 h 2770"/>
                <a:gd name="T40" fmla="*/ 1512 w 1939"/>
                <a:gd name="T41" fmla="*/ 2693 h 2770"/>
                <a:gd name="T42" fmla="*/ 1529 w 1939"/>
                <a:gd name="T43" fmla="*/ 2649 h 2770"/>
                <a:gd name="T44" fmla="*/ 1537 w 1939"/>
                <a:gd name="T45" fmla="*/ 2608 h 2770"/>
                <a:gd name="T46" fmla="*/ 1537 w 1939"/>
                <a:gd name="T47" fmla="*/ 2566 h 2770"/>
                <a:gd name="T48" fmla="*/ 1524 w 1939"/>
                <a:gd name="T49" fmla="*/ 2503 h 2770"/>
                <a:gd name="T50" fmla="*/ 1476 w 1939"/>
                <a:gd name="T51" fmla="*/ 2412 h 2770"/>
                <a:gd name="T52" fmla="*/ 1340 w 1939"/>
                <a:gd name="T53" fmla="*/ 2250 h 2770"/>
                <a:gd name="T54" fmla="*/ 1537 w 1939"/>
                <a:gd name="T55" fmla="*/ 2200 h 2770"/>
                <a:gd name="T56" fmla="*/ 1775 w 1939"/>
                <a:gd name="T57" fmla="*/ 2293 h 2770"/>
                <a:gd name="T58" fmla="*/ 1841 w 1939"/>
                <a:gd name="T59" fmla="*/ 2303 h 2770"/>
                <a:gd name="T60" fmla="*/ 1882 w 1939"/>
                <a:gd name="T61" fmla="*/ 2279 h 2770"/>
                <a:gd name="T62" fmla="*/ 1911 w 1939"/>
                <a:gd name="T63" fmla="*/ 2232 h 2770"/>
                <a:gd name="T64" fmla="*/ 1924 w 1939"/>
                <a:gd name="T65" fmla="*/ 2169 h 2770"/>
                <a:gd name="T66" fmla="*/ 1916 w 1939"/>
                <a:gd name="T67" fmla="*/ 2119 h 2770"/>
                <a:gd name="T68" fmla="*/ 1894 w 1939"/>
                <a:gd name="T69" fmla="*/ 2082 h 2770"/>
                <a:gd name="T70" fmla="*/ 1851 w 1939"/>
                <a:gd name="T71" fmla="*/ 2048 h 2770"/>
                <a:gd name="T72" fmla="*/ 1625 w 1939"/>
                <a:gd name="T73" fmla="*/ 1903 h 2770"/>
                <a:gd name="T74" fmla="*/ 1476 w 1939"/>
                <a:gd name="T75" fmla="*/ 1799 h 2770"/>
                <a:gd name="T76" fmla="*/ 1434 w 1939"/>
                <a:gd name="T77" fmla="*/ 1706 h 2770"/>
                <a:gd name="T78" fmla="*/ 1409 w 1939"/>
                <a:gd name="T79" fmla="*/ 1555 h 2770"/>
                <a:gd name="T80" fmla="*/ 1350 w 1939"/>
                <a:gd name="T81" fmla="*/ 1363 h 2770"/>
                <a:gd name="T82" fmla="*/ 1303 w 1939"/>
                <a:gd name="T83" fmla="*/ 1191 h 2770"/>
                <a:gd name="T84" fmla="*/ 1247 w 1939"/>
                <a:gd name="T85" fmla="*/ 1039 h 2770"/>
                <a:gd name="T86" fmla="*/ 1199 w 1939"/>
                <a:gd name="T87" fmla="*/ 829 h 2770"/>
                <a:gd name="T88" fmla="*/ 1162 w 1939"/>
                <a:gd name="T89" fmla="*/ 655 h 2770"/>
                <a:gd name="T90" fmla="*/ 1199 w 1939"/>
                <a:gd name="T91" fmla="*/ 554 h 2770"/>
                <a:gd name="T92" fmla="*/ 1417 w 1939"/>
                <a:gd name="T93" fmla="*/ 477 h 2770"/>
                <a:gd name="T94" fmla="*/ 1596 w 1939"/>
                <a:gd name="T95" fmla="*/ 427 h 2770"/>
                <a:gd name="T96" fmla="*/ 1723 w 1939"/>
                <a:gd name="T97" fmla="*/ 376 h 2770"/>
                <a:gd name="T98" fmla="*/ 1830 w 1939"/>
                <a:gd name="T99" fmla="*/ 305 h 2770"/>
                <a:gd name="T100" fmla="*/ 1880 w 1939"/>
                <a:gd name="T101" fmla="*/ 251 h 2770"/>
                <a:gd name="T102" fmla="*/ 1914 w 1939"/>
                <a:gd name="T103" fmla="*/ 186 h 2770"/>
                <a:gd name="T104" fmla="*/ 1936 w 1939"/>
                <a:gd name="T105" fmla="*/ 115 h 2770"/>
                <a:gd name="T106" fmla="*/ 1938 w 1939"/>
                <a:gd name="T107" fmla="*/ 53 h 2770"/>
                <a:gd name="T108" fmla="*/ 1919 w 1939"/>
                <a:gd name="T109" fmla="*/ 16 h 2770"/>
                <a:gd name="T110" fmla="*/ 1894 w 1939"/>
                <a:gd name="T111" fmla="*/ 0 h 2770"/>
                <a:gd name="T112" fmla="*/ 1706 w 1939"/>
                <a:gd name="T113" fmla="*/ 99 h 2770"/>
                <a:gd name="T114" fmla="*/ 1546 w 1939"/>
                <a:gd name="T115" fmla="*/ 128 h 2770"/>
                <a:gd name="T116" fmla="*/ 1389 w 1939"/>
                <a:gd name="T117" fmla="*/ 166 h 2770"/>
                <a:gd name="T118" fmla="*/ 1154 w 1939"/>
                <a:gd name="T119" fmla="*/ 178 h 2770"/>
                <a:gd name="T120" fmla="*/ 703 w 1939"/>
                <a:gd name="T121" fmla="*/ 237 h 2770"/>
                <a:gd name="T122" fmla="*/ 424 w 1939"/>
                <a:gd name="T123" fmla="*/ 277 h 2770"/>
                <a:gd name="T124" fmla="*/ 110 w 1939"/>
                <a:gd name="T125" fmla="*/ 257 h 277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939"/>
                <a:gd name="T190" fmla="*/ 0 h 2770"/>
                <a:gd name="T191" fmla="*/ 1939 w 1939"/>
                <a:gd name="T192" fmla="*/ 2770 h 277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939" h="2770">
                  <a:moveTo>
                    <a:pt x="110" y="257"/>
                  </a:moveTo>
                  <a:lnTo>
                    <a:pt x="17" y="506"/>
                  </a:lnTo>
                  <a:lnTo>
                    <a:pt x="0" y="595"/>
                  </a:lnTo>
                  <a:lnTo>
                    <a:pt x="9" y="736"/>
                  </a:lnTo>
                  <a:lnTo>
                    <a:pt x="17" y="835"/>
                  </a:lnTo>
                  <a:lnTo>
                    <a:pt x="42" y="956"/>
                  </a:lnTo>
                  <a:lnTo>
                    <a:pt x="101" y="1094"/>
                  </a:lnTo>
                  <a:lnTo>
                    <a:pt x="296" y="1284"/>
                  </a:lnTo>
                  <a:lnTo>
                    <a:pt x="458" y="1482"/>
                  </a:lnTo>
                  <a:lnTo>
                    <a:pt x="495" y="1555"/>
                  </a:lnTo>
                  <a:lnTo>
                    <a:pt x="534" y="1630"/>
                  </a:lnTo>
                  <a:lnTo>
                    <a:pt x="576" y="1791"/>
                  </a:lnTo>
                  <a:lnTo>
                    <a:pt x="618" y="2068"/>
                  </a:lnTo>
                  <a:lnTo>
                    <a:pt x="661" y="2220"/>
                  </a:lnTo>
                  <a:lnTo>
                    <a:pt x="716" y="2444"/>
                  </a:lnTo>
                  <a:lnTo>
                    <a:pt x="750" y="2699"/>
                  </a:lnTo>
                  <a:lnTo>
                    <a:pt x="760" y="2727"/>
                  </a:lnTo>
                  <a:lnTo>
                    <a:pt x="775" y="2744"/>
                  </a:lnTo>
                  <a:lnTo>
                    <a:pt x="792" y="2758"/>
                  </a:lnTo>
                  <a:lnTo>
                    <a:pt x="811" y="2766"/>
                  </a:lnTo>
                  <a:lnTo>
                    <a:pt x="840" y="2770"/>
                  </a:lnTo>
                  <a:lnTo>
                    <a:pt x="863" y="2770"/>
                  </a:lnTo>
                  <a:lnTo>
                    <a:pt x="890" y="2766"/>
                  </a:lnTo>
                  <a:lnTo>
                    <a:pt x="911" y="2758"/>
                  </a:lnTo>
                  <a:lnTo>
                    <a:pt x="929" y="2742"/>
                  </a:lnTo>
                  <a:lnTo>
                    <a:pt x="944" y="2721"/>
                  </a:lnTo>
                  <a:lnTo>
                    <a:pt x="955" y="2691"/>
                  </a:lnTo>
                  <a:lnTo>
                    <a:pt x="958" y="2661"/>
                  </a:lnTo>
                  <a:lnTo>
                    <a:pt x="960" y="2610"/>
                  </a:lnTo>
                  <a:lnTo>
                    <a:pt x="958" y="2572"/>
                  </a:lnTo>
                  <a:lnTo>
                    <a:pt x="933" y="2388"/>
                  </a:lnTo>
                  <a:lnTo>
                    <a:pt x="899" y="2161"/>
                  </a:lnTo>
                  <a:lnTo>
                    <a:pt x="873" y="1969"/>
                  </a:lnTo>
                  <a:lnTo>
                    <a:pt x="933" y="2105"/>
                  </a:lnTo>
                  <a:lnTo>
                    <a:pt x="1085" y="2319"/>
                  </a:lnTo>
                  <a:lnTo>
                    <a:pt x="1208" y="2501"/>
                  </a:lnTo>
                  <a:lnTo>
                    <a:pt x="1392" y="2731"/>
                  </a:lnTo>
                  <a:lnTo>
                    <a:pt x="1419" y="2741"/>
                  </a:lnTo>
                  <a:lnTo>
                    <a:pt x="1448" y="2741"/>
                  </a:lnTo>
                  <a:lnTo>
                    <a:pt x="1473" y="2731"/>
                  </a:lnTo>
                  <a:lnTo>
                    <a:pt x="1495" y="2711"/>
                  </a:lnTo>
                  <a:lnTo>
                    <a:pt x="1512" y="2693"/>
                  </a:lnTo>
                  <a:lnTo>
                    <a:pt x="1524" y="2669"/>
                  </a:lnTo>
                  <a:lnTo>
                    <a:pt x="1529" y="2649"/>
                  </a:lnTo>
                  <a:lnTo>
                    <a:pt x="1536" y="2628"/>
                  </a:lnTo>
                  <a:lnTo>
                    <a:pt x="1537" y="2608"/>
                  </a:lnTo>
                  <a:lnTo>
                    <a:pt x="1537" y="2586"/>
                  </a:lnTo>
                  <a:lnTo>
                    <a:pt x="1537" y="2566"/>
                  </a:lnTo>
                  <a:lnTo>
                    <a:pt x="1532" y="2541"/>
                  </a:lnTo>
                  <a:lnTo>
                    <a:pt x="1524" y="2503"/>
                  </a:lnTo>
                  <a:lnTo>
                    <a:pt x="1512" y="2473"/>
                  </a:lnTo>
                  <a:lnTo>
                    <a:pt x="1476" y="2412"/>
                  </a:lnTo>
                  <a:lnTo>
                    <a:pt x="1434" y="2349"/>
                  </a:lnTo>
                  <a:lnTo>
                    <a:pt x="1340" y="2250"/>
                  </a:lnTo>
                  <a:lnTo>
                    <a:pt x="1233" y="2034"/>
                  </a:lnTo>
                  <a:lnTo>
                    <a:pt x="1537" y="2200"/>
                  </a:lnTo>
                  <a:lnTo>
                    <a:pt x="1740" y="2279"/>
                  </a:lnTo>
                  <a:lnTo>
                    <a:pt x="1775" y="2293"/>
                  </a:lnTo>
                  <a:lnTo>
                    <a:pt x="1809" y="2303"/>
                  </a:lnTo>
                  <a:lnTo>
                    <a:pt x="1841" y="2303"/>
                  </a:lnTo>
                  <a:lnTo>
                    <a:pt x="1863" y="2293"/>
                  </a:lnTo>
                  <a:lnTo>
                    <a:pt x="1882" y="2279"/>
                  </a:lnTo>
                  <a:lnTo>
                    <a:pt x="1897" y="2260"/>
                  </a:lnTo>
                  <a:lnTo>
                    <a:pt x="1911" y="2232"/>
                  </a:lnTo>
                  <a:lnTo>
                    <a:pt x="1919" y="2202"/>
                  </a:lnTo>
                  <a:lnTo>
                    <a:pt x="1924" y="2169"/>
                  </a:lnTo>
                  <a:lnTo>
                    <a:pt x="1922" y="2145"/>
                  </a:lnTo>
                  <a:lnTo>
                    <a:pt x="1916" y="2119"/>
                  </a:lnTo>
                  <a:lnTo>
                    <a:pt x="1906" y="2101"/>
                  </a:lnTo>
                  <a:lnTo>
                    <a:pt x="1894" y="2082"/>
                  </a:lnTo>
                  <a:lnTo>
                    <a:pt x="1872" y="2064"/>
                  </a:lnTo>
                  <a:lnTo>
                    <a:pt x="1851" y="2048"/>
                  </a:lnTo>
                  <a:lnTo>
                    <a:pt x="1740" y="1979"/>
                  </a:lnTo>
                  <a:lnTo>
                    <a:pt x="1625" y="1903"/>
                  </a:lnTo>
                  <a:lnTo>
                    <a:pt x="1532" y="1832"/>
                  </a:lnTo>
                  <a:lnTo>
                    <a:pt x="1476" y="1799"/>
                  </a:lnTo>
                  <a:lnTo>
                    <a:pt x="1434" y="1779"/>
                  </a:lnTo>
                  <a:lnTo>
                    <a:pt x="1434" y="1706"/>
                  </a:lnTo>
                  <a:lnTo>
                    <a:pt x="1431" y="1634"/>
                  </a:lnTo>
                  <a:lnTo>
                    <a:pt x="1409" y="1555"/>
                  </a:lnTo>
                  <a:lnTo>
                    <a:pt x="1367" y="1456"/>
                  </a:lnTo>
                  <a:lnTo>
                    <a:pt x="1350" y="1363"/>
                  </a:lnTo>
                  <a:lnTo>
                    <a:pt x="1328" y="1276"/>
                  </a:lnTo>
                  <a:lnTo>
                    <a:pt x="1303" y="1191"/>
                  </a:lnTo>
                  <a:lnTo>
                    <a:pt x="1275" y="1120"/>
                  </a:lnTo>
                  <a:lnTo>
                    <a:pt x="1247" y="1039"/>
                  </a:lnTo>
                  <a:lnTo>
                    <a:pt x="1225" y="948"/>
                  </a:lnTo>
                  <a:lnTo>
                    <a:pt x="1199" y="829"/>
                  </a:lnTo>
                  <a:lnTo>
                    <a:pt x="1183" y="762"/>
                  </a:lnTo>
                  <a:lnTo>
                    <a:pt x="1162" y="655"/>
                  </a:lnTo>
                  <a:lnTo>
                    <a:pt x="1179" y="593"/>
                  </a:lnTo>
                  <a:lnTo>
                    <a:pt x="1199" y="554"/>
                  </a:lnTo>
                  <a:lnTo>
                    <a:pt x="1247" y="510"/>
                  </a:lnTo>
                  <a:lnTo>
                    <a:pt x="1417" y="477"/>
                  </a:lnTo>
                  <a:lnTo>
                    <a:pt x="1495" y="455"/>
                  </a:lnTo>
                  <a:lnTo>
                    <a:pt x="1596" y="427"/>
                  </a:lnTo>
                  <a:lnTo>
                    <a:pt x="1659" y="406"/>
                  </a:lnTo>
                  <a:lnTo>
                    <a:pt x="1723" y="376"/>
                  </a:lnTo>
                  <a:lnTo>
                    <a:pt x="1799" y="324"/>
                  </a:lnTo>
                  <a:lnTo>
                    <a:pt x="1830" y="305"/>
                  </a:lnTo>
                  <a:lnTo>
                    <a:pt x="1860" y="277"/>
                  </a:lnTo>
                  <a:lnTo>
                    <a:pt x="1880" y="251"/>
                  </a:lnTo>
                  <a:lnTo>
                    <a:pt x="1902" y="216"/>
                  </a:lnTo>
                  <a:lnTo>
                    <a:pt x="1914" y="186"/>
                  </a:lnTo>
                  <a:lnTo>
                    <a:pt x="1928" y="148"/>
                  </a:lnTo>
                  <a:lnTo>
                    <a:pt x="1936" y="115"/>
                  </a:lnTo>
                  <a:lnTo>
                    <a:pt x="1939" y="87"/>
                  </a:lnTo>
                  <a:lnTo>
                    <a:pt x="1938" y="53"/>
                  </a:lnTo>
                  <a:lnTo>
                    <a:pt x="1928" y="30"/>
                  </a:lnTo>
                  <a:lnTo>
                    <a:pt x="1919" y="16"/>
                  </a:lnTo>
                  <a:lnTo>
                    <a:pt x="1909" y="8"/>
                  </a:lnTo>
                  <a:lnTo>
                    <a:pt x="1894" y="0"/>
                  </a:lnTo>
                  <a:lnTo>
                    <a:pt x="1841" y="30"/>
                  </a:lnTo>
                  <a:lnTo>
                    <a:pt x="1706" y="99"/>
                  </a:lnTo>
                  <a:lnTo>
                    <a:pt x="1605" y="138"/>
                  </a:lnTo>
                  <a:lnTo>
                    <a:pt x="1546" y="128"/>
                  </a:lnTo>
                  <a:lnTo>
                    <a:pt x="1460" y="158"/>
                  </a:lnTo>
                  <a:lnTo>
                    <a:pt x="1389" y="166"/>
                  </a:lnTo>
                  <a:lnTo>
                    <a:pt x="1306" y="168"/>
                  </a:lnTo>
                  <a:lnTo>
                    <a:pt x="1154" y="178"/>
                  </a:lnTo>
                  <a:lnTo>
                    <a:pt x="899" y="227"/>
                  </a:lnTo>
                  <a:lnTo>
                    <a:pt x="703" y="237"/>
                  </a:lnTo>
                  <a:lnTo>
                    <a:pt x="525" y="277"/>
                  </a:lnTo>
                  <a:lnTo>
                    <a:pt x="424" y="277"/>
                  </a:lnTo>
                  <a:lnTo>
                    <a:pt x="270" y="247"/>
                  </a:lnTo>
                  <a:lnTo>
                    <a:pt x="110" y="257"/>
                  </a:lnTo>
                  <a:close/>
                </a:path>
              </a:pathLst>
            </a:custGeom>
            <a:solidFill>
              <a:srgbClr val="FF9F9F"/>
            </a:solidFill>
            <a:ln w="22225">
              <a:solidFill>
                <a:srgbClr val="000000"/>
              </a:solidFill>
              <a:round/>
              <a:headEnd/>
              <a:tailEnd/>
            </a:ln>
          </p:spPr>
          <p:txBody>
            <a:bodyPr/>
            <a:lstStyle/>
            <a:p>
              <a:endParaRPr lang="zh-CN" altLang="en-US"/>
            </a:p>
          </p:txBody>
        </p:sp>
        <p:sp>
          <p:nvSpPr>
            <p:cNvPr id="75799" name="Freeform 5"/>
            <p:cNvSpPr>
              <a:spLocks/>
            </p:cNvSpPr>
            <p:nvPr/>
          </p:nvSpPr>
          <p:spPr bwMode="auto">
            <a:xfrm>
              <a:off x="1940" y="932"/>
              <a:ext cx="174" cy="97"/>
            </a:xfrm>
            <a:custGeom>
              <a:avLst/>
              <a:gdLst>
                <a:gd name="T0" fmla="*/ 0 w 174"/>
                <a:gd name="T1" fmla="*/ 77 h 97"/>
                <a:gd name="T2" fmla="*/ 14 w 174"/>
                <a:gd name="T3" fmla="*/ 89 h 97"/>
                <a:gd name="T4" fmla="*/ 27 w 174"/>
                <a:gd name="T5" fmla="*/ 95 h 97"/>
                <a:gd name="T6" fmla="*/ 46 w 174"/>
                <a:gd name="T7" fmla="*/ 97 h 97"/>
                <a:gd name="T8" fmla="*/ 58 w 174"/>
                <a:gd name="T9" fmla="*/ 97 h 97"/>
                <a:gd name="T10" fmla="*/ 76 w 174"/>
                <a:gd name="T11" fmla="*/ 95 h 97"/>
                <a:gd name="T12" fmla="*/ 107 w 174"/>
                <a:gd name="T13" fmla="*/ 85 h 97"/>
                <a:gd name="T14" fmla="*/ 127 w 174"/>
                <a:gd name="T15" fmla="*/ 75 h 97"/>
                <a:gd name="T16" fmla="*/ 149 w 174"/>
                <a:gd name="T17" fmla="*/ 61 h 97"/>
                <a:gd name="T18" fmla="*/ 169 w 174"/>
                <a:gd name="T19" fmla="*/ 49 h 97"/>
                <a:gd name="T20" fmla="*/ 174 w 174"/>
                <a:gd name="T21" fmla="*/ 37 h 97"/>
                <a:gd name="T22" fmla="*/ 173 w 174"/>
                <a:gd name="T23" fmla="*/ 24 h 97"/>
                <a:gd name="T24" fmla="*/ 159 w 174"/>
                <a:gd name="T25" fmla="*/ 10 h 97"/>
                <a:gd name="T26" fmla="*/ 146 w 174"/>
                <a:gd name="T27" fmla="*/ 0 h 97"/>
                <a:gd name="T28" fmla="*/ 100 w 174"/>
                <a:gd name="T29" fmla="*/ 24 h 97"/>
                <a:gd name="T30" fmla="*/ 0 w 174"/>
                <a:gd name="T31" fmla="*/ 77 h 9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4"/>
                <a:gd name="T49" fmla="*/ 0 h 97"/>
                <a:gd name="T50" fmla="*/ 174 w 174"/>
                <a:gd name="T51" fmla="*/ 97 h 9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4" h="97">
                  <a:moveTo>
                    <a:pt x="0" y="77"/>
                  </a:moveTo>
                  <a:lnTo>
                    <a:pt x="14" y="89"/>
                  </a:lnTo>
                  <a:lnTo>
                    <a:pt x="27" y="95"/>
                  </a:lnTo>
                  <a:lnTo>
                    <a:pt x="46" y="97"/>
                  </a:lnTo>
                  <a:lnTo>
                    <a:pt x="58" y="97"/>
                  </a:lnTo>
                  <a:lnTo>
                    <a:pt x="76" y="95"/>
                  </a:lnTo>
                  <a:lnTo>
                    <a:pt x="107" y="85"/>
                  </a:lnTo>
                  <a:lnTo>
                    <a:pt x="127" y="75"/>
                  </a:lnTo>
                  <a:lnTo>
                    <a:pt x="149" y="61"/>
                  </a:lnTo>
                  <a:lnTo>
                    <a:pt x="169" y="49"/>
                  </a:lnTo>
                  <a:lnTo>
                    <a:pt x="174" y="37"/>
                  </a:lnTo>
                  <a:lnTo>
                    <a:pt x="173" y="24"/>
                  </a:lnTo>
                  <a:lnTo>
                    <a:pt x="159" y="10"/>
                  </a:lnTo>
                  <a:lnTo>
                    <a:pt x="146" y="0"/>
                  </a:lnTo>
                  <a:lnTo>
                    <a:pt x="100" y="24"/>
                  </a:lnTo>
                  <a:lnTo>
                    <a:pt x="0" y="77"/>
                  </a:lnTo>
                  <a:close/>
                </a:path>
              </a:pathLst>
            </a:custGeom>
            <a:solidFill>
              <a:srgbClr val="FFBFBF"/>
            </a:solidFill>
            <a:ln w="22225">
              <a:solidFill>
                <a:srgbClr val="000000"/>
              </a:solidFill>
              <a:round/>
              <a:headEnd/>
              <a:tailEnd/>
            </a:ln>
          </p:spPr>
          <p:txBody>
            <a:bodyPr/>
            <a:lstStyle/>
            <a:p>
              <a:endParaRPr lang="zh-CN" altLang="en-US"/>
            </a:p>
          </p:txBody>
        </p:sp>
        <p:grpSp>
          <p:nvGrpSpPr>
            <p:cNvPr id="75800" name="Group 6"/>
            <p:cNvGrpSpPr>
              <a:grpSpLocks/>
            </p:cNvGrpSpPr>
            <p:nvPr/>
          </p:nvGrpSpPr>
          <p:grpSpPr bwMode="auto">
            <a:xfrm>
              <a:off x="532" y="1062"/>
              <a:ext cx="1572" cy="2612"/>
              <a:chOff x="532" y="1062"/>
              <a:chExt cx="1572" cy="2612"/>
            </a:xfrm>
          </p:grpSpPr>
          <p:sp>
            <p:nvSpPr>
              <p:cNvPr id="75801" name="Freeform 7"/>
              <p:cNvSpPr>
                <a:spLocks/>
              </p:cNvSpPr>
              <p:nvPr/>
            </p:nvSpPr>
            <p:spPr bwMode="auto">
              <a:xfrm>
                <a:off x="922" y="1717"/>
                <a:ext cx="714" cy="1089"/>
              </a:xfrm>
              <a:custGeom>
                <a:avLst/>
                <a:gdLst>
                  <a:gd name="T0" fmla="*/ 0 w 714"/>
                  <a:gd name="T1" fmla="*/ 0 h 1089"/>
                  <a:gd name="T2" fmla="*/ 61 w 714"/>
                  <a:gd name="T3" fmla="*/ 48 h 1089"/>
                  <a:gd name="T4" fmla="*/ 103 w 714"/>
                  <a:gd name="T5" fmla="*/ 129 h 1089"/>
                  <a:gd name="T6" fmla="*/ 196 w 714"/>
                  <a:gd name="T7" fmla="*/ 279 h 1089"/>
                  <a:gd name="T8" fmla="*/ 251 w 714"/>
                  <a:gd name="T9" fmla="*/ 378 h 1089"/>
                  <a:gd name="T10" fmla="*/ 294 w 714"/>
                  <a:gd name="T11" fmla="*/ 503 h 1089"/>
                  <a:gd name="T12" fmla="*/ 311 w 714"/>
                  <a:gd name="T13" fmla="*/ 574 h 1089"/>
                  <a:gd name="T14" fmla="*/ 378 w 714"/>
                  <a:gd name="T15" fmla="*/ 701 h 1089"/>
                  <a:gd name="T16" fmla="*/ 468 w 714"/>
                  <a:gd name="T17" fmla="*/ 875 h 1089"/>
                  <a:gd name="T18" fmla="*/ 527 w 714"/>
                  <a:gd name="T19" fmla="*/ 1000 h 1089"/>
                  <a:gd name="T20" fmla="*/ 569 w 714"/>
                  <a:gd name="T21" fmla="*/ 1079 h 1089"/>
                  <a:gd name="T22" fmla="*/ 586 w 714"/>
                  <a:gd name="T23" fmla="*/ 1085 h 1089"/>
                  <a:gd name="T24" fmla="*/ 606 w 714"/>
                  <a:gd name="T25" fmla="*/ 1089 h 1089"/>
                  <a:gd name="T26" fmla="*/ 637 w 714"/>
                  <a:gd name="T27" fmla="*/ 1085 h 1089"/>
                  <a:gd name="T28" fmla="*/ 667 w 714"/>
                  <a:gd name="T29" fmla="*/ 1073 h 1089"/>
                  <a:gd name="T30" fmla="*/ 687 w 714"/>
                  <a:gd name="T31" fmla="*/ 1051 h 1089"/>
                  <a:gd name="T32" fmla="*/ 704 w 714"/>
                  <a:gd name="T33" fmla="*/ 1017 h 1089"/>
                  <a:gd name="T34" fmla="*/ 714 w 714"/>
                  <a:gd name="T35" fmla="*/ 972 h 1089"/>
                  <a:gd name="T36" fmla="*/ 714 w 714"/>
                  <a:gd name="T37" fmla="*/ 909 h 10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14"/>
                  <a:gd name="T58" fmla="*/ 0 h 1089"/>
                  <a:gd name="T59" fmla="*/ 714 w 714"/>
                  <a:gd name="T60" fmla="*/ 1089 h 108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14" h="1089">
                    <a:moveTo>
                      <a:pt x="0" y="0"/>
                    </a:moveTo>
                    <a:lnTo>
                      <a:pt x="61" y="48"/>
                    </a:lnTo>
                    <a:lnTo>
                      <a:pt x="103" y="129"/>
                    </a:lnTo>
                    <a:lnTo>
                      <a:pt x="196" y="279"/>
                    </a:lnTo>
                    <a:lnTo>
                      <a:pt x="251" y="378"/>
                    </a:lnTo>
                    <a:lnTo>
                      <a:pt x="294" y="503"/>
                    </a:lnTo>
                    <a:lnTo>
                      <a:pt x="311" y="574"/>
                    </a:lnTo>
                    <a:lnTo>
                      <a:pt x="378" y="701"/>
                    </a:lnTo>
                    <a:lnTo>
                      <a:pt x="468" y="875"/>
                    </a:lnTo>
                    <a:lnTo>
                      <a:pt x="527" y="1000"/>
                    </a:lnTo>
                    <a:lnTo>
                      <a:pt x="569" y="1079"/>
                    </a:lnTo>
                    <a:lnTo>
                      <a:pt x="586" y="1085"/>
                    </a:lnTo>
                    <a:lnTo>
                      <a:pt x="606" y="1089"/>
                    </a:lnTo>
                    <a:lnTo>
                      <a:pt x="637" y="1085"/>
                    </a:lnTo>
                    <a:lnTo>
                      <a:pt x="667" y="1073"/>
                    </a:lnTo>
                    <a:lnTo>
                      <a:pt x="687" y="1051"/>
                    </a:lnTo>
                    <a:lnTo>
                      <a:pt x="704" y="1017"/>
                    </a:lnTo>
                    <a:lnTo>
                      <a:pt x="714" y="972"/>
                    </a:lnTo>
                    <a:lnTo>
                      <a:pt x="714" y="909"/>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2" name="Freeform 8"/>
              <p:cNvSpPr>
                <a:spLocks/>
              </p:cNvSpPr>
              <p:nvPr/>
            </p:nvSpPr>
            <p:spPr bwMode="auto">
              <a:xfrm>
                <a:off x="787" y="2099"/>
                <a:ext cx="670" cy="875"/>
              </a:xfrm>
              <a:custGeom>
                <a:avLst/>
                <a:gdLst>
                  <a:gd name="T0" fmla="*/ 0 w 670"/>
                  <a:gd name="T1" fmla="*/ 0 h 875"/>
                  <a:gd name="T2" fmla="*/ 67 w 670"/>
                  <a:gd name="T3" fmla="*/ 121 h 875"/>
                  <a:gd name="T4" fmla="*/ 187 w 670"/>
                  <a:gd name="T5" fmla="*/ 230 h 875"/>
                  <a:gd name="T6" fmla="*/ 266 w 670"/>
                  <a:gd name="T7" fmla="*/ 329 h 875"/>
                  <a:gd name="T8" fmla="*/ 344 w 670"/>
                  <a:gd name="T9" fmla="*/ 453 h 875"/>
                  <a:gd name="T10" fmla="*/ 429 w 670"/>
                  <a:gd name="T11" fmla="*/ 582 h 875"/>
                  <a:gd name="T12" fmla="*/ 516 w 670"/>
                  <a:gd name="T13" fmla="*/ 752 h 875"/>
                  <a:gd name="T14" fmla="*/ 577 w 670"/>
                  <a:gd name="T15" fmla="*/ 802 h 875"/>
                  <a:gd name="T16" fmla="*/ 670 w 670"/>
                  <a:gd name="T17" fmla="*/ 875 h 8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70"/>
                  <a:gd name="T28" fmla="*/ 0 h 875"/>
                  <a:gd name="T29" fmla="*/ 670 w 670"/>
                  <a:gd name="T30" fmla="*/ 875 h 8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70" h="875">
                    <a:moveTo>
                      <a:pt x="0" y="0"/>
                    </a:moveTo>
                    <a:lnTo>
                      <a:pt x="67" y="121"/>
                    </a:lnTo>
                    <a:lnTo>
                      <a:pt x="187" y="230"/>
                    </a:lnTo>
                    <a:lnTo>
                      <a:pt x="266" y="329"/>
                    </a:lnTo>
                    <a:lnTo>
                      <a:pt x="344" y="453"/>
                    </a:lnTo>
                    <a:lnTo>
                      <a:pt x="429" y="582"/>
                    </a:lnTo>
                    <a:lnTo>
                      <a:pt x="516" y="752"/>
                    </a:lnTo>
                    <a:lnTo>
                      <a:pt x="577" y="802"/>
                    </a:lnTo>
                    <a:lnTo>
                      <a:pt x="670" y="875"/>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3" name="Freeform 9"/>
              <p:cNvSpPr>
                <a:spLocks/>
              </p:cNvSpPr>
              <p:nvPr/>
            </p:nvSpPr>
            <p:spPr bwMode="auto">
              <a:xfrm>
                <a:off x="744" y="2309"/>
                <a:ext cx="331" cy="588"/>
              </a:xfrm>
              <a:custGeom>
                <a:avLst/>
                <a:gdLst>
                  <a:gd name="T0" fmla="*/ 0 w 331"/>
                  <a:gd name="T1" fmla="*/ 0 h 588"/>
                  <a:gd name="T2" fmla="*/ 110 w 331"/>
                  <a:gd name="T3" fmla="*/ 168 h 588"/>
                  <a:gd name="T4" fmla="*/ 195 w 331"/>
                  <a:gd name="T5" fmla="*/ 317 h 588"/>
                  <a:gd name="T6" fmla="*/ 272 w 331"/>
                  <a:gd name="T7" fmla="*/ 467 h 588"/>
                  <a:gd name="T8" fmla="*/ 331 w 331"/>
                  <a:gd name="T9" fmla="*/ 588 h 588"/>
                  <a:gd name="T10" fmla="*/ 0 60000 65536"/>
                  <a:gd name="T11" fmla="*/ 0 60000 65536"/>
                  <a:gd name="T12" fmla="*/ 0 60000 65536"/>
                  <a:gd name="T13" fmla="*/ 0 60000 65536"/>
                  <a:gd name="T14" fmla="*/ 0 60000 65536"/>
                  <a:gd name="T15" fmla="*/ 0 w 331"/>
                  <a:gd name="T16" fmla="*/ 0 h 588"/>
                  <a:gd name="T17" fmla="*/ 331 w 331"/>
                  <a:gd name="T18" fmla="*/ 588 h 588"/>
                </a:gdLst>
                <a:ahLst/>
                <a:cxnLst>
                  <a:cxn ang="T10">
                    <a:pos x="T0" y="T1"/>
                  </a:cxn>
                  <a:cxn ang="T11">
                    <a:pos x="T2" y="T3"/>
                  </a:cxn>
                  <a:cxn ang="T12">
                    <a:pos x="T4" y="T5"/>
                  </a:cxn>
                  <a:cxn ang="T13">
                    <a:pos x="T6" y="T7"/>
                  </a:cxn>
                  <a:cxn ang="T14">
                    <a:pos x="T8" y="T9"/>
                  </a:cxn>
                </a:cxnLst>
                <a:rect l="T15" t="T16" r="T17" b="T18"/>
                <a:pathLst>
                  <a:path w="331" h="588">
                    <a:moveTo>
                      <a:pt x="0" y="0"/>
                    </a:moveTo>
                    <a:lnTo>
                      <a:pt x="110" y="168"/>
                    </a:lnTo>
                    <a:lnTo>
                      <a:pt x="195" y="317"/>
                    </a:lnTo>
                    <a:lnTo>
                      <a:pt x="272" y="467"/>
                    </a:lnTo>
                    <a:lnTo>
                      <a:pt x="331" y="588"/>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4" name="Freeform 10"/>
              <p:cNvSpPr>
                <a:spLocks/>
              </p:cNvSpPr>
              <p:nvPr/>
            </p:nvSpPr>
            <p:spPr bwMode="auto">
              <a:xfrm>
                <a:off x="1751" y="1062"/>
                <a:ext cx="14" cy="95"/>
              </a:xfrm>
              <a:custGeom>
                <a:avLst/>
                <a:gdLst>
                  <a:gd name="T0" fmla="*/ 0 w 14"/>
                  <a:gd name="T1" fmla="*/ 0 h 95"/>
                  <a:gd name="T2" fmla="*/ 14 w 14"/>
                  <a:gd name="T3" fmla="*/ 36 h 95"/>
                  <a:gd name="T4" fmla="*/ 14 w 14"/>
                  <a:gd name="T5" fmla="*/ 70 h 95"/>
                  <a:gd name="T6" fmla="*/ 9 w 14"/>
                  <a:gd name="T7" fmla="*/ 95 h 95"/>
                  <a:gd name="T8" fmla="*/ 0 60000 65536"/>
                  <a:gd name="T9" fmla="*/ 0 60000 65536"/>
                  <a:gd name="T10" fmla="*/ 0 60000 65536"/>
                  <a:gd name="T11" fmla="*/ 0 60000 65536"/>
                  <a:gd name="T12" fmla="*/ 0 w 14"/>
                  <a:gd name="T13" fmla="*/ 0 h 95"/>
                  <a:gd name="T14" fmla="*/ 14 w 14"/>
                  <a:gd name="T15" fmla="*/ 95 h 95"/>
                </a:gdLst>
                <a:ahLst/>
                <a:cxnLst>
                  <a:cxn ang="T8">
                    <a:pos x="T0" y="T1"/>
                  </a:cxn>
                  <a:cxn ang="T9">
                    <a:pos x="T2" y="T3"/>
                  </a:cxn>
                  <a:cxn ang="T10">
                    <a:pos x="T4" y="T5"/>
                  </a:cxn>
                  <a:cxn ang="T11">
                    <a:pos x="T6" y="T7"/>
                  </a:cxn>
                </a:cxnLst>
                <a:rect l="T12" t="T13" r="T14" b="T15"/>
                <a:pathLst>
                  <a:path w="14" h="95">
                    <a:moveTo>
                      <a:pt x="0" y="0"/>
                    </a:moveTo>
                    <a:lnTo>
                      <a:pt x="14" y="36"/>
                    </a:lnTo>
                    <a:lnTo>
                      <a:pt x="14" y="70"/>
                    </a:lnTo>
                    <a:lnTo>
                      <a:pt x="9" y="95"/>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5" name="Freeform 11"/>
              <p:cNvSpPr>
                <a:spLocks/>
              </p:cNvSpPr>
              <p:nvPr/>
            </p:nvSpPr>
            <p:spPr bwMode="auto">
              <a:xfrm>
                <a:off x="1734" y="1062"/>
                <a:ext cx="14" cy="95"/>
              </a:xfrm>
              <a:custGeom>
                <a:avLst/>
                <a:gdLst>
                  <a:gd name="T0" fmla="*/ 0 w 14"/>
                  <a:gd name="T1" fmla="*/ 0 h 95"/>
                  <a:gd name="T2" fmla="*/ 14 w 14"/>
                  <a:gd name="T3" fmla="*/ 36 h 95"/>
                  <a:gd name="T4" fmla="*/ 14 w 14"/>
                  <a:gd name="T5" fmla="*/ 70 h 95"/>
                  <a:gd name="T6" fmla="*/ 9 w 14"/>
                  <a:gd name="T7" fmla="*/ 95 h 95"/>
                  <a:gd name="T8" fmla="*/ 0 60000 65536"/>
                  <a:gd name="T9" fmla="*/ 0 60000 65536"/>
                  <a:gd name="T10" fmla="*/ 0 60000 65536"/>
                  <a:gd name="T11" fmla="*/ 0 60000 65536"/>
                  <a:gd name="T12" fmla="*/ 0 w 14"/>
                  <a:gd name="T13" fmla="*/ 0 h 95"/>
                  <a:gd name="T14" fmla="*/ 14 w 14"/>
                  <a:gd name="T15" fmla="*/ 95 h 95"/>
                </a:gdLst>
                <a:ahLst/>
                <a:cxnLst>
                  <a:cxn ang="T8">
                    <a:pos x="T0" y="T1"/>
                  </a:cxn>
                  <a:cxn ang="T9">
                    <a:pos x="T2" y="T3"/>
                  </a:cxn>
                  <a:cxn ang="T10">
                    <a:pos x="T4" y="T5"/>
                  </a:cxn>
                  <a:cxn ang="T11">
                    <a:pos x="T6" y="T7"/>
                  </a:cxn>
                </a:cxnLst>
                <a:rect l="T12" t="T13" r="T14" b="T15"/>
                <a:pathLst>
                  <a:path w="14" h="95">
                    <a:moveTo>
                      <a:pt x="0" y="0"/>
                    </a:moveTo>
                    <a:lnTo>
                      <a:pt x="14" y="36"/>
                    </a:lnTo>
                    <a:lnTo>
                      <a:pt x="14" y="70"/>
                    </a:lnTo>
                    <a:lnTo>
                      <a:pt x="9" y="95"/>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6" name="Freeform 12"/>
              <p:cNvSpPr>
                <a:spLocks/>
              </p:cNvSpPr>
              <p:nvPr/>
            </p:nvSpPr>
            <p:spPr bwMode="auto">
              <a:xfrm>
                <a:off x="1401" y="1355"/>
                <a:ext cx="141" cy="115"/>
              </a:xfrm>
              <a:custGeom>
                <a:avLst/>
                <a:gdLst>
                  <a:gd name="T0" fmla="*/ 141 w 141"/>
                  <a:gd name="T1" fmla="*/ 0 h 115"/>
                  <a:gd name="T2" fmla="*/ 68 w 141"/>
                  <a:gd name="T3" fmla="*/ 36 h 115"/>
                  <a:gd name="T4" fmla="*/ 39 w 141"/>
                  <a:gd name="T5" fmla="*/ 66 h 115"/>
                  <a:gd name="T6" fmla="*/ 0 w 141"/>
                  <a:gd name="T7" fmla="*/ 115 h 115"/>
                  <a:gd name="T8" fmla="*/ 0 60000 65536"/>
                  <a:gd name="T9" fmla="*/ 0 60000 65536"/>
                  <a:gd name="T10" fmla="*/ 0 60000 65536"/>
                  <a:gd name="T11" fmla="*/ 0 60000 65536"/>
                  <a:gd name="T12" fmla="*/ 0 w 141"/>
                  <a:gd name="T13" fmla="*/ 0 h 115"/>
                  <a:gd name="T14" fmla="*/ 141 w 141"/>
                  <a:gd name="T15" fmla="*/ 115 h 115"/>
                </a:gdLst>
                <a:ahLst/>
                <a:cxnLst>
                  <a:cxn ang="T8">
                    <a:pos x="T0" y="T1"/>
                  </a:cxn>
                  <a:cxn ang="T9">
                    <a:pos x="T2" y="T3"/>
                  </a:cxn>
                  <a:cxn ang="T10">
                    <a:pos x="T4" y="T5"/>
                  </a:cxn>
                  <a:cxn ang="T11">
                    <a:pos x="T6" y="T7"/>
                  </a:cxn>
                </a:cxnLst>
                <a:rect l="T12" t="T13" r="T14" b="T15"/>
                <a:pathLst>
                  <a:path w="141" h="115">
                    <a:moveTo>
                      <a:pt x="141" y="0"/>
                    </a:moveTo>
                    <a:lnTo>
                      <a:pt x="68" y="36"/>
                    </a:lnTo>
                    <a:lnTo>
                      <a:pt x="39" y="66"/>
                    </a:lnTo>
                    <a:lnTo>
                      <a:pt x="0" y="115"/>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7" name="Freeform 13"/>
              <p:cNvSpPr>
                <a:spLocks/>
              </p:cNvSpPr>
              <p:nvPr/>
            </p:nvSpPr>
            <p:spPr bwMode="auto">
              <a:xfrm>
                <a:off x="532" y="1201"/>
                <a:ext cx="204" cy="20"/>
              </a:xfrm>
              <a:custGeom>
                <a:avLst/>
                <a:gdLst>
                  <a:gd name="T0" fmla="*/ 0 w 204"/>
                  <a:gd name="T1" fmla="*/ 20 h 20"/>
                  <a:gd name="T2" fmla="*/ 119 w 204"/>
                  <a:gd name="T3" fmla="*/ 16 h 20"/>
                  <a:gd name="T4" fmla="*/ 204 w 204"/>
                  <a:gd name="T5" fmla="*/ 0 h 20"/>
                  <a:gd name="T6" fmla="*/ 0 60000 65536"/>
                  <a:gd name="T7" fmla="*/ 0 60000 65536"/>
                  <a:gd name="T8" fmla="*/ 0 60000 65536"/>
                  <a:gd name="T9" fmla="*/ 0 w 204"/>
                  <a:gd name="T10" fmla="*/ 0 h 20"/>
                  <a:gd name="T11" fmla="*/ 204 w 204"/>
                  <a:gd name="T12" fmla="*/ 20 h 20"/>
                </a:gdLst>
                <a:ahLst/>
                <a:cxnLst>
                  <a:cxn ang="T6">
                    <a:pos x="T0" y="T1"/>
                  </a:cxn>
                  <a:cxn ang="T7">
                    <a:pos x="T2" y="T3"/>
                  </a:cxn>
                  <a:cxn ang="T8">
                    <a:pos x="T4" y="T5"/>
                  </a:cxn>
                </a:cxnLst>
                <a:rect l="T9" t="T10" r="T11" b="T12"/>
                <a:pathLst>
                  <a:path w="204" h="20">
                    <a:moveTo>
                      <a:pt x="0" y="20"/>
                    </a:moveTo>
                    <a:lnTo>
                      <a:pt x="119" y="16"/>
                    </a:lnTo>
                    <a:lnTo>
                      <a:pt x="204"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8" name="Freeform 14"/>
              <p:cNvSpPr>
                <a:spLocks/>
              </p:cNvSpPr>
              <p:nvPr/>
            </p:nvSpPr>
            <p:spPr bwMode="auto">
              <a:xfrm>
                <a:off x="1513" y="2331"/>
                <a:ext cx="61" cy="71"/>
              </a:xfrm>
              <a:custGeom>
                <a:avLst/>
                <a:gdLst>
                  <a:gd name="T0" fmla="*/ 0 w 61"/>
                  <a:gd name="T1" fmla="*/ 0 h 71"/>
                  <a:gd name="T2" fmla="*/ 39 w 61"/>
                  <a:gd name="T3" fmla="*/ 41 h 71"/>
                  <a:gd name="T4" fmla="*/ 61 w 61"/>
                  <a:gd name="T5" fmla="*/ 71 h 71"/>
                  <a:gd name="T6" fmla="*/ 0 60000 65536"/>
                  <a:gd name="T7" fmla="*/ 0 60000 65536"/>
                  <a:gd name="T8" fmla="*/ 0 60000 65536"/>
                  <a:gd name="T9" fmla="*/ 0 w 61"/>
                  <a:gd name="T10" fmla="*/ 0 h 71"/>
                  <a:gd name="T11" fmla="*/ 61 w 61"/>
                  <a:gd name="T12" fmla="*/ 71 h 71"/>
                </a:gdLst>
                <a:ahLst/>
                <a:cxnLst>
                  <a:cxn ang="T6">
                    <a:pos x="T0" y="T1"/>
                  </a:cxn>
                  <a:cxn ang="T7">
                    <a:pos x="T2" y="T3"/>
                  </a:cxn>
                  <a:cxn ang="T8">
                    <a:pos x="T4" y="T5"/>
                  </a:cxn>
                </a:cxnLst>
                <a:rect l="T9" t="T10" r="T11" b="T12"/>
                <a:pathLst>
                  <a:path w="61" h="71">
                    <a:moveTo>
                      <a:pt x="0" y="0"/>
                    </a:moveTo>
                    <a:lnTo>
                      <a:pt x="39" y="41"/>
                    </a:lnTo>
                    <a:lnTo>
                      <a:pt x="61" y="71"/>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9" name="Freeform 15"/>
              <p:cNvSpPr>
                <a:spLocks/>
              </p:cNvSpPr>
              <p:nvPr/>
            </p:nvSpPr>
            <p:spPr bwMode="auto">
              <a:xfrm>
                <a:off x="1401" y="1913"/>
                <a:ext cx="51" cy="72"/>
              </a:xfrm>
              <a:custGeom>
                <a:avLst/>
                <a:gdLst>
                  <a:gd name="T0" fmla="*/ 0 w 51"/>
                  <a:gd name="T1" fmla="*/ 0 h 72"/>
                  <a:gd name="T2" fmla="*/ 31 w 51"/>
                  <a:gd name="T3" fmla="*/ 42 h 72"/>
                  <a:gd name="T4" fmla="*/ 51 w 51"/>
                  <a:gd name="T5" fmla="*/ 72 h 72"/>
                  <a:gd name="T6" fmla="*/ 0 60000 65536"/>
                  <a:gd name="T7" fmla="*/ 0 60000 65536"/>
                  <a:gd name="T8" fmla="*/ 0 60000 65536"/>
                  <a:gd name="T9" fmla="*/ 0 w 51"/>
                  <a:gd name="T10" fmla="*/ 0 h 72"/>
                  <a:gd name="T11" fmla="*/ 51 w 51"/>
                  <a:gd name="T12" fmla="*/ 72 h 72"/>
                </a:gdLst>
                <a:ahLst/>
                <a:cxnLst>
                  <a:cxn ang="T6">
                    <a:pos x="T0" y="T1"/>
                  </a:cxn>
                  <a:cxn ang="T7">
                    <a:pos x="T2" y="T3"/>
                  </a:cxn>
                  <a:cxn ang="T8">
                    <a:pos x="T4" y="T5"/>
                  </a:cxn>
                </a:cxnLst>
                <a:rect l="T9" t="T10" r="T11" b="T12"/>
                <a:pathLst>
                  <a:path w="51" h="72">
                    <a:moveTo>
                      <a:pt x="0" y="0"/>
                    </a:moveTo>
                    <a:lnTo>
                      <a:pt x="31" y="42"/>
                    </a:lnTo>
                    <a:lnTo>
                      <a:pt x="51" y="72"/>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0" name="Freeform 16"/>
              <p:cNvSpPr>
                <a:spLocks/>
              </p:cNvSpPr>
              <p:nvPr/>
            </p:nvSpPr>
            <p:spPr bwMode="auto">
              <a:xfrm>
                <a:off x="575" y="1990"/>
                <a:ext cx="144" cy="299"/>
              </a:xfrm>
              <a:custGeom>
                <a:avLst/>
                <a:gdLst>
                  <a:gd name="T0" fmla="*/ 0 w 144"/>
                  <a:gd name="T1" fmla="*/ 0 h 299"/>
                  <a:gd name="T2" fmla="*/ 51 w 144"/>
                  <a:gd name="T3" fmla="*/ 50 h 299"/>
                  <a:gd name="T4" fmla="*/ 144 w 144"/>
                  <a:gd name="T5" fmla="*/ 299 h 299"/>
                  <a:gd name="T6" fmla="*/ 0 60000 65536"/>
                  <a:gd name="T7" fmla="*/ 0 60000 65536"/>
                  <a:gd name="T8" fmla="*/ 0 60000 65536"/>
                  <a:gd name="T9" fmla="*/ 0 w 144"/>
                  <a:gd name="T10" fmla="*/ 0 h 299"/>
                  <a:gd name="T11" fmla="*/ 144 w 144"/>
                  <a:gd name="T12" fmla="*/ 299 h 299"/>
                </a:gdLst>
                <a:ahLst/>
                <a:cxnLst>
                  <a:cxn ang="T6">
                    <a:pos x="T0" y="T1"/>
                  </a:cxn>
                  <a:cxn ang="T7">
                    <a:pos x="T2" y="T3"/>
                  </a:cxn>
                  <a:cxn ang="T8">
                    <a:pos x="T4" y="T5"/>
                  </a:cxn>
                </a:cxnLst>
                <a:rect l="T9" t="T10" r="T11" b="T12"/>
                <a:pathLst>
                  <a:path w="144" h="299">
                    <a:moveTo>
                      <a:pt x="0" y="0"/>
                    </a:moveTo>
                    <a:lnTo>
                      <a:pt x="51" y="50"/>
                    </a:lnTo>
                    <a:lnTo>
                      <a:pt x="144" y="299"/>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1" name="Freeform 17"/>
              <p:cNvSpPr>
                <a:spLocks/>
              </p:cNvSpPr>
              <p:nvPr/>
            </p:nvSpPr>
            <p:spPr bwMode="auto">
              <a:xfrm>
                <a:off x="842" y="3025"/>
                <a:ext cx="88" cy="30"/>
              </a:xfrm>
              <a:custGeom>
                <a:avLst/>
                <a:gdLst>
                  <a:gd name="T0" fmla="*/ 0 w 88"/>
                  <a:gd name="T1" fmla="*/ 30 h 30"/>
                  <a:gd name="T2" fmla="*/ 19 w 88"/>
                  <a:gd name="T3" fmla="*/ 18 h 30"/>
                  <a:gd name="T4" fmla="*/ 34 w 88"/>
                  <a:gd name="T5" fmla="*/ 10 h 30"/>
                  <a:gd name="T6" fmla="*/ 59 w 88"/>
                  <a:gd name="T7" fmla="*/ 2 h 30"/>
                  <a:gd name="T8" fmla="*/ 88 w 88"/>
                  <a:gd name="T9" fmla="*/ 0 h 30"/>
                  <a:gd name="T10" fmla="*/ 0 60000 65536"/>
                  <a:gd name="T11" fmla="*/ 0 60000 65536"/>
                  <a:gd name="T12" fmla="*/ 0 60000 65536"/>
                  <a:gd name="T13" fmla="*/ 0 60000 65536"/>
                  <a:gd name="T14" fmla="*/ 0 60000 65536"/>
                  <a:gd name="T15" fmla="*/ 0 w 88"/>
                  <a:gd name="T16" fmla="*/ 0 h 30"/>
                  <a:gd name="T17" fmla="*/ 88 w 88"/>
                  <a:gd name="T18" fmla="*/ 30 h 30"/>
                </a:gdLst>
                <a:ahLst/>
                <a:cxnLst>
                  <a:cxn ang="T10">
                    <a:pos x="T0" y="T1"/>
                  </a:cxn>
                  <a:cxn ang="T11">
                    <a:pos x="T2" y="T3"/>
                  </a:cxn>
                  <a:cxn ang="T12">
                    <a:pos x="T4" y="T5"/>
                  </a:cxn>
                  <a:cxn ang="T13">
                    <a:pos x="T6" y="T7"/>
                  </a:cxn>
                  <a:cxn ang="T14">
                    <a:pos x="T8" y="T9"/>
                  </a:cxn>
                </a:cxnLst>
                <a:rect l="T15" t="T16" r="T17" b="T18"/>
                <a:pathLst>
                  <a:path w="88" h="30">
                    <a:moveTo>
                      <a:pt x="0" y="30"/>
                    </a:moveTo>
                    <a:lnTo>
                      <a:pt x="19" y="18"/>
                    </a:lnTo>
                    <a:lnTo>
                      <a:pt x="34" y="10"/>
                    </a:lnTo>
                    <a:lnTo>
                      <a:pt x="59" y="2"/>
                    </a:lnTo>
                    <a:lnTo>
                      <a:pt x="88"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2" name="Freeform 18"/>
              <p:cNvSpPr>
                <a:spLocks/>
              </p:cNvSpPr>
              <p:nvPr/>
            </p:nvSpPr>
            <p:spPr bwMode="auto">
              <a:xfrm>
                <a:off x="935" y="3467"/>
                <a:ext cx="108" cy="207"/>
              </a:xfrm>
              <a:custGeom>
                <a:avLst/>
                <a:gdLst>
                  <a:gd name="T0" fmla="*/ 0 w 108"/>
                  <a:gd name="T1" fmla="*/ 0 h 207"/>
                  <a:gd name="T2" fmla="*/ 27 w 108"/>
                  <a:gd name="T3" fmla="*/ 0 h 207"/>
                  <a:gd name="T4" fmla="*/ 48 w 108"/>
                  <a:gd name="T5" fmla="*/ 2 h 207"/>
                  <a:gd name="T6" fmla="*/ 59 w 108"/>
                  <a:gd name="T7" fmla="*/ 6 h 207"/>
                  <a:gd name="T8" fmla="*/ 73 w 108"/>
                  <a:gd name="T9" fmla="*/ 15 h 207"/>
                  <a:gd name="T10" fmla="*/ 81 w 108"/>
                  <a:gd name="T11" fmla="*/ 27 h 207"/>
                  <a:gd name="T12" fmla="*/ 86 w 108"/>
                  <a:gd name="T13" fmla="*/ 45 h 207"/>
                  <a:gd name="T14" fmla="*/ 108 w 108"/>
                  <a:gd name="T15" fmla="*/ 201 h 207"/>
                  <a:gd name="T16" fmla="*/ 83 w 108"/>
                  <a:gd name="T17" fmla="*/ 207 h 207"/>
                  <a:gd name="T18" fmla="*/ 61 w 108"/>
                  <a:gd name="T19" fmla="*/ 205 h 207"/>
                  <a:gd name="T20" fmla="*/ 46 w 108"/>
                  <a:gd name="T21" fmla="*/ 200 h 207"/>
                  <a:gd name="T22" fmla="*/ 37 w 108"/>
                  <a:gd name="T23" fmla="*/ 196 h 207"/>
                  <a:gd name="T24" fmla="*/ 26 w 108"/>
                  <a:gd name="T25" fmla="*/ 180 h 207"/>
                  <a:gd name="T26" fmla="*/ 19 w 108"/>
                  <a:gd name="T27" fmla="*/ 162 h 207"/>
                  <a:gd name="T28" fmla="*/ 0 w 108"/>
                  <a:gd name="T29" fmla="*/ 0 h 2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207"/>
                  <a:gd name="T47" fmla="*/ 108 w 108"/>
                  <a:gd name="T48" fmla="*/ 207 h 2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207">
                    <a:moveTo>
                      <a:pt x="0" y="0"/>
                    </a:moveTo>
                    <a:lnTo>
                      <a:pt x="27" y="0"/>
                    </a:lnTo>
                    <a:lnTo>
                      <a:pt x="48" y="2"/>
                    </a:lnTo>
                    <a:lnTo>
                      <a:pt x="59" y="6"/>
                    </a:lnTo>
                    <a:lnTo>
                      <a:pt x="73" y="15"/>
                    </a:lnTo>
                    <a:lnTo>
                      <a:pt x="81" y="27"/>
                    </a:lnTo>
                    <a:lnTo>
                      <a:pt x="86" y="45"/>
                    </a:lnTo>
                    <a:lnTo>
                      <a:pt x="108" y="201"/>
                    </a:lnTo>
                    <a:lnTo>
                      <a:pt x="83" y="207"/>
                    </a:lnTo>
                    <a:lnTo>
                      <a:pt x="61" y="205"/>
                    </a:lnTo>
                    <a:lnTo>
                      <a:pt x="46" y="200"/>
                    </a:lnTo>
                    <a:lnTo>
                      <a:pt x="37" y="196"/>
                    </a:lnTo>
                    <a:lnTo>
                      <a:pt x="26" y="180"/>
                    </a:lnTo>
                    <a:lnTo>
                      <a:pt x="19" y="162"/>
                    </a:lnTo>
                    <a:lnTo>
                      <a:pt x="0" y="0"/>
                    </a:lnTo>
                    <a:close/>
                  </a:path>
                </a:pathLst>
              </a:custGeom>
              <a:solidFill>
                <a:srgbClr val="FFBFBF"/>
              </a:solidFill>
              <a:ln w="22225">
                <a:solidFill>
                  <a:srgbClr val="000000"/>
                </a:solidFill>
                <a:round/>
                <a:headEnd/>
                <a:tailEnd/>
              </a:ln>
            </p:spPr>
            <p:txBody>
              <a:bodyPr/>
              <a:lstStyle/>
              <a:p>
                <a:endParaRPr lang="zh-CN" altLang="en-US"/>
              </a:p>
            </p:txBody>
          </p:sp>
          <p:sp>
            <p:nvSpPr>
              <p:cNvPr id="75813" name="Freeform 19"/>
              <p:cNvSpPr>
                <a:spLocks/>
              </p:cNvSpPr>
              <p:nvPr/>
            </p:nvSpPr>
            <p:spPr bwMode="auto">
              <a:xfrm>
                <a:off x="1494" y="3486"/>
                <a:ext cx="184" cy="169"/>
              </a:xfrm>
              <a:custGeom>
                <a:avLst/>
                <a:gdLst>
                  <a:gd name="T0" fmla="*/ 0 w 184"/>
                  <a:gd name="T1" fmla="*/ 40 h 169"/>
                  <a:gd name="T2" fmla="*/ 16 w 184"/>
                  <a:gd name="T3" fmla="*/ 28 h 169"/>
                  <a:gd name="T4" fmla="*/ 27 w 184"/>
                  <a:gd name="T5" fmla="*/ 18 h 169"/>
                  <a:gd name="T6" fmla="*/ 44 w 184"/>
                  <a:gd name="T7" fmla="*/ 8 h 169"/>
                  <a:gd name="T8" fmla="*/ 65 w 184"/>
                  <a:gd name="T9" fmla="*/ 2 h 169"/>
                  <a:gd name="T10" fmla="*/ 81 w 184"/>
                  <a:gd name="T11" fmla="*/ 0 h 169"/>
                  <a:gd name="T12" fmla="*/ 98 w 184"/>
                  <a:gd name="T13" fmla="*/ 2 h 169"/>
                  <a:gd name="T14" fmla="*/ 115 w 184"/>
                  <a:gd name="T15" fmla="*/ 6 h 169"/>
                  <a:gd name="T16" fmla="*/ 129 w 184"/>
                  <a:gd name="T17" fmla="*/ 16 h 169"/>
                  <a:gd name="T18" fmla="*/ 168 w 184"/>
                  <a:gd name="T19" fmla="*/ 58 h 169"/>
                  <a:gd name="T20" fmla="*/ 181 w 184"/>
                  <a:gd name="T21" fmla="*/ 80 h 169"/>
                  <a:gd name="T22" fmla="*/ 184 w 184"/>
                  <a:gd name="T23" fmla="*/ 97 h 169"/>
                  <a:gd name="T24" fmla="*/ 183 w 184"/>
                  <a:gd name="T25" fmla="*/ 111 h 169"/>
                  <a:gd name="T26" fmla="*/ 176 w 184"/>
                  <a:gd name="T27" fmla="*/ 125 h 169"/>
                  <a:gd name="T28" fmla="*/ 168 w 184"/>
                  <a:gd name="T29" fmla="*/ 139 h 169"/>
                  <a:gd name="T30" fmla="*/ 154 w 184"/>
                  <a:gd name="T31" fmla="*/ 153 h 169"/>
                  <a:gd name="T32" fmla="*/ 142 w 184"/>
                  <a:gd name="T33" fmla="*/ 161 h 169"/>
                  <a:gd name="T34" fmla="*/ 127 w 184"/>
                  <a:gd name="T35" fmla="*/ 167 h 169"/>
                  <a:gd name="T36" fmla="*/ 112 w 184"/>
                  <a:gd name="T37" fmla="*/ 169 h 169"/>
                  <a:gd name="T38" fmla="*/ 105 w 184"/>
                  <a:gd name="T39" fmla="*/ 169 h 169"/>
                  <a:gd name="T40" fmla="*/ 0 w 184"/>
                  <a:gd name="T41" fmla="*/ 40 h 1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69"/>
                  <a:gd name="T65" fmla="*/ 184 w 184"/>
                  <a:gd name="T66" fmla="*/ 169 h 16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69">
                    <a:moveTo>
                      <a:pt x="0" y="40"/>
                    </a:moveTo>
                    <a:lnTo>
                      <a:pt x="16" y="28"/>
                    </a:lnTo>
                    <a:lnTo>
                      <a:pt x="27" y="18"/>
                    </a:lnTo>
                    <a:lnTo>
                      <a:pt x="44" y="8"/>
                    </a:lnTo>
                    <a:lnTo>
                      <a:pt x="65" y="2"/>
                    </a:lnTo>
                    <a:lnTo>
                      <a:pt x="81" y="0"/>
                    </a:lnTo>
                    <a:lnTo>
                      <a:pt x="98" y="2"/>
                    </a:lnTo>
                    <a:lnTo>
                      <a:pt x="115" y="6"/>
                    </a:lnTo>
                    <a:lnTo>
                      <a:pt x="129" y="16"/>
                    </a:lnTo>
                    <a:lnTo>
                      <a:pt x="168" y="58"/>
                    </a:lnTo>
                    <a:lnTo>
                      <a:pt x="181" y="80"/>
                    </a:lnTo>
                    <a:lnTo>
                      <a:pt x="184" y="97"/>
                    </a:lnTo>
                    <a:lnTo>
                      <a:pt x="183" y="111"/>
                    </a:lnTo>
                    <a:lnTo>
                      <a:pt x="176" y="125"/>
                    </a:lnTo>
                    <a:lnTo>
                      <a:pt x="168" y="139"/>
                    </a:lnTo>
                    <a:lnTo>
                      <a:pt x="154" y="153"/>
                    </a:lnTo>
                    <a:lnTo>
                      <a:pt x="142" y="161"/>
                    </a:lnTo>
                    <a:lnTo>
                      <a:pt x="127" y="167"/>
                    </a:lnTo>
                    <a:lnTo>
                      <a:pt x="112" y="169"/>
                    </a:lnTo>
                    <a:lnTo>
                      <a:pt x="105" y="169"/>
                    </a:lnTo>
                    <a:lnTo>
                      <a:pt x="0" y="40"/>
                    </a:lnTo>
                    <a:close/>
                  </a:path>
                </a:pathLst>
              </a:custGeom>
              <a:solidFill>
                <a:srgbClr val="FFBFBF"/>
              </a:solidFill>
              <a:ln w="22225">
                <a:solidFill>
                  <a:srgbClr val="000000"/>
                </a:solidFill>
                <a:round/>
                <a:headEnd/>
                <a:tailEnd/>
              </a:ln>
            </p:spPr>
            <p:txBody>
              <a:bodyPr/>
              <a:lstStyle/>
              <a:p>
                <a:endParaRPr lang="zh-CN" altLang="en-US"/>
              </a:p>
            </p:txBody>
          </p:sp>
          <p:sp>
            <p:nvSpPr>
              <p:cNvPr id="75814" name="Freeform 20"/>
              <p:cNvSpPr>
                <a:spLocks/>
              </p:cNvSpPr>
              <p:nvPr/>
            </p:nvSpPr>
            <p:spPr bwMode="auto">
              <a:xfrm>
                <a:off x="1118" y="2913"/>
                <a:ext cx="104" cy="75"/>
              </a:xfrm>
              <a:custGeom>
                <a:avLst/>
                <a:gdLst>
                  <a:gd name="T0" fmla="*/ 0 w 104"/>
                  <a:gd name="T1" fmla="*/ 75 h 75"/>
                  <a:gd name="T2" fmla="*/ 22 w 104"/>
                  <a:gd name="T3" fmla="*/ 49 h 75"/>
                  <a:gd name="T4" fmla="*/ 47 w 104"/>
                  <a:gd name="T5" fmla="*/ 29 h 75"/>
                  <a:gd name="T6" fmla="*/ 69 w 104"/>
                  <a:gd name="T7" fmla="*/ 13 h 75"/>
                  <a:gd name="T8" fmla="*/ 104 w 104"/>
                  <a:gd name="T9" fmla="*/ 0 h 75"/>
                  <a:gd name="T10" fmla="*/ 0 60000 65536"/>
                  <a:gd name="T11" fmla="*/ 0 60000 65536"/>
                  <a:gd name="T12" fmla="*/ 0 60000 65536"/>
                  <a:gd name="T13" fmla="*/ 0 60000 65536"/>
                  <a:gd name="T14" fmla="*/ 0 60000 65536"/>
                  <a:gd name="T15" fmla="*/ 0 w 104"/>
                  <a:gd name="T16" fmla="*/ 0 h 75"/>
                  <a:gd name="T17" fmla="*/ 104 w 104"/>
                  <a:gd name="T18" fmla="*/ 75 h 75"/>
                </a:gdLst>
                <a:ahLst/>
                <a:cxnLst>
                  <a:cxn ang="T10">
                    <a:pos x="T0" y="T1"/>
                  </a:cxn>
                  <a:cxn ang="T11">
                    <a:pos x="T2" y="T3"/>
                  </a:cxn>
                  <a:cxn ang="T12">
                    <a:pos x="T4" y="T5"/>
                  </a:cxn>
                  <a:cxn ang="T13">
                    <a:pos x="T6" y="T7"/>
                  </a:cxn>
                  <a:cxn ang="T14">
                    <a:pos x="T8" y="T9"/>
                  </a:cxn>
                </a:cxnLst>
                <a:rect l="T15" t="T16" r="T17" b="T18"/>
                <a:pathLst>
                  <a:path w="104" h="75">
                    <a:moveTo>
                      <a:pt x="0" y="75"/>
                    </a:moveTo>
                    <a:lnTo>
                      <a:pt x="22" y="49"/>
                    </a:lnTo>
                    <a:lnTo>
                      <a:pt x="47" y="29"/>
                    </a:lnTo>
                    <a:lnTo>
                      <a:pt x="69" y="13"/>
                    </a:lnTo>
                    <a:lnTo>
                      <a:pt x="104"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5" name="Freeform 21"/>
              <p:cNvSpPr>
                <a:spLocks/>
              </p:cNvSpPr>
              <p:nvPr/>
            </p:nvSpPr>
            <p:spPr bwMode="auto">
              <a:xfrm>
                <a:off x="1880" y="3083"/>
                <a:ext cx="224" cy="150"/>
              </a:xfrm>
              <a:custGeom>
                <a:avLst/>
                <a:gdLst>
                  <a:gd name="T0" fmla="*/ 0 w 224"/>
                  <a:gd name="T1" fmla="*/ 95 h 150"/>
                  <a:gd name="T2" fmla="*/ 0 w 224"/>
                  <a:gd name="T3" fmla="*/ 63 h 150"/>
                  <a:gd name="T4" fmla="*/ 8 w 224"/>
                  <a:gd name="T5" fmla="*/ 37 h 150"/>
                  <a:gd name="T6" fmla="*/ 16 w 224"/>
                  <a:gd name="T7" fmla="*/ 22 h 150"/>
                  <a:gd name="T8" fmla="*/ 37 w 224"/>
                  <a:gd name="T9" fmla="*/ 4 h 150"/>
                  <a:gd name="T10" fmla="*/ 59 w 224"/>
                  <a:gd name="T11" fmla="*/ 0 h 150"/>
                  <a:gd name="T12" fmla="*/ 86 w 224"/>
                  <a:gd name="T13" fmla="*/ 0 h 150"/>
                  <a:gd name="T14" fmla="*/ 126 w 224"/>
                  <a:gd name="T15" fmla="*/ 10 h 150"/>
                  <a:gd name="T16" fmla="*/ 157 w 224"/>
                  <a:gd name="T17" fmla="*/ 24 h 150"/>
                  <a:gd name="T18" fmla="*/ 204 w 224"/>
                  <a:gd name="T19" fmla="*/ 47 h 150"/>
                  <a:gd name="T20" fmla="*/ 217 w 224"/>
                  <a:gd name="T21" fmla="*/ 57 h 150"/>
                  <a:gd name="T22" fmla="*/ 224 w 224"/>
                  <a:gd name="T23" fmla="*/ 67 h 150"/>
                  <a:gd name="T24" fmla="*/ 216 w 224"/>
                  <a:gd name="T25" fmla="*/ 91 h 150"/>
                  <a:gd name="T26" fmla="*/ 206 w 224"/>
                  <a:gd name="T27" fmla="*/ 113 h 150"/>
                  <a:gd name="T28" fmla="*/ 190 w 224"/>
                  <a:gd name="T29" fmla="*/ 132 h 150"/>
                  <a:gd name="T30" fmla="*/ 165 w 224"/>
                  <a:gd name="T31" fmla="*/ 150 h 150"/>
                  <a:gd name="T32" fmla="*/ 146 w 224"/>
                  <a:gd name="T33" fmla="*/ 150 h 150"/>
                  <a:gd name="T34" fmla="*/ 0 w 224"/>
                  <a:gd name="T35" fmla="*/ 95 h 1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4"/>
                  <a:gd name="T55" fmla="*/ 0 h 150"/>
                  <a:gd name="T56" fmla="*/ 224 w 224"/>
                  <a:gd name="T57" fmla="*/ 150 h 1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4" h="150">
                    <a:moveTo>
                      <a:pt x="0" y="95"/>
                    </a:moveTo>
                    <a:lnTo>
                      <a:pt x="0" y="63"/>
                    </a:lnTo>
                    <a:lnTo>
                      <a:pt x="8" y="37"/>
                    </a:lnTo>
                    <a:lnTo>
                      <a:pt x="16" y="22"/>
                    </a:lnTo>
                    <a:lnTo>
                      <a:pt x="37" y="4"/>
                    </a:lnTo>
                    <a:lnTo>
                      <a:pt x="59" y="0"/>
                    </a:lnTo>
                    <a:lnTo>
                      <a:pt x="86" y="0"/>
                    </a:lnTo>
                    <a:lnTo>
                      <a:pt x="126" y="10"/>
                    </a:lnTo>
                    <a:lnTo>
                      <a:pt x="157" y="24"/>
                    </a:lnTo>
                    <a:lnTo>
                      <a:pt x="204" y="47"/>
                    </a:lnTo>
                    <a:lnTo>
                      <a:pt x="217" y="57"/>
                    </a:lnTo>
                    <a:lnTo>
                      <a:pt x="224" y="67"/>
                    </a:lnTo>
                    <a:lnTo>
                      <a:pt x="216" y="91"/>
                    </a:lnTo>
                    <a:lnTo>
                      <a:pt x="206" y="113"/>
                    </a:lnTo>
                    <a:lnTo>
                      <a:pt x="190" y="132"/>
                    </a:lnTo>
                    <a:lnTo>
                      <a:pt x="165" y="150"/>
                    </a:lnTo>
                    <a:lnTo>
                      <a:pt x="146" y="150"/>
                    </a:lnTo>
                    <a:lnTo>
                      <a:pt x="0" y="95"/>
                    </a:lnTo>
                    <a:close/>
                  </a:path>
                </a:pathLst>
              </a:custGeom>
              <a:solidFill>
                <a:srgbClr val="FFBFBF"/>
              </a:solidFill>
              <a:ln w="22225">
                <a:solidFill>
                  <a:srgbClr val="000000"/>
                </a:solidFill>
                <a:round/>
                <a:headEnd/>
                <a:tailEnd/>
              </a:ln>
            </p:spPr>
            <p:txBody>
              <a:bodyPr/>
              <a:lstStyle/>
              <a:p>
                <a:endParaRPr lang="zh-CN" altLang="en-US"/>
              </a:p>
            </p:txBody>
          </p:sp>
          <p:sp>
            <p:nvSpPr>
              <p:cNvPr id="75816" name="Freeform 22"/>
              <p:cNvSpPr>
                <a:spLocks/>
              </p:cNvSpPr>
              <p:nvPr/>
            </p:nvSpPr>
            <p:spPr bwMode="auto">
              <a:xfrm>
                <a:off x="1418" y="2596"/>
                <a:ext cx="130" cy="194"/>
              </a:xfrm>
              <a:custGeom>
                <a:avLst/>
                <a:gdLst>
                  <a:gd name="T0" fmla="*/ 0 w 130"/>
                  <a:gd name="T1" fmla="*/ 47 h 194"/>
                  <a:gd name="T2" fmla="*/ 21 w 130"/>
                  <a:gd name="T3" fmla="*/ 22 h 194"/>
                  <a:gd name="T4" fmla="*/ 41 w 130"/>
                  <a:gd name="T5" fmla="*/ 10 h 194"/>
                  <a:gd name="T6" fmla="*/ 65 w 130"/>
                  <a:gd name="T7" fmla="*/ 0 h 194"/>
                  <a:gd name="T8" fmla="*/ 87 w 130"/>
                  <a:gd name="T9" fmla="*/ 2 h 194"/>
                  <a:gd name="T10" fmla="*/ 103 w 130"/>
                  <a:gd name="T11" fmla="*/ 12 h 194"/>
                  <a:gd name="T12" fmla="*/ 115 w 130"/>
                  <a:gd name="T13" fmla="*/ 36 h 194"/>
                  <a:gd name="T14" fmla="*/ 125 w 130"/>
                  <a:gd name="T15" fmla="*/ 71 h 194"/>
                  <a:gd name="T16" fmla="*/ 130 w 130"/>
                  <a:gd name="T17" fmla="*/ 101 h 194"/>
                  <a:gd name="T18" fmla="*/ 130 w 130"/>
                  <a:gd name="T19" fmla="*/ 131 h 194"/>
                  <a:gd name="T20" fmla="*/ 125 w 130"/>
                  <a:gd name="T21" fmla="*/ 152 h 194"/>
                  <a:gd name="T22" fmla="*/ 112 w 130"/>
                  <a:gd name="T23" fmla="*/ 174 h 194"/>
                  <a:gd name="T24" fmla="*/ 100 w 130"/>
                  <a:gd name="T25" fmla="*/ 184 h 194"/>
                  <a:gd name="T26" fmla="*/ 73 w 130"/>
                  <a:gd name="T27" fmla="*/ 194 h 194"/>
                  <a:gd name="T28" fmla="*/ 31 w 130"/>
                  <a:gd name="T29" fmla="*/ 109 h 194"/>
                  <a:gd name="T30" fmla="*/ 0 w 130"/>
                  <a:gd name="T31" fmla="*/ 47 h 19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0"/>
                  <a:gd name="T49" fmla="*/ 0 h 194"/>
                  <a:gd name="T50" fmla="*/ 130 w 130"/>
                  <a:gd name="T51" fmla="*/ 194 h 19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0" h="194">
                    <a:moveTo>
                      <a:pt x="0" y="47"/>
                    </a:moveTo>
                    <a:lnTo>
                      <a:pt x="21" y="22"/>
                    </a:lnTo>
                    <a:lnTo>
                      <a:pt x="41" y="10"/>
                    </a:lnTo>
                    <a:lnTo>
                      <a:pt x="65" y="0"/>
                    </a:lnTo>
                    <a:lnTo>
                      <a:pt x="87" y="2"/>
                    </a:lnTo>
                    <a:lnTo>
                      <a:pt x="103" y="12"/>
                    </a:lnTo>
                    <a:lnTo>
                      <a:pt x="115" y="36"/>
                    </a:lnTo>
                    <a:lnTo>
                      <a:pt x="125" y="71"/>
                    </a:lnTo>
                    <a:lnTo>
                      <a:pt x="130" y="101"/>
                    </a:lnTo>
                    <a:lnTo>
                      <a:pt x="130" y="131"/>
                    </a:lnTo>
                    <a:lnTo>
                      <a:pt x="125" y="152"/>
                    </a:lnTo>
                    <a:lnTo>
                      <a:pt x="112" y="174"/>
                    </a:lnTo>
                    <a:lnTo>
                      <a:pt x="100" y="184"/>
                    </a:lnTo>
                    <a:lnTo>
                      <a:pt x="73" y="194"/>
                    </a:lnTo>
                    <a:lnTo>
                      <a:pt x="31" y="109"/>
                    </a:lnTo>
                    <a:lnTo>
                      <a:pt x="0" y="47"/>
                    </a:lnTo>
                    <a:close/>
                  </a:path>
                </a:pathLst>
              </a:custGeom>
              <a:solidFill>
                <a:srgbClr val="FFBFBF"/>
              </a:solidFill>
              <a:ln w="22225">
                <a:solidFill>
                  <a:srgbClr val="000000"/>
                </a:solidFill>
                <a:round/>
                <a:headEnd/>
                <a:tailEnd/>
              </a:ln>
            </p:spPr>
            <p:txBody>
              <a:bodyPr/>
              <a:lstStyle/>
              <a:p>
                <a:endParaRPr lang="zh-CN" altLang="en-US"/>
              </a:p>
            </p:txBody>
          </p:sp>
        </p:grpSp>
      </p:grpSp>
      <p:grpSp>
        <p:nvGrpSpPr>
          <p:cNvPr id="75780" name="Group 23"/>
          <p:cNvGrpSpPr>
            <a:grpSpLocks/>
          </p:cNvGrpSpPr>
          <p:nvPr/>
        </p:nvGrpSpPr>
        <p:grpSpPr bwMode="auto">
          <a:xfrm>
            <a:off x="7181850" y="2133600"/>
            <a:ext cx="1816100" cy="2514600"/>
            <a:chOff x="3594" y="1043"/>
            <a:chExt cx="2012" cy="2574"/>
          </a:xfrm>
        </p:grpSpPr>
        <p:sp>
          <p:nvSpPr>
            <p:cNvPr id="75781" name="Freeform 24"/>
            <p:cNvSpPr>
              <a:spLocks/>
            </p:cNvSpPr>
            <p:nvPr/>
          </p:nvSpPr>
          <p:spPr bwMode="auto">
            <a:xfrm>
              <a:off x="3594" y="1043"/>
              <a:ext cx="2012" cy="2574"/>
            </a:xfrm>
            <a:custGeom>
              <a:avLst/>
              <a:gdLst>
                <a:gd name="T0" fmla="*/ 1520 w 2012"/>
                <a:gd name="T1" fmla="*/ 122 h 2574"/>
                <a:gd name="T2" fmla="*/ 1248 w 2012"/>
                <a:gd name="T3" fmla="*/ 112 h 2574"/>
                <a:gd name="T4" fmla="*/ 867 w 2012"/>
                <a:gd name="T5" fmla="*/ 33 h 2574"/>
                <a:gd name="T6" fmla="*/ 578 w 2012"/>
                <a:gd name="T7" fmla="*/ 33 h 2574"/>
                <a:gd name="T8" fmla="*/ 385 w 2012"/>
                <a:gd name="T9" fmla="*/ 4 h 2574"/>
                <a:gd name="T10" fmla="*/ 25 w 2012"/>
                <a:gd name="T11" fmla="*/ 33 h 2574"/>
                <a:gd name="T12" fmla="*/ 7 w 2012"/>
                <a:gd name="T13" fmla="*/ 65 h 2574"/>
                <a:gd name="T14" fmla="*/ 0 w 2012"/>
                <a:gd name="T15" fmla="*/ 126 h 2574"/>
                <a:gd name="T16" fmla="*/ 24 w 2012"/>
                <a:gd name="T17" fmla="*/ 188 h 2574"/>
                <a:gd name="T18" fmla="*/ 61 w 2012"/>
                <a:gd name="T19" fmla="*/ 227 h 2574"/>
                <a:gd name="T20" fmla="*/ 106 w 2012"/>
                <a:gd name="T21" fmla="*/ 253 h 2574"/>
                <a:gd name="T22" fmla="*/ 188 w 2012"/>
                <a:gd name="T23" fmla="*/ 279 h 2574"/>
                <a:gd name="T24" fmla="*/ 309 w 2012"/>
                <a:gd name="T25" fmla="*/ 300 h 2574"/>
                <a:gd name="T26" fmla="*/ 492 w 2012"/>
                <a:gd name="T27" fmla="*/ 290 h 2574"/>
                <a:gd name="T28" fmla="*/ 676 w 2012"/>
                <a:gd name="T29" fmla="*/ 342 h 2574"/>
                <a:gd name="T30" fmla="*/ 799 w 2012"/>
                <a:gd name="T31" fmla="*/ 490 h 2574"/>
                <a:gd name="T32" fmla="*/ 872 w 2012"/>
                <a:gd name="T33" fmla="*/ 651 h 2574"/>
                <a:gd name="T34" fmla="*/ 883 w 2012"/>
                <a:gd name="T35" fmla="*/ 841 h 2574"/>
                <a:gd name="T36" fmla="*/ 875 w 2012"/>
                <a:gd name="T37" fmla="*/ 1098 h 2574"/>
                <a:gd name="T38" fmla="*/ 750 w 2012"/>
                <a:gd name="T39" fmla="*/ 1371 h 2574"/>
                <a:gd name="T40" fmla="*/ 676 w 2012"/>
                <a:gd name="T41" fmla="*/ 1472 h 2574"/>
                <a:gd name="T42" fmla="*/ 590 w 2012"/>
                <a:gd name="T43" fmla="*/ 1583 h 2574"/>
                <a:gd name="T44" fmla="*/ 473 w 2012"/>
                <a:gd name="T45" fmla="*/ 1654 h 2574"/>
                <a:gd name="T46" fmla="*/ 378 w 2012"/>
                <a:gd name="T47" fmla="*/ 1739 h 2574"/>
                <a:gd name="T48" fmla="*/ 220 w 2012"/>
                <a:gd name="T49" fmla="*/ 1824 h 2574"/>
                <a:gd name="T50" fmla="*/ 159 w 2012"/>
                <a:gd name="T51" fmla="*/ 1870 h 2574"/>
                <a:gd name="T52" fmla="*/ 110 w 2012"/>
                <a:gd name="T53" fmla="*/ 1919 h 2574"/>
                <a:gd name="T54" fmla="*/ 81 w 2012"/>
                <a:gd name="T55" fmla="*/ 1972 h 2574"/>
                <a:gd name="T56" fmla="*/ 69 w 2012"/>
                <a:gd name="T57" fmla="*/ 2036 h 2574"/>
                <a:gd name="T58" fmla="*/ 84 w 2012"/>
                <a:gd name="T59" fmla="*/ 2095 h 2574"/>
                <a:gd name="T60" fmla="*/ 123 w 2012"/>
                <a:gd name="T61" fmla="*/ 2131 h 2574"/>
                <a:gd name="T62" fmla="*/ 171 w 2012"/>
                <a:gd name="T63" fmla="*/ 2141 h 2574"/>
                <a:gd name="T64" fmla="*/ 272 w 2012"/>
                <a:gd name="T65" fmla="*/ 2109 h 2574"/>
                <a:gd name="T66" fmla="*/ 492 w 2012"/>
                <a:gd name="T67" fmla="*/ 2034 h 2574"/>
                <a:gd name="T68" fmla="*/ 855 w 2012"/>
                <a:gd name="T69" fmla="*/ 1759 h 2574"/>
                <a:gd name="T70" fmla="*/ 544 w 2012"/>
                <a:gd name="T71" fmla="*/ 2164 h 2574"/>
                <a:gd name="T72" fmla="*/ 431 w 2012"/>
                <a:gd name="T73" fmla="*/ 2267 h 2574"/>
                <a:gd name="T74" fmla="*/ 397 w 2012"/>
                <a:gd name="T75" fmla="*/ 2317 h 2574"/>
                <a:gd name="T76" fmla="*/ 385 w 2012"/>
                <a:gd name="T77" fmla="*/ 2364 h 2574"/>
                <a:gd name="T78" fmla="*/ 389 w 2012"/>
                <a:gd name="T79" fmla="*/ 2418 h 2574"/>
                <a:gd name="T80" fmla="*/ 417 w 2012"/>
                <a:gd name="T81" fmla="*/ 2461 h 2574"/>
                <a:gd name="T82" fmla="*/ 459 w 2012"/>
                <a:gd name="T83" fmla="*/ 2491 h 2574"/>
                <a:gd name="T84" fmla="*/ 596 w 2012"/>
                <a:gd name="T85" fmla="*/ 2406 h 2574"/>
                <a:gd name="T86" fmla="*/ 1088 w 2012"/>
                <a:gd name="T87" fmla="*/ 1923 h 2574"/>
                <a:gd name="T88" fmla="*/ 961 w 2012"/>
                <a:gd name="T89" fmla="*/ 2263 h 2574"/>
                <a:gd name="T90" fmla="*/ 919 w 2012"/>
                <a:gd name="T91" fmla="*/ 2368 h 2574"/>
                <a:gd name="T92" fmla="*/ 900 w 2012"/>
                <a:gd name="T93" fmla="*/ 2439 h 2574"/>
                <a:gd name="T94" fmla="*/ 899 w 2012"/>
                <a:gd name="T95" fmla="*/ 2491 h 2574"/>
                <a:gd name="T96" fmla="*/ 919 w 2012"/>
                <a:gd name="T97" fmla="*/ 2542 h 2574"/>
                <a:gd name="T98" fmla="*/ 953 w 2012"/>
                <a:gd name="T99" fmla="*/ 2568 h 2574"/>
                <a:gd name="T100" fmla="*/ 1003 w 2012"/>
                <a:gd name="T101" fmla="*/ 2572 h 2574"/>
                <a:gd name="T102" fmla="*/ 1274 w 2012"/>
                <a:gd name="T103" fmla="*/ 2125 h 2574"/>
                <a:gd name="T104" fmla="*/ 1453 w 2012"/>
                <a:gd name="T105" fmla="*/ 1505 h 2574"/>
                <a:gd name="T106" fmla="*/ 1593 w 2012"/>
                <a:gd name="T107" fmla="*/ 1244 h 2574"/>
                <a:gd name="T108" fmla="*/ 1725 w 2012"/>
                <a:gd name="T109" fmla="*/ 1048 h 2574"/>
                <a:gd name="T110" fmla="*/ 1927 w 2012"/>
                <a:gd name="T111" fmla="*/ 841 h 2574"/>
                <a:gd name="T112" fmla="*/ 2012 w 2012"/>
                <a:gd name="T113" fmla="*/ 461 h 2574"/>
                <a:gd name="T114" fmla="*/ 1801 w 2012"/>
                <a:gd name="T115" fmla="*/ 23 h 257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012"/>
                <a:gd name="T175" fmla="*/ 0 h 2574"/>
                <a:gd name="T176" fmla="*/ 2012 w 2012"/>
                <a:gd name="T177" fmla="*/ 2574 h 257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012" h="2574">
                  <a:moveTo>
                    <a:pt x="1708" y="13"/>
                  </a:moveTo>
                  <a:lnTo>
                    <a:pt x="1520" y="122"/>
                  </a:lnTo>
                  <a:lnTo>
                    <a:pt x="1394" y="122"/>
                  </a:lnTo>
                  <a:lnTo>
                    <a:pt x="1248" y="112"/>
                  </a:lnTo>
                  <a:lnTo>
                    <a:pt x="1139" y="112"/>
                  </a:lnTo>
                  <a:lnTo>
                    <a:pt x="867" y="33"/>
                  </a:lnTo>
                  <a:lnTo>
                    <a:pt x="715" y="33"/>
                  </a:lnTo>
                  <a:lnTo>
                    <a:pt x="578" y="33"/>
                  </a:lnTo>
                  <a:lnTo>
                    <a:pt x="443" y="0"/>
                  </a:lnTo>
                  <a:lnTo>
                    <a:pt x="385" y="4"/>
                  </a:lnTo>
                  <a:lnTo>
                    <a:pt x="289" y="33"/>
                  </a:lnTo>
                  <a:lnTo>
                    <a:pt x="25" y="33"/>
                  </a:lnTo>
                  <a:lnTo>
                    <a:pt x="14" y="47"/>
                  </a:lnTo>
                  <a:lnTo>
                    <a:pt x="7" y="65"/>
                  </a:lnTo>
                  <a:lnTo>
                    <a:pt x="2" y="97"/>
                  </a:lnTo>
                  <a:lnTo>
                    <a:pt x="0" y="126"/>
                  </a:lnTo>
                  <a:lnTo>
                    <a:pt x="8" y="158"/>
                  </a:lnTo>
                  <a:lnTo>
                    <a:pt x="24" y="188"/>
                  </a:lnTo>
                  <a:lnTo>
                    <a:pt x="41" y="207"/>
                  </a:lnTo>
                  <a:lnTo>
                    <a:pt x="61" y="227"/>
                  </a:lnTo>
                  <a:lnTo>
                    <a:pt x="79" y="239"/>
                  </a:lnTo>
                  <a:lnTo>
                    <a:pt x="106" y="253"/>
                  </a:lnTo>
                  <a:lnTo>
                    <a:pt x="137" y="263"/>
                  </a:lnTo>
                  <a:lnTo>
                    <a:pt x="188" y="279"/>
                  </a:lnTo>
                  <a:lnTo>
                    <a:pt x="240" y="289"/>
                  </a:lnTo>
                  <a:lnTo>
                    <a:pt x="309" y="300"/>
                  </a:lnTo>
                  <a:lnTo>
                    <a:pt x="382" y="310"/>
                  </a:lnTo>
                  <a:lnTo>
                    <a:pt x="492" y="290"/>
                  </a:lnTo>
                  <a:lnTo>
                    <a:pt x="588" y="312"/>
                  </a:lnTo>
                  <a:lnTo>
                    <a:pt x="676" y="342"/>
                  </a:lnTo>
                  <a:lnTo>
                    <a:pt x="752" y="411"/>
                  </a:lnTo>
                  <a:lnTo>
                    <a:pt x="799" y="490"/>
                  </a:lnTo>
                  <a:lnTo>
                    <a:pt x="848" y="577"/>
                  </a:lnTo>
                  <a:lnTo>
                    <a:pt x="872" y="651"/>
                  </a:lnTo>
                  <a:lnTo>
                    <a:pt x="885" y="740"/>
                  </a:lnTo>
                  <a:lnTo>
                    <a:pt x="883" y="841"/>
                  </a:lnTo>
                  <a:lnTo>
                    <a:pt x="883" y="969"/>
                  </a:lnTo>
                  <a:lnTo>
                    <a:pt x="875" y="1098"/>
                  </a:lnTo>
                  <a:lnTo>
                    <a:pt x="821" y="1272"/>
                  </a:lnTo>
                  <a:lnTo>
                    <a:pt x="750" y="1371"/>
                  </a:lnTo>
                  <a:lnTo>
                    <a:pt x="709" y="1418"/>
                  </a:lnTo>
                  <a:lnTo>
                    <a:pt x="676" y="1472"/>
                  </a:lnTo>
                  <a:lnTo>
                    <a:pt x="628" y="1535"/>
                  </a:lnTo>
                  <a:lnTo>
                    <a:pt x="590" y="1583"/>
                  </a:lnTo>
                  <a:lnTo>
                    <a:pt x="525" y="1614"/>
                  </a:lnTo>
                  <a:lnTo>
                    <a:pt x="473" y="1654"/>
                  </a:lnTo>
                  <a:lnTo>
                    <a:pt x="424" y="1697"/>
                  </a:lnTo>
                  <a:lnTo>
                    <a:pt x="378" y="1739"/>
                  </a:lnTo>
                  <a:lnTo>
                    <a:pt x="248" y="1806"/>
                  </a:lnTo>
                  <a:lnTo>
                    <a:pt x="220" y="1824"/>
                  </a:lnTo>
                  <a:lnTo>
                    <a:pt x="188" y="1848"/>
                  </a:lnTo>
                  <a:lnTo>
                    <a:pt x="159" y="1870"/>
                  </a:lnTo>
                  <a:lnTo>
                    <a:pt x="132" y="1893"/>
                  </a:lnTo>
                  <a:lnTo>
                    <a:pt x="110" y="1919"/>
                  </a:lnTo>
                  <a:lnTo>
                    <a:pt x="93" y="1943"/>
                  </a:lnTo>
                  <a:lnTo>
                    <a:pt x="81" y="1972"/>
                  </a:lnTo>
                  <a:lnTo>
                    <a:pt x="73" y="2004"/>
                  </a:lnTo>
                  <a:lnTo>
                    <a:pt x="69" y="2036"/>
                  </a:lnTo>
                  <a:lnTo>
                    <a:pt x="73" y="2064"/>
                  </a:lnTo>
                  <a:lnTo>
                    <a:pt x="84" y="2095"/>
                  </a:lnTo>
                  <a:lnTo>
                    <a:pt x="101" y="2115"/>
                  </a:lnTo>
                  <a:lnTo>
                    <a:pt x="123" y="2131"/>
                  </a:lnTo>
                  <a:lnTo>
                    <a:pt x="152" y="2145"/>
                  </a:lnTo>
                  <a:lnTo>
                    <a:pt x="171" y="2141"/>
                  </a:lnTo>
                  <a:lnTo>
                    <a:pt x="233" y="2119"/>
                  </a:lnTo>
                  <a:lnTo>
                    <a:pt x="272" y="2109"/>
                  </a:lnTo>
                  <a:lnTo>
                    <a:pt x="382" y="2069"/>
                  </a:lnTo>
                  <a:lnTo>
                    <a:pt x="492" y="2034"/>
                  </a:lnTo>
                  <a:lnTo>
                    <a:pt x="637" y="1909"/>
                  </a:lnTo>
                  <a:lnTo>
                    <a:pt x="855" y="1759"/>
                  </a:lnTo>
                  <a:lnTo>
                    <a:pt x="662" y="2064"/>
                  </a:lnTo>
                  <a:lnTo>
                    <a:pt x="544" y="2164"/>
                  </a:lnTo>
                  <a:lnTo>
                    <a:pt x="453" y="2244"/>
                  </a:lnTo>
                  <a:lnTo>
                    <a:pt x="431" y="2267"/>
                  </a:lnTo>
                  <a:lnTo>
                    <a:pt x="411" y="2291"/>
                  </a:lnTo>
                  <a:lnTo>
                    <a:pt x="397" y="2317"/>
                  </a:lnTo>
                  <a:lnTo>
                    <a:pt x="389" y="2341"/>
                  </a:lnTo>
                  <a:lnTo>
                    <a:pt x="385" y="2364"/>
                  </a:lnTo>
                  <a:lnTo>
                    <a:pt x="383" y="2390"/>
                  </a:lnTo>
                  <a:lnTo>
                    <a:pt x="389" y="2418"/>
                  </a:lnTo>
                  <a:lnTo>
                    <a:pt x="400" y="2439"/>
                  </a:lnTo>
                  <a:lnTo>
                    <a:pt x="417" y="2461"/>
                  </a:lnTo>
                  <a:lnTo>
                    <a:pt x="436" y="2479"/>
                  </a:lnTo>
                  <a:lnTo>
                    <a:pt x="459" y="2491"/>
                  </a:lnTo>
                  <a:lnTo>
                    <a:pt x="505" y="2467"/>
                  </a:lnTo>
                  <a:lnTo>
                    <a:pt x="596" y="2406"/>
                  </a:lnTo>
                  <a:lnTo>
                    <a:pt x="799" y="2273"/>
                  </a:lnTo>
                  <a:lnTo>
                    <a:pt x="1088" y="1923"/>
                  </a:lnTo>
                  <a:lnTo>
                    <a:pt x="1020" y="2135"/>
                  </a:lnTo>
                  <a:lnTo>
                    <a:pt x="961" y="2263"/>
                  </a:lnTo>
                  <a:lnTo>
                    <a:pt x="936" y="2323"/>
                  </a:lnTo>
                  <a:lnTo>
                    <a:pt x="919" y="2368"/>
                  </a:lnTo>
                  <a:lnTo>
                    <a:pt x="907" y="2406"/>
                  </a:lnTo>
                  <a:lnTo>
                    <a:pt x="900" y="2439"/>
                  </a:lnTo>
                  <a:lnTo>
                    <a:pt x="897" y="2463"/>
                  </a:lnTo>
                  <a:lnTo>
                    <a:pt x="899" y="2491"/>
                  </a:lnTo>
                  <a:lnTo>
                    <a:pt x="904" y="2517"/>
                  </a:lnTo>
                  <a:lnTo>
                    <a:pt x="919" y="2542"/>
                  </a:lnTo>
                  <a:lnTo>
                    <a:pt x="932" y="2554"/>
                  </a:lnTo>
                  <a:lnTo>
                    <a:pt x="953" y="2568"/>
                  </a:lnTo>
                  <a:lnTo>
                    <a:pt x="978" y="2574"/>
                  </a:lnTo>
                  <a:lnTo>
                    <a:pt x="1003" y="2572"/>
                  </a:lnTo>
                  <a:lnTo>
                    <a:pt x="1130" y="2333"/>
                  </a:lnTo>
                  <a:lnTo>
                    <a:pt x="1274" y="2125"/>
                  </a:lnTo>
                  <a:lnTo>
                    <a:pt x="1360" y="1854"/>
                  </a:lnTo>
                  <a:lnTo>
                    <a:pt x="1453" y="1505"/>
                  </a:lnTo>
                  <a:lnTo>
                    <a:pt x="1537" y="1347"/>
                  </a:lnTo>
                  <a:lnTo>
                    <a:pt x="1593" y="1244"/>
                  </a:lnTo>
                  <a:lnTo>
                    <a:pt x="1661" y="1135"/>
                  </a:lnTo>
                  <a:lnTo>
                    <a:pt x="1725" y="1048"/>
                  </a:lnTo>
                  <a:lnTo>
                    <a:pt x="1813" y="936"/>
                  </a:lnTo>
                  <a:lnTo>
                    <a:pt x="1927" y="841"/>
                  </a:lnTo>
                  <a:lnTo>
                    <a:pt x="2003" y="759"/>
                  </a:lnTo>
                  <a:lnTo>
                    <a:pt x="2012" y="461"/>
                  </a:lnTo>
                  <a:lnTo>
                    <a:pt x="1970" y="122"/>
                  </a:lnTo>
                  <a:lnTo>
                    <a:pt x="1801" y="23"/>
                  </a:lnTo>
                  <a:lnTo>
                    <a:pt x="1708" y="13"/>
                  </a:lnTo>
                  <a:close/>
                </a:path>
              </a:pathLst>
            </a:custGeom>
            <a:solidFill>
              <a:srgbClr val="FF9F9F"/>
            </a:solidFill>
            <a:ln w="22225">
              <a:solidFill>
                <a:srgbClr val="000000"/>
              </a:solidFill>
              <a:round/>
              <a:headEnd/>
              <a:tailEnd/>
            </a:ln>
          </p:spPr>
          <p:txBody>
            <a:bodyPr/>
            <a:lstStyle/>
            <a:p>
              <a:endParaRPr lang="zh-CN" altLang="en-US"/>
            </a:p>
          </p:txBody>
        </p:sp>
        <p:sp>
          <p:nvSpPr>
            <p:cNvPr id="75782" name="Freeform 25"/>
            <p:cNvSpPr>
              <a:spLocks/>
            </p:cNvSpPr>
            <p:nvPr/>
          </p:nvSpPr>
          <p:spPr bwMode="auto">
            <a:xfrm>
              <a:off x="4287" y="1773"/>
              <a:ext cx="667" cy="1076"/>
            </a:xfrm>
            <a:custGeom>
              <a:avLst/>
              <a:gdLst>
                <a:gd name="T0" fmla="*/ 140 w 667"/>
                <a:gd name="T1" fmla="*/ 518 h 1076"/>
                <a:gd name="T2" fmla="*/ 54 w 667"/>
                <a:gd name="T3" fmla="*/ 706 h 1076"/>
                <a:gd name="T4" fmla="*/ 30 w 667"/>
                <a:gd name="T5" fmla="*/ 762 h 1076"/>
                <a:gd name="T6" fmla="*/ 10 w 667"/>
                <a:gd name="T7" fmla="*/ 827 h 1076"/>
                <a:gd name="T8" fmla="*/ 1 w 667"/>
                <a:gd name="T9" fmla="*/ 880 h 1076"/>
                <a:gd name="T10" fmla="*/ 0 w 667"/>
                <a:gd name="T11" fmla="*/ 932 h 1076"/>
                <a:gd name="T12" fmla="*/ 1 w 667"/>
                <a:gd name="T13" fmla="*/ 985 h 1076"/>
                <a:gd name="T14" fmla="*/ 8 w 667"/>
                <a:gd name="T15" fmla="*/ 1027 h 1076"/>
                <a:gd name="T16" fmla="*/ 22 w 667"/>
                <a:gd name="T17" fmla="*/ 1058 h 1076"/>
                <a:gd name="T18" fmla="*/ 45 w 667"/>
                <a:gd name="T19" fmla="*/ 1076 h 1076"/>
                <a:gd name="T20" fmla="*/ 82 w 667"/>
                <a:gd name="T21" fmla="*/ 1074 h 1076"/>
                <a:gd name="T22" fmla="*/ 121 w 667"/>
                <a:gd name="T23" fmla="*/ 1029 h 1076"/>
                <a:gd name="T24" fmla="*/ 260 w 667"/>
                <a:gd name="T25" fmla="*/ 825 h 1076"/>
                <a:gd name="T26" fmla="*/ 403 w 667"/>
                <a:gd name="T27" fmla="*/ 617 h 1076"/>
                <a:gd name="T28" fmla="*/ 446 w 667"/>
                <a:gd name="T29" fmla="*/ 398 h 1076"/>
                <a:gd name="T30" fmla="*/ 572 w 667"/>
                <a:gd name="T31" fmla="*/ 210 h 1076"/>
                <a:gd name="T32" fmla="*/ 650 w 667"/>
                <a:gd name="T33" fmla="*/ 101 h 1076"/>
                <a:gd name="T34" fmla="*/ 667 w 667"/>
                <a:gd name="T35" fmla="*/ 0 h 10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7"/>
                <a:gd name="T55" fmla="*/ 0 h 1076"/>
                <a:gd name="T56" fmla="*/ 667 w 667"/>
                <a:gd name="T57" fmla="*/ 1076 h 10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7" h="1076">
                  <a:moveTo>
                    <a:pt x="140" y="518"/>
                  </a:moveTo>
                  <a:lnTo>
                    <a:pt x="54" y="706"/>
                  </a:lnTo>
                  <a:lnTo>
                    <a:pt x="30" y="762"/>
                  </a:lnTo>
                  <a:lnTo>
                    <a:pt x="10" y="827"/>
                  </a:lnTo>
                  <a:lnTo>
                    <a:pt x="1" y="880"/>
                  </a:lnTo>
                  <a:lnTo>
                    <a:pt x="0" y="932"/>
                  </a:lnTo>
                  <a:lnTo>
                    <a:pt x="1" y="985"/>
                  </a:lnTo>
                  <a:lnTo>
                    <a:pt x="8" y="1027"/>
                  </a:lnTo>
                  <a:lnTo>
                    <a:pt x="22" y="1058"/>
                  </a:lnTo>
                  <a:lnTo>
                    <a:pt x="45" y="1076"/>
                  </a:lnTo>
                  <a:lnTo>
                    <a:pt x="82" y="1074"/>
                  </a:lnTo>
                  <a:lnTo>
                    <a:pt x="121" y="1029"/>
                  </a:lnTo>
                  <a:lnTo>
                    <a:pt x="260" y="825"/>
                  </a:lnTo>
                  <a:lnTo>
                    <a:pt x="403" y="617"/>
                  </a:lnTo>
                  <a:lnTo>
                    <a:pt x="446" y="398"/>
                  </a:lnTo>
                  <a:lnTo>
                    <a:pt x="572" y="210"/>
                  </a:lnTo>
                  <a:lnTo>
                    <a:pt x="650" y="101"/>
                  </a:lnTo>
                  <a:lnTo>
                    <a:pt x="667"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3" name="Freeform 26"/>
            <p:cNvSpPr>
              <a:spLocks/>
            </p:cNvSpPr>
            <p:nvPr/>
          </p:nvSpPr>
          <p:spPr bwMode="auto">
            <a:xfrm>
              <a:off x="4447" y="2072"/>
              <a:ext cx="569" cy="732"/>
            </a:xfrm>
            <a:custGeom>
              <a:avLst/>
              <a:gdLst>
                <a:gd name="T0" fmla="*/ 569 w 569"/>
                <a:gd name="T1" fmla="*/ 0 h 732"/>
                <a:gd name="T2" fmla="*/ 539 w 569"/>
                <a:gd name="T3" fmla="*/ 45 h 732"/>
                <a:gd name="T4" fmla="*/ 514 w 569"/>
                <a:gd name="T5" fmla="*/ 91 h 732"/>
                <a:gd name="T6" fmla="*/ 493 w 569"/>
                <a:gd name="T7" fmla="*/ 142 h 732"/>
                <a:gd name="T8" fmla="*/ 473 w 569"/>
                <a:gd name="T9" fmla="*/ 219 h 732"/>
                <a:gd name="T10" fmla="*/ 282 w 569"/>
                <a:gd name="T11" fmla="*/ 423 h 732"/>
                <a:gd name="T12" fmla="*/ 203 w 569"/>
                <a:gd name="T13" fmla="*/ 506 h 732"/>
                <a:gd name="T14" fmla="*/ 0 w 569"/>
                <a:gd name="T15" fmla="*/ 732 h 732"/>
                <a:gd name="T16" fmla="*/ 0 60000 65536"/>
                <a:gd name="T17" fmla="*/ 0 60000 65536"/>
                <a:gd name="T18" fmla="*/ 0 60000 65536"/>
                <a:gd name="T19" fmla="*/ 0 60000 65536"/>
                <a:gd name="T20" fmla="*/ 0 60000 65536"/>
                <a:gd name="T21" fmla="*/ 0 60000 65536"/>
                <a:gd name="T22" fmla="*/ 0 60000 65536"/>
                <a:gd name="T23" fmla="*/ 0 60000 65536"/>
                <a:gd name="T24" fmla="*/ 0 w 569"/>
                <a:gd name="T25" fmla="*/ 0 h 732"/>
                <a:gd name="T26" fmla="*/ 569 w 569"/>
                <a:gd name="T27" fmla="*/ 732 h 7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9" h="732">
                  <a:moveTo>
                    <a:pt x="569" y="0"/>
                  </a:moveTo>
                  <a:lnTo>
                    <a:pt x="539" y="45"/>
                  </a:lnTo>
                  <a:lnTo>
                    <a:pt x="514" y="91"/>
                  </a:lnTo>
                  <a:lnTo>
                    <a:pt x="493" y="142"/>
                  </a:lnTo>
                  <a:lnTo>
                    <a:pt x="473" y="219"/>
                  </a:lnTo>
                  <a:lnTo>
                    <a:pt x="282" y="423"/>
                  </a:lnTo>
                  <a:lnTo>
                    <a:pt x="203" y="506"/>
                  </a:lnTo>
                  <a:lnTo>
                    <a:pt x="0" y="732"/>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4" name="Freeform 27"/>
            <p:cNvSpPr>
              <a:spLocks/>
            </p:cNvSpPr>
            <p:nvPr/>
          </p:nvSpPr>
          <p:spPr bwMode="auto">
            <a:xfrm>
              <a:off x="4685" y="2198"/>
              <a:ext cx="365" cy="764"/>
            </a:xfrm>
            <a:custGeom>
              <a:avLst/>
              <a:gdLst>
                <a:gd name="T0" fmla="*/ 0 w 365"/>
                <a:gd name="T1" fmla="*/ 764 h 764"/>
                <a:gd name="T2" fmla="*/ 102 w 365"/>
                <a:gd name="T3" fmla="*/ 566 h 764"/>
                <a:gd name="T4" fmla="*/ 179 w 365"/>
                <a:gd name="T5" fmla="*/ 398 h 764"/>
                <a:gd name="T6" fmla="*/ 247 w 365"/>
                <a:gd name="T7" fmla="*/ 257 h 764"/>
                <a:gd name="T8" fmla="*/ 314 w 365"/>
                <a:gd name="T9" fmla="*/ 178 h 764"/>
                <a:gd name="T10" fmla="*/ 331 w 365"/>
                <a:gd name="T11" fmla="*/ 107 h 764"/>
                <a:gd name="T12" fmla="*/ 345 w 365"/>
                <a:gd name="T13" fmla="*/ 60 h 764"/>
                <a:gd name="T14" fmla="*/ 365 w 365"/>
                <a:gd name="T15" fmla="*/ 0 h 764"/>
                <a:gd name="T16" fmla="*/ 0 60000 65536"/>
                <a:gd name="T17" fmla="*/ 0 60000 65536"/>
                <a:gd name="T18" fmla="*/ 0 60000 65536"/>
                <a:gd name="T19" fmla="*/ 0 60000 65536"/>
                <a:gd name="T20" fmla="*/ 0 60000 65536"/>
                <a:gd name="T21" fmla="*/ 0 60000 65536"/>
                <a:gd name="T22" fmla="*/ 0 60000 65536"/>
                <a:gd name="T23" fmla="*/ 0 60000 65536"/>
                <a:gd name="T24" fmla="*/ 0 w 365"/>
                <a:gd name="T25" fmla="*/ 0 h 764"/>
                <a:gd name="T26" fmla="*/ 365 w 365"/>
                <a:gd name="T27" fmla="*/ 764 h 7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5" h="764">
                  <a:moveTo>
                    <a:pt x="0" y="764"/>
                  </a:moveTo>
                  <a:lnTo>
                    <a:pt x="102" y="566"/>
                  </a:lnTo>
                  <a:lnTo>
                    <a:pt x="179" y="398"/>
                  </a:lnTo>
                  <a:lnTo>
                    <a:pt x="247" y="257"/>
                  </a:lnTo>
                  <a:lnTo>
                    <a:pt x="314" y="178"/>
                  </a:lnTo>
                  <a:lnTo>
                    <a:pt x="331" y="107"/>
                  </a:lnTo>
                  <a:lnTo>
                    <a:pt x="345" y="60"/>
                  </a:lnTo>
                  <a:lnTo>
                    <a:pt x="365"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5" name="Freeform 28"/>
            <p:cNvSpPr>
              <a:spLocks/>
            </p:cNvSpPr>
            <p:nvPr/>
          </p:nvSpPr>
          <p:spPr bwMode="auto">
            <a:xfrm>
              <a:off x="3633" y="1078"/>
              <a:ext cx="177" cy="62"/>
            </a:xfrm>
            <a:custGeom>
              <a:avLst/>
              <a:gdLst>
                <a:gd name="T0" fmla="*/ 0 w 177"/>
                <a:gd name="T1" fmla="*/ 0 h 62"/>
                <a:gd name="T2" fmla="*/ 3 w 177"/>
                <a:gd name="T3" fmla="*/ 20 h 62"/>
                <a:gd name="T4" fmla="*/ 8 w 177"/>
                <a:gd name="T5" fmla="*/ 30 h 62"/>
                <a:gd name="T6" fmla="*/ 17 w 177"/>
                <a:gd name="T7" fmla="*/ 44 h 62"/>
                <a:gd name="T8" fmla="*/ 25 w 177"/>
                <a:gd name="T9" fmla="*/ 50 h 62"/>
                <a:gd name="T10" fmla="*/ 40 w 177"/>
                <a:gd name="T11" fmla="*/ 58 h 62"/>
                <a:gd name="T12" fmla="*/ 61 w 177"/>
                <a:gd name="T13" fmla="*/ 62 h 62"/>
                <a:gd name="T14" fmla="*/ 88 w 177"/>
                <a:gd name="T15" fmla="*/ 62 h 62"/>
                <a:gd name="T16" fmla="*/ 138 w 177"/>
                <a:gd name="T17" fmla="*/ 62 h 62"/>
                <a:gd name="T18" fmla="*/ 149 w 177"/>
                <a:gd name="T19" fmla="*/ 60 h 62"/>
                <a:gd name="T20" fmla="*/ 164 w 177"/>
                <a:gd name="T21" fmla="*/ 54 h 62"/>
                <a:gd name="T22" fmla="*/ 176 w 177"/>
                <a:gd name="T23" fmla="*/ 48 h 62"/>
                <a:gd name="T24" fmla="*/ 177 w 177"/>
                <a:gd name="T25" fmla="*/ 0 h 62"/>
                <a:gd name="T26" fmla="*/ 0 w 177"/>
                <a:gd name="T27" fmla="*/ 0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7"/>
                <a:gd name="T43" fmla="*/ 0 h 62"/>
                <a:gd name="T44" fmla="*/ 177 w 177"/>
                <a:gd name="T45" fmla="*/ 62 h 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7" h="62">
                  <a:moveTo>
                    <a:pt x="0" y="0"/>
                  </a:moveTo>
                  <a:lnTo>
                    <a:pt x="3" y="20"/>
                  </a:lnTo>
                  <a:lnTo>
                    <a:pt x="8" y="30"/>
                  </a:lnTo>
                  <a:lnTo>
                    <a:pt x="17" y="44"/>
                  </a:lnTo>
                  <a:lnTo>
                    <a:pt x="25" y="50"/>
                  </a:lnTo>
                  <a:lnTo>
                    <a:pt x="40" y="58"/>
                  </a:lnTo>
                  <a:lnTo>
                    <a:pt x="61" y="62"/>
                  </a:lnTo>
                  <a:lnTo>
                    <a:pt x="88" y="62"/>
                  </a:lnTo>
                  <a:lnTo>
                    <a:pt x="138" y="62"/>
                  </a:lnTo>
                  <a:lnTo>
                    <a:pt x="149" y="60"/>
                  </a:lnTo>
                  <a:lnTo>
                    <a:pt x="164" y="54"/>
                  </a:lnTo>
                  <a:lnTo>
                    <a:pt x="176" y="48"/>
                  </a:lnTo>
                  <a:lnTo>
                    <a:pt x="177" y="0"/>
                  </a:lnTo>
                  <a:lnTo>
                    <a:pt x="0" y="0"/>
                  </a:lnTo>
                  <a:close/>
                </a:path>
              </a:pathLst>
            </a:custGeom>
            <a:solidFill>
              <a:srgbClr val="FFBFBF"/>
            </a:solidFill>
            <a:ln w="22225">
              <a:solidFill>
                <a:srgbClr val="000000"/>
              </a:solidFill>
              <a:round/>
              <a:headEnd/>
              <a:tailEnd/>
            </a:ln>
          </p:spPr>
          <p:txBody>
            <a:bodyPr/>
            <a:lstStyle/>
            <a:p>
              <a:endParaRPr lang="zh-CN" altLang="en-US"/>
            </a:p>
          </p:txBody>
        </p:sp>
        <p:sp>
          <p:nvSpPr>
            <p:cNvPr id="75786" name="Freeform 29"/>
            <p:cNvSpPr>
              <a:spLocks/>
            </p:cNvSpPr>
            <p:nvPr/>
          </p:nvSpPr>
          <p:spPr bwMode="auto">
            <a:xfrm>
              <a:off x="4059" y="2980"/>
              <a:ext cx="18" cy="97"/>
            </a:xfrm>
            <a:custGeom>
              <a:avLst/>
              <a:gdLst>
                <a:gd name="T0" fmla="*/ 18 w 18"/>
                <a:gd name="T1" fmla="*/ 97 h 97"/>
                <a:gd name="T2" fmla="*/ 18 w 18"/>
                <a:gd name="T3" fmla="*/ 63 h 97"/>
                <a:gd name="T4" fmla="*/ 13 w 18"/>
                <a:gd name="T5" fmla="*/ 32 h 97"/>
                <a:gd name="T6" fmla="*/ 0 w 18"/>
                <a:gd name="T7" fmla="*/ 0 h 97"/>
                <a:gd name="T8" fmla="*/ 0 60000 65536"/>
                <a:gd name="T9" fmla="*/ 0 60000 65536"/>
                <a:gd name="T10" fmla="*/ 0 60000 65536"/>
                <a:gd name="T11" fmla="*/ 0 60000 65536"/>
                <a:gd name="T12" fmla="*/ 0 w 18"/>
                <a:gd name="T13" fmla="*/ 0 h 97"/>
                <a:gd name="T14" fmla="*/ 18 w 18"/>
                <a:gd name="T15" fmla="*/ 97 h 97"/>
              </a:gdLst>
              <a:ahLst/>
              <a:cxnLst>
                <a:cxn ang="T8">
                  <a:pos x="T0" y="T1"/>
                </a:cxn>
                <a:cxn ang="T9">
                  <a:pos x="T2" y="T3"/>
                </a:cxn>
                <a:cxn ang="T10">
                  <a:pos x="T4" y="T5"/>
                </a:cxn>
                <a:cxn ang="T11">
                  <a:pos x="T6" y="T7"/>
                </a:cxn>
              </a:cxnLst>
              <a:rect l="T12" t="T13" r="T14" b="T15"/>
              <a:pathLst>
                <a:path w="18" h="97">
                  <a:moveTo>
                    <a:pt x="18" y="97"/>
                  </a:moveTo>
                  <a:lnTo>
                    <a:pt x="18" y="63"/>
                  </a:lnTo>
                  <a:lnTo>
                    <a:pt x="13" y="32"/>
                  </a:lnTo>
                  <a:lnTo>
                    <a:pt x="0"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7" name="Freeform 30"/>
            <p:cNvSpPr>
              <a:spLocks/>
            </p:cNvSpPr>
            <p:nvPr/>
          </p:nvSpPr>
          <p:spPr bwMode="auto">
            <a:xfrm>
              <a:off x="3714" y="3043"/>
              <a:ext cx="187" cy="147"/>
            </a:xfrm>
            <a:custGeom>
              <a:avLst/>
              <a:gdLst>
                <a:gd name="T0" fmla="*/ 35 w 187"/>
                <a:gd name="T1" fmla="*/ 139 h 147"/>
                <a:gd name="T2" fmla="*/ 19 w 187"/>
                <a:gd name="T3" fmla="*/ 119 h 147"/>
                <a:gd name="T4" fmla="*/ 7 w 187"/>
                <a:gd name="T5" fmla="*/ 97 h 147"/>
                <a:gd name="T6" fmla="*/ 2 w 187"/>
                <a:gd name="T7" fmla="*/ 73 h 147"/>
                <a:gd name="T8" fmla="*/ 0 w 187"/>
                <a:gd name="T9" fmla="*/ 64 h 147"/>
                <a:gd name="T10" fmla="*/ 15 w 187"/>
                <a:gd name="T11" fmla="*/ 44 h 147"/>
                <a:gd name="T12" fmla="*/ 32 w 187"/>
                <a:gd name="T13" fmla="*/ 30 h 147"/>
                <a:gd name="T14" fmla="*/ 52 w 187"/>
                <a:gd name="T15" fmla="*/ 16 h 147"/>
                <a:gd name="T16" fmla="*/ 78 w 187"/>
                <a:gd name="T17" fmla="*/ 4 h 147"/>
                <a:gd name="T18" fmla="*/ 108 w 187"/>
                <a:gd name="T19" fmla="*/ 0 h 147"/>
                <a:gd name="T20" fmla="*/ 123 w 187"/>
                <a:gd name="T21" fmla="*/ 0 h 147"/>
                <a:gd name="T22" fmla="*/ 140 w 187"/>
                <a:gd name="T23" fmla="*/ 4 h 147"/>
                <a:gd name="T24" fmla="*/ 166 w 187"/>
                <a:gd name="T25" fmla="*/ 28 h 147"/>
                <a:gd name="T26" fmla="*/ 176 w 187"/>
                <a:gd name="T27" fmla="*/ 50 h 147"/>
                <a:gd name="T28" fmla="*/ 182 w 187"/>
                <a:gd name="T29" fmla="*/ 77 h 147"/>
                <a:gd name="T30" fmla="*/ 187 w 187"/>
                <a:gd name="T31" fmla="*/ 99 h 147"/>
                <a:gd name="T32" fmla="*/ 123 w 187"/>
                <a:gd name="T33" fmla="*/ 123 h 147"/>
                <a:gd name="T34" fmla="*/ 47 w 187"/>
                <a:gd name="T35" fmla="*/ 147 h 147"/>
                <a:gd name="T36" fmla="*/ 35 w 187"/>
                <a:gd name="T37" fmla="*/ 139 h 1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7"/>
                <a:gd name="T58" fmla="*/ 0 h 147"/>
                <a:gd name="T59" fmla="*/ 187 w 187"/>
                <a:gd name="T60" fmla="*/ 147 h 14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7" h="147">
                  <a:moveTo>
                    <a:pt x="35" y="139"/>
                  </a:moveTo>
                  <a:lnTo>
                    <a:pt x="19" y="119"/>
                  </a:lnTo>
                  <a:lnTo>
                    <a:pt x="7" y="97"/>
                  </a:lnTo>
                  <a:lnTo>
                    <a:pt x="2" y="73"/>
                  </a:lnTo>
                  <a:lnTo>
                    <a:pt x="0" y="64"/>
                  </a:lnTo>
                  <a:lnTo>
                    <a:pt x="15" y="44"/>
                  </a:lnTo>
                  <a:lnTo>
                    <a:pt x="32" y="30"/>
                  </a:lnTo>
                  <a:lnTo>
                    <a:pt x="52" y="16"/>
                  </a:lnTo>
                  <a:lnTo>
                    <a:pt x="78" y="4"/>
                  </a:lnTo>
                  <a:lnTo>
                    <a:pt x="108" y="0"/>
                  </a:lnTo>
                  <a:lnTo>
                    <a:pt x="123" y="0"/>
                  </a:lnTo>
                  <a:lnTo>
                    <a:pt x="140" y="4"/>
                  </a:lnTo>
                  <a:lnTo>
                    <a:pt x="166" y="28"/>
                  </a:lnTo>
                  <a:lnTo>
                    <a:pt x="176" y="50"/>
                  </a:lnTo>
                  <a:lnTo>
                    <a:pt x="182" y="77"/>
                  </a:lnTo>
                  <a:lnTo>
                    <a:pt x="187" y="99"/>
                  </a:lnTo>
                  <a:lnTo>
                    <a:pt x="123" y="123"/>
                  </a:lnTo>
                  <a:lnTo>
                    <a:pt x="47" y="147"/>
                  </a:lnTo>
                  <a:lnTo>
                    <a:pt x="35" y="139"/>
                  </a:lnTo>
                  <a:close/>
                </a:path>
              </a:pathLst>
            </a:custGeom>
            <a:solidFill>
              <a:srgbClr val="FFBFBF"/>
            </a:solidFill>
            <a:ln w="22225">
              <a:solidFill>
                <a:srgbClr val="000000"/>
              </a:solidFill>
              <a:round/>
              <a:headEnd/>
              <a:tailEnd/>
            </a:ln>
          </p:spPr>
          <p:txBody>
            <a:bodyPr/>
            <a:lstStyle/>
            <a:p>
              <a:endParaRPr lang="zh-CN" altLang="en-US"/>
            </a:p>
          </p:txBody>
        </p:sp>
        <p:sp>
          <p:nvSpPr>
            <p:cNvPr id="75788" name="Freeform 31"/>
            <p:cNvSpPr>
              <a:spLocks/>
            </p:cNvSpPr>
            <p:nvPr/>
          </p:nvSpPr>
          <p:spPr bwMode="auto">
            <a:xfrm>
              <a:off x="4042" y="3372"/>
              <a:ext cx="150" cy="154"/>
            </a:xfrm>
            <a:custGeom>
              <a:avLst/>
              <a:gdLst>
                <a:gd name="T0" fmla="*/ 15 w 150"/>
                <a:gd name="T1" fmla="*/ 154 h 154"/>
                <a:gd name="T2" fmla="*/ 3 w 150"/>
                <a:gd name="T3" fmla="*/ 134 h 154"/>
                <a:gd name="T4" fmla="*/ 0 w 150"/>
                <a:gd name="T5" fmla="*/ 114 h 154"/>
                <a:gd name="T6" fmla="*/ 0 w 150"/>
                <a:gd name="T7" fmla="*/ 101 h 154"/>
                <a:gd name="T8" fmla="*/ 3 w 150"/>
                <a:gd name="T9" fmla="*/ 89 h 154"/>
                <a:gd name="T10" fmla="*/ 15 w 150"/>
                <a:gd name="T11" fmla="*/ 69 h 154"/>
                <a:gd name="T12" fmla="*/ 40 w 150"/>
                <a:gd name="T13" fmla="*/ 39 h 154"/>
                <a:gd name="T14" fmla="*/ 69 w 150"/>
                <a:gd name="T15" fmla="*/ 19 h 154"/>
                <a:gd name="T16" fmla="*/ 88 w 150"/>
                <a:gd name="T17" fmla="*/ 10 h 154"/>
                <a:gd name="T18" fmla="*/ 101 w 150"/>
                <a:gd name="T19" fmla="*/ 0 h 154"/>
                <a:gd name="T20" fmla="*/ 116 w 150"/>
                <a:gd name="T21" fmla="*/ 10 h 154"/>
                <a:gd name="T22" fmla="*/ 130 w 150"/>
                <a:gd name="T23" fmla="*/ 29 h 154"/>
                <a:gd name="T24" fmla="*/ 142 w 150"/>
                <a:gd name="T25" fmla="*/ 49 h 154"/>
                <a:gd name="T26" fmla="*/ 150 w 150"/>
                <a:gd name="T27" fmla="*/ 75 h 154"/>
                <a:gd name="T28" fmla="*/ 82 w 150"/>
                <a:gd name="T29" fmla="*/ 120 h 154"/>
                <a:gd name="T30" fmla="*/ 15 w 150"/>
                <a:gd name="T31" fmla="*/ 154 h 1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0"/>
                <a:gd name="T49" fmla="*/ 0 h 154"/>
                <a:gd name="T50" fmla="*/ 150 w 150"/>
                <a:gd name="T51" fmla="*/ 154 h 1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0" h="154">
                  <a:moveTo>
                    <a:pt x="15" y="154"/>
                  </a:moveTo>
                  <a:lnTo>
                    <a:pt x="3" y="134"/>
                  </a:lnTo>
                  <a:lnTo>
                    <a:pt x="0" y="114"/>
                  </a:lnTo>
                  <a:lnTo>
                    <a:pt x="0" y="101"/>
                  </a:lnTo>
                  <a:lnTo>
                    <a:pt x="3" y="89"/>
                  </a:lnTo>
                  <a:lnTo>
                    <a:pt x="15" y="69"/>
                  </a:lnTo>
                  <a:lnTo>
                    <a:pt x="40" y="39"/>
                  </a:lnTo>
                  <a:lnTo>
                    <a:pt x="69" y="19"/>
                  </a:lnTo>
                  <a:lnTo>
                    <a:pt x="88" y="10"/>
                  </a:lnTo>
                  <a:lnTo>
                    <a:pt x="101" y="0"/>
                  </a:lnTo>
                  <a:lnTo>
                    <a:pt x="116" y="10"/>
                  </a:lnTo>
                  <a:lnTo>
                    <a:pt x="130" y="29"/>
                  </a:lnTo>
                  <a:lnTo>
                    <a:pt x="142" y="49"/>
                  </a:lnTo>
                  <a:lnTo>
                    <a:pt x="150" y="75"/>
                  </a:lnTo>
                  <a:lnTo>
                    <a:pt x="82" y="120"/>
                  </a:lnTo>
                  <a:lnTo>
                    <a:pt x="15" y="154"/>
                  </a:lnTo>
                  <a:close/>
                </a:path>
              </a:pathLst>
            </a:custGeom>
            <a:solidFill>
              <a:srgbClr val="FFBFBF"/>
            </a:solidFill>
            <a:ln w="22225">
              <a:solidFill>
                <a:srgbClr val="000000"/>
              </a:solidFill>
              <a:round/>
              <a:headEnd/>
              <a:tailEnd/>
            </a:ln>
          </p:spPr>
          <p:txBody>
            <a:bodyPr/>
            <a:lstStyle/>
            <a:p>
              <a:endParaRPr lang="zh-CN" altLang="en-US"/>
            </a:p>
          </p:txBody>
        </p:sp>
        <p:sp>
          <p:nvSpPr>
            <p:cNvPr id="75789" name="Freeform 32"/>
            <p:cNvSpPr>
              <a:spLocks/>
            </p:cNvSpPr>
            <p:nvPr/>
          </p:nvSpPr>
          <p:spPr bwMode="auto">
            <a:xfrm>
              <a:off x="4555" y="3463"/>
              <a:ext cx="108" cy="142"/>
            </a:xfrm>
            <a:custGeom>
              <a:avLst/>
              <a:gdLst>
                <a:gd name="T0" fmla="*/ 108 w 108"/>
                <a:gd name="T1" fmla="*/ 29 h 142"/>
                <a:gd name="T2" fmla="*/ 93 w 108"/>
                <a:gd name="T3" fmla="*/ 14 h 142"/>
                <a:gd name="T4" fmla="*/ 73 w 108"/>
                <a:gd name="T5" fmla="*/ 2 h 142"/>
                <a:gd name="T6" fmla="*/ 47 w 108"/>
                <a:gd name="T7" fmla="*/ 0 h 142"/>
                <a:gd name="T8" fmla="*/ 22 w 108"/>
                <a:gd name="T9" fmla="*/ 41 h 142"/>
                <a:gd name="T10" fmla="*/ 9 w 108"/>
                <a:gd name="T11" fmla="*/ 71 h 142"/>
                <a:gd name="T12" fmla="*/ 0 w 108"/>
                <a:gd name="T13" fmla="*/ 97 h 142"/>
                <a:gd name="T14" fmla="*/ 0 w 108"/>
                <a:gd name="T15" fmla="*/ 112 h 142"/>
                <a:gd name="T16" fmla="*/ 12 w 108"/>
                <a:gd name="T17" fmla="*/ 126 h 142"/>
                <a:gd name="T18" fmla="*/ 22 w 108"/>
                <a:gd name="T19" fmla="*/ 136 h 142"/>
                <a:gd name="T20" fmla="*/ 44 w 108"/>
                <a:gd name="T21" fmla="*/ 142 h 142"/>
                <a:gd name="T22" fmla="*/ 108 w 108"/>
                <a:gd name="T23" fmla="*/ 29 h 1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142"/>
                <a:gd name="T38" fmla="*/ 108 w 108"/>
                <a:gd name="T39" fmla="*/ 142 h 1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142">
                  <a:moveTo>
                    <a:pt x="108" y="29"/>
                  </a:moveTo>
                  <a:lnTo>
                    <a:pt x="93" y="14"/>
                  </a:lnTo>
                  <a:lnTo>
                    <a:pt x="73" y="2"/>
                  </a:lnTo>
                  <a:lnTo>
                    <a:pt x="47" y="0"/>
                  </a:lnTo>
                  <a:lnTo>
                    <a:pt x="22" y="41"/>
                  </a:lnTo>
                  <a:lnTo>
                    <a:pt x="9" y="71"/>
                  </a:lnTo>
                  <a:lnTo>
                    <a:pt x="0" y="97"/>
                  </a:lnTo>
                  <a:lnTo>
                    <a:pt x="0" y="112"/>
                  </a:lnTo>
                  <a:lnTo>
                    <a:pt x="12" y="126"/>
                  </a:lnTo>
                  <a:lnTo>
                    <a:pt x="22" y="136"/>
                  </a:lnTo>
                  <a:lnTo>
                    <a:pt x="44" y="142"/>
                  </a:lnTo>
                  <a:lnTo>
                    <a:pt x="108" y="29"/>
                  </a:lnTo>
                  <a:close/>
                </a:path>
              </a:pathLst>
            </a:custGeom>
            <a:solidFill>
              <a:srgbClr val="FFBFBF"/>
            </a:solidFill>
            <a:ln w="22225">
              <a:solidFill>
                <a:srgbClr val="000000"/>
              </a:solidFill>
              <a:round/>
              <a:headEnd/>
              <a:tailEnd/>
            </a:ln>
          </p:spPr>
          <p:txBody>
            <a:bodyPr/>
            <a:lstStyle/>
            <a:p>
              <a:endParaRPr lang="zh-CN" altLang="en-US"/>
            </a:p>
          </p:txBody>
        </p:sp>
        <p:sp>
          <p:nvSpPr>
            <p:cNvPr id="75790" name="Freeform 33"/>
            <p:cNvSpPr>
              <a:spLocks/>
            </p:cNvSpPr>
            <p:nvPr/>
          </p:nvSpPr>
          <p:spPr bwMode="auto">
            <a:xfrm>
              <a:off x="4327" y="2661"/>
              <a:ext cx="135" cy="180"/>
            </a:xfrm>
            <a:custGeom>
              <a:avLst/>
              <a:gdLst>
                <a:gd name="T0" fmla="*/ 25 w 135"/>
                <a:gd name="T1" fmla="*/ 12 h 180"/>
                <a:gd name="T2" fmla="*/ 12 w 135"/>
                <a:gd name="T3" fmla="*/ 52 h 180"/>
                <a:gd name="T4" fmla="*/ 4 w 135"/>
                <a:gd name="T5" fmla="*/ 89 h 180"/>
                <a:gd name="T6" fmla="*/ 0 w 135"/>
                <a:gd name="T7" fmla="*/ 129 h 180"/>
                <a:gd name="T8" fmla="*/ 4 w 135"/>
                <a:gd name="T9" fmla="*/ 147 h 180"/>
                <a:gd name="T10" fmla="*/ 20 w 135"/>
                <a:gd name="T11" fmla="*/ 166 h 180"/>
                <a:gd name="T12" fmla="*/ 37 w 135"/>
                <a:gd name="T13" fmla="*/ 178 h 180"/>
                <a:gd name="T14" fmla="*/ 46 w 135"/>
                <a:gd name="T15" fmla="*/ 180 h 180"/>
                <a:gd name="T16" fmla="*/ 90 w 135"/>
                <a:gd name="T17" fmla="*/ 135 h 180"/>
                <a:gd name="T18" fmla="*/ 135 w 135"/>
                <a:gd name="T19" fmla="*/ 66 h 180"/>
                <a:gd name="T20" fmla="*/ 122 w 135"/>
                <a:gd name="T21" fmla="*/ 36 h 180"/>
                <a:gd name="T22" fmla="*/ 108 w 135"/>
                <a:gd name="T23" fmla="*/ 26 h 180"/>
                <a:gd name="T24" fmla="*/ 90 w 135"/>
                <a:gd name="T25" fmla="*/ 12 h 180"/>
                <a:gd name="T26" fmla="*/ 66 w 135"/>
                <a:gd name="T27" fmla="*/ 2 h 180"/>
                <a:gd name="T28" fmla="*/ 46 w 135"/>
                <a:gd name="T29" fmla="*/ 0 h 180"/>
                <a:gd name="T30" fmla="*/ 25 w 135"/>
                <a:gd name="T31" fmla="*/ 12 h 1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
                <a:gd name="T49" fmla="*/ 0 h 180"/>
                <a:gd name="T50" fmla="*/ 135 w 135"/>
                <a:gd name="T51" fmla="*/ 180 h 1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 h="180">
                  <a:moveTo>
                    <a:pt x="25" y="12"/>
                  </a:moveTo>
                  <a:lnTo>
                    <a:pt x="12" y="52"/>
                  </a:lnTo>
                  <a:lnTo>
                    <a:pt x="4" y="89"/>
                  </a:lnTo>
                  <a:lnTo>
                    <a:pt x="0" y="129"/>
                  </a:lnTo>
                  <a:lnTo>
                    <a:pt x="4" y="147"/>
                  </a:lnTo>
                  <a:lnTo>
                    <a:pt x="20" y="166"/>
                  </a:lnTo>
                  <a:lnTo>
                    <a:pt x="37" y="178"/>
                  </a:lnTo>
                  <a:lnTo>
                    <a:pt x="46" y="180"/>
                  </a:lnTo>
                  <a:lnTo>
                    <a:pt x="90" y="135"/>
                  </a:lnTo>
                  <a:lnTo>
                    <a:pt x="135" y="66"/>
                  </a:lnTo>
                  <a:lnTo>
                    <a:pt x="122" y="36"/>
                  </a:lnTo>
                  <a:lnTo>
                    <a:pt x="108" y="26"/>
                  </a:lnTo>
                  <a:lnTo>
                    <a:pt x="90" y="12"/>
                  </a:lnTo>
                  <a:lnTo>
                    <a:pt x="66" y="2"/>
                  </a:lnTo>
                  <a:lnTo>
                    <a:pt x="46" y="0"/>
                  </a:lnTo>
                  <a:lnTo>
                    <a:pt x="25" y="12"/>
                  </a:lnTo>
                  <a:close/>
                </a:path>
              </a:pathLst>
            </a:custGeom>
            <a:solidFill>
              <a:srgbClr val="FFBFBF"/>
            </a:solidFill>
            <a:ln w="22225">
              <a:solidFill>
                <a:srgbClr val="000000"/>
              </a:solidFill>
              <a:round/>
              <a:headEnd/>
              <a:tailEnd/>
            </a:ln>
          </p:spPr>
          <p:txBody>
            <a:bodyPr/>
            <a:lstStyle/>
            <a:p>
              <a:endParaRPr lang="zh-CN" altLang="en-US"/>
            </a:p>
          </p:txBody>
        </p:sp>
        <p:sp>
          <p:nvSpPr>
            <p:cNvPr id="75791" name="Freeform 34"/>
            <p:cNvSpPr>
              <a:spLocks/>
            </p:cNvSpPr>
            <p:nvPr/>
          </p:nvSpPr>
          <p:spPr bwMode="auto">
            <a:xfrm>
              <a:off x="4491" y="2487"/>
              <a:ext cx="81" cy="63"/>
            </a:xfrm>
            <a:custGeom>
              <a:avLst/>
              <a:gdLst>
                <a:gd name="T0" fmla="*/ 81 w 81"/>
                <a:gd name="T1" fmla="*/ 63 h 63"/>
                <a:gd name="T2" fmla="*/ 64 w 81"/>
                <a:gd name="T3" fmla="*/ 40 h 63"/>
                <a:gd name="T4" fmla="*/ 42 w 81"/>
                <a:gd name="T5" fmla="*/ 20 h 63"/>
                <a:gd name="T6" fmla="*/ 22 w 81"/>
                <a:gd name="T7" fmla="*/ 6 h 63"/>
                <a:gd name="T8" fmla="*/ 0 w 81"/>
                <a:gd name="T9" fmla="*/ 0 h 63"/>
                <a:gd name="T10" fmla="*/ 0 60000 65536"/>
                <a:gd name="T11" fmla="*/ 0 60000 65536"/>
                <a:gd name="T12" fmla="*/ 0 60000 65536"/>
                <a:gd name="T13" fmla="*/ 0 60000 65536"/>
                <a:gd name="T14" fmla="*/ 0 60000 65536"/>
                <a:gd name="T15" fmla="*/ 0 w 81"/>
                <a:gd name="T16" fmla="*/ 0 h 63"/>
                <a:gd name="T17" fmla="*/ 81 w 81"/>
                <a:gd name="T18" fmla="*/ 63 h 63"/>
              </a:gdLst>
              <a:ahLst/>
              <a:cxnLst>
                <a:cxn ang="T10">
                  <a:pos x="T0" y="T1"/>
                </a:cxn>
                <a:cxn ang="T11">
                  <a:pos x="T2" y="T3"/>
                </a:cxn>
                <a:cxn ang="T12">
                  <a:pos x="T4" y="T5"/>
                </a:cxn>
                <a:cxn ang="T13">
                  <a:pos x="T6" y="T7"/>
                </a:cxn>
                <a:cxn ang="T14">
                  <a:pos x="T8" y="T9"/>
                </a:cxn>
              </a:cxnLst>
              <a:rect l="T15" t="T16" r="T17" b="T18"/>
              <a:pathLst>
                <a:path w="81" h="63">
                  <a:moveTo>
                    <a:pt x="81" y="63"/>
                  </a:moveTo>
                  <a:lnTo>
                    <a:pt x="64" y="40"/>
                  </a:lnTo>
                  <a:lnTo>
                    <a:pt x="42" y="20"/>
                  </a:lnTo>
                  <a:lnTo>
                    <a:pt x="22" y="6"/>
                  </a:lnTo>
                  <a:lnTo>
                    <a:pt x="0"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2" name="Freeform 35"/>
            <p:cNvSpPr>
              <a:spLocks/>
            </p:cNvSpPr>
            <p:nvPr/>
          </p:nvSpPr>
          <p:spPr bwMode="auto">
            <a:xfrm>
              <a:off x="4611" y="2303"/>
              <a:ext cx="79" cy="63"/>
            </a:xfrm>
            <a:custGeom>
              <a:avLst/>
              <a:gdLst>
                <a:gd name="T0" fmla="*/ 79 w 79"/>
                <a:gd name="T1" fmla="*/ 63 h 63"/>
                <a:gd name="T2" fmla="*/ 59 w 79"/>
                <a:gd name="T3" fmla="*/ 38 h 63"/>
                <a:gd name="T4" fmla="*/ 39 w 79"/>
                <a:gd name="T5" fmla="*/ 18 h 63"/>
                <a:gd name="T6" fmla="*/ 12 w 79"/>
                <a:gd name="T7" fmla="*/ 6 h 63"/>
                <a:gd name="T8" fmla="*/ 0 w 79"/>
                <a:gd name="T9" fmla="*/ 0 h 63"/>
                <a:gd name="T10" fmla="*/ 0 60000 65536"/>
                <a:gd name="T11" fmla="*/ 0 60000 65536"/>
                <a:gd name="T12" fmla="*/ 0 60000 65536"/>
                <a:gd name="T13" fmla="*/ 0 60000 65536"/>
                <a:gd name="T14" fmla="*/ 0 60000 65536"/>
                <a:gd name="T15" fmla="*/ 0 w 79"/>
                <a:gd name="T16" fmla="*/ 0 h 63"/>
                <a:gd name="T17" fmla="*/ 79 w 79"/>
                <a:gd name="T18" fmla="*/ 63 h 63"/>
              </a:gdLst>
              <a:ahLst/>
              <a:cxnLst>
                <a:cxn ang="T10">
                  <a:pos x="T0" y="T1"/>
                </a:cxn>
                <a:cxn ang="T11">
                  <a:pos x="T2" y="T3"/>
                </a:cxn>
                <a:cxn ang="T12">
                  <a:pos x="T4" y="T5"/>
                </a:cxn>
                <a:cxn ang="T13">
                  <a:pos x="T6" y="T7"/>
                </a:cxn>
                <a:cxn ang="T14">
                  <a:pos x="T8" y="T9"/>
                </a:cxn>
              </a:cxnLst>
              <a:rect l="T15" t="T16" r="T17" b="T18"/>
              <a:pathLst>
                <a:path w="79" h="63">
                  <a:moveTo>
                    <a:pt x="79" y="63"/>
                  </a:moveTo>
                  <a:lnTo>
                    <a:pt x="59" y="38"/>
                  </a:lnTo>
                  <a:lnTo>
                    <a:pt x="39" y="18"/>
                  </a:lnTo>
                  <a:lnTo>
                    <a:pt x="12" y="6"/>
                  </a:lnTo>
                  <a:lnTo>
                    <a:pt x="0"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3" name="Freeform 36"/>
            <p:cNvSpPr>
              <a:spLocks/>
            </p:cNvSpPr>
            <p:nvPr/>
          </p:nvSpPr>
          <p:spPr bwMode="auto">
            <a:xfrm>
              <a:off x="4651" y="2281"/>
              <a:ext cx="44" cy="72"/>
            </a:xfrm>
            <a:custGeom>
              <a:avLst/>
              <a:gdLst>
                <a:gd name="T0" fmla="*/ 44 w 44"/>
                <a:gd name="T1" fmla="*/ 72 h 72"/>
                <a:gd name="T2" fmla="*/ 27 w 44"/>
                <a:gd name="T3" fmla="*/ 38 h 72"/>
                <a:gd name="T4" fmla="*/ 14 w 44"/>
                <a:gd name="T5" fmla="*/ 16 h 72"/>
                <a:gd name="T6" fmla="*/ 0 w 44"/>
                <a:gd name="T7" fmla="*/ 0 h 72"/>
                <a:gd name="T8" fmla="*/ 0 60000 65536"/>
                <a:gd name="T9" fmla="*/ 0 60000 65536"/>
                <a:gd name="T10" fmla="*/ 0 60000 65536"/>
                <a:gd name="T11" fmla="*/ 0 60000 65536"/>
                <a:gd name="T12" fmla="*/ 0 w 44"/>
                <a:gd name="T13" fmla="*/ 0 h 72"/>
                <a:gd name="T14" fmla="*/ 44 w 44"/>
                <a:gd name="T15" fmla="*/ 72 h 72"/>
              </a:gdLst>
              <a:ahLst/>
              <a:cxnLst>
                <a:cxn ang="T8">
                  <a:pos x="T0" y="T1"/>
                </a:cxn>
                <a:cxn ang="T9">
                  <a:pos x="T2" y="T3"/>
                </a:cxn>
                <a:cxn ang="T10">
                  <a:pos x="T4" y="T5"/>
                </a:cxn>
                <a:cxn ang="T11">
                  <a:pos x="T6" y="T7"/>
                </a:cxn>
              </a:cxnLst>
              <a:rect l="T12" t="T13" r="T14" b="T15"/>
              <a:pathLst>
                <a:path w="44" h="72">
                  <a:moveTo>
                    <a:pt x="44" y="72"/>
                  </a:moveTo>
                  <a:lnTo>
                    <a:pt x="27" y="38"/>
                  </a:lnTo>
                  <a:lnTo>
                    <a:pt x="14" y="16"/>
                  </a:lnTo>
                  <a:lnTo>
                    <a:pt x="0"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4" name="Freeform 37"/>
            <p:cNvSpPr>
              <a:spLocks/>
            </p:cNvSpPr>
            <p:nvPr/>
          </p:nvSpPr>
          <p:spPr bwMode="auto">
            <a:xfrm>
              <a:off x="5241" y="1555"/>
              <a:ext cx="152" cy="141"/>
            </a:xfrm>
            <a:custGeom>
              <a:avLst/>
              <a:gdLst>
                <a:gd name="T0" fmla="*/ 0 w 152"/>
                <a:gd name="T1" fmla="*/ 141 h 141"/>
                <a:gd name="T2" fmla="*/ 76 w 152"/>
                <a:gd name="T3" fmla="*/ 40 h 141"/>
                <a:gd name="T4" fmla="*/ 152 w 152"/>
                <a:gd name="T5" fmla="*/ 0 h 141"/>
                <a:gd name="T6" fmla="*/ 0 60000 65536"/>
                <a:gd name="T7" fmla="*/ 0 60000 65536"/>
                <a:gd name="T8" fmla="*/ 0 60000 65536"/>
                <a:gd name="T9" fmla="*/ 0 w 152"/>
                <a:gd name="T10" fmla="*/ 0 h 141"/>
                <a:gd name="T11" fmla="*/ 152 w 152"/>
                <a:gd name="T12" fmla="*/ 141 h 141"/>
              </a:gdLst>
              <a:ahLst/>
              <a:cxnLst>
                <a:cxn ang="T6">
                  <a:pos x="T0" y="T1"/>
                </a:cxn>
                <a:cxn ang="T7">
                  <a:pos x="T2" y="T3"/>
                </a:cxn>
                <a:cxn ang="T8">
                  <a:pos x="T4" y="T5"/>
                </a:cxn>
              </a:cxnLst>
              <a:rect l="T9" t="T10" r="T11" b="T12"/>
              <a:pathLst>
                <a:path w="152" h="141">
                  <a:moveTo>
                    <a:pt x="0" y="141"/>
                  </a:moveTo>
                  <a:lnTo>
                    <a:pt x="76" y="40"/>
                  </a:lnTo>
                  <a:lnTo>
                    <a:pt x="152"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5" name="Freeform 38"/>
            <p:cNvSpPr>
              <a:spLocks/>
            </p:cNvSpPr>
            <p:nvPr/>
          </p:nvSpPr>
          <p:spPr bwMode="auto">
            <a:xfrm>
              <a:off x="4689" y="3296"/>
              <a:ext cx="47" cy="44"/>
            </a:xfrm>
            <a:custGeom>
              <a:avLst/>
              <a:gdLst>
                <a:gd name="T0" fmla="*/ 47 w 47"/>
                <a:gd name="T1" fmla="*/ 44 h 44"/>
                <a:gd name="T2" fmla="*/ 25 w 47"/>
                <a:gd name="T3" fmla="*/ 14 h 44"/>
                <a:gd name="T4" fmla="*/ 0 w 47"/>
                <a:gd name="T5" fmla="*/ 0 h 44"/>
                <a:gd name="T6" fmla="*/ 0 60000 65536"/>
                <a:gd name="T7" fmla="*/ 0 60000 65536"/>
                <a:gd name="T8" fmla="*/ 0 60000 65536"/>
                <a:gd name="T9" fmla="*/ 0 w 47"/>
                <a:gd name="T10" fmla="*/ 0 h 44"/>
                <a:gd name="T11" fmla="*/ 47 w 47"/>
                <a:gd name="T12" fmla="*/ 44 h 44"/>
              </a:gdLst>
              <a:ahLst/>
              <a:cxnLst>
                <a:cxn ang="T6">
                  <a:pos x="T0" y="T1"/>
                </a:cxn>
                <a:cxn ang="T7">
                  <a:pos x="T2" y="T3"/>
                </a:cxn>
                <a:cxn ang="T8">
                  <a:pos x="T4" y="T5"/>
                </a:cxn>
              </a:cxnLst>
              <a:rect l="T9" t="T10" r="T11" b="T12"/>
              <a:pathLst>
                <a:path w="47" h="44">
                  <a:moveTo>
                    <a:pt x="47" y="44"/>
                  </a:moveTo>
                  <a:lnTo>
                    <a:pt x="25" y="14"/>
                  </a:lnTo>
                  <a:lnTo>
                    <a:pt x="0"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6" name="Freeform 39"/>
            <p:cNvSpPr>
              <a:spLocks/>
            </p:cNvSpPr>
            <p:nvPr/>
          </p:nvSpPr>
          <p:spPr bwMode="auto">
            <a:xfrm>
              <a:off x="4616" y="2881"/>
              <a:ext cx="64" cy="71"/>
            </a:xfrm>
            <a:custGeom>
              <a:avLst/>
              <a:gdLst>
                <a:gd name="T0" fmla="*/ 64 w 64"/>
                <a:gd name="T1" fmla="*/ 71 h 71"/>
                <a:gd name="T2" fmla="*/ 44 w 64"/>
                <a:gd name="T3" fmla="*/ 41 h 71"/>
                <a:gd name="T4" fmla="*/ 19 w 64"/>
                <a:gd name="T5" fmla="*/ 16 h 71"/>
                <a:gd name="T6" fmla="*/ 0 w 64"/>
                <a:gd name="T7" fmla="*/ 0 h 71"/>
                <a:gd name="T8" fmla="*/ 0 60000 65536"/>
                <a:gd name="T9" fmla="*/ 0 60000 65536"/>
                <a:gd name="T10" fmla="*/ 0 60000 65536"/>
                <a:gd name="T11" fmla="*/ 0 60000 65536"/>
                <a:gd name="T12" fmla="*/ 0 w 64"/>
                <a:gd name="T13" fmla="*/ 0 h 71"/>
                <a:gd name="T14" fmla="*/ 64 w 64"/>
                <a:gd name="T15" fmla="*/ 71 h 71"/>
              </a:gdLst>
              <a:ahLst/>
              <a:cxnLst>
                <a:cxn ang="T8">
                  <a:pos x="T0" y="T1"/>
                </a:cxn>
                <a:cxn ang="T9">
                  <a:pos x="T2" y="T3"/>
                </a:cxn>
                <a:cxn ang="T10">
                  <a:pos x="T4" y="T5"/>
                </a:cxn>
                <a:cxn ang="T11">
                  <a:pos x="T6" y="T7"/>
                </a:cxn>
              </a:cxnLst>
              <a:rect l="T12" t="T13" r="T14" b="T15"/>
              <a:pathLst>
                <a:path w="64" h="71">
                  <a:moveTo>
                    <a:pt x="64" y="71"/>
                  </a:moveTo>
                  <a:lnTo>
                    <a:pt x="44" y="41"/>
                  </a:lnTo>
                  <a:lnTo>
                    <a:pt x="19" y="16"/>
                  </a:lnTo>
                  <a:lnTo>
                    <a:pt x="0"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7" name="Freeform 40"/>
            <p:cNvSpPr>
              <a:spLocks/>
            </p:cNvSpPr>
            <p:nvPr/>
          </p:nvSpPr>
          <p:spPr bwMode="auto">
            <a:xfrm>
              <a:off x="4332" y="3251"/>
              <a:ext cx="48" cy="65"/>
            </a:xfrm>
            <a:custGeom>
              <a:avLst/>
              <a:gdLst>
                <a:gd name="T0" fmla="*/ 48 w 48"/>
                <a:gd name="T1" fmla="*/ 65 h 65"/>
                <a:gd name="T2" fmla="*/ 26 w 48"/>
                <a:gd name="T3" fmla="*/ 30 h 65"/>
                <a:gd name="T4" fmla="*/ 0 w 48"/>
                <a:gd name="T5" fmla="*/ 0 h 65"/>
                <a:gd name="T6" fmla="*/ 0 60000 65536"/>
                <a:gd name="T7" fmla="*/ 0 60000 65536"/>
                <a:gd name="T8" fmla="*/ 0 60000 65536"/>
                <a:gd name="T9" fmla="*/ 0 w 48"/>
                <a:gd name="T10" fmla="*/ 0 h 65"/>
                <a:gd name="T11" fmla="*/ 48 w 48"/>
                <a:gd name="T12" fmla="*/ 65 h 65"/>
              </a:gdLst>
              <a:ahLst/>
              <a:cxnLst>
                <a:cxn ang="T6">
                  <a:pos x="T0" y="T1"/>
                </a:cxn>
                <a:cxn ang="T7">
                  <a:pos x="T2" y="T3"/>
                </a:cxn>
                <a:cxn ang="T8">
                  <a:pos x="T4" y="T5"/>
                </a:cxn>
              </a:cxnLst>
              <a:rect l="T9" t="T10" r="T11" b="T12"/>
              <a:pathLst>
                <a:path w="48" h="65">
                  <a:moveTo>
                    <a:pt x="48" y="65"/>
                  </a:moveTo>
                  <a:lnTo>
                    <a:pt x="26" y="30"/>
                  </a:lnTo>
                  <a:lnTo>
                    <a:pt x="0" y="0"/>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p:fade thruBlk="1"/>
  </p:transition>
</p:sld>
</file>

<file path=ppt/tags/tag1.xml><?xml version="1.0" encoding="utf-8"?>
<p:tagLst xmlns:a="http://schemas.openxmlformats.org/drawingml/2006/main" xmlns:r="http://schemas.openxmlformats.org/officeDocument/2006/relationships" xmlns:p="http://schemas.openxmlformats.org/presentationml/2006/main">
  <p:tag name="TIMING" val="|53.8|6.8|42"/>
</p:tagLst>
</file>

<file path=ppt/tags/tag2.xml><?xml version="1.0" encoding="utf-8"?>
<p:tagLst xmlns:a="http://schemas.openxmlformats.org/drawingml/2006/main" xmlns:r="http://schemas.openxmlformats.org/officeDocument/2006/relationships" xmlns:p="http://schemas.openxmlformats.org/presentationml/2006/main">
  <p:tag name="TIMING" val="|63.8|1.8|35.6|40.9|17.7|8.9"/>
</p:tagLst>
</file>

<file path=ppt/theme/theme1.xml><?xml version="1.0" encoding="utf-8"?>
<a:theme xmlns:a="http://schemas.openxmlformats.org/drawingml/2006/main" name="Borland">
  <a:themeElements>
    <a:clrScheme name="">
      <a:dk1>
        <a:srgbClr val="000000"/>
      </a:dk1>
      <a:lt1>
        <a:srgbClr val="FFFFFF"/>
      </a:lt1>
      <a:dk2>
        <a:srgbClr val="000000"/>
      </a:dk2>
      <a:lt2>
        <a:srgbClr val="000000"/>
      </a:lt2>
      <a:accent1>
        <a:srgbClr val="7283CA"/>
      </a:accent1>
      <a:accent2>
        <a:srgbClr val="F3E685"/>
      </a:accent2>
      <a:accent3>
        <a:srgbClr val="FFFFFF"/>
      </a:accent3>
      <a:accent4>
        <a:srgbClr val="000000"/>
      </a:accent4>
      <a:accent5>
        <a:srgbClr val="BCC1E1"/>
      </a:accent5>
      <a:accent6>
        <a:srgbClr val="DCD078"/>
      </a:accent6>
      <a:hlink>
        <a:srgbClr val="499FBD"/>
      </a:hlink>
      <a:folHlink>
        <a:srgbClr val="B9555A"/>
      </a:folHlink>
    </a:clrScheme>
    <a:fontScheme name="Borland">
      <a:majorFont>
        <a:latin typeface="Arial"/>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triangle" w="lg" len="lg"/>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triangle" w="lg" len="lg"/>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Borlan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orlan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orlan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orlan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orlan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orlan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orlan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Office\Templates\Borland.pot</Template>
  <TotalTime>9540</TotalTime>
  <Pages>26</Pages>
  <Words>5772</Words>
  <Application>Microsoft Office PowerPoint</Application>
  <PresentationFormat>A4 纸张(210x297 毫米)</PresentationFormat>
  <Paragraphs>929</Paragraphs>
  <Slides>78</Slides>
  <Notes>69</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78</vt:i4>
      </vt:variant>
    </vt:vector>
  </HeadingPairs>
  <TitlesOfParts>
    <vt:vector size="99" baseType="lpstr">
      <vt:lpstr>PMingLiU</vt:lpstr>
      <vt:lpstr>黑体</vt:lpstr>
      <vt:lpstr>华文彩云</vt:lpstr>
      <vt:lpstr>华文新魏</vt:lpstr>
      <vt:lpstr>華康儷簡宋</vt:lpstr>
      <vt:lpstr>楷体_GB2312</vt:lpstr>
      <vt:lpstr>隶书</vt:lpstr>
      <vt:lpstr>宋体</vt:lpstr>
      <vt:lpstr>Arial</vt:lpstr>
      <vt:lpstr>Arial Black</vt:lpstr>
      <vt:lpstr>Arial Narrow</vt:lpstr>
      <vt:lpstr>Symbol</vt:lpstr>
      <vt:lpstr>Times New Roman</vt:lpstr>
      <vt:lpstr>Wingdings</vt:lpstr>
      <vt:lpstr>Wingdings 3</vt:lpstr>
      <vt:lpstr>Borland</vt:lpstr>
      <vt:lpstr>剪辑</vt:lpstr>
      <vt:lpstr>Equation</vt:lpstr>
      <vt:lpstr>公式</vt:lpstr>
      <vt:lpstr>Microsoft 公式 3.0</vt:lpstr>
      <vt:lpstr>MathType 6.0 Equation</vt:lpstr>
      <vt:lpstr>第一章  数值计算中的误差</vt:lpstr>
      <vt:lpstr>本章内容</vt:lpstr>
      <vt:lpstr>§2  舍入方法 与有效数字</vt:lpstr>
      <vt:lpstr>2.1   绝对误差与相对误差</vt:lpstr>
      <vt:lpstr>2.1   绝对误差与相对误差</vt:lpstr>
      <vt:lpstr>2.1   绝对误差与相对误差</vt:lpstr>
      <vt:lpstr>2.1   绝对误差与相对误差</vt:lpstr>
      <vt:lpstr>2.2 舍入方法</vt:lpstr>
      <vt:lpstr>2.2.2   四舍五入法</vt:lpstr>
      <vt:lpstr>2.2.2   四舍五入法</vt:lpstr>
      <vt:lpstr>2.2.2   四舍五入法</vt:lpstr>
      <vt:lpstr>2.3   有效数字 </vt:lpstr>
      <vt:lpstr>2.3   有效数字 </vt:lpstr>
      <vt:lpstr>2.3   有效数字</vt:lpstr>
      <vt:lpstr>§3  算术运算中的误差</vt:lpstr>
      <vt:lpstr>§3  算术运算中的误差</vt:lpstr>
      <vt:lpstr>3.1   加减运算</vt:lpstr>
      <vt:lpstr>3.1   加减运算</vt:lpstr>
      <vt:lpstr>3.1   加减运算</vt:lpstr>
      <vt:lpstr>3.1   加减运算</vt:lpstr>
      <vt:lpstr>3.2   乘积运算</vt:lpstr>
      <vt:lpstr>3.3   商运算</vt:lpstr>
      <vt:lpstr>3.3   商运算</vt:lpstr>
      <vt:lpstr>3.4  运算时需要注意的地方</vt:lpstr>
      <vt:lpstr>3.4  运算时需要注意的地方</vt:lpstr>
      <vt:lpstr>PowerPoint 演示文稿</vt:lpstr>
      <vt:lpstr>PowerPoint 演示文稿</vt:lpstr>
      <vt:lpstr>3.4  运算时需要注意的地方</vt:lpstr>
      <vt:lpstr>3.4  运算时需要注意的地方</vt:lpstr>
      <vt:lpstr>PowerPoint 演示文稿</vt:lpstr>
      <vt:lpstr>3.4  运算时需要注意的地方</vt:lpstr>
      <vt:lpstr>3.4  运算时需要注意的地方</vt:lpstr>
      <vt:lpstr>3.4  运算时需要注意的地方</vt:lpstr>
      <vt:lpstr>3.5 数学问题解的误差估计</vt:lpstr>
      <vt:lpstr>3.5 数学问题解的误差估计</vt:lpstr>
      <vt:lpstr>3.5  数学问题解的误差估计</vt:lpstr>
      <vt:lpstr>§4  算法举例</vt:lpstr>
      <vt:lpstr>§4  算法举例</vt:lpstr>
      <vt:lpstr>§4  算法举例</vt:lpstr>
      <vt:lpstr>§4  算法举例</vt:lpstr>
      <vt:lpstr>§4  算法举例</vt:lpstr>
      <vt:lpstr>第一章 典型例题1</vt:lpstr>
      <vt:lpstr>§4  算法举例</vt:lpstr>
      <vt:lpstr>§4  算法举例</vt:lpstr>
      <vt:lpstr>§4  算法举例</vt:lpstr>
      <vt:lpstr>PowerPoint 演示文稿</vt:lpstr>
      <vt:lpstr>§5  数值计算中的误差</vt:lpstr>
      <vt:lpstr>数值方法解题的一般过程</vt:lpstr>
      <vt:lpstr>§5  数值计算中的误差</vt:lpstr>
      <vt:lpstr>5.1.1  模型误差</vt:lpstr>
      <vt:lpstr>5.1.2  观测误差</vt:lpstr>
      <vt:lpstr>5.1.3  截断误差</vt:lpstr>
      <vt:lpstr>5.1.4  舍入误差</vt:lpstr>
      <vt:lpstr>5.2  模型与解</vt:lpstr>
      <vt:lpstr>5.3  数学问题的适定性</vt:lpstr>
      <vt:lpstr>5.3  数学问题的适定性</vt:lpstr>
      <vt:lpstr>5.3  数学问题的适定性</vt:lpstr>
      <vt:lpstr>蝴蝶效应的来历</vt:lpstr>
      <vt:lpstr>蝴蝶效应的来历</vt:lpstr>
      <vt:lpstr>蝴蝶效应</vt:lpstr>
      <vt:lpstr>5.3  数学问题的适定性</vt:lpstr>
      <vt:lpstr>5.3  数学问题的适定性</vt:lpstr>
      <vt:lpstr>5.3  数学问题的适定性</vt:lpstr>
      <vt:lpstr>5.3  数学问题的适定性</vt:lpstr>
      <vt:lpstr>§6  误差分配原则      与处理方法</vt:lpstr>
      <vt:lpstr>6.1  误差配置原理</vt:lpstr>
      <vt:lpstr>6.2  误差配置的处理方法</vt:lpstr>
      <vt:lpstr>6.2  误差配置的处理方法</vt:lpstr>
      <vt:lpstr>6.2  误差配置的处理方法</vt:lpstr>
      <vt:lpstr>6.2  误差配置的处理方法</vt:lpstr>
      <vt:lpstr>6.2  误差配置的处理方法</vt:lpstr>
      <vt:lpstr>6.2  误差配置的处理方法</vt:lpstr>
      <vt:lpstr>6.2  误差配置的处理方法</vt:lpstr>
      <vt:lpstr>总  结</vt:lpstr>
      <vt:lpstr>小结</vt:lpstr>
      <vt:lpstr>总  结</vt:lpstr>
      <vt:lpstr>总  结</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数值计算中的误差</dc:title>
  <dc:creator>sunxin</dc:creator>
  <cp:lastModifiedBy>apple</cp:lastModifiedBy>
  <cp:revision>1857</cp:revision>
  <cp:lastPrinted>1998-03-12T04:44:47Z</cp:lastPrinted>
  <dcterms:created xsi:type="dcterms:W3CDTF">2001-07-02T15:09:48Z</dcterms:created>
  <dcterms:modified xsi:type="dcterms:W3CDTF">2024-09-08T15:34:16Z</dcterms:modified>
</cp:coreProperties>
</file>