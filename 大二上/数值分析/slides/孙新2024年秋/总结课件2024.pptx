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8.xml" ContentType="application/vnd.openxmlformats-officedocument.presentationml.notesSlide+xml"/>
  <Override PartName="/ppt/tags/tag1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3.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71"/>
  </p:notesMasterIdLst>
  <p:handoutMasterIdLst>
    <p:handoutMasterId r:id="rId72"/>
  </p:handoutMasterIdLst>
  <p:sldIdLst>
    <p:sldId id="676" r:id="rId2"/>
    <p:sldId id="842" r:id="rId3"/>
    <p:sldId id="892" r:id="rId4"/>
    <p:sldId id="670" r:id="rId5"/>
    <p:sldId id="616" r:id="rId6"/>
    <p:sldId id="623" r:id="rId7"/>
    <p:sldId id="731" r:id="rId8"/>
    <p:sldId id="729" r:id="rId9"/>
    <p:sldId id="621" r:id="rId10"/>
    <p:sldId id="682" r:id="rId11"/>
    <p:sldId id="531" r:id="rId12"/>
    <p:sldId id="819" r:id="rId13"/>
    <p:sldId id="640" r:id="rId14"/>
    <p:sldId id="826" r:id="rId15"/>
    <p:sldId id="827" r:id="rId16"/>
    <p:sldId id="553" r:id="rId17"/>
    <p:sldId id="650" r:id="rId18"/>
    <p:sldId id="656" r:id="rId19"/>
    <p:sldId id="828" r:id="rId20"/>
    <p:sldId id="665" r:id="rId21"/>
    <p:sldId id="753" r:id="rId22"/>
    <p:sldId id="843" r:id="rId23"/>
    <p:sldId id="844" r:id="rId24"/>
    <p:sldId id="845" r:id="rId25"/>
    <p:sldId id="846" r:id="rId26"/>
    <p:sldId id="847" r:id="rId27"/>
    <p:sldId id="848" r:id="rId28"/>
    <p:sldId id="849" r:id="rId29"/>
    <p:sldId id="850" r:id="rId30"/>
    <p:sldId id="851" r:id="rId31"/>
    <p:sldId id="852" r:id="rId32"/>
    <p:sldId id="853" r:id="rId33"/>
    <p:sldId id="854" r:id="rId34"/>
    <p:sldId id="855" r:id="rId35"/>
    <p:sldId id="856" r:id="rId36"/>
    <p:sldId id="857" r:id="rId37"/>
    <p:sldId id="858" r:id="rId38"/>
    <p:sldId id="859" r:id="rId39"/>
    <p:sldId id="860" r:id="rId40"/>
    <p:sldId id="861" r:id="rId41"/>
    <p:sldId id="862" r:id="rId42"/>
    <p:sldId id="863" r:id="rId43"/>
    <p:sldId id="864" r:id="rId44"/>
    <p:sldId id="865" r:id="rId45"/>
    <p:sldId id="866" r:id="rId46"/>
    <p:sldId id="867" r:id="rId47"/>
    <p:sldId id="868" r:id="rId48"/>
    <p:sldId id="869" r:id="rId49"/>
    <p:sldId id="871" r:id="rId50"/>
    <p:sldId id="872" r:id="rId51"/>
    <p:sldId id="873" r:id="rId52"/>
    <p:sldId id="874" r:id="rId53"/>
    <p:sldId id="875" r:id="rId54"/>
    <p:sldId id="876" r:id="rId55"/>
    <p:sldId id="877" r:id="rId56"/>
    <p:sldId id="878" r:id="rId57"/>
    <p:sldId id="879" r:id="rId58"/>
    <p:sldId id="880" r:id="rId59"/>
    <p:sldId id="881" r:id="rId60"/>
    <p:sldId id="882" r:id="rId61"/>
    <p:sldId id="883" r:id="rId62"/>
    <p:sldId id="884" r:id="rId63"/>
    <p:sldId id="885" r:id="rId64"/>
    <p:sldId id="886" r:id="rId65"/>
    <p:sldId id="887" r:id="rId66"/>
    <p:sldId id="890" r:id="rId67"/>
    <p:sldId id="891" r:id="rId68"/>
    <p:sldId id="888" r:id="rId69"/>
    <p:sldId id="893" r:id="rId70"/>
  </p:sldIdLst>
  <p:sldSz cx="9906000" cy="6858000" type="A4"/>
  <p:notesSz cx="9923463" cy="6856413"/>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1pPr>
    <a:lvl2pPr marL="457200" algn="ctr"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2pPr>
    <a:lvl3pPr marL="914400" algn="ctr"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3pPr>
    <a:lvl4pPr marL="1371600" algn="ctr"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4pPr>
    <a:lvl5pPr marL="1828800" algn="ctr"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5pPr>
    <a:lvl6pPr marL="2286000" algn="l" defTabSz="914400" rtl="0" eaLnBrk="1" latinLnBrk="0" hangingPunct="1">
      <a:defRPr sz="3200" b="1" kern="1200">
        <a:solidFill>
          <a:schemeClr val="tx1"/>
        </a:solidFill>
        <a:latin typeface="Times New Roman" pitchFamily="18" charset="0"/>
        <a:ea typeface="宋体" pitchFamily="2" charset="-122"/>
        <a:cs typeface="+mn-cs"/>
      </a:defRPr>
    </a:lvl6pPr>
    <a:lvl7pPr marL="2743200" algn="l" defTabSz="914400" rtl="0" eaLnBrk="1" latinLnBrk="0" hangingPunct="1">
      <a:defRPr sz="3200" b="1" kern="1200">
        <a:solidFill>
          <a:schemeClr val="tx1"/>
        </a:solidFill>
        <a:latin typeface="Times New Roman" pitchFamily="18" charset="0"/>
        <a:ea typeface="宋体" pitchFamily="2" charset="-122"/>
        <a:cs typeface="+mn-cs"/>
      </a:defRPr>
    </a:lvl7pPr>
    <a:lvl8pPr marL="3200400" algn="l" defTabSz="914400" rtl="0" eaLnBrk="1" latinLnBrk="0" hangingPunct="1">
      <a:defRPr sz="3200" b="1" kern="1200">
        <a:solidFill>
          <a:schemeClr val="tx1"/>
        </a:solidFill>
        <a:latin typeface="Times New Roman" pitchFamily="18" charset="0"/>
        <a:ea typeface="宋体" pitchFamily="2" charset="-122"/>
        <a:cs typeface="+mn-cs"/>
      </a:defRPr>
    </a:lvl8pPr>
    <a:lvl9pPr marL="3657600" algn="l" defTabSz="914400" rtl="0" eaLnBrk="1" latinLnBrk="0" hangingPunct="1">
      <a:defRPr sz="32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160">
          <p15:clr>
            <a:srgbClr val="A4A3A4"/>
          </p15:clr>
        </p15:guide>
        <p15:guide id="2" pos="31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376C"/>
    <a:srgbClr val="CDD2ED"/>
    <a:srgbClr val="D3D8EF"/>
    <a:srgbClr val="B5BEE3"/>
    <a:srgbClr val="969696"/>
    <a:srgbClr val="777777"/>
    <a:srgbClr val="FF00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0" autoAdjust="0"/>
    <p:restoredTop sz="94704" autoAdjust="0"/>
  </p:normalViewPr>
  <p:slideViewPr>
    <p:cSldViewPr>
      <p:cViewPr varScale="1">
        <p:scale>
          <a:sx n="85" d="100"/>
          <a:sy n="85" d="100"/>
        </p:scale>
        <p:origin x="816" y="55"/>
      </p:cViewPr>
      <p:guideLst>
        <p:guide orient="horz" pos="2160"/>
        <p:guide pos="312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19999"/>
    </p:cViewPr>
  </p:sorterViewPr>
  <p:notesViewPr>
    <p:cSldViewPr>
      <p:cViewPr varScale="1">
        <p:scale>
          <a:sx n="77" d="100"/>
          <a:sy n="77" d="100"/>
        </p:scale>
        <p:origin x="-660" y="-84"/>
      </p:cViewPr>
      <p:guideLst>
        <p:guide orient="horz" pos="2160"/>
        <p:guide pos="31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2755900" y="6511925"/>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r>
              <a:rPr lang="en-US" altLang="en-US" sz="1200" b="0">
                <a:latin typeface="Arial" pitchFamily="34" charset="0"/>
              </a:rPr>
              <a:t>Borland</a:t>
            </a:r>
          </a:p>
        </p:txBody>
      </p:sp>
      <p:sp>
        <p:nvSpPr>
          <p:cNvPr id="3075" name="Rectangle 3"/>
          <p:cNvSpPr>
            <a:spLocks noChangeArrowheads="1"/>
          </p:cNvSpPr>
          <p:nvPr/>
        </p:nvSpPr>
        <p:spPr bwMode="auto">
          <a:xfrm>
            <a:off x="5272088" y="6429375"/>
            <a:ext cx="4300537"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p>
            <a:pPr algn="r"/>
            <a:fld id="{9D1854D1-3C26-43DE-8184-D53DD58482C6}" type="slidenum">
              <a:rPr lang="zh-CN" altLang="en-US" sz="1200" b="0">
                <a:latin typeface="Arial" pitchFamily="34" charset="0"/>
              </a:rPr>
              <a:pPr algn="r"/>
              <a:t>‹#›</a:t>
            </a:fld>
            <a:endParaRPr lang="en-US" altLang="zh-CN" sz="1200" b="0">
              <a:latin typeface="Arial" pitchFamily="34" charset="0"/>
            </a:endParaRPr>
          </a:p>
        </p:txBody>
      </p:sp>
      <p:sp>
        <p:nvSpPr>
          <p:cNvPr id="3076" name="Rectangle 4"/>
          <p:cNvSpPr>
            <a:spLocks noChangeArrowheads="1"/>
          </p:cNvSpPr>
          <p:nvPr/>
        </p:nvSpPr>
        <p:spPr bwMode="auto">
          <a:xfrm>
            <a:off x="215900" y="6429375"/>
            <a:ext cx="429895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p>
            <a:pPr algn="l"/>
            <a:r>
              <a:rPr lang="zh-CN" altLang="en-US" sz="1200" b="0">
                <a:latin typeface="Arial" pitchFamily="34" charset="0"/>
              </a:rPr>
              <a:t>9/8/98</a:t>
            </a:r>
          </a:p>
        </p:txBody>
      </p:sp>
    </p:spTree>
    <p:extLst>
      <p:ext uri="{BB962C8B-B14F-4D97-AF65-F5344CB8AC3E}">
        <p14:creationId xmlns:p14="http://schemas.microsoft.com/office/powerpoint/2010/main" val="2771531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8" name="Rectangle 1028"/>
          <p:cNvSpPr>
            <a:spLocks noGrp="1" noRot="1" noChangeAspect="1" noChangeArrowheads="1" noTextEdit="1"/>
          </p:cNvSpPr>
          <p:nvPr>
            <p:ph type="sldImg" idx="2"/>
          </p:nvPr>
        </p:nvSpPr>
        <p:spPr bwMode="auto">
          <a:xfrm>
            <a:off x="1228725" y="533400"/>
            <a:ext cx="3714750" cy="2571750"/>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9" name="Rectangle 1029"/>
          <p:cNvSpPr>
            <a:spLocks noGrp="1" noChangeArrowheads="1"/>
          </p:cNvSpPr>
          <p:nvPr>
            <p:ph type="body" sz="quarter" idx="3"/>
          </p:nvPr>
        </p:nvSpPr>
        <p:spPr bwMode="auto">
          <a:xfrm>
            <a:off x="5056188" y="533400"/>
            <a:ext cx="3859212"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8550" name="Rectangle 1030"/>
          <p:cNvSpPr>
            <a:spLocks noGrp="1" noChangeArrowheads="1"/>
          </p:cNvSpPr>
          <p:nvPr>
            <p:ph type="ftr" sz="quarter" idx="4"/>
          </p:nvPr>
        </p:nvSpPr>
        <p:spPr bwMode="auto">
          <a:xfrm>
            <a:off x="0"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Arial" pitchFamily="34" charset="0"/>
              </a:defRPr>
            </a:lvl1pPr>
          </a:lstStyle>
          <a:p>
            <a:r>
              <a:rPr lang="zh-CN" altLang="en-US"/>
              <a:t>Confidential, for review only</a:t>
            </a:r>
            <a:endParaRPr lang="en-US" altLang="en-US"/>
          </a:p>
        </p:txBody>
      </p:sp>
      <p:sp>
        <p:nvSpPr>
          <p:cNvPr id="108551" name="Rectangle 1031"/>
          <p:cNvSpPr>
            <a:spLocks noGrp="1" noChangeArrowheads="1"/>
          </p:cNvSpPr>
          <p:nvPr>
            <p:ph type="sldNum" sz="quarter" idx="5"/>
          </p:nvPr>
        </p:nvSpPr>
        <p:spPr bwMode="auto">
          <a:xfrm>
            <a:off x="5622925" y="6513513"/>
            <a:ext cx="43005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fld id="{CEA855E8-CE74-4B39-B5E2-45A00A9F6E30}" type="slidenum">
              <a:rPr lang="zh-CN" altLang="en-US"/>
              <a:pPr/>
              <a:t>‹#›</a:t>
            </a:fld>
            <a:endParaRPr lang="en-US" altLang="zh-CN"/>
          </a:p>
        </p:txBody>
      </p:sp>
    </p:spTree>
    <p:extLst>
      <p:ext uri="{BB962C8B-B14F-4D97-AF65-F5344CB8AC3E}">
        <p14:creationId xmlns:p14="http://schemas.microsoft.com/office/powerpoint/2010/main" val="919415839"/>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000" kern="1200">
        <a:solidFill>
          <a:schemeClr val="tx1"/>
        </a:solidFill>
        <a:latin typeface="宋体" pitchFamily="2" charset="-122"/>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0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52366AB2-AEEA-4B44-BA96-1AC88305AB33}" type="slidenum">
              <a:rPr lang="zh-CN" altLang="en-US"/>
              <a:pPr/>
              <a:t>1</a:t>
            </a:fld>
            <a:endParaRPr lang="en-US" altLang="zh-CN"/>
          </a:p>
        </p:txBody>
      </p:sp>
      <p:sp>
        <p:nvSpPr>
          <p:cNvPr id="792578" name="Rectangle 2"/>
          <p:cNvSpPr>
            <a:spLocks noGrp="1" noRot="1" noChangeAspect="1" noChangeArrowheads="1" noTextEdit="1"/>
          </p:cNvSpPr>
          <p:nvPr>
            <p:ph type="sldImg"/>
          </p:nvPr>
        </p:nvSpPr>
        <p:spPr>
          <a:ln/>
        </p:spPr>
      </p:sp>
      <p:sp>
        <p:nvSpPr>
          <p:cNvPr id="792579"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707659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33FD41E3-0033-44F6-A435-24B621972D68}" type="slidenum">
              <a:rPr lang="zh-CN" altLang="en-US"/>
              <a:pPr/>
              <a:t>3</a:t>
            </a:fld>
            <a:endParaRPr lang="en-US" altLang="zh-CN"/>
          </a:p>
        </p:txBody>
      </p:sp>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41922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4C0CBC93-7634-4DB9-9881-6A3E7E91E163}" type="slidenum">
              <a:rPr lang="zh-CN" altLang="en-US"/>
              <a:pPr/>
              <a:t>11</a:t>
            </a:fld>
            <a:endParaRPr lang="en-US" altLang="zh-CN"/>
          </a:p>
        </p:txBody>
      </p:sp>
      <p:sp>
        <p:nvSpPr>
          <p:cNvPr id="557058" name="Rectangle 2"/>
          <p:cNvSpPr>
            <a:spLocks noGrp="1" noRot="1" noChangeAspect="1" noChangeArrowheads="1" noTextEdit="1"/>
          </p:cNvSpPr>
          <p:nvPr>
            <p:ph type="sldImg"/>
          </p:nvPr>
        </p:nvSpPr>
        <p:spPr>
          <a:ln/>
        </p:spPr>
      </p:sp>
      <p:sp>
        <p:nvSpPr>
          <p:cNvPr id="557059"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17651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3832278A-4A6C-4ABF-946E-E883ABF6710E}" type="slidenum">
              <a:rPr lang="zh-CN" altLang="en-US"/>
              <a:pPr/>
              <a:t>12</a:t>
            </a:fld>
            <a:endParaRPr lang="en-US" altLang="zh-CN"/>
          </a:p>
        </p:txBody>
      </p:sp>
      <p:sp>
        <p:nvSpPr>
          <p:cNvPr id="1010690" name="Rectangle 2"/>
          <p:cNvSpPr>
            <a:spLocks noGrp="1" noRot="1" noChangeAspect="1" noChangeArrowheads="1" noTextEdit="1"/>
          </p:cNvSpPr>
          <p:nvPr>
            <p:ph type="sldImg"/>
          </p:nvPr>
        </p:nvSpPr>
        <p:spPr>
          <a:xfrm>
            <a:off x="3103563" y="514350"/>
            <a:ext cx="3714750" cy="2571750"/>
          </a:xfrm>
          <a:ln/>
        </p:spPr>
      </p:sp>
      <p:sp>
        <p:nvSpPr>
          <p:cNvPr id="1010691" name="Rectangle 3"/>
          <p:cNvSpPr>
            <a:spLocks noGrp="1" noChangeArrowheads="1"/>
          </p:cNvSpPr>
          <p:nvPr>
            <p:ph type="body" idx="1"/>
          </p:nvPr>
        </p:nvSpPr>
        <p:spPr>
          <a:xfrm>
            <a:off x="1322388" y="3257550"/>
            <a:ext cx="7278687" cy="3084513"/>
          </a:xfrm>
        </p:spPr>
        <p:txBody>
          <a:bodyPr/>
          <a:lstStyle/>
          <a:p>
            <a:endParaRPr lang="zh-CN" altLang="en-US" b="1">
              <a:solidFill>
                <a:srgbClr val="FFFF00"/>
              </a:solidFill>
            </a:endParaRPr>
          </a:p>
        </p:txBody>
      </p:sp>
    </p:spTree>
    <p:extLst>
      <p:ext uri="{BB962C8B-B14F-4D97-AF65-F5344CB8AC3E}">
        <p14:creationId xmlns:p14="http://schemas.microsoft.com/office/powerpoint/2010/main" val="2649488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A506D060-794F-4EC7-8AA2-6FE9BFB3E221}" type="slidenum">
              <a:rPr lang="zh-CN" altLang="en-US"/>
              <a:pPr/>
              <a:t>13</a:t>
            </a:fld>
            <a:endParaRPr lang="en-US" altLang="zh-CN"/>
          </a:p>
        </p:txBody>
      </p:sp>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1146128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A506D060-794F-4EC7-8AA2-6FE9BFB3E221}" type="slidenum">
              <a:rPr lang="zh-CN" altLang="en-US"/>
              <a:pPr/>
              <a:t>14</a:t>
            </a:fld>
            <a:endParaRPr lang="en-US" altLang="zh-CN"/>
          </a:p>
        </p:txBody>
      </p:sp>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2684574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a:t>Confidential, for review only</a:t>
            </a:r>
            <a:endParaRPr lang="en-US" altLang="en-US" sz="1200"/>
          </a:p>
        </p:txBody>
      </p:sp>
      <p:sp>
        <p:nvSpPr>
          <p:cNvPr id="133123"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AB5F70A4-AE87-4D7D-ADFC-ECF154CFD72A}" type="slidenum">
              <a:rPr lang="zh-CN" altLang="en-US" sz="1200" smtClean="0"/>
              <a:pPr/>
              <a:t>15</a:t>
            </a:fld>
            <a:endParaRPr lang="en-US" altLang="zh-CN" sz="1200"/>
          </a:p>
        </p:txBody>
      </p:sp>
      <p:sp>
        <p:nvSpPr>
          <p:cNvPr id="133124" name="Rectangle 2"/>
          <p:cNvSpPr>
            <a:spLocks noGrp="1" noRot="1" noChangeAspect="1" noChangeArrowheads="1" noTextEdit="1"/>
          </p:cNvSpPr>
          <p:nvPr>
            <p:ph type="sldImg"/>
          </p:nvPr>
        </p:nvSpPr>
        <p:spPr>
          <a:ln/>
        </p:spPr>
      </p:sp>
      <p:sp>
        <p:nvSpPr>
          <p:cNvPr id="13312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05466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3737C5BA-CE1B-4598-93AB-707171F9893D}" type="slidenum">
              <a:rPr lang="zh-CN" altLang="en-US"/>
              <a:pPr/>
              <a:t>16</a:t>
            </a:fld>
            <a:endParaRPr lang="en-US" altLang="zh-CN"/>
          </a:p>
        </p:txBody>
      </p:sp>
      <p:sp>
        <p:nvSpPr>
          <p:cNvPr id="572418" name="Rectangle 2"/>
          <p:cNvSpPr>
            <a:spLocks noGrp="1" noRot="1" noChangeAspect="1" noChangeArrowheads="1" noTextEdit="1"/>
          </p:cNvSpPr>
          <p:nvPr>
            <p:ph type="sldImg"/>
          </p:nvPr>
        </p:nvSpPr>
        <p:spPr>
          <a:ln/>
        </p:spPr>
      </p:sp>
      <p:sp>
        <p:nvSpPr>
          <p:cNvPr id="572419" name="Rectangle 3"/>
          <p:cNvSpPr>
            <a:spLocks noGrp="1" noChangeArrowheads="1"/>
          </p:cNvSpPr>
          <p:nvPr>
            <p:ph type="body" idx="1"/>
          </p:nvPr>
        </p:nvSpPr>
        <p:spPr/>
        <p:txBody>
          <a:bodyPr/>
          <a:lstStyle/>
          <a:p>
            <a:r>
              <a:rPr lang="zh-CN" altLang="en-US" sz="4000" b="1">
                <a:ea typeface="黑体" pitchFamily="49" charset="-122"/>
              </a:rPr>
              <a:t>其一般公式可归纳为</a:t>
            </a:r>
          </a:p>
        </p:txBody>
      </p:sp>
    </p:spTree>
    <p:extLst>
      <p:ext uri="{BB962C8B-B14F-4D97-AF65-F5344CB8AC3E}">
        <p14:creationId xmlns:p14="http://schemas.microsoft.com/office/powerpoint/2010/main" val="4154518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4D9F8809-E42A-4B93-A86D-75511C57481B}" type="slidenum">
              <a:rPr lang="zh-CN" altLang="en-US"/>
              <a:pPr/>
              <a:t>17</a:t>
            </a:fld>
            <a:endParaRPr lang="en-US" altLang="zh-CN"/>
          </a:p>
        </p:txBody>
      </p:sp>
      <p:sp>
        <p:nvSpPr>
          <p:cNvPr id="741378" name="Rectangle 2"/>
          <p:cNvSpPr>
            <a:spLocks noGrp="1" noRot="1" noChangeAspect="1" noChangeArrowheads="1" noTextEdit="1"/>
          </p:cNvSpPr>
          <p:nvPr>
            <p:ph type="sldImg"/>
          </p:nvPr>
        </p:nvSpPr>
        <p:spPr bwMode="auto">
          <a:xfrm>
            <a:off x="3103563" y="514350"/>
            <a:ext cx="3714750" cy="2571750"/>
          </a:xfrm>
          <a:prstGeom prst="rect">
            <a:avLst/>
          </a:prstGeom>
          <a:solidFill>
            <a:srgbClr val="FFFFFF"/>
          </a:solidFill>
          <a:ln>
            <a:solidFill>
              <a:srgbClr val="000000"/>
            </a:solidFill>
            <a:miter lim="800000"/>
            <a:headEnd/>
            <a:tailEnd/>
          </a:ln>
        </p:spPr>
      </p:sp>
      <p:sp>
        <p:nvSpPr>
          <p:cNvPr id="741379" name="Rectangle 3"/>
          <p:cNvSpPr>
            <a:spLocks noGrp="1" noChangeArrowheads="1"/>
          </p:cNvSpPr>
          <p:nvPr>
            <p:ph type="body" idx="1"/>
          </p:nvPr>
        </p:nvSpPr>
        <p:spPr bwMode="auto">
          <a:xfrm>
            <a:off x="1322388" y="3257550"/>
            <a:ext cx="7278687" cy="3084513"/>
          </a:xfrm>
          <a:prstGeom prst="rect">
            <a:avLst/>
          </a:prstGeom>
          <a:solidFill>
            <a:srgbClr val="FFFFFF"/>
          </a:solidFill>
          <a:ln>
            <a:solidFill>
              <a:srgbClr val="000000"/>
            </a:solidFill>
            <a:miter lim="800000"/>
            <a:headEnd/>
            <a:tailEnd/>
          </a:ln>
        </p:spPr>
        <p:txBody>
          <a:bodyPr/>
          <a:lstStyle/>
          <a:p>
            <a:pPr>
              <a:lnSpc>
                <a:spcPct val="100000"/>
              </a:lnSpc>
              <a:spcBef>
                <a:spcPct val="0"/>
              </a:spcBef>
              <a:buSzTx/>
              <a:buFontTx/>
              <a:buNone/>
            </a:pPr>
            <a:endParaRPr lang="zh-CN" altLang="en-US" sz="1200"/>
          </a:p>
        </p:txBody>
      </p:sp>
    </p:spTree>
    <p:extLst>
      <p:ext uri="{BB962C8B-B14F-4D97-AF65-F5344CB8AC3E}">
        <p14:creationId xmlns:p14="http://schemas.microsoft.com/office/powerpoint/2010/main" val="2225428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1030"/>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a:t>Confidential, for review only</a:t>
            </a:r>
            <a:endParaRPr lang="en-US" altLang="en-US" sz="1200"/>
          </a:p>
        </p:txBody>
      </p:sp>
      <p:sp>
        <p:nvSpPr>
          <p:cNvPr id="156675" name="Rectangle 1031"/>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B3C58BA5-B554-4E7A-8326-9D30EF4D75EF}" type="slidenum">
              <a:rPr lang="zh-CN" altLang="en-US" sz="1200" smtClean="0"/>
              <a:pPr/>
              <a:t>19</a:t>
            </a:fld>
            <a:endParaRPr lang="en-US" altLang="zh-CN" sz="1200"/>
          </a:p>
        </p:txBody>
      </p:sp>
      <p:sp>
        <p:nvSpPr>
          <p:cNvPr id="156676" name="Rectangle 2"/>
          <p:cNvSpPr>
            <a:spLocks noGrp="1" noRot="1" noChangeAspect="1" noChangeArrowheads="1" noTextEdit="1"/>
          </p:cNvSpPr>
          <p:nvPr>
            <p:ph type="sldImg"/>
          </p:nvPr>
        </p:nvSpPr>
        <p:spPr>
          <a:ln/>
        </p:spPr>
      </p:sp>
      <p:sp>
        <p:nvSpPr>
          <p:cNvPr id="15667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000">
              <a:latin typeface="宋体" pitchFamily="2" charset="-122"/>
            </a:endParaRPr>
          </a:p>
        </p:txBody>
      </p:sp>
    </p:spTree>
    <p:extLst>
      <p:ext uri="{BB962C8B-B14F-4D97-AF65-F5344CB8AC3E}">
        <p14:creationId xmlns:p14="http://schemas.microsoft.com/office/powerpoint/2010/main" val="4147879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A69E2B39-EF9F-4E0C-B26C-19D618B21406}" type="slidenum">
              <a:rPr lang="zh-CN" altLang="en-US"/>
              <a:pPr/>
              <a:t>20</a:t>
            </a:fld>
            <a:endParaRPr lang="en-US" altLang="zh-CN"/>
          </a:p>
        </p:txBody>
      </p:sp>
      <p:sp>
        <p:nvSpPr>
          <p:cNvPr id="771074" name="Rectangle 2"/>
          <p:cNvSpPr>
            <a:spLocks noGrp="1" noRot="1" noChangeAspect="1" noChangeArrowheads="1" noTextEdit="1"/>
          </p:cNvSpPr>
          <p:nvPr>
            <p:ph type="sldImg"/>
          </p:nvPr>
        </p:nvSpPr>
        <p:spPr bwMode="auto">
          <a:xfrm>
            <a:off x="3103563" y="514350"/>
            <a:ext cx="3714750" cy="2571750"/>
          </a:xfrm>
          <a:prstGeom prst="rect">
            <a:avLst/>
          </a:prstGeom>
          <a:solidFill>
            <a:srgbClr val="FFFFFF"/>
          </a:solidFill>
          <a:ln>
            <a:solidFill>
              <a:srgbClr val="000000"/>
            </a:solidFill>
            <a:miter lim="800000"/>
            <a:headEnd/>
            <a:tailEnd/>
          </a:ln>
        </p:spPr>
      </p:sp>
      <p:sp>
        <p:nvSpPr>
          <p:cNvPr id="771075" name="Rectangle 3"/>
          <p:cNvSpPr>
            <a:spLocks noGrp="1" noChangeArrowheads="1"/>
          </p:cNvSpPr>
          <p:nvPr>
            <p:ph type="body" idx="1"/>
          </p:nvPr>
        </p:nvSpPr>
        <p:spPr bwMode="auto">
          <a:xfrm>
            <a:off x="1322388" y="3257550"/>
            <a:ext cx="7278687" cy="3084513"/>
          </a:xfrm>
          <a:prstGeom prst="rect">
            <a:avLst/>
          </a:prstGeom>
          <a:solidFill>
            <a:srgbClr val="FFFFFF"/>
          </a:solidFill>
          <a:ln>
            <a:solidFill>
              <a:srgbClr val="000000"/>
            </a:solidFill>
            <a:miter lim="800000"/>
            <a:headEnd/>
            <a:tailEnd/>
          </a:ln>
        </p:spPr>
        <p:txBody>
          <a:bodyPr/>
          <a:lstStyle/>
          <a:p>
            <a:endParaRPr lang="zh-CN" altLang="en-US" sz="1400" u="sng">
              <a:solidFill>
                <a:srgbClr val="FF3300"/>
              </a:solidFill>
            </a:endParaRPr>
          </a:p>
        </p:txBody>
      </p:sp>
    </p:spTree>
    <p:extLst>
      <p:ext uri="{BB962C8B-B14F-4D97-AF65-F5344CB8AC3E}">
        <p14:creationId xmlns:p14="http://schemas.microsoft.com/office/powerpoint/2010/main" val="2833209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3EFE6126-4981-469B-87F9-5799E923BC40}" type="slidenum">
              <a:rPr lang="zh-CN" altLang="en-US"/>
              <a:pPr/>
              <a:t>23</a:t>
            </a:fld>
            <a:endParaRPr lang="en-US" altLang="zh-CN"/>
          </a:p>
        </p:txBody>
      </p:sp>
      <p:sp>
        <p:nvSpPr>
          <p:cNvPr id="954370" name="Rectangle 2"/>
          <p:cNvSpPr>
            <a:spLocks noGrp="1" noRot="1" noChangeAspect="1" noChangeArrowheads="1" noTextEdit="1"/>
          </p:cNvSpPr>
          <p:nvPr>
            <p:ph type="sldImg"/>
          </p:nvPr>
        </p:nvSpPr>
        <p:spPr>
          <a:xfrm>
            <a:off x="3103563" y="514350"/>
            <a:ext cx="3714750" cy="2571750"/>
          </a:xfrm>
          <a:ln/>
        </p:spPr>
      </p:sp>
      <p:sp>
        <p:nvSpPr>
          <p:cNvPr id="954371" name="Rectangle 3"/>
          <p:cNvSpPr>
            <a:spLocks noGrp="1" noChangeArrowheads="1"/>
          </p:cNvSpPr>
          <p:nvPr>
            <p:ph type="body" idx="1"/>
          </p:nvPr>
        </p:nvSpPr>
        <p:spPr>
          <a:xfrm>
            <a:off x="1322388" y="3257550"/>
            <a:ext cx="7278687" cy="3084513"/>
          </a:xfrm>
        </p:spPr>
        <p:txBody>
          <a:bodyPr/>
          <a:lstStyle/>
          <a:p>
            <a:endParaRPr lang="zh-CN" altLang="en-US" sz="1600" b="1">
              <a:solidFill>
                <a:srgbClr val="FF3300"/>
              </a:solidFill>
            </a:endParaRPr>
          </a:p>
        </p:txBody>
      </p:sp>
    </p:spTree>
    <p:extLst>
      <p:ext uri="{BB962C8B-B14F-4D97-AF65-F5344CB8AC3E}">
        <p14:creationId xmlns:p14="http://schemas.microsoft.com/office/powerpoint/2010/main" val="1430141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9618D6D2-E180-4537-84F6-002A67DF6D32}" type="slidenum">
              <a:rPr lang="zh-CN" altLang="en-US"/>
              <a:pPr/>
              <a:t>24</a:t>
            </a:fld>
            <a:endParaRPr lang="en-US" altLang="zh-CN"/>
          </a:p>
        </p:txBody>
      </p:sp>
      <p:sp>
        <p:nvSpPr>
          <p:cNvPr id="807938" name="Rectangle 2"/>
          <p:cNvSpPr>
            <a:spLocks noGrp="1" noRot="1" noChangeAspect="1" noChangeArrowheads="1" noTextEdit="1"/>
          </p:cNvSpPr>
          <p:nvPr>
            <p:ph type="sldImg"/>
          </p:nvPr>
        </p:nvSpPr>
        <p:spPr>
          <a:xfrm>
            <a:off x="3103563" y="514350"/>
            <a:ext cx="3714750" cy="2571750"/>
          </a:xfrm>
          <a:ln/>
        </p:spPr>
      </p:sp>
      <p:sp>
        <p:nvSpPr>
          <p:cNvPr id="807939" name="Rectangle 3"/>
          <p:cNvSpPr>
            <a:spLocks noGrp="1" noChangeArrowheads="1"/>
          </p:cNvSpPr>
          <p:nvPr>
            <p:ph type="body" idx="1"/>
          </p:nvPr>
        </p:nvSpPr>
        <p:spPr>
          <a:xfrm>
            <a:off x="1322388" y="3257550"/>
            <a:ext cx="7278687" cy="3084513"/>
          </a:xfrm>
        </p:spPr>
        <p:txBody>
          <a:bodyPr/>
          <a:lstStyle/>
          <a:p>
            <a:endParaRPr lang="zh-CN" altLang="en-US"/>
          </a:p>
        </p:txBody>
      </p:sp>
    </p:spTree>
    <p:extLst>
      <p:ext uri="{BB962C8B-B14F-4D97-AF65-F5344CB8AC3E}">
        <p14:creationId xmlns:p14="http://schemas.microsoft.com/office/powerpoint/2010/main" val="2436795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E480597B-C5B2-45B8-9F7C-29FBC3D2BF58}" type="slidenum">
              <a:rPr lang="zh-CN" altLang="en-US"/>
              <a:pPr/>
              <a:t>25</a:t>
            </a:fld>
            <a:endParaRPr lang="en-US" altLang="zh-CN"/>
          </a:p>
        </p:txBody>
      </p:sp>
      <p:sp>
        <p:nvSpPr>
          <p:cNvPr id="811010" name="Rectangle 2"/>
          <p:cNvSpPr>
            <a:spLocks noGrp="1" noRot="1" noChangeAspect="1" noChangeArrowheads="1" noTextEdit="1"/>
          </p:cNvSpPr>
          <p:nvPr>
            <p:ph type="sldImg"/>
          </p:nvPr>
        </p:nvSpPr>
        <p:spPr>
          <a:xfrm>
            <a:off x="3103563" y="514350"/>
            <a:ext cx="3714750" cy="2571750"/>
          </a:xfrm>
          <a:ln/>
        </p:spPr>
      </p:sp>
      <p:sp>
        <p:nvSpPr>
          <p:cNvPr id="811011" name="Rectangle 3"/>
          <p:cNvSpPr>
            <a:spLocks noGrp="1" noChangeArrowheads="1"/>
          </p:cNvSpPr>
          <p:nvPr>
            <p:ph type="body" idx="1"/>
          </p:nvPr>
        </p:nvSpPr>
        <p:spPr>
          <a:xfrm>
            <a:off x="1322388" y="3257550"/>
            <a:ext cx="7278687" cy="3084513"/>
          </a:xfrm>
        </p:spPr>
        <p:txBody>
          <a:bodyPr/>
          <a:lstStyle/>
          <a:p>
            <a:endParaRPr lang="zh-CN" altLang="en-US"/>
          </a:p>
        </p:txBody>
      </p:sp>
    </p:spTree>
    <p:extLst>
      <p:ext uri="{BB962C8B-B14F-4D97-AF65-F5344CB8AC3E}">
        <p14:creationId xmlns:p14="http://schemas.microsoft.com/office/powerpoint/2010/main" val="3725720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7DA91EE4-E6B6-467A-909A-22AC6EF8280D}" type="slidenum">
              <a:rPr lang="zh-CN" altLang="en-US"/>
              <a:pPr/>
              <a:t>26</a:t>
            </a:fld>
            <a:endParaRPr lang="en-US" altLang="zh-CN"/>
          </a:p>
        </p:txBody>
      </p:sp>
      <p:sp>
        <p:nvSpPr>
          <p:cNvPr id="908290" name="Rectangle 2"/>
          <p:cNvSpPr>
            <a:spLocks noGrp="1" noRot="1" noChangeAspect="1" noChangeArrowheads="1" noTextEdit="1"/>
          </p:cNvSpPr>
          <p:nvPr>
            <p:ph type="sldImg"/>
          </p:nvPr>
        </p:nvSpPr>
        <p:spPr>
          <a:xfrm>
            <a:off x="3103563" y="514350"/>
            <a:ext cx="3714750" cy="2571750"/>
          </a:xfrm>
          <a:ln/>
        </p:spPr>
      </p:sp>
      <p:sp>
        <p:nvSpPr>
          <p:cNvPr id="908291" name="Rectangle 3"/>
          <p:cNvSpPr>
            <a:spLocks noGrp="1" noChangeArrowheads="1"/>
          </p:cNvSpPr>
          <p:nvPr>
            <p:ph type="body" idx="1"/>
          </p:nvPr>
        </p:nvSpPr>
        <p:spPr>
          <a:xfrm>
            <a:off x="1322388" y="3257550"/>
            <a:ext cx="7278687" cy="3084513"/>
          </a:xfrm>
        </p:spPr>
        <p:txBody>
          <a:bodyPr/>
          <a:lstStyle/>
          <a:p>
            <a:r>
              <a:rPr lang="en-US" altLang="zh-CN"/>
              <a:t>N</a:t>
            </a:r>
            <a:r>
              <a:rPr lang="zh-CN" altLang="en-US"/>
              <a:t>阶方阵（矩阵）和</a:t>
            </a:r>
            <a:r>
              <a:rPr lang="en-US" altLang="zh-CN"/>
              <a:t>N</a:t>
            </a:r>
            <a:r>
              <a:rPr lang="zh-CN" altLang="en-US"/>
              <a:t>阶行列式是两个完全不同的概念，必须分清。矩阵是一个数表，而行列式是一个数值</a:t>
            </a:r>
          </a:p>
        </p:txBody>
      </p:sp>
    </p:spTree>
    <p:extLst>
      <p:ext uri="{BB962C8B-B14F-4D97-AF65-F5344CB8AC3E}">
        <p14:creationId xmlns:p14="http://schemas.microsoft.com/office/powerpoint/2010/main" val="3029351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10288394-67DD-4C9B-83E5-BE842262753C}" type="slidenum">
              <a:rPr lang="zh-CN" altLang="en-US"/>
              <a:pPr/>
              <a:t>27</a:t>
            </a:fld>
            <a:endParaRPr lang="en-US" altLang="zh-CN"/>
          </a:p>
        </p:txBody>
      </p:sp>
      <p:sp>
        <p:nvSpPr>
          <p:cNvPr id="815106" name="Rectangle 2"/>
          <p:cNvSpPr>
            <a:spLocks noGrp="1" noRot="1" noChangeAspect="1" noChangeArrowheads="1" noTextEdit="1"/>
          </p:cNvSpPr>
          <p:nvPr>
            <p:ph type="sldImg"/>
          </p:nvPr>
        </p:nvSpPr>
        <p:spPr>
          <a:xfrm>
            <a:off x="3103563" y="514350"/>
            <a:ext cx="3714750" cy="2571750"/>
          </a:xfrm>
          <a:ln/>
        </p:spPr>
      </p:sp>
      <p:sp>
        <p:nvSpPr>
          <p:cNvPr id="815107" name="Rectangle 3"/>
          <p:cNvSpPr>
            <a:spLocks noGrp="1" noChangeArrowheads="1"/>
          </p:cNvSpPr>
          <p:nvPr>
            <p:ph type="body" idx="1"/>
          </p:nvPr>
        </p:nvSpPr>
        <p:spPr>
          <a:xfrm>
            <a:off x="1322388" y="3257550"/>
            <a:ext cx="7278687" cy="3084513"/>
          </a:xfrm>
        </p:spPr>
        <p:txBody>
          <a:bodyPr/>
          <a:lstStyle/>
          <a:p>
            <a:endParaRPr lang="zh-CN" altLang="en-US"/>
          </a:p>
        </p:txBody>
      </p:sp>
    </p:spTree>
    <p:extLst>
      <p:ext uri="{BB962C8B-B14F-4D97-AF65-F5344CB8AC3E}">
        <p14:creationId xmlns:p14="http://schemas.microsoft.com/office/powerpoint/2010/main" val="798648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3CBE2D8D-F778-41EE-8CD7-E24304AAE683}" type="slidenum">
              <a:rPr lang="zh-CN" altLang="en-US"/>
              <a:pPr/>
              <a:t>29</a:t>
            </a:fld>
            <a:endParaRPr lang="en-US" altLang="zh-CN"/>
          </a:p>
        </p:txBody>
      </p:sp>
      <p:sp>
        <p:nvSpPr>
          <p:cNvPr id="820226" name="Rectangle 2"/>
          <p:cNvSpPr>
            <a:spLocks noGrp="1" noRot="1" noChangeAspect="1" noChangeArrowheads="1" noTextEdit="1"/>
          </p:cNvSpPr>
          <p:nvPr>
            <p:ph type="sldImg"/>
          </p:nvPr>
        </p:nvSpPr>
        <p:spPr>
          <a:xfrm>
            <a:off x="3103563" y="514350"/>
            <a:ext cx="3714750" cy="2571750"/>
          </a:xfrm>
          <a:ln/>
        </p:spPr>
      </p:sp>
      <p:sp>
        <p:nvSpPr>
          <p:cNvPr id="820227" name="Rectangle 3"/>
          <p:cNvSpPr>
            <a:spLocks noGrp="1" noChangeArrowheads="1"/>
          </p:cNvSpPr>
          <p:nvPr>
            <p:ph type="body" idx="1"/>
          </p:nvPr>
        </p:nvSpPr>
        <p:spPr>
          <a:xfrm>
            <a:off x="1322388" y="3257550"/>
            <a:ext cx="7278687" cy="3084513"/>
          </a:xfrm>
        </p:spPr>
        <p:txBody>
          <a:bodyPr/>
          <a:lstStyle/>
          <a:p>
            <a:endParaRPr lang="zh-CN" altLang="en-US" sz="1200">
              <a:sym typeface="Symbol" pitchFamily="18" charset="2"/>
            </a:endParaRPr>
          </a:p>
        </p:txBody>
      </p:sp>
    </p:spTree>
    <p:extLst>
      <p:ext uri="{BB962C8B-B14F-4D97-AF65-F5344CB8AC3E}">
        <p14:creationId xmlns:p14="http://schemas.microsoft.com/office/powerpoint/2010/main" val="1197234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EC3AE41A-5341-43F5-92CE-DDBD85D76A6F}" type="slidenum">
              <a:rPr lang="zh-CN" altLang="en-US"/>
              <a:pPr/>
              <a:t>32</a:t>
            </a:fld>
            <a:endParaRPr lang="en-US" altLang="zh-CN"/>
          </a:p>
        </p:txBody>
      </p:sp>
      <p:sp>
        <p:nvSpPr>
          <p:cNvPr id="827394" name="Rectangle 2"/>
          <p:cNvSpPr>
            <a:spLocks noGrp="1" noRot="1" noChangeAspect="1" noChangeArrowheads="1" noTextEdit="1"/>
          </p:cNvSpPr>
          <p:nvPr>
            <p:ph type="sldImg"/>
          </p:nvPr>
        </p:nvSpPr>
        <p:spPr>
          <a:xfrm>
            <a:off x="3105150" y="514350"/>
            <a:ext cx="3714750" cy="2571750"/>
          </a:xfrm>
          <a:ln/>
        </p:spPr>
      </p:sp>
      <p:sp>
        <p:nvSpPr>
          <p:cNvPr id="827395" name="Rectangle 3"/>
          <p:cNvSpPr>
            <a:spLocks noGrp="1" noChangeArrowheads="1"/>
          </p:cNvSpPr>
          <p:nvPr>
            <p:ph type="body" idx="1"/>
          </p:nvPr>
        </p:nvSpPr>
        <p:spPr>
          <a:xfrm>
            <a:off x="1322388" y="3257550"/>
            <a:ext cx="7278687" cy="3084513"/>
          </a:xfrm>
        </p:spPr>
        <p:txBody>
          <a:bodyPr lIns="93424" tIns="46712" rIns="93424" bIns="46712"/>
          <a:lstStyle/>
          <a:p>
            <a:endParaRPr lang="zh-CN" altLang="en-US"/>
          </a:p>
        </p:txBody>
      </p:sp>
    </p:spTree>
    <p:extLst>
      <p:ext uri="{BB962C8B-B14F-4D97-AF65-F5344CB8AC3E}">
        <p14:creationId xmlns:p14="http://schemas.microsoft.com/office/powerpoint/2010/main" val="3776456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E6A41ADC-BD7F-46B7-8875-E291A4639DC2}" type="slidenum">
              <a:rPr lang="zh-CN" altLang="en-US"/>
              <a:pPr/>
              <a:t>34</a:t>
            </a:fld>
            <a:endParaRPr lang="en-US" altLang="zh-CN"/>
          </a:p>
        </p:txBody>
      </p:sp>
      <p:sp>
        <p:nvSpPr>
          <p:cNvPr id="830466" name="Rectangle 2"/>
          <p:cNvSpPr>
            <a:spLocks noGrp="1" noRot="1" noChangeAspect="1" noChangeArrowheads="1" noTextEdit="1"/>
          </p:cNvSpPr>
          <p:nvPr>
            <p:ph type="sldImg"/>
          </p:nvPr>
        </p:nvSpPr>
        <p:spPr>
          <a:xfrm>
            <a:off x="3105150" y="514350"/>
            <a:ext cx="3714750" cy="2571750"/>
          </a:xfrm>
          <a:ln/>
        </p:spPr>
      </p:sp>
      <p:sp>
        <p:nvSpPr>
          <p:cNvPr id="830467" name="Rectangle 3"/>
          <p:cNvSpPr>
            <a:spLocks noGrp="1" noChangeArrowheads="1"/>
          </p:cNvSpPr>
          <p:nvPr>
            <p:ph type="body" idx="1"/>
          </p:nvPr>
        </p:nvSpPr>
        <p:spPr>
          <a:xfrm>
            <a:off x="1322388" y="3257550"/>
            <a:ext cx="7278687" cy="3084513"/>
          </a:xfrm>
        </p:spPr>
        <p:txBody>
          <a:bodyPr lIns="93424" tIns="46712" rIns="93424" bIns="46712"/>
          <a:lstStyle/>
          <a:p>
            <a:endParaRPr lang="zh-CN" altLang="en-US"/>
          </a:p>
        </p:txBody>
      </p:sp>
    </p:spTree>
    <p:extLst>
      <p:ext uri="{BB962C8B-B14F-4D97-AF65-F5344CB8AC3E}">
        <p14:creationId xmlns:p14="http://schemas.microsoft.com/office/powerpoint/2010/main" val="3973681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FCCF04A8-4A26-412F-A136-9A75A4DB902B}" type="slidenum">
              <a:rPr lang="zh-CN" altLang="en-US"/>
              <a:pPr/>
              <a:t>39</a:t>
            </a:fld>
            <a:endParaRPr lang="en-US" altLang="zh-CN"/>
          </a:p>
        </p:txBody>
      </p:sp>
      <p:sp>
        <p:nvSpPr>
          <p:cNvPr id="942082" name="Rectangle 2"/>
          <p:cNvSpPr>
            <a:spLocks noGrp="1" noRot="1" noChangeAspect="1" noChangeArrowheads="1" noTextEdit="1"/>
          </p:cNvSpPr>
          <p:nvPr>
            <p:ph type="sldImg"/>
          </p:nvPr>
        </p:nvSpPr>
        <p:spPr>
          <a:xfrm>
            <a:off x="3105150" y="514350"/>
            <a:ext cx="3714750" cy="2571750"/>
          </a:xfrm>
          <a:ln/>
        </p:spPr>
      </p:sp>
      <p:sp>
        <p:nvSpPr>
          <p:cNvPr id="942083" name="Rectangle 3"/>
          <p:cNvSpPr>
            <a:spLocks noGrp="1" noChangeArrowheads="1"/>
          </p:cNvSpPr>
          <p:nvPr>
            <p:ph type="body" idx="1"/>
          </p:nvPr>
        </p:nvSpPr>
        <p:spPr>
          <a:xfrm>
            <a:off x="1322388" y="3257550"/>
            <a:ext cx="7278687" cy="3084513"/>
          </a:xfrm>
        </p:spPr>
        <p:txBody>
          <a:bodyPr/>
          <a:lstStyle/>
          <a:p>
            <a:r>
              <a:rPr lang="zh-CN" altLang="en-US"/>
              <a:t>各阶差商可按下表排列方式逐列进行计算，称下表为差商表</a:t>
            </a:r>
          </a:p>
        </p:txBody>
      </p:sp>
    </p:spTree>
    <p:extLst>
      <p:ext uri="{BB962C8B-B14F-4D97-AF65-F5344CB8AC3E}">
        <p14:creationId xmlns:p14="http://schemas.microsoft.com/office/powerpoint/2010/main" val="7882057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5852226D-666B-472B-BF9E-95A9999E9EE4}" type="slidenum">
              <a:rPr lang="zh-CN" altLang="en-US"/>
              <a:pPr/>
              <a:t>40</a:t>
            </a:fld>
            <a:endParaRPr lang="en-US" altLang="zh-CN"/>
          </a:p>
        </p:txBody>
      </p:sp>
      <p:sp>
        <p:nvSpPr>
          <p:cNvPr id="859138" name="Rectangle 2"/>
          <p:cNvSpPr>
            <a:spLocks noGrp="1" noRot="1" noChangeAspect="1" noChangeArrowheads="1" noTextEdit="1"/>
          </p:cNvSpPr>
          <p:nvPr>
            <p:ph type="sldImg"/>
          </p:nvPr>
        </p:nvSpPr>
        <p:spPr>
          <a:xfrm>
            <a:off x="3105150" y="514350"/>
            <a:ext cx="3714750" cy="2571750"/>
          </a:xfrm>
          <a:ln/>
        </p:spPr>
      </p:sp>
      <p:sp>
        <p:nvSpPr>
          <p:cNvPr id="859139" name="Rectangle 3"/>
          <p:cNvSpPr>
            <a:spLocks noGrp="1" noChangeArrowheads="1"/>
          </p:cNvSpPr>
          <p:nvPr>
            <p:ph type="body" idx="1"/>
          </p:nvPr>
        </p:nvSpPr>
        <p:spPr>
          <a:xfrm>
            <a:off x="1322388" y="3257550"/>
            <a:ext cx="7278687" cy="3084513"/>
          </a:xfrm>
        </p:spPr>
        <p:txBody>
          <a:bodyPr lIns="93424" tIns="46712" rIns="93424" bIns="46712"/>
          <a:lstStyle/>
          <a:p>
            <a:pPr>
              <a:lnSpc>
                <a:spcPct val="70000"/>
              </a:lnSpc>
            </a:pPr>
            <a:r>
              <a:rPr lang="zh-CN" altLang="en-US"/>
              <a:t>若用</a:t>
            </a:r>
            <a:r>
              <a:rPr lang="en-US" altLang="zh-CN"/>
              <a:t>P</a:t>
            </a:r>
            <a:r>
              <a:rPr lang="en-US" altLang="zh-CN" baseline="-25000"/>
              <a:t>n</a:t>
            </a:r>
            <a:r>
              <a:rPr lang="en-US" altLang="zh-CN"/>
              <a:t>(x)</a:t>
            </a:r>
            <a:r>
              <a:rPr lang="zh-CN" altLang="en-US"/>
              <a:t>近似</a:t>
            </a:r>
            <a:r>
              <a:rPr lang="en-US" altLang="zh-CN" i="1"/>
              <a:t>f</a:t>
            </a:r>
            <a:r>
              <a:rPr lang="en-US" altLang="zh-CN"/>
              <a:t>(</a:t>
            </a:r>
            <a:r>
              <a:rPr lang="en-US" altLang="zh-CN" i="1"/>
              <a:t>x</a:t>
            </a:r>
            <a:r>
              <a:rPr lang="en-US" altLang="zh-CN"/>
              <a:t>)，</a:t>
            </a:r>
            <a:r>
              <a:rPr lang="zh-CN" altLang="en-US"/>
              <a:t>则误差为</a:t>
            </a:r>
            <a:r>
              <a:rPr lang="en-US" altLang="zh-CN"/>
              <a:t>R</a:t>
            </a:r>
            <a:r>
              <a:rPr lang="en-US" altLang="zh-CN" baseline="-25000"/>
              <a:t>n</a:t>
            </a:r>
            <a:r>
              <a:rPr lang="en-US" altLang="zh-CN"/>
              <a:t>(x)。</a:t>
            </a:r>
            <a:r>
              <a:rPr lang="zh-CN" altLang="en-US"/>
              <a:t>当</a:t>
            </a:r>
            <a:r>
              <a:rPr lang="en-US" altLang="zh-CN" i="1"/>
              <a:t>x</a:t>
            </a:r>
            <a:r>
              <a:rPr lang="zh-CN" altLang="en-US"/>
              <a:t>=</a:t>
            </a:r>
            <a:r>
              <a:rPr lang="en-US" altLang="zh-CN" i="1"/>
              <a:t>x</a:t>
            </a:r>
            <a:r>
              <a:rPr lang="en-US" altLang="zh-CN" i="1" baseline="-25000"/>
              <a:t>i</a:t>
            </a:r>
            <a:r>
              <a:rPr lang="zh-CN" altLang="en-US"/>
              <a:t>(</a:t>
            </a:r>
            <a:r>
              <a:rPr lang="en-US" altLang="zh-CN"/>
              <a:t>i=0,1, 2,</a:t>
            </a:r>
            <a:r>
              <a:rPr lang="en-US" altLang="zh-CN">
                <a:latin typeface="Arial"/>
              </a:rPr>
              <a:t>…</a:t>
            </a:r>
            <a:r>
              <a:rPr lang="en-US" altLang="zh-CN"/>
              <a:t>,n)</a:t>
            </a:r>
            <a:r>
              <a:rPr lang="zh-CN" altLang="en-US"/>
              <a:t>时， </a:t>
            </a:r>
            <a:r>
              <a:rPr lang="en-US" altLang="zh-CN"/>
              <a:t>R</a:t>
            </a:r>
            <a:r>
              <a:rPr lang="en-US" altLang="zh-CN" baseline="-25000"/>
              <a:t>n</a:t>
            </a:r>
            <a:r>
              <a:rPr lang="en-US" altLang="zh-CN"/>
              <a:t>(x</a:t>
            </a:r>
            <a:r>
              <a:rPr lang="en-US" altLang="zh-CN" i="1" baseline="-25000"/>
              <a:t>i </a:t>
            </a:r>
            <a:r>
              <a:rPr lang="en-US" altLang="zh-CN"/>
              <a:t>)=0， </a:t>
            </a:r>
            <a:r>
              <a:rPr lang="en-US" altLang="zh-CN" i="1"/>
              <a:t>p</a:t>
            </a:r>
            <a:r>
              <a:rPr lang="en-US" altLang="zh-CN"/>
              <a:t>(</a:t>
            </a:r>
            <a:r>
              <a:rPr lang="en-US" altLang="zh-CN" i="1"/>
              <a:t>x</a:t>
            </a:r>
            <a:r>
              <a:rPr lang="en-US" altLang="zh-CN" baseline="-25000"/>
              <a:t>i</a:t>
            </a:r>
            <a:r>
              <a:rPr lang="en-US" altLang="zh-CN"/>
              <a:t>)= </a:t>
            </a:r>
            <a:r>
              <a:rPr lang="en-US" altLang="zh-CN" i="1"/>
              <a:t>y</a:t>
            </a:r>
            <a:r>
              <a:rPr lang="en-US" altLang="zh-CN" baseline="-25000"/>
              <a:t>i </a:t>
            </a:r>
            <a:r>
              <a:rPr lang="en-US" altLang="zh-CN"/>
              <a:t>；</a:t>
            </a:r>
            <a:r>
              <a:rPr lang="zh-CN" altLang="en-US"/>
              <a:t>而当</a:t>
            </a:r>
            <a:r>
              <a:rPr lang="en-US" altLang="zh-CN" i="1"/>
              <a:t>x</a:t>
            </a:r>
            <a:r>
              <a:rPr lang="en-US" altLang="zh-CN" i="1">
                <a:sym typeface="Symbol" pitchFamily="18" charset="2"/>
              </a:rPr>
              <a:t></a:t>
            </a:r>
            <a:r>
              <a:rPr lang="en-US" altLang="zh-CN" i="1"/>
              <a:t>x</a:t>
            </a:r>
            <a:r>
              <a:rPr lang="en-US" altLang="zh-CN" i="1" baseline="-25000"/>
              <a:t>i</a:t>
            </a:r>
            <a:r>
              <a:rPr lang="zh-CN" altLang="en-US"/>
              <a:t>时， </a:t>
            </a:r>
            <a:r>
              <a:rPr lang="en-US" altLang="zh-CN"/>
              <a:t>R</a:t>
            </a:r>
            <a:r>
              <a:rPr lang="en-US" altLang="zh-CN" baseline="-25000"/>
              <a:t>n</a:t>
            </a:r>
            <a:r>
              <a:rPr lang="en-US" altLang="zh-CN"/>
              <a:t>(x</a:t>
            </a:r>
            <a:r>
              <a:rPr lang="en-US" altLang="zh-CN" i="1" baseline="-25000"/>
              <a:t>i </a:t>
            </a:r>
            <a:r>
              <a:rPr lang="en-US" altLang="zh-CN"/>
              <a:t>) </a:t>
            </a:r>
            <a:r>
              <a:rPr lang="en-US" altLang="zh-CN" i="1">
                <a:sym typeface="Symbol" pitchFamily="18" charset="2"/>
              </a:rPr>
              <a:t></a:t>
            </a:r>
            <a:r>
              <a:rPr lang="en-US" altLang="zh-CN"/>
              <a:t> 0， </a:t>
            </a:r>
            <a:r>
              <a:rPr lang="zh-CN" altLang="en-US"/>
              <a:t>所以</a:t>
            </a:r>
            <a:r>
              <a:rPr lang="en-US" altLang="zh-CN" i="1"/>
              <a:t>p</a:t>
            </a:r>
            <a:r>
              <a:rPr lang="en-US" altLang="zh-CN"/>
              <a:t>(</a:t>
            </a:r>
            <a:r>
              <a:rPr lang="en-US" altLang="zh-CN" i="1"/>
              <a:t>x</a:t>
            </a:r>
            <a:r>
              <a:rPr lang="en-US" altLang="zh-CN" baseline="-25000"/>
              <a:t>i</a:t>
            </a:r>
            <a:r>
              <a:rPr lang="en-US" altLang="zh-CN"/>
              <a:t>)</a:t>
            </a:r>
            <a:r>
              <a:rPr lang="en-US" altLang="zh-CN">
                <a:sym typeface="Symbol" pitchFamily="18" charset="2"/>
              </a:rPr>
              <a:t> </a:t>
            </a:r>
            <a:r>
              <a:rPr lang="en-US" altLang="zh-CN" i="1"/>
              <a:t>f</a:t>
            </a:r>
            <a:r>
              <a:rPr lang="en-US" altLang="zh-CN"/>
              <a:t>(</a:t>
            </a:r>
            <a:r>
              <a:rPr lang="en-US" altLang="zh-CN" i="1"/>
              <a:t>x</a:t>
            </a:r>
            <a:r>
              <a:rPr lang="en-US" altLang="zh-CN"/>
              <a:t>)</a:t>
            </a:r>
          </a:p>
          <a:p>
            <a:pPr>
              <a:lnSpc>
                <a:spcPct val="70000"/>
              </a:lnSpc>
            </a:pPr>
            <a:endParaRPr lang="zh-CN" altLang="en-US"/>
          </a:p>
        </p:txBody>
      </p:sp>
    </p:spTree>
    <p:extLst>
      <p:ext uri="{BB962C8B-B14F-4D97-AF65-F5344CB8AC3E}">
        <p14:creationId xmlns:p14="http://schemas.microsoft.com/office/powerpoint/2010/main" val="3048617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30"/>
          <p:cNvSpPr>
            <a:spLocks noGrp="1" noChangeArrowheads="1"/>
          </p:cNvSpPr>
          <p:nvPr>
            <p:ph type="ftr" sz="quarter" idx="4"/>
          </p:nvPr>
        </p:nvSpPr>
        <p:spPr>
          <a:ln/>
        </p:spPr>
        <p:txBody>
          <a:bodyPr/>
          <a:lstStyle/>
          <a:p>
            <a:r>
              <a:rPr lang="zh-CN" altLang="en-US"/>
              <a:t>Confidential, for review only</a:t>
            </a:r>
            <a:endParaRPr lang="en-US" altLang="en-US"/>
          </a:p>
        </p:txBody>
      </p:sp>
      <p:sp>
        <p:nvSpPr>
          <p:cNvPr id="5" name="Rectangle 1031"/>
          <p:cNvSpPr>
            <a:spLocks noGrp="1" noChangeArrowheads="1"/>
          </p:cNvSpPr>
          <p:nvPr>
            <p:ph type="sldNum" sz="quarter" idx="5"/>
          </p:nvPr>
        </p:nvSpPr>
        <p:spPr>
          <a:ln/>
        </p:spPr>
        <p:txBody>
          <a:bodyPr/>
          <a:lstStyle/>
          <a:p>
            <a:fld id="{1A73DFFB-ADA4-43B2-9331-BF7BD24FE55A}" type="slidenum">
              <a:rPr lang="zh-CN" altLang="en-US"/>
              <a:pPr/>
              <a:t>45</a:t>
            </a:fld>
            <a:endParaRPr lang="en-US" altLang="zh-CN"/>
          </a:p>
        </p:txBody>
      </p:sp>
      <p:sp>
        <p:nvSpPr>
          <p:cNvPr id="866306" name="Rectangle 2"/>
          <p:cNvSpPr>
            <a:spLocks noGrp="1" noRot="1" noChangeAspect="1" noChangeArrowheads="1" noTextEdit="1"/>
          </p:cNvSpPr>
          <p:nvPr>
            <p:ph type="sldImg"/>
          </p:nvPr>
        </p:nvSpPr>
        <p:spPr>
          <a:xfrm>
            <a:off x="3105150" y="514350"/>
            <a:ext cx="3714750" cy="2571750"/>
          </a:xfrm>
          <a:ln/>
        </p:spPr>
      </p:sp>
      <p:sp>
        <p:nvSpPr>
          <p:cNvPr id="866307" name="Rectangle 3"/>
          <p:cNvSpPr>
            <a:spLocks noGrp="1" noChangeArrowheads="1"/>
          </p:cNvSpPr>
          <p:nvPr>
            <p:ph type="body" idx="1"/>
          </p:nvPr>
        </p:nvSpPr>
        <p:spPr>
          <a:xfrm>
            <a:off x="1322388" y="3257550"/>
            <a:ext cx="7278687" cy="3084513"/>
          </a:xfrm>
        </p:spPr>
        <p:txBody>
          <a:bodyPr lIns="93424" tIns="46712" rIns="93424" bIns="46712"/>
          <a:lstStyle/>
          <a:p>
            <a:endParaRPr lang="zh-CN" altLang="en-US"/>
          </a:p>
        </p:txBody>
      </p:sp>
    </p:spTree>
    <p:extLst>
      <p:ext uri="{BB962C8B-B14F-4D97-AF65-F5344CB8AC3E}">
        <p14:creationId xmlns:p14="http://schemas.microsoft.com/office/powerpoint/2010/main" val="3459367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Confidential, for review only</a:t>
            </a:r>
            <a:r>
              <a:rPr lang="en-US" altLang="en-US"/>
              <a:t>Borland</a:t>
            </a:r>
          </a:p>
        </p:txBody>
      </p:sp>
      <p:sp>
        <p:nvSpPr>
          <p:cNvPr id="5" name="灯片编号占位符 4"/>
          <p:cNvSpPr>
            <a:spLocks noGrp="1"/>
          </p:cNvSpPr>
          <p:nvPr>
            <p:ph type="sldNum" sz="quarter" idx="11"/>
          </p:nvPr>
        </p:nvSpPr>
        <p:spPr/>
        <p:txBody>
          <a:bodyPr/>
          <a:lstStyle/>
          <a:p>
            <a:fld id="{A1ED86A9-F446-4B80-A5D9-AC861DF09019}" type="slidenum">
              <a:rPr lang="zh-CN" altLang="en-US" smtClean="0"/>
              <a:pPr/>
              <a:t>62</a:t>
            </a:fld>
            <a:endParaRPr lang="en-US" altLang="zh-CN"/>
          </a:p>
        </p:txBody>
      </p:sp>
    </p:spTree>
    <p:extLst>
      <p:ext uri="{BB962C8B-B14F-4D97-AF65-F5344CB8AC3E}">
        <p14:creationId xmlns:p14="http://schemas.microsoft.com/office/powerpoint/2010/main" val="38045114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5475" name="Rectangle 3"/>
          <p:cNvSpPr>
            <a:spLocks noGrp="1" noChangeArrowheads="1"/>
          </p:cNvSpPr>
          <p:nvPr>
            <p:ph type="subTitle" sz="quarter" idx="1"/>
          </p:nvPr>
        </p:nvSpPr>
        <p:spPr>
          <a:xfrm>
            <a:off x="2146300" y="3505200"/>
            <a:ext cx="5745163" cy="976313"/>
          </a:xfrm>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lvl1pPr marL="0" indent="0" algn="ctr">
              <a:lnSpc>
                <a:spcPct val="95000"/>
              </a:lnSpc>
              <a:spcBef>
                <a:spcPct val="10000"/>
              </a:spcBef>
              <a:buFont typeface="Wingdings" pitchFamily="2" charset="2"/>
              <a:buNone/>
              <a:defRPr sz="3200">
                <a:solidFill>
                  <a:srgbClr val="C1C4DD"/>
                </a:solidFill>
              </a:defRPr>
            </a:lvl1pPr>
          </a:lstStyle>
          <a:p>
            <a:pPr lvl="0"/>
            <a:r>
              <a:rPr lang="en-US" altLang="en-US" noProof="0"/>
              <a:t>Speaker’s Name,</a:t>
            </a:r>
          </a:p>
          <a:p>
            <a:pPr lvl="0"/>
            <a:r>
              <a:rPr lang="en-US" altLang="en-US" noProof="0"/>
              <a:t>Speaker’s Title</a:t>
            </a:r>
          </a:p>
        </p:txBody>
      </p:sp>
      <p:sp>
        <p:nvSpPr>
          <p:cNvPr id="105476" name="Rectangle 4"/>
          <p:cNvSpPr>
            <a:spLocks noGrp="1" noChangeArrowheads="1"/>
          </p:cNvSpPr>
          <p:nvPr>
            <p:ph type="ctrTitle" sz="quarter"/>
          </p:nvPr>
        </p:nvSpPr>
        <p:spPr>
          <a:xfrm>
            <a:off x="1096963" y="2136775"/>
            <a:ext cx="7608887" cy="1968500"/>
          </a:xfrm>
          <a:effectLst/>
          <a:extLst>
            <a:ext uri="{AF507438-7753-43E0-B8FC-AC1667EBCBE1}">
              <a14:hiddenEffects xmlns:a14="http://schemas.microsoft.com/office/drawing/2010/main">
                <a:effectLst>
                  <a:outerShdw dist="17961" dir="2700000" algn="ctr" rotWithShape="0">
                    <a:schemeClr val="bg1"/>
                  </a:outerShdw>
                </a:effectLst>
              </a14:hiddenEffects>
            </a:ext>
          </a:extLst>
        </p:spPr>
        <p:txBody>
          <a:bodyPr anchor="t"/>
          <a:lstStyle>
            <a:lvl1pPr algn="ctr">
              <a:lnSpc>
                <a:spcPct val="95000"/>
              </a:lnSpc>
              <a:buClr>
                <a:schemeClr val="folHlink"/>
              </a:buClr>
              <a:buSzPct val="95000"/>
              <a:defRPr sz="6800"/>
            </a:lvl1pPr>
          </a:lstStyle>
          <a:p>
            <a:pPr lvl="0"/>
            <a:r>
              <a:rPr lang="en-US" alt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9FD161E7-AFBB-4D92-9034-37171E4E48C6}"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80034E5A-8472-49A7-AFEF-362FFF35F5F3}" type="datetime1">
              <a:rPr lang="zh-CN" altLang="en-US"/>
              <a:pPr/>
              <a:t>2024/11/18</a:t>
            </a:fld>
            <a:endParaRPr lang="en-US" altLang="zh-CN" sz="1000"/>
          </a:p>
        </p:txBody>
      </p:sp>
    </p:spTree>
    <p:extLst>
      <p:ext uri="{BB962C8B-B14F-4D97-AF65-F5344CB8AC3E}">
        <p14:creationId xmlns:p14="http://schemas.microsoft.com/office/powerpoint/2010/main" val="61346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lvl1pPr>
              <a:defRPr/>
            </a:lvl1pPr>
          </a:lstStyle>
          <a:p>
            <a:fld id="{5661CAD5-EC19-4DDC-90B3-50BCE8C67046}"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A71EA718-6D7C-4858-84AF-F4BFE538FA9F}" type="datetime1">
              <a:rPr lang="zh-CN" altLang="en-US"/>
              <a:pPr/>
              <a:t>2024/11/18</a:t>
            </a:fld>
            <a:endParaRPr lang="en-US" altLang="zh-CN" sz="1000"/>
          </a:p>
        </p:txBody>
      </p:sp>
    </p:spTree>
    <p:extLst>
      <p:ext uri="{BB962C8B-B14F-4D97-AF65-F5344CB8AC3E}">
        <p14:creationId xmlns:p14="http://schemas.microsoft.com/office/powerpoint/2010/main" val="336198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0875"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00"/>
            <a:ext cx="4333875" cy="251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lvl1pPr>
              <a:defRPr/>
            </a:lvl1pPr>
          </a:lstStyle>
          <a:p>
            <a:fld id="{F68CC862-B8B8-4B57-A661-E6B31C3831B4}"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D291C5E5-A7C8-44A1-B75E-5E05E0797762}" type="datetime1">
              <a:rPr lang="zh-CN" altLang="en-US"/>
              <a:pPr/>
              <a:t>2024/11/18</a:t>
            </a:fld>
            <a:endParaRPr lang="en-US" altLang="zh-CN" sz="1000"/>
          </a:p>
        </p:txBody>
      </p:sp>
    </p:spTree>
    <p:extLst>
      <p:ext uri="{BB962C8B-B14F-4D97-AF65-F5344CB8AC3E}">
        <p14:creationId xmlns:p14="http://schemas.microsoft.com/office/powerpoint/2010/main" val="3409299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lvl1pPr>
              <a:defRPr/>
            </a:lvl1pPr>
          </a:lstStyle>
          <a:p>
            <a:fld id="{B14F1F6D-5526-4071-92B8-284861B50375}" type="slidenum">
              <a:rPr lang="zh-CN" altLang="en-US"/>
              <a:pPr/>
              <a:t>‹#›</a:t>
            </a:fld>
            <a:endParaRPr lang="en-US" altLang="zh-CN"/>
          </a:p>
        </p:txBody>
      </p:sp>
      <p:sp>
        <p:nvSpPr>
          <p:cNvPr id="8" name="日期占位符 7"/>
          <p:cNvSpPr>
            <a:spLocks noGrp="1"/>
          </p:cNvSpPr>
          <p:nvPr>
            <p:ph type="dt" sz="half" idx="11"/>
          </p:nvPr>
        </p:nvSpPr>
        <p:spPr/>
        <p:txBody>
          <a:bodyPr/>
          <a:lstStyle>
            <a:lvl1pPr>
              <a:defRPr/>
            </a:lvl1pPr>
          </a:lstStyle>
          <a:p>
            <a:fld id="{9C1FBEFF-A142-4B7F-85CA-F074DA576104}" type="datetime1">
              <a:rPr lang="zh-CN" altLang="en-US"/>
              <a:pPr/>
              <a:t>2024/11/18</a:t>
            </a:fld>
            <a:endParaRPr lang="en-US" altLang="zh-CN" sz="1000"/>
          </a:p>
        </p:txBody>
      </p:sp>
    </p:spTree>
    <p:extLst>
      <p:ext uri="{BB962C8B-B14F-4D97-AF65-F5344CB8AC3E}">
        <p14:creationId xmlns:p14="http://schemas.microsoft.com/office/powerpoint/2010/main" val="3334760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lvl1pPr>
              <a:defRPr/>
            </a:lvl1pPr>
          </a:lstStyle>
          <a:p>
            <a:fld id="{E3AFE37D-DBE4-4D38-8209-5BA174F860C1}" type="slidenum">
              <a:rPr lang="zh-CN" altLang="en-US"/>
              <a:pPr/>
              <a:t>‹#›</a:t>
            </a:fld>
            <a:endParaRPr lang="en-US" altLang="zh-CN"/>
          </a:p>
        </p:txBody>
      </p:sp>
      <p:sp>
        <p:nvSpPr>
          <p:cNvPr id="4" name="日期占位符 3"/>
          <p:cNvSpPr>
            <a:spLocks noGrp="1"/>
          </p:cNvSpPr>
          <p:nvPr>
            <p:ph type="dt" sz="half" idx="11"/>
          </p:nvPr>
        </p:nvSpPr>
        <p:spPr/>
        <p:txBody>
          <a:bodyPr/>
          <a:lstStyle>
            <a:lvl1pPr>
              <a:defRPr/>
            </a:lvl1pPr>
          </a:lstStyle>
          <a:p>
            <a:fld id="{8DF59F38-347E-4408-B9E4-5C19E819445A}" type="datetime1">
              <a:rPr lang="zh-CN" altLang="en-US"/>
              <a:pPr/>
              <a:t>2024/11/18</a:t>
            </a:fld>
            <a:endParaRPr lang="en-US" altLang="zh-CN" sz="1000"/>
          </a:p>
        </p:txBody>
      </p:sp>
    </p:spTree>
    <p:extLst>
      <p:ext uri="{BB962C8B-B14F-4D97-AF65-F5344CB8AC3E}">
        <p14:creationId xmlns:p14="http://schemas.microsoft.com/office/powerpoint/2010/main" val="2739297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6B79BADD-4837-42EC-BB3C-42F2CEFF7274}" type="slidenum">
              <a:rPr lang="zh-CN" altLang="en-US"/>
              <a:pPr/>
              <a:t>‹#›</a:t>
            </a:fld>
            <a:endParaRPr lang="en-US" altLang="zh-CN"/>
          </a:p>
        </p:txBody>
      </p:sp>
      <p:sp>
        <p:nvSpPr>
          <p:cNvPr id="3" name="日期占位符 2"/>
          <p:cNvSpPr>
            <a:spLocks noGrp="1"/>
          </p:cNvSpPr>
          <p:nvPr>
            <p:ph type="dt" sz="half" idx="11"/>
          </p:nvPr>
        </p:nvSpPr>
        <p:spPr/>
        <p:txBody>
          <a:bodyPr/>
          <a:lstStyle>
            <a:lvl1pPr>
              <a:defRPr/>
            </a:lvl1pPr>
          </a:lstStyle>
          <a:p>
            <a:fld id="{5C6CD94F-BDAE-4485-AEA2-149A31D00C5A}" type="datetime1">
              <a:rPr lang="zh-CN" altLang="en-US"/>
              <a:pPr/>
              <a:t>2024/11/18</a:t>
            </a:fld>
            <a:endParaRPr lang="en-US" altLang="zh-CN" sz="1000"/>
          </a:p>
        </p:txBody>
      </p:sp>
    </p:spTree>
    <p:extLst>
      <p:ext uri="{BB962C8B-B14F-4D97-AF65-F5344CB8AC3E}">
        <p14:creationId xmlns:p14="http://schemas.microsoft.com/office/powerpoint/2010/main" val="484307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lvl1pPr>
              <a:defRPr/>
            </a:lvl1pPr>
          </a:lstStyle>
          <a:p>
            <a:fld id="{9718EA15-278E-46F4-9E0C-ADE252DE3716}"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03C11578-1B60-46B0-A7D2-3096F5CEA20E}" type="datetime1">
              <a:rPr lang="zh-CN" altLang="en-US"/>
              <a:pPr/>
              <a:t>2024/11/18</a:t>
            </a:fld>
            <a:endParaRPr lang="en-US" altLang="zh-CN" sz="1000"/>
          </a:p>
        </p:txBody>
      </p:sp>
    </p:spTree>
    <p:extLst>
      <p:ext uri="{BB962C8B-B14F-4D97-AF65-F5344CB8AC3E}">
        <p14:creationId xmlns:p14="http://schemas.microsoft.com/office/powerpoint/2010/main" val="2366946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lvl1pPr>
              <a:defRPr/>
            </a:lvl1pPr>
          </a:lstStyle>
          <a:p>
            <a:fld id="{DA040D14-C54C-48BC-A1EF-52ABA92C7942}" type="slidenum">
              <a:rPr lang="zh-CN" altLang="en-US"/>
              <a:pPr/>
              <a:t>‹#›</a:t>
            </a:fld>
            <a:endParaRPr lang="en-US" altLang="zh-CN"/>
          </a:p>
        </p:txBody>
      </p:sp>
      <p:sp>
        <p:nvSpPr>
          <p:cNvPr id="6" name="日期占位符 5"/>
          <p:cNvSpPr>
            <a:spLocks noGrp="1"/>
          </p:cNvSpPr>
          <p:nvPr>
            <p:ph type="dt" sz="half" idx="11"/>
          </p:nvPr>
        </p:nvSpPr>
        <p:spPr/>
        <p:txBody>
          <a:bodyPr/>
          <a:lstStyle>
            <a:lvl1pPr>
              <a:defRPr/>
            </a:lvl1pPr>
          </a:lstStyle>
          <a:p>
            <a:fld id="{FF7D6899-4146-4952-A59D-CCF96C96EFE4}" type="datetime1">
              <a:rPr lang="zh-CN" altLang="en-US"/>
              <a:pPr/>
              <a:t>2024/11/18</a:t>
            </a:fld>
            <a:endParaRPr lang="en-US" altLang="zh-CN" sz="1000"/>
          </a:p>
        </p:txBody>
      </p:sp>
    </p:spTree>
    <p:extLst>
      <p:ext uri="{BB962C8B-B14F-4D97-AF65-F5344CB8AC3E}">
        <p14:creationId xmlns:p14="http://schemas.microsoft.com/office/powerpoint/2010/main" val="3523079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E536DD01-D02B-44E0-980C-CACAC42D09D7}"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E1A017BB-78D0-484B-A563-473D41608593}" type="datetime1">
              <a:rPr lang="zh-CN" altLang="en-US"/>
              <a:pPr/>
              <a:t>2024/11/18</a:t>
            </a:fld>
            <a:endParaRPr lang="en-US" altLang="zh-CN" sz="1000"/>
          </a:p>
        </p:txBody>
      </p:sp>
    </p:spTree>
    <p:extLst>
      <p:ext uri="{BB962C8B-B14F-4D97-AF65-F5344CB8AC3E}">
        <p14:creationId xmlns:p14="http://schemas.microsoft.com/office/powerpoint/2010/main" val="302589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65988" y="255588"/>
            <a:ext cx="2205037" cy="3405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0875" y="255588"/>
            <a:ext cx="6462713" cy="3405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fld id="{4B7E6F2D-2EF0-4EDB-A290-7460C4903EE8}" type="slidenum">
              <a:rPr lang="zh-CN" altLang="en-US"/>
              <a:pPr/>
              <a:t>‹#›</a:t>
            </a:fld>
            <a:endParaRPr lang="en-US" altLang="zh-CN"/>
          </a:p>
        </p:txBody>
      </p:sp>
      <p:sp>
        <p:nvSpPr>
          <p:cNvPr id="5" name="日期占位符 4"/>
          <p:cNvSpPr>
            <a:spLocks noGrp="1"/>
          </p:cNvSpPr>
          <p:nvPr>
            <p:ph type="dt" sz="half" idx="11"/>
          </p:nvPr>
        </p:nvSpPr>
        <p:spPr/>
        <p:txBody>
          <a:bodyPr/>
          <a:lstStyle>
            <a:lvl1pPr>
              <a:defRPr/>
            </a:lvl1pPr>
          </a:lstStyle>
          <a:p>
            <a:fld id="{1A660512-835C-467D-B302-774316755E8E}" type="datetime1">
              <a:rPr lang="zh-CN" altLang="en-US"/>
              <a:pPr/>
              <a:t>2024/11/18</a:t>
            </a:fld>
            <a:endParaRPr lang="en-US" altLang="zh-CN" sz="1000"/>
          </a:p>
        </p:txBody>
      </p:sp>
    </p:spTree>
    <p:extLst>
      <p:ext uri="{BB962C8B-B14F-4D97-AF65-F5344CB8AC3E}">
        <p14:creationId xmlns:p14="http://schemas.microsoft.com/office/powerpoint/2010/main" val="4034656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50875" y="255588"/>
            <a:ext cx="8820150" cy="658812"/>
          </a:xfrm>
        </p:spPr>
        <p:txBody>
          <a:bodyPr/>
          <a:lstStyle/>
          <a:p>
            <a:r>
              <a:rPr lang="zh-CN" altLang="en-US"/>
              <a:t>单击此处编辑母版标题样式</a:t>
            </a:r>
          </a:p>
        </p:txBody>
      </p:sp>
      <p:sp>
        <p:nvSpPr>
          <p:cNvPr id="3" name="文本占位符 2"/>
          <p:cNvSpPr>
            <a:spLocks noGrp="1"/>
          </p:cNvSpPr>
          <p:nvPr>
            <p:ph type="body" sz="half" idx="1"/>
          </p:nvPr>
        </p:nvSpPr>
        <p:spPr>
          <a:xfrm>
            <a:off x="650875" y="1143000"/>
            <a:ext cx="4333875"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137150" y="1143000"/>
            <a:ext cx="4333875" cy="11826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137150" y="2478088"/>
            <a:ext cx="4333875" cy="1182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0"/>
          </p:nvPr>
        </p:nvSpPr>
        <p:spPr>
          <a:xfrm>
            <a:off x="7321550" y="6324600"/>
            <a:ext cx="2501900" cy="527050"/>
          </a:xfrm>
        </p:spPr>
        <p:txBody>
          <a:bodyPr/>
          <a:lstStyle>
            <a:lvl1pPr>
              <a:defRPr/>
            </a:lvl1pPr>
          </a:lstStyle>
          <a:p>
            <a:fld id="{19FFD495-6135-419A-9FAE-39FCB4884E52}" type="slidenum">
              <a:rPr lang="zh-CN" altLang="en-US"/>
              <a:pPr/>
              <a:t>‹#›</a:t>
            </a:fld>
            <a:endParaRPr lang="en-US" altLang="zh-CN"/>
          </a:p>
        </p:txBody>
      </p:sp>
      <p:sp>
        <p:nvSpPr>
          <p:cNvPr id="7" name="日期占位符 6"/>
          <p:cNvSpPr>
            <a:spLocks noGrp="1"/>
          </p:cNvSpPr>
          <p:nvPr>
            <p:ph type="dt" sz="half" idx="11"/>
          </p:nvPr>
        </p:nvSpPr>
        <p:spPr>
          <a:xfrm>
            <a:off x="14288" y="6350000"/>
            <a:ext cx="2297112" cy="577850"/>
          </a:xfrm>
        </p:spPr>
        <p:txBody>
          <a:bodyPr/>
          <a:lstStyle>
            <a:lvl1pPr>
              <a:defRPr/>
            </a:lvl1pPr>
          </a:lstStyle>
          <a:p>
            <a:fld id="{72A3CF18-B915-4958-9CF5-965548C15639}" type="datetime1">
              <a:rPr lang="zh-CN" altLang="en-US"/>
              <a:pPr/>
              <a:t>2024/11/18</a:t>
            </a:fld>
            <a:endParaRPr lang="en-US" altLang="zh-CN" sz="1000"/>
          </a:p>
        </p:txBody>
      </p:sp>
    </p:spTree>
    <p:extLst>
      <p:ext uri="{BB962C8B-B14F-4D97-AF65-F5344CB8AC3E}">
        <p14:creationId xmlns:p14="http://schemas.microsoft.com/office/powerpoint/2010/main" val="1233587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50875" y="255588"/>
            <a:ext cx="8820150" cy="658812"/>
          </a:xfrm>
        </p:spPr>
        <p:txBody>
          <a:bodyPr/>
          <a:lstStyle/>
          <a:p>
            <a:r>
              <a:rPr lang="zh-CN" altLang="en-US"/>
              <a:t>单击此处编辑母版标题样式</a:t>
            </a:r>
          </a:p>
        </p:txBody>
      </p:sp>
      <p:sp>
        <p:nvSpPr>
          <p:cNvPr id="3" name="文本占位符 2"/>
          <p:cNvSpPr>
            <a:spLocks noGrp="1"/>
          </p:cNvSpPr>
          <p:nvPr>
            <p:ph type="body" sz="half" idx="1"/>
          </p:nvPr>
        </p:nvSpPr>
        <p:spPr>
          <a:xfrm>
            <a:off x="650875" y="1143000"/>
            <a:ext cx="4333875"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37150" y="1143000"/>
            <a:ext cx="4333875"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a:xfrm>
            <a:off x="7321550" y="6324600"/>
            <a:ext cx="2501900" cy="527050"/>
          </a:xfrm>
        </p:spPr>
        <p:txBody>
          <a:bodyPr/>
          <a:lstStyle>
            <a:lvl1pPr>
              <a:defRPr/>
            </a:lvl1pPr>
          </a:lstStyle>
          <a:p>
            <a:fld id="{82F64B46-6EC3-4F1E-ADC8-0014DA5E7FED}" type="slidenum">
              <a:rPr lang="zh-CN" altLang="en-US"/>
              <a:pPr/>
              <a:t>‹#›</a:t>
            </a:fld>
            <a:endParaRPr lang="en-US" altLang="zh-CN"/>
          </a:p>
        </p:txBody>
      </p:sp>
      <p:sp>
        <p:nvSpPr>
          <p:cNvPr id="6" name="日期占位符 5"/>
          <p:cNvSpPr>
            <a:spLocks noGrp="1"/>
          </p:cNvSpPr>
          <p:nvPr>
            <p:ph type="dt" sz="half" idx="11"/>
          </p:nvPr>
        </p:nvSpPr>
        <p:spPr>
          <a:xfrm>
            <a:off x="14288" y="6350000"/>
            <a:ext cx="2297112" cy="577850"/>
          </a:xfrm>
        </p:spPr>
        <p:txBody>
          <a:bodyPr/>
          <a:lstStyle>
            <a:lvl1pPr>
              <a:defRPr/>
            </a:lvl1pPr>
          </a:lstStyle>
          <a:p>
            <a:fld id="{D79CEFF0-CE8C-4FF5-9E5C-CA78B9E21317}" type="datetime1">
              <a:rPr lang="zh-CN" altLang="en-US"/>
              <a:pPr/>
              <a:t>2024/11/18</a:t>
            </a:fld>
            <a:endParaRPr lang="en-US" altLang="zh-CN" sz="1000"/>
          </a:p>
        </p:txBody>
      </p:sp>
    </p:spTree>
    <p:extLst>
      <p:ext uri="{BB962C8B-B14F-4D97-AF65-F5344CB8AC3E}">
        <p14:creationId xmlns:p14="http://schemas.microsoft.com/office/powerpoint/2010/main" val="3950788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bwMode="auto">
          <a:xfrm>
            <a:off x="650875" y="1143000"/>
            <a:ext cx="8820150" cy="251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Body Text</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104451" name="Rectangle 3"/>
          <p:cNvSpPr>
            <a:spLocks noChangeArrowheads="1"/>
          </p:cNvSpPr>
          <p:nvPr/>
        </p:nvSpPr>
        <p:spPr bwMode="auto">
          <a:xfrm>
            <a:off x="4852988" y="2967038"/>
            <a:ext cx="196850"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04452" name="Rectangle 4"/>
          <p:cNvSpPr>
            <a:spLocks noGrp="1" noChangeArrowheads="1"/>
          </p:cNvSpPr>
          <p:nvPr>
            <p:ph type="title"/>
          </p:nvPr>
        </p:nvSpPr>
        <p:spPr bwMode="auto">
          <a:xfrm>
            <a:off x="650875" y="255588"/>
            <a:ext cx="8820150" cy="6588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en-US" altLang="en-US"/>
              <a:t>Slide Title</a:t>
            </a:r>
          </a:p>
        </p:txBody>
      </p:sp>
      <p:sp>
        <p:nvSpPr>
          <p:cNvPr id="104456" name="Rectangle 8"/>
          <p:cNvSpPr>
            <a:spLocks noGrp="1" noChangeArrowheads="1"/>
          </p:cNvSpPr>
          <p:nvPr>
            <p:ph type="sldNum" sz="quarter" idx="4"/>
          </p:nvPr>
        </p:nvSpPr>
        <p:spPr bwMode="auto">
          <a:xfrm>
            <a:off x="7321550" y="6324600"/>
            <a:ext cx="25019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r" defTabSz="1157288">
              <a:defRPr sz="2000">
                <a:latin typeface="+mj-lt"/>
              </a:defRPr>
            </a:lvl1pPr>
          </a:lstStyle>
          <a:p>
            <a:fld id="{A416E17F-EF2B-428D-A50F-42EA04D960D7}" type="slidenum">
              <a:rPr lang="zh-CN" altLang="en-US"/>
              <a:pPr/>
              <a:t>‹#›</a:t>
            </a:fld>
            <a:endParaRPr lang="en-US" altLang="zh-CN"/>
          </a:p>
        </p:txBody>
      </p:sp>
      <p:sp>
        <p:nvSpPr>
          <p:cNvPr id="104455" name="Rectangle 7"/>
          <p:cNvSpPr>
            <a:spLocks noGrp="1" noChangeArrowheads="1"/>
          </p:cNvSpPr>
          <p:nvPr>
            <p:ph type="dt" sz="half" idx="2"/>
          </p:nvPr>
        </p:nvSpPr>
        <p:spPr bwMode="auto">
          <a:xfrm>
            <a:off x="14288" y="6350000"/>
            <a:ext cx="2297112"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l" defTabSz="1157288">
              <a:defRPr sz="1800">
                <a:latin typeface="+mj-lt"/>
              </a:defRPr>
            </a:lvl1pPr>
          </a:lstStyle>
          <a:p>
            <a:fld id="{8BBA069C-9769-4DED-870D-4A04A9D3CF0F}" type="datetime1">
              <a:rPr lang="zh-CN" altLang="en-US"/>
              <a:pPr/>
              <a:t>2024/11/18</a:t>
            </a:fld>
            <a:endParaRPr lang="en-US" altLang="zh-CN" sz="100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hdr="0" ftr="0"/>
  <p:txStyles>
    <p:titleStyle>
      <a:lvl1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2pPr>
      <a:lvl3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3pPr>
      <a:lvl4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4pPr>
      <a:lvl5pPr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5pPr>
      <a:lvl6pPr marL="4572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6pPr>
      <a:lvl7pPr marL="9144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7pPr>
      <a:lvl8pPr marL="13716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8pPr>
      <a:lvl9pPr marL="1828800" algn="l" defTabSz="814388" rtl="0" eaLnBrk="0" fontAlgn="base" hangingPunct="0">
        <a:lnSpc>
          <a:spcPct val="90000"/>
        </a:lnSpc>
        <a:spcBef>
          <a:spcPct val="0"/>
        </a:spcBef>
        <a:spcAft>
          <a:spcPct val="0"/>
        </a:spcAft>
        <a:defRPr sz="4800" b="1">
          <a:solidFill>
            <a:schemeClr val="bg1"/>
          </a:solidFill>
          <a:effectLst>
            <a:outerShdw blurRad="38100" dist="38100" dir="2700000" algn="tl">
              <a:srgbClr val="C0C0C0"/>
            </a:outerShdw>
          </a:effectLst>
          <a:latin typeface="Arial" pitchFamily="34" charset="0"/>
          <a:ea typeface="黑体" pitchFamily="49"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4.jpeg"/><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12.x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1.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6.wmf"/><Relationship Id="rId3" Type="http://schemas.openxmlformats.org/officeDocument/2006/relationships/notesSlide" Target="../notesSlides/notesSlide7.xml"/><Relationship Id="rId7" Type="http://schemas.openxmlformats.org/officeDocument/2006/relationships/image" Target="../media/image13.wmf"/><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oleObject" Target="../embeddings/oleObject10.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4.wmf"/><Relationship Id="rId1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6.bin"/><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21.wmf"/><Relationship Id="rId4"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2.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4.emf"/><Relationship Id="rId5" Type="http://schemas.openxmlformats.org/officeDocument/2006/relationships/oleObject" Target="../embeddings/oleObject20.bin"/><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9.wmf"/><Relationship Id="rId18" Type="http://schemas.openxmlformats.org/officeDocument/2006/relationships/oleObject" Target="../embeddings/oleObject28.bin"/><Relationship Id="rId3" Type="http://schemas.openxmlformats.org/officeDocument/2006/relationships/notesSlide" Target="../notesSlides/notesSlide13.xml"/><Relationship Id="rId21" Type="http://schemas.openxmlformats.org/officeDocument/2006/relationships/image" Target="../media/image33.wmf"/><Relationship Id="rId7" Type="http://schemas.openxmlformats.org/officeDocument/2006/relationships/image" Target="../media/image26.wmf"/><Relationship Id="rId12" Type="http://schemas.openxmlformats.org/officeDocument/2006/relationships/oleObject" Target="../embeddings/oleObject25.bin"/><Relationship Id="rId17" Type="http://schemas.openxmlformats.org/officeDocument/2006/relationships/image" Target="../media/image31.wmf"/><Relationship Id="rId2" Type="http://schemas.openxmlformats.org/officeDocument/2006/relationships/slideLayout" Target="../slideLayouts/slideLayout2.xml"/><Relationship Id="rId16" Type="http://schemas.openxmlformats.org/officeDocument/2006/relationships/oleObject" Target="../embeddings/oleObject27.bin"/><Relationship Id="rId20" Type="http://schemas.openxmlformats.org/officeDocument/2006/relationships/oleObject" Target="../embeddings/oleObject29.bin"/><Relationship Id="rId1" Type="http://schemas.openxmlformats.org/officeDocument/2006/relationships/tags" Target="../tags/tag8.xml"/><Relationship Id="rId6" Type="http://schemas.openxmlformats.org/officeDocument/2006/relationships/oleObject" Target="../embeddings/oleObject22.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10" Type="http://schemas.openxmlformats.org/officeDocument/2006/relationships/oleObject" Target="../embeddings/oleObject24.bin"/><Relationship Id="rId19" Type="http://schemas.openxmlformats.org/officeDocument/2006/relationships/image" Target="../media/image32.wmf"/><Relationship Id="rId4" Type="http://schemas.openxmlformats.org/officeDocument/2006/relationships/oleObject" Target="../embeddings/oleObject21.bin"/><Relationship Id="rId9" Type="http://schemas.openxmlformats.org/officeDocument/2006/relationships/image" Target="../media/image27.wmf"/><Relationship Id="rId14" Type="http://schemas.openxmlformats.org/officeDocument/2006/relationships/oleObject" Target="../embeddings/oleObject26.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5.wmf"/><Relationship Id="rId4" Type="http://schemas.openxmlformats.org/officeDocument/2006/relationships/oleObject" Target="../embeddings/oleObject31.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33.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5.bin"/></Relationships>
</file>

<file path=ppt/slides/_rels/slide30.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44.emf"/><Relationship Id="rId2" Type="http://schemas.openxmlformats.org/officeDocument/2006/relationships/slideLayout" Target="../slideLayouts/slideLayout2.xml"/><Relationship Id="rId16" Type="http://schemas.openxmlformats.org/officeDocument/2006/relationships/image" Target="../media/image46.wmf"/><Relationship Id="rId1" Type="http://schemas.openxmlformats.org/officeDocument/2006/relationships/tags" Target="../tags/tag10.xml"/><Relationship Id="rId6" Type="http://schemas.openxmlformats.org/officeDocument/2006/relationships/image" Target="../media/image41.e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39.bin"/><Relationship Id="rId14" Type="http://schemas.openxmlformats.org/officeDocument/2006/relationships/image" Target="../media/image45.wmf"/></Relationships>
</file>

<file path=ppt/slides/_rels/slide31.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46.bin"/><Relationship Id="rId3" Type="http://schemas.openxmlformats.org/officeDocument/2006/relationships/oleObject" Target="../embeddings/oleObject36.bin"/><Relationship Id="rId7" Type="http://schemas.openxmlformats.org/officeDocument/2006/relationships/oleObject" Target="../embeddings/oleObject43.bin"/><Relationship Id="rId12" Type="http://schemas.openxmlformats.org/officeDocument/2006/relationships/image" Target="../media/image50.emf"/><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47.emf"/><Relationship Id="rId11" Type="http://schemas.openxmlformats.org/officeDocument/2006/relationships/oleObject" Target="../embeddings/oleObject45.bin"/><Relationship Id="rId5" Type="http://schemas.openxmlformats.org/officeDocument/2006/relationships/oleObject" Target="../embeddings/oleObject37.bin"/><Relationship Id="rId10" Type="http://schemas.openxmlformats.org/officeDocument/2006/relationships/image" Target="../media/image49.wmf"/><Relationship Id="rId4" Type="http://schemas.openxmlformats.org/officeDocument/2006/relationships/image" Target="../media/image40.wmf"/><Relationship Id="rId9" Type="http://schemas.openxmlformats.org/officeDocument/2006/relationships/oleObject" Target="../embeddings/oleObject44.bin"/><Relationship Id="rId14" Type="http://schemas.openxmlformats.org/officeDocument/2006/relationships/image" Target="../media/image45.w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51.wmf"/><Relationship Id="rId4" Type="http://schemas.openxmlformats.org/officeDocument/2006/relationships/oleObject" Target="../embeddings/oleObject47.bin"/></Relationships>
</file>

<file path=ppt/slides/_rels/slide33.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53.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5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oleObject" Target="../embeddings/oleObject53.bin"/><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oleObject" Target="../embeddings/oleObject5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55.bin"/><Relationship Id="rId1" Type="http://schemas.openxmlformats.org/officeDocument/2006/relationships/slideLayout" Target="../slideLayouts/slideLayout2.xml"/><Relationship Id="rId5" Type="http://schemas.openxmlformats.org/officeDocument/2006/relationships/image" Target="../media/image60.wmf"/><Relationship Id="rId4" Type="http://schemas.openxmlformats.org/officeDocument/2006/relationships/oleObject" Target="../embeddings/oleObject5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1.wmf"/></Relationships>
</file>

<file path=ppt/slides/_rels/slide41.xml.rels><?xml version="1.0" encoding="UTF-8" standalone="yes"?>
<Relationships xmlns="http://schemas.openxmlformats.org/package/2006/relationships"><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58.bin"/><Relationship Id="rId1" Type="http://schemas.openxmlformats.org/officeDocument/2006/relationships/slideLayout" Target="../slideLayouts/slideLayout2.xml"/><Relationship Id="rId6" Type="http://schemas.openxmlformats.org/officeDocument/2006/relationships/oleObject" Target="../embeddings/oleObject60.bin"/><Relationship Id="rId5" Type="http://schemas.openxmlformats.org/officeDocument/2006/relationships/image" Target="../media/image63.wmf"/><Relationship Id="rId4" Type="http://schemas.openxmlformats.org/officeDocument/2006/relationships/oleObject" Target="../embeddings/oleObject59.bin"/></Relationships>
</file>

<file path=ppt/slides/_rels/slide42.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61.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67.emf"/><Relationship Id="rId5" Type="http://schemas.openxmlformats.org/officeDocument/2006/relationships/oleObject" Target="../embeddings/oleObject63.bin"/><Relationship Id="rId4" Type="http://schemas.openxmlformats.org/officeDocument/2006/relationships/image" Target="../media/image66.wmf"/></Relationships>
</file>

<file path=ppt/slides/_rels/slide44.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64.bin"/><Relationship Id="rId1" Type="http://schemas.openxmlformats.org/officeDocument/2006/relationships/slideLayout" Target="../slideLayouts/slideLayout6.xml"/><Relationship Id="rId5" Type="http://schemas.openxmlformats.org/officeDocument/2006/relationships/image" Target="../media/image69.emf"/><Relationship Id="rId4" Type="http://schemas.openxmlformats.org/officeDocument/2006/relationships/oleObject" Target="../embeddings/oleObject65.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0.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67.bin"/><Relationship Id="rId1" Type="http://schemas.openxmlformats.org/officeDocument/2006/relationships/slideLayout" Target="../slideLayouts/slideLayout2.xml"/><Relationship Id="rId6" Type="http://schemas.openxmlformats.org/officeDocument/2006/relationships/oleObject" Target="../embeddings/oleObject69.bin"/><Relationship Id="rId11" Type="http://schemas.openxmlformats.org/officeDocument/2006/relationships/image" Target="../media/image75.wmf"/><Relationship Id="rId5" Type="http://schemas.openxmlformats.org/officeDocument/2006/relationships/image" Target="../media/image72.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74.wmf"/></Relationships>
</file>

<file path=ppt/slides/_rels/slide47.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76.wmf"/><Relationship Id="rId2" Type="http://schemas.openxmlformats.org/officeDocument/2006/relationships/oleObject" Target="../embeddings/oleObject59.bin"/><Relationship Id="rId1" Type="http://schemas.openxmlformats.org/officeDocument/2006/relationships/slideLayout" Target="../slideLayouts/slideLayout2.xml"/><Relationship Id="rId6" Type="http://schemas.openxmlformats.org/officeDocument/2006/relationships/oleObject" Target="../embeddings/oleObject72.bin"/><Relationship Id="rId5" Type="http://schemas.openxmlformats.org/officeDocument/2006/relationships/image" Target="../media/image64.wmf"/><Relationship Id="rId4" Type="http://schemas.openxmlformats.org/officeDocument/2006/relationships/oleObject" Target="../embeddings/oleObject60.bin"/></Relationships>
</file>

<file path=ppt/slides/_rels/slide48.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73.bin"/><Relationship Id="rId1" Type="http://schemas.openxmlformats.org/officeDocument/2006/relationships/slideLayout" Target="../slideLayouts/slideLayout2.xml"/><Relationship Id="rId5" Type="http://schemas.openxmlformats.org/officeDocument/2006/relationships/image" Target="../media/image78.wmf"/><Relationship Id="rId4" Type="http://schemas.openxmlformats.org/officeDocument/2006/relationships/oleObject" Target="../embeddings/oleObject74.bin"/></Relationships>
</file>

<file path=ppt/slides/_rels/slide49.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80.wmf"/><Relationship Id="rId5" Type="http://schemas.openxmlformats.org/officeDocument/2006/relationships/oleObject" Target="../embeddings/oleObject76.bin"/><Relationship Id="rId4" Type="http://schemas.openxmlformats.org/officeDocument/2006/relationships/image" Target="../media/image79.wmf"/></Relationships>
</file>

<file path=ppt/slides/_rels/slide50.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78.bin"/><Relationship Id="rId1" Type="http://schemas.openxmlformats.org/officeDocument/2006/relationships/slideLayout" Target="../slideLayouts/slideLayout2.xml"/><Relationship Id="rId5" Type="http://schemas.openxmlformats.org/officeDocument/2006/relationships/image" Target="../media/image83.wmf"/><Relationship Id="rId4" Type="http://schemas.openxmlformats.org/officeDocument/2006/relationships/oleObject" Target="../embeddings/oleObject79.bin"/></Relationships>
</file>

<file path=ppt/slides/_rels/slide51.x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0.wmf"/><Relationship Id="rId2" Type="http://schemas.openxmlformats.org/officeDocument/2006/relationships/oleObject" Target="../embeddings/oleObject80.bin"/><Relationship Id="rId1" Type="http://schemas.openxmlformats.org/officeDocument/2006/relationships/slideLayout" Target="../slideLayouts/slideLayout2.xml"/><Relationship Id="rId6" Type="http://schemas.openxmlformats.org/officeDocument/2006/relationships/oleObject" Target="../embeddings/oleObject76.bin"/><Relationship Id="rId5" Type="http://schemas.openxmlformats.org/officeDocument/2006/relationships/image" Target="../media/image85.wmf"/><Relationship Id="rId4" Type="http://schemas.openxmlformats.org/officeDocument/2006/relationships/oleObject" Target="../embeddings/oleObject81.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91.wmf"/><Relationship Id="rId2" Type="http://schemas.openxmlformats.org/officeDocument/2006/relationships/slideLayout" Target="../slideLayouts/slideLayout7.xml"/><Relationship Id="rId1" Type="http://schemas.openxmlformats.org/officeDocument/2006/relationships/tags" Target="../tags/tag16.xml"/><Relationship Id="rId6" Type="http://schemas.openxmlformats.org/officeDocument/2006/relationships/image" Target="../media/image88.wmf"/><Relationship Id="rId11" Type="http://schemas.openxmlformats.org/officeDocument/2006/relationships/oleObject" Target="../embeddings/oleObject86.bin"/><Relationship Id="rId5" Type="http://schemas.openxmlformats.org/officeDocument/2006/relationships/oleObject" Target="../embeddings/oleObject83.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85.bin"/></Relationships>
</file>

<file path=ppt/slides/_rels/slide56.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oleObject" Target="../embeddings/oleObject87.bin"/><Relationship Id="rId7" Type="http://schemas.openxmlformats.org/officeDocument/2006/relationships/oleObject" Target="../embeddings/oleObject89.bin"/><Relationship Id="rId12" Type="http://schemas.openxmlformats.org/officeDocument/2006/relationships/image" Target="../media/image96.wmf"/><Relationship Id="rId2" Type="http://schemas.openxmlformats.org/officeDocument/2006/relationships/slideLayout" Target="../slideLayouts/slideLayout7.xml"/><Relationship Id="rId1" Type="http://schemas.openxmlformats.org/officeDocument/2006/relationships/tags" Target="../tags/tag17.xml"/><Relationship Id="rId6" Type="http://schemas.openxmlformats.org/officeDocument/2006/relationships/image" Target="../media/image93.wmf"/><Relationship Id="rId11" Type="http://schemas.openxmlformats.org/officeDocument/2006/relationships/oleObject" Target="../embeddings/oleObject91.bin"/><Relationship Id="rId5" Type="http://schemas.openxmlformats.org/officeDocument/2006/relationships/oleObject" Target="../embeddings/oleObject88.bin"/><Relationship Id="rId10" Type="http://schemas.openxmlformats.org/officeDocument/2006/relationships/image" Target="../media/image95.wmf"/><Relationship Id="rId4" Type="http://schemas.openxmlformats.org/officeDocument/2006/relationships/image" Target="../media/image92.wmf"/><Relationship Id="rId9" Type="http://schemas.openxmlformats.org/officeDocument/2006/relationships/oleObject" Target="../embeddings/oleObject90.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97.bin"/><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101.wmf"/><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98.w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image" Target="../media/image103.jpeg"/><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95.bin"/><Relationship Id="rId14" Type="http://schemas.openxmlformats.org/officeDocument/2006/relationships/image" Target="../media/image102.wmf"/></Relationships>
</file>

<file path=ppt/slides/_rels/slide59.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05.wmf"/><Relationship Id="rId5" Type="http://schemas.openxmlformats.org/officeDocument/2006/relationships/oleObject" Target="../embeddings/oleObject99.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101.bin"/></Relationships>
</file>

<file path=ppt/slides/_rels/slide60.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oleObject" Target="../embeddings/oleObject102.bin"/><Relationship Id="rId1" Type="http://schemas.openxmlformats.org/officeDocument/2006/relationships/slideLayout" Target="../slideLayouts/slideLayout2.xml"/><Relationship Id="rId5" Type="http://schemas.openxmlformats.org/officeDocument/2006/relationships/image" Target="../media/image109.wmf"/><Relationship Id="rId4" Type="http://schemas.openxmlformats.org/officeDocument/2006/relationships/oleObject" Target="../embeddings/oleObject103.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14.wmf"/><Relationship Id="rId18" Type="http://schemas.openxmlformats.org/officeDocument/2006/relationships/oleObject" Target="../embeddings/oleObject111.bin"/><Relationship Id="rId3" Type="http://schemas.openxmlformats.org/officeDocument/2006/relationships/notesSlide" Target="../notesSlides/notesSlide23.xml"/><Relationship Id="rId21" Type="http://schemas.openxmlformats.org/officeDocument/2006/relationships/image" Target="../media/image118.wmf"/><Relationship Id="rId7" Type="http://schemas.openxmlformats.org/officeDocument/2006/relationships/image" Target="../media/image111.wmf"/><Relationship Id="rId12" Type="http://schemas.openxmlformats.org/officeDocument/2006/relationships/oleObject" Target="../embeddings/oleObject108.bin"/><Relationship Id="rId17" Type="http://schemas.openxmlformats.org/officeDocument/2006/relationships/image" Target="../media/image116.wmf"/><Relationship Id="rId2" Type="http://schemas.openxmlformats.org/officeDocument/2006/relationships/slideLayout" Target="../slideLayouts/slideLayout2.xml"/><Relationship Id="rId16" Type="http://schemas.openxmlformats.org/officeDocument/2006/relationships/oleObject" Target="../embeddings/oleObject110.bin"/><Relationship Id="rId20" Type="http://schemas.openxmlformats.org/officeDocument/2006/relationships/oleObject" Target="../embeddings/oleObject112.bin"/><Relationship Id="rId1" Type="http://schemas.openxmlformats.org/officeDocument/2006/relationships/tags" Target="../tags/tag21.xml"/><Relationship Id="rId6" Type="http://schemas.openxmlformats.org/officeDocument/2006/relationships/oleObject" Target="../embeddings/oleObject105.bin"/><Relationship Id="rId11" Type="http://schemas.openxmlformats.org/officeDocument/2006/relationships/image" Target="../media/image113.wmf"/><Relationship Id="rId5" Type="http://schemas.openxmlformats.org/officeDocument/2006/relationships/image" Target="../media/image110.emf"/><Relationship Id="rId15" Type="http://schemas.openxmlformats.org/officeDocument/2006/relationships/image" Target="../media/image115.wmf"/><Relationship Id="rId10" Type="http://schemas.openxmlformats.org/officeDocument/2006/relationships/oleObject" Target="../embeddings/oleObject107.bin"/><Relationship Id="rId19" Type="http://schemas.openxmlformats.org/officeDocument/2006/relationships/image" Target="../media/image117.wmf"/><Relationship Id="rId4" Type="http://schemas.openxmlformats.org/officeDocument/2006/relationships/oleObject" Target="../embeddings/oleObject104.bin"/><Relationship Id="rId9" Type="http://schemas.openxmlformats.org/officeDocument/2006/relationships/image" Target="../media/image112.wmf"/><Relationship Id="rId14" Type="http://schemas.openxmlformats.org/officeDocument/2006/relationships/oleObject" Target="../embeddings/oleObject109.bin"/></Relationships>
</file>

<file path=ppt/slides/_rels/slide63.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118.bin"/><Relationship Id="rId18" Type="http://schemas.openxmlformats.org/officeDocument/2006/relationships/image" Target="../media/image126.emf"/><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23.wmf"/><Relationship Id="rId17" Type="http://schemas.openxmlformats.org/officeDocument/2006/relationships/oleObject" Target="../embeddings/oleObject120.bin"/><Relationship Id="rId2" Type="http://schemas.openxmlformats.org/officeDocument/2006/relationships/slideLayout" Target="../slideLayouts/slideLayout2.xml"/><Relationship Id="rId16" Type="http://schemas.openxmlformats.org/officeDocument/2006/relationships/image" Target="../media/image125.emf"/><Relationship Id="rId1" Type="http://schemas.openxmlformats.org/officeDocument/2006/relationships/tags" Target="../tags/tag22.xml"/><Relationship Id="rId6" Type="http://schemas.openxmlformats.org/officeDocument/2006/relationships/image" Target="../media/image120.wmf"/><Relationship Id="rId11" Type="http://schemas.openxmlformats.org/officeDocument/2006/relationships/oleObject" Target="../embeddings/oleObject117.bin"/><Relationship Id="rId5" Type="http://schemas.openxmlformats.org/officeDocument/2006/relationships/oleObject" Target="../embeddings/oleObject114.bin"/><Relationship Id="rId15" Type="http://schemas.openxmlformats.org/officeDocument/2006/relationships/oleObject" Target="../embeddings/oleObject119.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116.bin"/><Relationship Id="rId14" Type="http://schemas.openxmlformats.org/officeDocument/2006/relationships/image" Target="../media/image124.wmf"/></Relationships>
</file>

<file path=ppt/slides/_rels/slide64.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121.bin"/><Relationship Id="rId7" Type="http://schemas.openxmlformats.org/officeDocument/2006/relationships/oleObject" Target="../embeddings/oleObject123.bin"/><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128.wmf"/><Relationship Id="rId5" Type="http://schemas.openxmlformats.org/officeDocument/2006/relationships/oleObject" Target="../embeddings/oleObject122.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124.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125.bin"/><Relationship Id="rId1" Type="http://schemas.openxmlformats.org/officeDocument/2006/relationships/slideLayout" Target="../slideLayouts/slideLayout2.xml"/><Relationship Id="rId6" Type="http://schemas.openxmlformats.org/officeDocument/2006/relationships/oleObject" Target="../embeddings/oleObject127.bin"/><Relationship Id="rId5" Type="http://schemas.openxmlformats.org/officeDocument/2006/relationships/image" Target="../media/image132.wmf"/><Relationship Id="rId4" Type="http://schemas.openxmlformats.org/officeDocument/2006/relationships/oleObject" Target="../embeddings/oleObject126.bin"/><Relationship Id="rId9" Type="http://schemas.openxmlformats.org/officeDocument/2006/relationships/image" Target="../media/image134.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136.wmf"/><Relationship Id="rId5" Type="http://schemas.openxmlformats.org/officeDocument/2006/relationships/oleObject" Target="../embeddings/oleObject130.bin"/><Relationship Id="rId4" Type="http://schemas.openxmlformats.org/officeDocument/2006/relationships/image" Target="../media/image135.wmf"/></Relationships>
</file>

<file path=ppt/slides/_rels/slide67.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oleObject" Target="../embeddings/oleObject131.bin"/><Relationship Id="rId1" Type="http://schemas.openxmlformats.org/officeDocument/2006/relationships/slideLayout" Target="../slideLayouts/slideLayout2.xml"/><Relationship Id="rId5" Type="http://schemas.openxmlformats.org/officeDocument/2006/relationships/image" Target="../media/image138.wmf"/><Relationship Id="rId4" Type="http://schemas.openxmlformats.org/officeDocument/2006/relationships/oleObject" Target="../embeddings/oleObject132.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image" Target="../media/image139.wmf"/><Relationship Id="rId7" Type="http://schemas.openxmlformats.org/officeDocument/2006/relationships/image" Target="../media/image141.wmf"/><Relationship Id="rId2" Type="http://schemas.openxmlformats.org/officeDocument/2006/relationships/oleObject" Target="../embeddings/oleObject133.bin"/><Relationship Id="rId1" Type="http://schemas.openxmlformats.org/officeDocument/2006/relationships/slideLayout" Target="../slideLayouts/slideLayout2.xml"/><Relationship Id="rId6" Type="http://schemas.openxmlformats.org/officeDocument/2006/relationships/oleObject" Target="../embeddings/oleObject135.bin"/><Relationship Id="rId5" Type="http://schemas.openxmlformats.org/officeDocument/2006/relationships/image" Target="../media/image140.wmf"/><Relationship Id="rId4" Type="http://schemas.openxmlformats.org/officeDocument/2006/relationships/oleObject" Target="../embeddings/oleObject134.bin"/><Relationship Id="rId9" Type="http://schemas.openxmlformats.org/officeDocument/2006/relationships/image" Target="../media/image142.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8" name="Rectangle 6"/>
          <p:cNvSpPr>
            <a:spLocks noGrp="1" noChangeArrowheads="1"/>
          </p:cNvSpPr>
          <p:nvPr>
            <p:ph type="ctrTitle"/>
          </p:nvPr>
        </p:nvSpPr>
        <p:spPr>
          <a:xfrm>
            <a:off x="1096963" y="2136775"/>
            <a:ext cx="7608887" cy="868363"/>
          </a:xfrm>
        </p:spPr>
        <p:txBody>
          <a:bodyPr/>
          <a:lstStyle/>
          <a:p>
            <a:r>
              <a:rPr lang="zh-CN" altLang="en-US" sz="6000"/>
              <a:t>《数  值  分  析》</a:t>
            </a:r>
          </a:p>
        </p:txBody>
      </p:sp>
      <p:sp>
        <p:nvSpPr>
          <p:cNvPr id="791559" name="Rectangle 7"/>
          <p:cNvSpPr>
            <a:spLocks noGrp="1" noChangeArrowheads="1"/>
          </p:cNvSpPr>
          <p:nvPr>
            <p:ph type="subTitle" idx="1"/>
          </p:nvPr>
        </p:nvSpPr>
        <p:spPr>
          <a:xfrm>
            <a:off x="2146300" y="3505200"/>
            <a:ext cx="5745163" cy="781050"/>
          </a:xfrm>
        </p:spPr>
        <p:txBody>
          <a:bodyPr/>
          <a:lstStyle/>
          <a:p>
            <a:r>
              <a:rPr kumimoji="1" lang="zh-CN" altLang="en-US" sz="5400">
                <a:solidFill>
                  <a:srgbClr val="FEFCFD"/>
                </a:solidFill>
                <a:effectLst>
                  <a:outerShdw blurRad="38100" dist="38100" dir="2700000" algn="tl">
                    <a:srgbClr val="C0C0C0"/>
                  </a:outerShdw>
                </a:effectLst>
              </a:rPr>
              <a:t>期末总结</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B85604D9-F772-4BFC-A996-046610762FC6}" type="slidenum">
              <a:rPr lang="zh-CN" altLang="en-US"/>
              <a:pPr/>
              <a:t>2</a:t>
            </a:fld>
            <a:endParaRPr lang="en-US" altLang="zh-CN"/>
          </a:p>
        </p:txBody>
      </p:sp>
      <p:sp>
        <p:nvSpPr>
          <p:cNvPr id="5" name="日期占位符 4"/>
          <p:cNvSpPr>
            <a:spLocks noGrp="1"/>
          </p:cNvSpPr>
          <p:nvPr>
            <p:ph type="dt" sz="half" idx="11"/>
          </p:nvPr>
        </p:nvSpPr>
        <p:spPr/>
        <p:txBody>
          <a:bodyPr/>
          <a:lstStyle/>
          <a:p>
            <a:fld id="{29E0F4EF-709A-4053-911A-E5BD8243F82B}" type="datetime1">
              <a:rPr lang="zh-CN" altLang="en-US"/>
              <a:pPr/>
              <a:t>2024/11/18</a:t>
            </a:fld>
            <a:endParaRPr lang="en-US" altLang="zh-CN" sz="1000"/>
          </a:p>
        </p:txBody>
      </p:sp>
      <p:sp>
        <p:nvSpPr>
          <p:cNvPr id="793602" name="Rectangle 2"/>
          <p:cNvSpPr>
            <a:spLocks noGrp="1" noChangeArrowheads="1"/>
          </p:cNvSpPr>
          <p:nvPr>
            <p:ph type="title"/>
          </p:nvPr>
        </p:nvSpPr>
        <p:spPr/>
        <p:txBody>
          <a:bodyPr/>
          <a:lstStyle/>
          <a:p>
            <a:r>
              <a:rPr lang="zh-CN" altLang="en-US" dirty="0"/>
              <a:t> 考试题型</a:t>
            </a:r>
            <a:r>
              <a:rPr lang="en-US" altLang="zh-CN" dirty="0"/>
              <a:t>(</a:t>
            </a:r>
            <a:r>
              <a:rPr lang="zh-CN" altLang="en-US" dirty="0"/>
              <a:t>计划</a:t>
            </a:r>
            <a:r>
              <a:rPr lang="en-US" altLang="zh-CN" dirty="0"/>
              <a:t>)</a:t>
            </a:r>
            <a:endParaRPr lang="zh-CN" altLang="en-US" dirty="0"/>
          </a:p>
        </p:txBody>
      </p:sp>
      <p:sp>
        <p:nvSpPr>
          <p:cNvPr id="793603" name="Rectangle 3"/>
          <p:cNvSpPr>
            <a:spLocks noGrp="1" noChangeArrowheads="1"/>
          </p:cNvSpPr>
          <p:nvPr>
            <p:ph type="body" idx="1"/>
          </p:nvPr>
        </p:nvSpPr>
        <p:spPr>
          <a:xfrm>
            <a:off x="762000" y="1143000"/>
            <a:ext cx="8686800" cy="3964162"/>
          </a:xfrm>
        </p:spPr>
        <p:txBody>
          <a:bodyPr/>
          <a:lstStyle/>
          <a:p>
            <a:r>
              <a:rPr kumimoji="1" lang="zh-CN" altLang="en-US" sz="3200" b="0" dirty="0">
                <a:solidFill>
                  <a:srgbClr val="000000"/>
                </a:solidFill>
                <a:latin typeface="Tahoma" pitchFamily="34" charset="0"/>
              </a:rPr>
              <a:t>一、</a:t>
            </a:r>
            <a:r>
              <a:rPr lang="zh-CN" altLang="en-US" sz="3200" dirty="0"/>
              <a:t>填空题（每空</a:t>
            </a:r>
            <a:r>
              <a:rPr lang="en-US" altLang="zh-CN" sz="3200" dirty="0"/>
              <a:t>2</a:t>
            </a:r>
            <a:r>
              <a:rPr lang="zh-CN" altLang="en-US" sz="3200" dirty="0"/>
              <a:t>分，共</a:t>
            </a:r>
            <a:r>
              <a:rPr lang="en-US" altLang="zh-CN" sz="3200" dirty="0"/>
              <a:t>40</a:t>
            </a:r>
            <a:r>
              <a:rPr lang="zh-CN" altLang="en-US" sz="3200" dirty="0"/>
              <a:t>分）</a:t>
            </a:r>
          </a:p>
          <a:p>
            <a:r>
              <a:rPr kumimoji="1" lang="zh-CN" altLang="en-US" sz="3200" dirty="0"/>
              <a:t>二、计算题（</a:t>
            </a:r>
            <a:r>
              <a:rPr kumimoji="1" lang="en-US" altLang="zh-CN" sz="3200" dirty="0"/>
              <a:t>60</a:t>
            </a:r>
            <a:r>
              <a:rPr kumimoji="1" lang="zh-CN" altLang="en-US" sz="3200" dirty="0"/>
              <a:t>分）</a:t>
            </a:r>
            <a:endParaRPr lang="zh-CN" altLang="en-US" sz="3200" dirty="0"/>
          </a:p>
          <a:p>
            <a:pPr lvl="1"/>
            <a:r>
              <a:rPr lang="zh-CN" altLang="en-US" sz="3200" dirty="0"/>
              <a:t>掌握数值方法的内容、公式和计算方法，应用条件、误差分析等内容。</a:t>
            </a:r>
            <a:endParaRPr lang="en-US" altLang="zh-CN" sz="3200" dirty="0"/>
          </a:p>
          <a:p>
            <a:pPr lvl="1"/>
            <a:endParaRPr lang="en-US" altLang="zh-CN" sz="3200" dirty="0"/>
          </a:p>
          <a:p>
            <a:r>
              <a:rPr lang="zh-CN" altLang="en-US" sz="3200" dirty="0"/>
              <a:t>计算过程可以使用计算器</a:t>
            </a:r>
            <a:endParaRPr lang="en-US" altLang="zh-CN" sz="3200" dirty="0"/>
          </a:p>
          <a:p>
            <a:pPr lvl="1"/>
            <a:r>
              <a:rPr lang="zh-CN" altLang="en-US" sz="3200" dirty="0"/>
              <a:t>不可以用手机和具有编程功能的计算器</a:t>
            </a:r>
          </a:p>
        </p:txBody>
      </p:sp>
    </p:spTree>
    <p:extLst>
      <p:ext uri="{BB962C8B-B14F-4D97-AF65-F5344CB8AC3E}">
        <p14:creationId xmlns:p14="http://schemas.microsoft.com/office/powerpoint/2010/main" val="2867023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4294967295"/>
          </p:nvPr>
        </p:nvSpPr>
        <p:spPr>
          <a:xfrm>
            <a:off x="838201" y="6482495"/>
            <a:ext cx="2120411" cy="533400"/>
          </a:xfrm>
          <a:prstGeom prst="rect">
            <a:avLst/>
          </a:prstGeom>
        </p:spPr>
        <p:txBody>
          <a:bodyPr/>
          <a:lstStyle/>
          <a:p>
            <a:fld id="{90D29C46-B1BB-4081-8B47-C2BE0792BA16}" type="datetime1">
              <a:rPr lang="zh-CN" altLang="en-US"/>
              <a:pPr/>
              <a:t>2024/11/18</a:t>
            </a:fld>
            <a:endParaRPr lang="en-US" altLang="zh-CN" sz="923" dirty="0"/>
          </a:p>
        </p:txBody>
      </p:sp>
      <p:sp>
        <p:nvSpPr>
          <p:cNvPr id="582658" name="Rectangle 2"/>
          <p:cNvSpPr>
            <a:spLocks noGrp="1" noChangeArrowheads="1"/>
          </p:cNvSpPr>
          <p:nvPr>
            <p:ph type="title"/>
          </p:nvPr>
        </p:nvSpPr>
        <p:spPr/>
        <p:txBody>
          <a:bodyPr/>
          <a:lstStyle/>
          <a:p>
            <a:r>
              <a:rPr lang="zh-CN" altLang="en-US" dirty="0"/>
              <a:t>期末成绩及组成</a:t>
            </a:r>
          </a:p>
        </p:txBody>
      </p:sp>
      <p:sp>
        <p:nvSpPr>
          <p:cNvPr id="11" name="内容占位符 2"/>
          <p:cNvSpPr>
            <a:spLocks noGrp="1"/>
          </p:cNvSpPr>
          <p:nvPr>
            <p:ph idx="1"/>
          </p:nvPr>
        </p:nvSpPr>
        <p:spPr>
          <a:xfrm>
            <a:off x="833679" y="1196752"/>
            <a:ext cx="8229600" cy="4933658"/>
          </a:xfrm>
        </p:spPr>
        <p:txBody>
          <a:bodyPr/>
          <a:lstStyle/>
          <a:p>
            <a:pPr>
              <a:lnSpc>
                <a:spcPct val="150000"/>
              </a:lnSpc>
            </a:pPr>
            <a:r>
              <a:rPr lang="zh-CN" altLang="en-US" dirty="0"/>
              <a:t>平时成绩</a:t>
            </a:r>
            <a:r>
              <a:rPr lang="en-US" altLang="zh-CN" dirty="0"/>
              <a:t>30%</a:t>
            </a:r>
          </a:p>
          <a:p>
            <a:pPr lvl="1"/>
            <a:r>
              <a:rPr lang="zh-CN" altLang="en-US" dirty="0"/>
              <a:t>课堂出勤（</a:t>
            </a:r>
            <a:r>
              <a:rPr lang="en-US" altLang="zh-CN" dirty="0"/>
              <a:t>4’</a:t>
            </a:r>
            <a:r>
              <a:rPr lang="zh-CN" altLang="en-US" dirty="0"/>
              <a:t>）</a:t>
            </a:r>
            <a:r>
              <a:rPr lang="en-US" altLang="zh-CN" dirty="0"/>
              <a:t>+</a:t>
            </a:r>
            <a:r>
              <a:rPr lang="zh-CN" altLang="en-US" dirty="0"/>
              <a:t>作业</a:t>
            </a:r>
            <a:r>
              <a:rPr lang="en-US" altLang="zh-CN" dirty="0"/>
              <a:t>(6’)</a:t>
            </a:r>
          </a:p>
          <a:p>
            <a:pPr lvl="1"/>
            <a:r>
              <a:rPr lang="zh-CN" altLang="en-US" dirty="0"/>
              <a:t>章后练习题</a:t>
            </a:r>
            <a:r>
              <a:rPr lang="en-US" altLang="zh-CN" dirty="0"/>
              <a:t>/</a:t>
            </a:r>
            <a:r>
              <a:rPr lang="zh-CN" altLang="en-US" dirty="0"/>
              <a:t>测试</a:t>
            </a:r>
            <a:r>
              <a:rPr lang="zh-CN" altLang="en-US" dirty="0">
                <a:cs typeface="Arial" panose="020B0604020202020204" pitchFamily="34" charset="0"/>
              </a:rPr>
              <a:t>（</a:t>
            </a:r>
            <a:r>
              <a:rPr lang="en-US" altLang="zh-CN" dirty="0">
                <a:latin typeface="Times New Roman"/>
                <a:cs typeface="Arial" panose="020B0604020202020204" pitchFamily="34" charset="0"/>
              </a:rPr>
              <a:t>10’</a:t>
            </a:r>
            <a:r>
              <a:rPr lang="zh-CN" altLang="en-US" dirty="0">
                <a:cs typeface="Arial" panose="020B0604020202020204" pitchFamily="34" charset="0"/>
              </a:rPr>
              <a:t>）</a:t>
            </a:r>
            <a:endParaRPr lang="en-US" altLang="zh-CN" dirty="0"/>
          </a:p>
          <a:p>
            <a:pPr lvl="1"/>
            <a:r>
              <a:rPr lang="zh-CN" altLang="en-US" dirty="0"/>
              <a:t>上机实验报告</a:t>
            </a:r>
            <a:r>
              <a:rPr lang="zh-CN" altLang="en-US" dirty="0">
                <a:cs typeface="Arial" panose="020B0604020202020204" pitchFamily="34" charset="0"/>
              </a:rPr>
              <a:t>（</a:t>
            </a:r>
            <a:r>
              <a:rPr lang="en-US" altLang="zh-CN" dirty="0">
                <a:latin typeface="Times New Roman"/>
                <a:cs typeface="Arial" panose="020B0604020202020204" pitchFamily="34" charset="0"/>
              </a:rPr>
              <a:t>10’</a:t>
            </a:r>
            <a:r>
              <a:rPr lang="zh-CN" altLang="en-US" dirty="0">
                <a:cs typeface="Arial" panose="020B0604020202020204" pitchFamily="34" charset="0"/>
              </a:rPr>
              <a:t>）</a:t>
            </a:r>
            <a:endParaRPr lang="en-US" altLang="zh-CN" dirty="0"/>
          </a:p>
          <a:p>
            <a:pPr lvl="2">
              <a:buFont typeface="Wingdings" panose="05000000000000000000" pitchFamily="2" charset="2"/>
              <a:buChar char="Ø"/>
            </a:pPr>
            <a:r>
              <a:rPr lang="en-US" altLang="zh-CN" dirty="0"/>
              <a:t>5</a:t>
            </a:r>
            <a:r>
              <a:rPr lang="zh-CN" altLang="en-US" dirty="0"/>
              <a:t>章内容任选</a:t>
            </a:r>
            <a:r>
              <a:rPr lang="en-US" altLang="zh-CN" dirty="0"/>
              <a:t>2</a:t>
            </a:r>
            <a:r>
              <a:rPr lang="zh-CN" altLang="en-US" dirty="0"/>
              <a:t>个</a:t>
            </a:r>
            <a:r>
              <a:rPr lang="en-US" altLang="zh-CN" dirty="0"/>
              <a:t> </a:t>
            </a:r>
          </a:p>
          <a:p>
            <a:pPr>
              <a:lnSpc>
                <a:spcPct val="150000"/>
              </a:lnSpc>
            </a:pPr>
            <a:r>
              <a:rPr lang="zh-CN" altLang="en-US" dirty="0"/>
              <a:t>期末考试</a:t>
            </a:r>
            <a:r>
              <a:rPr lang="en-US" altLang="zh-CN" dirty="0"/>
              <a:t>70% </a:t>
            </a:r>
          </a:p>
          <a:p>
            <a:pPr>
              <a:lnSpc>
                <a:spcPct val="150000"/>
              </a:lnSpc>
            </a:pPr>
            <a:r>
              <a:rPr lang="zh-CN" altLang="en-US" dirty="0"/>
              <a:t>附加分</a:t>
            </a:r>
            <a:r>
              <a:rPr lang="en-US" altLang="zh-CN" dirty="0"/>
              <a:t>(</a:t>
            </a:r>
            <a:r>
              <a:rPr lang="zh-CN" altLang="en-US" dirty="0"/>
              <a:t>≤</a:t>
            </a:r>
            <a:r>
              <a:rPr lang="en-US" altLang="zh-CN" dirty="0"/>
              <a:t>5’)</a:t>
            </a:r>
            <a:r>
              <a:rPr lang="zh-CN" altLang="en-US" dirty="0"/>
              <a:t>：课堂回答问题</a:t>
            </a:r>
            <a:endParaRPr lang="en-US" altLang="zh-CN" dirty="0"/>
          </a:p>
          <a:p>
            <a:endParaRPr lang="en-US" altLang="zh-CN" dirty="0"/>
          </a:p>
        </p:txBody>
      </p:sp>
    </p:spTree>
    <p:custDataLst>
      <p:tags r:id="rId1"/>
    </p:custDataLst>
    <p:extLst>
      <p:ext uri="{BB962C8B-B14F-4D97-AF65-F5344CB8AC3E}">
        <p14:creationId xmlns:p14="http://schemas.microsoft.com/office/powerpoint/2010/main" val="930301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1D8957E1-9A1B-4F35-B5E8-EF27A9D85E98}" type="slidenum">
              <a:rPr lang="zh-CN" altLang="en-US"/>
              <a:pPr/>
              <a:t>4</a:t>
            </a:fld>
            <a:endParaRPr lang="en-US" altLang="zh-CN"/>
          </a:p>
        </p:txBody>
      </p:sp>
      <p:sp>
        <p:nvSpPr>
          <p:cNvPr id="5" name="日期占位符 4"/>
          <p:cNvSpPr>
            <a:spLocks noGrp="1"/>
          </p:cNvSpPr>
          <p:nvPr>
            <p:ph type="dt" sz="half" idx="11"/>
          </p:nvPr>
        </p:nvSpPr>
        <p:spPr/>
        <p:txBody>
          <a:bodyPr/>
          <a:lstStyle/>
          <a:p>
            <a:fld id="{AC4464B4-6778-4261-B5C8-46E872A2E487}" type="datetime1">
              <a:rPr lang="zh-CN" altLang="en-US"/>
              <a:pPr/>
              <a:t>2024/11/18</a:t>
            </a:fld>
            <a:endParaRPr lang="en-US" altLang="zh-CN" sz="1000"/>
          </a:p>
        </p:txBody>
      </p:sp>
      <p:sp>
        <p:nvSpPr>
          <p:cNvPr id="779266" name="Rectangle 2"/>
          <p:cNvSpPr>
            <a:spLocks noGrp="1" noChangeArrowheads="1"/>
          </p:cNvSpPr>
          <p:nvPr>
            <p:ph type="title"/>
          </p:nvPr>
        </p:nvSpPr>
        <p:spPr/>
        <p:txBody>
          <a:bodyPr/>
          <a:lstStyle/>
          <a:p>
            <a:r>
              <a:rPr lang="zh-CN" altLang="en-US"/>
              <a:t>第一章    数值计算中的误差</a:t>
            </a:r>
          </a:p>
        </p:txBody>
      </p:sp>
      <p:sp>
        <p:nvSpPr>
          <p:cNvPr id="779267" name="Rectangle 3"/>
          <p:cNvSpPr>
            <a:spLocks noGrp="1" noChangeArrowheads="1"/>
          </p:cNvSpPr>
          <p:nvPr>
            <p:ph type="body" idx="1"/>
          </p:nvPr>
        </p:nvSpPr>
        <p:spPr>
          <a:xfrm>
            <a:off x="650875" y="1143000"/>
            <a:ext cx="8820150" cy="4117975"/>
          </a:xfrm>
        </p:spPr>
        <p:txBody>
          <a:bodyPr/>
          <a:lstStyle/>
          <a:p>
            <a:r>
              <a:rPr lang="en-US" altLang="zh-CN"/>
              <a:t>1 </a:t>
            </a:r>
            <a:r>
              <a:rPr lang="zh-CN" altLang="en-US"/>
              <a:t>误差</a:t>
            </a:r>
          </a:p>
          <a:p>
            <a:pPr lvl="1"/>
            <a:r>
              <a:rPr lang="en-US" altLang="zh-CN"/>
              <a:t>(1) </a:t>
            </a:r>
            <a:r>
              <a:rPr lang="zh-CN" altLang="en-US"/>
              <a:t>绝对误差</a:t>
            </a:r>
            <a:r>
              <a:rPr lang="en-US" altLang="zh-CN"/>
              <a:t>(</a:t>
            </a:r>
            <a:r>
              <a:rPr lang="zh-CN" altLang="en-US"/>
              <a:t>限</a:t>
            </a:r>
            <a:r>
              <a:rPr lang="en-US" altLang="zh-CN"/>
              <a:t>)</a:t>
            </a:r>
            <a:r>
              <a:rPr lang="zh-CN" altLang="en-US"/>
              <a:t>、相对误差</a:t>
            </a:r>
            <a:r>
              <a:rPr lang="en-US" altLang="zh-CN"/>
              <a:t>(</a:t>
            </a:r>
            <a:r>
              <a:rPr lang="zh-CN" altLang="en-US"/>
              <a:t>限</a:t>
            </a:r>
            <a:r>
              <a:rPr lang="en-US" altLang="zh-CN"/>
              <a:t>)</a:t>
            </a:r>
            <a:endParaRPr lang="zh-CN" altLang="en-US"/>
          </a:p>
          <a:p>
            <a:pPr lvl="1"/>
            <a:r>
              <a:rPr lang="en-US" altLang="zh-CN"/>
              <a:t>(2) </a:t>
            </a:r>
            <a:r>
              <a:rPr lang="zh-CN" altLang="en-US"/>
              <a:t>有效数字</a:t>
            </a:r>
            <a:endParaRPr lang="en-US" altLang="zh-CN"/>
          </a:p>
          <a:p>
            <a:r>
              <a:rPr lang="en-US" altLang="zh-CN"/>
              <a:t>2 </a:t>
            </a:r>
            <a:r>
              <a:rPr lang="zh-CN" altLang="en-US"/>
              <a:t>算术运算中的误差</a:t>
            </a:r>
          </a:p>
          <a:p>
            <a:pPr lvl="1"/>
            <a:r>
              <a:rPr lang="zh-CN" altLang="en-US"/>
              <a:t>加法</a:t>
            </a:r>
            <a:r>
              <a:rPr lang="en-US" altLang="zh-CN"/>
              <a:t>(</a:t>
            </a:r>
            <a:r>
              <a:rPr lang="zh-CN" altLang="en-US"/>
              <a:t>减法</a:t>
            </a:r>
            <a:r>
              <a:rPr lang="en-US" altLang="zh-CN"/>
              <a:t>)</a:t>
            </a:r>
            <a:r>
              <a:rPr lang="zh-CN" altLang="en-US"/>
              <a:t>、  乘法</a:t>
            </a:r>
          </a:p>
          <a:p>
            <a:r>
              <a:rPr lang="en-US" altLang="zh-CN"/>
              <a:t>3 </a:t>
            </a:r>
            <a:r>
              <a:rPr lang="zh-CN" altLang="en-US"/>
              <a:t>误差的来源与分类</a:t>
            </a:r>
          </a:p>
          <a:p>
            <a:pPr lvl="1"/>
            <a:r>
              <a:rPr lang="zh-CN" altLang="en-US"/>
              <a:t>舍入误差和截断误差</a:t>
            </a:r>
            <a:endParaRPr lang="en-US" altLang="zh-CN"/>
          </a:p>
          <a:p>
            <a:r>
              <a:rPr lang="en-US" altLang="zh-CN"/>
              <a:t>4 </a:t>
            </a:r>
            <a:r>
              <a:rPr lang="zh-CN" altLang="en-US"/>
              <a:t>误差分配原则与处理方法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F636DE71-4167-4443-B7BB-E5834A62269A}" type="slidenum">
              <a:rPr lang="zh-CN" altLang="en-US"/>
              <a:pPr/>
              <a:t>5</a:t>
            </a:fld>
            <a:endParaRPr lang="en-US" altLang="zh-CN"/>
          </a:p>
        </p:txBody>
      </p:sp>
      <p:sp>
        <p:nvSpPr>
          <p:cNvPr id="5" name="日期占位符 4"/>
          <p:cNvSpPr>
            <a:spLocks noGrp="1"/>
          </p:cNvSpPr>
          <p:nvPr>
            <p:ph type="dt" sz="half" idx="11"/>
          </p:nvPr>
        </p:nvSpPr>
        <p:spPr/>
        <p:txBody>
          <a:bodyPr/>
          <a:lstStyle/>
          <a:p>
            <a:fld id="{6FADAA43-ED2F-4801-92E6-5B7B4840C1BC}" type="datetime1">
              <a:rPr lang="zh-CN" altLang="en-US"/>
              <a:pPr/>
              <a:t>2024/11/18</a:t>
            </a:fld>
            <a:endParaRPr lang="en-US" altLang="zh-CN" sz="1000"/>
          </a:p>
        </p:txBody>
      </p:sp>
      <p:sp>
        <p:nvSpPr>
          <p:cNvPr id="686082" name="Rectangle 2"/>
          <p:cNvSpPr>
            <a:spLocks noGrp="1" noChangeArrowheads="1"/>
          </p:cNvSpPr>
          <p:nvPr>
            <p:ph type="title"/>
          </p:nvPr>
        </p:nvSpPr>
        <p:spPr/>
        <p:txBody>
          <a:bodyPr/>
          <a:lstStyle/>
          <a:p>
            <a:r>
              <a:rPr lang="en-US" altLang="zh-CN"/>
              <a:t>1.1 </a:t>
            </a:r>
            <a:r>
              <a:rPr lang="zh-CN" altLang="en-US"/>
              <a:t>绝对误差与相对误差</a:t>
            </a:r>
          </a:p>
        </p:txBody>
      </p:sp>
      <p:sp>
        <p:nvSpPr>
          <p:cNvPr id="686083" name="Rectangle 3"/>
          <p:cNvSpPr>
            <a:spLocks noGrp="1" noChangeArrowheads="1"/>
          </p:cNvSpPr>
          <p:nvPr>
            <p:ph type="body" idx="1"/>
          </p:nvPr>
        </p:nvSpPr>
        <p:spPr>
          <a:xfrm>
            <a:off x="776288" y="1268413"/>
            <a:ext cx="8497887" cy="4606925"/>
          </a:xfrm>
        </p:spPr>
        <p:txBody>
          <a:bodyPr/>
          <a:lstStyle/>
          <a:p>
            <a:pPr>
              <a:lnSpc>
                <a:spcPct val="80000"/>
              </a:lnSpc>
            </a:pPr>
            <a:r>
              <a:rPr lang="zh-CN" altLang="en-US"/>
              <a:t>绝对误差</a:t>
            </a:r>
            <a:r>
              <a:rPr lang="zh-CN" altLang="en-US">
                <a:sym typeface="Symbol" pitchFamily="18" charset="2"/>
              </a:rPr>
              <a:t></a:t>
            </a:r>
            <a:endParaRPr lang="en-US" altLang="zh-CN">
              <a:latin typeface="宋体" pitchFamily="2" charset="-122"/>
            </a:endParaRPr>
          </a:p>
          <a:p>
            <a:pPr lvl="1">
              <a:lnSpc>
                <a:spcPct val="80000"/>
              </a:lnSpc>
            </a:pPr>
            <a:r>
              <a:rPr lang="zh-CN" altLang="en-US"/>
              <a:t>设</a:t>
            </a:r>
            <a:r>
              <a:rPr lang="en-US" altLang="zh-CN"/>
              <a:t>A</a:t>
            </a:r>
            <a:r>
              <a:rPr lang="zh-CN" altLang="en-US"/>
              <a:t>是精确值，</a:t>
            </a:r>
            <a:r>
              <a:rPr lang="en-US" altLang="zh-CN"/>
              <a:t>a</a:t>
            </a:r>
            <a:r>
              <a:rPr lang="zh-CN" altLang="en-US"/>
              <a:t>是近似值，则定义两者之差    </a:t>
            </a:r>
            <a:r>
              <a:rPr lang="zh-CN" altLang="en-US">
                <a:sym typeface="Symbol" pitchFamily="18" charset="2"/>
              </a:rPr>
              <a:t></a:t>
            </a:r>
            <a:r>
              <a:rPr lang="en-US" altLang="zh-CN">
                <a:latin typeface="宋体" pitchFamily="2" charset="-122"/>
              </a:rPr>
              <a:t>=a-A</a:t>
            </a:r>
            <a:r>
              <a:rPr lang="zh-CN" altLang="en-US">
                <a:latin typeface="宋体" pitchFamily="2" charset="-122"/>
              </a:rPr>
              <a:t>为近似数</a:t>
            </a:r>
            <a:r>
              <a:rPr lang="en-US" altLang="zh-CN">
                <a:latin typeface="宋体" pitchFamily="2" charset="-122"/>
              </a:rPr>
              <a:t>a</a:t>
            </a:r>
            <a:r>
              <a:rPr lang="zh-CN" altLang="en-US">
                <a:latin typeface="宋体" pitchFamily="2" charset="-122"/>
              </a:rPr>
              <a:t>的绝对误差</a:t>
            </a:r>
            <a:endParaRPr lang="zh-CN" altLang="en-US"/>
          </a:p>
          <a:p>
            <a:pPr>
              <a:lnSpc>
                <a:spcPct val="80000"/>
              </a:lnSpc>
            </a:pPr>
            <a:r>
              <a:rPr lang="zh-CN" altLang="en-US"/>
              <a:t>绝对误差限</a:t>
            </a:r>
            <a:r>
              <a:rPr lang="zh-CN" altLang="en-US">
                <a:sym typeface="Symbol" pitchFamily="18" charset="2"/>
              </a:rPr>
              <a:t></a:t>
            </a:r>
            <a:endParaRPr lang="zh-CN" altLang="en-US">
              <a:latin typeface="宋体" pitchFamily="2" charset="-122"/>
            </a:endParaRPr>
          </a:p>
          <a:p>
            <a:pPr lvl="1">
              <a:lnSpc>
                <a:spcPct val="80000"/>
              </a:lnSpc>
            </a:pPr>
            <a:r>
              <a:rPr lang="zh-CN" altLang="zh-CN">
                <a:latin typeface="宋体" pitchFamily="2" charset="-122"/>
              </a:rPr>
              <a:t>|</a:t>
            </a:r>
            <a:r>
              <a:rPr lang="zh-CN" altLang="en-US">
                <a:sym typeface="Symbol" pitchFamily="18" charset="2"/>
              </a:rPr>
              <a:t></a:t>
            </a:r>
            <a:r>
              <a:rPr lang="en-US" altLang="zh-CN">
                <a:latin typeface="宋体" pitchFamily="2" charset="-122"/>
              </a:rPr>
              <a:t>|=|a-A|&lt;</a:t>
            </a:r>
            <a:r>
              <a:rPr lang="zh-CN" altLang="en-US">
                <a:sym typeface="Symbol" pitchFamily="18" charset="2"/>
              </a:rPr>
              <a:t></a:t>
            </a:r>
            <a:r>
              <a:rPr lang="en-US" altLang="zh-CN">
                <a:latin typeface="宋体" pitchFamily="2" charset="-122"/>
              </a:rPr>
              <a:t>(</a:t>
            </a:r>
            <a:r>
              <a:rPr lang="zh-CN" altLang="en-US">
                <a:latin typeface="宋体" pitchFamily="2" charset="-122"/>
              </a:rPr>
              <a:t>上界)，称为绝对误差限</a:t>
            </a:r>
            <a:endParaRPr lang="zh-CN" altLang="zh-CN">
              <a:latin typeface="宋体" pitchFamily="2" charset="-122"/>
            </a:endParaRPr>
          </a:p>
          <a:p>
            <a:pPr>
              <a:lnSpc>
                <a:spcPct val="80000"/>
              </a:lnSpc>
            </a:pPr>
            <a:r>
              <a:rPr lang="zh-CN" altLang="en-US"/>
              <a:t>相对误差</a:t>
            </a:r>
            <a:r>
              <a:rPr lang="zh-CN" altLang="en-US">
                <a:sym typeface="Symbol" pitchFamily="18" charset="2"/>
              </a:rPr>
              <a:t></a:t>
            </a:r>
            <a:endParaRPr lang="zh-CN" altLang="en-US">
              <a:latin typeface="宋体" pitchFamily="2" charset="-122"/>
            </a:endParaRPr>
          </a:p>
          <a:p>
            <a:pPr lvl="1">
              <a:lnSpc>
                <a:spcPct val="80000"/>
              </a:lnSpc>
            </a:pPr>
            <a:r>
              <a:rPr lang="zh-CN" altLang="en-US">
                <a:latin typeface="宋体" pitchFamily="2" charset="-122"/>
              </a:rPr>
              <a:t>绝对误差与精确值之比</a:t>
            </a:r>
            <a:r>
              <a:rPr lang="zh-CN" altLang="en-US">
                <a:sym typeface="Symbol" pitchFamily="18" charset="2"/>
              </a:rPr>
              <a:t></a:t>
            </a:r>
            <a:r>
              <a:rPr lang="en-US" altLang="zh-CN">
                <a:latin typeface="宋体" pitchFamily="2" charset="-122"/>
              </a:rPr>
              <a:t>A=</a:t>
            </a:r>
            <a:r>
              <a:rPr lang="en-US" altLang="zh-CN"/>
              <a:t> </a:t>
            </a:r>
            <a:r>
              <a:rPr lang="zh-CN" altLang="en-US">
                <a:sym typeface="Symbol" pitchFamily="18" charset="2"/>
              </a:rPr>
              <a:t></a:t>
            </a:r>
            <a:r>
              <a:rPr lang="en-US" altLang="zh-CN">
                <a:latin typeface="宋体" pitchFamily="2" charset="-122"/>
              </a:rPr>
              <a:t>/A</a:t>
            </a:r>
            <a:r>
              <a:rPr lang="zh-CN" altLang="en-US">
                <a:latin typeface="宋体" pitchFamily="2" charset="-122"/>
              </a:rPr>
              <a:t>为相对误差</a:t>
            </a:r>
          </a:p>
          <a:p>
            <a:pPr>
              <a:lnSpc>
                <a:spcPct val="80000"/>
              </a:lnSpc>
            </a:pPr>
            <a:r>
              <a:rPr lang="zh-CN" altLang="en-US"/>
              <a:t>相对误差限</a:t>
            </a:r>
            <a:endParaRPr lang="zh-CN" altLang="zh-CN">
              <a:latin typeface="宋体" pitchFamily="2" charset="-122"/>
            </a:endParaRPr>
          </a:p>
          <a:p>
            <a:pPr lvl="1">
              <a:lnSpc>
                <a:spcPct val="80000"/>
              </a:lnSpc>
            </a:pPr>
            <a:r>
              <a:rPr lang="zh-CN" altLang="zh-CN">
                <a:latin typeface="宋体" pitchFamily="2" charset="-122"/>
              </a:rPr>
              <a:t>|</a:t>
            </a:r>
            <a:r>
              <a:rPr lang="zh-CN" altLang="en-US">
                <a:sym typeface="Symbol" pitchFamily="18" charset="2"/>
              </a:rPr>
              <a:t></a:t>
            </a:r>
            <a:r>
              <a:rPr lang="en-US" altLang="zh-CN">
                <a:latin typeface="宋体" pitchFamily="2" charset="-122"/>
              </a:rPr>
              <a:t>A|=|</a:t>
            </a:r>
            <a:r>
              <a:rPr lang="zh-CN" altLang="en-US">
                <a:sym typeface="Symbol" pitchFamily="18" charset="2"/>
              </a:rPr>
              <a:t></a:t>
            </a:r>
            <a:r>
              <a:rPr lang="en-US" altLang="zh-CN">
                <a:latin typeface="宋体" pitchFamily="2" charset="-122"/>
              </a:rPr>
              <a:t>/A|&lt;η</a:t>
            </a:r>
            <a:r>
              <a:rPr lang="en-US" altLang="zh-CN"/>
              <a:t> (</a:t>
            </a:r>
            <a:r>
              <a:rPr lang="zh-CN" altLang="en-US">
                <a:latin typeface="宋体" pitchFamily="2" charset="-122"/>
              </a:rPr>
              <a:t>上界</a:t>
            </a:r>
            <a:r>
              <a:rPr lang="zh-CN" altLang="zh-CN"/>
              <a:t>)，</a:t>
            </a:r>
            <a:r>
              <a:rPr lang="zh-CN" altLang="en-US"/>
              <a:t>称为相对误差限</a:t>
            </a:r>
          </a:p>
          <a:p>
            <a:pPr>
              <a:lnSpc>
                <a:spcPct val="80000"/>
              </a:lnSpc>
            </a:pPr>
            <a:r>
              <a:rPr lang="zh-CN" altLang="en-US"/>
              <a:t>绝对误差和相对误差有关系：</a:t>
            </a:r>
            <a:r>
              <a:rPr lang="zh-CN" altLang="en-US">
                <a:sym typeface="Symbol" pitchFamily="18" charset="2"/>
              </a:rPr>
              <a:t></a:t>
            </a:r>
            <a:r>
              <a:rPr lang="en-US" altLang="zh-CN">
                <a:latin typeface="宋体" pitchFamily="2" charset="-122"/>
              </a:rPr>
              <a:t>=a </a:t>
            </a:r>
            <a:r>
              <a:rPr lang="zh-CN" altLang="en-US">
                <a:sym typeface="Symbol" pitchFamily="18" charset="2"/>
              </a:rPr>
              <a:t></a:t>
            </a:r>
            <a:r>
              <a:rPr lang="en-US" altLang="zh-CN">
                <a:latin typeface="宋体" pitchFamily="2" charset="-122"/>
              </a:rPr>
              <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F8C3B15F-C36B-42CD-8D65-DFDF431EB8D2}" type="slidenum">
              <a:rPr lang="zh-CN" altLang="en-US"/>
              <a:pPr/>
              <a:t>6</a:t>
            </a:fld>
            <a:endParaRPr lang="en-US" altLang="zh-CN"/>
          </a:p>
        </p:txBody>
      </p:sp>
      <p:sp>
        <p:nvSpPr>
          <p:cNvPr id="5" name="日期占位符 4"/>
          <p:cNvSpPr>
            <a:spLocks noGrp="1"/>
          </p:cNvSpPr>
          <p:nvPr>
            <p:ph type="dt" sz="half" idx="11"/>
          </p:nvPr>
        </p:nvSpPr>
        <p:spPr/>
        <p:txBody>
          <a:bodyPr/>
          <a:lstStyle/>
          <a:p>
            <a:fld id="{6452DCA2-3448-4AB3-93CE-E6B0904ABF9B}" type="datetime1">
              <a:rPr lang="zh-CN" altLang="en-US"/>
              <a:pPr/>
              <a:t>2024/11/18</a:t>
            </a:fld>
            <a:endParaRPr lang="en-US" altLang="zh-CN" sz="1000"/>
          </a:p>
        </p:txBody>
      </p:sp>
      <p:sp>
        <p:nvSpPr>
          <p:cNvPr id="693250" name="Rectangle 2"/>
          <p:cNvSpPr>
            <a:spLocks noGrp="1" noChangeArrowheads="1"/>
          </p:cNvSpPr>
          <p:nvPr>
            <p:ph type="title"/>
          </p:nvPr>
        </p:nvSpPr>
        <p:spPr/>
        <p:txBody>
          <a:bodyPr/>
          <a:lstStyle/>
          <a:p>
            <a:r>
              <a:rPr lang="en-US" altLang="zh-CN"/>
              <a:t>1.2 </a:t>
            </a:r>
            <a:r>
              <a:rPr lang="zh-CN" altLang="en-US"/>
              <a:t>有效数字</a:t>
            </a:r>
          </a:p>
        </p:txBody>
      </p:sp>
      <p:sp>
        <p:nvSpPr>
          <p:cNvPr id="693251" name="Rectangle 3"/>
          <p:cNvSpPr>
            <a:spLocks noGrp="1" noChangeArrowheads="1"/>
          </p:cNvSpPr>
          <p:nvPr>
            <p:ph type="body" idx="1"/>
          </p:nvPr>
        </p:nvSpPr>
        <p:spPr>
          <a:xfrm>
            <a:off x="488950" y="1196975"/>
            <a:ext cx="8820150" cy="4397375"/>
          </a:xfrm>
        </p:spPr>
        <p:txBody>
          <a:bodyPr/>
          <a:lstStyle/>
          <a:p>
            <a:r>
              <a:rPr lang="zh-CN" altLang="en-US"/>
              <a:t>舍入方法</a:t>
            </a:r>
          </a:p>
          <a:p>
            <a:pPr lvl="1">
              <a:lnSpc>
                <a:spcPct val="110000"/>
              </a:lnSpc>
            </a:pPr>
            <a:r>
              <a:rPr lang="zh-CN" altLang="en-US"/>
              <a:t>将无限位字长的精确数处理成有限位字长近似数的处理方法称为</a:t>
            </a:r>
            <a:r>
              <a:rPr lang="zh-CN" altLang="en-US" u="sng"/>
              <a:t>舍入方法</a:t>
            </a:r>
            <a:endParaRPr kumimoji="1" lang="zh-CN" altLang="en-US">
              <a:latin typeface="宋体" pitchFamily="2" charset="-122"/>
            </a:endParaRPr>
          </a:p>
          <a:p>
            <a:pPr lvl="1"/>
            <a:r>
              <a:rPr lang="zh-CN" altLang="en-US"/>
              <a:t>截断法</a:t>
            </a:r>
          </a:p>
          <a:p>
            <a:pPr lvl="1"/>
            <a:r>
              <a:rPr lang="zh-CN" altLang="en-US"/>
              <a:t>四舍五入法</a:t>
            </a:r>
          </a:p>
          <a:p>
            <a:pPr lvl="2"/>
            <a:r>
              <a:rPr lang="zh-CN" altLang="en-US"/>
              <a:t>四舍五入法的</a:t>
            </a:r>
            <a:r>
              <a:rPr lang="zh-CN" altLang="zh-CN"/>
              <a:t>|</a:t>
            </a:r>
            <a:r>
              <a:rPr lang="en-US" altLang="zh-CN"/>
              <a:t>Δ|</a:t>
            </a:r>
            <a:r>
              <a:rPr lang="zh-CN" altLang="en-US"/>
              <a:t>≤</a:t>
            </a:r>
            <a:r>
              <a:rPr lang="zh-CN" altLang="zh-CN"/>
              <a:t>0.5x10</a:t>
            </a:r>
            <a:r>
              <a:rPr lang="zh-CN" altLang="zh-CN" baseline="30000"/>
              <a:t>-</a:t>
            </a:r>
            <a:r>
              <a:rPr lang="zh-CN" altLang="zh-CN" i="1" baseline="30000"/>
              <a:t>n</a:t>
            </a:r>
            <a:r>
              <a:rPr lang="zh-CN" altLang="zh-CN"/>
              <a:t>，在</a:t>
            </a:r>
            <a:r>
              <a:rPr lang="zh-CN" altLang="zh-CN" i="1"/>
              <a:t>a</a:t>
            </a:r>
            <a:r>
              <a:rPr lang="zh-CN" altLang="zh-CN"/>
              <a:t>的最末一位上有半个单位误差</a:t>
            </a:r>
            <a:endParaRPr lang="zh-CN" altLang="en-US"/>
          </a:p>
          <a:p>
            <a:pPr lvl="2">
              <a:spcBef>
                <a:spcPct val="20000"/>
              </a:spcBef>
              <a:buClr>
                <a:schemeClr val="tx1"/>
              </a:buClr>
              <a:buFont typeface="Symbol" pitchFamily="18" charset="2"/>
              <a:buChar char="-"/>
            </a:pPr>
            <a:r>
              <a:rPr lang="zh-CN" altLang="en-US"/>
              <a:t>用四舍五入获得的近似值，可用有效数字来刻画</a:t>
            </a:r>
          </a:p>
          <a:p>
            <a:pPr lvl="2">
              <a:spcBef>
                <a:spcPct val="20000"/>
              </a:spcBef>
              <a:buClr>
                <a:schemeClr val="tx1"/>
              </a:buClr>
              <a:buFont typeface="Symbol" pitchFamily="18" charset="2"/>
              <a:buChar char="-"/>
            </a:pPr>
            <a:r>
              <a:rPr lang="zh-CN" altLang="en-US"/>
              <a:t>绝对误差限、相对误差限和有效数字的关系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fld id="{BD667E75-C576-44F9-A1E0-7340AEE9F0D8}" type="slidenum">
              <a:rPr lang="zh-CN" altLang="en-US"/>
              <a:pPr/>
              <a:t>7</a:t>
            </a:fld>
            <a:endParaRPr lang="en-US" altLang="zh-CN"/>
          </a:p>
        </p:txBody>
      </p:sp>
      <p:sp>
        <p:nvSpPr>
          <p:cNvPr id="6" name="日期占位符 4"/>
          <p:cNvSpPr>
            <a:spLocks noGrp="1"/>
          </p:cNvSpPr>
          <p:nvPr>
            <p:ph type="dt" sz="half" idx="11"/>
          </p:nvPr>
        </p:nvSpPr>
        <p:spPr/>
        <p:txBody>
          <a:bodyPr/>
          <a:lstStyle/>
          <a:p>
            <a:fld id="{B8037DCE-9F50-4A48-90E5-B6199508C4B0}" type="datetime1">
              <a:rPr lang="zh-CN" altLang="en-US"/>
              <a:pPr/>
              <a:t>2024/11/18</a:t>
            </a:fld>
            <a:endParaRPr lang="en-US" altLang="zh-CN" sz="1000"/>
          </a:p>
        </p:txBody>
      </p:sp>
      <p:sp>
        <p:nvSpPr>
          <p:cNvPr id="901122" name="Rectangle 2"/>
          <p:cNvSpPr>
            <a:spLocks noGrp="1" noChangeArrowheads="1"/>
          </p:cNvSpPr>
          <p:nvPr>
            <p:ph type="title"/>
          </p:nvPr>
        </p:nvSpPr>
        <p:spPr/>
        <p:txBody>
          <a:bodyPr/>
          <a:lstStyle/>
          <a:p>
            <a:r>
              <a:rPr lang="en-US" altLang="zh-CN"/>
              <a:t>2.</a:t>
            </a:r>
            <a:r>
              <a:rPr lang="zh-CN" altLang="en-US"/>
              <a:t>算术运算中的误差</a:t>
            </a:r>
          </a:p>
        </p:txBody>
      </p:sp>
      <p:sp>
        <p:nvSpPr>
          <p:cNvPr id="901123" name="Rectangle 3"/>
          <p:cNvSpPr>
            <a:spLocks noGrp="1" noChangeArrowheads="1"/>
          </p:cNvSpPr>
          <p:nvPr>
            <p:ph type="body" idx="1"/>
          </p:nvPr>
        </p:nvSpPr>
        <p:spPr>
          <a:xfrm>
            <a:off x="650875" y="1262063"/>
            <a:ext cx="8820150" cy="2930033"/>
          </a:xfrm>
        </p:spPr>
        <p:txBody>
          <a:bodyPr/>
          <a:lstStyle/>
          <a:p>
            <a:r>
              <a:rPr lang="zh-CN" altLang="en-US" dirty="0">
                <a:solidFill>
                  <a:srgbClr val="FF0000"/>
                </a:solidFill>
                <a:latin typeface="宋体" pitchFamily="2" charset="-122"/>
              </a:rPr>
              <a:t>对于算术运算中的结果误差可按微分公式近似估算</a:t>
            </a:r>
          </a:p>
          <a:p>
            <a:pPr lvl="1"/>
            <a:r>
              <a:rPr lang="zh-CN" altLang="en-US" dirty="0">
                <a:latin typeface="宋体" pitchFamily="2" charset="-122"/>
              </a:rPr>
              <a:t>加减的绝对误差限等于各数的绝对误差限之和</a:t>
            </a:r>
          </a:p>
          <a:p>
            <a:pPr lvl="1">
              <a:buFontTx/>
              <a:buNone/>
            </a:pPr>
            <a:r>
              <a:rPr lang="zh-CN" altLang="en-US" dirty="0"/>
              <a:t>     </a:t>
            </a:r>
            <a:r>
              <a:rPr lang="zh-CN" altLang="zh-CN" dirty="0"/>
              <a:t>C</a:t>
            </a:r>
            <a:r>
              <a:rPr lang="zh-CN" altLang="en-US" dirty="0"/>
              <a:t> </a:t>
            </a:r>
            <a:r>
              <a:rPr lang="zh-CN" altLang="zh-CN" dirty="0"/>
              <a:t>=</a:t>
            </a:r>
            <a:r>
              <a:rPr lang="zh-CN" altLang="en-US" dirty="0"/>
              <a:t> </a:t>
            </a:r>
            <a:r>
              <a:rPr lang="zh-CN" altLang="zh-CN" i="1" dirty="0"/>
              <a:t>x</a:t>
            </a:r>
            <a:r>
              <a:rPr lang="zh-CN" altLang="en-US" i="1" dirty="0"/>
              <a:t> </a:t>
            </a:r>
            <a:r>
              <a:rPr lang="zh-CN" altLang="zh-CN" dirty="0">
                <a:sym typeface="Symbol" pitchFamily="18" charset="2"/>
              </a:rPr>
              <a:t></a:t>
            </a:r>
            <a:r>
              <a:rPr lang="zh-CN" altLang="en-US" dirty="0">
                <a:sym typeface="Symbol" pitchFamily="18" charset="2"/>
              </a:rPr>
              <a:t> </a:t>
            </a:r>
            <a:r>
              <a:rPr lang="en-US" altLang="zh-CN" i="1" dirty="0">
                <a:latin typeface="宋体" pitchFamily="2" charset="-122"/>
                <a:ea typeface="PMingLiU" pitchFamily="18" charset="-120"/>
              </a:rPr>
              <a:t>y</a:t>
            </a:r>
            <a:endParaRPr lang="zh-CN" altLang="zh-CN" i="1" dirty="0">
              <a:latin typeface="宋体" pitchFamily="2" charset="-122"/>
              <a:ea typeface="PMingLiU" pitchFamily="18" charset="-120"/>
            </a:endParaRPr>
          </a:p>
          <a:p>
            <a:pPr>
              <a:buFont typeface="Wingdings" pitchFamily="2" charset="2"/>
              <a:buNone/>
            </a:pPr>
            <a:r>
              <a:rPr lang="en-US" altLang="zh-CN" dirty="0"/>
              <a:t>		</a:t>
            </a:r>
            <a:r>
              <a:rPr lang="en-US" altLang="zh-CN" i="1" dirty="0" err="1"/>
              <a:t>d</a:t>
            </a:r>
            <a:r>
              <a:rPr lang="en-US" altLang="zh-CN" dirty="0" err="1"/>
              <a:t>C</a:t>
            </a:r>
            <a:r>
              <a:rPr lang="en-US" altLang="zh-CN" dirty="0"/>
              <a:t> </a:t>
            </a:r>
            <a:r>
              <a:rPr lang="en-US" altLang="zh-CN" dirty="0">
                <a:sym typeface="Symbol" pitchFamily="18" charset="2"/>
              </a:rPr>
              <a:t> </a:t>
            </a:r>
            <a:r>
              <a:rPr lang="zh-CN" altLang="en-US" dirty="0"/>
              <a:t>|</a:t>
            </a:r>
            <a:r>
              <a:rPr lang="en-US" altLang="zh-CN" i="1" dirty="0"/>
              <a:t>dx</a:t>
            </a:r>
            <a:r>
              <a:rPr lang="zh-CN" altLang="zh-CN" dirty="0">
                <a:sym typeface="Symbol" pitchFamily="18" charset="2"/>
              </a:rPr>
              <a:t></a:t>
            </a:r>
            <a:r>
              <a:rPr lang="en-US" altLang="zh-CN" i="1" dirty="0" err="1">
                <a:ea typeface="PMingLiU" pitchFamily="18" charset="-120"/>
              </a:rPr>
              <a:t>dy</a:t>
            </a:r>
            <a:r>
              <a:rPr lang="en-US" altLang="zh-CN" dirty="0"/>
              <a:t>| </a:t>
            </a:r>
            <a:r>
              <a:rPr lang="en-US" altLang="zh-CN" dirty="0">
                <a:sym typeface="Symbol" pitchFamily="18" charset="2"/>
              </a:rPr>
              <a:t></a:t>
            </a:r>
            <a:r>
              <a:rPr lang="zh-CN" altLang="en-US" dirty="0"/>
              <a:t> </a:t>
            </a:r>
            <a:r>
              <a:rPr lang="en-US" altLang="zh-CN" dirty="0"/>
              <a:t>|</a:t>
            </a:r>
            <a:r>
              <a:rPr lang="en-US" altLang="zh-CN" i="1" dirty="0"/>
              <a:t>dx</a:t>
            </a:r>
            <a:r>
              <a:rPr lang="en-US" altLang="zh-CN" dirty="0"/>
              <a:t>|+|</a:t>
            </a:r>
            <a:r>
              <a:rPr lang="en-US" altLang="zh-CN" i="1" dirty="0" err="1"/>
              <a:t>dy</a:t>
            </a:r>
            <a:r>
              <a:rPr lang="en-US" altLang="zh-CN" dirty="0"/>
              <a:t>| </a:t>
            </a:r>
            <a:r>
              <a:rPr lang="en-US" altLang="zh-CN" dirty="0">
                <a:sym typeface="Symbol" pitchFamily="18" charset="2"/>
              </a:rPr>
              <a:t></a:t>
            </a:r>
            <a:r>
              <a:rPr lang="zh-CN" altLang="en-US" dirty="0"/>
              <a:t> </a:t>
            </a:r>
            <a:r>
              <a:rPr lang="en-US" altLang="zh-CN" i="1" dirty="0">
                <a:sym typeface="Symbol" pitchFamily="18" charset="2"/>
              </a:rPr>
              <a:t></a:t>
            </a:r>
            <a:r>
              <a:rPr lang="en-US" altLang="zh-CN" i="1" baseline="-25000" dirty="0"/>
              <a:t>x</a:t>
            </a:r>
            <a:r>
              <a:rPr lang="en-US" altLang="zh-CN" dirty="0"/>
              <a:t>+ </a:t>
            </a:r>
            <a:r>
              <a:rPr lang="en-US" altLang="zh-CN" i="1" dirty="0">
                <a:sym typeface="Symbol" pitchFamily="18" charset="2"/>
              </a:rPr>
              <a:t></a:t>
            </a:r>
            <a:r>
              <a:rPr lang="en-US" altLang="zh-CN" i="1" baseline="-25000" dirty="0"/>
              <a:t>y</a:t>
            </a:r>
            <a:r>
              <a:rPr lang="en-US" altLang="zh-CN" dirty="0"/>
              <a:t>,</a:t>
            </a:r>
          </a:p>
          <a:p>
            <a:pPr lvl="1"/>
            <a:r>
              <a:rPr lang="zh-CN" altLang="en-US" dirty="0">
                <a:latin typeface="宋体" pitchFamily="2" charset="-122"/>
              </a:rPr>
              <a:t>乘积运算的相对误差为各乘数的相对误差之和，其相对误差限等于各乘数相对误差限之和</a:t>
            </a:r>
          </a:p>
        </p:txBody>
      </p:sp>
      <p:graphicFrame>
        <p:nvGraphicFramePr>
          <p:cNvPr id="901124" name="Object 4" descr="再生纸"/>
          <p:cNvGraphicFramePr>
            <a:graphicFrameLocks noChangeAspect="1"/>
          </p:cNvGraphicFramePr>
          <p:nvPr>
            <p:extLst>
              <p:ext uri="{D42A27DB-BD31-4B8C-83A1-F6EECF244321}">
                <p14:modId xmlns:p14="http://schemas.microsoft.com/office/powerpoint/2010/main" val="1620299024"/>
              </p:ext>
            </p:extLst>
          </p:nvPr>
        </p:nvGraphicFramePr>
        <p:xfrm>
          <a:off x="2072680" y="4365104"/>
          <a:ext cx="5903913" cy="1147762"/>
        </p:xfrm>
        <a:graphic>
          <a:graphicData uri="http://schemas.openxmlformats.org/presentationml/2006/ole">
            <mc:AlternateContent xmlns:mc="http://schemas.openxmlformats.org/markup-compatibility/2006">
              <mc:Choice xmlns:v="urn:schemas-microsoft-com:vml" Requires="v">
                <p:oleObj name="Equation" r:id="rId3" imgW="2082600" imgH="431640" progId="Equation.3">
                  <p:embed/>
                </p:oleObj>
              </mc:Choice>
              <mc:Fallback>
                <p:oleObj name="Equation" r:id="rId3" imgW="2082600" imgH="431640" progId="Equation.3">
                  <p:embed/>
                  <p:pic>
                    <p:nvPicPr>
                      <p:cNvPr id="0" name="Object 4" descr="再生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2680" y="4365104"/>
                        <a:ext cx="5903913" cy="1147762"/>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01124"/>
                                        </p:tgtEl>
                                        <p:attrNameLst>
                                          <p:attrName>style.visibility</p:attrName>
                                        </p:attrNameLst>
                                      </p:cBhvr>
                                      <p:to>
                                        <p:strVal val="visible"/>
                                      </p:to>
                                    </p:set>
                                    <p:animEffect transition="in" filter="wipe(up)">
                                      <p:cBhvr>
                                        <p:cTn id="7" dur="500"/>
                                        <p:tgtEl>
                                          <p:spTgt spid="901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lstStyle/>
          <a:p>
            <a:fld id="{94DECE36-45EA-48E9-984C-A907F092F8C4}" type="slidenum">
              <a:rPr lang="zh-CN" altLang="en-US"/>
              <a:pPr/>
              <a:t>8</a:t>
            </a:fld>
            <a:endParaRPr lang="en-US" altLang="zh-CN"/>
          </a:p>
        </p:txBody>
      </p:sp>
      <p:sp>
        <p:nvSpPr>
          <p:cNvPr id="7" name="日期占位符 6"/>
          <p:cNvSpPr>
            <a:spLocks noGrp="1"/>
          </p:cNvSpPr>
          <p:nvPr>
            <p:ph type="dt" sz="half" idx="11"/>
          </p:nvPr>
        </p:nvSpPr>
        <p:spPr/>
        <p:txBody>
          <a:bodyPr/>
          <a:lstStyle/>
          <a:p>
            <a:fld id="{EB5ABBC3-0B85-4F93-B40C-3C8E2330BCA1}" type="datetime1">
              <a:rPr lang="zh-CN" altLang="en-US"/>
              <a:pPr/>
              <a:t>2024/11/18</a:t>
            </a:fld>
            <a:endParaRPr lang="en-US" altLang="zh-CN" sz="1000"/>
          </a:p>
        </p:txBody>
      </p:sp>
      <p:sp>
        <p:nvSpPr>
          <p:cNvPr id="899074" name="Rectangle 2"/>
          <p:cNvSpPr>
            <a:spLocks noGrp="1" noChangeArrowheads="1"/>
          </p:cNvSpPr>
          <p:nvPr>
            <p:ph type="body" sz="half" idx="1"/>
          </p:nvPr>
        </p:nvSpPr>
        <p:spPr>
          <a:xfrm>
            <a:off x="650875" y="1143000"/>
            <a:ext cx="8478838" cy="4616450"/>
          </a:xfrm>
        </p:spPr>
        <p:txBody>
          <a:bodyPr/>
          <a:lstStyle/>
          <a:p>
            <a:pPr>
              <a:lnSpc>
                <a:spcPct val="80000"/>
              </a:lnSpc>
            </a:pPr>
            <a:r>
              <a:rPr lang="zh-CN" altLang="en-US"/>
              <a:t>模型误差</a:t>
            </a:r>
          </a:p>
          <a:p>
            <a:pPr>
              <a:lnSpc>
                <a:spcPct val="80000"/>
              </a:lnSpc>
            </a:pPr>
            <a:r>
              <a:rPr lang="zh-CN" altLang="en-US"/>
              <a:t>观测误差</a:t>
            </a:r>
          </a:p>
          <a:p>
            <a:pPr>
              <a:lnSpc>
                <a:spcPct val="80000"/>
              </a:lnSpc>
            </a:pPr>
            <a:r>
              <a:rPr lang="zh-CN" altLang="en-US"/>
              <a:t>截断误差</a:t>
            </a:r>
          </a:p>
          <a:p>
            <a:pPr lvl="1">
              <a:lnSpc>
                <a:spcPct val="80000"/>
              </a:lnSpc>
            </a:pPr>
            <a:r>
              <a:rPr lang="zh-CN" altLang="en-US"/>
              <a:t>求解数学模型所用的数值计算方法如果是一种近似的方法，那么得到的是数学模型的近似解，由此产生的误差称为</a:t>
            </a:r>
            <a:r>
              <a:rPr lang="zh-CN" altLang="en-US">
                <a:solidFill>
                  <a:srgbClr val="FF0000"/>
                </a:solidFill>
              </a:rPr>
              <a:t>截断误差</a:t>
            </a:r>
            <a:r>
              <a:rPr lang="zh-CN" altLang="en-US"/>
              <a:t>。</a:t>
            </a:r>
          </a:p>
          <a:p>
            <a:pPr lvl="1"/>
            <a:endParaRPr lang="zh-CN" altLang="en-US" sz="2400"/>
          </a:p>
          <a:p>
            <a:pPr>
              <a:lnSpc>
                <a:spcPct val="80000"/>
              </a:lnSpc>
            </a:pPr>
            <a:r>
              <a:rPr lang="zh-CN" altLang="en-US"/>
              <a:t>舍入误差</a:t>
            </a:r>
          </a:p>
          <a:p>
            <a:pPr lvl="1">
              <a:lnSpc>
                <a:spcPct val="80000"/>
              </a:lnSpc>
            </a:pPr>
            <a:r>
              <a:rPr lang="zh-CN" altLang="en-US"/>
              <a:t>由于计算机的字长有限，参加运算的数据以及运算结果在计算机上存放会产生误差。这种误差称</a:t>
            </a:r>
            <a:r>
              <a:rPr lang="zh-CN" altLang="en-US">
                <a:solidFill>
                  <a:srgbClr val="FF0000"/>
                </a:solidFill>
              </a:rPr>
              <a:t>舍入误差</a:t>
            </a:r>
            <a:r>
              <a:rPr lang="zh-CN" altLang="en-US"/>
              <a:t>或者</a:t>
            </a:r>
            <a:r>
              <a:rPr lang="zh-CN" altLang="en-US">
                <a:solidFill>
                  <a:srgbClr val="FF0000"/>
                </a:solidFill>
              </a:rPr>
              <a:t>计算误差</a:t>
            </a:r>
            <a:r>
              <a:rPr lang="zh-CN" altLang="en-US"/>
              <a:t>。</a:t>
            </a:r>
          </a:p>
        </p:txBody>
      </p:sp>
      <p:sp>
        <p:nvSpPr>
          <p:cNvPr id="899075" name="Rectangle 3"/>
          <p:cNvSpPr>
            <a:spLocks noGrp="1" noChangeArrowheads="1"/>
          </p:cNvSpPr>
          <p:nvPr>
            <p:ph type="title"/>
          </p:nvPr>
        </p:nvSpPr>
        <p:spPr/>
        <p:txBody>
          <a:bodyPr/>
          <a:lstStyle/>
          <a:p>
            <a:r>
              <a:rPr lang="en-US" altLang="zh-CN"/>
              <a:t>3 </a:t>
            </a:r>
            <a:r>
              <a:rPr lang="zh-CN" altLang="en-US"/>
              <a:t>误差的来源与分类</a:t>
            </a:r>
          </a:p>
        </p:txBody>
      </p:sp>
      <p:graphicFrame>
        <p:nvGraphicFramePr>
          <p:cNvPr id="899076" name="Object 4"/>
          <p:cNvGraphicFramePr>
            <a:graphicFrameLocks noGrp="1" noChangeAspect="1"/>
          </p:cNvGraphicFramePr>
          <p:nvPr>
            <p:ph sz="quarter" idx="2"/>
          </p:nvPr>
        </p:nvGraphicFramePr>
        <p:xfrm>
          <a:off x="2865438" y="3644900"/>
          <a:ext cx="5183187" cy="773113"/>
        </p:xfrm>
        <a:graphic>
          <a:graphicData uri="http://schemas.openxmlformats.org/presentationml/2006/ole">
            <mc:AlternateContent xmlns:mc="http://schemas.openxmlformats.org/markup-compatibility/2006">
              <mc:Choice xmlns:v="urn:schemas-microsoft-com:vml" Requires="v">
                <p:oleObj name="Equation" r:id="rId2" imgW="2120760" imgH="393480" progId="Equation.DSMT4">
                  <p:embed/>
                </p:oleObj>
              </mc:Choice>
              <mc:Fallback>
                <p:oleObj name="Equation" r:id="rId2" imgW="2120760" imgH="3934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438" y="3644900"/>
                        <a:ext cx="5183187"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9077" name="Object 5"/>
          <p:cNvGraphicFramePr>
            <a:graphicFrameLocks noGrp="1" noChangeAspect="1"/>
          </p:cNvGraphicFramePr>
          <p:nvPr>
            <p:ph sz="quarter" idx="3"/>
          </p:nvPr>
        </p:nvGraphicFramePr>
        <p:xfrm>
          <a:off x="5307013" y="5665788"/>
          <a:ext cx="2238375" cy="877887"/>
        </p:xfrm>
        <a:graphic>
          <a:graphicData uri="http://schemas.openxmlformats.org/presentationml/2006/ole">
            <mc:AlternateContent xmlns:mc="http://schemas.openxmlformats.org/markup-compatibility/2006">
              <mc:Choice xmlns:v="urn:schemas-microsoft-com:vml" Requires="v">
                <p:oleObj name="Equation" r:id="rId4" imgW="1002960" imgH="393480" progId="Equation.DSMT4">
                  <p:embed/>
                </p:oleObj>
              </mc:Choice>
              <mc:Fallback>
                <p:oleObj name="Equation" r:id="rId4" imgW="1002960" imgH="393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7013" y="5665788"/>
                        <a:ext cx="2238375"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fld id="{5A550889-4D34-4AA6-A133-9E33114A3D7A}" type="slidenum">
              <a:rPr lang="zh-CN" altLang="en-US"/>
              <a:pPr/>
              <a:t>9</a:t>
            </a:fld>
            <a:endParaRPr lang="en-US" altLang="zh-CN"/>
          </a:p>
        </p:txBody>
      </p:sp>
      <p:sp>
        <p:nvSpPr>
          <p:cNvPr id="9" name="日期占位符 4"/>
          <p:cNvSpPr>
            <a:spLocks noGrp="1"/>
          </p:cNvSpPr>
          <p:nvPr>
            <p:ph type="dt" sz="half" idx="11"/>
          </p:nvPr>
        </p:nvSpPr>
        <p:spPr/>
        <p:txBody>
          <a:bodyPr/>
          <a:lstStyle/>
          <a:p>
            <a:fld id="{18DCCB5D-18CC-4363-B3E2-FB635FEFDA68}" type="datetime1">
              <a:rPr lang="zh-CN" altLang="en-US"/>
              <a:pPr/>
              <a:t>2024/11/18</a:t>
            </a:fld>
            <a:endParaRPr lang="en-US" altLang="zh-CN" sz="1000"/>
          </a:p>
        </p:txBody>
      </p:sp>
      <p:sp>
        <p:nvSpPr>
          <p:cNvPr id="691202" name="Rectangle 2"/>
          <p:cNvSpPr>
            <a:spLocks noGrp="1" noChangeArrowheads="1"/>
          </p:cNvSpPr>
          <p:nvPr>
            <p:ph type="title"/>
          </p:nvPr>
        </p:nvSpPr>
        <p:spPr/>
        <p:txBody>
          <a:bodyPr/>
          <a:lstStyle/>
          <a:p>
            <a:r>
              <a:rPr lang="en-US" altLang="zh-CN"/>
              <a:t>4 </a:t>
            </a:r>
            <a:r>
              <a:rPr lang="zh-CN" altLang="en-US"/>
              <a:t>误差的分配原则与处理方法</a:t>
            </a:r>
          </a:p>
        </p:txBody>
      </p:sp>
      <p:sp>
        <p:nvSpPr>
          <p:cNvPr id="691203" name="Rectangle 3"/>
          <p:cNvSpPr>
            <a:spLocks noGrp="1" noChangeArrowheads="1"/>
          </p:cNvSpPr>
          <p:nvPr>
            <p:ph type="body" idx="1"/>
          </p:nvPr>
        </p:nvSpPr>
        <p:spPr>
          <a:xfrm>
            <a:off x="650875" y="1262063"/>
            <a:ext cx="8820150" cy="4117975"/>
          </a:xfrm>
        </p:spPr>
        <p:txBody>
          <a:bodyPr/>
          <a:lstStyle/>
          <a:p>
            <a:r>
              <a:rPr lang="zh-CN" altLang="en-US" dirty="0">
                <a:latin typeface="Arial" pitchFamily="34" charset="0"/>
              </a:rPr>
              <a:t>误差配置原</a:t>
            </a:r>
            <a:r>
              <a:rPr lang="zh-CN" altLang="en-US" dirty="0"/>
              <a:t>则</a:t>
            </a:r>
            <a:endParaRPr lang="zh-CN" altLang="en-US" dirty="0">
              <a:latin typeface="Arial" pitchFamily="34" charset="0"/>
            </a:endParaRPr>
          </a:p>
          <a:p>
            <a:pPr lvl="1"/>
            <a:r>
              <a:rPr lang="zh-CN" altLang="en-US" dirty="0">
                <a:solidFill>
                  <a:srgbClr val="FF0000"/>
                </a:solidFill>
                <a:latin typeface="Arial" pitchFamily="34" charset="0"/>
              </a:rPr>
              <a:t>总误差=截断误差+舍入误差,即  </a:t>
            </a:r>
            <a:r>
              <a:rPr lang="zh-CN" altLang="en-US" dirty="0">
                <a:solidFill>
                  <a:srgbClr val="FF0000"/>
                </a:solidFill>
                <a:sym typeface="Symbol" pitchFamily="18" charset="2"/>
              </a:rPr>
              <a:t></a:t>
            </a:r>
            <a:r>
              <a:rPr lang="en-US" altLang="zh-CN" dirty="0">
                <a:solidFill>
                  <a:srgbClr val="FF0000"/>
                </a:solidFill>
              </a:rPr>
              <a:t> = R+</a:t>
            </a:r>
            <a:r>
              <a:rPr lang="en-US" altLang="zh-CN" dirty="0">
                <a:solidFill>
                  <a:srgbClr val="FF0000"/>
                </a:solidFill>
                <a:sym typeface="Symbol" pitchFamily="18" charset="2"/>
              </a:rPr>
              <a:t></a:t>
            </a:r>
          </a:p>
          <a:p>
            <a:pPr lvl="1"/>
            <a:r>
              <a:rPr lang="en-US" altLang="zh-CN" dirty="0">
                <a:solidFill>
                  <a:srgbClr val="FF0000"/>
                </a:solidFill>
                <a:sym typeface="Symbol" pitchFamily="18" charset="2"/>
              </a:rPr>
              <a:t>R</a:t>
            </a:r>
            <a:endParaRPr lang="zh-CN" altLang="en-US" dirty="0">
              <a:solidFill>
                <a:srgbClr val="FF0000"/>
              </a:solidFill>
              <a:latin typeface="Arial" pitchFamily="34" charset="0"/>
            </a:endParaRPr>
          </a:p>
          <a:p>
            <a:r>
              <a:rPr lang="zh-CN" altLang="en-US" dirty="0">
                <a:latin typeface="Arial" pitchFamily="34" charset="0"/>
              </a:rPr>
              <a:t>误差的处理方法</a:t>
            </a:r>
          </a:p>
          <a:p>
            <a:pPr lvl="1"/>
            <a:r>
              <a:rPr lang="zh-CN" altLang="en-US" dirty="0"/>
              <a:t>1.  给定运算误差</a:t>
            </a:r>
            <a:r>
              <a:rPr lang="en-US" altLang="zh-CN" dirty="0">
                <a:sym typeface="Symbol" pitchFamily="18" charset="2"/>
              </a:rPr>
              <a:t></a:t>
            </a:r>
            <a:r>
              <a:rPr lang="en-US" altLang="zh-CN" dirty="0"/>
              <a:t> ，</a:t>
            </a:r>
            <a:r>
              <a:rPr lang="zh-CN" altLang="en-US" dirty="0"/>
              <a:t>确定参与运算的数值字长</a:t>
            </a:r>
          </a:p>
          <a:p>
            <a:pPr lvl="1"/>
            <a:r>
              <a:rPr lang="zh-CN" altLang="en-US" dirty="0"/>
              <a:t>2.  近似式的项数已定而字长待定</a:t>
            </a:r>
          </a:p>
          <a:p>
            <a:pPr lvl="1"/>
            <a:r>
              <a:rPr lang="zh-CN" altLang="en-US" dirty="0"/>
              <a:t>3.  总误差</a:t>
            </a:r>
            <a:r>
              <a:rPr lang="zh-CN" altLang="en-US" dirty="0">
                <a:sym typeface="Symbol" pitchFamily="18" charset="2"/>
              </a:rPr>
              <a:t></a:t>
            </a:r>
            <a:r>
              <a:rPr lang="zh-CN" altLang="en-US" dirty="0"/>
              <a:t>给定，要求确定项数和数值字长.</a:t>
            </a:r>
          </a:p>
          <a:p>
            <a:pPr lvl="1"/>
            <a:r>
              <a:rPr lang="zh-CN" altLang="en-US" dirty="0"/>
              <a:t>4.  数值字长已定，待定近似式项数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98A0A3AC-0118-43E3-98CB-8986AC99B371}" type="slidenum">
              <a:rPr lang="zh-CN" altLang="en-US"/>
              <a:pPr/>
              <a:t>10</a:t>
            </a:fld>
            <a:endParaRPr lang="en-US" altLang="zh-CN"/>
          </a:p>
        </p:txBody>
      </p:sp>
      <p:sp>
        <p:nvSpPr>
          <p:cNvPr id="5" name="日期占位符 4"/>
          <p:cNvSpPr>
            <a:spLocks noGrp="1"/>
          </p:cNvSpPr>
          <p:nvPr>
            <p:ph type="dt" sz="half" idx="11"/>
          </p:nvPr>
        </p:nvSpPr>
        <p:spPr/>
        <p:txBody>
          <a:bodyPr/>
          <a:lstStyle/>
          <a:p>
            <a:fld id="{101CF110-22DB-4E3B-85A7-C3C27B6749A2}" type="datetime1">
              <a:rPr lang="zh-CN" altLang="en-US"/>
              <a:pPr/>
              <a:t>2024/11/18</a:t>
            </a:fld>
            <a:endParaRPr lang="en-US" altLang="zh-CN" sz="1000"/>
          </a:p>
        </p:txBody>
      </p:sp>
      <p:sp>
        <p:nvSpPr>
          <p:cNvPr id="798722" name="Rectangle 2"/>
          <p:cNvSpPr>
            <a:spLocks noGrp="1" noChangeArrowheads="1"/>
          </p:cNvSpPr>
          <p:nvPr>
            <p:ph type="title"/>
          </p:nvPr>
        </p:nvSpPr>
        <p:spPr/>
        <p:txBody>
          <a:bodyPr/>
          <a:lstStyle/>
          <a:p>
            <a:r>
              <a:rPr lang="zh-CN" altLang="en-US"/>
              <a:t>第二章 方程(组)的迭代解法</a:t>
            </a:r>
          </a:p>
        </p:txBody>
      </p:sp>
      <p:sp>
        <p:nvSpPr>
          <p:cNvPr id="798723" name="Rectangle 3"/>
          <p:cNvSpPr>
            <a:spLocks noGrp="1" noChangeArrowheads="1"/>
          </p:cNvSpPr>
          <p:nvPr>
            <p:ph type="body" idx="1"/>
          </p:nvPr>
        </p:nvSpPr>
        <p:spPr>
          <a:xfrm>
            <a:off x="650875" y="1143000"/>
            <a:ext cx="8820150" cy="4725988"/>
          </a:xfrm>
        </p:spPr>
        <p:txBody>
          <a:bodyPr/>
          <a:lstStyle/>
          <a:p>
            <a:r>
              <a:rPr lang="zh-CN" altLang="en-US"/>
              <a:t>1. 根的初值确定方法</a:t>
            </a:r>
          </a:p>
          <a:p>
            <a:r>
              <a:rPr lang="zh-CN" altLang="en-US"/>
              <a:t>2. 迭代解法</a:t>
            </a:r>
          </a:p>
          <a:p>
            <a:pPr lvl="1"/>
            <a:r>
              <a:rPr lang="en-US" altLang="zh-CN"/>
              <a:t>(1) </a:t>
            </a:r>
            <a:r>
              <a:rPr lang="zh-CN" altLang="en-US"/>
              <a:t>迭代法的计算步骤</a:t>
            </a:r>
          </a:p>
          <a:p>
            <a:pPr lvl="1"/>
            <a:r>
              <a:rPr lang="en-US" altLang="zh-CN"/>
              <a:t>(2) </a:t>
            </a:r>
            <a:r>
              <a:rPr lang="zh-CN" altLang="en-US"/>
              <a:t>迭代法的收敛性（</a:t>
            </a:r>
            <a:r>
              <a:rPr lang="zh-CN" altLang="en-US" i="1">
                <a:sym typeface="Symbol" pitchFamily="18" charset="2"/>
              </a:rPr>
              <a:t></a:t>
            </a:r>
            <a:r>
              <a:rPr lang="en-US" altLang="zh-CN" sz="3200" i="1"/>
              <a:t>’</a:t>
            </a:r>
            <a:r>
              <a:rPr lang="en-US" altLang="zh-CN" sz="3200"/>
              <a:t>(</a:t>
            </a:r>
            <a:r>
              <a:rPr lang="en-US" altLang="zh-CN" sz="3200" i="1"/>
              <a:t>x</a:t>
            </a:r>
            <a:r>
              <a:rPr lang="en-US" altLang="zh-CN" sz="3200"/>
              <a:t>)|</a:t>
            </a:r>
            <a:r>
              <a:rPr lang="en-US" altLang="zh-CN" sz="3200">
                <a:sym typeface="Symbol" pitchFamily="18" charset="2"/>
              </a:rPr>
              <a:t></a:t>
            </a:r>
            <a:r>
              <a:rPr lang="en-US" altLang="zh-CN" sz="3200" i="1">
                <a:sym typeface="Symbol" pitchFamily="18" charset="2"/>
              </a:rPr>
              <a:t>q</a:t>
            </a:r>
            <a:r>
              <a:rPr lang="en-US" altLang="zh-CN" sz="3200">
                <a:sym typeface="Symbol" pitchFamily="18" charset="2"/>
              </a:rPr>
              <a:t>&lt;1</a:t>
            </a:r>
            <a:r>
              <a:rPr lang="zh-CN" altLang="en-US"/>
              <a:t> ）</a:t>
            </a:r>
          </a:p>
          <a:p>
            <a:r>
              <a:rPr lang="en-US" altLang="zh-CN"/>
              <a:t>3. </a:t>
            </a:r>
            <a:r>
              <a:rPr lang="zh-CN" altLang="en-US"/>
              <a:t>迭代公式的改进（减小</a:t>
            </a:r>
            <a:r>
              <a:rPr lang="en-US" altLang="zh-CN" i="1"/>
              <a:t>q</a:t>
            </a:r>
            <a:r>
              <a:rPr lang="zh-CN" altLang="en-US"/>
              <a:t>的值）：</a:t>
            </a:r>
          </a:p>
          <a:p>
            <a:pPr lvl="1"/>
            <a:r>
              <a:rPr lang="en-US" altLang="zh-CN"/>
              <a:t>(1) </a:t>
            </a:r>
            <a:r>
              <a:rPr lang="zh-CN" altLang="en-US"/>
              <a:t>埃特肯法</a:t>
            </a:r>
          </a:p>
          <a:p>
            <a:pPr lvl="1"/>
            <a:r>
              <a:rPr lang="en-US" altLang="zh-CN"/>
              <a:t>(2) </a:t>
            </a:r>
            <a:r>
              <a:rPr lang="zh-CN" altLang="en-US"/>
              <a:t>牛顿迭代法</a:t>
            </a:r>
          </a:p>
          <a:p>
            <a:pPr lvl="1"/>
            <a:r>
              <a:rPr lang="en-US" altLang="zh-CN"/>
              <a:t>(3) </a:t>
            </a:r>
            <a:r>
              <a:rPr lang="zh-CN" altLang="en-US"/>
              <a:t>牛顿下山法</a:t>
            </a:r>
          </a:p>
          <a:p>
            <a:pPr lvl="1"/>
            <a:r>
              <a:rPr lang="en-US" altLang="zh-CN"/>
              <a:t>(4) </a:t>
            </a:r>
            <a:r>
              <a:rPr lang="zh-CN" altLang="en-US"/>
              <a:t>弦截法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2003C20-75BF-4455-83DF-3241B4AB9CC7}" type="slidenum">
              <a:rPr lang="zh-CN" altLang="en-US"/>
              <a:pPr/>
              <a:t>11</a:t>
            </a:fld>
            <a:endParaRPr lang="en-US" altLang="zh-CN"/>
          </a:p>
        </p:txBody>
      </p:sp>
      <p:sp>
        <p:nvSpPr>
          <p:cNvPr id="5" name="日期占位符 4"/>
          <p:cNvSpPr>
            <a:spLocks noGrp="1"/>
          </p:cNvSpPr>
          <p:nvPr>
            <p:ph type="dt" sz="half" idx="11"/>
          </p:nvPr>
        </p:nvSpPr>
        <p:spPr/>
        <p:txBody>
          <a:bodyPr/>
          <a:lstStyle/>
          <a:p>
            <a:fld id="{8B31D6C1-282B-4A0D-A03E-74E8D8B5439C}" type="datetime1">
              <a:rPr lang="zh-CN" altLang="en-US"/>
              <a:pPr/>
              <a:t>2024/11/18</a:t>
            </a:fld>
            <a:endParaRPr lang="en-US" altLang="zh-CN" sz="1000"/>
          </a:p>
        </p:txBody>
      </p:sp>
      <p:sp>
        <p:nvSpPr>
          <p:cNvPr id="533506" name="Rectangle 2"/>
          <p:cNvSpPr>
            <a:spLocks noGrp="1" noChangeArrowheads="1"/>
          </p:cNvSpPr>
          <p:nvPr>
            <p:ph type="title"/>
          </p:nvPr>
        </p:nvSpPr>
        <p:spPr/>
        <p:txBody>
          <a:bodyPr/>
          <a:lstStyle/>
          <a:p>
            <a:r>
              <a:rPr lang="zh-CN" altLang="en-US">
                <a:latin typeface="Times New Roman" pitchFamily="18" charset="0"/>
              </a:rPr>
              <a:t>1. 根的初值确定方法</a:t>
            </a:r>
          </a:p>
        </p:txBody>
      </p:sp>
      <p:sp>
        <p:nvSpPr>
          <p:cNvPr id="533507" name="Rectangle 3"/>
          <p:cNvSpPr>
            <a:spLocks noGrp="1" noChangeArrowheads="1"/>
          </p:cNvSpPr>
          <p:nvPr>
            <p:ph type="body" idx="1"/>
          </p:nvPr>
        </p:nvSpPr>
        <p:spPr>
          <a:xfrm>
            <a:off x="650875" y="1143000"/>
            <a:ext cx="9055100" cy="4203700"/>
          </a:xfrm>
        </p:spPr>
        <p:txBody>
          <a:bodyPr/>
          <a:lstStyle/>
          <a:p>
            <a:r>
              <a:rPr lang="zh-CN" altLang="en-US"/>
              <a:t>求方程根的问题，几何上讲是求曲线</a:t>
            </a:r>
            <a:r>
              <a:rPr lang="en-US" altLang="zh-CN" i="1"/>
              <a:t>y</a:t>
            </a:r>
            <a:r>
              <a:rPr lang="en-US" altLang="zh-CN"/>
              <a:t>=</a:t>
            </a:r>
            <a:r>
              <a:rPr lang="en-US" altLang="zh-CN" i="1"/>
              <a:t>f </a:t>
            </a:r>
            <a:r>
              <a:rPr lang="en-US" altLang="zh-CN"/>
              <a:t>(</a:t>
            </a:r>
            <a:r>
              <a:rPr lang="en-US" altLang="zh-CN" i="1"/>
              <a:t>x</a:t>
            </a:r>
            <a:r>
              <a:rPr lang="en-US" altLang="zh-CN"/>
              <a:t>)</a:t>
            </a:r>
            <a:r>
              <a:rPr lang="zh-CN" altLang="en-US"/>
              <a:t>与</a:t>
            </a:r>
            <a:r>
              <a:rPr lang="en-US" altLang="zh-CN" i="1"/>
              <a:t>x</a:t>
            </a:r>
            <a:r>
              <a:rPr lang="zh-CN" altLang="en-US"/>
              <a:t>轴交点的横坐标。</a:t>
            </a:r>
          </a:p>
          <a:p>
            <a:r>
              <a:rPr lang="zh-CN" altLang="en-US"/>
              <a:t>定理2.1设</a:t>
            </a:r>
            <a:r>
              <a:rPr lang="en-US" altLang="zh-CN" i="1"/>
              <a:t>f </a:t>
            </a:r>
            <a:r>
              <a:rPr lang="en-US" altLang="zh-CN"/>
              <a:t>(</a:t>
            </a:r>
            <a:r>
              <a:rPr lang="en-US" altLang="zh-CN" i="1"/>
              <a:t>x</a:t>
            </a:r>
            <a:r>
              <a:rPr lang="en-US" altLang="zh-CN"/>
              <a:t>)</a:t>
            </a:r>
            <a:r>
              <a:rPr lang="zh-CN" altLang="en-US"/>
              <a:t>为区间[</a:t>
            </a:r>
            <a:r>
              <a:rPr lang="en-US" altLang="zh-CN" i="1"/>
              <a:t>a</a:t>
            </a:r>
            <a:r>
              <a:rPr lang="en-US" altLang="zh-CN"/>
              <a:t>,</a:t>
            </a:r>
            <a:r>
              <a:rPr lang="en-US" altLang="zh-CN" i="1"/>
              <a:t>b</a:t>
            </a:r>
            <a:r>
              <a:rPr lang="en-US" altLang="zh-CN"/>
              <a:t>]</a:t>
            </a:r>
            <a:r>
              <a:rPr lang="zh-CN" altLang="en-US"/>
              <a:t>上的</a:t>
            </a:r>
            <a:r>
              <a:rPr lang="zh-CN" altLang="en-US" u="sng">
                <a:solidFill>
                  <a:srgbClr val="FF3300"/>
                </a:solidFill>
              </a:rPr>
              <a:t>单值</a:t>
            </a:r>
            <a:r>
              <a:rPr lang="zh-CN" altLang="en-US" u="sng">
                <a:solidFill>
                  <a:srgbClr val="0000FF"/>
                </a:solidFill>
              </a:rPr>
              <a:t>连续</a:t>
            </a:r>
            <a:r>
              <a:rPr lang="zh-CN" altLang="en-US"/>
              <a:t>函数，如果</a:t>
            </a:r>
            <a:r>
              <a:rPr lang="en-US" altLang="zh-CN" i="1"/>
              <a:t>f </a:t>
            </a:r>
            <a:r>
              <a:rPr lang="en-US" altLang="zh-CN"/>
              <a:t>(</a:t>
            </a:r>
            <a:r>
              <a:rPr lang="en-US" altLang="zh-CN" i="1"/>
              <a:t>a</a:t>
            </a:r>
            <a:r>
              <a:rPr lang="en-US" altLang="zh-CN"/>
              <a:t>)·</a:t>
            </a:r>
            <a:r>
              <a:rPr lang="en-US" altLang="zh-CN" i="1"/>
              <a:t>f </a:t>
            </a:r>
            <a:r>
              <a:rPr lang="en-US" altLang="zh-CN"/>
              <a:t>(</a:t>
            </a:r>
            <a:r>
              <a:rPr lang="en-US" altLang="zh-CN" i="1"/>
              <a:t>b</a:t>
            </a:r>
            <a:r>
              <a:rPr lang="en-US" altLang="zh-CN"/>
              <a:t>)&lt;0，</a:t>
            </a:r>
            <a:r>
              <a:rPr lang="zh-CN" altLang="en-US"/>
              <a:t>则[</a:t>
            </a:r>
            <a:r>
              <a:rPr lang="en-US" altLang="zh-CN" i="1"/>
              <a:t>a</a:t>
            </a:r>
            <a:r>
              <a:rPr lang="en-US" altLang="zh-CN"/>
              <a:t>,</a:t>
            </a:r>
            <a:r>
              <a:rPr lang="en-US" altLang="zh-CN" i="1"/>
              <a:t>b</a:t>
            </a:r>
            <a:r>
              <a:rPr lang="en-US" altLang="zh-CN"/>
              <a:t>]</a:t>
            </a:r>
            <a:r>
              <a:rPr lang="zh-CN" altLang="en-US"/>
              <a:t>中至少有一个实根。如果</a:t>
            </a:r>
            <a:r>
              <a:rPr lang="en-US" altLang="zh-CN" i="1"/>
              <a:t>f </a:t>
            </a:r>
            <a:r>
              <a:rPr lang="en-US" altLang="zh-CN"/>
              <a:t>(</a:t>
            </a:r>
            <a:r>
              <a:rPr lang="en-US" altLang="zh-CN" i="1"/>
              <a:t>x</a:t>
            </a:r>
            <a:r>
              <a:rPr lang="en-US" altLang="zh-CN"/>
              <a:t>)</a:t>
            </a:r>
            <a:r>
              <a:rPr lang="zh-CN" altLang="en-US"/>
              <a:t>在[</a:t>
            </a:r>
            <a:r>
              <a:rPr lang="en-US" altLang="zh-CN" i="1"/>
              <a:t>a</a:t>
            </a:r>
            <a:r>
              <a:rPr lang="en-US" altLang="zh-CN"/>
              <a:t>,</a:t>
            </a:r>
            <a:r>
              <a:rPr lang="en-US" altLang="zh-CN" i="1"/>
              <a:t>b</a:t>
            </a:r>
            <a:r>
              <a:rPr lang="en-US" altLang="zh-CN"/>
              <a:t>]</a:t>
            </a:r>
            <a:r>
              <a:rPr lang="zh-CN" altLang="en-US"/>
              <a:t>上还是单调地递增或递减，则仅有一个实根</a:t>
            </a:r>
          </a:p>
          <a:p>
            <a:r>
              <a:rPr lang="zh-CN" altLang="en-US"/>
              <a:t>确定根所在区间的方法：</a:t>
            </a:r>
          </a:p>
          <a:p>
            <a:pPr lvl="1"/>
            <a:r>
              <a:rPr lang="zh-CN" altLang="en-US"/>
              <a:t>(1) 画图法</a:t>
            </a:r>
          </a:p>
          <a:p>
            <a:pPr lvl="1"/>
            <a:r>
              <a:rPr lang="zh-CN" altLang="en-US"/>
              <a:t>(2) 扫描法</a:t>
            </a:r>
          </a:p>
          <a:p>
            <a:pPr lvl="1"/>
            <a:r>
              <a:rPr lang="zh-CN" altLang="en-US"/>
              <a:t>(</a:t>
            </a:r>
            <a:r>
              <a:rPr lang="en-US" altLang="zh-CN"/>
              <a:t>3) </a:t>
            </a:r>
            <a:r>
              <a:rPr lang="zh-CN" altLang="en-US"/>
              <a:t>对分法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112EBFB9-CC40-4FE6-9751-22B1B7479139}" type="slidenum">
              <a:rPr lang="zh-CN" altLang="en-US"/>
              <a:pPr/>
              <a:t>12</a:t>
            </a:fld>
            <a:endParaRPr lang="en-US" altLang="zh-CN"/>
          </a:p>
        </p:txBody>
      </p:sp>
      <p:sp>
        <p:nvSpPr>
          <p:cNvPr id="15" name="日期占位符 4"/>
          <p:cNvSpPr>
            <a:spLocks noGrp="1"/>
          </p:cNvSpPr>
          <p:nvPr>
            <p:ph type="dt" sz="half" idx="11"/>
          </p:nvPr>
        </p:nvSpPr>
        <p:spPr/>
        <p:txBody>
          <a:bodyPr/>
          <a:lstStyle/>
          <a:p>
            <a:fld id="{E6F89F77-D7A8-42DE-9866-FC1DE41437C8}" type="datetime1">
              <a:rPr lang="zh-CN" altLang="en-US"/>
              <a:pPr/>
              <a:t>2024/11/18</a:t>
            </a:fld>
            <a:endParaRPr lang="en-US" altLang="zh-CN" sz="1000"/>
          </a:p>
        </p:txBody>
      </p:sp>
      <p:sp>
        <p:nvSpPr>
          <p:cNvPr id="1009666" name="Rectangle 2"/>
          <p:cNvSpPr>
            <a:spLocks noGrp="1" noChangeArrowheads="1"/>
          </p:cNvSpPr>
          <p:nvPr>
            <p:ph type="title"/>
          </p:nvPr>
        </p:nvSpPr>
        <p:spPr>
          <a:xfrm>
            <a:off x="650875" y="296863"/>
            <a:ext cx="8820150" cy="617537"/>
          </a:xfrm>
        </p:spPr>
        <p:txBody>
          <a:bodyPr/>
          <a:lstStyle/>
          <a:p>
            <a:r>
              <a:rPr lang="zh-CN" altLang="en-US" sz="4900">
                <a:latin typeface="Times New Roman" pitchFamily="18" charset="0"/>
              </a:rPr>
              <a:t>2.1.3   对分法</a:t>
            </a:r>
          </a:p>
        </p:txBody>
      </p:sp>
      <p:sp>
        <p:nvSpPr>
          <p:cNvPr id="1009667" name="Rectangle 3"/>
          <p:cNvSpPr>
            <a:spLocks noGrp="1" noChangeArrowheads="1"/>
          </p:cNvSpPr>
          <p:nvPr>
            <p:ph type="body" idx="1"/>
          </p:nvPr>
        </p:nvSpPr>
        <p:spPr>
          <a:xfrm>
            <a:off x="660400" y="1143000"/>
            <a:ext cx="8820150" cy="384175"/>
          </a:xfrm>
        </p:spPr>
        <p:txBody>
          <a:bodyPr/>
          <a:lstStyle/>
          <a:p>
            <a:r>
              <a:rPr lang="zh-CN" altLang="en-US">
                <a:latin typeface="宋体" pitchFamily="2" charset="-122"/>
              </a:rPr>
              <a:t>误差分析</a:t>
            </a:r>
            <a:r>
              <a:rPr lang="zh-CN" altLang="en-US"/>
              <a:t> </a:t>
            </a:r>
          </a:p>
        </p:txBody>
      </p:sp>
      <p:grpSp>
        <p:nvGrpSpPr>
          <p:cNvPr id="1009668" name="Group 4"/>
          <p:cNvGrpSpPr>
            <a:grpSpLocks/>
          </p:cNvGrpSpPr>
          <p:nvPr/>
        </p:nvGrpSpPr>
        <p:grpSpPr bwMode="auto">
          <a:xfrm>
            <a:off x="1238250" y="1371600"/>
            <a:ext cx="7181850" cy="990600"/>
            <a:chOff x="1200" y="816"/>
            <a:chExt cx="3402" cy="419"/>
          </a:xfrm>
        </p:grpSpPr>
        <p:sp>
          <p:nvSpPr>
            <p:cNvPr id="1009669" name="Text Box 5"/>
            <p:cNvSpPr txBox="1">
              <a:spLocks noChangeArrowheads="1"/>
            </p:cNvSpPr>
            <p:nvPr/>
          </p:nvSpPr>
          <p:spPr bwMode="auto">
            <a:xfrm>
              <a:off x="1200" y="912"/>
              <a:ext cx="1248"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pPr>
              <a:r>
                <a:rPr kumimoji="1" lang="zh-CN" altLang="en-US" sz="2800">
                  <a:ea typeface="黑体" pitchFamily="49" charset="-122"/>
                </a:rPr>
                <a:t>第1步产生的</a:t>
              </a:r>
            </a:p>
          </p:txBody>
        </p:sp>
        <p:graphicFrame>
          <p:nvGraphicFramePr>
            <p:cNvPr id="1009670" name="Object 6"/>
            <p:cNvGraphicFramePr>
              <a:graphicFrameLocks noChangeAspect="1"/>
            </p:cNvGraphicFramePr>
            <p:nvPr/>
          </p:nvGraphicFramePr>
          <p:xfrm>
            <a:off x="2352" y="816"/>
            <a:ext cx="617" cy="410"/>
          </p:xfrm>
          <a:graphic>
            <a:graphicData uri="http://schemas.openxmlformats.org/presentationml/2006/ole">
              <mc:AlternateContent xmlns:mc="http://schemas.openxmlformats.org/markup-compatibility/2006">
                <mc:Choice xmlns:v="urn:schemas-microsoft-com:vml" Requires="v">
                  <p:oleObj name="Equation" r:id="rId3" imgW="672840" imgH="393480" progId="Equation.3">
                    <p:embed/>
                  </p:oleObj>
                </mc:Choice>
                <mc:Fallback>
                  <p:oleObj name="Equation" r:id="rId3" imgW="672840" imgH="39348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 y="816"/>
                          <a:ext cx="617"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9671" name="Text Box 7"/>
            <p:cNvSpPr txBox="1">
              <a:spLocks noChangeArrowheads="1"/>
            </p:cNvSpPr>
            <p:nvPr/>
          </p:nvSpPr>
          <p:spPr bwMode="auto">
            <a:xfrm>
              <a:off x="2976" y="912"/>
              <a:ext cx="96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kumimoji="1" lang="zh-CN" altLang="en-US" sz="2800">
                  <a:ea typeface="黑体" pitchFamily="49" charset="-122"/>
                </a:rPr>
                <a:t>有误差</a:t>
              </a:r>
            </a:p>
          </p:txBody>
        </p:sp>
        <p:graphicFrame>
          <p:nvGraphicFramePr>
            <p:cNvPr id="1009672" name="Object 8"/>
            <p:cNvGraphicFramePr>
              <a:graphicFrameLocks noChangeAspect="1"/>
            </p:cNvGraphicFramePr>
            <p:nvPr/>
          </p:nvGraphicFramePr>
          <p:xfrm>
            <a:off x="3648" y="816"/>
            <a:ext cx="954" cy="419"/>
          </p:xfrm>
          <a:graphic>
            <a:graphicData uri="http://schemas.openxmlformats.org/presentationml/2006/ole">
              <mc:AlternateContent xmlns:mc="http://schemas.openxmlformats.org/markup-compatibility/2006">
                <mc:Choice xmlns:v="urn:schemas-microsoft-com:vml" Requires="v">
                  <p:oleObj name="Equation" r:id="rId5" imgW="1002960" imgH="393480" progId="Equation.3">
                    <p:embed/>
                  </p:oleObj>
                </mc:Choice>
                <mc:Fallback>
                  <p:oleObj name="Equation" r:id="rId5" imgW="1002960" imgH="39348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8" y="816"/>
                          <a:ext cx="954" cy="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09673" name="Text Box 9"/>
          <p:cNvSpPr txBox="1">
            <a:spLocks noChangeArrowheads="1"/>
          </p:cNvSpPr>
          <p:nvPr/>
        </p:nvSpPr>
        <p:spPr bwMode="auto">
          <a:xfrm>
            <a:off x="1238250" y="2465388"/>
            <a:ext cx="437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pPr>
            <a:r>
              <a:rPr kumimoji="1" lang="zh-CN" altLang="en-US" sz="2800">
                <a:ea typeface="黑体" pitchFamily="49" charset="-122"/>
              </a:rPr>
              <a:t>第 </a:t>
            </a:r>
            <a:r>
              <a:rPr kumimoji="1" lang="en-US" altLang="zh-CN" sz="2800">
                <a:ea typeface="黑体" pitchFamily="49" charset="-122"/>
              </a:rPr>
              <a:t>n</a:t>
            </a:r>
            <a:r>
              <a:rPr kumimoji="1" lang="en-US" altLang="zh-CN" sz="2800" i="1">
                <a:ea typeface="黑体" pitchFamily="49" charset="-122"/>
              </a:rPr>
              <a:t> </a:t>
            </a:r>
            <a:r>
              <a:rPr kumimoji="1" lang="zh-CN" altLang="en-US" sz="2800">
                <a:ea typeface="黑体" pitchFamily="49" charset="-122"/>
              </a:rPr>
              <a:t>步产生的 </a:t>
            </a:r>
            <a:r>
              <a:rPr kumimoji="1" lang="en-US" altLang="zh-CN" sz="2800" i="1">
                <a:ea typeface="黑体" pitchFamily="49" charset="-122"/>
              </a:rPr>
              <a:t>x</a:t>
            </a:r>
            <a:r>
              <a:rPr kumimoji="1" lang="en-US" altLang="zh-CN" sz="2800" i="1" baseline="-25000">
                <a:ea typeface="黑体" pitchFamily="49" charset="-122"/>
              </a:rPr>
              <a:t>k </a:t>
            </a:r>
            <a:r>
              <a:rPr kumimoji="1" lang="en-US" altLang="zh-CN" sz="2800" i="1">
                <a:ea typeface="黑体" pitchFamily="49" charset="-122"/>
              </a:rPr>
              <a:t> </a:t>
            </a:r>
            <a:r>
              <a:rPr kumimoji="1" lang="zh-CN" altLang="en-US" sz="2800">
                <a:ea typeface="黑体" pitchFamily="49" charset="-122"/>
              </a:rPr>
              <a:t>有误差</a:t>
            </a:r>
          </a:p>
        </p:txBody>
      </p:sp>
      <p:graphicFrame>
        <p:nvGraphicFramePr>
          <p:cNvPr id="1009674" name="Object 10"/>
          <p:cNvGraphicFramePr>
            <a:graphicFrameLocks noChangeAspect="1"/>
          </p:cNvGraphicFramePr>
          <p:nvPr/>
        </p:nvGraphicFramePr>
        <p:xfrm>
          <a:off x="5448300" y="2160588"/>
          <a:ext cx="2889250" cy="963612"/>
        </p:xfrm>
        <a:graphic>
          <a:graphicData uri="http://schemas.openxmlformats.org/presentationml/2006/ole">
            <mc:AlternateContent xmlns:mc="http://schemas.openxmlformats.org/markup-compatibility/2006">
              <mc:Choice xmlns:v="urn:schemas-microsoft-com:vml" Requires="v">
                <p:oleObj name="Equation" r:id="rId7" imgW="1015920" imgH="393480" progId="Equation.3">
                  <p:embed/>
                </p:oleObj>
              </mc:Choice>
              <mc:Fallback>
                <p:oleObj name="Equation" r:id="rId7" imgW="1015920" imgH="3934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8300" y="2160588"/>
                        <a:ext cx="2889250" cy="963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9675" name="Object 11"/>
          <p:cNvGraphicFramePr>
            <a:graphicFrameLocks noChangeAspect="1"/>
          </p:cNvGraphicFramePr>
          <p:nvPr/>
        </p:nvGraphicFramePr>
        <p:xfrm>
          <a:off x="2144713" y="3141663"/>
          <a:ext cx="6089650" cy="1054100"/>
        </p:xfrm>
        <a:graphic>
          <a:graphicData uri="http://schemas.openxmlformats.org/presentationml/2006/ole">
            <mc:AlternateContent xmlns:mc="http://schemas.openxmlformats.org/markup-compatibility/2006">
              <mc:Choice xmlns:v="urn:schemas-microsoft-com:vml" Requires="v">
                <p:oleObj name="公式" r:id="rId9" imgW="2298600" imgH="406080" progId="Equation.3">
                  <p:embed/>
                </p:oleObj>
              </mc:Choice>
              <mc:Fallback>
                <p:oleObj name="公式" r:id="rId9" imgW="2298600" imgH="40608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4713" y="3141663"/>
                        <a:ext cx="608965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9676" name="Text Box 12"/>
          <p:cNvSpPr txBox="1">
            <a:spLocks noChangeArrowheads="1"/>
          </p:cNvSpPr>
          <p:nvPr/>
        </p:nvSpPr>
        <p:spPr bwMode="auto">
          <a:xfrm>
            <a:off x="990600" y="4332288"/>
            <a:ext cx="78422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lnSpc>
                <a:spcPct val="90000"/>
              </a:lnSpc>
            </a:pPr>
            <a:r>
              <a:rPr kumimoji="1" lang="zh-CN" altLang="en-US">
                <a:ea typeface="黑体" pitchFamily="49" charset="-122"/>
              </a:rPr>
              <a:t>①计算简单;  </a:t>
            </a:r>
          </a:p>
          <a:p>
            <a:pPr algn="l" eaLnBrk="1" hangingPunct="1">
              <a:lnSpc>
                <a:spcPct val="90000"/>
              </a:lnSpc>
            </a:pPr>
            <a:r>
              <a:rPr kumimoji="1" lang="zh-CN" altLang="en-US">
                <a:ea typeface="黑体" pitchFamily="49" charset="-122"/>
              </a:rPr>
              <a:t>② 对</a:t>
            </a:r>
            <a:r>
              <a:rPr kumimoji="1" lang="en-US" altLang="zh-CN" i="1">
                <a:ea typeface="黑体" pitchFamily="49" charset="-122"/>
              </a:rPr>
              <a:t>f </a:t>
            </a:r>
            <a:r>
              <a:rPr kumimoji="1" lang="en-US" altLang="zh-CN">
                <a:ea typeface="黑体" pitchFamily="49" charset="-122"/>
              </a:rPr>
              <a:t>(</a:t>
            </a:r>
            <a:r>
              <a:rPr kumimoji="1" lang="en-US" altLang="zh-CN" i="1">
                <a:ea typeface="黑体" pitchFamily="49" charset="-122"/>
              </a:rPr>
              <a:t>x</a:t>
            </a:r>
            <a:r>
              <a:rPr kumimoji="1" lang="en-US" altLang="zh-CN">
                <a:ea typeface="黑体" pitchFamily="49" charset="-122"/>
              </a:rPr>
              <a:t>)</a:t>
            </a:r>
            <a:r>
              <a:rPr kumimoji="1" lang="en-US" altLang="zh-CN" i="1">
                <a:ea typeface="黑体" pitchFamily="49" charset="-122"/>
              </a:rPr>
              <a:t> </a:t>
            </a:r>
            <a:r>
              <a:rPr kumimoji="1" lang="zh-CN" altLang="en-US">
                <a:ea typeface="黑体" pitchFamily="49" charset="-122"/>
              </a:rPr>
              <a:t>要求不高(只要连续即可) .</a:t>
            </a:r>
          </a:p>
        </p:txBody>
      </p:sp>
      <p:sp>
        <p:nvSpPr>
          <p:cNvPr id="1009677" name="Text Box 13"/>
          <p:cNvSpPr txBox="1">
            <a:spLocks noChangeArrowheads="1"/>
          </p:cNvSpPr>
          <p:nvPr/>
        </p:nvSpPr>
        <p:spPr bwMode="auto">
          <a:xfrm>
            <a:off x="990600" y="5584825"/>
            <a:ext cx="67691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lnSpc>
                <a:spcPct val="90000"/>
              </a:lnSpc>
            </a:pPr>
            <a:r>
              <a:rPr kumimoji="1" lang="zh-CN" altLang="en-US">
                <a:ea typeface="黑体" pitchFamily="49" charset="-122"/>
              </a:rPr>
              <a:t>①无法求复根及偶重根  </a:t>
            </a:r>
          </a:p>
          <a:p>
            <a:pPr algn="l" eaLnBrk="1" hangingPunct="1">
              <a:lnSpc>
                <a:spcPct val="90000"/>
              </a:lnSpc>
            </a:pPr>
            <a:r>
              <a:rPr kumimoji="1" lang="zh-CN" altLang="en-US">
                <a:ea typeface="黑体" pitchFamily="49" charset="-122"/>
              </a:rPr>
              <a:t>② 收敛慢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C534316D-7732-4F51-A17C-D3866F327906}" type="slidenum">
              <a:rPr lang="zh-CN" altLang="en-US"/>
              <a:pPr/>
              <a:t>13</a:t>
            </a:fld>
            <a:endParaRPr lang="en-US" altLang="zh-CN"/>
          </a:p>
        </p:txBody>
      </p:sp>
      <p:sp>
        <p:nvSpPr>
          <p:cNvPr id="5" name="日期占位符 4"/>
          <p:cNvSpPr>
            <a:spLocks noGrp="1"/>
          </p:cNvSpPr>
          <p:nvPr>
            <p:ph type="dt" sz="half" idx="11"/>
          </p:nvPr>
        </p:nvSpPr>
        <p:spPr/>
        <p:txBody>
          <a:bodyPr/>
          <a:lstStyle/>
          <a:p>
            <a:fld id="{24713CD5-0965-4D71-8D65-17B4C6B861CD}" type="datetime1">
              <a:rPr lang="zh-CN" altLang="en-US"/>
              <a:pPr/>
              <a:t>2024/11/18</a:t>
            </a:fld>
            <a:endParaRPr lang="en-US" altLang="zh-CN" sz="1000"/>
          </a:p>
        </p:txBody>
      </p:sp>
      <p:sp>
        <p:nvSpPr>
          <p:cNvPr id="718850" name="Rectangle 2"/>
          <p:cNvSpPr>
            <a:spLocks noGrp="1" noChangeArrowheads="1"/>
          </p:cNvSpPr>
          <p:nvPr>
            <p:ph type="title"/>
          </p:nvPr>
        </p:nvSpPr>
        <p:spPr/>
        <p:txBody>
          <a:bodyPr/>
          <a:lstStyle/>
          <a:p>
            <a:r>
              <a:rPr lang="zh-CN" altLang="en-US"/>
              <a:t>2.迭代解法</a:t>
            </a:r>
          </a:p>
        </p:txBody>
      </p:sp>
      <p:sp>
        <p:nvSpPr>
          <p:cNvPr id="718851" name="Rectangle 3"/>
          <p:cNvSpPr>
            <a:spLocks noGrp="1" noChangeArrowheads="1"/>
          </p:cNvSpPr>
          <p:nvPr>
            <p:ph type="body" idx="1"/>
          </p:nvPr>
        </p:nvSpPr>
        <p:spPr>
          <a:xfrm>
            <a:off x="650875" y="1143000"/>
            <a:ext cx="8820150" cy="4632037"/>
          </a:xfrm>
        </p:spPr>
        <p:txBody>
          <a:bodyPr/>
          <a:lstStyle/>
          <a:p>
            <a:pPr>
              <a:lnSpc>
                <a:spcPct val="150000"/>
              </a:lnSpc>
            </a:pPr>
            <a:r>
              <a:rPr lang="zh-CN" altLang="en-US" dirty="0"/>
              <a:t>迭代法的计算步骤归纳如下：</a:t>
            </a:r>
          </a:p>
          <a:p>
            <a:pPr lvl="1">
              <a:lnSpc>
                <a:spcPct val="150000"/>
              </a:lnSpc>
            </a:pPr>
            <a:r>
              <a:rPr lang="zh-CN" altLang="en-US" dirty="0"/>
              <a:t>(1)选取初值</a:t>
            </a:r>
            <a:r>
              <a:rPr lang="en-US" altLang="zh-CN" i="1" dirty="0"/>
              <a:t>x</a:t>
            </a:r>
            <a:r>
              <a:rPr lang="en-US" altLang="zh-CN" i="1" baseline="-25000" dirty="0"/>
              <a:t>0</a:t>
            </a:r>
            <a:r>
              <a:rPr lang="zh-CN" altLang="en-US" dirty="0"/>
              <a:t>，</a:t>
            </a:r>
          </a:p>
          <a:p>
            <a:pPr lvl="1">
              <a:lnSpc>
                <a:spcPct val="150000"/>
              </a:lnSpc>
            </a:pPr>
            <a:r>
              <a:rPr lang="en-US" altLang="zh-CN" dirty="0"/>
              <a:t>(2)</a:t>
            </a:r>
            <a:r>
              <a:rPr lang="zh-CN" altLang="en-US" dirty="0"/>
              <a:t>确定方程</a:t>
            </a:r>
            <a:r>
              <a:rPr lang="en-US" altLang="zh-CN" i="1" dirty="0"/>
              <a:t>f</a:t>
            </a:r>
            <a:r>
              <a:rPr lang="en-US" altLang="zh-CN" dirty="0"/>
              <a:t>(</a:t>
            </a:r>
            <a:r>
              <a:rPr lang="en-US" altLang="zh-CN" i="1" dirty="0"/>
              <a:t>x</a:t>
            </a:r>
            <a:r>
              <a:rPr lang="en-US" altLang="zh-CN" dirty="0"/>
              <a:t>)</a:t>
            </a:r>
            <a:r>
              <a:rPr lang="en-US" altLang="zh-CN" dirty="0">
                <a:latin typeface="宋体" pitchFamily="2" charset="-122"/>
              </a:rPr>
              <a:t>=0</a:t>
            </a:r>
            <a:r>
              <a:rPr lang="zh-CN" altLang="en-US" dirty="0"/>
              <a:t>的等价形式</a:t>
            </a:r>
            <a:r>
              <a:rPr lang="en-US" altLang="zh-CN" i="1" dirty="0"/>
              <a:t>x</a:t>
            </a:r>
            <a:r>
              <a:rPr lang="en-US" altLang="zh-CN" dirty="0">
                <a:latin typeface="宋体" pitchFamily="2" charset="-122"/>
              </a:rPr>
              <a:t>=</a:t>
            </a:r>
            <a:r>
              <a:rPr lang="zh-CN" altLang="en-US" i="1" dirty="0">
                <a:sym typeface="Symbol" pitchFamily="18" charset="2"/>
              </a:rPr>
              <a:t></a:t>
            </a:r>
            <a:r>
              <a:rPr lang="en-US" altLang="zh-CN" dirty="0"/>
              <a:t>(</a:t>
            </a:r>
            <a:r>
              <a:rPr lang="en-US" altLang="zh-CN" i="1" dirty="0"/>
              <a:t>x</a:t>
            </a:r>
            <a:r>
              <a:rPr lang="en-US" altLang="zh-CN" dirty="0"/>
              <a:t>)</a:t>
            </a:r>
            <a:r>
              <a:rPr lang="en-US" altLang="zh-CN" i="1" dirty="0"/>
              <a:t> </a:t>
            </a:r>
            <a:r>
              <a:rPr lang="en-US" altLang="zh-CN" dirty="0">
                <a:sym typeface="Symbol" pitchFamily="18" charset="2"/>
              </a:rPr>
              <a:t>,</a:t>
            </a:r>
            <a:r>
              <a:rPr lang="zh-CN" altLang="en-US" dirty="0"/>
              <a:t>判断收敛性</a:t>
            </a:r>
          </a:p>
          <a:p>
            <a:pPr lvl="1">
              <a:lnSpc>
                <a:spcPct val="150000"/>
              </a:lnSpc>
            </a:pPr>
            <a:r>
              <a:rPr lang="zh-CN" altLang="en-US" dirty="0"/>
              <a:t>(</a:t>
            </a:r>
            <a:r>
              <a:rPr lang="en-US" altLang="zh-CN" dirty="0"/>
              <a:t>3)</a:t>
            </a:r>
            <a:r>
              <a:rPr lang="zh-CN" altLang="en-US" dirty="0"/>
              <a:t>按公式</a:t>
            </a:r>
            <a:r>
              <a:rPr lang="en-US" altLang="zh-CN" i="1" dirty="0">
                <a:cs typeface="Times New Roman" pitchFamily="18" charset="0"/>
              </a:rPr>
              <a:t>x</a:t>
            </a:r>
            <a:r>
              <a:rPr lang="en-US" altLang="zh-CN" i="1" baseline="-25000" dirty="0">
                <a:cs typeface="Times New Roman" pitchFamily="18" charset="0"/>
              </a:rPr>
              <a:t>n+</a:t>
            </a:r>
            <a:r>
              <a:rPr lang="en-US" altLang="zh-CN" baseline="-25000" dirty="0">
                <a:cs typeface="Times New Roman" pitchFamily="18" charset="0"/>
              </a:rPr>
              <a:t>1</a:t>
            </a:r>
            <a:r>
              <a:rPr lang="en-US" altLang="zh-CN" i="1" dirty="0">
                <a:cs typeface="Times New Roman" pitchFamily="18" charset="0"/>
              </a:rPr>
              <a:t>= </a:t>
            </a:r>
            <a:r>
              <a:rPr lang="zh-CN" altLang="en-US" i="1" dirty="0">
                <a:sym typeface="Symbol" pitchFamily="18" charset="2"/>
              </a:rPr>
              <a:t></a:t>
            </a:r>
            <a:r>
              <a:rPr lang="en-US" altLang="zh-CN" dirty="0">
                <a:cs typeface="Times New Roman" pitchFamily="18" charset="0"/>
              </a:rPr>
              <a:t>(</a:t>
            </a:r>
            <a:r>
              <a:rPr lang="en-US" altLang="zh-CN" i="1" dirty="0" err="1">
                <a:cs typeface="Times New Roman" pitchFamily="18" charset="0"/>
              </a:rPr>
              <a:t>x</a:t>
            </a:r>
            <a:r>
              <a:rPr lang="en-US" altLang="zh-CN" i="1" baseline="-25000" dirty="0" err="1">
                <a:cs typeface="Times New Roman" pitchFamily="18" charset="0"/>
              </a:rPr>
              <a:t>n</a:t>
            </a:r>
            <a:r>
              <a:rPr lang="en-US" altLang="zh-CN" dirty="0">
                <a:cs typeface="Times New Roman" pitchFamily="18" charset="0"/>
              </a:rPr>
              <a:t>)</a:t>
            </a:r>
            <a:r>
              <a:rPr lang="zh-CN" altLang="en-US" dirty="0"/>
              <a:t>计算</a:t>
            </a:r>
            <a:r>
              <a:rPr lang="en-US" altLang="zh-CN" i="1" dirty="0">
                <a:cs typeface="Times New Roman" pitchFamily="18" charset="0"/>
              </a:rPr>
              <a:t>x</a:t>
            </a:r>
            <a:r>
              <a:rPr lang="en-US" altLang="zh-CN" i="1" baseline="-25000" dirty="0">
                <a:cs typeface="Times New Roman" pitchFamily="18" charset="0"/>
              </a:rPr>
              <a:t>n+</a:t>
            </a:r>
            <a:r>
              <a:rPr lang="en-US" altLang="zh-CN" baseline="-25000" dirty="0">
                <a:cs typeface="Times New Roman" pitchFamily="18" charset="0"/>
              </a:rPr>
              <a:t>1</a:t>
            </a:r>
            <a:r>
              <a:rPr lang="zh-CN" altLang="en-US" dirty="0"/>
              <a:t>的值</a:t>
            </a:r>
          </a:p>
          <a:p>
            <a:pPr lvl="1">
              <a:lnSpc>
                <a:spcPct val="150000"/>
              </a:lnSpc>
            </a:pPr>
            <a:r>
              <a:rPr lang="zh-CN" altLang="en-US" dirty="0"/>
              <a:t>(</a:t>
            </a:r>
            <a:r>
              <a:rPr lang="en-US" altLang="zh-CN" dirty="0"/>
              <a:t>4)</a:t>
            </a:r>
            <a:r>
              <a:rPr lang="zh-CN" altLang="en-US" dirty="0"/>
              <a:t>迭代终止判断</a:t>
            </a:r>
          </a:p>
          <a:p>
            <a:pPr lvl="2">
              <a:lnSpc>
                <a:spcPct val="150000"/>
              </a:lnSpc>
            </a:pPr>
            <a:r>
              <a:rPr lang="zh-CN" altLang="en-US" dirty="0"/>
              <a:t>如果| </a:t>
            </a:r>
            <a:r>
              <a:rPr lang="en-US" altLang="zh-CN" i="1" dirty="0">
                <a:cs typeface="Times New Roman" pitchFamily="18" charset="0"/>
              </a:rPr>
              <a:t>x</a:t>
            </a:r>
            <a:r>
              <a:rPr lang="en-US" altLang="zh-CN" i="1" baseline="-25000" dirty="0">
                <a:cs typeface="Times New Roman" pitchFamily="18" charset="0"/>
              </a:rPr>
              <a:t>n+</a:t>
            </a:r>
            <a:r>
              <a:rPr lang="en-US" altLang="zh-CN" baseline="-25000" dirty="0">
                <a:cs typeface="Times New Roman" pitchFamily="18" charset="0"/>
              </a:rPr>
              <a:t>1</a:t>
            </a:r>
            <a:r>
              <a:rPr lang="zh-CN" altLang="en-US" dirty="0"/>
              <a:t>-</a:t>
            </a:r>
            <a:r>
              <a:rPr lang="en-US" altLang="zh-CN" i="1" dirty="0" err="1">
                <a:cs typeface="Times New Roman" pitchFamily="18" charset="0"/>
              </a:rPr>
              <a:t>x</a:t>
            </a:r>
            <a:r>
              <a:rPr lang="en-US" altLang="zh-CN" i="1" baseline="-25000" dirty="0" err="1">
                <a:cs typeface="Times New Roman" pitchFamily="18" charset="0"/>
              </a:rPr>
              <a:t>n</a:t>
            </a:r>
            <a:r>
              <a:rPr lang="zh-CN" altLang="en-US" dirty="0"/>
              <a:t>|&lt;</a:t>
            </a:r>
            <a:r>
              <a:rPr lang="zh-CN" altLang="en-US" dirty="0">
                <a:sym typeface="Symbol" pitchFamily="18" charset="2"/>
              </a:rPr>
              <a:t>则停止计算，否则继续迭代</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C534316D-7732-4F51-A17C-D3866F327906}" type="slidenum">
              <a:rPr lang="zh-CN" altLang="en-US"/>
              <a:pPr/>
              <a:t>14</a:t>
            </a:fld>
            <a:endParaRPr lang="en-US" altLang="zh-CN"/>
          </a:p>
        </p:txBody>
      </p:sp>
      <p:sp>
        <p:nvSpPr>
          <p:cNvPr id="5" name="日期占位符 4"/>
          <p:cNvSpPr>
            <a:spLocks noGrp="1"/>
          </p:cNvSpPr>
          <p:nvPr>
            <p:ph type="dt" sz="half" idx="11"/>
          </p:nvPr>
        </p:nvSpPr>
        <p:spPr/>
        <p:txBody>
          <a:bodyPr/>
          <a:lstStyle/>
          <a:p>
            <a:fld id="{24713CD5-0965-4D71-8D65-17B4C6B861CD}" type="datetime1">
              <a:rPr lang="zh-CN" altLang="en-US"/>
              <a:pPr/>
              <a:t>2024/11/18</a:t>
            </a:fld>
            <a:endParaRPr lang="en-US" altLang="zh-CN" sz="1000"/>
          </a:p>
        </p:txBody>
      </p:sp>
      <p:sp>
        <p:nvSpPr>
          <p:cNvPr id="718850" name="Rectangle 2"/>
          <p:cNvSpPr>
            <a:spLocks noGrp="1" noChangeArrowheads="1"/>
          </p:cNvSpPr>
          <p:nvPr>
            <p:ph type="title"/>
          </p:nvPr>
        </p:nvSpPr>
        <p:spPr/>
        <p:txBody>
          <a:bodyPr/>
          <a:lstStyle/>
          <a:p>
            <a:r>
              <a:rPr lang="zh-CN" altLang="en-US"/>
              <a:t>2.迭代解法</a:t>
            </a:r>
          </a:p>
        </p:txBody>
      </p:sp>
      <p:sp>
        <p:nvSpPr>
          <p:cNvPr id="718851" name="Rectangle 3"/>
          <p:cNvSpPr>
            <a:spLocks noGrp="1" noChangeArrowheads="1"/>
          </p:cNvSpPr>
          <p:nvPr>
            <p:ph type="body" idx="1"/>
          </p:nvPr>
        </p:nvSpPr>
        <p:spPr>
          <a:xfrm>
            <a:off x="650875" y="1143000"/>
            <a:ext cx="8820150" cy="3080843"/>
          </a:xfrm>
        </p:spPr>
        <p:txBody>
          <a:bodyPr/>
          <a:lstStyle/>
          <a:p>
            <a:r>
              <a:rPr lang="zh-CN" altLang="en-US" dirty="0"/>
              <a:t>收敛条件</a:t>
            </a:r>
          </a:p>
          <a:p>
            <a:pPr lvl="1"/>
            <a:r>
              <a:rPr lang="zh-CN" altLang="en-US" dirty="0">
                <a:solidFill>
                  <a:srgbClr val="FF0000"/>
                </a:solidFill>
              </a:rPr>
              <a:t>| </a:t>
            </a:r>
            <a:r>
              <a:rPr lang="zh-CN" altLang="en-US" i="1" dirty="0">
                <a:solidFill>
                  <a:srgbClr val="FF0000"/>
                </a:solidFill>
                <a:sym typeface="Symbol" pitchFamily="18" charset="2"/>
              </a:rPr>
              <a:t></a:t>
            </a:r>
            <a:r>
              <a:rPr lang="en-US" altLang="zh-CN" dirty="0">
                <a:solidFill>
                  <a:srgbClr val="FF0000"/>
                </a:solidFill>
              </a:rPr>
              <a:t>’(</a:t>
            </a:r>
            <a:r>
              <a:rPr lang="en-US" altLang="zh-CN" i="1" dirty="0">
                <a:solidFill>
                  <a:srgbClr val="FF0000"/>
                </a:solidFill>
              </a:rPr>
              <a:t>x</a:t>
            </a:r>
            <a:r>
              <a:rPr lang="en-US" altLang="zh-CN" dirty="0">
                <a:solidFill>
                  <a:srgbClr val="FF0000"/>
                </a:solidFill>
              </a:rPr>
              <a:t>)|</a:t>
            </a:r>
            <a:r>
              <a:rPr lang="en-US" altLang="zh-CN" dirty="0">
                <a:solidFill>
                  <a:srgbClr val="FF0000"/>
                </a:solidFill>
                <a:sym typeface="Symbol" pitchFamily="18" charset="2"/>
              </a:rPr>
              <a:t> </a:t>
            </a:r>
            <a:r>
              <a:rPr lang="en-US" altLang="zh-CN" i="1" dirty="0">
                <a:solidFill>
                  <a:srgbClr val="FF0000"/>
                </a:solidFill>
              </a:rPr>
              <a:t>q</a:t>
            </a:r>
            <a:r>
              <a:rPr lang="en-US" altLang="zh-CN" dirty="0">
                <a:solidFill>
                  <a:srgbClr val="FF0000"/>
                </a:solidFill>
                <a:sym typeface="Symbol" pitchFamily="18" charset="2"/>
              </a:rPr>
              <a:t> </a:t>
            </a:r>
            <a:r>
              <a:rPr lang="en-US" altLang="zh-CN" dirty="0">
                <a:solidFill>
                  <a:srgbClr val="FF0000"/>
                </a:solidFill>
              </a:rPr>
              <a:t>&lt;1</a:t>
            </a:r>
            <a:r>
              <a:rPr lang="zh-CN" altLang="en-US" dirty="0"/>
              <a:t> 是迭代序列收敛的充分条件</a:t>
            </a:r>
          </a:p>
          <a:p>
            <a:pPr lvl="1"/>
            <a:r>
              <a:rPr lang="zh-CN" altLang="en-US" dirty="0"/>
              <a:t>在实际应用时，可用</a:t>
            </a:r>
            <a:r>
              <a:rPr lang="zh-CN" altLang="en-US" dirty="0">
                <a:solidFill>
                  <a:srgbClr val="FF0000"/>
                </a:solidFill>
              </a:rPr>
              <a:t>| </a:t>
            </a:r>
            <a:r>
              <a:rPr lang="zh-CN" altLang="en-US" i="1" dirty="0">
                <a:solidFill>
                  <a:srgbClr val="FF0000"/>
                </a:solidFill>
                <a:sym typeface="Symbol" pitchFamily="18" charset="2"/>
              </a:rPr>
              <a:t></a:t>
            </a:r>
            <a:r>
              <a:rPr lang="en-US" altLang="zh-CN" dirty="0">
                <a:solidFill>
                  <a:srgbClr val="FF0000"/>
                </a:solidFill>
              </a:rPr>
              <a:t>’(</a:t>
            </a:r>
            <a:r>
              <a:rPr lang="en-US" altLang="zh-CN" i="1" dirty="0">
                <a:solidFill>
                  <a:srgbClr val="FF0000"/>
                </a:solidFill>
              </a:rPr>
              <a:t>x</a:t>
            </a:r>
            <a:r>
              <a:rPr lang="en-US" altLang="zh-CN" baseline="-25000" dirty="0">
                <a:solidFill>
                  <a:srgbClr val="FF0000"/>
                </a:solidFill>
              </a:rPr>
              <a:t>0</a:t>
            </a:r>
            <a:r>
              <a:rPr lang="en-US" altLang="zh-CN" dirty="0">
                <a:solidFill>
                  <a:srgbClr val="FF0000"/>
                </a:solidFill>
              </a:rPr>
              <a:t>)|</a:t>
            </a:r>
            <a:r>
              <a:rPr lang="en-US" altLang="zh-CN" dirty="0">
                <a:solidFill>
                  <a:srgbClr val="FF0000"/>
                </a:solidFill>
                <a:sym typeface="Symbol" pitchFamily="18" charset="2"/>
              </a:rPr>
              <a:t> </a:t>
            </a:r>
            <a:r>
              <a:rPr lang="en-US" altLang="zh-CN" i="1" dirty="0">
                <a:solidFill>
                  <a:srgbClr val="FF0000"/>
                </a:solidFill>
              </a:rPr>
              <a:t>q</a:t>
            </a:r>
            <a:r>
              <a:rPr lang="en-US" altLang="zh-CN" dirty="0">
                <a:solidFill>
                  <a:srgbClr val="FF0000"/>
                </a:solidFill>
                <a:sym typeface="Symbol" pitchFamily="18" charset="2"/>
              </a:rPr>
              <a:t> </a:t>
            </a:r>
            <a:r>
              <a:rPr lang="en-US" altLang="zh-CN" dirty="0">
                <a:solidFill>
                  <a:srgbClr val="FF0000"/>
                </a:solidFill>
              </a:rPr>
              <a:t>&lt;1</a:t>
            </a:r>
          </a:p>
          <a:p>
            <a:r>
              <a:rPr lang="zh-CN" altLang="en-US" dirty="0"/>
              <a:t>迭代终止条件    |</a:t>
            </a:r>
            <a:r>
              <a:rPr lang="en-US" altLang="zh-CN" i="1" dirty="0"/>
              <a:t>x</a:t>
            </a:r>
            <a:r>
              <a:rPr lang="en-US" altLang="zh-CN" i="1" baseline="-25000" dirty="0"/>
              <a:t>n+1</a:t>
            </a:r>
            <a:r>
              <a:rPr lang="en-US" altLang="zh-CN" dirty="0"/>
              <a:t>-</a:t>
            </a:r>
            <a:r>
              <a:rPr lang="en-US" altLang="zh-CN" i="1" dirty="0"/>
              <a:t>α</a:t>
            </a:r>
            <a:r>
              <a:rPr lang="en-US" altLang="zh-CN" dirty="0"/>
              <a:t>|&lt;</a:t>
            </a:r>
            <a:r>
              <a:rPr lang="en-US" altLang="zh-CN" dirty="0">
                <a:latin typeface="宋体" pitchFamily="2" charset="-122"/>
              </a:rPr>
              <a:t>ε</a:t>
            </a:r>
          </a:p>
          <a:p>
            <a:endParaRPr lang="en-US" altLang="zh-CN" dirty="0"/>
          </a:p>
          <a:p>
            <a:r>
              <a:rPr lang="zh-CN" altLang="en-US" dirty="0"/>
              <a:t>上界公式</a:t>
            </a:r>
            <a:r>
              <a:rPr lang="zh-CN" altLang="zh-CN" dirty="0"/>
              <a:t>&lt; </a:t>
            </a:r>
            <a:r>
              <a:rPr lang="en-US" altLang="zh-CN" dirty="0">
                <a:sym typeface="Symbol" pitchFamily="18" charset="2"/>
              </a:rPr>
              <a:t></a:t>
            </a:r>
            <a:r>
              <a:rPr lang="zh-CN" altLang="en-US" dirty="0"/>
              <a:t>亦称为</a:t>
            </a:r>
            <a:r>
              <a:rPr lang="zh-CN" altLang="en-US" u="sng" dirty="0"/>
              <a:t>迭代终止的判断条件</a:t>
            </a:r>
            <a:endParaRPr lang="en-US" altLang="zh-CN" dirty="0">
              <a:solidFill>
                <a:srgbClr val="FF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476268001"/>
              </p:ext>
            </p:extLst>
          </p:nvPr>
        </p:nvGraphicFramePr>
        <p:xfrm>
          <a:off x="920552" y="4149080"/>
          <a:ext cx="5137150" cy="1017588"/>
        </p:xfrm>
        <a:graphic>
          <a:graphicData uri="http://schemas.openxmlformats.org/presentationml/2006/ole">
            <mc:AlternateContent xmlns:mc="http://schemas.openxmlformats.org/markup-compatibility/2006">
              <mc:Choice xmlns:v="urn:schemas-microsoft-com:vml" Requires="v">
                <p:oleObj name="公式" r:id="rId4" imgW="1828800" imgH="419100" progId="Equation.3">
                  <p:embed/>
                </p:oleObj>
              </mc:Choice>
              <mc:Fallback>
                <p:oleObj name="公式" r:id="rId4" imgW="1828800" imgH="4191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552" y="4149080"/>
                        <a:ext cx="5137150"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66841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6"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D97C780-C7D5-4255-AE98-4CB3B4C229BC}" type="slidenum">
              <a:rPr lang="zh-CN" altLang="en-US"/>
              <a:pPr/>
              <a:t>15</a:t>
            </a:fld>
            <a:endParaRPr lang="en-US" altLang="zh-CN"/>
          </a:p>
        </p:txBody>
      </p:sp>
      <p:sp>
        <p:nvSpPr>
          <p:cNvPr id="15367"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14839C9-1FDF-40A2-9F5B-584D2D30C102}" type="datetime1">
              <a:rPr lang="zh-CN" altLang="en-US" sz="1800"/>
              <a:pPr/>
              <a:t>2024/11/18</a:t>
            </a:fld>
            <a:endParaRPr lang="en-US" altLang="zh-CN" sz="1000"/>
          </a:p>
        </p:txBody>
      </p:sp>
      <p:sp>
        <p:nvSpPr>
          <p:cNvPr id="15369" name="Rectangle 8"/>
          <p:cNvSpPr>
            <a:spLocks noGrp="1" noChangeArrowheads="1"/>
          </p:cNvSpPr>
          <p:nvPr>
            <p:ph type="body" idx="1"/>
          </p:nvPr>
        </p:nvSpPr>
        <p:spPr>
          <a:xfrm>
            <a:off x="739608" y="1966120"/>
            <a:ext cx="8820812" cy="384175"/>
          </a:xfrm>
        </p:spPr>
        <p:txBody>
          <a:bodyPr/>
          <a:lstStyle/>
          <a:p>
            <a:r>
              <a:rPr lang="zh-CN" altLang="en-US" dirty="0"/>
              <a:t>预估迭代次数</a:t>
            </a:r>
          </a:p>
        </p:txBody>
      </p:sp>
      <p:grpSp>
        <p:nvGrpSpPr>
          <p:cNvPr id="15370" name="Group 9"/>
          <p:cNvGrpSpPr>
            <a:grpSpLocks/>
          </p:cNvGrpSpPr>
          <p:nvPr/>
        </p:nvGrpSpPr>
        <p:grpSpPr bwMode="auto">
          <a:xfrm>
            <a:off x="1249001" y="2319451"/>
            <a:ext cx="7677150" cy="1154113"/>
            <a:chOff x="912" y="1152"/>
            <a:chExt cx="4464" cy="727"/>
          </a:xfrm>
        </p:grpSpPr>
        <p:grpSp>
          <p:nvGrpSpPr>
            <p:cNvPr id="15372" name="Group 10"/>
            <p:cNvGrpSpPr>
              <a:grpSpLocks/>
            </p:cNvGrpSpPr>
            <p:nvPr/>
          </p:nvGrpSpPr>
          <p:grpSpPr bwMode="auto">
            <a:xfrm>
              <a:off x="912" y="1152"/>
              <a:ext cx="2438" cy="727"/>
              <a:chOff x="912" y="1152"/>
              <a:chExt cx="2438" cy="727"/>
            </a:xfrm>
          </p:grpSpPr>
          <p:sp>
            <p:nvSpPr>
              <p:cNvPr id="15374" name="Rectangle 11"/>
              <p:cNvSpPr>
                <a:spLocks noChangeArrowheads="1"/>
              </p:cNvSpPr>
              <p:nvPr/>
            </p:nvSpPr>
            <p:spPr bwMode="auto">
              <a:xfrm>
                <a:off x="912" y="1381"/>
                <a:ext cx="20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zh-CN" altLang="en-US" sz="2800" b="0">
                    <a:latin typeface="Times New Roman" pitchFamily="18" charset="0"/>
                  </a:rPr>
                  <a:t>当</a:t>
                </a:r>
              </a:p>
            </p:txBody>
          </p:sp>
          <p:sp>
            <p:nvSpPr>
              <p:cNvPr id="15375" name="Rectangle 12"/>
              <p:cNvSpPr>
                <a:spLocks noChangeArrowheads="1"/>
              </p:cNvSpPr>
              <p:nvPr/>
            </p:nvSpPr>
            <p:spPr bwMode="auto">
              <a:xfrm>
                <a:off x="2880" y="1381"/>
                <a:ext cx="47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kumimoji="1" lang="zh-CN" altLang="en-US" sz="2800" b="0" dirty="0">
                    <a:latin typeface="Times New Roman" pitchFamily="18" charset="0"/>
                  </a:rPr>
                  <a:t>成立,</a:t>
                </a:r>
              </a:p>
            </p:txBody>
          </p:sp>
          <p:graphicFrame>
            <p:nvGraphicFramePr>
              <p:cNvPr id="15365" name="Object 13"/>
              <p:cNvGraphicFramePr>
                <a:graphicFrameLocks noChangeAspect="1"/>
              </p:cNvGraphicFramePr>
              <p:nvPr/>
            </p:nvGraphicFramePr>
            <p:xfrm>
              <a:off x="1200" y="1152"/>
              <a:ext cx="1664" cy="727"/>
            </p:xfrm>
            <a:graphic>
              <a:graphicData uri="http://schemas.openxmlformats.org/presentationml/2006/ole">
                <mc:AlternateContent xmlns:mc="http://schemas.openxmlformats.org/markup-compatibility/2006">
                  <mc:Choice xmlns:v="urn:schemas-microsoft-com:vml" Requires="v">
                    <p:oleObj name="Equation" r:id="rId4" imgW="1015920" imgH="444240" progId="Equation.3">
                      <p:embed/>
                    </p:oleObj>
                  </mc:Choice>
                  <mc:Fallback>
                    <p:oleObj name="Equation" r:id="rId4" imgW="101592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 y="1152"/>
                            <a:ext cx="1664" cy="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graphicFrame>
          <p:nvGraphicFramePr>
            <p:cNvPr id="15364" name="Object 14"/>
            <p:cNvGraphicFramePr>
              <a:graphicFrameLocks noChangeAspect="1"/>
            </p:cNvGraphicFramePr>
            <p:nvPr/>
          </p:nvGraphicFramePr>
          <p:xfrm>
            <a:off x="3408" y="1344"/>
            <a:ext cx="1258" cy="359"/>
          </p:xfrm>
          <a:graphic>
            <a:graphicData uri="http://schemas.openxmlformats.org/presentationml/2006/ole">
              <mc:AlternateContent xmlns:mc="http://schemas.openxmlformats.org/markup-compatibility/2006">
                <mc:Choice xmlns:v="urn:schemas-microsoft-com:vml" Requires="v">
                  <p:oleObj name="Equation" r:id="rId6" imgW="799920" imgH="228600" progId="Equation.3">
                    <p:embed/>
                  </p:oleObj>
                </mc:Choice>
                <mc:Fallback>
                  <p:oleObj name="Equation" r:id="rId6" imgW="79992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8" y="1344"/>
                          <a:ext cx="1258" cy="359"/>
                        </a:xfrm>
                        <a:prstGeom prst="rect">
                          <a:avLst/>
                        </a:prstGeom>
                        <a:noFill/>
                        <a:ln>
                          <a:noFill/>
                        </a:ln>
                        <a:effectLst/>
                        <a:extLst>
                          <a:ext uri="{909E8E84-426E-40DD-AFC4-6F175D3DCCD1}">
                            <a14:hiddenFill xmlns:a14="http://schemas.microsoft.com/office/drawing/2010/main">
                              <a:gradFill rotWithShape="0">
                                <a:gsLst>
                                  <a:gs pos="0">
                                    <a:srgbClr val="CCFFCC"/>
                                  </a:gs>
                                  <a:gs pos="50000">
                                    <a:schemeClr val="bg1"/>
                                  </a:gs>
                                  <a:gs pos="100000">
                                    <a:srgbClr val="CCFFCC"/>
                                  </a:gs>
                                </a:gsLst>
                                <a:lin ang="5400000" scaled="1"/>
                              </a:gra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3" name="Text Box 15"/>
            <p:cNvSpPr txBox="1">
              <a:spLocks noChangeArrowheads="1"/>
            </p:cNvSpPr>
            <p:nvPr/>
          </p:nvSpPr>
          <p:spPr bwMode="auto">
            <a:xfrm>
              <a:off x="4656" y="1344"/>
              <a:ext cx="7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lgn="l" eaLnBrk="1" hangingPunct="1">
                <a:spcBef>
                  <a:spcPct val="50000"/>
                </a:spcBef>
              </a:pPr>
              <a:r>
                <a:rPr kumimoji="1" lang="zh-CN" altLang="en-US" sz="2800" b="0">
                  <a:latin typeface="Times New Roman" pitchFamily="18" charset="0"/>
                </a:rPr>
                <a:t>必成立</a:t>
              </a:r>
            </a:p>
          </p:txBody>
        </p:sp>
      </p:grpSp>
      <p:graphicFrame>
        <p:nvGraphicFramePr>
          <p:cNvPr id="262160" name="Object 16"/>
          <p:cNvGraphicFramePr>
            <a:graphicFrameLocks noChangeAspect="1"/>
          </p:cNvGraphicFramePr>
          <p:nvPr>
            <p:extLst>
              <p:ext uri="{D42A27DB-BD31-4B8C-83A1-F6EECF244321}">
                <p14:modId xmlns:p14="http://schemas.microsoft.com/office/powerpoint/2010/main" val="2230892787"/>
              </p:ext>
            </p:extLst>
          </p:nvPr>
        </p:nvGraphicFramePr>
        <p:xfrm>
          <a:off x="2072680" y="3861048"/>
          <a:ext cx="3093905" cy="1173162"/>
        </p:xfrm>
        <a:graphic>
          <a:graphicData uri="http://schemas.openxmlformats.org/presentationml/2006/ole">
            <mc:AlternateContent xmlns:mc="http://schemas.openxmlformats.org/markup-compatibility/2006">
              <mc:Choice xmlns:v="urn:schemas-microsoft-com:vml" Requires="v">
                <p:oleObj name="Equation" r:id="rId8" imgW="1143000" imgH="469800" progId="Equation.DSMT4">
                  <p:embed/>
                </p:oleObj>
              </mc:Choice>
              <mc:Fallback>
                <p:oleObj name="Equation" r:id="rId8" imgW="1143000" imgH="469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2680" y="3861048"/>
                        <a:ext cx="3093905"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aphicFrame>
        <p:nvGraphicFramePr>
          <p:cNvPr id="262161" name="Object 17"/>
          <p:cNvGraphicFramePr>
            <a:graphicFrameLocks noChangeAspect="1"/>
          </p:cNvGraphicFramePr>
          <p:nvPr>
            <p:extLst>
              <p:ext uri="{D42A27DB-BD31-4B8C-83A1-F6EECF244321}">
                <p14:modId xmlns:p14="http://schemas.microsoft.com/office/powerpoint/2010/main" val="4132492179"/>
              </p:ext>
            </p:extLst>
          </p:nvPr>
        </p:nvGraphicFramePr>
        <p:xfrm>
          <a:off x="5817096" y="3634982"/>
          <a:ext cx="2853134" cy="1619250"/>
        </p:xfrm>
        <a:graphic>
          <a:graphicData uri="http://schemas.openxmlformats.org/presentationml/2006/ole">
            <mc:AlternateContent xmlns:mc="http://schemas.openxmlformats.org/markup-compatibility/2006">
              <mc:Choice xmlns:v="urn:schemas-microsoft-com:vml" Requires="v">
                <p:oleObj name="Equation" r:id="rId10" imgW="1054080" imgH="647640" progId="Equation.3">
                  <p:embed/>
                </p:oleObj>
              </mc:Choice>
              <mc:Fallback>
                <p:oleObj name="Equation" r:id="rId10" imgW="1054080" imgH="647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17096" y="3634982"/>
                        <a:ext cx="2853134"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
        <p:nvSpPr>
          <p:cNvPr id="15371" name="Text Box 18"/>
          <p:cNvSpPr txBox="1">
            <a:spLocks noChangeArrowheads="1"/>
          </p:cNvSpPr>
          <p:nvPr/>
        </p:nvSpPr>
        <p:spPr bwMode="auto">
          <a:xfrm>
            <a:off x="920552" y="3507242"/>
            <a:ext cx="2971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lgn="l" eaLnBrk="1" hangingPunct="1">
              <a:spcBef>
                <a:spcPct val="50000"/>
              </a:spcBef>
            </a:pPr>
            <a:r>
              <a:rPr kumimoji="1" lang="zh-CN" altLang="en-US" sz="2800" dirty="0">
                <a:latin typeface="黑体" pitchFamily="49" charset="-122"/>
                <a:ea typeface="黑体" pitchFamily="49" charset="-122"/>
              </a:rPr>
              <a:t>两边取对数可得:</a:t>
            </a:r>
          </a:p>
        </p:txBody>
      </p:sp>
      <p:sp>
        <p:nvSpPr>
          <p:cNvPr id="2" name="标题 1"/>
          <p:cNvSpPr>
            <a:spLocks noGrp="1"/>
          </p:cNvSpPr>
          <p:nvPr>
            <p:ph type="title"/>
          </p:nvPr>
        </p:nvSpPr>
        <p:spPr/>
        <p:txBody>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690282564"/>
              </p:ext>
            </p:extLst>
          </p:nvPr>
        </p:nvGraphicFramePr>
        <p:xfrm>
          <a:off x="696819" y="836712"/>
          <a:ext cx="3594100" cy="971550"/>
        </p:xfrm>
        <a:graphic>
          <a:graphicData uri="http://schemas.openxmlformats.org/presentationml/2006/ole">
            <mc:AlternateContent xmlns:mc="http://schemas.openxmlformats.org/markup-compatibility/2006">
              <mc:Choice xmlns:v="urn:schemas-microsoft-com:vml" Requires="v">
                <p:oleObj name="Equation" r:id="rId12" imgW="1637589" imgH="444307" progId="Equation.3">
                  <p:embed/>
                </p:oleObj>
              </mc:Choice>
              <mc:Fallback>
                <p:oleObj name="Equation" r:id="rId12" imgW="1637589" imgH="444307" progId="Equation.3">
                  <p:embed/>
                  <p:pic>
                    <p:nvPicPr>
                      <p:cNvPr id="0" name="对象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6819" y="836712"/>
                        <a:ext cx="35941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22424390"/>
              </p:ext>
            </p:extLst>
          </p:nvPr>
        </p:nvGraphicFramePr>
        <p:xfrm>
          <a:off x="704528" y="5157192"/>
          <a:ext cx="6022975" cy="971550"/>
        </p:xfrm>
        <a:graphic>
          <a:graphicData uri="http://schemas.openxmlformats.org/presentationml/2006/ole">
            <mc:AlternateContent xmlns:mc="http://schemas.openxmlformats.org/markup-compatibility/2006">
              <mc:Choice xmlns:v="urn:schemas-microsoft-com:vml" Requires="v">
                <p:oleObj name="公式" r:id="rId14" imgW="2667000" imgH="431800" progId="Equation.3">
                  <p:embed/>
                </p:oleObj>
              </mc:Choice>
              <mc:Fallback>
                <p:oleObj name="公式" r:id="rId14" imgW="2667000" imgH="431800" progId="Equation.3">
                  <p:embed/>
                  <p:pic>
                    <p:nvPicPr>
                      <p:cNvPr id="0" name="对象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4528" y="5157192"/>
                        <a:ext cx="602297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17884719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62160"/>
                                        </p:tgtEl>
                                        <p:attrNameLst>
                                          <p:attrName>style.visibility</p:attrName>
                                        </p:attrNameLst>
                                      </p:cBhvr>
                                      <p:to>
                                        <p:strVal val="visible"/>
                                      </p:to>
                                    </p:set>
                                    <p:animEffect transition="in" filter="dissolve">
                                      <p:cBhvr>
                                        <p:cTn id="7" dur="500"/>
                                        <p:tgtEl>
                                          <p:spTgt spid="262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62161"/>
                                        </p:tgtEl>
                                        <p:attrNameLst>
                                          <p:attrName>style.visibility</p:attrName>
                                        </p:attrNameLst>
                                      </p:cBhvr>
                                      <p:to>
                                        <p:strVal val="visible"/>
                                      </p:to>
                                    </p:set>
                                    <p:animEffect transition="in" filter="dissolve">
                                      <p:cBhvr>
                                        <p:cTn id="12" dur="500"/>
                                        <p:tgtEl>
                                          <p:spTgt spid="2621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CFF03728-B339-430F-8AF5-7E34FEC06B40}" type="slidenum">
              <a:rPr lang="zh-CN" altLang="en-US"/>
              <a:pPr/>
              <a:t>16</a:t>
            </a:fld>
            <a:endParaRPr lang="en-US" altLang="zh-CN"/>
          </a:p>
        </p:txBody>
      </p:sp>
      <p:sp>
        <p:nvSpPr>
          <p:cNvPr id="8" name="日期占位符 4"/>
          <p:cNvSpPr>
            <a:spLocks noGrp="1"/>
          </p:cNvSpPr>
          <p:nvPr>
            <p:ph type="dt" sz="half" idx="11"/>
          </p:nvPr>
        </p:nvSpPr>
        <p:spPr/>
        <p:txBody>
          <a:bodyPr/>
          <a:lstStyle/>
          <a:p>
            <a:fld id="{0F57B683-E009-4BAD-810D-DC6760487D21}" type="datetime1">
              <a:rPr lang="zh-CN" altLang="en-US"/>
              <a:pPr/>
              <a:t>2024/11/18</a:t>
            </a:fld>
            <a:endParaRPr lang="en-US" altLang="zh-CN" sz="1000"/>
          </a:p>
        </p:txBody>
      </p:sp>
      <p:sp>
        <p:nvSpPr>
          <p:cNvPr id="571394" name="Rectangle 2"/>
          <p:cNvSpPr>
            <a:spLocks noGrp="1" noChangeArrowheads="1"/>
          </p:cNvSpPr>
          <p:nvPr>
            <p:ph type="title"/>
          </p:nvPr>
        </p:nvSpPr>
        <p:spPr/>
        <p:txBody>
          <a:bodyPr/>
          <a:lstStyle/>
          <a:p>
            <a:r>
              <a:rPr lang="zh-CN" altLang="en-US"/>
              <a:t>3.迭代公式的改进</a:t>
            </a:r>
          </a:p>
        </p:txBody>
      </p:sp>
      <p:sp>
        <p:nvSpPr>
          <p:cNvPr id="571395" name="Rectangle 3"/>
          <p:cNvSpPr>
            <a:spLocks noGrp="1" noChangeArrowheads="1"/>
          </p:cNvSpPr>
          <p:nvPr>
            <p:ph type="body" idx="1"/>
          </p:nvPr>
        </p:nvSpPr>
        <p:spPr>
          <a:xfrm>
            <a:off x="650875" y="1143000"/>
            <a:ext cx="8820150" cy="341313"/>
          </a:xfrm>
        </p:spPr>
        <p:txBody>
          <a:bodyPr/>
          <a:lstStyle/>
          <a:p>
            <a:pPr>
              <a:lnSpc>
                <a:spcPct val="80000"/>
              </a:lnSpc>
            </a:pPr>
            <a:r>
              <a:rPr lang="en-US" altLang="zh-CN">
                <a:sym typeface="Wingdings" pitchFamily="2" charset="2"/>
              </a:rPr>
              <a:t>(1)</a:t>
            </a:r>
            <a:r>
              <a:rPr lang="zh-CN" altLang="en-US"/>
              <a:t>埃特肯法</a:t>
            </a:r>
            <a:endParaRPr lang="zh-CN" altLang="en-US">
              <a:solidFill>
                <a:srgbClr val="FF0000"/>
              </a:solidFill>
            </a:endParaRPr>
          </a:p>
        </p:txBody>
      </p:sp>
      <p:graphicFrame>
        <p:nvGraphicFramePr>
          <p:cNvPr id="571428" name="Object 36"/>
          <p:cNvGraphicFramePr>
            <a:graphicFrameLocks noChangeAspect="1"/>
          </p:cNvGraphicFramePr>
          <p:nvPr/>
        </p:nvGraphicFramePr>
        <p:xfrm>
          <a:off x="1712913" y="1700213"/>
          <a:ext cx="2057400" cy="631825"/>
        </p:xfrm>
        <a:graphic>
          <a:graphicData uri="http://schemas.openxmlformats.org/presentationml/2006/ole">
            <mc:AlternateContent xmlns:mc="http://schemas.openxmlformats.org/markup-compatibility/2006">
              <mc:Choice xmlns:v="urn:schemas-microsoft-com:vml" Requires="v">
                <p:oleObj name="Equation" r:id="rId3" imgW="812520" imgH="228600" progId="Equation.3">
                  <p:embed/>
                </p:oleObj>
              </mc:Choice>
              <mc:Fallback>
                <p:oleObj name="Equation" r:id="rId3" imgW="812520" imgH="22860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913" y="1700213"/>
                        <a:ext cx="205740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1429" name="Object 37"/>
          <p:cNvGraphicFramePr>
            <a:graphicFrameLocks noChangeAspect="1"/>
          </p:cNvGraphicFramePr>
          <p:nvPr>
            <p:extLst>
              <p:ext uri="{D42A27DB-BD31-4B8C-83A1-F6EECF244321}">
                <p14:modId xmlns:p14="http://schemas.microsoft.com/office/powerpoint/2010/main" val="3534604685"/>
              </p:ext>
            </p:extLst>
          </p:nvPr>
        </p:nvGraphicFramePr>
        <p:xfrm>
          <a:off x="1712640" y="2636912"/>
          <a:ext cx="2435225" cy="695325"/>
        </p:xfrm>
        <a:graphic>
          <a:graphicData uri="http://schemas.openxmlformats.org/presentationml/2006/ole">
            <mc:AlternateContent xmlns:mc="http://schemas.openxmlformats.org/markup-compatibility/2006">
              <mc:Choice xmlns:v="urn:schemas-microsoft-com:vml" Requires="v">
                <p:oleObj name="Equation" r:id="rId5" imgW="876240" imgH="228600" progId="Equation.3">
                  <p:embed/>
                </p:oleObj>
              </mc:Choice>
              <mc:Fallback>
                <p:oleObj name="Equation" r:id="rId5" imgW="876240" imgH="228600" progId="Equation.3">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2640" y="2636912"/>
                        <a:ext cx="2435225"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71449" name="Picture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2640" y="3645024"/>
            <a:ext cx="3514725"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fld id="{77797B2A-9CC3-468C-A627-461D23105837}" type="slidenum">
              <a:rPr lang="zh-CN" altLang="en-US"/>
              <a:pPr/>
              <a:t>17</a:t>
            </a:fld>
            <a:endParaRPr lang="en-US" altLang="zh-CN"/>
          </a:p>
        </p:txBody>
      </p:sp>
      <p:sp>
        <p:nvSpPr>
          <p:cNvPr id="7" name="日期占位符 4"/>
          <p:cNvSpPr>
            <a:spLocks noGrp="1"/>
          </p:cNvSpPr>
          <p:nvPr>
            <p:ph type="dt" sz="half" idx="11"/>
          </p:nvPr>
        </p:nvSpPr>
        <p:spPr/>
        <p:txBody>
          <a:bodyPr/>
          <a:lstStyle/>
          <a:p>
            <a:fld id="{8FA1CAA5-A430-47E9-83C7-E8E4C225ABEB}" type="datetime1">
              <a:rPr lang="zh-CN" altLang="en-US"/>
              <a:pPr/>
              <a:t>2024/11/18</a:t>
            </a:fld>
            <a:endParaRPr lang="en-US" altLang="zh-CN" sz="1000"/>
          </a:p>
        </p:txBody>
      </p:sp>
      <p:sp>
        <p:nvSpPr>
          <p:cNvPr id="740354" name="Rectangle 2"/>
          <p:cNvSpPr>
            <a:spLocks noGrp="1" noChangeArrowheads="1"/>
          </p:cNvSpPr>
          <p:nvPr>
            <p:ph type="title"/>
          </p:nvPr>
        </p:nvSpPr>
        <p:spPr/>
        <p:txBody>
          <a:bodyPr/>
          <a:lstStyle/>
          <a:p>
            <a:r>
              <a:rPr lang="zh-CN" altLang="en-US"/>
              <a:t>(2)</a:t>
            </a:r>
            <a:r>
              <a:rPr lang="zh-CN" altLang="en-US">
                <a:latin typeface="Times New Roman" pitchFamily="18" charset="0"/>
              </a:rPr>
              <a:t> 牛顿迭代法</a:t>
            </a:r>
          </a:p>
        </p:txBody>
      </p:sp>
      <p:graphicFrame>
        <p:nvGraphicFramePr>
          <p:cNvPr id="740385" name="Object 33"/>
          <p:cNvGraphicFramePr>
            <a:graphicFrameLocks noChangeAspect="1"/>
          </p:cNvGraphicFramePr>
          <p:nvPr/>
        </p:nvGraphicFramePr>
        <p:xfrm>
          <a:off x="2289175" y="2781300"/>
          <a:ext cx="3200400" cy="1184275"/>
        </p:xfrm>
        <a:graphic>
          <a:graphicData uri="http://schemas.openxmlformats.org/presentationml/2006/ole">
            <mc:AlternateContent xmlns:mc="http://schemas.openxmlformats.org/markup-compatibility/2006">
              <mc:Choice xmlns:v="urn:schemas-microsoft-com:vml" Requires="v">
                <p:oleObj name="Equation" r:id="rId4" imgW="1257120" imgH="444240" progId="Equation.3">
                  <p:embed/>
                </p:oleObj>
              </mc:Choice>
              <mc:Fallback>
                <p:oleObj name="Equation" r:id="rId4" imgW="1257120" imgH="444240" progId="Equation.3">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9175" y="2781300"/>
                        <a:ext cx="3200400" cy="118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0386" name="Rectangle 34"/>
          <p:cNvSpPr>
            <a:spLocks noChangeArrowheads="1"/>
          </p:cNvSpPr>
          <p:nvPr/>
        </p:nvSpPr>
        <p:spPr bwMode="auto">
          <a:xfrm>
            <a:off x="-231576" y="4076700"/>
            <a:ext cx="10080426"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spAutoFit/>
          </a:bodyPr>
          <a:lstStyle/>
          <a:p>
            <a:pPr lvl="1" algn="l">
              <a:lnSpc>
                <a:spcPct val="90000"/>
              </a:lnSpc>
              <a:spcBef>
                <a:spcPct val="35000"/>
              </a:spcBef>
              <a:buClr>
                <a:srgbClr val="27305F"/>
              </a:buClr>
              <a:buFontTx/>
              <a:buChar char="–"/>
            </a:pPr>
            <a:r>
              <a:rPr lang="zh-CN" altLang="en-US" sz="2800" dirty="0">
                <a:ea typeface="黑体" pitchFamily="49" charset="-122"/>
              </a:rPr>
              <a:t>(3)判断如果| </a:t>
            </a:r>
            <a:r>
              <a:rPr lang="en-US" altLang="zh-CN" sz="2800" i="1" dirty="0">
                <a:ea typeface="黑体" pitchFamily="49" charset="-122"/>
              </a:rPr>
              <a:t>x</a:t>
            </a:r>
            <a:r>
              <a:rPr lang="en-US" altLang="zh-CN" sz="2800" i="1" baseline="-25000" dirty="0">
                <a:ea typeface="黑体" pitchFamily="49" charset="-122"/>
              </a:rPr>
              <a:t>n</a:t>
            </a:r>
            <a:r>
              <a:rPr lang="en-US" altLang="zh-CN" sz="2800" baseline="-25000" dirty="0">
                <a:ea typeface="黑体" pitchFamily="49" charset="-122"/>
              </a:rPr>
              <a:t>+1</a:t>
            </a:r>
            <a:r>
              <a:rPr lang="en-US" altLang="zh-CN" sz="2800" dirty="0">
                <a:ea typeface="黑体" pitchFamily="49" charset="-122"/>
              </a:rPr>
              <a:t>-</a:t>
            </a:r>
            <a:r>
              <a:rPr lang="en-US" altLang="zh-CN" sz="2800" i="1" dirty="0">
                <a:ea typeface="黑体" pitchFamily="49" charset="-122"/>
              </a:rPr>
              <a:t>x</a:t>
            </a:r>
            <a:r>
              <a:rPr lang="en-US" altLang="zh-CN" sz="2800" i="1" baseline="-25000" dirty="0">
                <a:ea typeface="黑体" pitchFamily="49" charset="-122"/>
              </a:rPr>
              <a:t>n</a:t>
            </a:r>
            <a:r>
              <a:rPr lang="zh-CN" altLang="en-US" sz="2800" dirty="0">
                <a:ea typeface="黑体" pitchFamily="49" charset="-122"/>
              </a:rPr>
              <a:t> |&lt;</a:t>
            </a:r>
            <a:r>
              <a:rPr lang="zh-CN" altLang="en-US" sz="2800" dirty="0">
                <a:ea typeface="黑体" pitchFamily="49" charset="-122"/>
                <a:sym typeface="Symbol" pitchFamily="18" charset="2"/>
              </a:rPr>
              <a:t>，则迭代终止，否则</a:t>
            </a:r>
            <a:r>
              <a:rPr lang="en-US" altLang="zh-CN" sz="2800" dirty="0">
                <a:ea typeface="黑体" pitchFamily="49" charset="-122"/>
                <a:sym typeface="Symbol" pitchFamily="18" charset="2"/>
              </a:rPr>
              <a:t>n</a:t>
            </a:r>
            <a:r>
              <a:rPr lang="zh-CN" altLang="en-US" sz="2800" dirty="0">
                <a:ea typeface="黑体" pitchFamily="49" charset="-122"/>
                <a:sym typeface="Symbol" pitchFamily="18" charset="2"/>
              </a:rPr>
              <a:t>增加1，转(2)</a:t>
            </a:r>
            <a:endParaRPr lang="zh-CN" altLang="en-US" sz="2800" dirty="0">
              <a:ea typeface="黑体" pitchFamily="49" charset="-122"/>
            </a:endParaRPr>
          </a:p>
        </p:txBody>
      </p:sp>
      <p:sp>
        <p:nvSpPr>
          <p:cNvPr id="740387" name="Rectangle 35"/>
          <p:cNvSpPr>
            <a:spLocks noGrp="1" noChangeArrowheads="1"/>
          </p:cNvSpPr>
          <p:nvPr>
            <p:ph type="body" idx="1"/>
          </p:nvPr>
        </p:nvSpPr>
        <p:spPr>
          <a:xfrm>
            <a:off x="631825" y="1268413"/>
            <a:ext cx="8820150" cy="1450975"/>
          </a:xfrm>
        </p:spPr>
        <p:txBody>
          <a:bodyPr/>
          <a:lstStyle/>
          <a:p>
            <a:r>
              <a:rPr lang="zh-CN" altLang="en-US"/>
              <a:t>牛顿迭代法计算步骤：</a:t>
            </a:r>
          </a:p>
          <a:p>
            <a:pPr lvl="1"/>
            <a:r>
              <a:rPr lang="zh-CN" altLang="en-US"/>
              <a:t>(1)选取初值</a:t>
            </a:r>
            <a:r>
              <a:rPr lang="en-US" altLang="zh-CN" i="1"/>
              <a:t>x</a:t>
            </a:r>
            <a:r>
              <a:rPr lang="en-US" altLang="zh-CN" i="1" baseline="-25000"/>
              <a:t>0</a:t>
            </a:r>
            <a:endParaRPr lang="zh-CN" altLang="en-US" i="1" baseline="-25000"/>
          </a:p>
          <a:p>
            <a:pPr lvl="1"/>
            <a:r>
              <a:rPr lang="zh-CN" altLang="en-US"/>
              <a:t>(2)对于</a:t>
            </a:r>
            <a:r>
              <a:rPr lang="en-US" altLang="zh-CN"/>
              <a:t>n=0,1,2,3…</a:t>
            </a:r>
            <a:r>
              <a:rPr lang="zh-CN" altLang="en-US"/>
              <a:t>计算</a:t>
            </a:r>
            <a:r>
              <a:rPr lang="en-US" altLang="zh-CN" i="1"/>
              <a:t>f</a:t>
            </a:r>
            <a:r>
              <a:rPr lang="en-US" altLang="zh-CN"/>
              <a:t>(</a:t>
            </a:r>
            <a:r>
              <a:rPr lang="en-US" altLang="zh-CN" i="1"/>
              <a:t>x</a:t>
            </a:r>
            <a:r>
              <a:rPr lang="en-US" altLang="zh-CN" i="1" baseline="-25000"/>
              <a:t>n</a:t>
            </a:r>
            <a:r>
              <a:rPr lang="en-US" altLang="zh-CN"/>
              <a:t>)</a:t>
            </a:r>
            <a:r>
              <a:rPr lang="zh-CN" altLang="en-US"/>
              <a:t>和</a:t>
            </a:r>
            <a:r>
              <a:rPr lang="en-US" altLang="zh-CN" i="1"/>
              <a:t>f ’</a:t>
            </a:r>
            <a:r>
              <a:rPr lang="en-US" altLang="zh-CN"/>
              <a:t>(</a:t>
            </a:r>
            <a:r>
              <a:rPr lang="en-US" altLang="zh-CN" i="1"/>
              <a:t>x</a:t>
            </a:r>
            <a:r>
              <a:rPr lang="en-US" altLang="zh-CN" i="1" baseline="-25000"/>
              <a:t>n</a:t>
            </a:r>
            <a:r>
              <a:rPr lang="en-US" altLang="zh-CN"/>
              <a:t>)，</a:t>
            </a:r>
            <a:r>
              <a:rPr lang="zh-CN" altLang="en-US"/>
              <a:t>以及</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0385"/>
                                        </p:tgtEl>
                                        <p:attrNameLst>
                                          <p:attrName>style.visibility</p:attrName>
                                        </p:attrNameLst>
                                      </p:cBhvr>
                                      <p:to>
                                        <p:strVal val="visible"/>
                                      </p:to>
                                    </p:set>
                                    <p:anim calcmode="lin" valueType="num">
                                      <p:cBhvr additive="base">
                                        <p:cTn id="7" dur="500" fill="hold"/>
                                        <p:tgtEl>
                                          <p:spTgt spid="740385"/>
                                        </p:tgtEl>
                                        <p:attrNameLst>
                                          <p:attrName>ppt_x</p:attrName>
                                        </p:attrNameLst>
                                      </p:cBhvr>
                                      <p:tavLst>
                                        <p:tav tm="0">
                                          <p:val>
                                            <p:strVal val="0-#ppt_w/2"/>
                                          </p:val>
                                        </p:tav>
                                        <p:tav tm="100000">
                                          <p:val>
                                            <p:strVal val="#ppt_x"/>
                                          </p:val>
                                        </p:tav>
                                      </p:tavLst>
                                    </p:anim>
                                    <p:anim calcmode="lin" valueType="num">
                                      <p:cBhvr additive="base">
                                        <p:cTn id="8" dur="500" fill="hold"/>
                                        <p:tgtEl>
                                          <p:spTgt spid="7403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740386"/>
                                        </p:tgtEl>
                                        <p:attrNameLst>
                                          <p:attrName>style.visibility</p:attrName>
                                        </p:attrNameLst>
                                      </p:cBhvr>
                                      <p:to>
                                        <p:strVal val="visible"/>
                                      </p:to>
                                    </p:set>
                                    <p:animEffect transition="in" filter="wipe(up)">
                                      <p:cBhvr>
                                        <p:cTn id="13" dur="500"/>
                                        <p:tgtEl>
                                          <p:spTgt spid="740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8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fld id="{61DF1BBA-92A2-403A-867A-689EAA31650E}" type="slidenum">
              <a:rPr lang="zh-CN" altLang="en-US"/>
              <a:pPr/>
              <a:t>18</a:t>
            </a:fld>
            <a:endParaRPr lang="en-US" altLang="zh-CN"/>
          </a:p>
        </p:txBody>
      </p:sp>
      <p:sp>
        <p:nvSpPr>
          <p:cNvPr id="6" name="日期占位符 4"/>
          <p:cNvSpPr>
            <a:spLocks noGrp="1"/>
          </p:cNvSpPr>
          <p:nvPr>
            <p:ph type="dt" sz="half" idx="11"/>
          </p:nvPr>
        </p:nvSpPr>
        <p:spPr/>
        <p:txBody>
          <a:bodyPr/>
          <a:lstStyle/>
          <a:p>
            <a:fld id="{D650F75C-18C2-428D-A5B6-4002D1FEF3E7}" type="datetime1">
              <a:rPr lang="zh-CN" altLang="en-US"/>
              <a:pPr/>
              <a:t>2024/11/18</a:t>
            </a:fld>
            <a:endParaRPr lang="en-US" altLang="zh-CN" sz="1000"/>
          </a:p>
        </p:txBody>
      </p:sp>
      <p:sp>
        <p:nvSpPr>
          <p:cNvPr id="752642" name="Rectangle 2"/>
          <p:cNvSpPr>
            <a:spLocks noGrp="1" noChangeArrowheads="1"/>
          </p:cNvSpPr>
          <p:nvPr>
            <p:ph type="title"/>
          </p:nvPr>
        </p:nvSpPr>
        <p:spPr/>
        <p:txBody>
          <a:bodyPr/>
          <a:lstStyle/>
          <a:p>
            <a:r>
              <a:rPr lang="zh-CN" altLang="en-US"/>
              <a:t>(3)牛顿下山法</a:t>
            </a:r>
          </a:p>
        </p:txBody>
      </p:sp>
      <p:sp>
        <p:nvSpPr>
          <p:cNvPr id="752648" name="Rectangle 8"/>
          <p:cNvSpPr>
            <a:spLocks noGrp="1" noChangeArrowheads="1"/>
          </p:cNvSpPr>
          <p:nvPr>
            <p:ph type="body" idx="1"/>
          </p:nvPr>
        </p:nvSpPr>
        <p:spPr>
          <a:xfrm>
            <a:off x="650875" y="1143000"/>
            <a:ext cx="8820150" cy="3673475"/>
          </a:xfrm>
        </p:spPr>
        <p:txBody>
          <a:bodyPr/>
          <a:lstStyle/>
          <a:p>
            <a:r>
              <a:rPr lang="zh-CN" altLang="en-US"/>
              <a:t>引进参数</a:t>
            </a:r>
            <a:r>
              <a:rPr lang="en-US" altLang="zh-CN"/>
              <a:t>λ</a:t>
            </a:r>
            <a:r>
              <a:rPr lang="zh-CN" altLang="en-US"/>
              <a:t>，</a:t>
            </a:r>
          </a:p>
          <a:p>
            <a:pPr>
              <a:buFont typeface="Wingdings" pitchFamily="2" charset="2"/>
              <a:buNone/>
            </a:pPr>
            <a:endParaRPr lang="zh-CN" altLang="en-US" i="1"/>
          </a:p>
          <a:p>
            <a:pPr>
              <a:buFont typeface="Wingdings" pitchFamily="2" charset="2"/>
              <a:buNone/>
            </a:pPr>
            <a:endParaRPr lang="zh-CN" altLang="en-US" i="1"/>
          </a:p>
          <a:p>
            <a:pPr>
              <a:lnSpc>
                <a:spcPct val="150000"/>
              </a:lnSpc>
              <a:buFont typeface="Wingdings" pitchFamily="2" charset="2"/>
              <a:buNone/>
            </a:pPr>
            <a:r>
              <a:rPr lang="zh-CN" altLang="en-US"/>
              <a:t>并用尝试法修改</a:t>
            </a:r>
            <a:r>
              <a:rPr lang="en-US" altLang="zh-CN"/>
              <a:t>λ</a:t>
            </a:r>
            <a:r>
              <a:rPr lang="zh-CN" altLang="en-US"/>
              <a:t>值大小</a:t>
            </a:r>
            <a:r>
              <a:rPr lang="en-US" altLang="zh-CN"/>
              <a:t>(</a:t>
            </a:r>
            <a:r>
              <a:rPr lang="zh-CN" altLang="en-US"/>
              <a:t>即改变原切线的斜率</a:t>
            </a:r>
            <a:r>
              <a:rPr lang="en-US" altLang="zh-CN"/>
              <a:t>)</a:t>
            </a:r>
            <a:r>
              <a:rPr lang="zh-CN" altLang="en-US"/>
              <a:t>，使达到</a:t>
            </a:r>
            <a:r>
              <a:rPr lang="en-US" altLang="zh-CN"/>
              <a:t>|</a:t>
            </a:r>
            <a:r>
              <a:rPr lang="en-US" altLang="zh-CN" i="1"/>
              <a:t>f</a:t>
            </a:r>
            <a:r>
              <a:rPr lang="en-US" altLang="zh-CN"/>
              <a:t>(</a:t>
            </a:r>
            <a:r>
              <a:rPr lang="en-US" altLang="zh-CN" i="1"/>
              <a:t>x</a:t>
            </a:r>
            <a:r>
              <a:rPr lang="en-US" altLang="zh-CN" baseline="-25000"/>
              <a:t>0</a:t>
            </a:r>
            <a:r>
              <a:rPr lang="en-US" altLang="zh-CN"/>
              <a:t>)</a:t>
            </a:r>
            <a:r>
              <a:rPr lang="en-US" altLang="zh-CN" i="1"/>
              <a:t>|</a:t>
            </a:r>
            <a:r>
              <a:rPr lang="en-US" altLang="zh-CN"/>
              <a:t>&gt; |</a:t>
            </a:r>
            <a:r>
              <a:rPr lang="en-US" altLang="zh-CN" i="1"/>
              <a:t>f</a:t>
            </a:r>
            <a:r>
              <a:rPr lang="en-US" altLang="zh-CN"/>
              <a:t>(</a:t>
            </a:r>
            <a:r>
              <a:rPr lang="en-US" altLang="zh-CN" i="1"/>
              <a:t>x</a:t>
            </a:r>
            <a:r>
              <a:rPr lang="en-US" altLang="zh-CN" baseline="-25000"/>
              <a:t>1</a:t>
            </a:r>
            <a:r>
              <a:rPr lang="en-US" altLang="zh-CN"/>
              <a:t>)</a:t>
            </a:r>
            <a:r>
              <a:rPr lang="en-US" altLang="zh-CN" i="1"/>
              <a:t>|</a:t>
            </a:r>
            <a:r>
              <a:rPr lang="en-US" altLang="zh-CN"/>
              <a:t>&gt;…</a:t>
            </a:r>
            <a:r>
              <a:rPr lang="zh-CN" altLang="en-US"/>
              <a:t>单调下降的目的。</a:t>
            </a:r>
          </a:p>
          <a:p>
            <a:pPr>
              <a:lnSpc>
                <a:spcPct val="150000"/>
              </a:lnSpc>
            </a:pPr>
            <a:r>
              <a:rPr lang="zh-CN" altLang="en-US"/>
              <a:t>称</a:t>
            </a:r>
            <a:r>
              <a:rPr lang="en-US" altLang="zh-CN"/>
              <a:t>|</a:t>
            </a:r>
            <a:r>
              <a:rPr lang="en-US" altLang="zh-CN" i="1"/>
              <a:t>f</a:t>
            </a:r>
            <a:r>
              <a:rPr lang="en-US" altLang="zh-CN"/>
              <a:t>(</a:t>
            </a:r>
            <a:r>
              <a:rPr lang="en-US" altLang="zh-CN" i="1"/>
              <a:t>x</a:t>
            </a:r>
            <a:r>
              <a:rPr lang="en-US" altLang="zh-CN" i="1" baseline="-25000"/>
              <a:t>n</a:t>
            </a:r>
            <a:r>
              <a:rPr lang="en-US" altLang="zh-CN" baseline="-25000"/>
              <a:t>+1</a:t>
            </a:r>
            <a:r>
              <a:rPr lang="en-US" altLang="zh-CN"/>
              <a:t>)</a:t>
            </a:r>
            <a:r>
              <a:rPr lang="en-US" altLang="zh-CN" i="1"/>
              <a:t>|</a:t>
            </a:r>
            <a:r>
              <a:rPr lang="en-US" altLang="zh-CN"/>
              <a:t>&lt; |</a:t>
            </a:r>
            <a:r>
              <a:rPr lang="en-US" altLang="zh-CN" i="1"/>
              <a:t>f</a:t>
            </a:r>
            <a:r>
              <a:rPr lang="en-US" altLang="zh-CN"/>
              <a:t>(</a:t>
            </a:r>
            <a:r>
              <a:rPr lang="en-US" altLang="zh-CN" i="1"/>
              <a:t>x</a:t>
            </a:r>
            <a:r>
              <a:rPr lang="en-US" altLang="zh-CN" baseline="-25000"/>
              <a:t>n</a:t>
            </a:r>
            <a:r>
              <a:rPr lang="en-US" altLang="zh-CN"/>
              <a:t>)</a:t>
            </a:r>
            <a:r>
              <a:rPr lang="en-US" altLang="zh-CN" i="1"/>
              <a:t>|</a:t>
            </a:r>
            <a:r>
              <a:rPr lang="zh-CN" altLang="en-US"/>
              <a:t>为</a:t>
            </a:r>
            <a:r>
              <a:rPr lang="zh-CN" altLang="en-US" u="sng">
                <a:solidFill>
                  <a:srgbClr val="ED5F2D"/>
                </a:solidFill>
              </a:rPr>
              <a:t>下山条件</a:t>
            </a:r>
            <a:r>
              <a:rPr lang="en-US" altLang="zh-CN"/>
              <a:t>, </a:t>
            </a:r>
            <a:r>
              <a:rPr lang="zh-CN" altLang="en-US"/>
              <a:t>这种算法为</a:t>
            </a:r>
            <a:r>
              <a:rPr lang="zh-CN" altLang="en-US" u="sng">
                <a:solidFill>
                  <a:srgbClr val="ED5F2D"/>
                </a:solidFill>
              </a:rPr>
              <a:t>下山法</a:t>
            </a:r>
            <a:r>
              <a:rPr lang="en-US" altLang="zh-CN" u="sng">
                <a:solidFill>
                  <a:srgbClr val="ED5F2D"/>
                </a:solidFill>
              </a:rPr>
              <a:t>.</a:t>
            </a:r>
          </a:p>
        </p:txBody>
      </p:sp>
      <p:graphicFrame>
        <p:nvGraphicFramePr>
          <p:cNvPr id="752649" name="Object 9"/>
          <p:cNvGraphicFramePr>
            <a:graphicFrameLocks noChangeAspect="1"/>
          </p:cNvGraphicFramePr>
          <p:nvPr/>
        </p:nvGraphicFramePr>
        <p:xfrm>
          <a:off x="2411413" y="1500188"/>
          <a:ext cx="3813175" cy="1047750"/>
        </p:xfrm>
        <a:graphic>
          <a:graphicData uri="http://schemas.openxmlformats.org/presentationml/2006/ole">
            <mc:AlternateContent xmlns:mc="http://schemas.openxmlformats.org/markup-compatibility/2006">
              <mc:Choice xmlns:v="urn:schemas-microsoft-com:vml" Requires="v">
                <p:oleObj name="公式" r:id="rId3" imgW="1180800" imgH="380880" progId="Equation.3">
                  <p:embed/>
                </p:oleObj>
              </mc:Choice>
              <mc:Fallback>
                <p:oleObj name="公式" r:id="rId3" imgW="1180800" imgH="38088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500188"/>
                        <a:ext cx="38131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2649"/>
                                        </p:tgtEl>
                                        <p:attrNameLst>
                                          <p:attrName>style.visibility</p:attrName>
                                        </p:attrNameLst>
                                      </p:cBhvr>
                                      <p:to>
                                        <p:strVal val="visible"/>
                                      </p:to>
                                    </p:set>
                                    <p:anim calcmode="lin" valueType="num">
                                      <p:cBhvr additive="base">
                                        <p:cTn id="7" dur="500" fill="hold"/>
                                        <p:tgtEl>
                                          <p:spTgt spid="752649"/>
                                        </p:tgtEl>
                                        <p:attrNameLst>
                                          <p:attrName>ppt_x</p:attrName>
                                        </p:attrNameLst>
                                      </p:cBhvr>
                                      <p:tavLst>
                                        <p:tav tm="0">
                                          <p:val>
                                            <p:strVal val="#ppt_x"/>
                                          </p:val>
                                        </p:tav>
                                        <p:tav tm="100000">
                                          <p:val>
                                            <p:strVal val="#ppt_x"/>
                                          </p:val>
                                        </p:tav>
                                      </p:tavLst>
                                    </p:anim>
                                    <p:anim calcmode="lin" valueType="num">
                                      <p:cBhvr additive="base">
                                        <p:cTn id="8" dur="500" fill="hold"/>
                                        <p:tgtEl>
                                          <p:spTgt spid="7526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灯片编号占位符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2200815-731F-4744-9AF6-FC45B2025C33}" type="slidenum">
              <a:rPr lang="zh-CN" altLang="en-US"/>
              <a:pPr/>
              <a:t>19</a:t>
            </a:fld>
            <a:endParaRPr lang="en-US" altLang="zh-CN"/>
          </a:p>
        </p:txBody>
      </p:sp>
      <p:sp>
        <p:nvSpPr>
          <p:cNvPr id="92163" name="日期占位符 4"/>
          <p:cNvSpPr>
            <a:spLocks noGrp="1"/>
          </p:cNvSpPr>
          <p:nvPr>
            <p:ph type="dt" sz="quarter" idx="1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02B7946-7C67-464E-A47F-8F0C3C76BD16}" type="datetime1">
              <a:rPr lang="zh-CN" altLang="en-US" sz="1800"/>
              <a:pPr/>
              <a:t>2024/11/18</a:t>
            </a:fld>
            <a:endParaRPr lang="en-US" altLang="zh-CN" sz="1000"/>
          </a:p>
        </p:txBody>
      </p:sp>
      <p:sp>
        <p:nvSpPr>
          <p:cNvPr id="297986" name="Rectangle 2"/>
          <p:cNvSpPr>
            <a:spLocks noGrp="1" noChangeArrowheads="1"/>
          </p:cNvSpPr>
          <p:nvPr>
            <p:ph type="title"/>
          </p:nvPr>
        </p:nvSpPr>
        <p:spPr>
          <a:xfrm>
            <a:off x="650081" y="255588"/>
            <a:ext cx="8820812" cy="658812"/>
          </a:xfrm>
        </p:spPr>
        <p:txBody>
          <a:bodyPr/>
          <a:lstStyle/>
          <a:p>
            <a:pPr>
              <a:defRPr/>
            </a:pPr>
            <a:r>
              <a:rPr lang="en-US" altLang="zh-CN"/>
              <a:t>(3)  </a:t>
            </a:r>
            <a:r>
              <a:rPr lang="zh-CN" altLang="en-US" sz="4800"/>
              <a:t>牛顿下山法</a:t>
            </a:r>
          </a:p>
        </p:txBody>
      </p:sp>
      <p:sp>
        <p:nvSpPr>
          <p:cNvPr id="92165" name="Rectangle 3"/>
          <p:cNvSpPr>
            <a:spLocks noGrp="1" noChangeArrowheads="1"/>
          </p:cNvSpPr>
          <p:nvPr>
            <p:ph type="body" idx="1"/>
          </p:nvPr>
        </p:nvSpPr>
        <p:spPr>
          <a:xfrm>
            <a:off x="6438900" y="6324600"/>
            <a:ext cx="2476500" cy="443198"/>
          </a:xfrm>
        </p:spPr>
        <p:txBody>
          <a:bodyPr/>
          <a:lstStyle/>
          <a:p>
            <a:pPr>
              <a:buFont typeface="Wingdings" pitchFamily="2" charset="2"/>
              <a:buNone/>
            </a:pPr>
            <a:r>
              <a:rPr lang="zh-CN" altLang="en-US" sz="3200" u="sng">
                <a:solidFill>
                  <a:srgbClr val="FF3300"/>
                </a:solidFill>
              </a:rPr>
              <a:t>牛顿下山法</a:t>
            </a:r>
            <a:endParaRPr lang="zh-CN" altLang="en-US" sz="3200"/>
          </a:p>
        </p:txBody>
      </p:sp>
      <p:sp>
        <p:nvSpPr>
          <p:cNvPr id="297989" name="Rectangle 5"/>
          <p:cNvSpPr>
            <a:spLocks noChangeArrowheads="1"/>
          </p:cNvSpPr>
          <p:nvPr/>
        </p:nvSpPr>
        <p:spPr bwMode="auto">
          <a:xfrm>
            <a:off x="3314040" y="1066801"/>
            <a:ext cx="1810940" cy="52322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zh-CN" altLang="en-US" sz="2800">
                <a:latin typeface="Times New Roman" pitchFamily="18" charset="0"/>
                <a:ea typeface="黑体" pitchFamily="49" charset="-122"/>
              </a:rPr>
              <a:t>取</a:t>
            </a:r>
            <a:r>
              <a:rPr lang="en-US" altLang="zh-CN" sz="2800">
                <a:latin typeface="Times New Roman" pitchFamily="18" charset="0"/>
                <a:ea typeface="黑体" pitchFamily="49" charset="-122"/>
                <a:cs typeface="Times New Roman" pitchFamily="18" charset="0"/>
              </a:rPr>
              <a:t>λ=1</a:t>
            </a:r>
            <a:endParaRPr lang="zh-CN" altLang="en-US" sz="2800">
              <a:latin typeface="Times New Roman" pitchFamily="18" charset="0"/>
              <a:ea typeface="黑体" pitchFamily="49" charset="-122"/>
              <a:cs typeface="Times New Roman" pitchFamily="18" charset="0"/>
            </a:endParaRPr>
          </a:p>
        </p:txBody>
      </p:sp>
      <p:grpSp>
        <p:nvGrpSpPr>
          <p:cNvPr id="2" name="Group 39"/>
          <p:cNvGrpSpPr>
            <a:grpSpLocks/>
          </p:cNvGrpSpPr>
          <p:nvPr/>
        </p:nvGrpSpPr>
        <p:grpSpPr bwMode="auto">
          <a:xfrm>
            <a:off x="2344076" y="1600200"/>
            <a:ext cx="4672675" cy="828675"/>
            <a:chOff x="1363" y="1008"/>
            <a:chExt cx="2717" cy="522"/>
          </a:xfrm>
        </p:grpSpPr>
        <p:sp>
          <p:nvSpPr>
            <p:cNvPr id="92198" name="Rectangle 6"/>
            <p:cNvSpPr>
              <a:spLocks noChangeArrowheads="1"/>
            </p:cNvSpPr>
            <p:nvPr/>
          </p:nvSpPr>
          <p:spPr bwMode="auto">
            <a:xfrm>
              <a:off x="1363" y="1200"/>
              <a:ext cx="2717"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sz="2800">
                  <a:latin typeface="Times New Roman" pitchFamily="18" charset="0"/>
                  <a:ea typeface="黑体" pitchFamily="49" charset="-122"/>
                </a:rPr>
                <a:t>在</a:t>
              </a:r>
              <a:r>
                <a:rPr lang="en-US" altLang="zh-CN" sz="2800" i="1">
                  <a:latin typeface="Times New Roman" pitchFamily="18" charset="0"/>
                  <a:ea typeface="黑体" pitchFamily="49" charset="-122"/>
                </a:rPr>
                <a:t>x</a:t>
              </a:r>
              <a:r>
                <a:rPr lang="en-US" altLang="zh-CN" sz="2800" i="1" baseline="-25000">
                  <a:latin typeface="Times New Roman" pitchFamily="18" charset="0"/>
                  <a:ea typeface="黑体" pitchFamily="49" charset="-122"/>
                </a:rPr>
                <a:t>n</a:t>
              </a:r>
              <a:r>
                <a:rPr lang="zh-CN" altLang="en-US" sz="2800">
                  <a:latin typeface="Times New Roman" pitchFamily="18" charset="0"/>
                  <a:ea typeface="黑体" pitchFamily="49" charset="-122"/>
                </a:rPr>
                <a:t>基础上用切线法计算</a:t>
              </a:r>
              <a:r>
                <a:rPr lang="en-US" altLang="zh-CN" sz="2800" i="1">
                  <a:latin typeface="Times New Roman" pitchFamily="18" charset="0"/>
                  <a:ea typeface="黑体" pitchFamily="49" charset="-122"/>
                </a:rPr>
                <a:t>x</a:t>
              </a:r>
              <a:r>
                <a:rPr lang="en-US" altLang="zh-CN" sz="2800" i="1" baseline="-25000">
                  <a:latin typeface="Times New Roman" pitchFamily="18" charset="0"/>
                  <a:ea typeface="黑体" pitchFamily="49" charset="-122"/>
                </a:rPr>
                <a:t>n+</a:t>
              </a:r>
              <a:r>
                <a:rPr lang="en-US" altLang="zh-CN" sz="2800" baseline="-25000">
                  <a:latin typeface="Times New Roman" pitchFamily="18" charset="0"/>
                  <a:ea typeface="黑体" pitchFamily="49" charset="-122"/>
                </a:rPr>
                <a:t>1</a:t>
              </a:r>
              <a:endParaRPr lang="zh-CN" altLang="en-US" sz="2800" baseline="-25000">
                <a:latin typeface="Times New Roman" pitchFamily="18" charset="0"/>
                <a:ea typeface="黑体" pitchFamily="49" charset="-122"/>
              </a:endParaRPr>
            </a:p>
          </p:txBody>
        </p:sp>
        <p:sp>
          <p:nvSpPr>
            <p:cNvPr id="92199" name="Line 7"/>
            <p:cNvSpPr>
              <a:spLocks noChangeShapeType="1"/>
            </p:cNvSpPr>
            <p:nvPr/>
          </p:nvSpPr>
          <p:spPr bwMode="auto">
            <a:xfrm>
              <a:off x="2508" y="1008"/>
              <a:ext cx="0" cy="19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40"/>
          <p:cNvGrpSpPr>
            <a:grpSpLocks/>
          </p:cNvGrpSpPr>
          <p:nvPr/>
        </p:nvGrpSpPr>
        <p:grpSpPr bwMode="auto">
          <a:xfrm>
            <a:off x="1981200" y="2438400"/>
            <a:ext cx="4787900" cy="1143000"/>
            <a:chOff x="1152" y="1536"/>
            <a:chExt cx="2784" cy="720"/>
          </a:xfrm>
        </p:grpSpPr>
        <p:sp>
          <p:nvSpPr>
            <p:cNvPr id="92195" name="AutoShape 8"/>
            <p:cNvSpPr>
              <a:spLocks noChangeArrowheads="1"/>
            </p:cNvSpPr>
            <p:nvPr/>
          </p:nvSpPr>
          <p:spPr bwMode="auto">
            <a:xfrm>
              <a:off x="1152" y="1776"/>
              <a:ext cx="2784" cy="480"/>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96" name="Rectangle 9"/>
            <p:cNvSpPr>
              <a:spLocks noChangeArrowheads="1"/>
            </p:cNvSpPr>
            <p:nvPr/>
          </p:nvSpPr>
          <p:spPr bwMode="auto">
            <a:xfrm>
              <a:off x="1778" y="1824"/>
              <a:ext cx="178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是否满足精度要求</a:t>
              </a:r>
            </a:p>
          </p:txBody>
        </p:sp>
        <p:sp>
          <p:nvSpPr>
            <p:cNvPr id="92197" name="Line 11"/>
            <p:cNvSpPr>
              <a:spLocks noChangeShapeType="1"/>
            </p:cNvSpPr>
            <p:nvPr/>
          </p:nvSpPr>
          <p:spPr bwMode="auto">
            <a:xfrm>
              <a:off x="2544" y="1536"/>
              <a:ext cx="0"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30"/>
          <p:cNvGrpSpPr>
            <a:grpSpLocks/>
          </p:cNvGrpSpPr>
          <p:nvPr/>
        </p:nvGrpSpPr>
        <p:grpSpPr bwMode="auto">
          <a:xfrm>
            <a:off x="577850" y="1752600"/>
            <a:ext cx="3467100" cy="2819400"/>
            <a:chOff x="336" y="1104"/>
            <a:chExt cx="2016" cy="1776"/>
          </a:xfrm>
        </p:grpSpPr>
        <p:sp>
          <p:nvSpPr>
            <p:cNvPr id="92191" name="Line 13"/>
            <p:cNvSpPr>
              <a:spLocks noChangeShapeType="1"/>
            </p:cNvSpPr>
            <p:nvPr/>
          </p:nvSpPr>
          <p:spPr bwMode="auto">
            <a:xfrm flipH="1">
              <a:off x="336" y="2880"/>
              <a:ext cx="76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92" name="Line 14"/>
            <p:cNvSpPr>
              <a:spLocks noChangeShapeType="1"/>
            </p:cNvSpPr>
            <p:nvPr/>
          </p:nvSpPr>
          <p:spPr bwMode="auto">
            <a:xfrm>
              <a:off x="336" y="1104"/>
              <a:ext cx="0" cy="17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93" name="Line 15"/>
            <p:cNvSpPr>
              <a:spLocks noChangeShapeType="1"/>
            </p:cNvSpPr>
            <p:nvPr/>
          </p:nvSpPr>
          <p:spPr bwMode="auto">
            <a:xfrm>
              <a:off x="336" y="1104"/>
              <a:ext cx="20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94" name="Rectangle 17"/>
            <p:cNvSpPr>
              <a:spLocks noChangeArrowheads="1"/>
            </p:cNvSpPr>
            <p:nvPr/>
          </p:nvSpPr>
          <p:spPr bwMode="auto">
            <a:xfrm>
              <a:off x="636" y="2544"/>
              <a:ext cx="3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是</a:t>
              </a:r>
            </a:p>
          </p:txBody>
        </p:sp>
      </p:grpSp>
      <p:grpSp>
        <p:nvGrpSpPr>
          <p:cNvPr id="5" name="Group 41"/>
          <p:cNvGrpSpPr>
            <a:grpSpLocks/>
          </p:cNvGrpSpPr>
          <p:nvPr/>
        </p:nvGrpSpPr>
        <p:grpSpPr bwMode="auto">
          <a:xfrm>
            <a:off x="6813717" y="2743200"/>
            <a:ext cx="3092282" cy="685800"/>
            <a:chOff x="3960" y="1728"/>
            <a:chExt cx="1656" cy="432"/>
          </a:xfrm>
        </p:grpSpPr>
        <p:sp>
          <p:nvSpPr>
            <p:cNvPr id="92186" name="AutoShape 26"/>
            <p:cNvSpPr>
              <a:spLocks noChangeArrowheads="1"/>
            </p:cNvSpPr>
            <p:nvPr/>
          </p:nvSpPr>
          <p:spPr bwMode="auto">
            <a:xfrm>
              <a:off x="4560" y="1824"/>
              <a:ext cx="1056" cy="336"/>
            </a:xfrm>
            <a:prstGeom prst="flowChartTerminator">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2187" name="Group 38"/>
            <p:cNvGrpSpPr>
              <a:grpSpLocks/>
            </p:cNvGrpSpPr>
            <p:nvPr/>
          </p:nvGrpSpPr>
          <p:grpSpPr bwMode="auto">
            <a:xfrm>
              <a:off x="3960" y="1728"/>
              <a:ext cx="1616" cy="423"/>
              <a:chOff x="3960" y="1728"/>
              <a:chExt cx="1616" cy="423"/>
            </a:xfrm>
          </p:grpSpPr>
          <p:sp>
            <p:nvSpPr>
              <p:cNvPr id="92188" name="Line 24"/>
              <p:cNvSpPr>
                <a:spLocks noChangeShapeType="1"/>
              </p:cNvSpPr>
              <p:nvPr/>
            </p:nvSpPr>
            <p:spPr bwMode="auto">
              <a:xfrm>
                <a:off x="3984" y="2016"/>
                <a:ext cx="57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89" name="Rectangle 25"/>
              <p:cNvSpPr>
                <a:spLocks noChangeArrowheads="1"/>
              </p:cNvSpPr>
              <p:nvPr/>
            </p:nvSpPr>
            <p:spPr bwMode="auto">
              <a:xfrm>
                <a:off x="3960" y="1728"/>
                <a:ext cx="2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是</a:t>
                </a:r>
              </a:p>
            </p:txBody>
          </p:sp>
          <p:sp>
            <p:nvSpPr>
              <p:cNvPr id="92190" name="Rectangle 27"/>
              <p:cNvSpPr>
                <a:spLocks noChangeArrowheads="1"/>
              </p:cNvSpPr>
              <p:nvPr/>
            </p:nvSpPr>
            <p:spPr bwMode="auto">
              <a:xfrm>
                <a:off x="4560" y="1824"/>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p>
                <a:r>
                  <a:rPr lang="zh-CN" altLang="en-US" sz="2800">
                    <a:latin typeface="Times New Roman" pitchFamily="18" charset="0"/>
                    <a:ea typeface="黑体" pitchFamily="49" charset="-122"/>
                  </a:rPr>
                  <a:t>停止迭代</a:t>
                </a:r>
              </a:p>
            </p:txBody>
          </p:sp>
        </p:grpSp>
      </p:grpSp>
      <p:grpSp>
        <p:nvGrpSpPr>
          <p:cNvPr id="7" name="Group 29"/>
          <p:cNvGrpSpPr>
            <a:grpSpLocks/>
          </p:cNvGrpSpPr>
          <p:nvPr/>
        </p:nvGrpSpPr>
        <p:grpSpPr bwMode="auto">
          <a:xfrm>
            <a:off x="1981200" y="3505200"/>
            <a:ext cx="4787900" cy="1600200"/>
            <a:chOff x="1152" y="2208"/>
            <a:chExt cx="2784" cy="1008"/>
          </a:xfrm>
        </p:grpSpPr>
        <p:grpSp>
          <p:nvGrpSpPr>
            <p:cNvPr id="92180" name="Group 19"/>
            <p:cNvGrpSpPr>
              <a:grpSpLocks/>
            </p:cNvGrpSpPr>
            <p:nvPr/>
          </p:nvGrpSpPr>
          <p:grpSpPr bwMode="auto">
            <a:xfrm>
              <a:off x="1152" y="2256"/>
              <a:ext cx="2784" cy="960"/>
              <a:chOff x="1152" y="1536"/>
              <a:chExt cx="2784" cy="960"/>
            </a:xfrm>
          </p:grpSpPr>
          <p:grpSp>
            <p:nvGrpSpPr>
              <p:cNvPr id="92182" name="Group 20"/>
              <p:cNvGrpSpPr>
                <a:grpSpLocks/>
              </p:cNvGrpSpPr>
              <p:nvPr/>
            </p:nvGrpSpPr>
            <p:grpSpPr bwMode="auto">
              <a:xfrm>
                <a:off x="1152" y="1776"/>
                <a:ext cx="2784" cy="720"/>
                <a:chOff x="1152" y="1776"/>
                <a:chExt cx="2784" cy="720"/>
              </a:xfrm>
            </p:grpSpPr>
            <p:sp>
              <p:nvSpPr>
                <p:cNvPr id="92184" name="AutoShape 21"/>
                <p:cNvSpPr>
                  <a:spLocks noChangeArrowheads="1"/>
                </p:cNvSpPr>
                <p:nvPr/>
              </p:nvSpPr>
              <p:spPr bwMode="auto">
                <a:xfrm>
                  <a:off x="1152" y="1776"/>
                  <a:ext cx="2784" cy="720"/>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85" name="Rectangle 22"/>
                <p:cNvSpPr>
                  <a:spLocks noChangeArrowheads="1"/>
                </p:cNvSpPr>
                <p:nvPr/>
              </p:nvSpPr>
              <p:spPr bwMode="auto">
                <a:xfrm>
                  <a:off x="1988" y="1824"/>
                  <a:ext cx="1366"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检查下山条件</a:t>
                  </a:r>
                </a:p>
                <a:p>
                  <a:r>
                    <a:rPr lang="zh-CN" altLang="en-US" sz="2800">
                      <a:latin typeface="Times New Roman" pitchFamily="18" charset="0"/>
                      <a:ea typeface="黑体" pitchFamily="49" charset="-122"/>
                    </a:rPr>
                    <a:t>是否满足</a:t>
                  </a:r>
                </a:p>
              </p:txBody>
            </p:sp>
          </p:grpSp>
          <p:sp>
            <p:nvSpPr>
              <p:cNvPr id="92183" name="Line 23"/>
              <p:cNvSpPr>
                <a:spLocks noChangeShapeType="1"/>
              </p:cNvSpPr>
              <p:nvPr/>
            </p:nvSpPr>
            <p:spPr bwMode="auto">
              <a:xfrm>
                <a:off x="2544" y="1536"/>
                <a:ext cx="0"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181" name="Rectangle 28"/>
            <p:cNvSpPr>
              <a:spLocks noChangeArrowheads="1"/>
            </p:cNvSpPr>
            <p:nvPr/>
          </p:nvSpPr>
          <p:spPr bwMode="auto">
            <a:xfrm>
              <a:off x="2652" y="2208"/>
              <a:ext cx="3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否</a:t>
              </a:r>
            </a:p>
          </p:txBody>
        </p:sp>
      </p:grpSp>
      <p:grpSp>
        <p:nvGrpSpPr>
          <p:cNvPr id="10" name="Group 34"/>
          <p:cNvGrpSpPr>
            <a:grpSpLocks/>
          </p:cNvGrpSpPr>
          <p:nvPr/>
        </p:nvGrpSpPr>
        <p:grpSpPr bwMode="auto">
          <a:xfrm>
            <a:off x="2278725" y="5105402"/>
            <a:ext cx="4626239" cy="1033463"/>
            <a:chOff x="1325" y="3216"/>
            <a:chExt cx="2690" cy="651"/>
          </a:xfrm>
        </p:grpSpPr>
        <p:sp>
          <p:nvSpPr>
            <p:cNvPr id="92177" name="Rectangle 31"/>
            <p:cNvSpPr>
              <a:spLocks noChangeArrowheads="1"/>
            </p:cNvSpPr>
            <p:nvPr/>
          </p:nvSpPr>
          <p:spPr bwMode="auto">
            <a:xfrm>
              <a:off x="1325" y="3537"/>
              <a:ext cx="2690" cy="33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sz="2800">
                  <a:latin typeface="Times New Roman" pitchFamily="18" charset="0"/>
                  <a:ea typeface="黑体" pitchFamily="49" charset="-122"/>
                </a:rPr>
                <a:t>修改</a:t>
              </a:r>
              <a:r>
                <a:rPr lang="en-US" altLang="zh-CN" sz="2800">
                  <a:latin typeface="Times New Roman" pitchFamily="18" charset="0"/>
                  <a:ea typeface="黑体" pitchFamily="49" charset="-122"/>
                  <a:cs typeface="Times New Roman" pitchFamily="18" charset="0"/>
                </a:rPr>
                <a:t>λ</a:t>
              </a:r>
              <a:r>
                <a:rPr lang="zh-CN" altLang="en-US" sz="2800">
                  <a:latin typeface="Times New Roman" pitchFamily="18" charset="0"/>
                  <a:ea typeface="黑体" pitchFamily="49" charset="-122"/>
                </a:rPr>
                <a:t>值,算出新的近似值</a:t>
              </a:r>
              <a:r>
                <a:rPr lang="en-US" altLang="zh-CN" sz="2800" i="1">
                  <a:latin typeface="Times New Roman" pitchFamily="18" charset="0"/>
                  <a:ea typeface="黑体" pitchFamily="49" charset="-122"/>
                </a:rPr>
                <a:t>x</a:t>
              </a:r>
              <a:r>
                <a:rPr lang="en-US" altLang="zh-CN" sz="2800" i="1" baseline="-25000">
                  <a:latin typeface="Times New Roman" pitchFamily="18" charset="0"/>
                  <a:ea typeface="黑体" pitchFamily="49" charset="-122"/>
                </a:rPr>
                <a:t>n+</a:t>
              </a:r>
              <a:r>
                <a:rPr lang="en-US" altLang="zh-CN" sz="2800" baseline="-25000">
                  <a:latin typeface="Times New Roman" pitchFamily="18" charset="0"/>
                  <a:ea typeface="黑体" pitchFamily="49" charset="-122"/>
                </a:rPr>
                <a:t>1</a:t>
              </a:r>
              <a:endParaRPr lang="zh-CN" altLang="en-US" sz="2800" baseline="-25000">
                <a:latin typeface="Times New Roman" pitchFamily="18" charset="0"/>
                <a:ea typeface="黑体" pitchFamily="49" charset="-122"/>
              </a:endParaRPr>
            </a:p>
          </p:txBody>
        </p:sp>
        <p:sp>
          <p:nvSpPr>
            <p:cNvPr id="92178" name="Line 32"/>
            <p:cNvSpPr>
              <a:spLocks noChangeShapeType="1"/>
            </p:cNvSpPr>
            <p:nvPr/>
          </p:nvSpPr>
          <p:spPr bwMode="auto">
            <a:xfrm>
              <a:off x="2544" y="3216"/>
              <a:ext cx="0" cy="2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9" name="Rectangle 33"/>
            <p:cNvSpPr>
              <a:spLocks noChangeArrowheads="1"/>
            </p:cNvSpPr>
            <p:nvPr/>
          </p:nvSpPr>
          <p:spPr bwMode="auto">
            <a:xfrm>
              <a:off x="2652" y="3216"/>
              <a:ext cx="3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p>
              <a:r>
                <a:rPr lang="zh-CN" altLang="en-US" sz="2800">
                  <a:latin typeface="Times New Roman" pitchFamily="18" charset="0"/>
                  <a:ea typeface="黑体" pitchFamily="49" charset="-122"/>
                </a:rPr>
                <a:t>否</a:t>
              </a:r>
            </a:p>
          </p:txBody>
        </p:sp>
      </p:grpSp>
      <p:sp>
        <p:nvSpPr>
          <p:cNvPr id="298019" name="Line 35"/>
          <p:cNvSpPr>
            <a:spLocks noChangeShapeType="1"/>
          </p:cNvSpPr>
          <p:nvPr/>
        </p:nvSpPr>
        <p:spPr bwMode="auto">
          <a:xfrm>
            <a:off x="7099300" y="5943600"/>
            <a:ext cx="15684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20" name="Line 36"/>
          <p:cNvSpPr>
            <a:spLocks noChangeShapeType="1"/>
          </p:cNvSpPr>
          <p:nvPr/>
        </p:nvSpPr>
        <p:spPr bwMode="auto">
          <a:xfrm flipV="1">
            <a:off x="8667750" y="3733800"/>
            <a:ext cx="0" cy="2209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21" name="Line 37"/>
          <p:cNvSpPr>
            <a:spLocks noChangeShapeType="1"/>
          </p:cNvSpPr>
          <p:nvPr/>
        </p:nvSpPr>
        <p:spPr bwMode="auto">
          <a:xfrm flipH="1">
            <a:off x="5035550" y="3733800"/>
            <a:ext cx="3632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8026" name="AutoShape 42"/>
          <p:cNvSpPr>
            <a:spLocks noChangeArrowheads="1"/>
          </p:cNvSpPr>
          <p:nvPr/>
        </p:nvSpPr>
        <p:spPr bwMode="auto">
          <a:xfrm>
            <a:off x="5695950" y="228600"/>
            <a:ext cx="4210050" cy="1600200"/>
          </a:xfrm>
          <a:prstGeom prst="wedgeRectCallout">
            <a:avLst>
              <a:gd name="adj1" fmla="val -63481"/>
              <a:gd name="adj2" fmla="val 25495"/>
            </a:avLst>
          </a:prstGeom>
          <a:solidFill>
            <a:srgbClr val="FFFF99"/>
          </a:solidFill>
          <a:ln w="38100">
            <a:solidFill>
              <a:srgbClr val="0000FF"/>
            </a:solidFill>
            <a:miter lim="800000"/>
            <a:headEnd/>
            <a:tailEnd/>
          </a:ln>
        </p:spPr>
        <p:txBody>
          <a:bodyPr anchor="ctr"/>
          <a:lstStyle/>
          <a:p>
            <a:pPr algn="l">
              <a:buFontTx/>
              <a:buChar char="•"/>
            </a:pPr>
            <a:r>
              <a:rPr lang="en-US" altLang="zh-CN" sz="2800">
                <a:latin typeface="Times New Roman" pitchFamily="18" charset="0"/>
                <a:cs typeface="Times New Roman" pitchFamily="18" charset="0"/>
              </a:rPr>
              <a:t>λ</a:t>
            </a:r>
            <a:r>
              <a:rPr lang="zh-CN" altLang="en-US" sz="2800">
                <a:latin typeface="Times New Roman" pitchFamily="18" charset="0"/>
              </a:rPr>
              <a:t>为</a:t>
            </a:r>
            <a:r>
              <a:rPr lang="zh-CN" altLang="en-US" sz="2800" u="sng">
                <a:latin typeface="Times New Roman" pitchFamily="18" charset="0"/>
              </a:rPr>
              <a:t>下山因子</a:t>
            </a:r>
          </a:p>
          <a:p>
            <a:pPr algn="l">
              <a:buFontTx/>
              <a:buChar char="•"/>
            </a:pPr>
            <a:r>
              <a:rPr lang="zh-CN" altLang="en-US" sz="2800">
                <a:latin typeface="Times New Roman" pitchFamily="18" charset="0"/>
              </a:rPr>
              <a:t>在[</a:t>
            </a:r>
            <a:r>
              <a:rPr lang="zh-CN" altLang="en-US" sz="2800">
                <a:latin typeface="Times New Roman" pitchFamily="18" charset="0"/>
                <a:sym typeface="Symbol" pitchFamily="18" charset="2"/>
              </a:rPr>
              <a:t></a:t>
            </a:r>
            <a:r>
              <a:rPr lang="en-US" altLang="zh-CN" sz="2800" baseline="-25000">
                <a:latin typeface="宋体" pitchFamily="2" charset="-122"/>
              </a:rPr>
              <a:t>1</a:t>
            </a:r>
            <a:r>
              <a:rPr lang="zh-CN" altLang="en-US" sz="2800">
                <a:latin typeface="Times New Roman" pitchFamily="18" charset="0"/>
              </a:rPr>
              <a:t> ,1]内选值.可依次取1, 1/2, 1/4, 1/2</a:t>
            </a:r>
            <a:r>
              <a:rPr lang="en-US" altLang="zh-CN" sz="2800" baseline="30000">
                <a:latin typeface="Times New Roman" pitchFamily="18" charset="0"/>
              </a:rPr>
              <a:t>r</a:t>
            </a:r>
            <a:r>
              <a:rPr lang="en-US" altLang="zh-CN" sz="2800">
                <a:latin typeface="Times New Roman" pitchFamily="18" charset="0"/>
              </a:rPr>
              <a:t>&gt; </a:t>
            </a:r>
            <a:r>
              <a:rPr lang="zh-CN" altLang="en-US" sz="2800">
                <a:latin typeface="Times New Roman" pitchFamily="18" charset="0"/>
                <a:sym typeface="Symbol" pitchFamily="18" charset="2"/>
              </a:rPr>
              <a:t></a:t>
            </a:r>
            <a:r>
              <a:rPr lang="en-US" altLang="zh-CN" sz="2800" baseline="-25000">
                <a:latin typeface="宋体" pitchFamily="2" charset="-122"/>
              </a:rPr>
              <a:t>1</a:t>
            </a:r>
            <a:endParaRPr lang="zh-CN" altLang="en-US" sz="2800" baseline="-25000">
              <a:latin typeface="宋体" pitchFamily="2" charset="-122"/>
            </a:endParaRPr>
          </a:p>
        </p:txBody>
      </p:sp>
    </p:spTree>
    <p:custDataLst>
      <p:tags r:id="rId1"/>
    </p:custDataLst>
    <p:extLst>
      <p:ext uri="{BB962C8B-B14F-4D97-AF65-F5344CB8AC3E}">
        <p14:creationId xmlns:p14="http://schemas.microsoft.com/office/powerpoint/2010/main" val="2243743374"/>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7989"/>
                                        </p:tgtEl>
                                        <p:attrNameLst>
                                          <p:attrName>style.visibility</p:attrName>
                                        </p:attrNameLst>
                                      </p:cBhvr>
                                      <p:to>
                                        <p:strVal val="visible"/>
                                      </p:to>
                                    </p:set>
                                    <p:animEffect transition="in" filter="wipe(up)">
                                      <p:cBhvr>
                                        <p:cTn id="7" dur="500"/>
                                        <p:tgtEl>
                                          <p:spTgt spid="2979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98019"/>
                                        </p:tgtEl>
                                        <p:attrNameLst>
                                          <p:attrName>style.visibility</p:attrName>
                                        </p:attrNameLst>
                                      </p:cBhvr>
                                      <p:to>
                                        <p:strVal val="visible"/>
                                      </p:to>
                                    </p:set>
                                    <p:animEffect transition="in" filter="wipe(left)">
                                      <p:cBhvr>
                                        <p:cTn id="43" dur="500"/>
                                        <p:tgtEl>
                                          <p:spTgt spid="298019"/>
                                        </p:tgtEl>
                                      </p:cBhvr>
                                    </p:animEffect>
                                  </p:childTnLst>
                                </p:cTn>
                              </p:par>
                            </p:childTnLst>
                          </p:cTn>
                        </p:par>
                        <p:par>
                          <p:cTn id="44" fill="hold" nodeType="afterGroup">
                            <p:stCondLst>
                              <p:cond delay="500"/>
                            </p:stCondLst>
                            <p:childTnLst>
                              <p:par>
                                <p:cTn id="45" presetID="22" presetClass="entr" presetSubtype="4" fill="hold" grpId="0" nodeType="afterEffect">
                                  <p:stCondLst>
                                    <p:cond delay="0"/>
                                  </p:stCondLst>
                                  <p:childTnLst>
                                    <p:set>
                                      <p:cBhvr>
                                        <p:cTn id="46" dur="1" fill="hold">
                                          <p:stCondLst>
                                            <p:cond delay="0"/>
                                          </p:stCondLst>
                                        </p:cTn>
                                        <p:tgtEl>
                                          <p:spTgt spid="298020"/>
                                        </p:tgtEl>
                                        <p:attrNameLst>
                                          <p:attrName>style.visibility</p:attrName>
                                        </p:attrNameLst>
                                      </p:cBhvr>
                                      <p:to>
                                        <p:strVal val="visible"/>
                                      </p:to>
                                    </p:set>
                                    <p:animEffect transition="in" filter="wipe(down)">
                                      <p:cBhvr>
                                        <p:cTn id="47" dur="500"/>
                                        <p:tgtEl>
                                          <p:spTgt spid="298020"/>
                                        </p:tgtEl>
                                      </p:cBhvr>
                                    </p:animEffect>
                                  </p:childTnLst>
                                </p:cTn>
                              </p:par>
                            </p:childTnLst>
                          </p:cTn>
                        </p:par>
                        <p:par>
                          <p:cTn id="48" fill="hold" nodeType="afterGroup">
                            <p:stCondLst>
                              <p:cond delay="1000"/>
                            </p:stCondLst>
                            <p:childTnLst>
                              <p:par>
                                <p:cTn id="49" presetID="22" presetClass="entr" presetSubtype="2" fill="hold" grpId="0" nodeType="afterEffect">
                                  <p:stCondLst>
                                    <p:cond delay="0"/>
                                  </p:stCondLst>
                                  <p:childTnLst>
                                    <p:set>
                                      <p:cBhvr>
                                        <p:cTn id="50" dur="1" fill="hold">
                                          <p:stCondLst>
                                            <p:cond delay="0"/>
                                          </p:stCondLst>
                                        </p:cTn>
                                        <p:tgtEl>
                                          <p:spTgt spid="298021"/>
                                        </p:tgtEl>
                                        <p:attrNameLst>
                                          <p:attrName>style.visibility</p:attrName>
                                        </p:attrNameLst>
                                      </p:cBhvr>
                                      <p:to>
                                        <p:strVal val="visible"/>
                                      </p:to>
                                    </p:set>
                                    <p:animEffect transition="in" filter="wipe(right)">
                                      <p:cBhvr>
                                        <p:cTn id="51" dur="500"/>
                                        <p:tgtEl>
                                          <p:spTgt spid="29802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298026"/>
                                        </p:tgtEl>
                                        <p:attrNameLst>
                                          <p:attrName>style.visibility</p:attrName>
                                        </p:attrNameLst>
                                      </p:cBhvr>
                                      <p:to>
                                        <p:strVal val="visible"/>
                                      </p:to>
                                    </p:set>
                                    <p:anim calcmode="lin" valueType="num">
                                      <p:cBhvr additive="base">
                                        <p:cTn id="56" dur="500" fill="hold"/>
                                        <p:tgtEl>
                                          <p:spTgt spid="298026"/>
                                        </p:tgtEl>
                                        <p:attrNameLst>
                                          <p:attrName>ppt_x</p:attrName>
                                        </p:attrNameLst>
                                      </p:cBhvr>
                                      <p:tavLst>
                                        <p:tav tm="0">
                                          <p:val>
                                            <p:strVal val="0-#ppt_w/2"/>
                                          </p:val>
                                        </p:tav>
                                        <p:tav tm="100000">
                                          <p:val>
                                            <p:strVal val="#ppt_x"/>
                                          </p:val>
                                        </p:tav>
                                      </p:tavLst>
                                    </p:anim>
                                    <p:anim calcmode="lin" valueType="num">
                                      <p:cBhvr additive="base">
                                        <p:cTn id="57" dur="500" fill="hold"/>
                                        <p:tgtEl>
                                          <p:spTgt spid="298026"/>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up)">
                                      <p:cBhvr>
                                        <p:cTn id="6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9" grpId="0" animBg="1" autoUpdateAnimBg="0"/>
      <p:bldP spid="298019" grpId="0" animBg="1"/>
      <p:bldP spid="298020" grpId="0" animBg="1"/>
      <p:bldP spid="298021" grpId="0" animBg="1"/>
      <p:bldP spid="298026"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0"/>
          </p:nvPr>
        </p:nvSpPr>
        <p:spPr/>
        <p:txBody>
          <a:bodyPr/>
          <a:lstStyle/>
          <a:p>
            <a:fld id="{7823E7D8-8793-4311-84F1-F7670E25E258}" type="slidenum">
              <a:rPr lang="zh-CN" altLang="en-US"/>
              <a:pPr/>
              <a:t>20</a:t>
            </a:fld>
            <a:endParaRPr lang="en-US" altLang="zh-CN"/>
          </a:p>
        </p:txBody>
      </p:sp>
      <p:sp>
        <p:nvSpPr>
          <p:cNvPr id="7" name="日期占位符 5"/>
          <p:cNvSpPr>
            <a:spLocks noGrp="1"/>
          </p:cNvSpPr>
          <p:nvPr>
            <p:ph type="dt" sz="half" idx="11"/>
          </p:nvPr>
        </p:nvSpPr>
        <p:spPr/>
        <p:txBody>
          <a:bodyPr/>
          <a:lstStyle/>
          <a:p>
            <a:fld id="{47E6FEC9-3305-479D-BF29-DF5EB4707159}" type="datetime1">
              <a:rPr lang="zh-CN" altLang="en-US"/>
              <a:pPr/>
              <a:t>2024/11/18</a:t>
            </a:fld>
            <a:endParaRPr lang="en-US" altLang="zh-CN" sz="1000"/>
          </a:p>
        </p:txBody>
      </p:sp>
      <p:sp>
        <p:nvSpPr>
          <p:cNvPr id="770050" name="Rectangle 2"/>
          <p:cNvSpPr>
            <a:spLocks noGrp="1" noChangeArrowheads="1"/>
          </p:cNvSpPr>
          <p:nvPr>
            <p:ph type="title"/>
          </p:nvPr>
        </p:nvSpPr>
        <p:spPr/>
        <p:txBody>
          <a:bodyPr/>
          <a:lstStyle/>
          <a:p>
            <a:r>
              <a:rPr lang="zh-CN" altLang="en-US"/>
              <a:t>(</a:t>
            </a:r>
            <a:r>
              <a:rPr lang="en-US" altLang="zh-CN"/>
              <a:t>4)</a:t>
            </a:r>
            <a:r>
              <a:rPr lang="zh-CN" altLang="en-US"/>
              <a:t> 弦截法</a:t>
            </a:r>
          </a:p>
        </p:txBody>
      </p:sp>
      <p:sp>
        <p:nvSpPr>
          <p:cNvPr id="770051" name="Rectangle 3"/>
          <p:cNvSpPr>
            <a:spLocks noGrp="1" noChangeArrowheads="1"/>
          </p:cNvSpPr>
          <p:nvPr>
            <p:ph type="body" sz="half" idx="1"/>
          </p:nvPr>
        </p:nvSpPr>
        <p:spPr>
          <a:xfrm>
            <a:off x="560388" y="3357563"/>
            <a:ext cx="4333875" cy="384175"/>
          </a:xfrm>
        </p:spPr>
        <p:txBody>
          <a:bodyPr/>
          <a:lstStyle/>
          <a:p>
            <a:pPr>
              <a:spcBef>
                <a:spcPts val="1200"/>
              </a:spcBef>
            </a:pPr>
            <a:r>
              <a:rPr lang="zh-CN" altLang="en-US"/>
              <a:t>双点弦截法</a:t>
            </a:r>
          </a:p>
        </p:txBody>
      </p:sp>
      <p:graphicFrame>
        <p:nvGraphicFramePr>
          <p:cNvPr id="770056" name="Object 8"/>
          <p:cNvGraphicFramePr>
            <a:graphicFrameLocks noChangeAspect="1"/>
          </p:cNvGraphicFramePr>
          <p:nvPr/>
        </p:nvGraphicFramePr>
        <p:xfrm>
          <a:off x="2432050" y="4149725"/>
          <a:ext cx="5219700" cy="1162050"/>
        </p:xfrm>
        <a:graphic>
          <a:graphicData uri="http://schemas.openxmlformats.org/presentationml/2006/ole">
            <mc:AlternateContent xmlns:mc="http://schemas.openxmlformats.org/markup-compatibility/2006">
              <mc:Choice xmlns:v="urn:schemas-microsoft-com:vml" Requires="v">
                <p:oleObj name="公式" r:id="rId3" imgW="1892160" imgH="444240" progId="Equation.3">
                  <p:embed/>
                </p:oleObj>
              </mc:Choice>
              <mc:Fallback>
                <p:oleObj name="公式" r:id="rId3" imgW="1892160" imgH="44424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50" y="4149725"/>
                        <a:ext cx="5219700" cy="1162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0057" name="Object 9"/>
          <p:cNvGraphicFramePr>
            <a:graphicFrameLocks noGrp="1" noChangeAspect="1"/>
          </p:cNvGraphicFramePr>
          <p:nvPr>
            <p:ph sz="half" idx="2"/>
          </p:nvPr>
        </p:nvGraphicFramePr>
        <p:xfrm>
          <a:off x="560388" y="1268413"/>
          <a:ext cx="7507287" cy="1265237"/>
        </p:xfrm>
        <a:graphic>
          <a:graphicData uri="http://schemas.openxmlformats.org/presentationml/2006/ole">
            <mc:AlternateContent xmlns:mc="http://schemas.openxmlformats.org/markup-compatibility/2006">
              <mc:Choice xmlns:v="urn:schemas-microsoft-com:vml" Requires="v">
                <p:oleObj name="公式" r:id="rId5" imgW="2260440" imgH="380880" progId="Equation.3">
                  <p:embed/>
                </p:oleObj>
              </mc:Choice>
              <mc:Fallback>
                <p:oleObj name="公式" r:id="rId5" imgW="2260440" imgH="38088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388" y="1268413"/>
                        <a:ext cx="7507287" cy="1265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95CEA838-3A5A-4415-8AA6-96985113655F}" type="slidenum">
              <a:rPr lang="zh-CN" altLang="en-US"/>
              <a:pPr/>
              <a:t>21</a:t>
            </a:fld>
            <a:endParaRPr lang="en-US" altLang="zh-CN"/>
          </a:p>
        </p:txBody>
      </p:sp>
      <p:sp>
        <p:nvSpPr>
          <p:cNvPr id="5" name="日期占位符 4"/>
          <p:cNvSpPr>
            <a:spLocks noGrp="1"/>
          </p:cNvSpPr>
          <p:nvPr>
            <p:ph type="dt" sz="half" idx="11"/>
          </p:nvPr>
        </p:nvSpPr>
        <p:spPr/>
        <p:txBody>
          <a:bodyPr/>
          <a:lstStyle/>
          <a:p>
            <a:fld id="{0F49A37D-9AFC-4391-B497-C4D1F8B0EA32}" type="datetime1">
              <a:rPr lang="zh-CN" altLang="en-US"/>
              <a:pPr/>
              <a:t>2024/11/18</a:t>
            </a:fld>
            <a:endParaRPr lang="en-US" altLang="zh-CN" sz="1000"/>
          </a:p>
        </p:txBody>
      </p:sp>
      <p:sp>
        <p:nvSpPr>
          <p:cNvPr id="930818" name="Rectangle 2"/>
          <p:cNvSpPr>
            <a:spLocks noGrp="1" noChangeArrowheads="1"/>
          </p:cNvSpPr>
          <p:nvPr>
            <p:ph type="title"/>
          </p:nvPr>
        </p:nvSpPr>
        <p:spPr/>
        <p:txBody>
          <a:bodyPr/>
          <a:lstStyle/>
          <a:p>
            <a:r>
              <a:rPr lang="zh-CN" altLang="en-US"/>
              <a:t>第二章  方程求根的迭代解法</a:t>
            </a:r>
          </a:p>
        </p:txBody>
      </p:sp>
      <p:sp>
        <p:nvSpPr>
          <p:cNvPr id="930819" name="Rectangle 3"/>
          <p:cNvSpPr>
            <a:spLocks noGrp="1" noChangeArrowheads="1"/>
          </p:cNvSpPr>
          <p:nvPr>
            <p:ph type="body" idx="1"/>
          </p:nvPr>
        </p:nvSpPr>
        <p:spPr>
          <a:xfrm>
            <a:off x="200472" y="1124744"/>
            <a:ext cx="9649072" cy="5173724"/>
          </a:xfrm>
        </p:spPr>
        <p:txBody>
          <a:bodyPr/>
          <a:lstStyle/>
          <a:p>
            <a:pPr>
              <a:lnSpc>
                <a:spcPct val="80000"/>
              </a:lnSpc>
              <a:buFont typeface="Wingdings" pitchFamily="2" charset="2"/>
              <a:buNone/>
            </a:pPr>
            <a:r>
              <a:rPr lang="zh-CN" altLang="en-US" u="sng" dirty="0"/>
              <a:t>收敛的充分条件</a:t>
            </a:r>
          </a:p>
          <a:p>
            <a:pPr>
              <a:lnSpc>
                <a:spcPct val="80000"/>
              </a:lnSpc>
              <a:spcBef>
                <a:spcPts val="1200"/>
              </a:spcBef>
            </a:pPr>
            <a:r>
              <a:rPr lang="zh-CN" altLang="en-US" dirty="0"/>
              <a:t>定理2.5  设</a:t>
            </a:r>
            <a:r>
              <a:rPr lang="en-US" altLang="zh-CN" i="1" dirty="0"/>
              <a:t>f(x)</a:t>
            </a:r>
            <a:r>
              <a:rPr lang="zh-CN" altLang="en-US" dirty="0"/>
              <a:t>在[</a:t>
            </a:r>
            <a:r>
              <a:rPr lang="en-US" altLang="zh-CN" dirty="0" err="1"/>
              <a:t>a,b</a:t>
            </a:r>
            <a:r>
              <a:rPr lang="en-US" altLang="zh-CN" dirty="0"/>
              <a:t>]</a:t>
            </a:r>
            <a:r>
              <a:rPr lang="zh-CN" altLang="en-US" dirty="0"/>
              <a:t>上二阶导数存在，且满足：</a:t>
            </a:r>
          </a:p>
          <a:p>
            <a:pPr lvl="1">
              <a:lnSpc>
                <a:spcPct val="80000"/>
              </a:lnSpc>
              <a:spcBef>
                <a:spcPts val="1200"/>
              </a:spcBef>
            </a:pPr>
            <a:r>
              <a:rPr lang="zh-CN" altLang="en-US" dirty="0"/>
              <a:t>1)  </a:t>
            </a:r>
            <a:r>
              <a:rPr lang="en-US" altLang="zh-CN" i="1" dirty="0"/>
              <a:t>f</a:t>
            </a:r>
            <a:r>
              <a:rPr lang="en-US" altLang="zh-CN" dirty="0"/>
              <a:t>(</a:t>
            </a:r>
            <a:r>
              <a:rPr lang="en-US" altLang="zh-CN" i="1" dirty="0"/>
              <a:t>a</a:t>
            </a:r>
            <a:r>
              <a:rPr lang="en-US" altLang="zh-CN" dirty="0"/>
              <a:t>) </a:t>
            </a:r>
            <a:r>
              <a:rPr lang="en-US" altLang="zh-CN" i="1" dirty="0"/>
              <a:t>f</a:t>
            </a:r>
            <a:r>
              <a:rPr lang="en-US" altLang="zh-CN" dirty="0"/>
              <a:t>(</a:t>
            </a:r>
            <a:r>
              <a:rPr lang="en-US" altLang="zh-CN" i="1" dirty="0"/>
              <a:t>b</a:t>
            </a:r>
            <a:r>
              <a:rPr lang="en-US" altLang="zh-CN" dirty="0"/>
              <a:t>)&lt;0           2)  </a:t>
            </a:r>
            <a:r>
              <a:rPr lang="en-US" altLang="zh-CN" i="1" dirty="0"/>
              <a:t>f ’</a:t>
            </a:r>
            <a:r>
              <a:rPr lang="en-US" altLang="zh-CN" dirty="0"/>
              <a:t>(</a:t>
            </a:r>
            <a:r>
              <a:rPr lang="en-US" altLang="zh-CN" i="1" dirty="0"/>
              <a:t>x</a:t>
            </a:r>
            <a:r>
              <a:rPr lang="en-US" altLang="zh-CN" dirty="0"/>
              <a:t>)≠0,</a:t>
            </a:r>
            <a:r>
              <a:rPr lang="en-US" altLang="zh-CN" i="1" dirty="0"/>
              <a:t>       </a:t>
            </a:r>
          </a:p>
          <a:p>
            <a:pPr lvl="1">
              <a:lnSpc>
                <a:spcPct val="80000"/>
              </a:lnSpc>
              <a:spcBef>
                <a:spcPts val="1200"/>
              </a:spcBef>
            </a:pPr>
            <a:r>
              <a:rPr lang="en-US" altLang="zh-CN" dirty="0"/>
              <a:t>3</a:t>
            </a:r>
            <a:r>
              <a:rPr lang="en-US" altLang="zh-CN" i="1" dirty="0"/>
              <a:t>)  f ’’</a:t>
            </a:r>
            <a:r>
              <a:rPr lang="en-US" altLang="zh-CN" dirty="0"/>
              <a:t>(</a:t>
            </a:r>
            <a:r>
              <a:rPr lang="en-US" altLang="zh-CN" i="1" dirty="0"/>
              <a:t>x</a:t>
            </a:r>
            <a:r>
              <a:rPr lang="en-US" altLang="zh-CN" dirty="0"/>
              <a:t>)</a:t>
            </a:r>
            <a:r>
              <a:rPr lang="zh-CN" altLang="en-US" dirty="0"/>
              <a:t>不变号       4) 初值</a:t>
            </a:r>
            <a:r>
              <a:rPr lang="en-US" altLang="zh-CN" i="1" dirty="0"/>
              <a:t>x</a:t>
            </a:r>
            <a:r>
              <a:rPr lang="en-US" altLang="zh-CN" baseline="-25000" dirty="0"/>
              <a:t>0</a:t>
            </a:r>
            <a:r>
              <a:rPr lang="zh-CN" altLang="en-US" dirty="0"/>
              <a:t>满足</a:t>
            </a:r>
            <a:r>
              <a:rPr lang="en-US" altLang="zh-CN" i="1" dirty="0"/>
              <a:t>f </a:t>
            </a:r>
            <a:r>
              <a:rPr lang="en-US" altLang="zh-CN" dirty="0"/>
              <a:t>(</a:t>
            </a:r>
            <a:r>
              <a:rPr lang="en-US" altLang="zh-CN" i="1" dirty="0"/>
              <a:t>x</a:t>
            </a:r>
            <a:r>
              <a:rPr lang="en-US" altLang="zh-CN" baseline="-25000" dirty="0"/>
              <a:t>0</a:t>
            </a:r>
            <a:r>
              <a:rPr lang="en-US" altLang="zh-CN" dirty="0"/>
              <a:t>)</a:t>
            </a:r>
            <a:r>
              <a:rPr lang="zh-CN" altLang="en-US" dirty="0"/>
              <a:t> </a:t>
            </a:r>
            <a:r>
              <a:rPr lang="en-US" altLang="zh-CN" i="1" dirty="0"/>
              <a:t>f ’’</a:t>
            </a:r>
            <a:r>
              <a:rPr lang="en-US" altLang="zh-CN" dirty="0"/>
              <a:t>(</a:t>
            </a:r>
            <a:r>
              <a:rPr lang="en-US" altLang="zh-CN" i="1" dirty="0"/>
              <a:t>x</a:t>
            </a:r>
            <a:r>
              <a:rPr lang="en-US" altLang="zh-CN" baseline="-25000" dirty="0"/>
              <a:t>0</a:t>
            </a:r>
            <a:r>
              <a:rPr lang="en-US" altLang="zh-CN" dirty="0"/>
              <a:t>)&gt;0</a:t>
            </a:r>
            <a:endParaRPr lang="zh-CN" altLang="en-US" dirty="0"/>
          </a:p>
          <a:p>
            <a:pPr>
              <a:lnSpc>
                <a:spcPct val="80000"/>
              </a:lnSpc>
              <a:buFont typeface="Wingdings" pitchFamily="2" charset="2"/>
              <a:buNone/>
            </a:pPr>
            <a:r>
              <a:rPr lang="zh-CN" altLang="en-US" dirty="0"/>
              <a:t>则</a:t>
            </a:r>
            <a:r>
              <a:rPr lang="zh-CN" altLang="en-US" dirty="0">
                <a:solidFill>
                  <a:srgbClr val="FF0000"/>
                </a:solidFill>
              </a:rPr>
              <a:t>牛顿迭代法</a:t>
            </a:r>
            <a:r>
              <a:rPr lang="zh-CN" altLang="en-US" dirty="0"/>
              <a:t>收敛。</a:t>
            </a:r>
          </a:p>
          <a:p>
            <a:pPr>
              <a:lnSpc>
                <a:spcPct val="80000"/>
              </a:lnSpc>
              <a:spcBef>
                <a:spcPts val="1200"/>
              </a:spcBef>
            </a:pPr>
            <a:r>
              <a:rPr lang="zh-CN" altLang="en-US" dirty="0"/>
              <a:t>定理2.6 设 </a:t>
            </a:r>
            <a:r>
              <a:rPr lang="en-US" altLang="zh-CN" i="1" dirty="0"/>
              <a:t>f</a:t>
            </a:r>
            <a:r>
              <a:rPr lang="en-US" altLang="zh-CN" dirty="0"/>
              <a:t>(</a:t>
            </a:r>
            <a:r>
              <a:rPr lang="en-US" altLang="zh-CN" i="1" dirty="0"/>
              <a:t>x</a:t>
            </a:r>
            <a:r>
              <a:rPr lang="en-US" altLang="zh-CN" dirty="0"/>
              <a:t>) </a:t>
            </a:r>
            <a:r>
              <a:rPr lang="zh-CN" altLang="en-US" dirty="0"/>
              <a:t>在[</a:t>
            </a:r>
            <a:r>
              <a:rPr lang="en-US" altLang="zh-CN" dirty="0" err="1"/>
              <a:t>a,b</a:t>
            </a:r>
            <a:r>
              <a:rPr lang="en-US" altLang="zh-CN" dirty="0"/>
              <a:t>]</a:t>
            </a:r>
            <a:r>
              <a:rPr lang="zh-CN" altLang="en-US" dirty="0"/>
              <a:t>上二阶导数存在,且满足</a:t>
            </a:r>
          </a:p>
          <a:p>
            <a:pPr lvl="1">
              <a:lnSpc>
                <a:spcPct val="80000"/>
              </a:lnSpc>
              <a:spcBef>
                <a:spcPts val="1200"/>
              </a:spcBef>
            </a:pPr>
            <a:r>
              <a:rPr lang="zh-CN" altLang="en-US" dirty="0"/>
              <a:t>(1) </a:t>
            </a:r>
            <a:r>
              <a:rPr lang="en-US" altLang="zh-CN" i="1" dirty="0"/>
              <a:t>f</a:t>
            </a:r>
            <a:r>
              <a:rPr lang="en-US" altLang="zh-CN" dirty="0"/>
              <a:t>(</a:t>
            </a:r>
            <a:r>
              <a:rPr lang="en-US" altLang="zh-CN" i="1" dirty="0"/>
              <a:t>a</a:t>
            </a:r>
            <a:r>
              <a:rPr lang="en-US" altLang="zh-CN" dirty="0"/>
              <a:t>)</a:t>
            </a:r>
            <a:r>
              <a:rPr lang="en-US" altLang="zh-CN" i="1" dirty="0"/>
              <a:t> f</a:t>
            </a:r>
            <a:r>
              <a:rPr lang="en-US" altLang="zh-CN" dirty="0"/>
              <a:t>(</a:t>
            </a:r>
            <a:r>
              <a:rPr lang="en-US" altLang="zh-CN" i="1" dirty="0"/>
              <a:t>b</a:t>
            </a:r>
            <a:r>
              <a:rPr lang="en-US" altLang="zh-CN" dirty="0"/>
              <a:t>)&lt;0    </a:t>
            </a:r>
            <a:r>
              <a:rPr lang="zh-CN" altLang="en-US" dirty="0"/>
              <a:t>(2) </a:t>
            </a:r>
            <a:r>
              <a:rPr lang="en-US" altLang="zh-CN" i="1" dirty="0"/>
              <a:t>f’</a:t>
            </a:r>
            <a:r>
              <a:rPr lang="en-US" altLang="zh-CN" dirty="0"/>
              <a:t>(</a:t>
            </a:r>
            <a:r>
              <a:rPr lang="en-US" altLang="zh-CN" i="1" dirty="0"/>
              <a:t>x</a:t>
            </a:r>
            <a:r>
              <a:rPr lang="en-US" altLang="zh-CN" dirty="0"/>
              <a:t>)≠0  </a:t>
            </a:r>
            <a:r>
              <a:rPr lang="zh-CN" altLang="en-US" dirty="0"/>
              <a:t>(3) </a:t>
            </a:r>
            <a:r>
              <a:rPr lang="en-US" altLang="zh-CN" i="1" dirty="0"/>
              <a:t>f’’</a:t>
            </a:r>
            <a:r>
              <a:rPr lang="en-US" altLang="zh-CN" dirty="0"/>
              <a:t>(</a:t>
            </a:r>
            <a:r>
              <a:rPr lang="en-US" altLang="zh-CN" i="1" dirty="0"/>
              <a:t>x</a:t>
            </a:r>
            <a:r>
              <a:rPr lang="en-US" altLang="zh-CN" dirty="0"/>
              <a:t>)</a:t>
            </a:r>
            <a:r>
              <a:rPr lang="zh-CN" altLang="en-US" dirty="0"/>
              <a:t>不变号</a:t>
            </a:r>
          </a:p>
          <a:p>
            <a:pPr lvl="1">
              <a:lnSpc>
                <a:spcPct val="80000"/>
              </a:lnSpc>
              <a:spcBef>
                <a:spcPts val="1200"/>
              </a:spcBef>
            </a:pPr>
            <a:r>
              <a:rPr lang="zh-CN" altLang="en-US" dirty="0"/>
              <a:t> (4)不动点</a:t>
            </a:r>
            <a:r>
              <a:rPr lang="en-US" altLang="zh-CN" i="1" dirty="0"/>
              <a:t>x</a:t>
            </a:r>
            <a:r>
              <a:rPr lang="en-US" altLang="zh-CN" baseline="-25000" dirty="0"/>
              <a:t>0</a:t>
            </a:r>
            <a:r>
              <a:rPr lang="zh-CN" altLang="en-US" dirty="0"/>
              <a:t>满足</a:t>
            </a:r>
            <a:r>
              <a:rPr lang="en-US" altLang="zh-CN" i="1" dirty="0"/>
              <a:t>f</a:t>
            </a:r>
            <a:r>
              <a:rPr lang="en-US" altLang="zh-CN" dirty="0"/>
              <a:t>(</a:t>
            </a:r>
            <a:r>
              <a:rPr lang="en-US" altLang="zh-CN" i="1" dirty="0"/>
              <a:t>x</a:t>
            </a:r>
            <a:r>
              <a:rPr lang="en-US" altLang="zh-CN" baseline="-25000" dirty="0"/>
              <a:t>0</a:t>
            </a:r>
            <a:r>
              <a:rPr lang="en-US" altLang="zh-CN" dirty="0"/>
              <a:t>)</a:t>
            </a:r>
            <a:r>
              <a:rPr lang="en-US" altLang="zh-CN" i="1" dirty="0"/>
              <a:t>f’’</a:t>
            </a:r>
            <a:r>
              <a:rPr lang="en-US" altLang="zh-CN" dirty="0"/>
              <a:t>(</a:t>
            </a:r>
            <a:r>
              <a:rPr lang="en-US" altLang="zh-CN" i="1" dirty="0"/>
              <a:t>x</a:t>
            </a:r>
            <a:r>
              <a:rPr lang="en-US" altLang="zh-CN" baseline="-25000" dirty="0"/>
              <a:t>0</a:t>
            </a:r>
            <a:r>
              <a:rPr lang="en-US" altLang="zh-CN" dirty="0"/>
              <a:t>)&gt;0,</a:t>
            </a:r>
            <a:r>
              <a:rPr lang="en-US" altLang="zh-CN" i="1" dirty="0"/>
              <a:t>x</a:t>
            </a:r>
            <a:r>
              <a:rPr lang="en-US" altLang="zh-CN" baseline="-25000" dirty="0"/>
              <a:t>1</a:t>
            </a:r>
            <a:r>
              <a:rPr lang="zh-CN" altLang="en-US" dirty="0"/>
              <a:t>与</a:t>
            </a:r>
            <a:r>
              <a:rPr lang="en-US" altLang="zh-CN" i="1" dirty="0"/>
              <a:t>x</a:t>
            </a:r>
            <a:r>
              <a:rPr lang="en-US" altLang="zh-CN" baseline="-25000" dirty="0"/>
              <a:t>0</a:t>
            </a:r>
            <a:r>
              <a:rPr lang="zh-CN" altLang="en-US" dirty="0"/>
              <a:t>的函数值相异</a:t>
            </a:r>
          </a:p>
          <a:p>
            <a:pPr>
              <a:lnSpc>
                <a:spcPct val="80000"/>
              </a:lnSpc>
              <a:spcBef>
                <a:spcPts val="1200"/>
              </a:spcBef>
              <a:buFont typeface="Wingdings" pitchFamily="2" charset="2"/>
              <a:buNone/>
            </a:pPr>
            <a:r>
              <a:rPr lang="zh-CN" altLang="en-US" dirty="0"/>
              <a:t>	则</a:t>
            </a:r>
            <a:r>
              <a:rPr lang="zh-CN" altLang="en-US" dirty="0">
                <a:solidFill>
                  <a:srgbClr val="FF0000"/>
                </a:solidFill>
              </a:rPr>
              <a:t>单点弦截法</a:t>
            </a:r>
            <a:r>
              <a:rPr lang="zh-CN" altLang="en-US" dirty="0"/>
              <a:t>收敛</a:t>
            </a:r>
          </a:p>
          <a:p>
            <a:pPr>
              <a:lnSpc>
                <a:spcPct val="80000"/>
              </a:lnSpc>
              <a:spcBef>
                <a:spcPts val="1200"/>
              </a:spcBef>
            </a:pPr>
            <a:r>
              <a:rPr lang="zh-CN" altLang="en-US" dirty="0"/>
              <a:t>定理2.7  当</a:t>
            </a:r>
            <a:r>
              <a:rPr lang="en-US" altLang="zh-CN" i="1" dirty="0"/>
              <a:t>f(x)</a:t>
            </a:r>
            <a:r>
              <a:rPr lang="zh-CN" altLang="en-US" dirty="0"/>
              <a:t>在区间[</a:t>
            </a:r>
            <a:r>
              <a:rPr lang="en-US" altLang="zh-CN" dirty="0" err="1"/>
              <a:t>a,b</a:t>
            </a:r>
            <a:r>
              <a:rPr lang="en-US" altLang="zh-CN" dirty="0"/>
              <a:t>]</a:t>
            </a:r>
            <a:r>
              <a:rPr lang="zh-CN" altLang="en-US" dirty="0"/>
              <a:t>上有直至二阶的连续导数</a:t>
            </a:r>
            <a:r>
              <a:rPr lang="en-US" altLang="zh-CN" dirty="0"/>
              <a:t>,</a:t>
            </a:r>
            <a:r>
              <a:rPr lang="zh-CN" altLang="en-US" dirty="0"/>
              <a:t>且满足 </a:t>
            </a:r>
            <a:r>
              <a:rPr lang="en-US" altLang="zh-CN" i="1" dirty="0"/>
              <a:t>f(a) f(b)&lt;0</a:t>
            </a:r>
            <a:r>
              <a:rPr lang="zh-CN" altLang="en-US" dirty="0"/>
              <a:t>且</a:t>
            </a:r>
            <a:r>
              <a:rPr lang="en-US" altLang="zh-CN" i="1" dirty="0"/>
              <a:t>f ’(x</a:t>
            </a:r>
            <a:r>
              <a:rPr lang="en-US" altLang="zh-CN" dirty="0"/>
              <a:t>)≠0</a:t>
            </a:r>
            <a:r>
              <a:rPr lang="zh-CN" altLang="en-US" dirty="0"/>
              <a:t>时,</a:t>
            </a:r>
            <a:r>
              <a:rPr lang="zh-CN" altLang="en-US" dirty="0">
                <a:solidFill>
                  <a:srgbClr val="FF0000"/>
                </a:solidFill>
              </a:rPr>
              <a:t>双点弦截法</a:t>
            </a:r>
            <a:r>
              <a:rPr lang="zh-CN" altLang="en-US" dirty="0"/>
              <a:t>对任意</a:t>
            </a:r>
            <a:r>
              <a:rPr lang="en-US" altLang="zh-CN" i="1" dirty="0"/>
              <a:t>x</a:t>
            </a:r>
            <a:r>
              <a:rPr lang="en-US" altLang="zh-CN" i="1" baseline="-25000" dirty="0"/>
              <a:t>0</a:t>
            </a:r>
            <a:r>
              <a:rPr lang="en-US" altLang="zh-CN" dirty="0">
                <a:latin typeface="宋体" pitchFamily="2" charset="-122"/>
                <a:sym typeface="Symbol" pitchFamily="18" charset="2"/>
              </a:rPr>
              <a:t>,</a:t>
            </a:r>
            <a:r>
              <a:rPr lang="en-US" altLang="zh-CN" i="1" dirty="0"/>
              <a:t>x</a:t>
            </a:r>
            <a:r>
              <a:rPr lang="en-US" altLang="zh-CN" i="1" baseline="-25000" dirty="0"/>
              <a:t>1</a:t>
            </a:r>
            <a:r>
              <a:rPr lang="en-US" altLang="zh-CN" dirty="0">
                <a:sym typeface="Symbol" pitchFamily="18" charset="2"/>
              </a:rPr>
              <a:t>∈</a:t>
            </a:r>
            <a:r>
              <a:rPr lang="zh-CN" altLang="en-US" dirty="0"/>
              <a:t>[</a:t>
            </a:r>
            <a:r>
              <a:rPr lang="en-US" altLang="zh-CN" dirty="0" err="1"/>
              <a:t>a,b</a:t>
            </a:r>
            <a:r>
              <a:rPr lang="en-US" altLang="zh-CN" dirty="0"/>
              <a:t>] </a:t>
            </a:r>
            <a:r>
              <a:rPr lang="zh-CN" altLang="en-US" dirty="0"/>
              <a:t>都收敛</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4453BE0B-943F-4768-A5F2-877FC2FA3301}" type="slidenum">
              <a:rPr lang="zh-CN" altLang="en-US"/>
              <a:pPr/>
              <a:t>22</a:t>
            </a:fld>
            <a:endParaRPr lang="en-US" altLang="zh-CN"/>
          </a:p>
        </p:txBody>
      </p:sp>
      <p:sp>
        <p:nvSpPr>
          <p:cNvPr id="5" name="日期占位符 4"/>
          <p:cNvSpPr>
            <a:spLocks noGrp="1"/>
          </p:cNvSpPr>
          <p:nvPr>
            <p:ph type="dt" sz="half" idx="11"/>
          </p:nvPr>
        </p:nvSpPr>
        <p:spPr/>
        <p:txBody>
          <a:bodyPr/>
          <a:lstStyle/>
          <a:p>
            <a:fld id="{CBA0A50D-0248-4EC2-806B-C1A5FAAB6339}" type="datetime1">
              <a:rPr lang="zh-CN" altLang="en-US"/>
              <a:pPr/>
              <a:t>2024/11/18</a:t>
            </a:fld>
            <a:endParaRPr lang="en-US" altLang="zh-CN" sz="1000"/>
          </a:p>
        </p:txBody>
      </p:sp>
      <p:sp>
        <p:nvSpPr>
          <p:cNvPr id="805890" name="Rectangle 2"/>
          <p:cNvSpPr>
            <a:spLocks noGrp="1" noChangeArrowheads="1"/>
          </p:cNvSpPr>
          <p:nvPr>
            <p:ph type="title"/>
          </p:nvPr>
        </p:nvSpPr>
        <p:spPr/>
        <p:txBody>
          <a:bodyPr/>
          <a:lstStyle/>
          <a:p>
            <a:r>
              <a:rPr lang="zh-CN" altLang="en-US"/>
              <a:t>第三章 解线性方程组的直接法</a:t>
            </a:r>
          </a:p>
        </p:txBody>
      </p:sp>
      <p:sp>
        <p:nvSpPr>
          <p:cNvPr id="805891" name="Rectangle 3"/>
          <p:cNvSpPr>
            <a:spLocks noGrp="1" noChangeArrowheads="1"/>
          </p:cNvSpPr>
          <p:nvPr>
            <p:ph type="body" idx="1"/>
          </p:nvPr>
        </p:nvSpPr>
        <p:spPr>
          <a:xfrm>
            <a:off x="650875" y="1143000"/>
            <a:ext cx="8820150" cy="4117975"/>
          </a:xfrm>
        </p:spPr>
        <p:txBody>
          <a:bodyPr/>
          <a:lstStyle/>
          <a:p>
            <a:r>
              <a:rPr lang="en-US" altLang="zh-CN" dirty="0"/>
              <a:t>§1</a:t>
            </a:r>
            <a:r>
              <a:rPr lang="zh-CN" altLang="en-US" dirty="0"/>
              <a:t>消元法</a:t>
            </a:r>
          </a:p>
          <a:p>
            <a:pPr lvl="1"/>
            <a:r>
              <a:rPr lang="zh-CN" altLang="en-US" dirty="0"/>
              <a:t>消元法的描述</a:t>
            </a:r>
          </a:p>
          <a:p>
            <a:pPr lvl="2"/>
            <a:r>
              <a:rPr lang="zh-CN" altLang="en-US" dirty="0"/>
              <a:t>高斯消元法、克劳特消元法</a:t>
            </a:r>
          </a:p>
          <a:p>
            <a:pPr lvl="2"/>
            <a:r>
              <a:rPr lang="zh-CN" altLang="en-US" dirty="0"/>
              <a:t>平方根法、追赶法</a:t>
            </a:r>
          </a:p>
          <a:p>
            <a:pPr lvl="1"/>
            <a:r>
              <a:rPr lang="zh-CN" altLang="en-US" dirty="0"/>
              <a:t>消元法的应用条件</a:t>
            </a:r>
          </a:p>
          <a:p>
            <a:r>
              <a:rPr lang="en-US" altLang="zh-CN" dirty="0"/>
              <a:t>§2 </a:t>
            </a:r>
            <a:r>
              <a:rPr lang="zh-CN" altLang="en-US" dirty="0"/>
              <a:t>选主元的高斯消元法</a:t>
            </a:r>
          </a:p>
          <a:p>
            <a:pPr lvl="1"/>
            <a:r>
              <a:rPr lang="zh-CN" altLang="en-US" dirty="0"/>
              <a:t>列主元素法</a:t>
            </a:r>
          </a:p>
          <a:p>
            <a:pPr lvl="1"/>
            <a:r>
              <a:rPr lang="zh-CN" altLang="en-US" dirty="0"/>
              <a:t>全主元素法</a:t>
            </a:r>
          </a:p>
        </p:txBody>
      </p:sp>
    </p:spTree>
    <p:extLst>
      <p:ext uri="{BB962C8B-B14F-4D97-AF65-F5344CB8AC3E}">
        <p14:creationId xmlns:p14="http://schemas.microsoft.com/office/powerpoint/2010/main" val="1157621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B34FE8B0-845E-4E84-969B-79BCCB3788C3}" type="slidenum">
              <a:rPr lang="zh-CN" altLang="en-US"/>
              <a:pPr/>
              <a:t>23</a:t>
            </a:fld>
            <a:endParaRPr lang="en-US" altLang="zh-CN"/>
          </a:p>
        </p:txBody>
      </p:sp>
      <p:sp>
        <p:nvSpPr>
          <p:cNvPr id="5" name="日期占位符 4"/>
          <p:cNvSpPr>
            <a:spLocks noGrp="1"/>
          </p:cNvSpPr>
          <p:nvPr>
            <p:ph type="dt" sz="half" idx="11"/>
          </p:nvPr>
        </p:nvSpPr>
        <p:spPr/>
        <p:txBody>
          <a:bodyPr/>
          <a:lstStyle/>
          <a:p>
            <a:fld id="{096CF2DD-F5EB-47E6-8A7B-112D6CE89AA0}" type="datetime1">
              <a:rPr lang="zh-CN" altLang="en-US"/>
              <a:pPr/>
              <a:t>2024/11/18</a:t>
            </a:fld>
            <a:endParaRPr lang="en-US" altLang="zh-CN" sz="1000"/>
          </a:p>
        </p:txBody>
      </p:sp>
      <p:sp>
        <p:nvSpPr>
          <p:cNvPr id="953346" name="Rectangle 2"/>
          <p:cNvSpPr>
            <a:spLocks noGrp="1" noChangeArrowheads="1"/>
          </p:cNvSpPr>
          <p:nvPr>
            <p:ph type="title"/>
          </p:nvPr>
        </p:nvSpPr>
        <p:spPr/>
        <p:txBody>
          <a:bodyPr/>
          <a:lstStyle/>
          <a:p>
            <a:r>
              <a:rPr lang="zh-CN" altLang="en-US"/>
              <a:t>1  消元法</a:t>
            </a:r>
          </a:p>
        </p:txBody>
      </p:sp>
      <p:sp>
        <p:nvSpPr>
          <p:cNvPr id="953358" name="Rectangle 14"/>
          <p:cNvSpPr>
            <a:spLocks noGrp="1" noChangeArrowheads="1"/>
          </p:cNvSpPr>
          <p:nvPr>
            <p:ph type="body" idx="1"/>
          </p:nvPr>
        </p:nvSpPr>
        <p:spPr>
          <a:xfrm>
            <a:off x="660400" y="1209675"/>
            <a:ext cx="8596313" cy="2752725"/>
          </a:xfrm>
          <a:noFill/>
          <a:ln/>
        </p:spPr>
        <p:txBody>
          <a:bodyPr/>
          <a:lstStyle/>
          <a:p>
            <a:r>
              <a:rPr lang="zh-CN" altLang="en-US"/>
              <a:t>思路:  </a:t>
            </a:r>
          </a:p>
          <a:p>
            <a:pPr lvl="1"/>
            <a:r>
              <a:rPr lang="zh-CN" altLang="en-US"/>
              <a:t>通过组合方程的方法实现逐步消元,达到将原方程组化为三角形方程组的目的,</a:t>
            </a:r>
          </a:p>
          <a:p>
            <a:pPr lvl="1"/>
            <a:r>
              <a:rPr lang="zh-CN" altLang="en-US"/>
              <a:t>然后用回代法解此三角形方程组即可获得原方程组的解.</a:t>
            </a:r>
          </a:p>
          <a:p>
            <a:r>
              <a:rPr lang="zh-CN" altLang="en-US"/>
              <a:t>在不考虑舍入误差的情况下，可以求得精确解。</a:t>
            </a:r>
          </a:p>
        </p:txBody>
      </p:sp>
    </p:spTree>
    <p:extLst>
      <p:ext uri="{BB962C8B-B14F-4D97-AF65-F5344CB8AC3E}">
        <p14:creationId xmlns:p14="http://schemas.microsoft.com/office/powerpoint/2010/main" val="119532423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
          <p:cNvSpPr>
            <a:spLocks noGrp="1"/>
          </p:cNvSpPr>
          <p:nvPr>
            <p:ph type="sldNum" sz="quarter" idx="10"/>
          </p:nvPr>
        </p:nvSpPr>
        <p:spPr/>
        <p:txBody>
          <a:bodyPr/>
          <a:lstStyle/>
          <a:p>
            <a:fld id="{E72CC29A-4E51-454B-91A5-7174706FB82B}" type="slidenum">
              <a:rPr lang="zh-CN" altLang="en-US"/>
              <a:pPr/>
              <a:t>24</a:t>
            </a:fld>
            <a:endParaRPr lang="en-US" altLang="zh-CN"/>
          </a:p>
        </p:txBody>
      </p:sp>
      <p:sp>
        <p:nvSpPr>
          <p:cNvPr id="36" name="日期占位符 4"/>
          <p:cNvSpPr>
            <a:spLocks noGrp="1"/>
          </p:cNvSpPr>
          <p:nvPr>
            <p:ph type="dt" sz="half" idx="11"/>
          </p:nvPr>
        </p:nvSpPr>
        <p:spPr/>
        <p:txBody>
          <a:bodyPr/>
          <a:lstStyle/>
          <a:p>
            <a:fld id="{40416C60-6F43-40A3-AAC1-353C7BE82116}" type="datetime1">
              <a:rPr lang="zh-CN" altLang="en-US"/>
              <a:pPr/>
              <a:t>2024/11/18</a:t>
            </a:fld>
            <a:endParaRPr lang="en-US" altLang="zh-CN" sz="1000"/>
          </a:p>
        </p:txBody>
      </p:sp>
      <p:sp>
        <p:nvSpPr>
          <p:cNvPr id="806914" name="Rectangle 2"/>
          <p:cNvSpPr>
            <a:spLocks noGrp="1" noChangeArrowheads="1"/>
          </p:cNvSpPr>
          <p:nvPr>
            <p:ph type="title"/>
          </p:nvPr>
        </p:nvSpPr>
        <p:spPr/>
        <p:txBody>
          <a:bodyPr/>
          <a:lstStyle/>
          <a:p>
            <a:r>
              <a:rPr lang="zh-CN" altLang="en-US"/>
              <a:t>消元法综述</a:t>
            </a:r>
          </a:p>
        </p:txBody>
      </p:sp>
      <p:graphicFrame>
        <p:nvGraphicFramePr>
          <p:cNvPr id="806915" name="Object 3"/>
          <p:cNvGraphicFramePr>
            <a:graphicFrameLocks noChangeAspect="1"/>
          </p:cNvGraphicFramePr>
          <p:nvPr/>
        </p:nvGraphicFramePr>
        <p:xfrm>
          <a:off x="742950" y="1447800"/>
          <a:ext cx="1477963" cy="1597025"/>
        </p:xfrm>
        <a:graphic>
          <a:graphicData uri="http://schemas.openxmlformats.org/presentationml/2006/ole">
            <mc:AlternateContent xmlns:mc="http://schemas.openxmlformats.org/markup-compatibility/2006">
              <mc:Choice xmlns:v="urn:schemas-microsoft-com:vml" Requires="v">
                <p:oleObj name="Equation" r:id="rId4" imgW="609480" imgH="685800" progId="Equation.3">
                  <p:embed/>
                </p:oleObj>
              </mc:Choice>
              <mc:Fallback>
                <p:oleObj name="Equation" r:id="rId4" imgW="609480" imgH="685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50" y="1447800"/>
                        <a:ext cx="1477963"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6" name="Object 4"/>
          <p:cNvGraphicFramePr>
            <a:graphicFrameLocks noChangeAspect="1"/>
          </p:cNvGraphicFramePr>
          <p:nvPr/>
        </p:nvGraphicFramePr>
        <p:xfrm>
          <a:off x="2889250" y="1905000"/>
          <a:ext cx="1508125" cy="1035050"/>
        </p:xfrm>
        <a:graphic>
          <a:graphicData uri="http://schemas.openxmlformats.org/presentationml/2006/ole">
            <mc:AlternateContent xmlns:mc="http://schemas.openxmlformats.org/markup-compatibility/2006">
              <mc:Choice xmlns:v="urn:schemas-microsoft-com:vml" Requires="v">
                <p:oleObj name="Equation" r:id="rId6" imgW="622080" imgH="444240" progId="Equation.3">
                  <p:embed/>
                </p:oleObj>
              </mc:Choice>
              <mc:Fallback>
                <p:oleObj name="Equation" r:id="rId6" imgW="622080" imgH="4442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9250" y="1905000"/>
                        <a:ext cx="150812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7" name="Object 5"/>
          <p:cNvGraphicFramePr>
            <a:graphicFrameLocks noChangeAspect="1"/>
          </p:cNvGraphicFramePr>
          <p:nvPr/>
        </p:nvGraphicFramePr>
        <p:xfrm>
          <a:off x="6191250" y="1981200"/>
          <a:ext cx="1508125" cy="1035050"/>
        </p:xfrm>
        <a:graphic>
          <a:graphicData uri="http://schemas.openxmlformats.org/presentationml/2006/ole">
            <mc:AlternateContent xmlns:mc="http://schemas.openxmlformats.org/markup-compatibility/2006">
              <mc:Choice xmlns:v="urn:schemas-microsoft-com:vml" Requires="v">
                <p:oleObj name="Equation" r:id="rId8" imgW="622080" imgH="444240" progId="Equation.3">
                  <p:embed/>
                </p:oleObj>
              </mc:Choice>
              <mc:Fallback>
                <p:oleObj name="Equation" r:id="rId8" imgW="62208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91250" y="1981200"/>
                        <a:ext cx="150812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8" name="Object 6"/>
          <p:cNvGraphicFramePr>
            <a:graphicFrameLocks noChangeAspect="1"/>
          </p:cNvGraphicFramePr>
          <p:nvPr/>
        </p:nvGraphicFramePr>
        <p:xfrm>
          <a:off x="577850" y="3276600"/>
          <a:ext cx="1416050" cy="1035050"/>
        </p:xfrm>
        <a:graphic>
          <a:graphicData uri="http://schemas.openxmlformats.org/presentationml/2006/ole">
            <mc:AlternateContent xmlns:mc="http://schemas.openxmlformats.org/markup-compatibility/2006">
              <mc:Choice xmlns:v="urn:schemas-microsoft-com:vml" Requires="v">
                <p:oleObj name="Equation" r:id="rId10" imgW="583920" imgH="444240" progId="Equation.3">
                  <p:embed/>
                </p:oleObj>
              </mc:Choice>
              <mc:Fallback>
                <p:oleObj name="Equation" r:id="rId10" imgW="583920" imgH="4442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7850" y="3276600"/>
                        <a:ext cx="141605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19" name="Object 7"/>
          <p:cNvGraphicFramePr>
            <a:graphicFrameLocks noChangeAspect="1"/>
          </p:cNvGraphicFramePr>
          <p:nvPr/>
        </p:nvGraphicFramePr>
        <p:xfrm>
          <a:off x="660400" y="4572000"/>
          <a:ext cx="1416050" cy="1035050"/>
        </p:xfrm>
        <a:graphic>
          <a:graphicData uri="http://schemas.openxmlformats.org/presentationml/2006/ole">
            <mc:AlternateContent xmlns:mc="http://schemas.openxmlformats.org/markup-compatibility/2006">
              <mc:Choice xmlns:v="urn:schemas-microsoft-com:vml" Requires="v">
                <p:oleObj name="Equation" r:id="rId12" imgW="583920" imgH="444240" progId="Equation.3">
                  <p:embed/>
                </p:oleObj>
              </mc:Choice>
              <mc:Fallback>
                <p:oleObj name="Equation" r:id="rId12" imgW="583920" imgH="4442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0400" y="4572000"/>
                        <a:ext cx="141605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0" name="Object 8"/>
          <p:cNvGraphicFramePr>
            <a:graphicFrameLocks noChangeAspect="1"/>
          </p:cNvGraphicFramePr>
          <p:nvPr/>
        </p:nvGraphicFramePr>
        <p:xfrm>
          <a:off x="2889250" y="2990850"/>
          <a:ext cx="2708275" cy="1597025"/>
        </p:xfrm>
        <a:graphic>
          <a:graphicData uri="http://schemas.openxmlformats.org/presentationml/2006/ole">
            <mc:AlternateContent xmlns:mc="http://schemas.openxmlformats.org/markup-compatibility/2006">
              <mc:Choice xmlns:v="urn:schemas-microsoft-com:vml" Requires="v">
                <p:oleObj name="Equation" r:id="rId14" imgW="1117440" imgH="685800" progId="Equation.3">
                  <p:embed/>
                </p:oleObj>
              </mc:Choice>
              <mc:Fallback>
                <p:oleObj name="Equation" r:id="rId14" imgW="1117440" imgH="6858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9250" y="2990850"/>
                        <a:ext cx="2708275"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1" name="Object 9"/>
          <p:cNvGraphicFramePr>
            <a:graphicFrameLocks noChangeAspect="1"/>
          </p:cNvGraphicFramePr>
          <p:nvPr/>
        </p:nvGraphicFramePr>
        <p:xfrm>
          <a:off x="6207125" y="3232150"/>
          <a:ext cx="2708275" cy="1035050"/>
        </p:xfrm>
        <a:graphic>
          <a:graphicData uri="http://schemas.openxmlformats.org/presentationml/2006/ole">
            <mc:AlternateContent xmlns:mc="http://schemas.openxmlformats.org/markup-compatibility/2006">
              <mc:Choice xmlns:v="urn:schemas-microsoft-com:vml" Requires="v">
                <p:oleObj name="Equation" r:id="rId16" imgW="1117440" imgH="444240" progId="Equation.3">
                  <p:embed/>
                </p:oleObj>
              </mc:Choice>
              <mc:Fallback>
                <p:oleObj name="Equation" r:id="rId16" imgW="1117440" imgH="44424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07125" y="3232150"/>
                        <a:ext cx="270827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2" name="Object 10"/>
          <p:cNvGraphicFramePr>
            <a:graphicFrameLocks noChangeAspect="1"/>
          </p:cNvGraphicFramePr>
          <p:nvPr/>
        </p:nvGraphicFramePr>
        <p:xfrm>
          <a:off x="2889250" y="4527550"/>
          <a:ext cx="2646363" cy="1035050"/>
        </p:xfrm>
        <a:graphic>
          <a:graphicData uri="http://schemas.openxmlformats.org/presentationml/2006/ole">
            <mc:AlternateContent xmlns:mc="http://schemas.openxmlformats.org/markup-compatibility/2006">
              <mc:Choice xmlns:v="urn:schemas-microsoft-com:vml" Requires="v">
                <p:oleObj name="Equation" r:id="rId18" imgW="1091880" imgH="444240" progId="Equation.3">
                  <p:embed/>
                </p:oleObj>
              </mc:Choice>
              <mc:Fallback>
                <p:oleObj name="Equation" r:id="rId18" imgW="1091880" imgH="44424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89250" y="4527550"/>
                        <a:ext cx="2646363"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23" name="Object 11"/>
          <p:cNvGraphicFramePr>
            <a:graphicFrameLocks noChangeAspect="1"/>
          </p:cNvGraphicFramePr>
          <p:nvPr/>
        </p:nvGraphicFramePr>
        <p:xfrm>
          <a:off x="5719763" y="4498975"/>
          <a:ext cx="3938587" cy="1597025"/>
        </p:xfrm>
        <a:graphic>
          <a:graphicData uri="http://schemas.openxmlformats.org/presentationml/2006/ole">
            <mc:AlternateContent xmlns:mc="http://schemas.openxmlformats.org/markup-compatibility/2006">
              <mc:Choice xmlns:v="urn:schemas-microsoft-com:vml" Requires="v">
                <p:oleObj name="Equation" r:id="rId20" imgW="1625400" imgH="685800" progId="Equation.3">
                  <p:embed/>
                </p:oleObj>
              </mc:Choice>
              <mc:Fallback>
                <p:oleObj name="Equation" r:id="rId20" imgW="1625400" imgH="6858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19763" y="4498975"/>
                        <a:ext cx="3938587"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6953" name="Group 41"/>
          <p:cNvGraphicFramePr>
            <a:graphicFrameLocks noGrp="1"/>
          </p:cNvGraphicFramePr>
          <p:nvPr/>
        </p:nvGraphicFramePr>
        <p:xfrm>
          <a:off x="330200" y="1524000"/>
          <a:ext cx="9245600" cy="4572000"/>
        </p:xfrm>
        <a:graphic>
          <a:graphicData uri="http://schemas.openxmlformats.org/drawingml/2006/table">
            <a:tbl>
              <a:tblPr/>
              <a:tblGrid>
                <a:gridCol w="2311400">
                  <a:extLst>
                    <a:ext uri="{9D8B030D-6E8A-4147-A177-3AD203B41FA5}">
                      <a16:colId xmlns:a16="http://schemas.microsoft.com/office/drawing/2014/main" val="20000"/>
                    </a:ext>
                  </a:extLst>
                </a:gridCol>
                <a:gridCol w="3054350">
                  <a:extLst>
                    <a:ext uri="{9D8B030D-6E8A-4147-A177-3AD203B41FA5}">
                      <a16:colId xmlns:a16="http://schemas.microsoft.com/office/drawing/2014/main" val="20001"/>
                    </a:ext>
                  </a:extLst>
                </a:gridCol>
                <a:gridCol w="3879850">
                  <a:extLst>
                    <a:ext uri="{9D8B030D-6E8A-4147-A177-3AD203B41FA5}">
                      <a16:colId xmlns:a16="http://schemas.microsoft.com/office/drawing/2014/main" val="20002"/>
                    </a:ext>
                  </a:extLst>
                </a:gridCol>
              </a:tblGrid>
              <a:tr h="15240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40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06942" name="AutoShape 30"/>
          <p:cNvSpPr>
            <a:spLocks noChangeArrowheads="1"/>
          </p:cNvSpPr>
          <p:nvPr/>
        </p:nvSpPr>
        <p:spPr bwMode="auto">
          <a:xfrm>
            <a:off x="1524000" y="1905000"/>
            <a:ext cx="7804150" cy="914400"/>
          </a:xfrm>
          <a:prstGeom prst="rightArrow">
            <a:avLst>
              <a:gd name="adj1" fmla="val 50000"/>
              <a:gd name="adj2" fmla="val 132525"/>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3" name="AutoShape 31"/>
          <p:cNvSpPr>
            <a:spLocks noChangeArrowheads="1"/>
          </p:cNvSpPr>
          <p:nvPr/>
        </p:nvSpPr>
        <p:spPr bwMode="auto">
          <a:xfrm>
            <a:off x="1217613" y="3352800"/>
            <a:ext cx="1068387" cy="2743200"/>
          </a:xfrm>
          <a:prstGeom prst="downArrow">
            <a:avLst>
              <a:gd name="adj1" fmla="val 50000"/>
              <a:gd name="adj2" fmla="val 64190"/>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4" name="AutoShape 32"/>
          <p:cNvSpPr>
            <a:spLocks noChangeArrowheads="1"/>
          </p:cNvSpPr>
          <p:nvPr/>
        </p:nvSpPr>
        <p:spPr bwMode="auto">
          <a:xfrm>
            <a:off x="3198813" y="3276600"/>
            <a:ext cx="6129337" cy="914400"/>
          </a:xfrm>
          <a:prstGeom prst="rightArrow">
            <a:avLst>
              <a:gd name="adj1" fmla="val 45833"/>
              <a:gd name="adj2" fmla="val 133597"/>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5" name="AutoShape 33"/>
          <p:cNvSpPr>
            <a:spLocks noChangeArrowheads="1"/>
          </p:cNvSpPr>
          <p:nvPr/>
        </p:nvSpPr>
        <p:spPr bwMode="auto">
          <a:xfrm>
            <a:off x="3054350" y="4724400"/>
            <a:ext cx="1066800" cy="1295400"/>
          </a:xfrm>
          <a:prstGeom prst="downArrow">
            <a:avLst>
              <a:gd name="adj1" fmla="val 50000"/>
              <a:gd name="adj2" fmla="val 51787"/>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6946" name="AutoShape 34"/>
          <p:cNvSpPr>
            <a:spLocks noChangeArrowheads="1"/>
          </p:cNvSpPr>
          <p:nvPr/>
        </p:nvSpPr>
        <p:spPr bwMode="auto">
          <a:xfrm>
            <a:off x="5867400" y="4724400"/>
            <a:ext cx="3378200" cy="914400"/>
          </a:xfrm>
          <a:prstGeom prst="rightArrow">
            <a:avLst>
              <a:gd name="adj1" fmla="val 45833"/>
              <a:gd name="adj2" fmla="val 111210"/>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ustDataLst>
      <p:tags r:id="rId1"/>
    </p:custDataLst>
    <p:extLst>
      <p:ext uri="{BB962C8B-B14F-4D97-AF65-F5344CB8AC3E}">
        <p14:creationId xmlns:p14="http://schemas.microsoft.com/office/powerpoint/2010/main" val="27800963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806942"/>
                                        </p:tgtEl>
                                        <p:attrNameLst>
                                          <p:attrName>style.visibility</p:attrName>
                                        </p:attrNameLst>
                                      </p:cBhvr>
                                      <p:to>
                                        <p:strVal val="visible"/>
                                      </p:to>
                                    </p:set>
                                    <p:anim calcmode="lin" valueType="num">
                                      <p:cBhvr>
                                        <p:cTn id="7" dur="500" fill="hold"/>
                                        <p:tgtEl>
                                          <p:spTgt spid="806942"/>
                                        </p:tgtEl>
                                        <p:attrNameLst>
                                          <p:attrName>ppt_x</p:attrName>
                                        </p:attrNameLst>
                                      </p:cBhvr>
                                      <p:tavLst>
                                        <p:tav tm="0">
                                          <p:val>
                                            <p:strVal val="#ppt_x-#ppt_w/2"/>
                                          </p:val>
                                        </p:tav>
                                        <p:tav tm="100000">
                                          <p:val>
                                            <p:strVal val="#ppt_x"/>
                                          </p:val>
                                        </p:tav>
                                      </p:tavLst>
                                    </p:anim>
                                    <p:anim calcmode="lin" valueType="num">
                                      <p:cBhvr>
                                        <p:cTn id="8" dur="500" fill="hold"/>
                                        <p:tgtEl>
                                          <p:spTgt spid="806942"/>
                                        </p:tgtEl>
                                        <p:attrNameLst>
                                          <p:attrName>ppt_y</p:attrName>
                                        </p:attrNameLst>
                                      </p:cBhvr>
                                      <p:tavLst>
                                        <p:tav tm="0">
                                          <p:val>
                                            <p:strVal val="#ppt_y"/>
                                          </p:val>
                                        </p:tav>
                                        <p:tav tm="100000">
                                          <p:val>
                                            <p:strVal val="#ppt_y"/>
                                          </p:val>
                                        </p:tav>
                                      </p:tavLst>
                                    </p:anim>
                                    <p:anim calcmode="lin" valueType="num">
                                      <p:cBhvr>
                                        <p:cTn id="9" dur="500" fill="hold"/>
                                        <p:tgtEl>
                                          <p:spTgt spid="806942"/>
                                        </p:tgtEl>
                                        <p:attrNameLst>
                                          <p:attrName>ppt_w</p:attrName>
                                        </p:attrNameLst>
                                      </p:cBhvr>
                                      <p:tavLst>
                                        <p:tav tm="0">
                                          <p:val>
                                            <p:fltVal val="0"/>
                                          </p:val>
                                        </p:tav>
                                        <p:tav tm="100000">
                                          <p:val>
                                            <p:strVal val="#ppt_w"/>
                                          </p:val>
                                        </p:tav>
                                      </p:tavLst>
                                    </p:anim>
                                    <p:anim calcmode="lin" valueType="num">
                                      <p:cBhvr>
                                        <p:cTn id="10" dur="500" fill="hold"/>
                                        <p:tgtEl>
                                          <p:spTgt spid="806942"/>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1" fill="hold" grpId="0" nodeType="afterEffect">
                                  <p:stCondLst>
                                    <p:cond delay="2000"/>
                                  </p:stCondLst>
                                  <p:childTnLst>
                                    <p:set>
                                      <p:cBhvr>
                                        <p:cTn id="13" dur="1" fill="hold">
                                          <p:stCondLst>
                                            <p:cond delay="0"/>
                                          </p:stCondLst>
                                        </p:cTn>
                                        <p:tgtEl>
                                          <p:spTgt spid="806943"/>
                                        </p:tgtEl>
                                        <p:attrNameLst>
                                          <p:attrName>style.visibility</p:attrName>
                                        </p:attrNameLst>
                                      </p:cBhvr>
                                      <p:to>
                                        <p:strVal val="visible"/>
                                      </p:to>
                                    </p:set>
                                    <p:anim calcmode="lin" valueType="num">
                                      <p:cBhvr>
                                        <p:cTn id="14" dur="500" fill="hold"/>
                                        <p:tgtEl>
                                          <p:spTgt spid="806943"/>
                                        </p:tgtEl>
                                        <p:attrNameLst>
                                          <p:attrName>ppt_x</p:attrName>
                                        </p:attrNameLst>
                                      </p:cBhvr>
                                      <p:tavLst>
                                        <p:tav tm="0">
                                          <p:val>
                                            <p:strVal val="#ppt_x"/>
                                          </p:val>
                                        </p:tav>
                                        <p:tav tm="100000">
                                          <p:val>
                                            <p:strVal val="#ppt_x"/>
                                          </p:val>
                                        </p:tav>
                                      </p:tavLst>
                                    </p:anim>
                                    <p:anim calcmode="lin" valueType="num">
                                      <p:cBhvr>
                                        <p:cTn id="15" dur="500" fill="hold"/>
                                        <p:tgtEl>
                                          <p:spTgt spid="806943"/>
                                        </p:tgtEl>
                                        <p:attrNameLst>
                                          <p:attrName>ppt_y</p:attrName>
                                        </p:attrNameLst>
                                      </p:cBhvr>
                                      <p:tavLst>
                                        <p:tav tm="0">
                                          <p:val>
                                            <p:strVal val="#ppt_y-#ppt_h/2"/>
                                          </p:val>
                                        </p:tav>
                                        <p:tav tm="100000">
                                          <p:val>
                                            <p:strVal val="#ppt_y"/>
                                          </p:val>
                                        </p:tav>
                                      </p:tavLst>
                                    </p:anim>
                                    <p:anim calcmode="lin" valueType="num">
                                      <p:cBhvr>
                                        <p:cTn id="16" dur="500" fill="hold"/>
                                        <p:tgtEl>
                                          <p:spTgt spid="806943"/>
                                        </p:tgtEl>
                                        <p:attrNameLst>
                                          <p:attrName>ppt_w</p:attrName>
                                        </p:attrNameLst>
                                      </p:cBhvr>
                                      <p:tavLst>
                                        <p:tav tm="0">
                                          <p:val>
                                            <p:strVal val="#ppt_w"/>
                                          </p:val>
                                        </p:tav>
                                        <p:tav tm="100000">
                                          <p:val>
                                            <p:strVal val="#ppt_w"/>
                                          </p:val>
                                        </p:tav>
                                      </p:tavLst>
                                    </p:anim>
                                    <p:anim calcmode="lin" valueType="num">
                                      <p:cBhvr>
                                        <p:cTn id="17" dur="500" fill="hold"/>
                                        <p:tgtEl>
                                          <p:spTgt spid="806943"/>
                                        </p:tgtEl>
                                        <p:attrNameLst>
                                          <p:attrName>ppt_h</p:attrName>
                                        </p:attrNameLst>
                                      </p:cBhvr>
                                      <p:tavLst>
                                        <p:tav tm="0">
                                          <p:val>
                                            <p:fltVal val="0"/>
                                          </p:val>
                                        </p:tav>
                                        <p:tav tm="100000">
                                          <p:val>
                                            <p:strVal val="#ppt_h"/>
                                          </p:val>
                                        </p:tav>
                                      </p:tavLst>
                                    </p:anim>
                                  </p:childTnLst>
                                </p:cTn>
                              </p:par>
                            </p:childTnLst>
                          </p:cTn>
                        </p:par>
                        <p:par>
                          <p:cTn id="18" fill="hold" nodeType="afterGroup">
                            <p:stCondLst>
                              <p:cond delay="3000"/>
                            </p:stCondLst>
                            <p:childTnLst>
                              <p:par>
                                <p:cTn id="19" presetID="17" presetClass="entr" presetSubtype="8" fill="hold" grpId="0" nodeType="afterEffect">
                                  <p:stCondLst>
                                    <p:cond delay="2000"/>
                                  </p:stCondLst>
                                  <p:childTnLst>
                                    <p:set>
                                      <p:cBhvr>
                                        <p:cTn id="20" dur="1" fill="hold">
                                          <p:stCondLst>
                                            <p:cond delay="0"/>
                                          </p:stCondLst>
                                        </p:cTn>
                                        <p:tgtEl>
                                          <p:spTgt spid="806944"/>
                                        </p:tgtEl>
                                        <p:attrNameLst>
                                          <p:attrName>style.visibility</p:attrName>
                                        </p:attrNameLst>
                                      </p:cBhvr>
                                      <p:to>
                                        <p:strVal val="visible"/>
                                      </p:to>
                                    </p:set>
                                    <p:anim calcmode="lin" valueType="num">
                                      <p:cBhvr>
                                        <p:cTn id="21" dur="500" fill="hold"/>
                                        <p:tgtEl>
                                          <p:spTgt spid="806944"/>
                                        </p:tgtEl>
                                        <p:attrNameLst>
                                          <p:attrName>ppt_x</p:attrName>
                                        </p:attrNameLst>
                                      </p:cBhvr>
                                      <p:tavLst>
                                        <p:tav tm="0">
                                          <p:val>
                                            <p:strVal val="#ppt_x-#ppt_w/2"/>
                                          </p:val>
                                        </p:tav>
                                        <p:tav tm="100000">
                                          <p:val>
                                            <p:strVal val="#ppt_x"/>
                                          </p:val>
                                        </p:tav>
                                      </p:tavLst>
                                    </p:anim>
                                    <p:anim calcmode="lin" valueType="num">
                                      <p:cBhvr>
                                        <p:cTn id="22" dur="500" fill="hold"/>
                                        <p:tgtEl>
                                          <p:spTgt spid="806944"/>
                                        </p:tgtEl>
                                        <p:attrNameLst>
                                          <p:attrName>ppt_y</p:attrName>
                                        </p:attrNameLst>
                                      </p:cBhvr>
                                      <p:tavLst>
                                        <p:tav tm="0">
                                          <p:val>
                                            <p:strVal val="#ppt_y"/>
                                          </p:val>
                                        </p:tav>
                                        <p:tav tm="100000">
                                          <p:val>
                                            <p:strVal val="#ppt_y"/>
                                          </p:val>
                                        </p:tav>
                                      </p:tavLst>
                                    </p:anim>
                                    <p:anim calcmode="lin" valueType="num">
                                      <p:cBhvr>
                                        <p:cTn id="23" dur="500" fill="hold"/>
                                        <p:tgtEl>
                                          <p:spTgt spid="806944"/>
                                        </p:tgtEl>
                                        <p:attrNameLst>
                                          <p:attrName>ppt_w</p:attrName>
                                        </p:attrNameLst>
                                      </p:cBhvr>
                                      <p:tavLst>
                                        <p:tav tm="0">
                                          <p:val>
                                            <p:fltVal val="0"/>
                                          </p:val>
                                        </p:tav>
                                        <p:tav tm="100000">
                                          <p:val>
                                            <p:strVal val="#ppt_w"/>
                                          </p:val>
                                        </p:tav>
                                      </p:tavLst>
                                    </p:anim>
                                    <p:anim calcmode="lin" valueType="num">
                                      <p:cBhvr>
                                        <p:cTn id="24" dur="500" fill="hold"/>
                                        <p:tgtEl>
                                          <p:spTgt spid="806944"/>
                                        </p:tgtEl>
                                        <p:attrNameLst>
                                          <p:attrName>ppt_h</p:attrName>
                                        </p:attrNameLst>
                                      </p:cBhvr>
                                      <p:tavLst>
                                        <p:tav tm="0">
                                          <p:val>
                                            <p:strVal val="#ppt_h"/>
                                          </p:val>
                                        </p:tav>
                                        <p:tav tm="100000">
                                          <p:val>
                                            <p:strVal val="#ppt_h"/>
                                          </p:val>
                                        </p:tav>
                                      </p:tavLst>
                                    </p:anim>
                                  </p:childTnLst>
                                </p:cTn>
                              </p:par>
                            </p:childTnLst>
                          </p:cTn>
                        </p:par>
                        <p:par>
                          <p:cTn id="25" fill="hold" nodeType="afterGroup">
                            <p:stCondLst>
                              <p:cond delay="5500"/>
                            </p:stCondLst>
                            <p:childTnLst>
                              <p:par>
                                <p:cTn id="26" presetID="17" presetClass="entr" presetSubtype="1" fill="hold" grpId="0" nodeType="afterEffect">
                                  <p:stCondLst>
                                    <p:cond delay="2000"/>
                                  </p:stCondLst>
                                  <p:childTnLst>
                                    <p:set>
                                      <p:cBhvr>
                                        <p:cTn id="27" dur="1" fill="hold">
                                          <p:stCondLst>
                                            <p:cond delay="0"/>
                                          </p:stCondLst>
                                        </p:cTn>
                                        <p:tgtEl>
                                          <p:spTgt spid="806945"/>
                                        </p:tgtEl>
                                        <p:attrNameLst>
                                          <p:attrName>style.visibility</p:attrName>
                                        </p:attrNameLst>
                                      </p:cBhvr>
                                      <p:to>
                                        <p:strVal val="visible"/>
                                      </p:to>
                                    </p:set>
                                    <p:anim calcmode="lin" valueType="num">
                                      <p:cBhvr>
                                        <p:cTn id="28" dur="500" fill="hold"/>
                                        <p:tgtEl>
                                          <p:spTgt spid="806945"/>
                                        </p:tgtEl>
                                        <p:attrNameLst>
                                          <p:attrName>ppt_x</p:attrName>
                                        </p:attrNameLst>
                                      </p:cBhvr>
                                      <p:tavLst>
                                        <p:tav tm="0">
                                          <p:val>
                                            <p:strVal val="#ppt_x"/>
                                          </p:val>
                                        </p:tav>
                                        <p:tav tm="100000">
                                          <p:val>
                                            <p:strVal val="#ppt_x"/>
                                          </p:val>
                                        </p:tav>
                                      </p:tavLst>
                                    </p:anim>
                                    <p:anim calcmode="lin" valueType="num">
                                      <p:cBhvr>
                                        <p:cTn id="29" dur="500" fill="hold"/>
                                        <p:tgtEl>
                                          <p:spTgt spid="806945"/>
                                        </p:tgtEl>
                                        <p:attrNameLst>
                                          <p:attrName>ppt_y</p:attrName>
                                        </p:attrNameLst>
                                      </p:cBhvr>
                                      <p:tavLst>
                                        <p:tav tm="0">
                                          <p:val>
                                            <p:strVal val="#ppt_y-#ppt_h/2"/>
                                          </p:val>
                                        </p:tav>
                                        <p:tav tm="100000">
                                          <p:val>
                                            <p:strVal val="#ppt_y"/>
                                          </p:val>
                                        </p:tav>
                                      </p:tavLst>
                                    </p:anim>
                                    <p:anim calcmode="lin" valueType="num">
                                      <p:cBhvr>
                                        <p:cTn id="30" dur="500" fill="hold"/>
                                        <p:tgtEl>
                                          <p:spTgt spid="806945"/>
                                        </p:tgtEl>
                                        <p:attrNameLst>
                                          <p:attrName>ppt_w</p:attrName>
                                        </p:attrNameLst>
                                      </p:cBhvr>
                                      <p:tavLst>
                                        <p:tav tm="0">
                                          <p:val>
                                            <p:strVal val="#ppt_w"/>
                                          </p:val>
                                        </p:tav>
                                        <p:tav tm="100000">
                                          <p:val>
                                            <p:strVal val="#ppt_w"/>
                                          </p:val>
                                        </p:tav>
                                      </p:tavLst>
                                    </p:anim>
                                    <p:anim calcmode="lin" valueType="num">
                                      <p:cBhvr>
                                        <p:cTn id="31" dur="500" fill="hold"/>
                                        <p:tgtEl>
                                          <p:spTgt spid="806945"/>
                                        </p:tgtEl>
                                        <p:attrNameLst>
                                          <p:attrName>ppt_h</p:attrName>
                                        </p:attrNameLst>
                                      </p:cBhvr>
                                      <p:tavLst>
                                        <p:tav tm="0">
                                          <p:val>
                                            <p:fltVal val="0"/>
                                          </p:val>
                                        </p:tav>
                                        <p:tav tm="100000">
                                          <p:val>
                                            <p:strVal val="#ppt_h"/>
                                          </p:val>
                                        </p:tav>
                                      </p:tavLst>
                                    </p:anim>
                                  </p:childTnLst>
                                </p:cTn>
                              </p:par>
                            </p:childTnLst>
                          </p:cTn>
                        </p:par>
                        <p:par>
                          <p:cTn id="32" fill="hold" nodeType="afterGroup">
                            <p:stCondLst>
                              <p:cond delay="8000"/>
                            </p:stCondLst>
                            <p:childTnLst>
                              <p:par>
                                <p:cTn id="33" presetID="17" presetClass="entr" presetSubtype="8" fill="hold" grpId="0" nodeType="afterEffect">
                                  <p:stCondLst>
                                    <p:cond delay="2000"/>
                                  </p:stCondLst>
                                  <p:childTnLst>
                                    <p:set>
                                      <p:cBhvr>
                                        <p:cTn id="34" dur="1" fill="hold">
                                          <p:stCondLst>
                                            <p:cond delay="0"/>
                                          </p:stCondLst>
                                        </p:cTn>
                                        <p:tgtEl>
                                          <p:spTgt spid="806946"/>
                                        </p:tgtEl>
                                        <p:attrNameLst>
                                          <p:attrName>style.visibility</p:attrName>
                                        </p:attrNameLst>
                                      </p:cBhvr>
                                      <p:to>
                                        <p:strVal val="visible"/>
                                      </p:to>
                                    </p:set>
                                    <p:anim calcmode="lin" valueType="num">
                                      <p:cBhvr>
                                        <p:cTn id="35" dur="500" fill="hold"/>
                                        <p:tgtEl>
                                          <p:spTgt spid="806946"/>
                                        </p:tgtEl>
                                        <p:attrNameLst>
                                          <p:attrName>ppt_x</p:attrName>
                                        </p:attrNameLst>
                                      </p:cBhvr>
                                      <p:tavLst>
                                        <p:tav tm="0">
                                          <p:val>
                                            <p:strVal val="#ppt_x-#ppt_w/2"/>
                                          </p:val>
                                        </p:tav>
                                        <p:tav tm="100000">
                                          <p:val>
                                            <p:strVal val="#ppt_x"/>
                                          </p:val>
                                        </p:tav>
                                      </p:tavLst>
                                    </p:anim>
                                    <p:anim calcmode="lin" valueType="num">
                                      <p:cBhvr>
                                        <p:cTn id="36" dur="500" fill="hold"/>
                                        <p:tgtEl>
                                          <p:spTgt spid="806946"/>
                                        </p:tgtEl>
                                        <p:attrNameLst>
                                          <p:attrName>ppt_y</p:attrName>
                                        </p:attrNameLst>
                                      </p:cBhvr>
                                      <p:tavLst>
                                        <p:tav tm="0">
                                          <p:val>
                                            <p:strVal val="#ppt_y"/>
                                          </p:val>
                                        </p:tav>
                                        <p:tav tm="100000">
                                          <p:val>
                                            <p:strVal val="#ppt_y"/>
                                          </p:val>
                                        </p:tav>
                                      </p:tavLst>
                                    </p:anim>
                                    <p:anim calcmode="lin" valueType="num">
                                      <p:cBhvr>
                                        <p:cTn id="37" dur="500" fill="hold"/>
                                        <p:tgtEl>
                                          <p:spTgt spid="806946"/>
                                        </p:tgtEl>
                                        <p:attrNameLst>
                                          <p:attrName>ppt_w</p:attrName>
                                        </p:attrNameLst>
                                      </p:cBhvr>
                                      <p:tavLst>
                                        <p:tav tm="0">
                                          <p:val>
                                            <p:fltVal val="0"/>
                                          </p:val>
                                        </p:tav>
                                        <p:tav tm="100000">
                                          <p:val>
                                            <p:strVal val="#ppt_w"/>
                                          </p:val>
                                        </p:tav>
                                      </p:tavLst>
                                    </p:anim>
                                    <p:anim calcmode="lin" valueType="num">
                                      <p:cBhvr>
                                        <p:cTn id="38" dur="500" fill="hold"/>
                                        <p:tgtEl>
                                          <p:spTgt spid="8069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42" grpId="0" animBg="1"/>
      <p:bldP spid="806943" grpId="0" animBg="1"/>
      <p:bldP spid="806944" grpId="0" animBg="1"/>
      <p:bldP spid="806945" grpId="0" animBg="1"/>
      <p:bldP spid="80694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fld id="{86F10677-EAAA-4A4F-844A-D93C7206D6A1}" type="slidenum">
              <a:rPr lang="zh-CN" altLang="en-US"/>
              <a:pPr/>
              <a:t>25</a:t>
            </a:fld>
            <a:endParaRPr lang="en-US" altLang="zh-CN"/>
          </a:p>
        </p:txBody>
      </p:sp>
      <p:sp>
        <p:nvSpPr>
          <p:cNvPr id="6" name="日期占位符 5"/>
          <p:cNvSpPr>
            <a:spLocks noGrp="1"/>
          </p:cNvSpPr>
          <p:nvPr>
            <p:ph type="dt" sz="half" idx="11"/>
          </p:nvPr>
        </p:nvSpPr>
        <p:spPr/>
        <p:txBody>
          <a:bodyPr/>
          <a:lstStyle/>
          <a:p>
            <a:fld id="{89486EC6-221F-4308-A1C6-CFED36AC5744}" type="datetime1">
              <a:rPr lang="zh-CN" altLang="en-US"/>
              <a:pPr/>
              <a:t>2024/11/18</a:t>
            </a:fld>
            <a:endParaRPr lang="en-US" altLang="zh-CN" sz="1000"/>
          </a:p>
        </p:txBody>
      </p:sp>
      <p:sp>
        <p:nvSpPr>
          <p:cNvPr id="809986" name="Rectangle 2"/>
          <p:cNvSpPr>
            <a:spLocks noGrp="1" noChangeArrowheads="1"/>
          </p:cNvSpPr>
          <p:nvPr>
            <p:ph type="title"/>
          </p:nvPr>
        </p:nvSpPr>
        <p:spPr/>
        <p:txBody>
          <a:bodyPr/>
          <a:lstStyle/>
          <a:p>
            <a:r>
              <a:rPr lang="en-US" altLang="zh-CN" dirty="0">
                <a:latin typeface="宋体" pitchFamily="2" charset="-122"/>
              </a:rPr>
              <a:t>2.</a:t>
            </a:r>
            <a:r>
              <a:rPr lang="zh-CN" altLang="en-US" dirty="0">
                <a:latin typeface="宋体" pitchFamily="2" charset="-122"/>
              </a:rPr>
              <a:t>常用</a:t>
            </a:r>
            <a:r>
              <a:rPr lang="zh-CN" altLang="en-US" dirty="0"/>
              <a:t>消元法</a:t>
            </a:r>
            <a:endParaRPr lang="zh-CN" altLang="en-US" dirty="0">
              <a:latin typeface="宋体" pitchFamily="2" charset="-122"/>
            </a:endParaRPr>
          </a:p>
        </p:txBody>
      </p:sp>
      <p:sp>
        <p:nvSpPr>
          <p:cNvPr id="809987" name="Rectangle 3"/>
          <p:cNvSpPr>
            <a:spLocks noGrp="1" noChangeArrowheads="1"/>
          </p:cNvSpPr>
          <p:nvPr>
            <p:ph type="body" sz="half" idx="1"/>
          </p:nvPr>
        </p:nvSpPr>
        <p:spPr>
          <a:xfrm>
            <a:off x="650875" y="1143000"/>
            <a:ext cx="8623300" cy="4175125"/>
          </a:xfrm>
        </p:spPr>
        <p:txBody>
          <a:bodyPr/>
          <a:lstStyle/>
          <a:p>
            <a:pPr>
              <a:buFont typeface="Wingdings" pitchFamily="2" charset="2"/>
              <a:buNone/>
            </a:pPr>
            <a:r>
              <a:rPr lang="en-US" altLang="zh-CN" i="1"/>
              <a:t>l</a:t>
            </a:r>
            <a:r>
              <a:rPr lang="en-US" altLang="zh-CN" i="1" baseline="-25000"/>
              <a:t>ii</a:t>
            </a:r>
            <a:r>
              <a:rPr lang="zh-CN" altLang="en-US">
                <a:latin typeface="宋体" pitchFamily="2" charset="-122"/>
              </a:rPr>
              <a:t>选值的不同会影响到计算量及舍入误差的大小</a:t>
            </a:r>
          </a:p>
          <a:p>
            <a:r>
              <a:rPr lang="zh-CN" altLang="en-US">
                <a:latin typeface="宋体" pitchFamily="2" charset="-122"/>
              </a:rPr>
              <a:t>高斯消元法：</a:t>
            </a:r>
          </a:p>
          <a:p>
            <a:pPr lvl="1"/>
            <a:r>
              <a:rPr lang="zh-CN" altLang="en-US" sz="3100"/>
              <a:t>取</a:t>
            </a:r>
            <a:r>
              <a:rPr lang="en-US" altLang="zh-CN" sz="3100" i="1"/>
              <a:t>l</a:t>
            </a:r>
            <a:r>
              <a:rPr lang="en-US" altLang="zh-CN" sz="3100" i="1" baseline="-25000"/>
              <a:t>ii </a:t>
            </a:r>
            <a:r>
              <a:rPr lang="zh-CN" altLang="en-US" sz="3100"/>
              <a:t>=1</a:t>
            </a:r>
            <a:endParaRPr lang="zh-CN" altLang="en-US" sz="3100" i="1">
              <a:latin typeface="宋体" pitchFamily="2" charset="-122"/>
            </a:endParaRPr>
          </a:p>
          <a:p>
            <a:r>
              <a:rPr lang="zh-CN" altLang="en-US">
                <a:latin typeface="宋体" pitchFamily="2" charset="-122"/>
              </a:rPr>
              <a:t>克劳特消元法</a:t>
            </a:r>
          </a:p>
          <a:p>
            <a:pPr lvl="1"/>
            <a:r>
              <a:rPr lang="en-US" altLang="zh-CN" i="1"/>
              <a:t>l</a:t>
            </a:r>
            <a:r>
              <a:rPr lang="en-US" altLang="zh-CN" baseline="-25000"/>
              <a:t>11</a:t>
            </a:r>
            <a:r>
              <a:rPr lang="en-US" altLang="zh-CN"/>
              <a:t>= </a:t>
            </a:r>
            <a:r>
              <a:rPr lang="en-US" altLang="zh-CN" i="1"/>
              <a:t>a</a:t>
            </a:r>
            <a:r>
              <a:rPr lang="en-US" altLang="zh-CN" baseline="-25000"/>
              <a:t>11</a:t>
            </a:r>
            <a:r>
              <a:rPr lang="en-US" altLang="zh-CN" baseline="30000"/>
              <a:t>(0)</a:t>
            </a:r>
            <a:r>
              <a:rPr lang="en-US" altLang="zh-CN"/>
              <a:t>= </a:t>
            </a:r>
            <a:r>
              <a:rPr lang="en-US" altLang="zh-CN" i="1"/>
              <a:t>a</a:t>
            </a:r>
            <a:r>
              <a:rPr lang="en-US" altLang="zh-CN" baseline="-25000"/>
              <a:t>11 </a:t>
            </a:r>
            <a:r>
              <a:rPr lang="en-US" altLang="zh-CN"/>
              <a:t>,</a:t>
            </a:r>
            <a:r>
              <a:rPr lang="en-US" altLang="zh-CN" baseline="-25000"/>
              <a:t> </a:t>
            </a:r>
            <a:r>
              <a:rPr lang="en-US" altLang="zh-CN" i="1"/>
              <a:t>l</a:t>
            </a:r>
            <a:r>
              <a:rPr lang="en-US" altLang="zh-CN" baseline="-25000"/>
              <a:t>22</a:t>
            </a:r>
            <a:r>
              <a:rPr lang="en-US" altLang="zh-CN"/>
              <a:t>= </a:t>
            </a:r>
            <a:r>
              <a:rPr lang="en-US" altLang="zh-CN" i="1"/>
              <a:t>a</a:t>
            </a:r>
            <a:r>
              <a:rPr lang="en-US" altLang="zh-CN" baseline="-25000"/>
              <a:t>22</a:t>
            </a:r>
            <a:r>
              <a:rPr lang="en-US" altLang="zh-CN" baseline="30000"/>
              <a:t>(1) </a:t>
            </a:r>
            <a:r>
              <a:rPr lang="en-US" altLang="zh-CN"/>
              <a:t>, </a:t>
            </a:r>
            <a:r>
              <a:rPr lang="en-US" altLang="zh-CN" i="1"/>
              <a:t>l</a:t>
            </a:r>
            <a:r>
              <a:rPr lang="en-US" altLang="zh-CN" baseline="-25000"/>
              <a:t>33</a:t>
            </a:r>
            <a:r>
              <a:rPr lang="en-US" altLang="zh-CN"/>
              <a:t>= </a:t>
            </a:r>
            <a:r>
              <a:rPr lang="en-US" altLang="zh-CN" i="1"/>
              <a:t>a</a:t>
            </a:r>
            <a:r>
              <a:rPr lang="en-US" altLang="zh-CN" baseline="-25000"/>
              <a:t>33</a:t>
            </a:r>
            <a:r>
              <a:rPr lang="en-US" altLang="zh-CN" baseline="30000"/>
              <a:t>(2)</a:t>
            </a:r>
            <a:r>
              <a:rPr lang="en-US" altLang="zh-CN"/>
              <a:t>,…,     </a:t>
            </a:r>
            <a:r>
              <a:rPr lang="en-US" altLang="zh-CN" i="1"/>
              <a:t>l</a:t>
            </a:r>
            <a:r>
              <a:rPr lang="en-US" altLang="zh-CN" i="1" baseline="-25000"/>
              <a:t>nn</a:t>
            </a:r>
            <a:r>
              <a:rPr lang="en-US" altLang="zh-CN"/>
              <a:t>= </a:t>
            </a:r>
            <a:r>
              <a:rPr lang="en-US" altLang="zh-CN" i="1"/>
              <a:t>a</a:t>
            </a:r>
            <a:r>
              <a:rPr lang="en-US" altLang="zh-CN" i="1" baseline="-25000"/>
              <a:t>nn</a:t>
            </a:r>
            <a:r>
              <a:rPr lang="en-US" altLang="zh-CN" baseline="30000"/>
              <a:t>(</a:t>
            </a:r>
            <a:r>
              <a:rPr lang="en-US" altLang="zh-CN" i="1" baseline="30000"/>
              <a:t>n</a:t>
            </a:r>
            <a:r>
              <a:rPr lang="en-US" altLang="zh-CN" baseline="30000"/>
              <a:t>-1)</a:t>
            </a:r>
          </a:p>
          <a:p>
            <a:pPr lvl="1"/>
            <a:r>
              <a:rPr lang="en-US" altLang="zh-CN" i="1"/>
              <a:t>u</a:t>
            </a:r>
            <a:r>
              <a:rPr lang="en-US" altLang="zh-CN" i="1" baseline="-25000"/>
              <a:t>ii </a:t>
            </a:r>
            <a:r>
              <a:rPr lang="zh-CN" altLang="en-US"/>
              <a:t>=1</a:t>
            </a:r>
          </a:p>
          <a:p>
            <a:r>
              <a:rPr lang="zh-CN" altLang="en-US">
                <a:latin typeface="宋体" pitchFamily="2" charset="-122"/>
              </a:rPr>
              <a:t>平方根法</a:t>
            </a:r>
          </a:p>
          <a:p>
            <a:pPr lvl="1"/>
            <a:r>
              <a:rPr lang="zh-CN" altLang="en-US"/>
              <a:t>取</a:t>
            </a:r>
            <a:r>
              <a:rPr lang="en-US" altLang="zh-CN" i="1"/>
              <a:t>l</a:t>
            </a:r>
            <a:r>
              <a:rPr lang="en-US" altLang="zh-CN" baseline="-25000"/>
              <a:t>ii</a:t>
            </a:r>
            <a:r>
              <a:rPr lang="en-US" altLang="zh-CN"/>
              <a:t>= </a:t>
            </a:r>
            <a:r>
              <a:rPr lang="en-US" altLang="zh-CN" i="1"/>
              <a:t>u</a:t>
            </a:r>
            <a:r>
              <a:rPr lang="en-US" altLang="zh-CN" baseline="-25000"/>
              <a:t>ii </a:t>
            </a:r>
            <a:r>
              <a:rPr lang="zh-CN" altLang="en-US"/>
              <a:t>,有</a:t>
            </a:r>
            <a:r>
              <a:rPr lang="en-US" altLang="zh-CN" i="1"/>
              <a:t>l</a:t>
            </a:r>
            <a:r>
              <a:rPr lang="en-US" altLang="zh-CN" baseline="-25000"/>
              <a:t>ij</a:t>
            </a:r>
            <a:r>
              <a:rPr lang="en-US" altLang="zh-CN"/>
              <a:t>= </a:t>
            </a:r>
            <a:r>
              <a:rPr lang="en-US" altLang="zh-CN" i="1"/>
              <a:t>u</a:t>
            </a:r>
            <a:r>
              <a:rPr lang="en-US" altLang="zh-CN" baseline="-25000"/>
              <a:t>ji </a:t>
            </a:r>
          </a:p>
        </p:txBody>
      </p:sp>
      <p:graphicFrame>
        <p:nvGraphicFramePr>
          <p:cNvPr id="809988" name="Object 4"/>
          <p:cNvGraphicFramePr>
            <a:graphicFrameLocks noGrp="1" noChangeAspect="1"/>
          </p:cNvGraphicFramePr>
          <p:nvPr>
            <p:ph sz="half" idx="2"/>
          </p:nvPr>
        </p:nvGraphicFramePr>
        <p:xfrm>
          <a:off x="4521200" y="4724400"/>
          <a:ext cx="2319338" cy="1000125"/>
        </p:xfrm>
        <a:graphic>
          <a:graphicData uri="http://schemas.openxmlformats.org/presentationml/2006/ole">
            <mc:AlternateContent xmlns:mc="http://schemas.openxmlformats.org/markup-compatibility/2006">
              <mc:Choice xmlns:v="urn:schemas-microsoft-com:vml" Requires="v">
                <p:oleObj name="公式" r:id="rId3" imgW="1117440" imgH="482400" progId="Equation.3">
                  <p:embed/>
                </p:oleObj>
              </mc:Choice>
              <mc:Fallback>
                <p:oleObj name="公式" r:id="rId3" imgW="111744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4724400"/>
                        <a:ext cx="2319338"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7722865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fld id="{A71D61B4-66D5-4E18-A277-816761CF1228}" type="slidenum">
              <a:rPr lang="zh-CN" altLang="en-US"/>
              <a:pPr/>
              <a:t>26</a:t>
            </a:fld>
            <a:endParaRPr lang="en-US" altLang="zh-CN"/>
          </a:p>
        </p:txBody>
      </p:sp>
      <p:sp>
        <p:nvSpPr>
          <p:cNvPr id="7" name="日期占位符 4"/>
          <p:cNvSpPr>
            <a:spLocks noGrp="1"/>
          </p:cNvSpPr>
          <p:nvPr>
            <p:ph type="dt" sz="half" idx="11"/>
          </p:nvPr>
        </p:nvSpPr>
        <p:spPr/>
        <p:txBody>
          <a:bodyPr/>
          <a:lstStyle/>
          <a:p>
            <a:fld id="{97CACD98-9002-4799-8BEB-ACBB1DD50303}" type="datetime1">
              <a:rPr lang="zh-CN" altLang="en-US"/>
              <a:pPr/>
              <a:t>2024/11/18</a:t>
            </a:fld>
            <a:endParaRPr lang="en-US" altLang="zh-CN" sz="1000"/>
          </a:p>
        </p:txBody>
      </p:sp>
      <p:sp>
        <p:nvSpPr>
          <p:cNvPr id="907266" name="Rectangle 2"/>
          <p:cNvSpPr>
            <a:spLocks noGrp="1" noChangeArrowheads="1"/>
          </p:cNvSpPr>
          <p:nvPr>
            <p:ph type="title"/>
          </p:nvPr>
        </p:nvSpPr>
        <p:spPr/>
        <p:txBody>
          <a:bodyPr/>
          <a:lstStyle/>
          <a:p>
            <a:r>
              <a:rPr lang="zh-CN" altLang="en-US"/>
              <a:t>3.消元法的应用条件</a:t>
            </a:r>
          </a:p>
        </p:txBody>
      </p:sp>
      <p:sp>
        <p:nvSpPr>
          <p:cNvPr id="907267" name="Rectangle 3"/>
          <p:cNvSpPr>
            <a:spLocks noGrp="1" noChangeArrowheads="1"/>
          </p:cNvSpPr>
          <p:nvPr>
            <p:ph type="body" idx="1"/>
          </p:nvPr>
        </p:nvSpPr>
        <p:spPr>
          <a:xfrm>
            <a:off x="650875" y="1116013"/>
            <a:ext cx="8820150" cy="384175"/>
          </a:xfrm>
        </p:spPr>
        <p:txBody>
          <a:bodyPr/>
          <a:lstStyle/>
          <a:p>
            <a:r>
              <a:rPr lang="zh-CN" altLang="en-US"/>
              <a:t>定理3.1:若</a:t>
            </a:r>
            <a:r>
              <a:rPr lang="en-US" altLang="zh-CN"/>
              <a:t>A</a:t>
            </a:r>
            <a:r>
              <a:rPr lang="zh-CN" altLang="en-US"/>
              <a:t>的各阶主子式均不为0，即|</a:t>
            </a:r>
            <a:r>
              <a:rPr lang="en-US" altLang="zh-CN"/>
              <a:t>A</a:t>
            </a:r>
            <a:r>
              <a:rPr lang="en-US" altLang="zh-CN" baseline="-25000"/>
              <a:t>1</a:t>
            </a:r>
            <a:r>
              <a:rPr lang="zh-CN" altLang="en-US"/>
              <a:t>|</a:t>
            </a:r>
            <a:r>
              <a:rPr lang="en-US" altLang="zh-CN" baseline="-25000"/>
              <a:t> </a:t>
            </a:r>
            <a:r>
              <a:rPr lang="en-US" altLang="zh-CN"/>
              <a:t>=|a</a:t>
            </a:r>
            <a:r>
              <a:rPr lang="en-US" altLang="zh-CN" baseline="-25000"/>
              <a:t>11</a:t>
            </a:r>
            <a:r>
              <a:rPr lang="en-US" altLang="zh-CN"/>
              <a:t>|</a:t>
            </a:r>
            <a:r>
              <a:rPr lang="en-US" altLang="zh-CN">
                <a:sym typeface="Symbol" pitchFamily="18" charset="2"/>
              </a:rPr>
              <a:t>0,</a:t>
            </a:r>
          </a:p>
        </p:txBody>
      </p:sp>
      <p:graphicFrame>
        <p:nvGraphicFramePr>
          <p:cNvPr id="907268" name="Object 4"/>
          <p:cNvGraphicFramePr>
            <a:graphicFrameLocks noChangeAspect="1"/>
          </p:cNvGraphicFramePr>
          <p:nvPr/>
        </p:nvGraphicFramePr>
        <p:xfrm>
          <a:off x="1155700" y="1371600"/>
          <a:ext cx="8172450" cy="2157413"/>
        </p:xfrm>
        <a:graphic>
          <a:graphicData uri="http://schemas.openxmlformats.org/presentationml/2006/ole">
            <mc:AlternateContent xmlns:mc="http://schemas.openxmlformats.org/markup-compatibility/2006">
              <mc:Choice xmlns:v="urn:schemas-microsoft-com:vml" Requires="v">
                <p:oleObj name="Equation" r:id="rId4" imgW="2946240" imgH="939600" progId="Equation.3">
                  <p:embed/>
                </p:oleObj>
              </mc:Choice>
              <mc:Fallback>
                <p:oleObj name="Equation" r:id="rId4" imgW="2946240" imgH="939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700" y="1371600"/>
                        <a:ext cx="8172450" cy="215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7269" name="Rectangle 5"/>
          <p:cNvSpPr>
            <a:spLocks noChangeArrowheads="1"/>
          </p:cNvSpPr>
          <p:nvPr/>
        </p:nvSpPr>
        <p:spPr bwMode="auto">
          <a:xfrm>
            <a:off x="630238" y="3498850"/>
            <a:ext cx="8818562" cy="221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110000"/>
              </a:lnSpc>
              <a:spcBef>
                <a:spcPct val="35000"/>
              </a:spcBef>
              <a:buClr>
                <a:srgbClr val="27305F"/>
              </a:buClr>
              <a:buSzPct val="60000"/>
              <a:buFont typeface="Wingdings" pitchFamily="2" charset="2"/>
              <a:buChar char="n"/>
            </a:pPr>
            <a:r>
              <a:rPr lang="zh-CN" altLang="en-US">
                <a:ea typeface="黑体" pitchFamily="49" charset="-122"/>
                <a:sym typeface="Symbol" pitchFamily="18" charset="2"/>
              </a:rPr>
              <a:t>定理3.2   若</a:t>
            </a:r>
            <a:r>
              <a:rPr lang="en-US" altLang="zh-CN">
                <a:ea typeface="黑体" pitchFamily="49" charset="-122"/>
                <a:sym typeface="Symbol" pitchFamily="18" charset="2"/>
              </a:rPr>
              <a:t>A</a:t>
            </a:r>
            <a:r>
              <a:rPr lang="zh-CN" altLang="en-US">
                <a:ea typeface="黑体" pitchFamily="49" charset="-122"/>
                <a:sym typeface="Symbol" pitchFamily="18" charset="2"/>
              </a:rPr>
              <a:t>为实对称正定矩阵，则</a:t>
            </a:r>
            <a:r>
              <a:rPr lang="en-US" altLang="zh-CN" i="1">
                <a:ea typeface="黑体" pitchFamily="49" charset="-122"/>
              </a:rPr>
              <a:t>l</a:t>
            </a:r>
            <a:r>
              <a:rPr lang="en-US" altLang="zh-CN" baseline="-25000">
                <a:ea typeface="黑体" pitchFamily="49" charset="-122"/>
              </a:rPr>
              <a:t>ii</a:t>
            </a:r>
            <a:r>
              <a:rPr lang="en-US" altLang="zh-CN">
                <a:ea typeface="黑体" pitchFamily="49" charset="-122"/>
                <a:sym typeface="Symbol" pitchFamily="18" charset="2"/>
              </a:rPr>
              <a:t>0,</a:t>
            </a:r>
            <a:r>
              <a:rPr lang="en-US" altLang="zh-CN" i="1">
                <a:ea typeface="黑体" pitchFamily="49" charset="-122"/>
              </a:rPr>
              <a:t>u</a:t>
            </a:r>
            <a:r>
              <a:rPr lang="en-US" altLang="zh-CN" baseline="-25000">
                <a:ea typeface="黑体" pitchFamily="49" charset="-122"/>
              </a:rPr>
              <a:t>ii</a:t>
            </a:r>
            <a:r>
              <a:rPr lang="en-US" altLang="zh-CN">
                <a:ea typeface="黑体" pitchFamily="49" charset="-122"/>
                <a:sym typeface="Symbol" pitchFamily="18" charset="2"/>
              </a:rPr>
              <a:t>0 (i=1,2, …,n)</a:t>
            </a:r>
          </a:p>
          <a:p>
            <a:pPr marL="258763" indent="-258763" algn="l" defTabSz="814388">
              <a:spcBef>
                <a:spcPct val="35000"/>
              </a:spcBef>
              <a:buClr>
                <a:srgbClr val="27305F"/>
              </a:buClr>
              <a:buSzPct val="60000"/>
              <a:buFont typeface="Wingdings" pitchFamily="2" charset="2"/>
              <a:buChar char="n"/>
            </a:pPr>
            <a:r>
              <a:rPr lang="zh-CN" altLang="en-US">
                <a:ea typeface="黑体" pitchFamily="49" charset="-122"/>
              </a:rPr>
              <a:t>定理3.3  若</a:t>
            </a:r>
            <a:r>
              <a:rPr lang="en-US" altLang="zh-CN">
                <a:ea typeface="黑体" pitchFamily="49" charset="-122"/>
              </a:rPr>
              <a:t>A</a:t>
            </a:r>
            <a:r>
              <a:rPr lang="zh-CN" altLang="en-US">
                <a:ea typeface="黑体" pitchFamily="49" charset="-122"/>
              </a:rPr>
              <a:t>为严格对角占优矩阵，则</a:t>
            </a:r>
            <a:r>
              <a:rPr lang="en-US" altLang="zh-CN" i="1">
                <a:ea typeface="黑体" pitchFamily="49" charset="-122"/>
              </a:rPr>
              <a:t>l</a:t>
            </a:r>
            <a:r>
              <a:rPr lang="en-US" altLang="zh-CN" baseline="-25000">
                <a:ea typeface="黑体" pitchFamily="49" charset="-122"/>
              </a:rPr>
              <a:t>ii</a:t>
            </a:r>
            <a:r>
              <a:rPr lang="en-US" altLang="zh-CN">
                <a:ea typeface="黑体" pitchFamily="49" charset="-122"/>
                <a:sym typeface="Symbol" pitchFamily="18" charset="2"/>
              </a:rPr>
              <a:t>0,</a:t>
            </a:r>
            <a:r>
              <a:rPr lang="en-US" altLang="zh-CN" i="1">
                <a:ea typeface="黑体" pitchFamily="49" charset="-122"/>
              </a:rPr>
              <a:t>u</a:t>
            </a:r>
            <a:r>
              <a:rPr lang="en-US" altLang="zh-CN" baseline="-25000">
                <a:ea typeface="黑体" pitchFamily="49" charset="-122"/>
              </a:rPr>
              <a:t>ii</a:t>
            </a:r>
            <a:r>
              <a:rPr lang="en-US" altLang="zh-CN">
                <a:ea typeface="黑体" pitchFamily="49" charset="-122"/>
                <a:sym typeface="Symbol" pitchFamily="18" charset="2"/>
              </a:rPr>
              <a:t>0 (i=1, 2,…,n)</a:t>
            </a:r>
          </a:p>
        </p:txBody>
      </p:sp>
    </p:spTree>
    <p:custDataLst>
      <p:tags r:id="rId1"/>
    </p:custDataLst>
    <p:extLst>
      <p:ext uri="{BB962C8B-B14F-4D97-AF65-F5344CB8AC3E}">
        <p14:creationId xmlns:p14="http://schemas.microsoft.com/office/powerpoint/2010/main" val="28713652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07268"/>
                                        </p:tgtEl>
                                        <p:attrNameLst>
                                          <p:attrName>style.visibility</p:attrName>
                                        </p:attrNameLst>
                                      </p:cBhvr>
                                      <p:to>
                                        <p:strVal val="visible"/>
                                      </p:to>
                                    </p:set>
                                    <p:animEffect transition="in" filter="dissolve">
                                      <p:cBhvr>
                                        <p:cTn id="7" dur="500"/>
                                        <p:tgtEl>
                                          <p:spTgt spid="907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DBA99CB1-7C9A-4A83-A135-E2C355AC5F85}" type="slidenum">
              <a:rPr lang="zh-CN" altLang="en-US"/>
              <a:pPr/>
              <a:t>27</a:t>
            </a:fld>
            <a:endParaRPr lang="en-US" altLang="zh-CN"/>
          </a:p>
        </p:txBody>
      </p:sp>
      <p:sp>
        <p:nvSpPr>
          <p:cNvPr id="5" name="日期占位符 4"/>
          <p:cNvSpPr>
            <a:spLocks noGrp="1"/>
          </p:cNvSpPr>
          <p:nvPr>
            <p:ph type="dt" sz="half" idx="11"/>
          </p:nvPr>
        </p:nvSpPr>
        <p:spPr/>
        <p:txBody>
          <a:bodyPr/>
          <a:lstStyle/>
          <a:p>
            <a:fld id="{2E2FE261-26CA-4249-90B6-73B9DC0A60B5}" type="datetime1">
              <a:rPr lang="zh-CN" altLang="en-US"/>
              <a:pPr/>
              <a:t>2024/11/18</a:t>
            </a:fld>
            <a:endParaRPr lang="en-US" altLang="zh-CN" sz="1000"/>
          </a:p>
        </p:txBody>
      </p:sp>
      <p:sp>
        <p:nvSpPr>
          <p:cNvPr id="814082" name="Rectangle 2"/>
          <p:cNvSpPr>
            <a:spLocks noGrp="1" noChangeArrowheads="1"/>
          </p:cNvSpPr>
          <p:nvPr>
            <p:ph type="title"/>
          </p:nvPr>
        </p:nvSpPr>
        <p:spPr/>
        <p:txBody>
          <a:bodyPr/>
          <a:lstStyle/>
          <a:p>
            <a:r>
              <a:rPr lang="en-US" altLang="zh-CN" dirty="0"/>
              <a:t>4. </a:t>
            </a:r>
            <a:r>
              <a:rPr lang="zh-CN" altLang="en-US" dirty="0"/>
              <a:t>主元素法</a:t>
            </a:r>
          </a:p>
        </p:txBody>
      </p:sp>
      <p:sp>
        <p:nvSpPr>
          <p:cNvPr id="814083" name="Rectangle 3"/>
          <p:cNvSpPr>
            <a:spLocks noGrp="1" noChangeArrowheads="1"/>
          </p:cNvSpPr>
          <p:nvPr>
            <p:ph type="body" idx="1"/>
          </p:nvPr>
        </p:nvSpPr>
        <p:spPr>
          <a:xfrm>
            <a:off x="631825" y="1125538"/>
            <a:ext cx="8910638" cy="4886325"/>
          </a:xfrm>
        </p:spPr>
        <p:txBody>
          <a:bodyPr/>
          <a:lstStyle/>
          <a:p>
            <a:r>
              <a:rPr lang="zh-CN" altLang="en-US">
                <a:sym typeface="Symbol" pitchFamily="18" charset="2"/>
              </a:rPr>
              <a:t>原因</a:t>
            </a:r>
          </a:p>
          <a:p>
            <a:pPr lvl="1"/>
            <a:r>
              <a:rPr lang="en-US" altLang="zh-CN" i="1">
                <a:sym typeface="Symbol" pitchFamily="18" charset="2"/>
              </a:rPr>
              <a:t>l</a:t>
            </a:r>
            <a:r>
              <a:rPr lang="en-US" altLang="zh-CN" i="1" baseline="-25000">
                <a:sym typeface="Symbol" pitchFamily="18" charset="2"/>
              </a:rPr>
              <a:t>ij</a:t>
            </a:r>
            <a:r>
              <a:rPr lang="en-US" altLang="zh-CN">
                <a:sym typeface="Symbol" pitchFamily="18" charset="2"/>
              </a:rPr>
              <a:t>=</a:t>
            </a:r>
            <a:r>
              <a:rPr lang="zh-CN" altLang="en-US">
                <a:sym typeface="Symbol" pitchFamily="18" charset="2"/>
              </a:rPr>
              <a:t>分子/</a:t>
            </a:r>
            <a:r>
              <a:rPr lang="en-US" altLang="zh-CN" i="1">
                <a:sym typeface="Symbol" pitchFamily="18" charset="2"/>
              </a:rPr>
              <a:t>u</a:t>
            </a:r>
            <a:r>
              <a:rPr lang="en-US" altLang="zh-CN" i="1" baseline="-25000">
                <a:sym typeface="Symbol" pitchFamily="18" charset="2"/>
              </a:rPr>
              <a:t>jj</a:t>
            </a:r>
            <a:r>
              <a:rPr lang="en-US" altLang="zh-CN">
                <a:sym typeface="Symbol" pitchFamily="18" charset="2"/>
              </a:rPr>
              <a:t>，</a:t>
            </a:r>
            <a:r>
              <a:rPr lang="en-US" altLang="zh-CN" i="1">
                <a:sym typeface="Symbol" pitchFamily="18" charset="2"/>
              </a:rPr>
              <a:t>u</a:t>
            </a:r>
            <a:r>
              <a:rPr lang="en-US" altLang="zh-CN" i="1" baseline="-25000">
                <a:sym typeface="Symbol" pitchFamily="18" charset="2"/>
              </a:rPr>
              <a:t>ij</a:t>
            </a:r>
            <a:r>
              <a:rPr lang="en-US" altLang="zh-CN">
                <a:sym typeface="Symbol" pitchFamily="18" charset="2"/>
              </a:rPr>
              <a:t>=</a:t>
            </a:r>
            <a:r>
              <a:rPr lang="zh-CN" altLang="en-US">
                <a:sym typeface="Symbol" pitchFamily="18" charset="2"/>
              </a:rPr>
              <a:t>分子/</a:t>
            </a:r>
            <a:r>
              <a:rPr lang="en-US" altLang="zh-CN" i="1">
                <a:sym typeface="Symbol" pitchFamily="18" charset="2"/>
              </a:rPr>
              <a:t>l</a:t>
            </a:r>
            <a:r>
              <a:rPr lang="en-US" altLang="zh-CN" i="1" baseline="-25000">
                <a:sym typeface="Symbol" pitchFamily="18" charset="2"/>
              </a:rPr>
              <a:t>ii</a:t>
            </a:r>
            <a:r>
              <a:rPr lang="zh-CN" altLang="en-US">
                <a:sym typeface="Symbol" pitchFamily="18" charset="2"/>
              </a:rPr>
              <a:t>，</a:t>
            </a:r>
            <a:r>
              <a:rPr lang="en-US" altLang="zh-CN" i="1">
                <a:sym typeface="Symbol" pitchFamily="18" charset="2"/>
              </a:rPr>
              <a:t>z</a:t>
            </a:r>
            <a:r>
              <a:rPr lang="en-US" altLang="zh-CN" i="1" baseline="-25000">
                <a:sym typeface="Symbol" pitchFamily="18" charset="2"/>
              </a:rPr>
              <a:t>i</a:t>
            </a:r>
            <a:r>
              <a:rPr lang="en-US" altLang="zh-CN">
                <a:sym typeface="Symbol" pitchFamily="18" charset="2"/>
              </a:rPr>
              <a:t>=</a:t>
            </a:r>
            <a:r>
              <a:rPr lang="zh-CN" altLang="en-US">
                <a:sym typeface="Symbol" pitchFamily="18" charset="2"/>
              </a:rPr>
              <a:t>分子/</a:t>
            </a:r>
            <a:r>
              <a:rPr lang="en-US" altLang="zh-CN" i="1">
                <a:sym typeface="Symbol" pitchFamily="18" charset="2"/>
              </a:rPr>
              <a:t>l</a:t>
            </a:r>
            <a:r>
              <a:rPr lang="en-US" altLang="zh-CN" i="1" baseline="-25000">
                <a:sym typeface="Symbol" pitchFamily="18" charset="2"/>
              </a:rPr>
              <a:t>ii</a:t>
            </a:r>
            <a:r>
              <a:rPr lang="zh-CN" altLang="en-US">
                <a:sym typeface="Symbol" pitchFamily="18" charset="2"/>
              </a:rPr>
              <a:t>，</a:t>
            </a:r>
            <a:r>
              <a:rPr lang="en-US" altLang="zh-CN" i="1">
                <a:sym typeface="Symbol" pitchFamily="18" charset="2"/>
              </a:rPr>
              <a:t>x</a:t>
            </a:r>
            <a:r>
              <a:rPr lang="en-US" altLang="zh-CN" i="1" baseline="-25000">
                <a:sym typeface="Symbol" pitchFamily="18" charset="2"/>
              </a:rPr>
              <a:t>i</a:t>
            </a:r>
            <a:r>
              <a:rPr lang="en-US" altLang="zh-CN">
                <a:sym typeface="Symbol" pitchFamily="18" charset="2"/>
              </a:rPr>
              <a:t>=</a:t>
            </a:r>
            <a:r>
              <a:rPr lang="zh-CN" altLang="en-US">
                <a:sym typeface="Symbol" pitchFamily="18" charset="2"/>
              </a:rPr>
              <a:t>分子/</a:t>
            </a:r>
            <a:r>
              <a:rPr lang="en-US" altLang="zh-CN" i="1">
                <a:sym typeface="Symbol" pitchFamily="18" charset="2"/>
              </a:rPr>
              <a:t>u</a:t>
            </a:r>
            <a:r>
              <a:rPr lang="en-US" altLang="zh-CN" i="1" baseline="-25000">
                <a:sym typeface="Symbol" pitchFamily="18" charset="2"/>
              </a:rPr>
              <a:t>ii</a:t>
            </a:r>
            <a:endParaRPr lang="zh-CN" altLang="en-US">
              <a:sym typeface="Symbol" pitchFamily="18" charset="2"/>
            </a:endParaRPr>
          </a:p>
          <a:p>
            <a:pPr lvl="1"/>
            <a:r>
              <a:rPr lang="zh-CN" altLang="en-US">
                <a:sym typeface="Symbol" pitchFamily="18" charset="2"/>
              </a:rPr>
              <a:t>公式</a:t>
            </a:r>
            <a:r>
              <a:rPr lang="en-US" altLang="zh-CN" i="1">
                <a:sym typeface="Symbol" pitchFamily="18" charset="2"/>
              </a:rPr>
              <a:t>l</a:t>
            </a:r>
            <a:r>
              <a:rPr lang="en-US" altLang="zh-CN" i="1" baseline="-25000">
                <a:sym typeface="Symbol" pitchFamily="18" charset="2"/>
              </a:rPr>
              <a:t>ik </a:t>
            </a:r>
            <a:r>
              <a:rPr lang="en-US" altLang="zh-CN" i="1">
                <a:sym typeface="Symbol" pitchFamily="18" charset="2"/>
              </a:rPr>
              <a:t>u</a:t>
            </a:r>
            <a:r>
              <a:rPr lang="en-US" altLang="zh-CN" i="1" baseline="-25000">
                <a:sym typeface="Symbol" pitchFamily="18" charset="2"/>
              </a:rPr>
              <a:t>kj</a:t>
            </a:r>
            <a:r>
              <a:rPr lang="zh-CN" altLang="en-US">
                <a:sym typeface="Symbol" pitchFamily="18" charset="2"/>
              </a:rPr>
              <a:t>，</a:t>
            </a:r>
            <a:endParaRPr lang="en-US" altLang="zh-CN">
              <a:sym typeface="Symbol" pitchFamily="18" charset="2"/>
            </a:endParaRPr>
          </a:p>
          <a:p>
            <a:pPr lvl="1"/>
            <a:r>
              <a:rPr lang="zh-CN" altLang="en-US">
                <a:sym typeface="Symbol" pitchFamily="18" charset="2"/>
              </a:rPr>
              <a:t>分母为零</a:t>
            </a:r>
            <a:endParaRPr lang="en-US" altLang="zh-CN"/>
          </a:p>
          <a:p>
            <a:r>
              <a:rPr lang="zh-CN" altLang="en-US">
                <a:solidFill>
                  <a:srgbClr val="FF0000"/>
                </a:solidFill>
              </a:rPr>
              <a:t>提出主元素法是为控制舍入误差</a:t>
            </a:r>
          </a:p>
          <a:p>
            <a:r>
              <a:rPr lang="zh-CN" altLang="en-US">
                <a:sym typeface="Symbol" pitchFamily="18" charset="2"/>
              </a:rPr>
              <a:t>交换原则：</a:t>
            </a:r>
          </a:p>
          <a:p>
            <a:pPr lvl="1"/>
            <a:r>
              <a:rPr lang="zh-CN" altLang="en-US">
                <a:sym typeface="Symbol" pitchFamily="18" charset="2"/>
              </a:rPr>
              <a:t>使在对角线位置上获得绝对值尽可能大的系数作为</a:t>
            </a:r>
            <a:r>
              <a:rPr lang="en-US" altLang="zh-CN" i="1">
                <a:sym typeface="Symbol" pitchFamily="18" charset="2"/>
              </a:rPr>
              <a:t>u</a:t>
            </a:r>
            <a:r>
              <a:rPr lang="en-US" altLang="zh-CN" i="1" baseline="-25000">
                <a:sym typeface="Symbol" pitchFamily="18" charset="2"/>
              </a:rPr>
              <a:t>ij</a:t>
            </a:r>
            <a:r>
              <a:rPr lang="en-US" altLang="zh-CN">
                <a:sym typeface="Symbol" pitchFamily="18" charset="2"/>
              </a:rPr>
              <a:t>, </a:t>
            </a:r>
            <a:r>
              <a:rPr lang="zh-CN" altLang="en-US">
                <a:sym typeface="Symbol" pitchFamily="18" charset="2"/>
              </a:rPr>
              <a:t>称这样的</a:t>
            </a:r>
            <a:r>
              <a:rPr lang="en-US" altLang="zh-CN" i="1">
                <a:sym typeface="Symbol" pitchFamily="18" charset="2"/>
              </a:rPr>
              <a:t>u</a:t>
            </a:r>
            <a:r>
              <a:rPr lang="en-US" altLang="zh-CN" i="1" baseline="-25000">
                <a:sym typeface="Symbol" pitchFamily="18" charset="2"/>
              </a:rPr>
              <a:t>ij</a:t>
            </a:r>
            <a:r>
              <a:rPr lang="zh-CN" altLang="en-US">
                <a:sym typeface="Symbol" pitchFamily="18" charset="2"/>
              </a:rPr>
              <a:t>为</a:t>
            </a:r>
            <a:r>
              <a:rPr lang="zh-CN" altLang="en-US" u="sng">
                <a:solidFill>
                  <a:srgbClr val="FF3300"/>
                </a:solidFill>
                <a:sym typeface="Symbol" pitchFamily="18" charset="2"/>
              </a:rPr>
              <a:t>主元素</a:t>
            </a:r>
            <a:r>
              <a:rPr lang="zh-CN" altLang="en-US">
                <a:sym typeface="Symbol" pitchFamily="18" charset="2"/>
              </a:rPr>
              <a:t>，并称使用主元素的消元法为</a:t>
            </a:r>
            <a:r>
              <a:rPr lang="zh-CN" altLang="en-US" u="sng">
                <a:solidFill>
                  <a:srgbClr val="FF3300"/>
                </a:solidFill>
                <a:sym typeface="Symbol" pitchFamily="18" charset="2"/>
              </a:rPr>
              <a:t>主元素法</a:t>
            </a:r>
          </a:p>
          <a:p>
            <a:r>
              <a:rPr lang="zh-CN" altLang="en-US">
                <a:sym typeface="Symbol" pitchFamily="18" charset="2"/>
              </a:rPr>
              <a:t>根据主元素选取范围分为：列主元素法、全主元素法</a:t>
            </a:r>
          </a:p>
        </p:txBody>
      </p:sp>
    </p:spTree>
    <p:extLst>
      <p:ext uri="{BB962C8B-B14F-4D97-AF65-F5344CB8AC3E}">
        <p14:creationId xmlns:p14="http://schemas.microsoft.com/office/powerpoint/2010/main" val="54288538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A25F9A17-038A-460E-AE63-43112CEB1E93}" type="slidenum">
              <a:rPr lang="zh-CN" altLang="en-US"/>
              <a:pPr/>
              <a:t>28</a:t>
            </a:fld>
            <a:endParaRPr lang="en-US" altLang="zh-CN"/>
          </a:p>
        </p:txBody>
      </p:sp>
      <p:sp>
        <p:nvSpPr>
          <p:cNvPr id="5" name="日期占位符 4"/>
          <p:cNvSpPr>
            <a:spLocks noGrp="1"/>
          </p:cNvSpPr>
          <p:nvPr>
            <p:ph type="dt" sz="half" idx="11"/>
          </p:nvPr>
        </p:nvSpPr>
        <p:spPr/>
        <p:txBody>
          <a:bodyPr/>
          <a:lstStyle/>
          <a:p>
            <a:fld id="{5A29B22A-D25B-4208-9D6D-8D0386D7C908}" type="datetime1">
              <a:rPr lang="zh-CN" altLang="en-US"/>
              <a:pPr/>
              <a:t>2024/11/18</a:t>
            </a:fld>
            <a:endParaRPr lang="en-US" altLang="zh-CN" sz="1000"/>
          </a:p>
        </p:txBody>
      </p:sp>
      <p:sp>
        <p:nvSpPr>
          <p:cNvPr id="816130" name="Rectangle 2"/>
          <p:cNvSpPr>
            <a:spLocks noGrp="1" noChangeArrowheads="1"/>
          </p:cNvSpPr>
          <p:nvPr>
            <p:ph type="title"/>
          </p:nvPr>
        </p:nvSpPr>
        <p:spPr/>
        <p:txBody>
          <a:bodyPr/>
          <a:lstStyle/>
          <a:p>
            <a:r>
              <a:rPr lang="zh-CN" altLang="en-US"/>
              <a:t>第四章  解线性方程组的迭代法</a:t>
            </a:r>
          </a:p>
        </p:txBody>
      </p:sp>
      <p:sp>
        <p:nvSpPr>
          <p:cNvPr id="816131" name="Rectangle 3"/>
          <p:cNvSpPr>
            <a:spLocks noGrp="1" noChangeArrowheads="1"/>
          </p:cNvSpPr>
          <p:nvPr>
            <p:ph type="body" idx="1"/>
          </p:nvPr>
        </p:nvSpPr>
        <p:spPr>
          <a:xfrm>
            <a:off x="650875" y="1143000"/>
            <a:ext cx="8820150" cy="2870200"/>
          </a:xfrm>
        </p:spPr>
        <p:txBody>
          <a:bodyPr/>
          <a:lstStyle/>
          <a:p>
            <a:r>
              <a:rPr lang="zh-CN" altLang="en-US" sz="3200"/>
              <a:t>1.范数定义</a:t>
            </a:r>
          </a:p>
          <a:p>
            <a:r>
              <a:rPr lang="en-US" altLang="zh-CN" sz="3200"/>
              <a:t>2.</a:t>
            </a:r>
            <a:r>
              <a:rPr lang="zh-CN" altLang="en-US" sz="3200"/>
              <a:t>雅克比迭代法</a:t>
            </a:r>
          </a:p>
          <a:p>
            <a:r>
              <a:rPr lang="en-US" altLang="zh-CN" sz="3200"/>
              <a:t>3.</a:t>
            </a:r>
            <a:r>
              <a:rPr lang="zh-CN" altLang="en-US" sz="3200"/>
              <a:t>高斯</a:t>
            </a:r>
            <a:r>
              <a:rPr lang="en-US" altLang="zh-CN" sz="3200"/>
              <a:t>-</a:t>
            </a:r>
            <a:r>
              <a:rPr lang="zh-CN" altLang="en-US" sz="3200"/>
              <a:t>赛德尔迭代法</a:t>
            </a:r>
          </a:p>
          <a:p>
            <a:r>
              <a:rPr lang="en-US" altLang="zh-CN" sz="3200"/>
              <a:t>4.</a:t>
            </a:r>
            <a:r>
              <a:rPr lang="zh-CN" altLang="en-US" sz="3200"/>
              <a:t>有关收敛的判别</a:t>
            </a:r>
          </a:p>
          <a:p>
            <a:r>
              <a:rPr lang="en-US" altLang="zh-CN" sz="3200"/>
              <a:t>5.</a:t>
            </a:r>
            <a:r>
              <a:rPr lang="zh-CN" altLang="en-US" sz="3200"/>
              <a:t>松弛迭代法</a:t>
            </a:r>
            <a:endParaRPr lang="en-US" altLang="zh-CN" sz="3200"/>
          </a:p>
        </p:txBody>
      </p:sp>
    </p:spTree>
    <p:extLst>
      <p:ext uri="{BB962C8B-B14F-4D97-AF65-F5344CB8AC3E}">
        <p14:creationId xmlns:p14="http://schemas.microsoft.com/office/powerpoint/2010/main" val="676017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865DE970-C701-47D3-AE86-4A612D4BFBC1}" type="slidenum">
              <a:rPr lang="zh-CN" altLang="en-US"/>
              <a:pPr/>
              <a:t>29</a:t>
            </a:fld>
            <a:endParaRPr lang="en-US" altLang="zh-CN"/>
          </a:p>
        </p:txBody>
      </p:sp>
      <p:sp>
        <p:nvSpPr>
          <p:cNvPr id="15" name="日期占位符 4"/>
          <p:cNvSpPr>
            <a:spLocks noGrp="1"/>
          </p:cNvSpPr>
          <p:nvPr>
            <p:ph type="dt" sz="half" idx="11"/>
          </p:nvPr>
        </p:nvSpPr>
        <p:spPr/>
        <p:txBody>
          <a:bodyPr/>
          <a:lstStyle/>
          <a:p>
            <a:fld id="{F14E7C62-5E1C-4AFA-81C9-A400F8B005A1}" type="datetime1">
              <a:rPr lang="zh-CN" altLang="en-US"/>
              <a:pPr/>
              <a:t>2024/11/18</a:t>
            </a:fld>
            <a:endParaRPr lang="en-US" altLang="zh-CN" sz="1000"/>
          </a:p>
        </p:txBody>
      </p:sp>
      <p:sp>
        <p:nvSpPr>
          <p:cNvPr id="819202" name="Rectangle 2"/>
          <p:cNvSpPr>
            <a:spLocks noGrp="1" noChangeArrowheads="1"/>
          </p:cNvSpPr>
          <p:nvPr>
            <p:ph type="title"/>
          </p:nvPr>
        </p:nvSpPr>
        <p:spPr>
          <a:xfrm>
            <a:off x="650875" y="365125"/>
            <a:ext cx="8820150" cy="549275"/>
          </a:xfrm>
        </p:spPr>
        <p:txBody>
          <a:bodyPr/>
          <a:lstStyle/>
          <a:p>
            <a:r>
              <a:rPr lang="zh-CN" altLang="en-US" sz="4000"/>
              <a:t>1 向量范数,矩阵范数,谱半径</a:t>
            </a:r>
          </a:p>
        </p:txBody>
      </p:sp>
      <p:graphicFrame>
        <p:nvGraphicFramePr>
          <p:cNvPr id="819203" name="Object 3"/>
          <p:cNvGraphicFramePr>
            <a:graphicFrameLocks noChangeAspect="1"/>
          </p:cNvGraphicFramePr>
          <p:nvPr/>
        </p:nvGraphicFramePr>
        <p:xfrm>
          <a:off x="1816100" y="4054475"/>
          <a:ext cx="3887788" cy="2803525"/>
        </p:xfrm>
        <a:graphic>
          <a:graphicData uri="http://schemas.openxmlformats.org/presentationml/2006/ole">
            <mc:AlternateContent xmlns:mc="http://schemas.openxmlformats.org/markup-compatibility/2006">
              <mc:Choice xmlns:v="urn:schemas-microsoft-com:vml" Requires="v">
                <p:oleObj name="Equation" r:id="rId3" imgW="1333440" imgH="1180800" progId="Equation.3">
                  <p:embed/>
                </p:oleObj>
              </mc:Choice>
              <mc:Fallback>
                <p:oleObj name="Equation" r:id="rId3" imgW="1333440" imgH="1180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00" y="4054475"/>
                        <a:ext cx="3887788" cy="280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04" name="Object 4"/>
          <p:cNvGraphicFramePr>
            <a:graphicFrameLocks noChangeAspect="1"/>
          </p:cNvGraphicFramePr>
          <p:nvPr/>
        </p:nvGraphicFramePr>
        <p:xfrm>
          <a:off x="1785938" y="1700213"/>
          <a:ext cx="6521450" cy="1108075"/>
        </p:xfrm>
        <a:graphic>
          <a:graphicData uri="http://schemas.openxmlformats.org/presentationml/2006/ole">
            <mc:AlternateContent xmlns:mc="http://schemas.openxmlformats.org/markup-compatibility/2006">
              <mc:Choice xmlns:v="urn:schemas-microsoft-com:vml" Requires="v">
                <p:oleObj name="Equation" r:id="rId5" imgW="2450880" imgH="431640" progId="Equation.3">
                  <p:embed/>
                </p:oleObj>
              </mc:Choice>
              <mc:Fallback>
                <p:oleObj name="Equation" r:id="rId5" imgW="245088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938" y="1700213"/>
                        <a:ext cx="652145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05" name="Object 5"/>
          <p:cNvGraphicFramePr>
            <a:graphicFrameLocks noChangeAspect="1"/>
          </p:cNvGraphicFramePr>
          <p:nvPr/>
        </p:nvGraphicFramePr>
        <p:xfrm>
          <a:off x="1816100" y="2598738"/>
          <a:ext cx="6438900" cy="1174750"/>
        </p:xfrm>
        <a:graphic>
          <a:graphicData uri="http://schemas.openxmlformats.org/presentationml/2006/ole">
            <mc:AlternateContent xmlns:mc="http://schemas.openxmlformats.org/markup-compatibility/2006">
              <mc:Choice xmlns:v="urn:schemas-microsoft-com:vml" Requires="v">
                <p:oleObj name="Equation" r:id="rId7" imgW="2641320" imgH="457200" progId="Equation.3">
                  <p:embed/>
                </p:oleObj>
              </mc:Choice>
              <mc:Fallback>
                <p:oleObj name="Equation" r:id="rId7" imgW="264132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6100" y="2598738"/>
                        <a:ext cx="6438900"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06" name="Object 6"/>
          <p:cNvGraphicFramePr>
            <a:graphicFrameLocks noChangeAspect="1"/>
          </p:cNvGraphicFramePr>
          <p:nvPr/>
        </p:nvGraphicFramePr>
        <p:xfrm>
          <a:off x="1828800" y="3633788"/>
          <a:ext cx="8077200" cy="717550"/>
        </p:xfrm>
        <a:graphic>
          <a:graphicData uri="http://schemas.openxmlformats.org/presentationml/2006/ole">
            <mc:AlternateContent xmlns:mc="http://schemas.openxmlformats.org/markup-compatibility/2006">
              <mc:Choice xmlns:v="urn:schemas-microsoft-com:vml" Requires="v">
                <p:oleObj name="Equation" r:id="rId9" imgW="2933640" imgH="279360" progId="Equation.3">
                  <p:embed/>
                </p:oleObj>
              </mc:Choice>
              <mc:Fallback>
                <p:oleObj name="Equation" r:id="rId9" imgW="2933640" imgH="2793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3633788"/>
                        <a:ext cx="8077200"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07" name="Rectangle 7"/>
          <p:cNvSpPr>
            <a:spLocks noChangeArrowheads="1"/>
          </p:cNvSpPr>
          <p:nvPr/>
        </p:nvSpPr>
        <p:spPr bwMode="auto">
          <a:xfrm>
            <a:off x="492125" y="1989138"/>
            <a:ext cx="1338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a:solidFill>
                  <a:srgbClr val="FF3300"/>
                </a:solidFill>
                <a:sym typeface="Symbol" pitchFamily="18" charset="2"/>
              </a:rPr>
              <a:t>1-范数</a:t>
            </a:r>
          </a:p>
        </p:txBody>
      </p:sp>
      <p:sp>
        <p:nvSpPr>
          <p:cNvPr id="819208" name="Rectangle 8"/>
          <p:cNvSpPr>
            <a:spLocks noChangeArrowheads="1"/>
          </p:cNvSpPr>
          <p:nvPr/>
        </p:nvSpPr>
        <p:spPr bwMode="auto">
          <a:xfrm>
            <a:off x="492125" y="2857500"/>
            <a:ext cx="13382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a:solidFill>
                  <a:srgbClr val="FF3300"/>
                </a:solidFill>
                <a:sym typeface="Symbol" pitchFamily="18" charset="2"/>
              </a:rPr>
              <a:t>2-范数</a:t>
            </a:r>
          </a:p>
        </p:txBody>
      </p:sp>
      <p:sp>
        <p:nvSpPr>
          <p:cNvPr id="819209" name="Rectangle 9"/>
          <p:cNvSpPr>
            <a:spLocks noChangeArrowheads="1"/>
          </p:cNvSpPr>
          <p:nvPr/>
        </p:nvSpPr>
        <p:spPr bwMode="auto">
          <a:xfrm>
            <a:off x="495300" y="3557588"/>
            <a:ext cx="1425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a:solidFill>
                  <a:srgbClr val="FF3300"/>
                </a:solidFill>
                <a:sym typeface="Symbol" pitchFamily="18" charset="2"/>
              </a:rPr>
              <a:t>-范数</a:t>
            </a:r>
          </a:p>
        </p:txBody>
      </p:sp>
      <p:sp>
        <p:nvSpPr>
          <p:cNvPr id="819210" name="Rectangle 10"/>
          <p:cNvSpPr>
            <a:spLocks noChangeArrowheads="1"/>
          </p:cNvSpPr>
          <p:nvPr/>
        </p:nvSpPr>
        <p:spPr bwMode="auto">
          <a:xfrm>
            <a:off x="5919788" y="6035675"/>
            <a:ext cx="14081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u="sng">
                <a:solidFill>
                  <a:srgbClr val="FF3300"/>
                </a:solidFill>
              </a:rPr>
              <a:t>行范数</a:t>
            </a:r>
          </a:p>
        </p:txBody>
      </p:sp>
      <p:sp>
        <p:nvSpPr>
          <p:cNvPr id="819211" name="Rectangle 11"/>
          <p:cNvSpPr>
            <a:spLocks noChangeArrowheads="1"/>
          </p:cNvSpPr>
          <p:nvPr/>
        </p:nvSpPr>
        <p:spPr bwMode="auto">
          <a:xfrm>
            <a:off x="6002338" y="4237038"/>
            <a:ext cx="14081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u="sng">
                <a:solidFill>
                  <a:srgbClr val="FF3300"/>
                </a:solidFill>
              </a:rPr>
              <a:t>列范数</a:t>
            </a:r>
          </a:p>
        </p:txBody>
      </p:sp>
      <p:sp>
        <p:nvSpPr>
          <p:cNvPr id="819212" name="Rectangle 12"/>
          <p:cNvSpPr>
            <a:spLocks noChangeArrowheads="1"/>
          </p:cNvSpPr>
          <p:nvPr/>
        </p:nvSpPr>
        <p:spPr bwMode="auto">
          <a:xfrm>
            <a:off x="5999163" y="5045075"/>
            <a:ext cx="13382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u="sng">
                <a:solidFill>
                  <a:srgbClr val="FF3300"/>
                </a:solidFill>
                <a:sym typeface="Symbol" pitchFamily="18" charset="2"/>
              </a:rPr>
              <a:t>2-范数</a:t>
            </a:r>
          </a:p>
        </p:txBody>
      </p:sp>
      <p:sp>
        <p:nvSpPr>
          <p:cNvPr id="819213" name="Rectangle 13"/>
          <p:cNvSpPr>
            <a:spLocks noGrp="1" noChangeArrowheads="1"/>
          </p:cNvSpPr>
          <p:nvPr>
            <p:ph type="body" idx="1"/>
          </p:nvPr>
        </p:nvSpPr>
        <p:spPr>
          <a:xfrm>
            <a:off x="650875" y="1143000"/>
            <a:ext cx="8820150" cy="854075"/>
          </a:xfrm>
          <a:noFill/>
          <a:ln/>
        </p:spPr>
        <p:txBody>
          <a:bodyPr/>
          <a:lstStyle/>
          <a:p>
            <a:pPr>
              <a:lnSpc>
                <a:spcPct val="100000"/>
              </a:lnSpc>
            </a:pPr>
            <a:r>
              <a:rPr lang="zh-CN" altLang="en-US"/>
              <a:t>向量范数是用来度量向量长度的,它可以看成是二、三维解析几何中向量长度概念的推广</a:t>
            </a:r>
          </a:p>
        </p:txBody>
      </p:sp>
    </p:spTree>
    <p:extLst>
      <p:ext uri="{BB962C8B-B14F-4D97-AF65-F5344CB8AC3E}">
        <p14:creationId xmlns:p14="http://schemas.microsoft.com/office/powerpoint/2010/main" val="148026211"/>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 name="灯片编号占位符 3"/>
          <p:cNvSpPr>
            <a:spLocks noGrp="1"/>
          </p:cNvSpPr>
          <p:nvPr>
            <p:ph type="sldNum" sz="quarter" idx="10"/>
          </p:nvPr>
        </p:nvSpPr>
        <p:spPr/>
        <p:txBody>
          <a:bodyPr/>
          <a:lstStyle/>
          <a:p>
            <a:fld id="{729B83FC-EF63-4FF4-B9DD-FB7B1555D318}" type="slidenum">
              <a:rPr lang="zh-CN" altLang="en-US"/>
              <a:pPr/>
              <a:t>30</a:t>
            </a:fld>
            <a:endParaRPr lang="en-US" altLang="zh-CN"/>
          </a:p>
        </p:txBody>
      </p:sp>
      <p:sp>
        <p:nvSpPr>
          <p:cNvPr id="25" name="日期占位符 4"/>
          <p:cNvSpPr>
            <a:spLocks noGrp="1"/>
          </p:cNvSpPr>
          <p:nvPr>
            <p:ph type="dt" sz="half" idx="11"/>
          </p:nvPr>
        </p:nvSpPr>
        <p:spPr/>
        <p:txBody>
          <a:bodyPr/>
          <a:lstStyle/>
          <a:p>
            <a:fld id="{BC44CDB5-3158-4580-B818-6874CB608585}" type="datetime1">
              <a:rPr lang="zh-CN" altLang="en-US"/>
              <a:pPr/>
              <a:t>2024/11/18</a:t>
            </a:fld>
            <a:endParaRPr lang="en-US" altLang="zh-CN" sz="1000"/>
          </a:p>
        </p:txBody>
      </p:sp>
      <p:sp>
        <p:nvSpPr>
          <p:cNvPr id="824322" name="Rectangle 2"/>
          <p:cNvSpPr>
            <a:spLocks noGrp="1" noChangeArrowheads="1"/>
          </p:cNvSpPr>
          <p:nvPr>
            <p:ph type="title"/>
          </p:nvPr>
        </p:nvSpPr>
        <p:spPr/>
        <p:txBody>
          <a:bodyPr/>
          <a:lstStyle/>
          <a:p>
            <a:r>
              <a:rPr lang="en-US" altLang="zh-CN"/>
              <a:t>2. </a:t>
            </a:r>
            <a:r>
              <a:rPr lang="zh-CN" altLang="en-US"/>
              <a:t>雅克比迭代法</a:t>
            </a:r>
            <a:endParaRPr lang="en-US" altLang="zh-CN"/>
          </a:p>
        </p:txBody>
      </p:sp>
      <p:sp>
        <p:nvSpPr>
          <p:cNvPr id="824323" name="Rectangle 3"/>
          <p:cNvSpPr>
            <a:spLocks noGrp="1" noChangeArrowheads="1"/>
          </p:cNvSpPr>
          <p:nvPr>
            <p:ph type="body" idx="1"/>
          </p:nvPr>
        </p:nvSpPr>
        <p:spPr>
          <a:xfrm>
            <a:off x="650875" y="1143000"/>
            <a:ext cx="8820150" cy="438150"/>
          </a:xfrm>
        </p:spPr>
        <p:txBody>
          <a:bodyPr/>
          <a:lstStyle/>
          <a:p>
            <a:r>
              <a:rPr lang="zh-CN" altLang="en-US" sz="3200" u="sng">
                <a:solidFill>
                  <a:srgbClr val="FF3300"/>
                </a:solidFill>
              </a:rPr>
              <a:t>雅克比迭代法</a:t>
            </a:r>
          </a:p>
        </p:txBody>
      </p:sp>
      <p:graphicFrame>
        <p:nvGraphicFramePr>
          <p:cNvPr id="824324" name="Object 4"/>
          <p:cNvGraphicFramePr>
            <a:graphicFrameLocks noChangeAspect="1"/>
          </p:cNvGraphicFramePr>
          <p:nvPr/>
        </p:nvGraphicFramePr>
        <p:xfrm>
          <a:off x="228600" y="3868738"/>
          <a:ext cx="5867400" cy="981075"/>
        </p:xfrm>
        <a:graphic>
          <a:graphicData uri="http://schemas.openxmlformats.org/presentationml/2006/ole">
            <mc:AlternateContent xmlns:mc="http://schemas.openxmlformats.org/markup-compatibility/2006">
              <mc:Choice xmlns:v="urn:schemas-microsoft-com:vml" Requires="v">
                <p:oleObj name="Equation" r:id="rId3" imgW="2463480" imgH="431640" progId="Equation.3">
                  <p:embed/>
                </p:oleObj>
              </mc:Choice>
              <mc:Fallback>
                <p:oleObj name="Equation" r:id="rId3" imgW="24634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68738"/>
                        <a:ext cx="5867400"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25" name="Object 5"/>
          <p:cNvGraphicFramePr>
            <a:graphicFrameLocks noChangeAspect="1"/>
          </p:cNvGraphicFramePr>
          <p:nvPr/>
        </p:nvGraphicFramePr>
        <p:xfrm>
          <a:off x="304800" y="1790700"/>
          <a:ext cx="4040188" cy="549275"/>
        </p:xfrm>
        <a:graphic>
          <a:graphicData uri="http://schemas.openxmlformats.org/presentationml/2006/ole">
            <mc:AlternateContent xmlns:mc="http://schemas.openxmlformats.org/markup-compatibility/2006">
              <mc:Choice xmlns:v="urn:schemas-microsoft-com:vml" Requires="v">
                <p:oleObj name="Equation" r:id="rId5" imgW="1815840" imgH="228600" progId="Equation.3">
                  <p:embed/>
                </p:oleObj>
              </mc:Choice>
              <mc:Fallback>
                <p:oleObj name="Equation" r:id="rId5" imgW="18158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790700"/>
                        <a:ext cx="404018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26" name="Object 6"/>
          <p:cNvGraphicFramePr>
            <a:graphicFrameLocks noChangeAspect="1"/>
          </p:cNvGraphicFramePr>
          <p:nvPr/>
        </p:nvGraphicFramePr>
        <p:xfrm>
          <a:off x="304800" y="2362200"/>
          <a:ext cx="4114800" cy="530225"/>
        </p:xfrm>
        <a:graphic>
          <a:graphicData uri="http://schemas.openxmlformats.org/presentationml/2006/ole">
            <mc:AlternateContent xmlns:mc="http://schemas.openxmlformats.org/markup-compatibility/2006">
              <mc:Choice xmlns:v="urn:schemas-microsoft-com:vml" Requires="v">
                <p:oleObj name="Equation" r:id="rId7" imgW="1930320" imgH="228600" progId="Equation.3">
                  <p:embed/>
                </p:oleObj>
              </mc:Choice>
              <mc:Fallback>
                <p:oleObj name="Equation" r:id="rId7" imgW="193032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2362200"/>
                        <a:ext cx="41148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27" name="Object 7"/>
          <p:cNvGraphicFramePr>
            <a:graphicFrameLocks noChangeAspect="1"/>
          </p:cNvGraphicFramePr>
          <p:nvPr/>
        </p:nvGraphicFramePr>
        <p:xfrm>
          <a:off x="138113" y="4729163"/>
          <a:ext cx="6034087" cy="984250"/>
        </p:xfrm>
        <a:graphic>
          <a:graphicData uri="http://schemas.openxmlformats.org/presentationml/2006/ole">
            <mc:AlternateContent xmlns:mc="http://schemas.openxmlformats.org/markup-compatibility/2006">
              <mc:Choice xmlns:v="urn:schemas-microsoft-com:vml" Requires="v">
                <p:oleObj name="Equation" r:id="rId9" imgW="2603160" imgH="444240" progId="Equation.3">
                  <p:embed/>
                </p:oleObj>
              </mc:Choice>
              <mc:Fallback>
                <p:oleObj name="Equation" r:id="rId9" imgW="2603160" imgH="4442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8113" y="4729163"/>
                        <a:ext cx="6034087"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28" name="Object 8"/>
          <p:cNvGraphicFramePr>
            <a:graphicFrameLocks noChangeAspect="1"/>
          </p:cNvGraphicFramePr>
          <p:nvPr/>
        </p:nvGraphicFramePr>
        <p:xfrm>
          <a:off x="304800" y="2898775"/>
          <a:ext cx="4040188" cy="530225"/>
        </p:xfrm>
        <a:graphic>
          <a:graphicData uri="http://schemas.openxmlformats.org/presentationml/2006/ole">
            <mc:AlternateContent xmlns:mc="http://schemas.openxmlformats.org/markup-compatibility/2006">
              <mc:Choice xmlns:v="urn:schemas-microsoft-com:vml" Requires="v">
                <p:oleObj name="Equation" r:id="rId11" imgW="1955520" imgH="228600" progId="Equation.3">
                  <p:embed/>
                </p:oleObj>
              </mc:Choice>
              <mc:Fallback>
                <p:oleObj name="Equation" r:id="rId11" imgW="195552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2898775"/>
                        <a:ext cx="40401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4329" name="Object 9"/>
          <p:cNvGraphicFramePr>
            <a:graphicFrameLocks noChangeAspect="1"/>
          </p:cNvGraphicFramePr>
          <p:nvPr/>
        </p:nvGraphicFramePr>
        <p:xfrm>
          <a:off x="228600" y="5697538"/>
          <a:ext cx="5943600" cy="931862"/>
        </p:xfrm>
        <a:graphic>
          <a:graphicData uri="http://schemas.openxmlformats.org/presentationml/2006/ole">
            <mc:AlternateContent xmlns:mc="http://schemas.openxmlformats.org/markup-compatibility/2006">
              <mc:Choice xmlns:v="urn:schemas-microsoft-com:vml" Requires="v">
                <p:oleObj name="Equation" r:id="rId13" imgW="2844720" imgH="444240" progId="Equation.3">
                  <p:embed/>
                </p:oleObj>
              </mc:Choice>
              <mc:Fallback>
                <p:oleObj name="Equation" r:id="rId13" imgW="2844720" imgH="444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600" y="5697538"/>
                        <a:ext cx="5943600"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30" name="Rectangle 10"/>
          <p:cNvSpPr>
            <a:spLocks noChangeArrowheads="1"/>
          </p:cNvSpPr>
          <p:nvPr/>
        </p:nvSpPr>
        <p:spPr bwMode="auto">
          <a:xfrm>
            <a:off x="382588" y="4021138"/>
            <a:ext cx="73818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4331" name="Rectangle 11"/>
          <p:cNvSpPr>
            <a:spLocks noChangeArrowheads="1"/>
          </p:cNvSpPr>
          <p:nvPr/>
        </p:nvSpPr>
        <p:spPr bwMode="auto">
          <a:xfrm>
            <a:off x="304800" y="4935538"/>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4332" name="Rectangle 12"/>
          <p:cNvSpPr>
            <a:spLocks noChangeArrowheads="1"/>
          </p:cNvSpPr>
          <p:nvPr/>
        </p:nvSpPr>
        <p:spPr bwMode="auto">
          <a:xfrm>
            <a:off x="304800" y="5849938"/>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4333" name="Rectangle 13"/>
          <p:cNvSpPr>
            <a:spLocks noChangeArrowheads="1"/>
          </p:cNvSpPr>
          <p:nvPr/>
        </p:nvSpPr>
        <p:spPr bwMode="auto">
          <a:xfrm>
            <a:off x="1828800" y="40211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4" name="Rectangle 14"/>
          <p:cNvSpPr>
            <a:spLocks noChangeArrowheads="1"/>
          </p:cNvSpPr>
          <p:nvPr/>
        </p:nvSpPr>
        <p:spPr bwMode="auto">
          <a:xfrm>
            <a:off x="3124200" y="40211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5" name="Rectangle 15"/>
          <p:cNvSpPr>
            <a:spLocks noChangeArrowheads="1"/>
          </p:cNvSpPr>
          <p:nvPr/>
        </p:nvSpPr>
        <p:spPr bwMode="auto">
          <a:xfrm>
            <a:off x="4953000" y="40211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6" name="Rectangle 16"/>
          <p:cNvSpPr>
            <a:spLocks noChangeArrowheads="1"/>
          </p:cNvSpPr>
          <p:nvPr/>
        </p:nvSpPr>
        <p:spPr bwMode="auto">
          <a:xfrm>
            <a:off x="1881188" y="4935538"/>
            <a:ext cx="482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7" name="Rectangle 17"/>
          <p:cNvSpPr>
            <a:spLocks noChangeArrowheads="1"/>
          </p:cNvSpPr>
          <p:nvPr/>
        </p:nvSpPr>
        <p:spPr bwMode="auto">
          <a:xfrm>
            <a:off x="3100388" y="4935538"/>
            <a:ext cx="48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8" name="Rectangle 18"/>
          <p:cNvSpPr>
            <a:spLocks noChangeArrowheads="1"/>
          </p:cNvSpPr>
          <p:nvPr/>
        </p:nvSpPr>
        <p:spPr bwMode="auto">
          <a:xfrm>
            <a:off x="4953000" y="49355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39" name="Rectangle 19"/>
          <p:cNvSpPr>
            <a:spLocks noChangeArrowheads="1"/>
          </p:cNvSpPr>
          <p:nvPr/>
        </p:nvSpPr>
        <p:spPr bwMode="auto">
          <a:xfrm>
            <a:off x="1752600" y="58499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40" name="Rectangle 20"/>
          <p:cNvSpPr>
            <a:spLocks noChangeArrowheads="1"/>
          </p:cNvSpPr>
          <p:nvPr/>
        </p:nvSpPr>
        <p:spPr bwMode="auto">
          <a:xfrm>
            <a:off x="2971800" y="58499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4341" name="Rectangle 21"/>
          <p:cNvSpPr>
            <a:spLocks noChangeArrowheads="1"/>
          </p:cNvSpPr>
          <p:nvPr/>
        </p:nvSpPr>
        <p:spPr bwMode="auto">
          <a:xfrm>
            <a:off x="4876800" y="5773738"/>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graphicFrame>
        <p:nvGraphicFramePr>
          <p:cNvPr id="824342" name="Object 22"/>
          <p:cNvGraphicFramePr>
            <a:graphicFrameLocks noChangeAspect="1"/>
          </p:cNvGraphicFramePr>
          <p:nvPr/>
        </p:nvGraphicFramePr>
        <p:xfrm>
          <a:off x="4648200" y="762000"/>
          <a:ext cx="5029200" cy="3267075"/>
        </p:xfrm>
        <a:graphic>
          <a:graphicData uri="http://schemas.openxmlformats.org/presentationml/2006/ole">
            <mc:AlternateContent xmlns:mc="http://schemas.openxmlformats.org/markup-compatibility/2006">
              <mc:Choice xmlns:v="urn:schemas-microsoft-com:vml" Requires="v">
                <p:oleObj name="Equation" r:id="rId15" imgW="2044440" imgH="1422360" progId="Equation.3">
                  <p:embed/>
                </p:oleObj>
              </mc:Choice>
              <mc:Fallback>
                <p:oleObj name="Equation" r:id="rId15" imgW="2044440" imgH="142236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8200" y="762000"/>
                        <a:ext cx="5029200" cy="3267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343" name="Rectangle 23"/>
          <p:cNvSpPr>
            <a:spLocks noChangeArrowheads="1"/>
          </p:cNvSpPr>
          <p:nvPr/>
        </p:nvSpPr>
        <p:spPr bwMode="auto">
          <a:xfrm>
            <a:off x="7848600" y="4114800"/>
            <a:ext cx="16144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solidFill>
                  <a:srgbClr val="0000FF"/>
                </a:solidFill>
              </a:rPr>
              <a:t>迭代矩阵</a:t>
            </a:r>
          </a:p>
        </p:txBody>
      </p:sp>
    </p:spTree>
    <p:custDataLst>
      <p:tags r:id="rId1"/>
    </p:custDataLst>
    <p:extLst>
      <p:ext uri="{BB962C8B-B14F-4D97-AF65-F5344CB8AC3E}">
        <p14:creationId xmlns:p14="http://schemas.microsoft.com/office/powerpoint/2010/main" val="176196405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4325"/>
                                        </p:tgtEl>
                                        <p:attrNameLst>
                                          <p:attrName>style.visibility</p:attrName>
                                        </p:attrNameLst>
                                      </p:cBhvr>
                                      <p:to>
                                        <p:strVal val="visible"/>
                                      </p:to>
                                    </p:set>
                                    <p:animEffect transition="in" filter="dissolve">
                                      <p:cBhvr>
                                        <p:cTn id="7" dur="500"/>
                                        <p:tgtEl>
                                          <p:spTgt spid="824325"/>
                                        </p:tgtEl>
                                      </p:cBhvr>
                                    </p:animEffect>
                                  </p:childTnLst>
                                </p:cTn>
                              </p:par>
                            </p:childTnLst>
                          </p:cTn>
                        </p:par>
                        <p:par>
                          <p:cTn id="8" fill="hold" nodeType="afterGroup">
                            <p:stCondLst>
                              <p:cond delay="500"/>
                            </p:stCondLst>
                            <p:childTnLst>
                              <p:par>
                                <p:cTn id="9" presetID="9" presetClass="entr" presetSubtype="0" fill="hold" nodeType="afterEffect">
                                  <p:stCondLst>
                                    <p:cond delay="5000"/>
                                  </p:stCondLst>
                                  <p:childTnLst>
                                    <p:set>
                                      <p:cBhvr>
                                        <p:cTn id="10" dur="1" fill="hold">
                                          <p:stCondLst>
                                            <p:cond delay="0"/>
                                          </p:stCondLst>
                                        </p:cTn>
                                        <p:tgtEl>
                                          <p:spTgt spid="824324"/>
                                        </p:tgtEl>
                                        <p:attrNameLst>
                                          <p:attrName>style.visibility</p:attrName>
                                        </p:attrNameLst>
                                      </p:cBhvr>
                                      <p:to>
                                        <p:strVal val="visible"/>
                                      </p:to>
                                    </p:set>
                                    <p:animEffect transition="in" filter="dissolve">
                                      <p:cBhvr>
                                        <p:cTn id="11" dur="500"/>
                                        <p:tgtEl>
                                          <p:spTgt spid="8243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824326"/>
                                        </p:tgtEl>
                                        <p:attrNameLst>
                                          <p:attrName>style.visibility</p:attrName>
                                        </p:attrNameLst>
                                      </p:cBhvr>
                                      <p:to>
                                        <p:strVal val="visible"/>
                                      </p:to>
                                    </p:set>
                                    <p:animEffect transition="in" filter="dissolve">
                                      <p:cBhvr>
                                        <p:cTn id="16" dur="500"/>
                                        <p:tgtEl>
                                          <p:spTgt spid="824326"/>
                                        </p:tgtEl>
                                      </p:cBhvr>
                                    </p:animEffect>
                                  </p:childTnLst>
                                </p:cTn>
                              </p:par>
                            </p:childTnLst>
                          </p:cTn>
                        </p:par>
                        <p:par>
                          <p:cTn id="17" fill="hold" nodeType="afterGroup">
                            <p:stCondLst>
                              <p:cond delay="500"/>
                            </p:stCondLst>
                            <p:childTnLst>
                              <p:par>
                                <p:cTn id="18" presetID="9" presetClass="entr" presetSubtype="0" fill="hold" nodeType="afterEffect">
                                  <p:stCondLst>
                                    <p:cond delay="5000"/>
                                  </p:stCondLst>
                                  <p:childTnLst>
                                    <p:set>
                                      <p:cBhvr>
                                        <p:cTn id="19" dur="1" fill="hold">
                                          <p:stCondLst>
                                            <p:cond delay="0"/>
                                          </p:stCondLst>
                                        </p:cTn>
                                        <p:tgtEl>
                                          <p:spTgt spid="824327"/>
                                        </p:tgtEl>
                                        <p:attrNameLst>
                                          <p:attrName>style.visibility</p:attrName>
                                        </p:attrNameLst>
                                      </p:cBhvr>
                                      <p:to>
                                        <p:strVal val="visible"/>
                                      </p:to>
                                    </p:set>
                                    <p:animEffect transition="in" filter="dissolve">
                                      <p:cBhvr>
                                        <p:cTn id="20" dur="500"/>
                                        <p:tgtEl>
                                          <p:spTgt spid="8243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824328"/>
                                        </p:tgtEl>
                                        <p:attrNameLst>
                                          <p:attrName>style.visibility</p:attrName>
                                        </p:attrNameLst>
                                      </p:cBhvr>
                                      <p:to>
                                        <p:strVal val="visible"/>
                                      </p:to>
                                    </p:set>
                                    <p:animEffect transition="in" filter="dissolve">
                                      <p:cBhvr>
                                        <p:cTn id="25" dur="500"/>
                                        <p:tgtEl>
                                          <p:spTgt spid="824328"/>
                                        </p:tgtEl>
                                      </p:cBhvr>
                                    </p:animEffect>
                                  </p:childTnLst>
                                </p:cTn>
                              </p:par>
                            </p:childTnLst>
                          </p:cTn>
                        </p:par>
                        <p:par>
                          <p:cTn id="26" fill="hold" nodeType="afterGroup">
                            <p:stCondLst>
                              <p:cond delay="500"/>
                            </p:stCondLst>
                            <p:childTnLst>
                              <p:par>
                                <p:cTn id="27" presetID="9" presetClass="entr" presetSubtype="0" fill="hold" nodeType="afterEffect">
                                  <p:stCondLst>
                                    <p:cond delay="5000"/>
                                  </p:stCondLst>
                                  <p:childTnLst>
                                    <p:set>
                                      <p:cBhvr>
                                        <p:cTn id="28" dur="1" fill="hold">
                                          <p:stCondLst>
                                            <p:cond delay="0"/>
                                          </p:stCondLst>
                                        </p:cTn>
                                        <p:tgtEl>
                                          <p:spTgt spid="824329"/>
                                        </p:tgtEl>
                                        <p:attrNameLst>
                                          <p:attrName>style.visibility</p:attrName>
                                        </p:attrNameLst>
                                      </p:cBhvr>
                                      <p:to>
                                        <p:strVal val="visible"/>
                                      </p:to>
                                    </p:set>
                                    <p:animEffect transition="in" filter="dissolve">
                                      <p:cBhvr>
                                        <p:cTn id="29" dur="500"/>
                                        <p:tgtEl>
                                          <p:spTgt spid="82432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824330"/>
                                        </p:tgtEl>
                                        <p:attrNameLst>
                                          <p:attrName>style.visibility</p:attrName>
                                        </p:attrNameLst>
                                      </p:cBhvr>
                                      <p:to>
                                        <p:strVal val="visible"/>
                                      </p:to>
                                    </p:set>
                                    <p:anim calcmode="lin" valueType="num">
                                      <p:cBhvr additive="base">
                                        <p:cTn id="34" dur="500" fill="hold"/>
                                        <p:tgtEl>
                                          <p:spTgt spid="824330"/>
                                        </p:tgtEl>
                                        <p:attrNameLst>
                                          <p:attrName>ppt_x</p:attrName>
                                        </p:attrNameLst>
                                      </p:cBhvr>
                                      <p:tavLst>
                                        <p:tav tm="0">
                                          <p:val>
                                            <p:strVal val="0-#ppt_w/2"/>
                                          </p:val>
                                        </p:tav>
                                        <p:tav tm="100000">
                                          <p:val>
                                            <p:strVal val="#ppt_x"/>
                                          </p:val>
                                        </p:tav>
                                      </p:tavLst>
                                    </p:anim>
                                    <p:anim calcmode="lin" valueType="num">
                                      <p:cBhvr additive="base">
                                        <p:cTn id="35" dur="500" fill="hold"/>
                                        <p:tgtEl>
                                          <p:spTgt spid="824330"/>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00"/>
                            </p:stCondLst>
                            <p:childTnLst>
                              <p:par>
                                <p:cTn id="37" presetID="2" presetClass="entr" presetSubtype="8" fill="hold" grpId="0" nodeType="afterEffect">
                                  <p:stCondLst>
                                    <p:cond delay="0"/>
                                  </p:stCondLst>
                                  <p:childTnLst>
                                    <p:set>
                                      <p:cBhvr>
                                        <p:cTn id="38" dur="1" fill="hold">
                                          <p:stCondLst>
                                            <p:cond delay="0"/>
                                          </p:stCondLst>
                                        </p:cTn>
                                        <p:tgtEl>
                                          <p:spTgt spid="824331"/>
                                        </p:tgtEl>
                                        <p:attrNameLst>
                                          <p:attrName>style.visibility</p:attrName>
                                        </p:attrNameLst>
                                      </p:cBhvr>
                                      <p:to>
                                        <p:strVal val="visible"/>
                                      </p:to>
                                    </p:set>
                                    <p:anim calcmode="lin" valueType="num">
                                      <p:cBhvr additive="base">
                                        <p:cTn id="39" dur="500" fill="hold"/>
                                        <p:tgtEl>
                                          <p:spTgt spid="824331"/>
                                        </p:tgtEl>
                                        <p:attrNameLst>
                                          <p:attrName>ppt_x</p:attrName>
                                        </p:attrNameLst>
                                      </p:cBhvr>
                                      <p:tavLst>
                                        <p:tav tm="0">
                                          <p:val>
                                            <p:strVal val="0-#ppt_w/2"/>
                                          </p:val>
                                        </p:tav>
                                        <p:tav tm="100000">
                                          <p:val>
                                            <p:strVal val="#ppt_x"/>
                                          </p:val>
                                        </p:tav>
                                      </p:tavLst>
                                    </p:anim>
                                    <p:anim calcmode="lin" valueType="num">
                                      <p:cBhvr additive="base">
                                        <p:cTn id="40" dur="500" fill="hold"/>
                                        <p:tgtEl>
                                          <p:spTgt spid="824331"/>
                                        </p:tgtEl>
                                        <p:attrNameLst>
                                          <p:attrName>ppt_y</p:attrName>
                                        </p:attrNameLst>
                                      </p:cBhvr>
                                      <p:tavLst>
                                        <p:tav tm="0">
                                          <p:val>
                                            <p:strVal val="#ppt_y"/>
                                          </p:val>
                                        </p:tav>
                                        <p:tav tm="100000">
                                          <p:val>
                                            <p:strVal val="#ppt_y"/>
                                          </p:val>
                                        </p:tav>
                                      </p:tavLst>
                                    </p:anim>
                                  </p:childTnLst>
                                </p:cTn>
                              </p:par>
                            </p:childTnLst>
                          </p:cTn>
                        </p:par>
                        <p:par>
                          <p:cTn id="41" fill="hold" nodeType="afterGroup">
                            <p:stCondLst>
                              <p:cond delay="1000"/>
                            </p:stCondLst>
                            <p:childTnLst>
                              <p:par>
                                <p:cTn id="42" presetID="2" presetClass="entr" presetSubtype="8" fill="hold" grpId="0" nodeType="afterEffect">
                                  <p:stCondLst>
                                    <p:cond delay="0"/>
                                  </p:stCondLst>
                                  <p:childTnLst>
                                    <p:set>
                                      <p:cBhvr>
                                        <p:cTn id="43" dur="1" fill="hold">
                                          <p:stCondLst>
                                            <p:cond delay="0"/>
                                          </p:stCondLst>
                                        </p:cTn>
                                        <p:tgtEl>
                                          <p:spTgt spid="824332"/>
                                        </p:tgtEl>
                                        <p:attrNameLst>
                                          <p:attrName>style.visibility</p:attrName>
                                        </p:attrNameLst>
                                      </p:cBhvr>
                                      <p:to>
                                        <p:strVal val="visible"/>
                                      </p:to>
                                    </p:set>
                                    <p:anim calcmode="lin" valueType="num">
                                      <p:cBhvr additive="base">
                                        <p:cTn id="44" dur="500" fill="hold"/>
                                        <p:tgtEl>
                                          <p:spTgt spid="824332"/>
                                        </p:tgtEl>
                                        <p:attrNameLst>
                                          <p:attrName>ppt_x</p:attrName>
                                        </p:attrNameLst>
                                      </p:cBhvr>
                                      <p:tavLst>
                                        <p:tav tm="0">
                                          <p:val>
                                            <p:strVal val="0-#ppt_w/2"/>
                                          </p:val>
                                        </p:tav>
                                        <p:tav tm="100000">
                                          <p:val>
                                            <p:strVal val="#ppt_x"/>
                                          </p:val>
                                        </p:tav>
                                      </p:tavLst>
                                    </p:anim>
                                    <p:anim calcmode="lin" valueType="num">
                                      <p:cBhvr additive="base">
                                        <p:cTn id="45" dur="500" fill="hold"/>
                                        <p:tgtEl>
                                          <p:spTgt spid="824332"/>
                                        </p:tgtEl>
                                        <p:attrNameLst>
                                          <p:attrName>ppt_y</p:attrName>
                                        </p:attrNameLst>
                                      </p:cBhvr>
                                      <p:tavLst>
                                        <p:tav tm="0">
                                          <p:val>
                                            <p:strVal val="#ppt_y"/>
                                          </p:val>
                                        </p:tav>
                                        <p:tav tm="100000">
                                          <p:val>
                                            <p:strVal val="#ppt_y"/>
                                          </p:val>
                                        </p:tav>
                                      </p:tavLst>
                                    </p:anim>
                                  </p:childTnLst>
                                </p:cTn>
                              </p:par>
                            </p:childTnLst>
                          </p:cTn>
                        </p:par>
                        <p:par>
                          <p:cTn id="46" fill="hold" nodeType="afterGroup">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824333"/>
                                        </p:tgtEl>
                                        <p:attrNameLst>
                                          <p:attrName>style.visibility</p:attrName>
                                        </p:attrNameLst>
                                      </p:cBhvr>
                                      <p:to>
                                        <p:strVal val="visible"/>
                                      </p:to>
                                    </p:set>
                                    <p:animEffect transition="in" filter="wipe(left)">
                                      <p:cBhvr>
                                        <p:cTn id="49" dur="500"/>
                                        <p:tgtEl>
                                          <p:spTgt spid="824333"/>
                                        </p:tgtEl>
                                      </p:cBhvr>
                                    </p:animEffect>
                                  </p:childTnLst>
                                </p:cTn>
                              </p:par>
                            </p:childTnLst>
                          </p:cTn>
                        </p:par>
                        <p:par>
                          <p:cTn id="50" fill="hold" nodeType="afterGroup">
                            <p:stCondLst>
                              <p:cond delay="2000"/>
                            </p:stCondLst>
                            <p:childTnLst>
                              <p:par>
                                <p:cTn id="51" presetID="22" presetClass="entr" presetSubtype="8" fill="hold" grpId="0" nodeType="afterEffect">
                                  <p:stCondLst>
                                    <p:cond delay="0"/>
                                  </p:stCondLst>
                                  <p:childTnLst>
                                    <p:set>
                                      <p:cBhvr>
                                        <p:cTn id="52" dur="1" fill="hold">
                                          <p:stCondLst>
                                            <p:cond delay="0"/>
                                          </p:stCondLst>
                                        </p:cTn>
                                        <p:tgtEl>
                                          <p:spTgt spid="824334"/>
                                        </p:tgtEl>
                                        <p:attrNameLst>
                                          <p:attrName>style.visibility</p:attrName>
                                        </p:attrNameLst>
                                      </p:cBhvr>
                                      <p:to>
                                        <p:strVal val="visible"/>
                                      </p:to>
                                    </p:set>
                                    <p:animEffect transition="in" filter="wipe(left)">
                                      <p:cBhvr>
                                        <p:cTn id="53" dur="500"/>
                                        <p:tgtEl>
                                          <p:spTgt spid="824334"/>
                                        </p:tgtEl>
                                      </p:cBhvr>
                                    </p:animEffect>
                                  </p:childTnLst>
                                </p:cTn>
                              </p:par>
                            </p:childTnLst>
                          </p:cTn>
                        </p:par>
                        <p:par>
                          <p:cTn id="54" fill="hold" nodeType="afterGroup">
                            <p:stCondLst>
                              <p:cond delay="2500"/>
                            </p:stCondLst>
                            <p:childTnLst>
                              <p:par>
                                <p:cTn id="55" presetID="22" presetClass="entr" presetSubtype="8" fill="hold" grpId="0" nodeType="afterEffect">
                                  <p:stCondLst>
                                    <p:cond delay="0"/>
                                  </p:stCondLst>
                                  <p:childTnLst>
                                    <p:set>
                                      <p:cBhvr>
                                        <p:cTn id="56" dur="1" fill="hold">
                                          <p:stCondLst>
                                            <p:cond delay="0"/>
                                          </p:stCondLst>
                                        </p:cTn>
                                        <p:tgtEl>
                                          <p:spTgt spid="824335"/>
                                        </p:tgtEl>
                                        <p:attrNameLst>
                                          <p:attrName>style.visibility</p:attrName>
                                        </p:attrNameLst>
                                      </p:cBhvr>
                                      <p:to>
                                        <p:strVal val="visible"/>
                                      </p:to>
                                    </p:set>
                                    <p:animEffect transition="in" filter="wipe(left)">
                                      <p:cBhvr>
                                        <p:cTn id="57" dur="500"/>
                                        <p:tgtEl>
                                          <p:spTgt spid="824335"/>
                                        </p:tgtEl>
                                      </p:cBhvr>
                                    </p:animEffect>
                                  </p:childTnLst>
                                </p:cTn>
                              </p:par>
                            </p:childTnLst>
                          </p:cTn>
                        </p:par>
                        <p:par>
                          <p:cTn id="58" fill="hold" nodeType="afterGroup">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824336"/>
                                        </p:tgtEl>
                                        <p:attrNameLst>
                                          <p:attrName>style.visibility</p:attrName>
                                        </p:attrNameLst>
                                      </p:cBhvr>
                                      <p:to>
                                        <p:strVal val="visible"/>
                                      </p:to>
                                    </p:set>
                                    <p:animEffect transition="in" filter="wipe(left)">
                                      <p:cBhvr>
                                        <p:cTn id="61" dur="500"/>
                                        <p:tgtEl>
                                          <p:spTgt spid="824336"/>
                                        </p:tgtEl>
                                      </p:cBhvr>
                                    </p:animEffect>
                                  </p:childTnLst>
                                </p:cTn>
                              </p:par>
                            </p:childTnLst>
                          </p:cTn>
                        </p:par>
                        <p:par>
                          <p:cTn id="62" fill="hold" nodeType="afterGroup">
                            <p:stCondLst>
                              <p:cond delay="3500"/>
                            </p:stCondLst>
                            <p:childTnLst>
                              <p:par>
                                <p:cTn id="63" presetID="22" presetClass="entr" presetSubtype="8" fill="hold" grpId="0" nodeType="afterEffect">
                                  <p:stCondLst>
                                    <p:cond delay="0"/>
                                  </p:stCondLst>
                                  <p:childTnLst>
                                    <p:set>
                                      <p:cBhvr>
                                        <p:cTn id="64" dur="1" fill="hold">
                                          <p:stCondLst>
                                            <p:cond delay="0"/>
                                          </p:stCondLst>
                                        </p:cTn>
                                        <p:tgtEl>
                                          <p:spTgt spid="824337"/>
                                        </p:tgtEl>
                                        <p:attrNameLst>
                                          <p:attrName>style.visibility</p:attrName>
                                        </p:attrNameLst>
                                      </p:cBhvr>
                                      <p:to>
                                        <p:strVal val="visible"/>
                                      </p:to>
                                    </p:set>
                                    <p:animEffect transition="in" filter="wipe(left)">
                                      <p:cBhvr>
                                        <p:cTn id="65" dur="500"/>
                                        <p:tgtEl>
                                          <p:spTgt spid="824337"/>
                                        </p:tgtEl>
                                      </p:cBhvr>
                                    </p:animEffect>
                                  </p:childTnLst>
                                </p:cTn>
                              </p:par>
                            </p:childTnLst>
                          </p:cTn>
                        </p:par>
                        <p:par>
                          <p:cTn id="66" fill="hold" nodeType="afterGroup">
                            <p:stCondLst>
                              <p:cond delay="4000"/>
                            </p:stCondLst>
                            <p:childTnLst>
                              <p:par>
                                <p:cTn id="67" presetID="22" presetClass="entr" presetSubtype="8" fill="hold" grpId="0" nodeType="afterEffect">
                                  <p:stCondLst>
                                    <p:cond delay="0"/>
                                  </p:stCondLst>
                                  <p:childTnLst>
                                    <p:set>
                                      <p:cBhvr>
                                        <p:cTn id="68" dur="1" fill="hold">
                                          <p:stCondLst>
                                            <p:cond delay="0"/>
                                          </p:stCondLst>
                                        </p:cTn>
                                        <p:tgtEl>
                                          <p:spTgt spid="824338"/>
                                        </p:tgtEl>
                                        <p:attrNameLst>
                                          <p:attrName>style.visibility</p:attrName>
                                        </p:attrNameLst>
                                      </p:cBhvr>
                                      <p:to>
                                        <p:strVal val="visible"/>
                                      </p:to>
                                    </p:set>
                                    <p:animEffect transition="in" filter="wipe(left)">
                                      <p:cBhvr>
                                        <p:cTn id="69" dur="500"/>
                                        <p:tgtEl>
                                          <p:spTgt spid="824338"/>
                                        </p:tgtEl>
                                      </p:cBhvr>
                                    </p:animEffect>
                                  </p:childTnLst>
                                </p:cTn>
                              </p:par>
                            </p:childTnLst>
                          </p:cTn>
                        </p:par>
                        <p:par>
                          <p:cTn id="70" fill="hold" nodeType="afterGroup">
                            <p:stCondLst>
                              <p:cond delay="4500"/>
                            </p:stCondLst>
                            <p:childTnLst>
                              <p:par>
                                <p:cTn id="71" presetID="22" presetClass="entr" presetSubtype="8" fill="hold" grpId="0" nodeType="afterEffect">
                                  <p:stCondLst>
                                    <p:cond delay="0"/>
                                  </p:stCondLst>
                                  <p:childTnLst>
                                    <p:set>
                                      <p:cBhvr>
                                        <p:cTn id="72" dur="1" fill="hold">
                                          <p:stCondLst>
                                            <p:cond delay="0"/>
                                          </p:stCondLst>
                                        </p:cTn>
                                        <p:tgtEl>
                                          <p:spTgt spid="824339"/>
                                        </p:tgtEl>
                                        <p:attrNameLst>
                                          <p:attrName>style.visibility</p:attrName>
                                        </p:attrNameLst>
                                      </p:cBhvr>
                                      <p:to>
                                        <p:strVal val="visible"/>
                                      </p:to>
                                    </p:set>
                                    <p:animEffect transition="in" filter="wipe(left)">
                                      <p:cBhvr>
                                        <p:cTn id="73" dur="500"/>
                                        <p:tgtEl>
                                          <p:spTgt spid="824339"/>
                                        </p:tgtEl>
                                      </p:cBhvr>
                                    </p:animEffect>
                                  </p:childTnLst>
                                </p:cTn>
                              </p:par>
                            </p:childTnLst>
                          </p:cTn>
                        </p:par>
                        <p:par>
                          <p:cTn id="74" fill="hold" nodeType="afterGroup">
                            <p:stCondLst>
                              <p:cond delay="5000"/>
                            </p:stCondLst>
                            <p:childTnLst>
                              <p:par>
                                <p:cTn id="75" presetID="22" presetClass="entr" presetSubtype="8" fill="hold" grpId="0" nodeType="afterEffect">
                                  <p:stCondLst>
                                    <p:cond delay="0"/>
                                  </p:stCondLst>
                                  <p:childTnLst>
                                    <p:set>
                                      <p:cBhvr>
                                        <p:cTn id="76" dur="1" fill="hold">
                                          <p:stCondLst>
                                            <p:cond delay="0"/>
                                          </p:stCondLst>
                                        </p:cTn>
                                        <p:tgtEl>
                                          <p:spTgt spid="824340"/>
                                        </p:tgtEl>
                                        <p:attrNameLst>
                                          <p:attrName>style.visibility</p:attrName>
                                        </p:attrNameLst>
                                      </p:cBhvr>
                                      <p:to>
                                        <p:strVal val="visible"/>
                                      </p:to>
                                    </p:set>
                                    <p:animEffect transition="in" filter="wipe(left)">
                                      <p:cBhvr>
                                        <p:cTn id="77" dur="500"/>
                                        <p:tgtEl>
                                          <p:spTgt spid="824340"/>
                                        </p:tgtEl>
                                      </p:cBhvr>
                                    </p:animEffect>
                                  </p:childTnLst>
                                </p:cTn>
                              </p:par>
                            </p:childTnLst>
                          </p:cTn>
                        </p:par>
                        <p:par>
                          <p:cTn id="78" fill="hold" nodeType="afterGroup">
                            <p:stCondLst>
                              <p:cond delay="5500"/>
                            </p:stCondLst>
                            <p:childTnLst>
                              <p:par>
                                <p:cTn id="79" presetID="22" presetClass="entr" presetSubtype="8" fill="hold" grpId="0" nodeType="afterEffect">
                                  <p:stCondLst>
                                    <p:cond delay="0"/>
                                  </p:stCondLst>
                                  <p:childTnLst>
                                    <p:set>
                                      <p:cBhvr>
                                        <p:cTn id="80" dur="1" fill="hold">
                                          <p:stCondLst>
                                            <p:cond delay="0"/>
                                          </p:stCondLst>
                                        </p:cTn>
                                        <p:tgtEl>
                                          <p:spTgt spid="824341"/>
                                        </p:tgtEl>
                                        <p:attrNameLst>
                                          <p:attrName>style.visibility</p:attrName>
                                        </p:attrNameLst>
                                      </p:cBhvr>
                                      <p:to>
                                        <p:strVal val="visible"/>
                                      </p:to>
                                    </p:set>
                                    <p:animEffect transition="in" filter="wipe(left)">
                                      <p:cBhvr>
                                        <p:cTn id="81" dur="500"/>
                                        <p:tgtEl>
                                          <p:spTgt spid="82434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6" presetClass="entr" presetSubtype="26" fill="hold" nodeType="clickEffect">
                                  <p:stCondLst>
                                    <p:cond delay="0"/>
                                  </p:stCondLst>
                                  <p:childTnLst>
                                    <p:set>
                                      <p:cBhvr>
                                        <p:cTn id="85" dur="1" fill="hold">
                                          <p:stCondLst>
                                            <p:cond delay="0"/>
                                          </p:stCondLst>
                                        </p:cTn>
                                        <p:tgtEl>
                                          <p:spTgt spid="824342"/>
                                        </p:tgtEl>
                                        <p:attrNameLst>
                                          <p:attrName>style.visibility</p:attrName>
                                        </p:attrNameLst>
                                      </p:cBhvr>
                                      <p:to>
                                        <p:strVal val="visible"/>
                                      </p:to>
                                    </p:set>
                                    <p:animEffect transition="in" filter="barn(inHorizontal)">
                                      <p:cBhvr>
                                        <p:cTn id="86" dur="500"/>
                                        <p:tgtEl>
                                          <p:spTgt spid="824342"/>
                                        </p:tgtEl>
                                      </p:cBhvr>
                                    </p:animEffect>
                                  </p:childTnLst>
                                </p:cTn>
                              </p:par>
                            </p:childTnLst>
                          </p:cTn>
                        </p:par>
                        <p:par>
                          <p:cTn id="87" fill="hold" nodeType="afterGroup">
                            <p:stCondLst>
                              <p:cond delay="500"/>
                            </p:stCondLst>
                            <p:childTnLst>
                              <p:par>
                                <p:cTn id="88" presetID="2" presetClass="entr" presetSubtype="8" fill="hold" grpId="0" nodeType="afterEffect">
                                  <p:stCondLst>
                                    <p:cond delay="0"/>
                                  </p:stCondLst>
                                  <p:childTnLst>
                                    <p:set>
                                      <p:cBhvr>
                                        <p:cTn id="89" dur="1" fill="hold">
                                          <p:stCondLst>
                                            <p:cond delay="0"/>
                                          </p:stCondLst>
                                        </p:cTn>
                                        <p:tgtEl>
                                          <p:spTgt spid="824343"/>
                                        </p:tgtEl>
                                        <p:attrNameLst>
                                          <p:attrName>style.visibility</p:attrName>
                                        </p:attrNameLst>
                                      </p:cBhvr>
                                      <p:to>
                                        <p:strVal val="visible"/>
                                      </p:to>
                                    </p:set>
                                    <p:anim calcmode="lin" valueType="num">
                                      <p:cBhvr additive="base">
                                        <p:cTn id="90" dur="500" fill="hold"/>
                                        <p:tgtEl>
                                          <p:spTgt spid="824343"/>
                                        </p:tgtEl>
                                        <p:attrNameLst>
                                          <p:attrName>ppt_x</p:attrName>
                                        </p:attrNameLst>
                                      </p:cBhvr>
                                      <p:tavLst>
                                        <p:tav tm="0">
                                          <p:val>
                                            <p:strVal val="0-#ppt_w/2"/>
                                          </p:val>
                                        </p:tav>
                                        <p:tav tm="100000">
                                          <p:val>
                                            <p:strVal val="#ppt_x"/>
                                          </p:val>
                                        </p:tav>
                                      </p:tavLst>
                                    </p:anim>
                                    <p:anim calcmode="lin" valueType="num">
                                      <p:cBhvr additive="base">
                                        <p:cTn id="91" dur="500" fill="hold"/>
                                        <p:tgtEl>
                                          <p:spTgt spid="8243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30" grpId="0" autoUpdateAnimBg="0"/>
      <p:bldP spid="824331" grpId="0" autoUpdateAnimBg="0"/>
      <p:bldP spid="824332" grpId="0" autoUpdateAnimBg="0"/>
      <p:bldP spid="824333" grpId="0" autoUpdateAnimBg="0"/>
      <p:bldP spid="824334" grpId="0" autoUpdateAnimBg="0"/>
      <p:bldP spid="824335" grpId="0" autoUpdateAnimBg="0"/>
      <p:bldP spid="824336" grpId="0" autoUpdateAnimBg="0"/>
      <p:bldP spid="824337" grpId="0" autoUpdateAnimBg="0"/>
      <p:bldP spid="824338" grpId="0" autoUpdateAnimBg="0"/>
      <p:bldP spid="824339" grpId="0" autoUpdateAnimBg="0"/>
      <p:bldP spid="824340" grpId="0" autoUpdateAnimBg="0"/>
      <p:bldP spid="824341" grpId="0" autoUpdateAnimBg="0"/>
      <p:bldP spid="82434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灯片编号占位符 3"/>
          <p:cNvSpPr>
            <a:spLocks noGrp="1"/>
          </p:cNvSpPr>
          <p:nvPr>
            <p:ph type="sldNum" sz="quarter" idx="10"/>
          </p:nvPr>
        </p:nvSpPr>
        <p:spPr/>
        <p:txBody>
          <a:bodyPr/>
          <a:lstStyle/>
          <a:p>
            <a:fld id="{2209878A-4BD9-497D-A025-20327D80EF8D}" type="slidenum">
              <a:rPr lang="zh-CN" altLang="en-US"/>
              <a:pPr/>
              <a:t>31</a:t>
            </a:fld>
            <a:endParaRPr lang="en-US" altLang="zh-CN"/>
          </a:p>
        </p:txBody>
      </p:sp>
      <p:sp>
        <p:nvSpPr>
          <p:cNvPr id="23" name="日期占位符 4"/>
          <p:cNvSpPr>
            <a:spLocks noGrp="1"/>
          </p:cNvSpPr>
          <p:nvPr>
            <p:ph type="dt" sz="half" idx="11"/>
          </p:nvPr>
        </p:nvSpPr>
        <p:spPr/>
        <p:txBody>
          <a:bodyPr/>
          <a:lstStyle/>
          <a:p>
            <a:fld id="{1DD79486-6A7F-4813-A821-13195C355789}" type="datetime1">
              <a:rPr lang="zh-CN" altLang="en-US"/>
              <a:pPr/>
              <a:t>2024/11/18</a:t>
            </a:fld>
            <a:endParaRPr lang="en-US" altLang="zh-CN" sz="1000"/>
          </a:p>
        </p:txBody>
      </p:sp>
      <p:sp>
        <p:nvSpPr>
          <p:cNvPr id="825346" name="Rectangle 2"/>
          <p:cNvSpPr>
            <a:spLocks noGrp="1" noChangeArrowheads="1"/>
          </p:cNvSpPr>
          <p:nvPr>
            <p:ph type="title"/>
          </p:nvPr>
        </p:nvSpPr>
        <p:spPr/>
        <p:txBody>
          <a:bodyPr/>
          <a:lstStyle/>
          <a:p>
            <a:r>
              <a:rPr lang="en-US" altLang="zh-CN"/>
              <a:t>3. </a:t>
            </a:r>
            <a:r>
              <a:rPr lang="zh-CN" altLang="en-US"/>
              <a:t>高斯</a:t>
            </a:r>
            <a:r>
              <a:rPr lang="en-US" altLang="zh-CN"/>
              <a:t>-</a:t>
            </a:r>
            <a:r>
              <a:rPr lang="zh-CN" altLang="en-US"/>
              <a:t>赛德尔迭代法</a:t>
            </a:r>
          </a:p>
        </p:txBody>
      </p:sp>
      <p:sp>
        <p:nvSpPr>
          <p:cNvPr id="825347" name="Rectangle 3"/>
          <p:cNvSpPr>
            <a:spLocks noGrp="1" noChangeArrowheads="1"/>
          </p:cNvSpPr>
          <p:nvPr>
            <p:ph type="body" idx="1"/>
          </p:nvPr>
        </p:nvSpPr>
        <p:spPr>
          <a:xfrm>
            <a:off x="304800" y="1447800"/>
            <a:ext cx="8820150" cy="384175"/>
          </a:xfrm>
        </p:spPr>
        <p:txBody>
          <a:bodyPr/>
          <a:lstStyle/>
          <a:p>
            <a:r>
              <a:rPr lang="zh-CN" altLang="en-US" u="sng">
                <a:solidFill>
                  <a:srgbClr val="FF3300"/>
                </a:solidFill>
              </a:rPr>
              <a:t>高斯-赛德尔迭代法</a:t>
            </a:r>
          </a:p>
        </p:txBody>
      </p:sp>
      <p:graphicFrame>
        <p:nvGraphicFramePr>
          <p:cNvPr id="825348" name="Object 4"/>
          <p:cNvGraphicFramePr>
            <a:graphicFrameLocks noChangeAspect="1"/>
          </p:cNvGraphicFramePr>
          <p:nvPr/>
        </p:nvGraphicFramePr>
        <p:xfrm>
          <a:off x="1143000" y="2820988"/>
          <a:ext cx="6318250" cy="1055687"/>
        </p:xfrm>
        <a:graphic>
          <a:graphicData uri="http://schemas.openxmlformats.org/presentationml/2006/ole">
            <mc:AlternateContent xmlns:mc="http://schemas.openxmlformats.org/markup-compatibility/2006">
              <mc:Choice xmlns:v="urn:schemas-microsoft-com:vml" Requires="v">
                <p:oleObj name="Equation" r:id="rId3" imgW="2463480" imgH="431640" progId="Equation.3">
                  <p:embed/>
                </p:oleObj>
              </mc:Choice>
              <mc:Fallback>
                <p:oleObj name="Equation" r:id="rId3" imgW="24634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820988"/>
                        <a:ext cx="6318250" cy="1055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49" name="Object 5"/>
          <p:cNvGraphicFramePr>
            <a:graphicFrameLocks noChangeAspect="1"/>
          </p:cNvGraphicFramePr>
          <p:nvPr/>
        </p:nvGraphicFramePr>
        <p:xfrm>
          <a:off x="3733800" y="1066800"/>
          <a:ext cx="4038600" cy="549275"/>
        </p:xfrm>
        <a:graphic>
          <a:graphicData uri="http://schemas.openxmlformats.org/presentationml/2006/ole">
            <mc:AlternateContent xmlns:mc="http://schemas.openxmlformats.org/markup-compatibility/2006">
              <mc:Choice xmlns:v="urn:schemas-microsoft-com:vml" Requires="v">
                <p:oleObj name="Equation" r:id="rId5" imgW="1815840" imgH="228600" progId="Equation.3">
                  <p:embed/>
                </p:oleObj>
              </mc:Choice>
              <mc:Fallback>
                <p:oleObj name="Equation" r:id="rId5" imgW="18158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066800"/>
                        <a:ext cx="40386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50" name="Object 6"/>
          <p:cNvGraphicFramePr>
            <a:graphicFrameLocks noChangeAspect="1"/>
          </p:cNvGraphicFramePr>
          <p:nvPr/>
        </p:nvGraphicFramePr>
        <p:xfrm>
          <a:off x="3733800" y="1524000"/>
          <a:ext cx="3924300" cy="973138"/>
        </p:xfrm>
        <a:graphic>
          <a:graphicData uri="http://schemas.openxmlformats.org/presentationml/2006/ole">
            <mc:AlternateContent xmlns:mc="http://schemas.openxmlformats.org/markup-compatibility/2006">
              <mc:Choice xmlns:v="urn:schemas-microsoft-com:vml" Requires="v">
                <p:oleObj name="Equation" r:id="rId7" imgW="1841400" imgH="419040" progId="Equation.3">
                  <p:embed/>
                </p:oleObj>
              </mc:Choice>
              <mc:Fallback>
                <p:oleObj name="Equation" r:id="rId7" imgW="1841400" imgH="419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1524000"/>
                        <a:ext cx="3924300" cy="97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51" name="Object 7"/>
          <p:cNvGraphicFramePr>
            <a:graphicFrameLocks noChangeAspect="1"/>
          </p:cNvGraphicFramePr>
          <p:nvPr/>
        </p:nvGraphicFramePr>
        <p:xfrm>
          <a:off x="1219200" y="3657600"/>
          <a:ext cx="6211888" cy="1516063"/>
        </p:xfrm>
        <a:graphic>
          <a:graphicData uri="http://schemas.openxmlformats.org/presentationml/2006/ole">
            <mc:AlternateContent xmlns:mc="http://schemas.openxmlformats.org/markup-compatibility/2006">
              <mc:Choice xmlns:v="urn:schemas-microsoft-com:vml" Requires="v">
                <p:oleObj name="Equation" r:id="rId9" imgW="2489040" imgH="634680" progId="Equation.3">
                  <p:embed/>
                </p:oleObj>
              </mc:Choice>
              <mc:Fallback>
                <p:oleObj name="Equation" r:id="rId9" imgW="2489040" imgH="6346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9200" y="3657600"/>
                        <a:ext cx="6211888" cy="151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52" name="Object 8"/>
          <p:cNvGraphicFramePr>
            <a:graphicFrameLocks noChangeAspect="1"/>
          </p:cNvGraphicFramePr>
          <p:nvPr/>
        </p:nvGraphicFramePr>
        <p:xfrm>
          <a:off x="3733800" y="2362200"/>
          <a:ext cx="4038600" cy="530225"/>
        </p:xfrm>
        <a:graphic>
          <a:graphicData uri="http://schemas.openxmlformats.org/presentationml/2006/ole">
            <mc:AlternateContent xmlns:mc="http://schemas.openxmlformats.org/markup-compatibility/2006">
              <mc:Choice xmlns:v="urn:schemas-microsoft-com:vml" Requires="v">
                <p:oleObj name="Equation" r:id="rId11" imgW="1955520" imgH="228600" progId="Equation.3">
                  <p:embed/>
                </p:oleObj>
              </mc:Choice>
              <mc:Fallback>
                <p:oleObj name="Equation" r:id="rId11" imgW="195552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0" y="2362200"/>
                        <a:ext cx="4038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5353" name="Object 9"/>
          <p:cNvGraphicFramePr>
            <a:graphicFrameLocks noChangeAspect="1"/>
          </p:cNvGraphicFramePr>
          <p:nvPr/>
        </p:nvGraphicFramePr>
        <p:xfrm>
          <a:off x="1195388" y="5334000"/>
          <a:ext cx="6400800" cy="1003300"/>
        </p:xfrm>
        <a:graphic>
          <a:graphicData uri="http://schemas.openxmlformats.org/presentationml/2006/ole">
            <mc:AlternateContent xmlns:mc="http://schemas.openxmlformats.org/markup-compatibility/2006">
              <mc:Choice xmlns:v="urn:schemas-microsoft-com:vml" Requires="v">
                <p:oleObj name="Equation" r:id="rId13" imgW="2844720" imgH="444240" progId="Equation.3">
                  <p:embed/>
                </p:oleObj>
              </mc:Choice>
              <mc:Fallback>
                <p:oleObj name="Equation" r:id="rId13" imgW="2844720" imgH="4442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95388" y="5334000"/>
                        <a:ext cx="64008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5354" name="Rectangle 10"/>
          <p:cNvSpPr>
            <a:spLocks noChangeArrowheads="1"/>
          </p:cNvSpPr>
          <p:nvPr/>
        </p:nvSpPr>
        <p:spPr bwMode="auto">
          <a:xfrm>
            <a:off x="1295400" y="3048000"/>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55" name="Rectangle 11"/>
          <p:cNvSpPr>
            <a:spLocks noChangeArrowheads="1"/>
          </p:cNvSpPr>
          <p:nvPr/>
        </p:nvSpPr>
        <p:spPr bwMode="auto">
          <a:xfrm>
            <a:off x="1373188" y="3810000"/>
            <a:ext cx="73818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56" name="Rectangle 12"/>
          <p:cNvSpPr>
            <a:spLocks noChangeArrowheads="1"/>
          </p:cNvSpPr>
          <p:nvPr/>
        </p:nvSpPr>
        <p:spPr bwMode="auto">
          <a:xfrm>
            <a:off x="1271588" y="5257800"/>
            <a:ext cx="74136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57" name="Rectangle 13"/>
          <p:cNvSpPr>
            <a:spLocks noChangeArrowheads="1"/>
          </p:cNvSpPr>
          <p:nvPr/>
        </p:nvSpPr>
        <p:spPr bwMode="auto">
          <a:xfrm>
            <a:off x="2895600" y="3048000"/>
            <a:ext cx="4810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5358" name="Rectangle 14"/>
          <p:cNvSpPr>
            <a:spLocks noChangeArrowheads="1"/>
          </p:cNvSpPr>
          <p:nvPr/>
        </p:nvSpPr>
        <p:spPr bwMode="auto">
          <a:xfrm>
            <a:off x="4243388" y="3048000"/>
            <a:ext cx="48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5359" name="Rectangle 15"/>
          <p:cNvSpPr>
            <a:spLocks noChangeArrowheads="1"/>
          </p:cNvSpPr>
          <p:nvPr/>
        </p:nvSpPr>
        <p:spPr bwMode="auto">
          <a:xfrm>
            <a:off x="6224588" y="3048000"/>
            <a:ext cx="48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5360" name="Rectangle 16"/>
          <p:cNvSpPr>
            <a:spLocks noChangeArrowheads="1"/>
          </p:cNvSpPr>
          <p:nvPr/>
        </p:nvSpPr>
        <p:spPr bwMode="auto">
          <a:xfrm>
            <a:off x="2819400" y="3810000"/>
            <a:ext cx="7413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61" name="Rectangle 17"/>
          <p:cNvSpPr>
            <a:spLocks noChangeArrowheads="1"/>
          </p:cNvSpPr>
          <p:nvPr/>
        </p:nvSpPr>
        <p:spPr bwMode="auto">
          <a:xfrm>
            <a:off x="4319588" y="3886200"/>
            <a:ext cx="48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5362" name="Rectangle 18"/>
          <p:cNvSpPr>
            <a:spLocks noChangeArrowheads="1"/>
          </p:cNvSpPr>
          <p:nvPr/>
        </p:nvSpPr>
        <p:spPr bwMode="auto">
          <a:xfrm>
            <a:off x="6300788" y="3886200"/>
            <a:ext cx="48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a:t>
            </a:r>
            <a:endParaRPr lang="zh-CN" altLang="en-US" sz="2800" baseline="30000">
              <a:solidFill>
                <a:srgbClr val="FF3300"/>
              </a:solidFill>
            </a:endParaRPr>
          </a:p>
        </p:txBody>
      </p:sp>
      <p:sp>
        <p:nvSpPr>
          <p:cNvPr id="825363" name="Rectangle 19"/>
          <p:cNvSpPr>
            <a:spLocks noChangeArrowheads="1"/>
          </p:cNvSpPr>
          <p:nvPr/>
        </p:nvSpPr>
        <p:spPr bwMode="auto">
          <a:xfrm>
            <a:off x="2743200" y="5334000"/>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64" name="Rectangle 20"/>
          <p:cNvSpPr>
            <a:spLocks noChangeArrowheads="1"/>
          </p:cNvSpPr>
          <p:nvPr/>
        </p:nvSpPr>
        <p:spPr bwMode="auto">
          <a:xfrm>
            <a:off x="4014788" y="5410200"/>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
        <p:nvSpPr>
          <p:cNvPr id="825365" name="Rectangle 21"/>
          <p:cNvSpPr>
            <a:spLocks noChangeArrowheads="1"/>
          </p:cNvSpPr>
          <p:nvPr/>
        </p:nvSpPr>
        <p:spPr bwMode="auto">
          <a:xfrm>
            <a:off x="6019800" y="5334000"/>
            <a:ext cx="7397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aseline="30000">
                <a:solidFill>
                  <a:srgbClr val="FF3300"/>
                </a:solidFill>
              </a:rPr>
              <a:t>(k+1)</a:t>
            </a:r>
            <a:endParaRPr lang="zh-CN" altLang="en-US" sz="2800" baseline="30000">
              <a:solidFill>
                <a:srgbClr val="FF3300"/>
              </a:solidFill>
            </a:endParaRPr>
          </a:p>
        </p:txBody>
      </p:sp>
    </p:spTree>
    <p:custDataLst>
      <p:tags r:id="rId1"/>
    </p:custDataLst>
    <p:extLst>
      <p:ext uri="{BB962C8B-B14F-4D97-AF65-F5344CB8AC3E}">
        <p14:creationId xmlns:p14="http://schemas.microsoft.com/office/powerpoint/2010/main" val="258343701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5354"/>
                                        </p:tgtEl>
                                        <p:attrNameLst>
                                          <p:attrName>style.visibility</p:attrName>
                                        </p:attrNameLst>
                                      </p:cBhvr>
                                      <p:to>
                                        <p:strVal val="visible"/>
                                      </p:to>
                                    </p:set>
                                    <p:anim calcmode="lin" valueType="num">
                                      <p:cBhvr additive="base">
                                        <p:cTn id="7" dur="500" fill="hold"/>
                                        <p:tgtEl>
                                          <p:spTgt spid="825354"/>
                                        </p:tgtEl>
                                        <p:attrNameLst>
                                          <p:attrName>ppt_x</p:attrName>
                                        </p:attrNameLst>
                                      </p:cBhvr>
                                      <p:tavLst>
                                        <p:tav tm="0">
                                          <p:val>
                                            <p:strVal val="0-#ppt_w/2"/>
                                          </p:val>
                                        </p:tav>
                                        <p:tav tm="100000">
                                          <p:val>
                                            <p:strVal val="#ppt_x"/>
                                          </p:val>
                                        </p:tav>
                                      </p:tavLst>
                                    </p:anim>
                                    <p:anim calcmode="lin" valueType="num">
                                      <p:cBhvr additive="base">
                                        <p:cTn id="8" dur="500" fill="hold"/>
                                        <p:tgtEl>
                                          <p:spTgt spid="82535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25355"/>
                                        </p:tgtEl>
                                        <p:attrNameLst>
                                          <p:attrName>style.visibility</p:attrName>
                                        </p:attrNameLst>
                                      </p:cBhvr>
                                      <p:to>
                                        <p:strVal val="visible"/>
                                      </p:to>
                                    </p:set>
                                    <p:anim calcmode="lin" valueType="num">
                                      <p:cBhvr additive="base">
                                        <p:cTn id="12" dur="500" fill="hold"/>
                                        <p:tgtEl>
                                          <p:spTgt spid="825355"/>
                                        </p:tgtEl>
                                        <p:attrNameLst>
                                          <p:attrName>ppt_x</p:attrName>
                                        </p:attrNameLst>
                                      </p:cBhvr>
                                      <p:tavLst>
                                        <p:tav tm="0">
                                          <p:val>
                                            <p:strVal val="0-#ppt_w/2"/>
                                          </p:val>
                                        </p:tav>
                                        <p:tav tm="100000">
                                          <p:val>
                                            <p:strVal val="#ppt_x"/>
                                          </p:val>
                                        </p:tav>
                                      </p:tavLst>
                                    </p:anim>
                                    <p:anim calcmode="lin" valueType="num">
                                      <p:cBhvr additive="base">
                                        <p:cTn id="13" dur="500" fill="hold"/>
                                        <p:tgtEl>
                                          <p:spTgt spid="825355"/>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25356"/>
                                        </p:tgtEl>
                                        <p:attrNameLst>
                                          <p:attrName>style.visibility</p:attrName>
                                        </p:attrNameLst>
                                      </p:cBhvr>
                                      <p:to>
                                        <p:strVal val="visible"/>
                                      </p:to>
                                    </p:set>
                                    <p:anim calcmode="lin" valueType="num">
                                      <p:cBhvr additive="base">
                                        <p:cTn id="17" dur="500" fill="hold"/>
                                        <p:tgtEl>
                                          <p:spTgt spid="825356"/>
                                        </p:tgtEl>
                                        <p:attrNameLst>
                                          <p:attrName>ppt_x</p:attrName>
                                        </p:attrNameLst>
                                      </p:cBhvr>
                                      <p:tavLst>
                                        <p:tav tm="0">
                                          <p:val>
                                            <p:strVal val="0-#ppt_w/2"/>
                                          </p:val>
                                        </p:tav>
                                        <p:tav tm="100000">
                                          <p:val>
                                            <p:strVal val="#ppt_x"/>
                                          </p:val>
                                        </p:tav>
                                      </p:tavLst>
                                    </p:anim>
                                    <p:anim calcmode="lin" valueType="num">
                                      <p:cBhvr additive="base">
                                        <p:cTn id="18" dur="500" fill="hold"/>
                                        <p:tgtEl>
                                          <p:spTgt spid="82535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25357"/>
                                        </p:tgtEl>
                                        <p:attrNameLst>
                                          <p:attrName>style.visibility</p:attrName>
                                        </p:attrNameLst>
                                      </p:cBhvr>
                                      <p:to>
                                        <p:strVal val="visible"/>
                                      </p:to>
                                    </p:set>
                                    <p:animEffect transition="in" filter="wipe(left)">
                                      <p:cBhvr>
                                        <p:cTn id="23" dur="500"/>
                                        <p:tgtEl>
                                          <p:spTgt spid="825357"/>
                                        </p:tgtEl>
                                      </p:cBhvr>
                                    </p:animEffect>
                                  </p:childTnLst>
                                </p:cTn>
                              </p:par>
                            </p:childTnLst>
                          </p:cTn>
                        </p:par>
                        <p:par>
                          <p:cTn id="24" fill="hold" nodeType="after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825358"/>
                                        </p:tgtEl>
                                        <p:attrNameLst>
                                          <p:attrName>style.visibility</p:attrName>
                                        </p:attrNameLst>
                                      </p:cBhvr>
                                      <p:to>
                                        <p:strVal val="visible"/>
                                      </p:to>
                                    </p:set>
                                    <p:animEffect transition="in" filter="wipe(left)">
                                      <p:cBhvr>
                                        <p:cTn id="27" dur="500"/>
                                        <p:tgtEl>
                                          <p:spTgt spid="825358"/>
                                        </p:tgtEl>
                                      </p:cBhvr>
                                    </p:animEffect>
                                  </p:childTnLst>
                                </p:cTn>
                              </p:par>
                            </p:childTnLst>
                          </p:cTn>
                        </p:par>
                        <p:par>
                          <p:cTn id="28" fill="hold" nodeType="afterGroup">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825359"/>
                                        </p:tgtEl>
                                        <p:attrNameLst>
                                          <p:attrName>style.visibility</p:attrName>
                                        </p:attrNameLst>
                                      </p:cBhvr>
                                      <p:to>
                                        <p:strVal val="visible"/>
                                      </p:to>
                                    </p:set>
                                    <p:animEffect transition="in" filter="wipe(left)">
                                      <p:cBhvr>
                                        <p:cTn id="31" dur="500"/>
                                        <p:tgtEl>
                                          <p:spTgt spid="82535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25360"/>
                                        </p:tgtEl>
                                        <p:attrNameLst>
                                          <p:attrName>style.visibility</p:attrName>
                                        </p:attrNameLst>
                                      </p:cBhvr>
                                      <p:to>
                                        <p:strVal val="visible"/>
                                      </p:to>
                                    </p:set>
                                    <p:animEffect transition="in" filter="wipe(left)">
                                      <p:cBhvr>
                                        <p:cTn id="36" dur="500"/>
                                        <p:tgtEl>
                                          <p:spTgt spid="825360"/>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825361"/>
                                        </p:tgtEl>
                                        <p:attrNameLst>
                                          <p:attrName>style.visibility</p:attrName>
                                        </p:attrNameLst>
                                      </p:cBhvr>
                                      <p:to>
                                        <p:strVal val="visible"/>
                                      </p:to>
                                    </p:set>
                                    <p:animEffect transition="in" filter="wipe(left)">
                                      <p:cBhvr>
                                        <p:cTn id="40" dur="500"/>
                                        <p:tgtEl>
                                          <p:spTgt spid="825361"/>
                                        </p:tgtEl>
                                      </p:cBhvr>
                                    </p:animEffect>
                                  </p:childTnLst>
                                </p:cTn>
                              </p:par>
                            </p:childTnLst>
                          </p:cTn>
                        </p:par>
                        <p:par>
                          <p:cTn id="41" fill="hold" nodeType="afterGroup">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825362"/>
                                        </p:tgtEl>
                                        <p:attrNameLst>
                                          <p:attrName>style.visibility</p:attrName>
                                        </p:attrNameLst>
                                      </p:cBhvr>
                                      <p:to>
                                        <p:strVal val="visible"/>
                                      </p:to>
                                    </p:set>
                                    <p:animEffect transition="in" filter="wipe(left)">
                                      <p:cBhvr>
                                        <p:cTn id="44" dur="500"/>
                                        <p:tgtEl>
                                          <p:spTgt spid="82536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25363"/>
                                        </p:tgtEl>
                                        <p:attrNameLst>
                                          <p:attrName>style.visibility</p:attrName>
                                        </p:attrNameLst>
                                      </p:cBhvr>
                                      <p:to>
                                        <p:strVal val="visible"/>
                                      </p:to>
                                    </p:set>
                                    <p:animEffect transition="in" filter="wipe(left)">
                                      <p:cBhvr>
                                        <p:cTn id="49" dur="500"/>
                                        <p:tgtEl>
                                          <p:spTgt spid="825363"/>
                                        </p:tgtEl>
                                      </p:cBhvr>
                                    </p:animEffect>
                                  </p:childTnLst>
                                </p:cTn>
                              </p:par>
                            </p:childTnLst>
                          </p:cTn>
                        </p:par>
                        <p:par>
                          <p:cTn id="50" fill="hold" nodeType="afterGroup">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825364"/>
                                        </p:tgtEl>
                                        <p:attrNameLst>
                                          <p:attrName>style.visibility</p:attrName>
                                        </p:attrNameLst>
                                      </p:cBhvr>
                                      <p:to>
                                        <p:strVal val="visible"/>
                                      </p:to>
                                    </p:set>
                                    <p:animEffect transition="in" filter="wipe(left)">
                                      <p:cBhvr>
                                        <p:cTn id="53" dur="500"/>
                                        <p:tgtEl>
                                          <p:spTgt spid="825364"/>
                                        </p:tgtEl>
                                      </p:cBhvr>
                                    </p:animEffect>
                                  </p:childTnLst>
                                </p:cTn>
                              </p:par>
                            </p:childTnLst>
                          </p:cTn>
                        </p:par>
                        <p:par>
                          <p:cTn id="54" fill="hold" nodeType="afterGroup">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825365"/>
                                        </p:tgtEl>
                                        <p:attrNameLst>
                                          <p:attrName>style.visibility</p:attrName>
                                        </p:attrNameLst>
                                      </p:cBhvr>
                                      <p:to>
                                        <p:strVal val="visible"/>
                                      </p:to>
                                    </p:set>
                                    <p:animEffect transition="in" filter="wipe(left)">
                                      <p:cBhvr>
                                        <p:cTn id="57" dur="500"/>
                                        <p:tgtEl>
                                          <p:spTgt spid="825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54" grpId="0" autoUpdateAnimBg="0"/>
      <p:bldP spid="825355" grpId="0" autoUpdateAnimBg="0"/>
      <p:bldP spid="825356" grpId="0" autoUpdateAnimBg="0"/>
      <p:bldP spid="825357" grpId="0" autoUpdateAnimBg="0"/>
      <p:bldP spid="825358" grpId="0" autoUpdateAnimBg="0"/>
      <p:bldP spid="825359" grpId="0" autoUpdateAnimBg="0"/>
      <p:bldP spid="825360" grpId="0" autoUpdateAnimBg="0"/>
      <p:bldP spid="825361" grpId="0" autoUpdateAnimBg="0"/>
      <p:bldP spid="825362" grpId="0" autoUpdateAnimBg="0"/>
      <p:bldP spid="825363" grpId="0" autoUpdateAnimBg="0"/>
      <p:bldP spid="825364" grpId="0" autoUpdateAnimBg="0"/>
      <p:bldP spid="82536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fld id="{B181A4AA-B77E-42E7-8B6A-3353ED20AF5B}" type="slidenum">
              <a:rPr lang="zh-CN" altLang="en-US"/>
              <a:pPr/>
              <a:t>32</a:t>
            </a:fld>
            <a:endParaRPr lang="en-US" altLang="zh-CN"/>
          </a:p>
        </p:txBody>
      </p:sp>
      <p:sp>
        <p:nvSpPr>
          <p:cNvPr id="7" name="日期占位符 4"/>
          <p:cNvSpPr>
            <a:spLocks noGrp="1"/>
          </p:cNvSpPr>
          <p:nvPr>
            <p:ph type="dt" sz="half" idx="11"/>
          </p:nvPr>
        </p:nvSpPr>
        <p:spPr/>
        <p:txBody>
          <a:bodyPr/>
          <a:lstStyle/>
          <a:p>
            <a:fld id="{6E4000DE-2922-4B90-B435-43D7ED740151}" type="datetime1">
              <a:rPr lang="zh-CN" altLang="en-US"/>
              <a:pPr/>
              <a:t>2024/11/18</a:t>
            </a:fld>
            <a:endParaRPr lang="en-US" altLang="zh-CN" sz="1000"/>
          </a:p>
        </p:txBody>
      </p:sp>
      <p:sp>
        <p:nvSpPr>
          <p:cNvPr id="826370" name="Rectangle 2"/>
          <p:cNvSpPr>
            <a:spLocks noGrp="1" noChangeArrowheads="1"/>
          </p:cNvSpPr>
          <p:nvPr>
            <p:ph type="title"/>
          </p:nvPr>
        </p:nvSpPr>
        <p:spPr/>
        <p:txBody>
          <a:bodyPr/>
          <a:lstStyle/>
          <a:p>
            <a:r>
              <a:rPr lang="en-US" altLang="zh-CN"/>
              <a:t>4.</a:t>
            </a:r>
            <a:r>
              <a:rPr lang="zh-CN" altLang="en-US"/>
              <a:t>有关收敛的判别——迭代矩阵</a:t>
            </a:r>
          </a:p>
        </p:txBody>
      </p:sp>
      <p:sp>
        <p:nvSpPr>
          <p:cNvPr id="826371" name="Rectangle 3"/>
          <p:cNvSpPr>
            <a:spLocks noGrp="1" noChangeArrowheads="1"/>
          </p:cNvSpPr>
          <p:nvPr>
            <p:ph type="body" idx="1"/>
          </p:nvPr>
        </p:nvSpPr>
        <p:spPr>
          <a:xfrm>
            <a:off x="650875" y="1143000"/>
            <a:ext cx="8820150" cy="1687513"/>
          </a:xfrm>
        </p:spPr>
        <p:txBody>
          <a:bodyPr/>
          <a:lstStyle/>
          <a:p>
            <a:pPr>
              <a:lnSpc>
                <a:spcPct val="120000"/>
              </a:lnSpc>
            </a:pPr>
            <a:r>
              <a:rPr lang="zh-CN" altLang="en-US"/>
              <a:t>定理4.6   对任何初始向量</a:t>
            </a:r>
            <a:r>
              <a:rPr lang="en-US" altLang="zh-CN"/>
              <a:t>X</a:t>
            </a:r>
            <a:r>
              <a:rPr lang="en-US" altLang="zh-CN" baseline="30000"/>
              <a:t>(0)</a:t>
            </a:r>
            <a:r>
              <a:rPr lang="zh-CN" altLang="en-US"/>
              <a:t>和常数项</a:t>
            </a:r>
            <a:r>
              <a:rPr lang="en-US" altLang="zh-CN"/>
              <a:t>N，</a:t>
            </a:r>
            <a:r>
              <a:rPr lang="zh-CN" altLang="en-US"/>
              <a:t>由迭代公 式   	 </a:t>
            </a:r>
            <a:r>
              <a:rPr lang="en-US" altLang="zh-CN"/>
              <a:t>X</a:t>
            </a:r>
            <a:r>
              <a:rPr lang="en-US" altLang="zh-CN" baseline="30000"/>
              <a:t>(k+1)</a:t>
            </a:r>
            <a:r>
              <a:rPr lang="en-US" altLang="zh-CN"/>
              <a:t> =MX</a:t>
            </a:r>
            <a:r>
              <a:rPr lang="en-US" altLang="zh-CN" baseline="30000"/>
              <a:t>(k)</a:t>
            </a:r>
            <a:r>
              <a:rPr lang="en-US" altLang="zh-CN"/>
              <a:t>+N   (k=0,1,2,…)</a:t>
            </a:r>
          </a:p>
          <a:p>
            <a:pPr lvl="1">
              <a:lnSpc>
                <a:spcPct val="120000"/>
              </a:lnSpc>
              <a:buFontTx/>
              <a:buNone/>
            </a:pPr>
            <a:r>
              <a:rPr lang="zh-CN" altLang="en-US"/>
              <a:t>	产生的向量序列{</a:t>
            </a:r>
            <a:r>
              <a:rPr lang="en-US" altLang="zh-CN"/>
              <a:t>X</a:t>
            </a:r>
            <a:r>
              <a:rPr lang="en-US" altLang="zh-CN" baseline="30000"/>
              <a:t>(k)</a:t>
            </a:r>
            <a:r>
              <a:rPr lang="zh-CN" altLang="en-US"/>
              <a:t>}收敛的必要充分条件是</a:t>
            </a:r>
          </a:p>
        </p:txBody>
      </p:sp>
      <p:graphicFrame>
        <p:nvGraphicFramePr>
          <p:cNvPr id="826372" name="Object 4"/>
          <p:cNvGraphicFramePr>
            <a:graphicFrameLocks noChangeAspect="1"/>
          </p:cNvGraphicFramePr>
          <p:nvPr/>
        </p:nvGraphicFramePr>
        <p:xfrm>
          <a:off x="1928813" y="3068638"/>
          <a:ext cx="5095875" cy="466725"/>
        </p:xfrm>
        <a:graphic>
          <a:graphicData uri="http://schemas.openxmlformats.org/presentationml/2006/ole">
            <mc:AlternateContent xmlns:mc="http://schemas.openxmlformats.org/markup-compatibility/2006">
              <mc:Choice xmlns:v="urn:schemas-microsoft-com:vml" Requires="v">
                <p:oleObj name="公式" r:id="rId4" imgW="2247840" imgH="215640" progId="Equation.3">
                  <p:embed/>
                </p:oleObj>
              </mc:Choice>
              <mc:Fallback>
                <p:oleObj name="公式" r:id="rId4" imgW="224784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813" y="3068638"/>
                        <a:ext cx="50958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6373" name="Rectangle 5"/>
          <p:cNvSpPr>
            <a:spLocks noChangeArrowheads="1"/>
          </p:cNvSpPr>
          <p:nvPr/>
        </p:nvSpPr>
        <p:spPr bwMode="auto">
          <a:xfrm>
            <a:off x="560388" y="4005263"/>
            <a:ext cx="90678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0000"/>
              </a:lnSpc>
              <a:spcBef>
                <a:spcPct val="35000"/>
              </a:spcBef>
              <a:buClr>
                <a:srgbClr val="27305F"/>
              </a:buClr>
              <a:buSzPct val="60000"/>
              <a:buFont typeface="Wingdings" pitchFamily="2" charset="2"/>
              <a:buChar char="n"/>
            </a:pPr>
            <a:r>
              <a:rPr lang="zh-CN" altLang="en-US" sz="2800">
                <a:latin typeface="黑体" pitchFamily="49" charset="-122"/>
                <a:ea typeface="黑体" pitchFamily="49" charset="-122"/>
                <a:sym typeface="Symbol" pitchFamily="18" charset="2"/>
              </a:rPr>
              <a:t>说明：</a:t>
            </a:r>
          </a:p>
          <a:p>
            <a:pPr lvl="1" algn="l">
              <a:lnSpc>
                <a:spcPct val="80000"/>
              </a:lnSpc>
              <a:spcBef>
                <a:spcPct val="35000"/>
              </a:spcBef>
              <a:buClr>
                <a:srgbClr val="27305F"/>
              </a:buClr>
              <a:buSzPct val="60000"/>
              <a:buFont typeface="Symbol" pitchFamily="18" charset="2"/>
              <a:buChar char="-"/>
            </a:pPr>
            <a:r>
              <a:rPr lang="zh-CN" altLang="en-US" sz="2800">
                <a:latin typeface="黑体" pitchFamily="49" charset="-122"/>
                <a:ea typeface="黑体" pitchFamily="49" charset="-122"/>
                <a:sym typeface="Symbol" pitchFamily="18" charset="2"/>
              </a:rPr>
              <a:t>迭代的收敛性只与迭代矩阵的谱半径有关</a:t>
            </a:r>
          </a:p>
          <a:p>
            <a:pPr lvl="1" algn="l">
              <a:lnSpc>
                <a:spcPct val="80000"/>
              </a:lnSpc>
              <a:spcBef>
                <a:spcPct val="35000"/>
              </a:spcBef>
              <a:buClr>
                <a:srgbClr val="27305F"/>
              </a:buClr>
              <a:buSzPct val="60000"/>
              <a:buFont typeface="Symbol" pitchFamily="18" charset="2"/>
              <a:buChar char="-"/>
            </a:pPr>
            <a:r>
              <a:rPr lang="zh-CN" altLang="en-US" sz="2800">
                <a:latin typeface="黑体" pitchFamily="49" charset="-122"/>
                <a:ea typeface="黑体" pitchFamily="49" charset="-122"/>
                <a:sym typeface="Symbol" pitchFamily="18" charset="2"/>
              </a:rPr>
              <a:t>迭代是否收敛与系数矩阵</a:t>
            </a:r>
            <a:r>
              <a:rPr lang="en-US" altLang="zh-CN" sz="2800">
                <a:latin typeface="黑体" pitchFamily="49" charset="-122"/>
                <a:ea typeface="黑体" pitchFamily="49" charset="-122"/>
                <a:sym typeface="Symbol" pitchFamily="18" charset="2"/>
              </a:rPr>
              <a:t>A</a:t>
            </a:r>
            <a:r>
              <a:rPr lang="zh-CN" altLang="en-US" sz="2800">
                <a:latin typeface="黑体" pitchFamily="49" charset="-122"/>
                <a:ea typeface="黑体" pitchFamily="49" charset="-122"/>
                <a:sym typeface="Symbol" pitchFamily="18" charset="2"/>
              </a:rPr>
              <a:t>及演变方式有关</a:t>
            </a:r>
          </a:p>
          <a:p>
            <a:pPr lvl="1" algn="l">
              <a:lnSpc>
                <a:spcPct val="80000"/>
              </a:lnSpc>
              <a:spcBef>
                <a:spcPct val="35000"/>
              </a:spcBef>
              <a:buClr>
                <a:srgbClr val="27305F"/>
              </a:buClr>
              <a:buSzPct val="60000"/>
              <a:buFont typeface="Symbol" pitchFamily="18" charset="2"/>
              <a:buChar char="-"/>
            </a:pPr>
            <a:r>
              <a:rPr lang="zh-CN" altLang="en-US" sz="2800">
                <a:latin typeface="黑体" pitchFamily="49" charset="-122"/>
                <a:ea typeface="黑体" pitchFamily="49" charset="-122"/>
                <a:sym typeface="Symbol" pitchFamily="18" charset="2"/>
              </a:rPr>
              <a:t>与常数项和初始向量的选择无关。</a:t>
            </a:r>
            <a:endParaRPr lang="zh-CN" altLang="en-US" sz="2800">
              <a:latin typeface="黑体" pitchFamily="49" charset="-122"/>
              <a:ea typeface="黑体" pitchFamily="49" charset="-122"/>
            </a:endParaRPr>
          </a:p>
        </p:txBody>
      </p:sp>
    </p:spTree>
    <p:custDataLst>
      <p:tags r:id="rId1"/>
    </p:custDataLst>
    <p:extLst>
      <p:ext uri="{BB962C8B-B14F-4D97-AF65-F5344CB8AC3E}">
        <p14:creationId xmlns:p14="http://schemas.microsoft.com/office/powerpoint/2010/main" val="14137261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6372"/>
                                        </p:tgtEl>
                                        <p:attrNameLst>
                                          <p:attrName>style.visibility</p:attrName>
                                        </p:attrNameLst>
                                      </p:cBhvr>
                                      <p:to>
                                        <p:strVal val="visible"/>
                                      </p:to>
                                    </p:set>
                                    <p:animEffect transition="in" filter="dissolve">
                                      <p:cBhvr>
                                        <p:cTn id="7" dur="500"/>
                                        <p:tgtEl>
                                          <p:spTgt spid="8263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26373"/>
                                        </p:tgtEl>
                                        <p:attrNameLst>
                                          <p:attrName>style.visibility</p:attrName>
                                        </p:attrNameLst>
                                      </p:cBhvr>
                                      <p:to>
                                        <p:strVal val="visible"/>
                                      </p:to>
                                    </p:set>
                                    <p:anim calcmode="lin" valueType="num">
                                      <p:cBhvr additive="base">
                                        <p:cTn id="12" dur="500" fill="hold"/>
                                        <p:tgtEl>
                                          <p:spTgt spid="826373"/>
                                        </p:tgtEl>
                                        <p:attrNameLst>
                                          <p:attrName>ppt_x</p:attrName>
                                        </p:attrNameLst>
                                      </p:cBhvr>
                                      <p:tavLst>
                                        <p:tav tm="0">
                                          <p:val>
                                            <p:strVal val="0-#ppt_w/2"/>
                                          </p:val>
                                        </p:tav>
                                        <p:tav tm="100000">
                                          <p:val>
                                            <p:strVal val="#ppt_x"/>
                                          </p:val>
                                        </p:tav>
                                      </p:tavLst>
                                    </p:anim>
                                    <p:anim calcmode="lin" valueType="num">
                                      <p:cBhvr additive="base">
                                        <p:cTn id="13" dur="500" fill="hold"/>
                                        <p:tgtEl>
                                          <p:spTgt spid="8263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3"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0"/>
          </p:nvPr>
        </p:nvSpPr>
        <p:spPr/>
        <p:txBody>
          <a:bodyPr/>
          <a:lstStyle/>
          <a:p>
            <a:fld id="{D938ECEC-E534-4290-B410-6907E7A9B758}" type="slidenum">
              <a:rPr lang="zh-CN" altLang="en-US"/>
              <a:pPr/>
              <a:t>33</a:t>
            </a:fld>
            <a:endParaRPr lang="en-US" altLang="zh-CN"/>
          </a:p>
        </p:txBody>
      </p:sp>
      <p:sp>
        <p:nvSpPr>
          <p:cNvPr id="12" name="日期占位符 4"/>
          <p:cNvSpPr>
            <a:spLocks noGrp="1"/>
          </p:cNvSpPr>
          <p:nvPr>
            <p:ph type="dt" sz="half" idx="11"/>
          </p:nvPr>
        </p:nvSpPr>
        <p:spPr/>
        <p:txBody>
          <a:bodyPr/>
          <a:lstStyle/>
          <a:p>
            <a:fld id="{D9CCECC3-E05F-4699-BF3D-10B2DB62CC1F}" type="datetime1">
              <a:rPr lang="zh-CN" altLang="en-US"/>
              <a:pPr/>
              <a:t>2024/11/18</a:t>
            </a:fld>
            <a:endParaRPr lang="en-US" altLang="zh-CN" sz="1000"/>
          </a:p>
        </p:txBody>
      </p:sp>
      <p:sp>
        <p:nvSpPr>
          <p:cNvPr id="828418" name="Rectangle 2"/>
          <p:cNvSpPr>
            <a:spLocks noGrp="1" noChangeArrowheads="1"/>
          </p:cNvSpPr>
          <p:nvPr>
            <p:ph type="title"/>
          </p:nvPr>
        </p:nvSpPr>
        <p:spPr/>
        <p:txBody>
          <a:bodyPr/>
          <a:lstStyle/>
          <a:p>
            <a:r>
              <a:rPr lang="en-US" altLang="zh-CN"/>
              <a:t>4.</a:t>
            </a:r>
            <a:r>
              <a:rPr lang="zh-CN" altLang="en-US"/>
              <a:t>有关收敛的判别——迭代矩阵</a:t>
            </a:r>
          </a:p>
        </p:txBody>
      </p:sp>
      <p:sp>
        <p:nvSpPr>
          <p:cNvPr id="828419" name="Rectangle 3"/>
          <p:cNvSpPr>
            <a:spLocks noGrp="1" noChangeArrowheads="1"/>
          </p:cNvSpPr>
          <p:nvPr>
            <p:ph type="body" idx="1"/>
          </p:nvPr>
        </p:nvSpPr>
        <p:spPr>
          <a:xfrm>
            <a:off x="650875" y="1143000"/>
            <a:ext cx="8820150" cy="384175"/>
          </a:xfrm>
        </p:spPr>
        <p:txBody>
          <a:bodyPr/>
          <a:lstStyle/>
          <a:p>
            <a:r>
              <a:rPr lang="zh-CN" altLang="en-US"/>
              <a:t>简单迭代法、赛德尔迭代法收敛的三个充分条件</a:t>
            </a:r>
          </a:p>
        </p:txBody>
      </p:sp>
      <p:graphicFrame>
        <p:nvGraphicFramePr>
          <p:cNvPr id="828420" name="Object 4"/>
          <p:cNvGraphicFramePr>
            <a:graphicFrameLocks noChangeAspect="1"/>
          </p:cNvGraphicFramePr>
          <p:nvPr/>
        </p:nvGraphicFramePr>
        <p:xfrm>
          <a:off x="5673725" y="2349500"/>
          <a:ext cx="3808413" cy="1041400"/>
        </p:xfrm>
        <a:graphic>
          <a:graphicData uri="http://schemas.openxmlformats.org/presentationml/2006/ole">
            <mc:AlternateContent xmlns:mc="http://schemas.openxmlformats.org/markup-compatibility/2006">
              <mc:Choice xmlns:v="urn:schemas-microsoft-com:vml" Requires="v">
                <p:oleObj name="公式" r:id="rId3" imgW="1625400" imgH="444240" progId="Equation.3">
                  <p:embed/>
                </p:oleObj>
              </mc:Choice>
              <mc:Fallback>
                <p:oleObj name="公式" r:id="rId3" imgW="162540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3725" y="2349500"/>
                        <a:ext cx="3808413"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8421" name="Object 5"/>
          <p:cNvGraphicFramePr>
            <a:graphicFrameLocks noChangeAspect="1"/>
          </p:cNvGraphicFramePr>
          <p:nvPr/>
        </p:nvGraphicFramePr>
        <p:xfrm>
          <a:off x="631825" y="2133600"/>
          <a:ext cx="4864100" cy="1647825"/>
        </p:xfrm>
        <a:graphic>
          <a:graphicData uri="http://schemas.openxmlformats.org/presentationml/2006/ole">
            <mc:AlternateContent xmlns:mc="http://schemas.openxmlformats.org/markup-compatibility/2006">
              <mc:Choice xmlns:v="urn:schemas-microsoft-com:vml" Requires="v">
                <p:oleObj name="Equation" r:id="rId5" imgW="2273040" imgH="685800" progId="Equation.3">
                  <p:embed/>
                </p:oleObj>
              </mc:Choice>
              <mc:Fallback>
                <p:oleObj name="Equation" r:id="rId5" imgW="2273040" imgH="685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825" y="2133600"/>
                        <a:ext cx="4864100" cy="164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8422" name="Object 6"/>
          <p:cNvGraphicFramePr>
            <a:graphicFrameLocks noChangeAspect="1"/>
          </p:cNvGraphicFramePr>
          <p:nvPr/>
        </p:nvGraphicFramePr>
        <p:xfrm>
          <a:off x="1066800" y="3971925"/>
          <a:ext cx="3505200" cy="2479675"/>
        </p:xfrm>
        <a:graphic>
          <a:graphicData uri="http://schemas.openxmlformats.org/presentationml/2006/ole">
            <mc:AlternateContent xmlns:mc="http://schemas.openxmlformats.org/markup-compatibility/2006">
              <mc:Choice xmlns:v="urn:schemas-microsoft-com:vml" Requires="v">
                <p:oleObj name="Equation" r:id="rId7" imgW="1307880" imgH="914400" progId="Equation.3">
                  <p:embed/>
                </p:oleObj>
              </mc:Choice>
              <mc:Fallback>
                <p:oleObj name="Equation" r:id="rId7" imgW="130788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971925"/>
                        <a:ext cx="3505200" cy="247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8423" name="Rectangle 7"/>
          <p:cNvSpPr>
            <a:spLocks noChangeArrowheads="1"/>
          </p:cNvSpPr>
          <p:nvPr/>
        </p:nvSpPr>
        <p:spPr bwMode="auto">
          <a:xfrm>
            <a:off x="5673725" y="3789363"/>
            <a:ext cx="35829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sz="2800">
                <a:sym typeface="Symbol" pitchFamily="18" charset="2"/>
              </a:rPr>
              <a:t>||</a:t>
            </a:r>
            <a:r>
              <a:rPr lang="en-US" altLang="zh-CN" sz="2800">
                <a:sym typeface="Symbol" pitchFamily="18" charset="2"/>
              </a:rPr>
              <a:t>M||</a:t>
            </a:r>
            <a:r>
              <a:rPr lang="zh-CN" altLang="en-US" sz="2800" baseline="-25000">
                <a:sym typeface="Symbol" pitchFamily="18" charset="2"/>
              </a:rPr>
              <a:t></a:t>
            </a:r>
            <a:r>
              <a:rPr lang="en-US" altLang="zh-CN" sz="3600" i="1">
                <a:sym typeface="Symbol" pitchFamily="18" charset="2"/>
              </a:rPr>
              <a:t>=max</a:t>
            </a:r>
            <a:r>
              <a:rPr lang="en-US" altLang="zh-CN" sz="3600">
                <a:sym typeface="Symbol" pitchFamily="18" charset="2"/>
              </a:rPr>
              <a:t>{</a:t>
            </a:r>
            <a:r>
              <a:rPr lang="en-US" altLang="zh-CN" sz="3600" i="1">
                <a:sym typeface="Symbol" pitchFamily="18" charset="2"/>
              </a:rPr>
              <a:t></a:t>
            </a:r>
            <a:r>
              <a:rPr lang="en-US" altLang="zh-CN" sz="3600" i="1" baseline="-25000">
                <a:sym typeface="Symbol" pitchFamily="18" charset="2"/>
              </a:rPr>
              <a:t>i</a:t>
            </a:r>
            <a:r>
              <a:rPr lang="en-US" altLang="zh-CN" sz="3600">
                <a:sym typeface="Symbol" pitchFamily="18" charset="2"/>
              </a:rPr>
              <a:t>}&lt;1</a:t>
            </a:r>
            <a:endParaRPr lang="zh-CN" altLang="en-US" sz="3600">
              <a:sym typeface="Symbol" pitchFamily="18" charset="2"/>
            </a:endParaRPr>
          </a:p>
        </p:txBody>
      </p:sp>
      <p:sp>
        <p:nvSpPr>
          <p:cNvPr id="828424" name="Rectangle 8"/>
          <p:cNvSpPr>
            <a:spLocks noChangeArrowheads="1"/>
          </p:cNvSpPr>
          <p:nvPr/>
        </p:nvSpPr>
        <p:spPr bwMode="auto">
          <a:xfrm>
            <a:off x="5686425" y="4551363"/>
            <a:ext cx="364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sz="2800">
                <a:sym typeface="Symbol" pitchFamily="18" charset="2"/>
              </a:rPr>
              <a:t>||</a:t>
            </a:r>
            <a:r>
              <a:rPr lang="en-US" altLang="zh-CN" sz="2800">
                <a:sym typeface="Symbol" pitchFamily="18" charset="2"/>
              </a:rPr>
              <a:t>M||</a:t>
            </a:r>
            <a:r>
              <a:rPr lang="zh-CN" altLang="en-US" sz="2800" baseline="-25000">
                <a:sym typeface="Symbol" pitchFamily="18" charset="2"/>
              </a:rPr>
              <a:t>1</a:t>
            </a:r>
            <a:r>
              <a:rPr lang="en-US" altLang="zh-CN" sz="3600" i="1">
                <a:sym typeface="Symbol" pitchFamily="18" charset="2"/>
              </a:rPr>
              <a:t>= max</a:t>
            </a:r>
            <a:r>
              <a:rPr lang="en-US" altLang="zh-CN" sz="3600">
                <a:sym typeface="Symbol" pitchFamily="18" charset="2"/>
              </a:rPr>
              <a:t>{</a:t>
            </a:r>
            <a:r>
              <a:rPr lang="en-US" altLang="zh-CN" sz="3600" i="1">
                <a:sym typeface="Symbol" pitchFamily="18" charset="2"/>
              </a:rPr>
              <a:t>v</a:t>
            </a:r>
            <a:r>
              <a:rPr lang="en-US" altLang="zh-CN" sz="3600" i="1" baseline="-25000">
                <a:sym typeface="Symbol" pitchFamily="18" charset="2"/>
              </a:rPr>
              <a:t>i</a:t>
            </a:r>
            <a:r>
              <a:rPr lang="en-US" altLang="zh-CN" sz="3600">
                <a:sym typeface="Symbol" pitchFamily="18" charset="2"/>
              </a:rPr>
              <a:t>}&lt;1</a:t>
            </a:r>
            <a:endParaRPr lang="zh-CN" altLang="en-US" sz="3600">
              <a:sym typeface="Symbol" pitchFamily="18" charset="2"/>
            </a:endParaRPr>
          </a:p>
        </p:txBody>
      </p:sp>
      <p:graphicFrame>
        <p:nvGraphicFramePr>
          <p:cNvPr id="828425" name="Object 9"/>
          <p:cNvGraphicFramePr>
            <a:graphicFrameLocks noChangeAspect="1"/>
          </p:cNvGraphicFramePr>
          <p:nvPr/>
        </p:nvGraphicFramePr>
        <p:xfrm>
          <a:off x="5902325" y="5237163"/>
          <a:ext cx="3548063" cy="1216025"/>
        </p:xfrm>
        <a:graphic>
          <a:graphicData uri="http://schemas.openxmlformats.org/presentationml/2006/ole">
            <mc:AlternateContent xmlns:mc="http://schemas.openxmlformats.org/markup-compatibility/2006">
              <mc:Choice xmlns:v="urn:schemas-microsoft-com:vml" Requires="v">
                <p:oleObj name="Equation" r:id="rId9" imgW="1434960" imgH="495000" progId="Equation.3">
                  <p:embed/>
                </p:oleObj>
              </mc:Choice>
              <mc:Fallback>
                <p:oleObj name="Equation" r:id="rId9" imgW="1434960" imgH="495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2325" y="5237163"/>
                        <a:ext cx="3548063"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8426" name="Object 10"/>
          <p:cNvGraphicFramePr>
            <a:graphicFrameLocks noChangeAspect="1"/>
          </p:cNvGraphicFramePr>
          <p:nvPr/>
        </p:nvGraphicFramePr>
        <p:xfrm>
          <a:off x="849313" y="1341438"/>
          <a:ext cx="3763962" cy="1176337"/>
        </p:xfrm>
        <a:graphic>
          <a:graphicData uri="http://schemas.openxmlformats.org/presentationml/2006/ole">
            <mc:AlternateContent xmlns:mc="http://schemas.openxmlformats.org/markup-compatibility/2006">
              <mc:Choice xmlns:v="urn:schemas-microsoft-com:vml" Requires="v">
                <p:oleObj name="公式" r:id="rId11" imgW="1396800" imgH="457200" progId="Equation.3">
                  <p:embed/>
                </p:oleObj>
              </mc:Choice>
              <mc:Fallback>
                <p:oleObj name="公式" r:id="rId11" imgW="1396800" imgH="457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313" y="1341438"/>
                        <a:ext cx="3763962" cy="1176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1769662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8421"/>
                                        </p:tgtEl>
                                        <p:attrNameLst>
                                          <p:attrName>style.visibility</p:attrName>
                                        </p:attrNameLst>
                                      </p:cBhvr>
                                      <p:to>
                                        <p:strVal val="visible"/>
                                      </p:to>
                                    </p:set>
                                    <p:animEffect transition="in" filter="dissolve">
                                      <p:cBhvr>
                                        <p:cTn id="7" dur="500"/>
                                        <p:tgtEl>
                                          <p:spTgt spid="8284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28420"/>
                                        </p:tgtEl>
                                        <p:attrNameLst>
                                          <p:attrName>style.visibility</p:attrName>
                                        </p:attrNameLst>
                                      </p:cBhvr>
                                      <p:to>
                                        <p:strVal val="visible"/>
                                      </p:to>
                                    </p:set>
                                    <p:animEffect transition="in" filter="wipe(left)">
                                      <p:cBhvr>
                                        <p:cTn id="11" dur="500"/>
                                        <p:tgtEl>
                                          <p:spTgt spid="828420"/>
                                        </p:tgtEl>
                                      </p:cBhvr>
                                    </p:animEffect>
                                  </p:childTnLst>
                                </p:cTn>
                              </p:par>
                            </p:childTnLst>
                          </p:cTn>
                        </p:par>
                        <p:par>
                          <p:cTn id="12" fill="hold" nodeType="afterGroup">
                            <p:stCondLst>
                              <p:cond delay="1000"/>
                            </p:stCondLst>
                            <p:childTnLst>
                              <p:par>
                                <p:cTn id="13" presetID="2" presetClass="entr" presetSubtype="8" fill="hold" nodeType="afterEffect">
                                  <p:stCondLst>
                                    <p:cond delay="4000"/>
                                  </p:stCondLst>
                                  <p:childTnLst>
                                    <p:set>
                                      <p:cBhvr>
                                        <p:cTn id="14" dur="1" fill="hold">
                                          <p:stCondLst>
                                            <p:cond delay="0"/>
                                          </p:stCondLst>
                                        </p:cTn>
                                        <p:tgtEl>
                                          <p:spTgt spid="828422"/>
                                        </p:tgtEl>
                                        <p:attrNameLst>
                                          <p:attrName>style.visibility</p:attrName>
                                        </p:attrNameLst>
                                      </p:cBhvr>
                                      <p:to>
                                        <p:strVal val="visible"/>
                                      </p:to>
                                    </p:set>
                                    <p:anim calcmode="lin" valueType="num">
                                      <p:cBhvr additive="base">
                                        <p:cTn id="15" dur="500" fill="hold"/>
                                        <p:tgtEl>
                                          <p:spTgt spid="828422"/>
                                        </p:tgtEl>
                                        <p:attrNameLst>
                                          <p:attrName>ppt_x</p:attrName>
                                        </p:attrNameLst>
                                      </p:cBhvr>
                                      <p:tavLst>
                                        <p:tav tm="0">
                                          <p:val>
                                            <p:strVal val="0-#ppt_w/2"/>
                                          </p:val>
                                        </p:tav>
                                        <p:tav tm="100000">
                                          <p:val>
                                            <p:strVal val="#ppt_x"/>
                                          </p:val>
                                        </p:tav>
                                      </p:tavLst>
                                    </p:anim>
                                    <p:anim calcmode="lin" valueType="num">
                                      <p:cBhvr additive="base">
                                        <p:cTn id="16" dur="500" fill="hold"/>
                                        <p:tgtEl>
                                          <p:spTgt spid="828422"/>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828423"/>
                                        </p:tgtEl>
                                        <p:attrNameLst>
                                          <p:attrName>style.visibility</p:attrName>
                                        </p:attrNameLst>
                                      </p:cBhvr>
                                      <p:to>
                                        <p:strVal val="visible"/>
                                      </p:to>
                                    </p:set>
                                    <p:anim calcmode="lin" valueType="num">
                                      <p:cBhvr additive="base">
                                        <p:cTn id="21" dur="500" fill="hold"/>
                                        <p:tgtEl>
                                          <p:spTgt spid="828423"/>
                                        </p:tgtEl>
                                        <p:attrNameLst>
                                          <p:attrName>ppt_x</p:attrName>
                                        </p:attrNameLst>
                                      </p:cBhvr>
                                      <p:tavLst>
                                        <p:tav tm="0">
                                          <p:val>
                                            <p:strVal val="0-#ppt_w/2"/>
                                          </p:val>
                                        </p:tav>
                                        <p:tav tm="100000">
                                          <p:val>
                                            <p:strVal val="#ppt_x"/>
                                          </p:val>
                                        </p:tav>
                                      </p:tavLst>
                                    </p:anim>
                                    <p:anim calcmode="lin" valueType="num">
                                      <p:cBhvr additive="base">
                                        <p:cTn id="22" dur="500" fill="hold"/>
                                        <p:tgtEl>
                                          <p:spTgt spid="828423"/>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28424"/>
                                        </p:tgtEl>
                                        <p:attrNameLst>
                                          <p:attrName>style.visibility</p:attrName>
                                        </p:attrNameLst>
                                      </p:cBhvr>
                                      <p:to>
                                        <p:strVal val="visible"/>
                                      </p:to>
                                    </p:set>
                                    <p:anim calcmode="lin" valueType="num">
                                      <p:cBhvr additive="base">
                                        <p:cTn id="27" dur="500" fill="hold"/>
                                        <p:tgtEl>
                                          <p:spTgt spid="828424"/>
                                        </p:tgtEl>
                                        <p:attrNameLst>
                                          <p:attrName>ppt_x</p:attrName>
                                        </p:attrNameLst>
                                      </p:cBhvr>
                                      <p:tavLst>
                                        <p:tav tm="0">
                                          <p:val>
                                            <p:strVal val="0-#ppt_w/2"/>
                                          </p:val>
                                        </p:tav>
                                        <p:tav tm="100000">
                                          <p:val>
                                            <p:strVal val="#ppt_x"/>
                                          </p:val>
                                        </p:tav>
                                      </p:tavLst>
                                    </p:anim>
                                    <p:anim calcmode="lin" valueType="num">
                                      <p:cBhvr additive="base">
                                        <p:cTn id="28" dur="500" fill="hold"/>
                                        <p:tgtEl>
                                          <p:spTgt spid="828424"/>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828425"/>
                                        </p:tgtEl>
                                        <p:attrNameLst>
                                          <p:attrName>style.visibility</p:attrName>
                                        </p:attrNameLst>
                                      </p:cBhvr>
                                      <p:to>
                                        <p:strVal val="visible"/>
                                      </p:to>
                                    </p:set>
                                    <p:animEffect transition="in" filter="wipe(up)">
                                      <p:cBhvr>
                                        <p:cTn id="33" dur="500"/>
                                        <p:tgtEl>
                                          <p:spTgt spid="8284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828426"/>
                                        </p:tgtEl>
                                        <p:attrNameLst>
                                          <p:attrName>style.visibility</p:attrName>
                                        </p:attrNameLst>
                                      </p:cBhvr>
                                      <p:to>
                                        <p:strVal val="visible"/>
                                      </p:to>
                                    </p:set>
                                    <p:animEffect transition="in" filter="dissolve">
                                      <p:cBhvr>
                                        <p:cTn id="38" dur="500"/>
                                        <p:tgtEl>
                                          <p:spTgt spid="828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23" grpId="0" autoUpdateAnimBg="0"/>
      <p:bldP spid="82842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C6CF7B22-2A6D-41EC-BF33-13B8DB3FD574}" type="slidenum">
              <a:rPr lang="zh-CN" altLang="en-US"/>
              <a:pPr/>
              <a:t>34</a:t>
            </a:fld>
            <a:endParaRPr lang="en-US" altLang="zh-CN"/>
          </a:p>
        </p:txBody>
      </p:sp>
      <p:sp>
        <p:nvSpPr>
          <p:cNvPr id="5" name="日期占位符 4"/>
          <p:cNvSpPr>
            <a:spLocks noGrp="1"/>
          </p:cNvSpPr>
          <p:nvPr>
            <p:ph type="dt" sz="half" idx="11"/>
          </p:nvPr>
        </p:nvSpPr>
        <p:spPr/>
        <p:txBody>
          <a:bodyPr/>
          <a:lstStyle/>
          <a:p>
            <a:fld id="{97BD8E5A-DCF8-4D1F-8934-45BDEBD06E6A}" type="datetime1">
              <a:rPr lang="zh-CN" altLang="en-US"/>
              <a:pPr/>
              <a:t>2024/11/18</a:t>
            </a:fld>
            <a:endParaRPr lang="en-US" altLang="zh-CN" sz="1000"/>
          </a:p>
        </p:txBody>
      </p:sp>
      <p:sp>
        <p:nvSpPr>
          <p:cNvPr id="829442" name="Rectangle 2"/>
          <p:cNvSpPr>
            <a:spLocks noGrp="1" noChangeArrowheads="1"/>
          </p:cNvSpPr>
          <p:nvPr>
            <p:ph type="title"/>
          </p:nvPr>
        </p:nvSpPr>
        <p:spPr/>
        <p:txBody>
          <a:bodyPr/>
          <a:lstStyle/>
          <a:p>
            <a:r>
              <a:rPr lang="en-US" altLang="zh-CN"/>
              <a:t>4.</a:t>
            </a:r>
            <a:r>
              <a:rPr lang="zh-CN" altLang="en-US"/>
              <a:t>有关收敛的判别——系数矩阵</a:t>
            </a:r>
          </a:p>
        </p:txBody>
      </p:sp>
      <p:sp>
        <p:nvSpPr>
          <p:cNvPr id="829443" name="Rectangle 3"/>
          <p:cNvSpPr>
            <a:spLocks noGrp="1" noChangeArrowheads="1"/>
          </p:cNvSpPr>
          <p:nvPr>
            <p:ph type="body" idx="1"/>
          </p:nvPr>
        </p:nvSpPr>
        <p:spPr>
          <a:xfrm>
            <a:off x="650875" y="1143000"/>
            <a:ext cx="8820150" cy="2862263"/>
          </a:xfrm>
        </p:spPr>
        <p:txBody>
          <a:bodyPr/>
          <a:lstStyle/>
          <a:p>
            <a:pPr>
              <a:lnSpc>
                <a:spcPct val="120000"/>
              </a:lnSpc>
            </a:pPr>
            <a:r>
              <a:rPr lang="zh-CN" altLang="en-US">
                <a:sym typeface="Symbol" pitchFamily="18" charset="2"/>
              </a:rPr>
              <a:t>定理4.9   若系数矩阵</a:t>
            </a:r>
            <a:r>
              <a:rPr lang="en-US" altLang="zh-CN">
                <a:sym typeface="Symbol" pitchFamily="18" charset="2"/>
              </a:rPr>
              <a:t>A</a:t>
            </a:r>
            <a:r>
              <a:rPr lang="zh-CN" altLang="en-US">
                <a:sym typeface="Symbol" pitchFamily="18" charset="2"/>
              </a:rPr>
              <a:t>不可约且具有对角占优，则雅可比迭代法必定收敛</a:t>
            </a:r>
          </a:p>
          <a:p>
            <a:pPr>
              <a:lnSpc>
                <a:spcPct val="120000"/>
              </a:lnSpc>
            </a:pPr>
            <a:r>
              <a:rPr lang="zh-CN" altLang="en-US"/>
              <a:t>定理4.10   若</a:t>
            </a:r>
            <a:r>
              <a:rPr lang="zh-CN" altLang="en-US">
                <a:sym typeface="Symbol" pitchFamily="18" charset="2"/>
              </a:rPr>
              <a:t>系数矩阵</a:t>
            </a:r>
            <a:r>
              <a:rPr lang="en-US" altLang="zh-CN">
                <a:sym typeface="Symbol" pitchFamily="18" charset="2"/>
              </a:rPr>
              <a:t>A</a:t>
            </a:r>
            <a:r>
              <a:rPr lang="zh-CN" altLang="en-US">
                <a:sym typeface="Symbol" pitchFamily="18" charset="2"/>
              </a:rPr>
              <a:t>不可约且具有对角占优，则</a:t>
            </a:r>
            <a:r>
              <a:rPr lang="zh-CN" altLang="en-US"/>
              <a:t>高斯-赛德尔</a:t>
            </a:r>
            <a:r>
              <a:rPr lang="zh-CN" altLang="en-US">
                <a:sym typeface="Symbol" pitchFamily="18" charset="2"/>
              </a:rPr>
              <a:t>迭代法必定收敛</a:t>
            </a:r>
          </a:p>
          <a:p>
            <a:pPr>
              <a:lnSpc>
                <a:spcPct val="120000"/>
              </a:lnSpc>
            </a:pPr>
            <a:r>
              <a:rPr lang="zh-CN" altLang="en-US"/>
              <a:t>定理4.11   若</a:t>
            </a:r>
            <a:r>
              <a:rPr lang="en-US" altLang="zh-CN"/>
              <a:t>A</a:t>
            </a:r>
            <a:r>
              <a:rPr lang="zh-CN" altLang="en-US"/>
              <a:t>对称正定</a:t>
            </a:r>
            <a:r>
              <a:rPr lang="zh-CN" altLang="en-US">
                <a:sym typeface="Symbol" pitchFamily="18" charset="2"/>
              </a:rPr>
              <a:t>，则</a:t>
            </a:r>
            <a:r>
              <a:rPr lang="zh-CN" altLang="en-US"/>
              <a:t>高斯-赛德尔</a:t>
            </a:r>
            <a:r>
              <a:rPr lang="zh-CN" altLang="en-US">
                <a:sym typeface="Symbol" pitchFamily="18" charset="2"/>
              </a:rPr>
              <a:t>迭代法收敛</a:t>
            </a:r>
          </a:p>
        </p:txBody>
      </p:sp>
    </p:spTree>
    <p:extLst>
      <p:ext uri="{BB962C8B-B14F-4D97-AF65-F5344CB8AC3E}">
        <p14:creationId xmlns:p14="http://schemas.microsoft.com/office/powerpoint/2010/main" val="14083131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a:defRPr/>
            </a:pPr>
            <a:fld id="{E0710C8B-DEA4-4A4F-BB12-A6030E689386}" type="slidenum">
              <a:rPr lang="zh-CN" altLang="en-US"/>
              <a:pPr>
                <a:defRPr/>
              </a:pPr>
              <a:t>35</a:t>
            </a:fld>
            <a:endParaRPr lang="en-US" altLang="zh-CN"/>
          </a:p>
        </p:txBody>
      </p:sp>
      <p:sp>
        <p:nvSpPr>
          <p:cNvPr id="7" name="日期占位符 4"/>
          <p:cNvSpPr>
            <a:spLocks noGrp="1"/>
          </p:cNvSpPr>
          <p:nvPr>
            <p:ph type="dt" sz="quarter" idx="11"/>
          </p:nvPr>
        </p:nvSpPr>
        <p:spPr/>
        <p:txBody>
          <a:bodyPr/>
          <a:lstStyle/>
          <a:p>
            <a:pPr>
              <a:defRPr/>
            </a:pPr>
            <a:fld id="{6429B1BD-3329-436C-9131-15F8E2B6A7BD}" type="datetime1">
              <a:rPr lang="zh-CN" altLang="en-US"/>
              <a:pPr>
                <a:defRPr/>
              </a:pPr>
              <a:t>2024/11/18</a:t>
            </a:fld>
            <a:endParaRPr lang="en-US" altLang="zh-CN" sz="1000"/>
          </a:p>
        </p:txBody>
      </p:sp>
      <p:sp>
        <p:nvSpPr>
          <p:cNvPr id="931842" name="Rectangle 2"/>
          <p:cNvSpPr>
            <a:spLocks noGrp="1" noChangeArrowheads="1"/>
          </p:cNvSpPr>
          <p:nvPr>
            <p:ph type="title"/>
          </p:nvPr>
        </p:nvSpPr>
        <p:spPr/>
        <p:txBody>
          <a:bodyPr/>
          <a:lstStyle/>
          <a:p>
            <a:pPr>
              <a:defRPr/>
            </a:pPr>
            <a:r>
              <a:rPr lang="en-US" altLang="zh-CN"/>
              <a:t>5. </a:t>
            </a:r>
            <a:r>
              <a:rPr lang="zh-CN" altLang="en-US"/>
              <a:t>松弛法</a:t>
            </a:r>
          </a:p>
        </p:txBody>
      </p:sp>
      <p:sp>
        <p:nvSpPr>
          <p:cNvPr id="29701" name="Rectangle 3"/>
          <p:cNvSpPr>
            <a:spLocks noGrp="1" noChangeArrowheads="1"/>
          </p:cNvSpPr>
          <p:nvPr>
            <p:ph type="body" idx="1"/>
          </p:nvPr>
        </p:nvSpPr>
        <p:spPr>
          <a:xfrm>
            <a:off x="650875" y="1143000"/>
            <a:ext cx="8950325" cy="468313"/>
          </a:xfrm>
        </p:spPr>
        <p:txBody>
          <a:bodyPr/>
          <a:lstStyle/>
          <a:p>
            <a:pPr>
              <a:lnSpc>
                <a:spcPct val="120000"/>
              </a:lnSpc>
            </a:pPr>
            <a:r>
              <a:rPr lang="zh-CN" altLang="en-US"/>
              <a:t>带有松弛因子的逐次松弛法</a:t>
            </a:r>
          </a:p>
        </p:txBody>
      </p:sp>
      <p:graphicFrame>
        <p:nvGraphicFramePr>
          <p:cNvPr id="29702" name="Object 4"/>
          <p:cNvGraphicFramePr>
            <a:graphicFrameLocks noChangeAspect="1"/>
          </p:cNvGraphicFramePr>
          <p:nvPr/>
        </p:nvGraphicFramePr>
        <p:xfrm>
          <a:off x="614363" y="1628775"/>
          <a:ext cx="9296400" cy="1100138"/>
        </p:xfrm>
        <a:graphic>
          <a:graphicData uri="http://schemas.openxmlformats.org/presentationml/2006/ole">
            <mc:AlternateContent xmlns:mc="http://schemas.openxmlformats.org/markup-compatibility/2006">
              <mc:Choice xmlns:v="urn:schemas-microsoft-com:vml" Requires="v">
                <p:oleObj name="Equation" r:id="rId2" imgW="4031032" imgH="403920" progId="Equation.3">
                  <p:embed/>
                </p:oleObj>
              </mc:Choice>
              <mc:Fallback>
                <p:oleObj name="Equation" r:id="rId2" imgW="4031032" imgH="4039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3" y="1628775"/>
                        <a:ext cx="9296400" cy="110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3" name="Object 5"/>
          <p:cNvGraphicFramePr>
            <a:graphicFrameLocks noChangeAspect="1"/>
          </p:cNvGraphicFramePr>
          <p:nvPr/>
        </p:nvGraphicFramePr>
        <p:xfrm>
          <a:off x="685800" y="2636838"/>
          <a:ext cx="9220200" cy="1106487"/>
        </p:xfrm>
        <a:graphic>
          <a:graphicData uri="http://schemas.openxmlformats.org/presentationml/2006/ole">
            <mc:AlternateContent xmlns:mc="http://schemas.openxmlformats.org/markup-compatibility/2006">
              <mc:Choice xmlns:v="urn:schemas-microsoft-com:vml" Requires="v">
                <p:oleObj name="Equation" r:id="rId4" imgW="4076700" imgH="457200" progId="Equation.3">
                  <p:embed/>
                </p:oleObj>
              </mc:Choice>
              <mc:Fallback>
                <p:oleObj name="Equation" r:id="rId4" imgW="40767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636838"/>
                        <a:ext cx="922020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404813" y="3644900"/>
            <a:ext cx="9290050" cy="2871788"/>
          </a:xfrm>
          <a:prstGeom prst="rect">
            <a:avLst/>
          </a:prstGeom>
        </p:spPr>
        <p:txBody>
          <a:bodyPr>
            <a:spAutoFit/>
          </a:bodyPr>
          <a:lstStyle/>
          <a:p>
            <a:pPr marL="258763" indent="-258763" algn="l" defTabSz="814388">
              <a:lnSpc>
                <a:spcPct val="90000"/>
              </a:lnSpc>
              <a:spcBef>
                <a:spcPct val="35000"/>
              </a:spcBef>
              <a:buClr>
                <a:srgbClr val="27305F"/>
              </a:buClr>
              <a:buSzPct val="60000"/>
              <a:buFont typeface="Wingdings" pitchFamily="2" charset="2"/>
              <a:buChar char="n"/>
              <a:defRPr/>
            </a:pPr>
            <a:r>
              <a:rPr lang="zh-CN" altLang="en-US" sz="2800" kern="0" dirty="0">
                <a:solidFill>
                  <a:srgbClr val="000000"/>
                </a:solidFill>
                <a:latin typeface="Times New Roman"/>
                <a:ea typeface="黑体"/>
                <a:sym typeface="Symbol" pitchFamily="18" charset="2"/>
              </a:rPr>
              <a:t>相关定理</a:t>
            </a:r>
          </a:p>
          <a:p>
            <a:pPr marL="649288" lvl="1" indent="-261938" algn="l" defTabSz="814388">
              <a:lnSpc>
                <a:spcPct val="90000"/>
              </a:lnSpc>
              <a:spcBef>
                <a:spcPct val="35000"/>
              </a:spcBef>
              <a:buClr>
                <a:srgbClr val="27305F"/>
              </a:buClr>
              <a:buFontTx/>
              <a:buChar char="–"/>
              <a:defRPr/>
            </a:pPr>
            <a:r>
              <a:rPr lang="zh-CN" altLang="en-US" sz="2800" kern="0" dirty="0">
                <a:solidFill>
                  <a:srgbClr val="000000"/>
                </a:solidFill>
                <a:latin typeface="Times New Roman"/>
                <a:ea typeface="黑体"/>
                <a:sym typeface="Symbol" pitchFamily="18" charset="2"/>
              </a:rPr>
              <a:t>定理4.12  </a:t>
            </a:r>
            <a:r>
              <a:rPr lang="zh-CN" altLang="en-US" sz="2800" kern="0" dirty="0">
                <a:solidFill>
                  <a:srgbClr val="000000"/>
                </a:solidFill>
                <a:latin typeface="Times New Roman"/>
                <a:ea typeface="黑体"/>
              </a:rPr>
              <a:t>松弛法收敛的必要条件是0&lt; </a:t>
            </a:r>
            <a:r>
              <a:rPr lang="zh-CN" altLang="en-US" sz="2800" kern="0" dirty="0">
                <a:solidFill>
                  <a:srgbClr val="000000"/>
                </a:solidFill>
                <a:latin typeface="Times New Roman"/>
                <a:ea typeface="黑体"/>
                <a:sym typeface="Symbol" pitchFamily="18" charset="2"/>
              </a:rPr>
              <a:t>&lt;2</a:t>
            </a:r>
          </a:p>
          <a:p>
            <a:pPr marL="649288" lvl="1" indent="-261938" algn="l" defTabSz="814388">
              <a:lnSpc>
                <a:spcPct val="90000"/>
              </a:lnSpc>
              <a:spcBef>
                <a:spcPct val="35000"/>
              </a:spcBef>
              <a:buClr>
                <a:srgbClr val="27305F"/>
              </a:buClr>
              <a:buFontTx/>
              <a:buChar char="–"/>
              <a:defRPr/>
            </a:pPr>
            <a:r>
              <a:rPr lang="zh-CN" altLang="en-US" sz="2800" kern="0" dirty="0">
                <a:solidFill>
                  <a:srgbClr val="000000"/>
                </a:solidFill>
                <a:latin typeface="Times New Roman"/>
                <a:ea typeface="黑体"/>
                <a:sym typeface="Symbol" pitchFamily="18" charset="2"/>
              </a:rPr>
              <a:t>定理4.13  若</a:t>
            </a:r>
            <a:r>
              <a:rPr lang="en-US" altLang="zh-CN" sz="2800" kern="0" dirty="0">
                <a:solidFill>
                  <a:srgbClr val="000000"/>
                </a:solidFill>
                <a:latin typeface="Times New Roman"/>
                <a:ea typeface="黑体"/>
                <a:sym typeface="Symbol" pitchFamily="18" charset="2"/>
              </a:rPr>
              <a:t>A</a:t>
            </a:r>
            <a:r>
              <a:rPr lang="zh-CN" altLang="en-US" sz="2800" kern="0" dirty="0">
                <a:solidFill>
                  <a:srgbClr val="000000"/>
                </a:solidFill>
                <a:latin typeface="Times New Roman"/>
                <a:ea typeface="黑体"/>
                <a:sym typeface="Symbol" pitchFamily="18" charset="2"/>
              </a:rPr>
              <a:t>为对称正定矩阵，则当</a:t>
            </a:r>
            <a:r>
              <a:rPr lang="zh-CN" altLang="en-US" sz="2800" kern="0" dirty="0">
                <a:solidFill>
                  <a:srgbClr val="000000"/>
                </a:solidFill>
                <a:latin typeface="Times New Roman"/>
                <a:ea typeface="黑体"/>
              </a:rPr>
              <a:t>0&lt; </a:t>
            </a:r>
            <a:r>
              <a:rPr lang="zh-CN" altLang="en-US" sz="2800" kern="0" dirty="0">
                <a:solidFill>
                  <a:srgbClr val="000000"/>
                </a:solidFill>
                <a:latin typeface="Times New Roman"/>
                <a:ea typeface="黑体"/>
                <a:sym typeface="Symbol" pitchFamily="18" charset="2"/>
              </a:rPr>
              <a:t>&lt;2时，松弛法恒收敛</a:t>
            </a:r>
          </a:p>
          <a:p>
            <a:pPr marL="649288" lvl="1" indent="-261938" algn="l" defTabSz="814388">
              <a:lnSpc>
                <a:spcPct val="90000"/>
              </a:lnSpc>
              <a:spcBef>
                <a:spcPct val="35000"/>
              </a:spcBef>
              <a:buClr>
                <a:srgbClr val="27305F"/>
              </a:buClr>
              <a:buFontTx/>
              <a:buChar char="–"/>
              <a:defRPr/>
            </a:pPr>
            <a:r>
              <a:rPr lang="zh-CN" altLang="en-US" sz="2800" kern="0" dirty="0">
                <a:solidFill>
                  <a:srgbClr val="000000"/>
                </a:solidFill>
                <a:latin typeface="Times New Roman"/>
                <a:ea typeface="黑体"/>
                <a:sym typeface="Symbol" pitchFamily="18" charset="2"/>
              </a:rPr>
              <a:t>定理4.14  若</a:t>
            </a:r>
            <a:r>
              <a:rPr lang="en-US" altLang="zh-CN" sz="2800" kern="0" dirty="0">
                <a:solidFill>
                  <a:srgbClr val="000000"/>
                </a:solidFill>
                <a:latin typeface="Times New Roman"/>
                <a:ea typeface="黑体"/>
                <a:sym typeface="Symbol" pitchFamily="18" charset="2"/>
              </a:rPr>
              <a:t>A</a:t>
            </a:r>
            <a:r>
              <a:rPr lang="zh-CN" altLang="en-US" sz="2800" kern="0" dirty="0">
                <a:solidFill>
                  <a:srgbClr val="000000"/>
                </a:solidFill>
                <a:latin typeface="Times New Roman"/>
                <a:ea typeface="黑体"/>
                <a:sym typeface="Symbol" pitchFamily="18" charset="2"/>
              </a:rPr>
              <a:t>为不可约、对角占优矩阵，且松弛因子满足</a:t>
            </a:r>
            <a:r>
              <a:rPr lang="zh-CN" altLang="en-US" sz="2800" kern="0" dirty="0">
                <a:solidFill>
                  <a:srgbClr val="000000"/>
                </a:solidFill>
                <a:latin typeface="Times New Roman"/>
                <a:ea typeface="黑体"/>
              </a:rPr>
              <a:t>0&lt; </a:t>
            </a:r>
            <a:r>
              <a:rPr lang="zh-CN" altLang="en-US" sz="2800" kern="0" dirty="0">
                <a:solidFill>
                  <a:srgbClr val="000000"/>
                </a:solidFill>
                <a:latin typeface="Times New Roman"/>
                <a:ea typeface="黑体"/>
                <a:sym typeface="Symbol" pitchFamily="18" charset="2"/>
              </a:rPr>
              <a:t>1时，则松弛法必定收敛</a:t>
            </a:r>
            <a:endParaRPr lang="en-US" altLang="zh-CN" sz="2800" kern="0" dirty="0">
              <a:solidFill>
                <a:srgbClr val="000000"/>
              </a:solidFill>
              <a:latin typeface="Times New Roman"/>
              <a:ea typeface="黑体"/>
              <a:sym typeface="Symbol" pitchFamily="18" charset="2"/>
            </a:endParaRPr>
          </a:p>
        </p:txBody>
      </p:sp>
    </p:spTree>
    <p:extLst>
      <p:ext uri="{BB962C8B-B14F-4D97-AF65-F5344CB8AC3E}">
        <p14:creationId xmlns:p14="http://schemas.microsoft.com/office/powerpoint/2010/main" val="1998822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DF67A7EE-F9E6-4730-885B-7F79AC7765ED}" type="slidenum">
              <a:rPr lang="zh-CN" altLang="en-US"/>
              <a:pPr/>
              <a:t>36</a:t>
            </a:fld>
            <a:endParaRPr lang="en-US" altLang="zh-CN"/>
          </a:p>
        </p:txBody>
      </p:sp>
      <p:sp>
        <p:nvSpPr>
          <p:cNvPr id="5" name="日期占位符 4"/>
          <p:cNvSpPr>
            <a:spLocks noGrp="1"/>
          </p:cNvSpPr>
          <p:nvPr>
            <p:ph type="dt" sz="half" idx="11"/>
          </p:nvPr>
        </p:nvSpPr>
        <p:spPr/>
        <p:txBody>
          <a:bodyPr/>
          <a:lstStyle/>
          <a:p>
            <a:fld id="{E2718258-D7F9-408F-8DFF-85DFC1581AB9}" type="datetime1">
              <a:rPr lang="zh-CN" altLang="en-US"/>
              <a:pPr/>
              <a:t>2024/11/18</a:t>
            </a:fld>
            <a:endParaRPr lang="en-US" altLang="zh-CN" sz="1000"/>
          </a:p>
        </p:txBody>
      </p:sp>
      <p:sp>
        <p:nvSpPr>
          <p:cNvPr id="835586" name="Rectangle 2"/>
          <p:cNvSpPr>
            <a:spLocks noGrp="1" noChangeArrowheads="1"/>
          </p:cNvSpPr>
          <p:nvPr>
            <p:ph type="title"/>
          </p:nvPr>
        </p:nvSpPr>
        <p:spPr/>
        <p:txBody>
          <a:bodyPr/>
          <a:lstStyle/>
          <a:p>
            <a:r>
              <a:rPr lang="zh-CN" altLang="en-US"/>
              <a:t>第五章 插 值 法</a:t>
            </a:r>
          </a:p>
        </p:txBody>
      </p:sp>
      <p:sp>
        <p:nvSpPr>
          <p:cNvPr id="835587" name="Rectangle 3"/>
          <p:cNvSpPr>
            <a:spLocks noGrp="1" noChangeArrowheads="1"/>
          </p:cNvSpPr>
          <p:nvPr>
            <p:ph type="body" idx="1"/>
          </p:nvPr>
        </p:nvSpPr>
        <p:spPr>
          <a:xfrm>
            <a:off x="650875" y="1143000"/>
            <a:ext cx="8820150" cy="4479925"/>
          </a:xfrm>
        </p:spPr>
        <p:txBody>
          <a:bodyPr/>
          <a:lstStyle/>
          <a:p>
            <a:pPr>
              <a:lnSpc>
                <a:spcPct val="80000"/>
              </a:lnSpc>
            </a:pPr>
            <a:r>
              <a:rPr lang="zh-CN" altLang="en-US"/>
              <a:t>不等距条件下的牛顿基本差商公式</a:t>
            </a:r>
          </a:p>
          <a:p>
            <a:pPr lvl="1">
              <a:lnSpc>
                <a:spcPct val="80000"/>
              </a:lnSpc>
            </a:pPr>
            <a:r>
              <a:rPr lang="zh-CN" altLang="en-US"/>
              <a:t>1. 差商定义及性质</a:t>
            </a:r>
          </a:p>
          <a:p>
            <a:pPr lvl="1">
              <a:lnSpc>
                <a:spcPct val="80000"/>
              </a:lnSpc>
            </a:pPr>
            <a:r>
              <a:rPr lang="en-US" altLang="zh-CN"/>
              <a:t>2. </a:t>
            </a:r>
            <a:r>
              <a:rPr lang="zh-CN" altLang="en-US"/>
              <a:t>牛顿基本差商公式</a:t>
            </a:r>
          </a:p>
          <a:p>
            <a:pPr lvl="1">
              <a:lnSpc>
                <a:spcPct val="80000"/>
              </a:lnSpc>
            </a:pPr>
            <a:r>
              <a:rPr lang="en-US" altLang="zh-CN"/>
              <a:t>3. </a:t>
            </a:r>
            <a:r>
              <a:rPr lang="zh-CN" altLang="en-US"/>
              <a:t>截断误差估计</a:t>
            </a:r>
          </a:p>
          <a:p>
            <a:r>
              <a:rPr lang="zh-CN" altLang="en-US"/>
              <a:t>等距节点下的牛顿基本差商公式</a:t>
            </a:r>
          </a:p>
          <a:p>
            <a:pPr lvl="1"/>
            <a:r>
              <a:rPr lang="zh-CN" altLang="en-US"/>
              <a:t>1. 差分定义</a:t>
            </a:r>
          </a:p>
          <a:p>
            <a:pPr lvl="1"/>
            <a:r>
              <a:rPr lang="en-US" altLang="zh-CN"/>
              <a:t>2. </a:t>
            </a:r>
            <a:r>
              <a:rPr lang="zh-CN" altLang="en-US"/>
              <a:t>牛顿前向插值公式</a:t>
            </a:r>
          </a:p>
          <a:p>
            <a:pPr lvl="1"/>
            <a:r>
              <a:rPr lang="en-US" altLang="zh-CN"/>
              <a:t>3. </a:t>
            </a:r>
            <a:r>
              <a:rPr lang="zh-CN" altLang="en-US"/>
              <a:t>牛顿后向插值公式</a:t>
            </a:r>
          </a:p>
          <a:p>
            <a:pPr lvl="1"/>
            <a:r>
              <a:rPr lang="en-US" altLang="zh-CN"/>
              <a:t>4. </a:t>
            </a:r>
            <a:r>
              <a:rPr lang="zh-CN" altLang="en-US"/>
              <a:t>中心差分公式</a:t>
            </a:r>
          </a:p>
        </p:txBody>
      </p:sp>
    </p:spTree>
    <p:extLst>
      <p:ext uri="{BB962C8B-B14F-4D97-AF65-F5344CB8AC3E}">
        <p14:creationId xmlns:p14="http://schemas.microsoft.com/office/powerpoint/2010/main" val="3419868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D5F8E6C5-2891-4C60-BCDE-EC1DFEEB4533}" type="slidenum">
              <a:rPr lang="zh-CN" altLang="en-US"/>
              <a:pPr/>
              <a:t>37</a:t>
            </a:fld>
            <a:endParaRPr lang="en-US" altLang="zh-CN"/>
          </a:p>
        </p:txBody>
      </p:sp>
      <p:sp>
        <p:nvSpPr>
          <p:cNvPr id="5" name="日期占位符 4"/>
          <p:cNvSpPr>
            <a:spLocks noGrp="1"/>
          </p:cNvSpPr>
          <p:nvPr>
            <p:ph type="dt" sz="half" idx="11"/>
          </p:nvPr>
        </p:nvSpPr>
        <p:spPr/>
        <p:txBody>
          <a:bodyPr/>
          <a:lstStyle/>
          <a:p>
            <a:fld id="{CF4BA7A6-85FC-493B-A513-8A58A91718E2}" type="datetime1">
              <a:rPr lang="zh-CN" altLang="en-US"/>
              <a:pPr/>
              <a:t>2024/11/18</a:t>
            </a:fld>
            <a:endParaRPr lang="en-US" altLang="zh-CN" sz="1000"/>
          </a:p>
        </p:txBody>
      </p:sp>
      <p:sp>
        <p:nvSpPr>
          <p:cNvPr id="836610" name="Rectangle 2"/>
          <p:cNvSpPr>
            <a:spLocks noGrp="1" noChangeArrowheads="1"/>
          </p:cNvSpPr>
          <p:nvPr>
            <p:ph type="title"/>
          </p:nvPr>
        </p:nvSpPr>
        <p:spPr/>
        <p:txBody>
          <a:bodyPr/>
          <a:lstStyle/>
          <a:p>
            <a:r>
              <a:rPr lang="zh-CN" altLang="en-US"/>
              <a:t>第五章 插 值 法</a:t>
            </a:r>
          </a:p>
        </p:txBody>
      </p:sp>
      <p:sp>
        <p:nvSpPr>
          <p:cNvPr id="836611" name="Rectangle 3"/>
          <p:cNvSpPr>
            <a:spLocks noGrp="1" noChangeArrowheads="1"/>
          </p:cNvSpPr>
          <p:nvPr>
            <p:ph type="body" idx="1"/>
          </p:nvPr>
        </p:nvSpPr>
        <p:spPr>
          <a:xfrm>
            <a:off x="650875" y="1143000"/>
            <a:ext cx="8820150" cy="3584575"/>
          </a:xfrm>
        </p:spPr>
        <p:txBody>
          <a:bodyPr/>
          <a:lstStyle/>
          <a:p>
            <a:r>
              <a:rPr lang="zh-CN" altLang="en-US" dirty="0"/>
              <a:t>不等距节点下的拉格朗日插值公式</a:t>
            </a:r>
          </a:p>
          <a:p>
            <a:pPr lvl="1"/>
            <a:r>
              <a:rPr lang="zh-CN" altLang="en-US" dirty="0"/>
              <a:t>拉格朗日插值公式</a:t>
            </a:r>
          </a:p>
          <a:p>
            <a:pPr lvl="1"/>
            <a:r>
              <a:rPr lang="zh-CN" altLang="en-US" dirty="0"/>
              <a:t>舍入误差</a:t>
            </a:r>
          </a:p>
          <a:p>
            <a:r>
              <a:rPr lang="zh-CN" altLang="en-US" dirty="0"/>
              <a:t>插值公式的唯一性及其应用</a:t>
            </a:r>
          </a:p>
          <a:p>
            <a:r>
              <a:rPr lang="zh-CN" altLang="en-US" dirty="0"/>
              <a:t>反插值</a:t>
            </a:r>
          </a:p>
          <a:p>
            <a:r>
              <a:rPr lang="zh-CN" altLang="en-US" dirty="0"/>
              <a:t>埃尔米特插值多项式</a:t>
            </a:r>
          </a:p>
          <a:p>
            <a:r>
              <a:rPr lang="zh-CN" altLang="en-US" dirty="0"/>
              <a:t>三次样条插值</a:t>
            </a:r>
          </a:p>
        </p:txBody>
      </p:sp>
    </p:spTree>
    <p:extLst>
      <p:ext uri="{BB962C8B-B14F-4D97-AF65-F5344CB8AC3E}">
        <p14:creationId xmlns:p14="http://schemas.microsoft.com/office/powerpoint/2010/main" val="2823832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0"/>
          </p:nvPr>
        </p:nvSpPr>
        <p:spPr/>
        <p:txBody>
          <a:bodyPr/>
          <a:lstStyle/>
          <a:p>
            <a:fld id="{40D6052D-A2EF-49C8-A01A-E06115D0BA46}" type="slidenum">
              <a:rPr lang="zh-CN" altLang="en-US"/>
              <a:pPr/>
              <a:t>38</a:t>
            </a:fld>
            <a:endParaRPr lang="en-US" altLang="zh-CN"/>
          </a:p>
        </p:txBody>
      </p:sp>
      <p:sp>
        <p:nvSpPr>
          <p:cNvPr id="12" name="日期占位符 4"/>
          <p:cNvSpPr>
            <a:spLocks noGrp="1"/>
          </p:cNvSpPr>
          <p:nvPr>
            <p:ph type="dt" sz="half" idx="11"/>
          </p:nvPr>
        </p:nvSpPr>
        <p:spPr/>
        <p:txBody>
          <a:bodyPr/>
          <a:lstStyle/>
          <a:p>
            <a:fld id="{B41A85AB-437B-4168-A1B7-69179CC9F26B}" type="datetime1">
              <a:rPr lang="zh-CN" altLang="en-US"/>
              <a:pPr/>
              <a:t>2024/11/18</a:t>
            </a:fld>
            <a:endParaRPr lang="en-US" altLang="zh-CN" sz="1000"/>
          </a:p>
        </p:txBody>
      </p:sp>
      <p:sp>
        <p:nvSpPr>
          <p:cNvPr id="934914" name="Rectangle 2"/>
          <p:cNvSpPr>
            <a:spLocks noGrp="1" noChangeArrowheads="1"/>
          </p:cNvSpPr>
          <p:nvPr>
            <p:ph type="title"/>
          </p:nvPr>
        </p:nvSpPr>
        <p:spPr/>
        <p:txBody>
          <a:bodyPr/>
          <a:lstStyle/>
          <a:p>
            <a:r>
              <a:rPr lang="zh-CN" altLang="en-US"/>
              <a:t>第五章 插值法</a:t>
            </a:r>
          </a:p>
        </p:txBody>
      </p:sp>
      <p:sp>
        <p:nvSpPr>
          <p:cNvPr id="934915" name="Rectangle 3"/>
          <p:cNvSpPr>
            <a:spLocks noGrp="1" noChangeArrowheads="1"/>
          </p:cNvSpPr>
          <p:nvPr>
            <p:ph type="body" idx="1"/>
          </p:nvPr>
        </p:nvSpPr>
        <p:spPr>
          <a:xfrm>
            <a:off x="650875" y="1143000"/>
            <a:ext cx="8820150" cy="5184775"/>
          </a:xfrm>
        </p:spPr>
        <p:txBody>
          <a:bodyPr/>
          <a:lstStyle/>
          <a:p>
            <a:r>
              <a:rPr lang="zh-CN" altLang="en-US"/>
              <a:t>1.  差商</a:t>
            </a:r>
          </a:p>
          <a:p>
            <a:pPr lvl="1"/>
            <a:r>
              <a:rPr lang="zh-CN" altLang="en-US"/>
              <a:t>(1)差商定义</a:t>
            </a:r>
          </a:p>
          <a:p>
            <a:pPr lvl="1"/>
            <a:endParaRPr lang="zh-CN" altLang="en-US"/>
          </a:p>
          <a:p>
            <a:pPr lvl="1"/>
            <a:endParaRPr lang="zh-CN" altLang="en-US"/>
          </a:p>
          <a:p>
            <a:pPr lvl="1"/>
            <a:endParaRPr lang="zh-CN" altLang="en-US"/>
          </a:p>
          <a:p>
            <a:pPr lvl="1"/>
            <a:r>
              <a:rPr lang="zh-CN" altLang="en-US">
                <a:sym typeface="Symbol" pitchFamily="18" charset="2"/>
              </a:rPr>
              <a:t>(2)差商的重要特性——对称性</a:t>
            </a:r>
          </a:p>
          <a:p>
            <a:pPr lvl="1"/>
            <a:endParaRPr lang="zh-CN" altLang="en-US">
              <a:sym typeface="Symbol" pitchFamily="18" charset="2"/>
            </a:endParaRPr>
          </a:p>
          <a:p>
            <a:pPr lvl="1"/>
            <a:endParaRPr lang="zh-CN" altLang="en-US">
              <a:sym typeface="Symbol" pitchFamily="18" charset="2"/>
            </a:endParaRPr>
          </a:p>
          <a:p>
            <a:pPr lvl="1"/>
            <a:endParaRPr lang="zh-CN" altLang="en-US">
              <a:sym typeface="Symbol" pitchFamily="18" charset="2"/>
            </a:endParaRPr>
          </a:p>
          <a:p>
            <a:pPr lvl="1"/>
            <a:r>
              <a:rPr lang="zh-CN" altLang="en-US"/>
              <a:t>(3)差商表</a:t>
            </a:r>
          </a:p>
        </p:txBody>
      </p:sp>
      <p:sp>
        <p:nvSpPr>
          <p:cNvPr id="934916" name="Rectangle 4"/>
          <p:cNvSpPr>
            <a:spLocks noChangeArrowheads="1"/>
          </p:cNvSpPr>
          <p:nvPr/>
        </p:nvSpPr>
        <p:spPr bwMode="auto">
          <a:xfrm>
            <a:off x="863600" y="2133600"/>
            <a:ext cx="87852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t>一般的，可定义区间[</a:t>
            </a:r>
            <a:r>
              <a:rPr lang="en-US" altLang="zh-CN" sz="2800" i="1"/>
              <a:t>x</a:t>
            </a:r>
            <a:r>
              <a:rPr lang="en-US" altLang="zh-CN" sz="2800" baseline="-25000"/>
              <a:t>i</a:t>
            </a:r>
            <a:r>
              <a:rPr lang="zh-CN" altLang="en-US" sz="2800"/>
              <a:t>,</a:t>
            </a:r>
            <a:r>
              <a:rPr lang="en-US" altLang="zh-CN" sz="2800" i="1"/>
              <a:t>x</a:t>
            </a:r>
            <a:r>
              <a:rPr lang="en-US" altLang="zh-CN" sz="2800" baseline="-25000"/>
              <a:t>i+1</a:t>
            </a:r>
            <a:r>
              <a:rPr lang="zh-CN" altLang="en-US" sz="2800"/>
              <a:t>,…,</a:t>
            </a:r>
            <a:r>
              <a:rPr lang="en-US" altLang="zh-CN" sz="2800" i="1"/>
              <a:t>x</a:t>
            </a:r>
            <a:r>
              <a:rPr lang="en-US" altLang="zh-CN" sz="2800" baseline="-25000"/>
              <a:t>i+n</a:t>
            </a:r>
            <a:r>
              <a:rPr lang="en-US" altLang="zh-CN" sz="2800"/>
              <a:t>]</a:t>
            </a:r>
            <a:r>
              <a:rPr lang="zh-CN" altLang="en-US" sz="2800"/>
              <a:t>上的</a:t>
            </a:r>
            <a:r>
              <a:rPr lang="en-US" altLang="zh-CN" sz="2800"/>
              <a:t>n</a:t>
            </a:r>
            <a:r>
              <a:rPr lang="zh-CN" altLang="en-US" sz="2800"/>
              <a:t>阶差商为</a:t>
            </a:r>
          </a:p>
        </p:txBody>
      </p:sp>
      <p:graphicFrame>
        <p:nvGraphicFramePr>
          <p:cNvPr id="934917" name="Object 5"/>
          <p:cNvGraphicFramePr>
            <a:graphicFrameLocks noChangeAspect="1"/>
          </p:cNvGraphicFramePr>
          <p:nvPr/>
        </p:nvGraphicFramePr>
        <p:xfrm>
          <a:off x="342900" y="2714625"/>
          <a:ext cx="9410700" cy="1095375"/>
        </p:xfrm>
        <a:graphic>
          <a:graphicData uri="http://schemas.openxmlformats.org/presentationml/2006/ole">
            <mc:AlternateContent xmlns:mc="http://schemas.openxmlformats.org/markup-compatibility/2006">
              <mc:Choice xmlns:v="urn:schemas-microsoft-com:vml" Requires="v">
                <p:oleObj name="Equation" r:id="rId2" imgW="3886200" imgH="431640" progId="Equation.3">
                  <p:embed/>
                </p:oleObj>
              </mc:Choice>
              <mc:Fallback>
                <p:oleObj name="Equation" r:id="rId2" imgW="388620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2714625"/>
                        <a:ext cx="9410700"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4918" name="Rectangle 6"/>
          <p:cNvSpPr>
            <a:spLocks noChangeArrowheads="1"/>
          </p:cNvSpPr>
          <p:nvPr/>
        </p:nvSpPr>
        <p:spPr bwMode="auto">
          <a:xfrm>
            <a:off x="1250950" y="2867025"/>
            <a:ext cx="1976438" cy="76200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34919" name="Rectangle 7"/>
          <p:cNvSpPr>
            <a:spLocks noChangeArrowheads="1"/>
          </p:cNvSpPr>
          <p:nvPr/>
        </p:nvSpPr>
        <p:spPr bwMode="auto">
          <a:xfrm>
            <a:off x="3892550" y="2638425"/>
            <a:ext cx="2387600" cy="76200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34920" name="Rectangle 8"/>
          <p:cNvSpPr>
            <a:spLocks noChangeArrowheads="1"/>
          </p:cNvSpPr>
          <p:nvPr/>
        </p:nvSpPr>
        <p:spPr bwMode="auto">
          <a:xfrm>
            <a:off x="838200" y="3019425"/>
            <a:ext cx="1568450" cy="533400"/>
          </a:xfrm>
          <a:prstGeom prst="rect">
            <a:avLst/>
          </a:prstGeom>
          <a:noFill/>
          <a:ln w="38100">
            <a:solidFill>
              <a:srgbClr val="0000FF"/>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34921" name="Rectangle 9"/>
          <p:cNvSpPr>
            <a:spLocks noChangeArrowheads="1"/>
          </p:cNvSpPr>
          <p:nvPr/>
        </p:nvSpPr>
        <p:spPr bwMode="auto">
          <a:xfrm>
            <a:off x="7118350" y="2638425"/>
            <a:ext cx="2387600" cy="838200"/>
          </a:xfrm>
          <a:prstGeom prst="rect">
            <a:avLst/>
          </a:prstGeom>
          <a:noFill/>
          <a:ln w="38100">
            <a:solidFill>
              <a:srgbClr val="0000FF"/>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aphicFrame>
        <p:nvGraphicFramePr>
          <p:cNvPr id="934922" name="Object 10"/>
          <p:cNvGraphicFramePr>
            <a:graphicFrameLocks noChangeAspect="1"/>
          </p:cNvGraphicFramePr>
          <p:nvPr/>
        </p:nvGraphicFramePr>
        <p:xfrm>
          <a:off x="0" y="4114800"/>
          <a:ext cx="9906000" cy="2057400"/>
        </p:xfrm>
        <a:graphic>
          <a:graphicData uri="http://schemas.openxmlformats.org/presentationml/2006/ole">
            <mc:AlternateContent xmlns:mc="http://schemas.openxmlformats.org/markup-compatibility/2006">
              <mc:Choice xmlns:v="urn:schemas-microsoft-com:vml" Requires="v">
                <p:oleObj name="Equation" r:id="rId4" imgW="5067000" imgH="888840" progId="Equation.3">
                  <p:embed/>
                </p:oleObj>
              </mc:Choice>
              <mc:Fallback>
                <p:oleObj name="Equation" r:id="rId4" imgW="5067000" imgH="8888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114800"/>
                        <a:ext cx="9906000" cy="205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25183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 name="灯片编号占位符 3"/>
          <p:cNvSpPr>
            <a:spLocks noGrp="1"/>
          </p:cNvSpPr>
          <p:nvPr>
            <p:ph type="sldNum" sz="quarter" idx="10"/>
          </p:nvPr>
        </p:nvSpPr>
        <p:spPr/>
        <p:txBody>
          <a:bodyPr/>
          <a:lstStyle/>
          <a:p>
            <a:fld id="{51198135-26B7-4985-BE63-E0E970F89088}" type="slidenum">
              <a:rPr lang="zh-CN" altLang="en-US"/>
              <a:pPr/>
              <a:t>39</a:t>
            </a:fld>
            <a:endParaRPr lang="en-US" altLang="zh-CN"/>
          </a:p>
        </p:txBody>
      </p:sp>
      <p:sp>
        <p:nvSpPr>
          <p:cNvPr id="82" name="日期占位符 4"/>
          <p:cNvSpPr>
            <a:spLocks noGrp="1"/>
          </p:cNvSpPr>
          <p:nvPr>
            <p:ph type="dt" sz="half" idx="11"/>
          </p:nvPr>
        </p:nvSpPr>
        <p:spPr/>
        <p:txBody>
          <a:bodyPr/>
          <a:lstStyle/>
          <a:p>
            <a:fld id="{45564FD0-F785-4DAF-B059-453463BD4BE7}" type="datetime1">
              <a:rPr lang="zh-CN" altLang="en-US"/>
              <a:pPr/>
              <a:t>2024/11/18</a:t>
            </a:fld>
            <a:endParaRPr lang="en-US" altLang="zh-CN" sz="1000"/>
          </a:p>
        </p:txBody>
      </p:sp>
      <p:sp>
        <p:nvSpPr>
          <p:cNvPr id="941058" name="Rectangle 2"/>
          <p:cNvSpPr>
            <a:spLocks noGrp="1" noChangeArrowheads="1"/>
          </p:cNvSpPr>
          <p:nvPr>
            <p:ph type="title"/>
          </p:nvPr>
        </p:nvSpPr>
        <p:spPr/>
        <p:txBody>
          <a:bodyPr/>
          <a:lstStyle/>
          <a:p>
            <a:r>
              <a:rPr lang="zh-CN" altLang="en-US"/>
              <a:t>§1.1  差  商</a:t>
            </a:r>
          </a:p>
        </p:txBody>
      </p:sp>
      <p:sp>
        <p:nvSpPr>
          <p:cNvPr id="941059" name="Rectangle 3"/>
          <p:cNvSpPr>
            <a:spLocks noGrp="1" noChangeArrowheads="1"/>
          </p:cNvSpPr>
          <p:nvPr>
            <p:ph type="body" idx="1"/>
          </p:nvPr>
        </p:nvSpPr>
        <p:spPr>
          <a:xfrm>
            <a:off x="650875" y="1143000"/>
            <a:ext cx="8820150" cy="384175"/>
          </a:xfrm>
        </p:spPr>
        <p:txBody>
          <a:bodyPr/>
          <a:lstStyle/>
          <a:p>
            <a:r>
              <a:rPr lang="zh-CN" altLang="en-US"/>
              <a:t>差商表</a:t>
            </a:r>
          </a:p>
        </p:txBody>
      </p:sp>
      <p:graphicFrame>
        <p:nvGraphicFramePr>
          <p:cNvPr id="941143" name="Group 87"/>
          <p:cNvGraphicFramePr>
            <a:graphicFrameLocks noGrp="1"/>
          </p:cNvGraphicFramePr>
          <p:nvPr/>
        </p:nvGraphicFramePr>
        <p:xfrm>
          <a:off x="908050" y="2133600"/>
          <a:ext cx="8255000" cy="4033776"/>
        </p:xfrm>
        <a:graphic>
          <a:graphicData uri="http://schemas.openxmlformats.org/drawingml/2006/table">
            <a:tbl>
              <a:tblPr/>
              <a:tblGrid>
                <a:gridCol w="74295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2393950">
                  <a:extLst>
                    <a:ext uri="{9D8B030D-6E8A-4147-A177-3AD203B41FA5}">
                      <a16:colId xmlns:a16="http://schemas.microsoft.com/office/drawing/2014/main" val="20003"/>
                    </a:ext>
                  </a:extLst>
                </a:gridCol>
                <a:gridCol w="2063750">
                  <a:extLst>
                    <a:ext uri="{9D8B030D-6E8A-4147-A177-3AD203B41FA5}">
                      <a16:colId xmlns:a16="http://schemas.microsoft.com/office/drawing/2014/main" val="20004"/>
                    </a:ext>
                  </a:extLst>
                </a:gridCol>
              </a:tblGrid>
              <a:tr h="4000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i+2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4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08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524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508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 </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524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52438">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4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450850">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41117" name="Line 61"/>
          <p:cNvSpPr>
            <a:spLocks noChangeShapeType="1"/>
          </p:cNvSpPr>
          <p:nvPr/>
        </p:nvSpPr>
        <p:spPr bwMode="auto">
          <a:xfrm>
            <a:off x="2393950" y="2819400"/>
            <a:ext cx="4953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18" name="Line 62"/>
          <p:cNvSpPr>
            <a:spLocks noChangeShapeType="1"/>
          </p:cNvSpPr>
          <p:nvPr/>
        </p:nvSpPr>
        <p:spPr bwMode="auto">
          <a:xfrm flipV="1">
            <a:off x="2311400" y="3276600"/>
            <a:ext cx="57785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19" name="Line 63"/>
          <p:cNvSpPr>
            <a:spLocks noChangeShapeType="1"/>
          </p:cNvSpPr>
          <p:nvPr/>
        </p:nvSpPr>
        <p:spPr bwMode="auto">
          <a:xfrm>
            <a:off x="2311400" y="3733800"/>
            <a:ext cx="57785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0" name="Line 64"/>
          <p:cNvSpPr>
            <a:spLocks noChangeShapeType="1"/>
          </p:cNvSpPr>
          <p:nvPr/>
        </p:nvSpPr>
        <p:spPr bwMode="auto">
          <a:xfrm flipV="1">
            <a:off x="2393950" y="4191000"/>
            <a:ext cx="4953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1" name="Line 65"/>
          <p:cNvSpPr>
            <a:spLocks noChangeShapeType="1"/>
          </p:cNvSpPr>
          <p:nvPr/>
        </p:nvSpPr>
        <p:spPr bwMode="auto">
          <a:xfrm>
            <a:off x="2311400" y="4724400"/>
            <a:ext cx="57785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2" name="Line 66"/>
          <p:cNvSpPr>
            <a:spLocks noChangeShapeType="1"/>
          </p:cNvSpPr>
          <p:nvPr/>
        </p:nvSpPr>
        <p:spPr bwMode="auto">
          <a:xfrm flipV="1">
            <a:off x="2311400" y="5105400"/>
            <a:ext cx="4953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3" name="Line 67"/>
          <p:cNvSpPr>
            <a:spLocks noChangeShapeType="1"/>
          </p:cNvSpPr>
          <p:nvPr/>
        </p:nvSpPr>
        <p:spPr bwMode="auto">
          <a:xfrm>
            <a:off x="4127500" y="3429000"/>
            <a:ext cx="495300" cy="228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4" name="Line 68"/>
          <p:cNvSpPr>
            <a:spLocks noChangeShapeType="1"/>
          </p:cNvSpPr>
          <p:nvPr/>
        </p:nvSpPr>
        <p:spPr bwMode="auto">
          <a:xfrm flipV="1">
            <a:off x="4044950" y="3810000"/>
            <a:ext cx="57785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5" name="Line 69"/>
          <p:cNvSpPr>
            <a:spLocks noChangeShapeType="1"/>
          </p:cNvSpPr>
          <p:nvPr/>
        </p:nvSpPr>
        <p:spPr bwMode="auto">
          <a:xfrm>
            <a:off x="4044950" y="4343400"/>
            <a:ext cx="577850" cy="228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6" name="Line 70"/>
          <p:cNvSpPr>
            <a:spLocks noChangeShapeType="1"/>
          </p:cNvSpPr>
          <p:nvPr/>
        </p:nvSpPr>
        <p:spPr bwMode="auto">
          <a:xfrm flipV="1">
            <a:off x="4127500" y="4724400"/>
            <a:ext cx="4953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7" name="Line 71"/>
          <p:cNvSpPr>
            <a:spLocks noChangeShapeType="1"/>
          </p:cNvSpPr>
          <p:nvPr/>
        </p:nvSpPr>
        <p:spPr bwMode="auto">
          <a:xfrm>
            <a:off x="6191250" y="3733800"/>
            <a:ext cx="90805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28" name="Line 72"/>
          <p:cNvSpPr>
            <a:spLocks noChangeShapeType="1"/>
          </p:cNvSpPr>
          <p:nvPr/>
        </p:nvSpPr>
        <p:spPr bwMode="auto">
          <a:xfrm flipV="1">
            <a:off x="6273800" y="4191000"/>
            <a:ext cx="74295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941129" name="Group 73"/>
          <p:cNvGrpSpPr>
            <a:grpSpLocks/>
          </p:cNvGrpSpPr>
          <p:nvPr/>
        </p:nvGrpSpPr>
        <p:grpSpPr bwMode="auto">
          <a:xfrm>
            <a:off x="5715000" y="1600200"/>
            <a:ext cx="3048000" cy="1295400"/>
            <a:chOff x="3600" y="1008"/>
            <a:chExt cx="1920" cy="816"/>
          </a:xfrm>
        </p:grpSpPr>
        <p:sp>
          <p:nvSpPr>
            <p:cNvPr id="941130" name="AutoShape 74"/>
            <p:cNvSpPr>
              <a:spLocks noChangeArrowheads="1"/>
            </p:cNvSpPr>
            <p:nvPr/>
          </p:nvSpPr>
          <p:spPr bwMode="auto">
            <a:xfrm>
              <a:off x="3600" y="1008"/>
              <a:ext cx="1920" cy="816"/>
            </a:xfrm>
            <a:prstGeom prst="wedgeRoundRectCallout">
              <a:avLst>
                <a:gd name="adj1" fmla="val -49116"/>
                <a:gd name="adj2" fmla="val 100366"/>
                <a:gd name="adj3" fmla="val 16667"/>
              </a:avLst>
            </a:prstGeom>
            <a:solidFill>
              <a:srgbClr val="FFFF99"/>
            </a:solidFill>
            <a:ln w="38100">
              <a:solidFill>
                <a:srgbClr val="FFFF99"/>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sz="2000">
                <a:latin typeface="Arial" pitchFamily="34" charset="0"/>
              </a:endParaRPr>
            </a:p>
          </p:txBody>
        </p:sp>
        <p:grpSp>
          <p:nvGrpSpPr>
            <p:cNvPr id="941131" name="Group 75"/>
            <p:cNvGrpSpPr>
              <a:grpSpLocks/>
            </p:cNvGrpSpPr>
            <p:nvPr/>
          </p:nvGrpSpPr>
          <p:grpSpPr bwMode="auto">
            <a:xfrm>
              <a:off x="3696" y="1104"/>
              <a:ext cx="1626" cy="624"/>
              <a:chOff x="1248" y="1304"/>
              <a:chExt cx="1626" cy="624"/>
            </a:xfrm>
          </p:grpSpPr>
          <p:sp>
            <p:nvSpPr>
              <p:cNvPr id="941132" name="Rectangle 76"/>
              <p:cNvSpPr>
                <a:spLocks noChangeArrowheads="1"/>
              </p:cNvSpPr>
              <p:nvPr/>
            </p:nvSpPr>
            <p:spPr bwMode="auto">
              <a:xfrm>
                <a:off x="1313" y="1304"/>
                <a:ext cx="156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f</a:t>
                </a:r>
                <a:r>
                  <a:rPr lang="en-US" altLang="zh-CN" sz="2800"/>
                  <a:t>[</a:t>
                </a:r>
                <a:r>
                  <a:rPr lang="en-US" altLang="zh-CN" sz="2800" i="1"/>
                  <a:t>x</a:t>
                </a:r>
                <a:r>
                  <a:rPr lang="en-US" altLang="zh-CN" sz="2800" baseline="-25000"/>
                  <a:t>1</a:t>
                </a:r>
                <a:r>
                  <a:rPr lang="en-US" altLang="zh-CN" sz="2800"/>
                  <a:t>,</a:t>
                </a:r>
                <a:r>
                  <a:rPr lang="en-US" altLang="zh-CN" sz="2800" i="1"/>
                  <a:t>x</a:t>
                </a:r>
                <a:r>
                  <a:rPr lang="en-US" altLang="zh-CN" sz="2800" baseline="-25000"/>
                  <a:t>2</a:t>
                </a:r>
                <a:r>
                  <a:rPr lang="en-US" altLang="zh-CN" sz="2800"/>
                  <a:t>]- </a:t>
                </a:r>
                <a:r>
                  <a:rPr lang="en-US" altLang="zh-CN" sz="2800" i="1"/>
                  <a:t>f</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1</a:t>
                </a:r>
                <a:r>
                  <a:rPr lang="en-US" altLang="zh-CN" sz="2800"/>
                  <a:t>]</a:t>
                </a:r>
                <a:endParaRPr lang="zh-CN" altLang="en-US" sz="2800"/>
              </a:p>
            </p:txBody>
          </p:sp>
          <p:sp>
            <p:nvSpPr>
              <p:cNvPr id="941133" name="Line 77"/>
              <p:cNvSpPr>
                <a:spLocks noChangeShapeType="1"/>
              </p:cNvSpPr>
              <p:nvPr/>
            </p:nvSpPr>
            <p:spPr bwMode="auto">
              <a:xfrm>
                <a:off x="1248" y="1640"/>
                <a:ext cx="16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41134" name="Rectangle 78"/>
              <p:cNvSpPr>
                <a:spLocks noChangeArrowheads="1"/>
              </p:cNvSpPr>
              <p:nvPr/>
            </p:nvSpPr>
            <p:spPr bwMode="auto">
              <a:xfrm>
                <a:off x="1693" y="1601"/>
                <a:ext cx="69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x</a:t>
                </a:r>
                <a:r>
                  <a:rPr lang="en-US" altLang="zh-CN" sz="2800" baseline="-25000"/>
                  <a:t>2 </a:t>
                </a:r>
                <a:r>
                  <a:rPr lang="en-US" altLang="zh-CN" sz="2800"/>
                  <a:t>– </a:t>
                </a:r>
                <a:r>
                  <a:rPr lang="en-US" altLang="zh-CN" sz="2800" i="1"/>
                  <a:t>x</a:t>
                </a:r>
                <a:r>
                  <a:rPr lang="en-US" altLang="zh-CN" sz="2800" baseline="-25000"/>
                  <a:t>0</a:t>
                </a:r>
                <a:endParaRPr lang="zh-CN" altLang="en-US" sz="2800" baseline="-25000"/>
              </a:p>
            </p:txBody>
          </p:sp>
        </p:grpSp>
      </p:grpSp>
      <p:sp>
        <p:nvSpPr>
          <p:cNvPr id="941135" name="Line 79"/>
          <p:cNvSpPr>
            <a:spLocks noChangeShapeType="1"/>
          </p:cNvSpPr>
          <p:nvPr/>
        </p:nvSpPr>
        <p:spPr bwMode="auto">
          <a:xfrm>
            <a:off x="914400" y="4800600"/>
            <a:ext cx="1371600" cy="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6" name="Line 80"/>
          <p:cNvSpPr>
            <a:spLocks noChangeShapeType="1"/>
          </p:cNvSpPr>
          <p:nvPr/>
        </p:nvSpPr>
        <p:spPr bwMode="auto">
          <a:xfrm>
            <a:off x="914400" y="2971800"/>
            <a:ext cx="1371600" cy="0"/>
          </a:xfrm>
          <a:prstGeom prst="line">
            <a:avLst/>
          </a:prstGeom>
          <a:noFill/>
          <a:ln w="762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94691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灯片编号占位符 3"/>
          <p:cNvSpPr>
            <a:spLocks noGrp="1"/>
          </p:cNvSpPr>
          <p:nvPr>
            <p:ph type="sldNum" sz="quarter" idx="10"/>
          </p:nvPr>
        </p:nvSpPr>
        <p:spPr/>
        <p:txBody>
          <a:bodyPr/>
          <a:lstStyle/>
          <a:p>
            <a:fld id="{2A4895E3-878B-4688-A197-CE2FB8D98915}" type="slidenum">
              <a:rPr lang="zh-CN" altLang="en-US"/>
              <a:pPr/>
              <a:t>40</a:t>
            </a:fld>
            <a:endParaRPr lang="en-US" altLang="zh-CN"/>
          </a:p>
        </p:txBody>
      </p:sp>
      <p:sp>
        <p:nvSpPr>
          <p:cNvPr id="62" name="日期占位符 4"/>
          <p:cNvSpPr>
            <a:spLocks noGrp="1"/>
          </p:cNvSpPr>
          <p:nvPr>
            <p:ph type="dt" sz="half" idx="11"/>
          </p:nvPr>
        </p:nvSpPr>
        <p:spPr/>
        <p:txBody>
          <a:bodyPr/>
          <a:lstStyle/>
          <a:p>
            <a:fld id="{44439D39-9FD2-4988-92AE-C2D7642C9D4F}" type="datetime1">
              <a:rPr lang="zh-CN" altLang="en-US"/>
              <a:pPr/>
              <a:t>2024/11/18</a:t>
            </a:fld>
            <a:endParaRPr lang="en-US" altLang="zh-CN" sz="1000"/>
          </a:p>
        </p:txBody>
      </p:sp>
      <p:sp>
        <p:nvSpPr>
          <p:cNvPr id="858114" name="Rectangle 2"/>
          <p:cNvSpPr>
            <a:spLocks noGrp="1" noChangeArrowheads="1"/>
          </p:cNvSpPr>
          <p:nvPr>
            <p:ph type="title"/>
          </p:nvPr>
        </p:nvSpPr>
        <p:spPr/>
        <p:txBody>
          <a:bodyPr/>
          <a:lstStyle/>
          <a:p>
            <a:r>
              <a:rPr lang="zh-CN" altLang="en-US"/>
              <a:t>2 牛顿基本差商公式</a:t>
            </a:r>
          </a:p>
        </p:txBody>
      </p:sp>
      <p:graphicFrame>
        <p:nvGraphicFramePr>
          <p:cNvPr id="858115" name="Object 3"/>
          <p:cNvGraphicFramePr>
            <a:graphicFrameLocks noChangeAspect="1"/>
          </p:cNvGraphicFramePr>
          <p:nvPr/>
        </p:nvGraphicFramePr>
        <p:xfrm>
          <a:off x="268288" y="1120775"/>
          <a:ext cx="9637712" cy="2171700"/>
        </p:xfrm>
        <a:graphic>
          <a:graphicData uri="http://schemas.openxmlformats.org/presentationml/2006/ole">
            <mc:AlternateContent xmlns:mc="http://schemas.openxmlformats.org/markup-compatibility/2006">
              <mc:Choice xmlns:v="urn:schemas-microsoft-com:vml" Requires="v">
                <p:oleObj name="Equation" r:id="rId3" imgW="3873240" imgH="914400" progId="Equation.3">
                  <p:embed/>
                </p:oleObj>
              </mc:Choice>
              <mc:Fallback>
                <p:oleObj name="Equation" r:id="rId3" imgW="3873240" imgH="914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8" y="1120775"/>
                        <a:ext cx="9637712" cy="217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8116" name="Rectangle 4"/>
          <p:cNvSpPr>
            <a:spLocks noChangeArrowheads="1"/>
          </p:cNvSpPr>
          <p:nvPr/>
        </p:nvSpPr>
        <p:spPr bwMode="auto">
          <a:xfrm>
            <a:off x="1373188" y="1196975"/>
            <a:ext cx="8532812" cy="160020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858117" name="AutoShape 5"/>
          <p:cNvSpPr>
            <a:spLocks noChangeArrowheads="1"/>
          </p:cNvSpPr>
          <p:nvPr/>
        </p:nvSpPr>
        <p:spPr bwMode="auto">
          <a:xfrm>
            <a:off x="6781800" y="260350"/>
            <a:ext cx="2274888" cy="708025"/>
          </a:xfrm>
          <a:prstGeom prst="wedgeRoundRectCallout">
            <a:avLst>
              <a:gd name="adj1" fmla="val -64722"/>
              <a:gd name="adj2" fmla="val 84306"/>
              <a:gd name="adj3" fmla="val 16667"/>
            </a:avLst>
          </a:prstGeom>
          <a:solidFill>
            <a:schemeClr val="accent2"/>
          </a:solidFill>
          <a:ln w="254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lstStyle/>
          <a:p>
            <a:r>
              <a:rPr lang="en-US" altLang="zh-CN" sz="2400">
                <a:latin typeface="Arial" pitchFamily="34" charset="0"/>
              </a:rPr>
              <a:t>P</a:t>
            </a:r>
            <a:r>
              <a:rPr lang="en-US" altLang="zh-CN" sz="2400" baseline="-25000">
                <a:latin typeface="Arial" pitchFamily="34" charset="0"/>
              </a:rPr>
              <a:t>n</a:t>
            </a:r>
            <a:r>
              <a:rPr lang="en-US" altLang="zh-CN" sz="2400">
                <a:latin typeface="Arial" pitchFamily="34" charset="0"/>
              </a:rPr>
              <a:t>(x):</a:t>
            </a:r>
            <a:r>
              <a:rPr lang="zh-CN" altLang="en-US" sz="2400" u="sng">
                <a:solidFill>
                  <a:srgbClr val="FF3300"/>
                </a:solidFill>
                <a:latin typeface="Arial" pitchFamily="34" charset="0"/>
              </a:rPr>
              <a:t>牛顿基本差商公式</a:t>
            </a:r>
            <a:endParaRPr lang="en-US" altLang="zh-CN" sz="2400" u="sng">
              <a:solidFill>
                <a:srgbClr val="FF3300"/>
              </a:solidFill>
              <a:latin typeface="Arial" pitchFamily="34" charset="0"/>
            </a:endParaRPr>
          </a:p>
        </p:txBody>
      </p:sp>
      <p:sp>
        <p:nvSpPr>
          <p:cNvPr id="858118" name="AutoShape 6"/>
          <p:cNvSpPr>
            <a:spLocks noChangeArrowheads="1"/>
          </p:cNvSpPr>
          <p:nvPr/>
        </p:nvSpPr>
        <p:spPr bwMode="auto">
          <a:xfrm>
            <a:off x="8001000" y="3406775"/>
            <a:ext cx="1905000" cy="609600"/>
          </a:xfrm>
          <a:prstGeom prst="wedgeRoundRectCallout">
            <a:avLst>
              <a:gd name="adj1" fmla="val -57667"/>
              <a:gd name="adj2" fmla="val -74481"/>
              <a:gd name="adj3" fmla="val 16667"/>
            </a:avLst>
          </a:prstGeom>
          <a:solidFill>
            <a:schemeClr val="accent2"/>
          </a:solidFill>
          <a:ln w="254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lstStyle/>
          <a:p>
            <a:r>
              <a:rPr lang="en-US" altLang="zh-CN" sz="2400">
                <a:latin typeface="Arial" pitchFamily="34" charset="0"/>
              </a:rPr>
              <a:t>R</a:t>
            </a:r>
            <a:r>
              <a:rPr lang="en-US" altLang="zh-CN" sz="2400" baseline="-25000">
                <a:latin typeface="Arial" pitchFamily="34" charset="0"/>
              </a:rPr>
              <a:t>n</a:t>
            </a:r>
            <a:r>
              <a:rPr lang="en-US" altLang="zh-CN" sz="2400">
                <a:latin typeface="Arial" pitchFamily="34" charset="0"/>
              </a:rPr>
              <a:t>(x)</a:t>
            </a:r>
            <a:r>
              <a:rPr lang="zh-CN" altLang="en-US" sz="2400" u="sng">
                <a:solidFill>
                  <a:srgbClr val="FF3300"/>
                </a:solidFill>
                <a:latin typeface="Arial" pitchFamily="34" charset="0"/>
              </a:rPr>
              <a:t>余式</a:t>
            </a:r>
            <a:endParaRPr lang="en-US" altLang="zh-CN" sz="2400" u="sng">
              <a:solidFill>
                <a:srgbClr val="FF3300"/>
              </a:solidFill>
              <a:latin typeface="Arial" pitchFamily="34" charset="0"/>
            </a:endParaRPr>
          </a:p>
        </p:txBody>
      </p:sp>
      <p:sp>
        <p:nvSpPr>
          <p:cNvPr id="858119" name="Rectangle 7"/>
          <p:cNvSpPr>
            <a:spLocks noChangeArrowheads="1"/>
          </p:cNvSpPr>
          <p:nvPr/>
        </p:nvSpPr>
        <p:spPr bwMode="auto">
          <a:xfrm>
            <a:off x="1600200" y="2797175"/>
            <a:ext cx="8001000" cy="533400"/>
          </a:xfrm>
          <a:prstGeom prst="rect">
            <a:avLst/>
          </a:prstGeom>
          <a:noFill/>
          <a:ln w="38100">
            <a:solidFill>
              <a:srgbClr val="0000FF"/>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aphicFrame>
        <p:nvGraphicFramePr>
          <p:cNvPr id="858179" name="Group 67"/>
          <p:cNvGraphicFramePr>
            <a:graphicFrameLocks noGrp="1"/>
          </p:cNvGraphicFramePr>
          <p:nvPr/>
        </p:nvGraphicFramePr>
        <p:xfrm>
          <a:off x="631825" y="3573463"/>
          <a:ext cx="7162800" cy="2819400"/>
        </p:xfrm>
        <a:graphic>
          <a:graphicData uri="http://schemas.openxmlformats.org/drawingml/2006/table">
            <a:tbl>
              <a:tblPr/>
              <a:tblGrid>
                <a:gridCol w="692150">
                  <a:extLst>
                    <a:ext uri="{9D8B030D-6E8A-4147-A177-3AD203B41FA5}">
                      <a16:colId xmlns:a16="http://schemas.microsoft.com/office/drawing/2014/main" val="20000"/>
                    </a:ext>
                  </a:extLst>
                </a:gridCol>
                <a:gridCol w="1231900">
                  <a:extLst>
                    <a:ext uri="{9D8B030D-6E8A-4147-A177-3AD203B41FA5}">
                      <a16:colId xmlns:a16="http://schemas.microsoft.com/office/drawing/2014/main" val="20001"/>
                    </a:ext>
                  </a:extLst>
                </a:gridCol>
                <a:gridCol w="1616075">
                  <a:extLst>
                    <a:ext uri="{9D8B030D-6E8A-4147-A177-3AD203B41FA5}">
                      <a16:colId xmlns:a16="http://schemas.microsoft.com/office/drawing/2014/main" val="20002"/>
                    </a:ext>
                  </a:extLst>
                </a:gridCol>
                <a:gridCol w="1711325">
                  <a:extLst>
                    <a:ext uri="{9D8B030D-6E8A-4147-A177-3AD203B41FA5}">
                      <a16:colId xmlns:a16="http://schemas.microsoft.com/office/drawing/2014/main" val="20003"/>
                    </a:ext>
                  </a:extLst>
                </a:gridCol>
                <a:gridCol w="1911350">
                  <a:extLst>
                    <a:ext uri="{9D8B030D-6E8A-4147-A177-3AD203B41FA5}">
                      <a16:colId xmlns:a16="http://schemas.microsoft.com/office/drawing/2014/main" val="20004"/>
                    </a:ext>
                  </a:extLst>
                </a:gridCol>
              </a:tblGrid>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i+2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0</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 </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1</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460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2</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96875">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f(x</a:t>
                      </a:r>
                      <a:r>
                        <a:rPr kumimoji="0" lang="en-US" altLang="zh-CN" sz="2000" b="1" i="0" u="none" strike="noStrike" cap="none" normalizeH="0" baseline="-25000">
                          <a:ln>
                            <a:noFill/>
                          </a:ln>
                          <a:solidFill>
                            <a:schemeClr val="tx1"/>
                          </a:solidFill>
                          <a:effectLst/>
                          <a:latin typeface="Times New Roman" pitchFamily="18" charset="0"/>
                          <a:ea typeface="黑体" pitchFamily="49" charset="-122"/>
                        </a:rPr>
                        <a:t>3</a:t>
                      </a:r>
                      <a:r>
                        <a:rPr kumimoji="0" lang="en-US" altLang="zh-CN" sz="2000" b="1" i="0" u="none" strike="noStrike" cap="none" normalizeH="0" baseline="0">
                          <a:ln>
                            <a:noFill/>
                          </a:ln>
                          <a:solidFill>
                            <a:schemeClr val="tx1"/>
                          </a:solidFill>
                          <a:effectLst/>
                          <a:latin typeface="Times New Roman" pitchFamily="18" charset="0"/>
                          <a:ea typeface="黑体" pitchFamily="49" charset="-122"/>
                        </a:rPr>
                        <a:t>)</a:t>
                      </a: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70000"/>
                        </a:lnSpc>
                        <a:spcBef>
                          <a:spcPct val="35000"/>
                        </a:spcBef>
                        <a:spcAft>
                          <a:spcPct val="0"/>
                        </a:spcAft>
                        <a:buClr>
                          <a:srgbClr val="27305F"/>
                        </a:buClr>
                        <a:buSzPct val="60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58172" name="Line 60"/>
          <p:cNvSpPr>
            <a:spLocks noChangeShapeType="1"/>
          </p:cNvSpPr>
          <p:nvPr/>
        </p:nvSpPr>
        <p:spPr bwMode="auto">
          <a:xfrm>
            <a:off x="1393825" y="3878263"/>
            <a:ext cx="6248400" cy="12192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2538504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fld id="{9D35ED60-446A-423D-B254-2FD323648F6C}" type="slidenum">
              <a:rPr lang="zh-CN" altLang="en-US"/>
              <a:pPr/>
              <a:t>41</a:t>
            </a:fld>
            <a:endParaRPr lang="en-US" altLang="zh-CN"/>
          </a:p>
        </p:txBody>
      </p:sp>
      <p:sp>
        <p:nvSpPr>
          <p:cNvPr id="10" name="日期占位符 4"/>
          <p:cNvSpPr>
            <a:spLocks noGrp="1"/>
          </p:cNvSpPr>
          <p:nvPr>
            <p:ph type="dt" sz="half" idx="11"/>
          </p:nvPr>
        </p:nvSpPr>
        <p:spPr/>
        <p:txBody>
          <a:bodyPr/>
          <a:lstStyle/>
          <a:p>
            <a:fld id="{3BE364EA-D093-47B0-8F41-C8F2E3D193B3}" type="datetime1">
              <a:rPr lang="zh-CN" altLang="en-US"/>
              <a:pPr/>
              <a:t>2024/11/18</a:t>
            </a:fld>
            <a:endParaRPr lang="en-US" altLang="zh-CN" sz="1000"/>
          </a:p>
        </p:txBody>
      </p:sp>
      <p:sp>
        <p:nvSpPr>
          <p:cNvPr id="922626" name="Rectangle 2"/>
          <p:cNvSpPr>
            <a:spLocks noGrp="1" noChangeArrowheads="1"/>
          </p:cNvSpPr>
          <p:nvPr>
            <p:ph type="title"/>
          </p:nvPr>
        </p:nvSpPr>
        <p:spPr>
          <a:xfrm>
            <a:off x="650875" y="311150"/>
            <a:ext cx="8820150" cy="603250"/>
          </a:xfrm>
        </p:spPr>
        <p:txBody>
          <a:bodyPr/>
          <a:lstStyle/>
          <a:p>
            <a:r>
              <a:rPr lang="zh-CN" altLang="en-US" sz="4400"/>
              <a:t>牛顿基本差商公式误差估计</a:t>
            </a:r>
          </a:p>
        </p:txBody>
      </p:sp>
      <p:graphicFrame>
        <p:nvGraphicFramePr>
          <p:cNvPr id="922627" name="Object 3"/>
          <p:cNvGraphicFramePr>
            <a:graphicFrameLocks noChangeAspect="1"/>
          </p:cNvGraphicFramePr>
          <p:nvPr/>
        </p:nvGraphicFramePr>
        <p:xfrm>
          <a:off x="849313" y="1844675"/>
          <a:ext cx="4505325" cy="1174750"/>
        </p:xfrm>
        <a:graphic>
          <a:graphicData uri="http://schemas.openxmlformats.org/presentationml/2006/ole">
            <mc:AlternateContent xmlns:mc="http://schemas.openxmlformats.org/markup-compatibility/2006">
              <mc:Choice xmlns:v="urn:schemas-microsoft-com:vml" Requires="v">
                <p:oleObj name="公式" r:id="rId2" imgW="1409400" imgH="368280" progId="Equation.3">
                  <p:embed/>
                </p:oleObj>
              </mc:Choice>
              <mc:Fallback>
                <p:oleObj name="公式" r:id="rId2" imgW="1409400" imgH="3682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13" y="1844675"/>
                        <a:ext cx="4505325"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28" name="Rectangle 4"/>
          <p:cNvSpPr>
            <a:spLocks noChangeArrowheads="1"/>
          </p:cNvSpPr>
          <p:nvPr/>
        </p:nvSpPr>
        <p:spPr bwMode="auto">
          <a:xfrm>
            <a:off x="590550" y="3359150"/>
            <a:ext cx="4886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a:t>(2)</a:t>
            </a:r>
            <a:r>
              <a:rPr lang="zh-CN" altLang="en-US" sz="2800"/>
              <a:t>牛顿基本差商公式误差估计</a:t>
            </a:r>
          </a:p>
        </p:txBody>
      </p:sp>
      <p:sp>
        <p:nvSpPr>
          <p:cNvPr id="922629" name="Rectangle 5"/>
          <p:cNvSpPr>
            <a:spLocks noChangeArrowheads="1"/>
          </p:cNvSpPr>
          <p:nvPr/>
        </p:nvSpPr>
        <p:spPr bwMode="auto">
          <a:xfrm>
            <a:off x="5600700" y="2276475"/>
            <a:ext cx="2620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a:t>
            </a:r>
            <a:r>
              <a:rPr lang="en-US" altLang="zh-CN" sz="2800">
                <a:sym typeface="Symbol" pitchFamily="18" charset="2"/>
              </a:rPr>
              <a:t>[</a:t>
            </a:r>
            <a:r>
              <a:rPr lang="en-US" altLang="zh-CN" sz="2800" i="1">
                <a:sym typeface="Symbol" pitchFamily="18" charset="2"/>
              </a:rPr>
              <a:t>x</a:t>
            </a:r>
            <a:r>
              <a:rPr lang="en-US" altLang="zh-CN" sz="2800" baseline="-25000">
                <a:sym typeface="Symbol" pitchFamily="18" charset="2"/>
              </a:rPr>
              <a:t>0</a:t>
            </a:r>
            <a:r>
              <a:rPr lang="en-US" altLang="zh-CN" sz="2800">
                <a:sym typeface="Symbol" pitchFamily="18" charset="2"/>
              </a:rPr>
              <a:t>,</a:t>
            </a:r>
            <a:r>
              <a:rPr lang="en-US" altLang="zh-CN" sz="2800" i="1">
                <a:sym typeface="Symbol" pitchFamily="18" charset="2"/>
              </a:rPr>
              <a:t>x</a:t>
            </a:r>
            <a:r>
              <a:rPr lang="en-US" altLang="zh-CN" sz="2800" baseline="-25000">
                <a:sym typeface="Symbol" pitchFamily="18" charset="2"/>
              </a:rPr>
              <a:t>1</a:t>
            </a:r>
            <a:r>
              <a:rPr lang="en-US" altLang="zh-CN" sz="2800">
                <a:sym typeface="Symbol" pitchFamily="18" charset="2"/>
              </a:rPr>
              <a:t>,…,</a:t>
            </a:r>
            <a:r>
              <a:rPr lang="en-US" altLang="zh-CN" sz="2800" i="1">
                <a:sym typeface="Symbol" pitchFamily="18" charset="2"/>
              </a:rPr>
              <a:t>x</a:t>
            </a:r>
            <a:r>
              <a:rPr lang="en-US" altLang="zh-CN" sz="2800" baseline="-25000">
                <a:sym typeface="Symbol" pitchFamily="18" charset="2"/>
              </a:rPr>
              <a:t>n</a:t>
            </a:r>
            <a:r>
              <a:rPr lang="en-US" altLang="zh-CN" sz="2800">
                <a:sym typeface="Symbol" pitchFamily="18" charset="2"/>
              </a:rPr>
              <a:t>])</a:t>
            </a:r>
            <a:endParaRPr lang="zh-CN" altLang="en-US" sz="2800">
              <a:sym typeface="Symbol" pitchFamily="18" charset="2"/>
            </a:endParaRPr>
          </a:p>
        </p:txBody>
      </p:sp>
      <p:graphicFrame>
        <p:nvGraphicFramePr>
          <p:cNvPr id="922630" name="Object 6"/>
          <p:cNvGraphicFramePr>
            <a:graphicFrameLocks noChangeAspect="1"/>
          </p:cNvGraphicFramePr>
          <p:nvPr/>
        </p:nvGraphicFramePr>
        <p:xfrm>
          <a:off x="1065213" y="4151313"/>
          <a:ext cx="8153400" cy="609600"/>
        </p:xfrm>
        <a:graphic>
          <a:graphicData uri="http://schemas.openxmlformats.org/presentationml/2006/ole">
            <mc:AlternateContent xmlns:mc="http://schemas.openxmlformats.org/markup-compatibility/2006">
              <mc:Choice xmlns:v="urn:schemas-microsoft-com:vml" Requires="v">
                <p:oleObj name="Equation" r:id="rId4" imgW="3251160" imgH="228600" progId="Equation.3">
                  <p:embed/>
                </p:oleObj>
              </mc:Choice>
              <mc:Fallback>
                <p:oleObj name="Equation" r:id="rId4" imgW="32511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213" y="4151313"/>
                        <a:ext cx="81534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31" name="Object 7"/>
          <p:cNvGraphicFramePr>
            <a:graphicFrameLocks noChangeAspect="1"/>
          </p:cNvGraphicFramePr>
          <p:nvPr/>
        </p:nvGraphicFramePr>
        <p:xfrm>
          <a:off x="2132013" y="4684713"/>
          <a:ext cx="4999037" cy="1120775"/>
        </p:xfrm>
        <a:graphic>
          <a:graphicData uri="http://schemas.openxmlformats.org/presentationml/2006/ole">
            <mc:AlternateContent xmlns:mc="http://schemas.openxmlformats.org/markup-compatibility/2006">
              <mc:Choice xmlns:v="urn:schemas-microsoft-com:vml" Requires="v">
                <p:oleObj name="Equation" r:id="rId6" imgW="2425680" imgH="444240" progId="Equation.3">
                  <p:embed/>
                </p:oleObj>
              </mc:Choice>
              <mc:Fallback>
                <p:oleObj name="Equation" r:id="rId6" imgW="2425680" imgH="4442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2013" y="4684713"/>
                        <a:ext cx="4999037"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32" name="Rectangle 8"/>
          <p:cNvSpPr>
            <a:spLocks noChangeArrowheads="1"/>
          </p:cNvSpPr>
          <p:nvPr/>
        </p:nvSpPr>
        <p:spPr bwMode="auto">
          <a:xfrm>
            <a:off x="547688" y="1239838"/>
            <a:ext cx="3476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latin typeface="Arial" pitchFamily="34" charset="0"/>
              </a:rPr>
              <a:t>(1)</a:t>
            </a:r>
            <a:r>
              <a:rPr lang="zh-CN" altLang="en-US" sz="2800">
                <a:latin typeface="Arial" pitchFamily="34" charset="0"/>
              </a:rPr>
              <a:t>差商与导数的关系</a:t>
            </a:r>
          </a:p>
        </p:txBody>
      </p:sp>
    </p:spTree>
    <p:extLst>
      <p:ext uri="{BB962C8B-B14F-4D97-AF65-F5344CB8AC3E}">
        <p14:creationId xmlns:p14="http://schemas.microsoft.com/office/powerpoint/2010/main" val="2764482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fld id="{91168E9D-3724-432F-9109-E7FBA7C88D55}" type="slidenum">
              <a:rPr lang="zh-CN" altLang="en-US"/>
              <a:pPr/>
              <a:t>42</a:t>
            </a:fld>
            <a:endParaRPr lang="en-US" altLang="zh-CN"/>
          </a:p>
        </p:txBody>
      </p:sp>
      <p:sp>
        <p:nvSpPr>
          <p:cNvPr id="10" name="日期占位符 4"/>
          <p:cNvSpPr>
            <a:spLocks noGrp="1"/>
          </p:cNvSpPr>
          <p:nvPr>
            <p:ph type="dt" sz="half" idx="11"/>
          </p:nvPr>
        </p:nvSpPr>
        <p:spPr/>
        <p:txBody>
          <a:bodyPr/>
          <a:lstStyle/>
          <a:p>
            <a:fld id="{ABB2F6E1-3531-4D35-9984-0F8BC9A6AC56}" type="datetime1">
              <a:rPr lang="zh-CN" altLang="en-US"/>
              <a:pPr/>
              <a:t>2024/11/18</a:t>
            </a:fld>
            <a:endParaRPr lang="en-US" altLang="zh-CN" sz="1000"/>
          </a:p>
        </p:txBody>
      </p:sp>
      <p:sp>
        <p:nvSpPr>
          <p:cNvPr id="936962" name="Rectangle 2"/>
          <p:cNvSpPr>
            <a:spLocks noGrp="1" noChangeArrowheads="1"/>
          </p:cNvSpPr>
          <p:nvPr>
            <p:ph type="title"/>
          </p:nvPr>
        </p:nvSpPr>
        <p:spPr/>
        <p:txBody>
          <a:bodyPr/>
          <a:lstStyle/>
          <a:p>
            <a:r>
              <a:rPr lang="zh-CN" altLang="en-US"/>
              <a:t>4.差分</a:t>
            </a:r>
          </a:p>
        </p:txBody>
      </p:sp>
      <p:sp>
        <p:nvSpPr>
          <p:cNvPr id="936963" name="Rectangle 3"/>
          <p:cNvSpPr>
            <a:spLocks noGrp="1" noChangeArrowheads="1"/>
          </p:cNvSpPr>
          <p:nvPr>
            <p:ph type="body" idx="1"/>
          </p:nvPr>
        </p:nvSpPr>
        <p:spPr>
          <a:xfrm>
            <a:off x="650875" y="1143000"/>
            <a:ext cx="8820150" cy="3200400"/>
          </a:xfrm>
        </p:spPr>
        <p:txBody>
          <a:bodyPr/>
          <a:lstStyle/>
          <a:p>
            <a:r>
              <a:rPr lang="zh-CN" altLang="en-US"/>
              <a:t>(1)差分定义</a:t>
            </a:r>
          </a:p>
          <a:p>
            <a:pPr lvl="1">
              <a:buFontTx/>
              <a:buNone/>
            </a:pPr>
            <a:r>
              <a:rPr lang="zh-CN" altLang="en-US"/>
              <a:t>称</a:t>
            </a:r>
            <a:r>
              <a:rPr lang="zh-CN" altLang="en-US">
                <a:sym typeface="Symbol" pitchFamily="18" charset="2"/>
              </a:rPr>
              <a:t>    </a:t>
            </a:r>
            <a:r>
              <a:rPr lang="en-US" altLang="zh-CN" baseline="30000">
                <a:sym typeface="Symbol" pitchFamily="18" charset="2"/>
              </a:rPr>
              <a:t>k</a:t>
            </a:r>
            <a:r>
              <a:rPr lang="en-US" altLang="zh-CN" sz="3200" i="1"/>
              <a:t>y</a:t>
            </a:r>
            <a:r>
              <a:rPr lang="en-US" altLang="zh-CN" sz="3200" baseline="-25000"/>
              <a:t>i-1</a:t>
            </a:r>
            <a:r>
              <a:rPr lang="zh-CN" altLang="en-US">
                <a:sym typeface="Symbol" pitchFamily="18" charset="2"/>
              </a:rPr>
              <a:t>= </a:t>
            </a:r>
            <a:r>
              <a:rPr lang="en-US" altLang="zh-CN" baseline="30000">
                <a:sym typeface="Symbol" pitchFamily="18" charset="2"/>
              </a:rPr>
              <a:t>k-1</a:t>
            </a:r>
            <a:r>
              <a:rPr lang="en-US" altLang="zh-CN" sz="3200" i="1"/>
              <a:t>y</a:t>
            </a:r>
            <a:r>
              <a:rPr lang="en-US" altLang="zh-CN" sz="3200" baseline="-25000"/>
              <a:t>i</a:t>
            </a:r>
            <a:r>
              <a:rPr lang="zh-CN" altLang="en-US">
                <a:sym typeface="Symbol" pitchFamily="18" charset="2"/>
              </a:rPr>
              <a:t> - </a:t>
            </a:r>
            <a:r>
              <a:rPr lang="en-US" altLang="zh-CN" baseline="30000">
                <a:sym typeface="Symbol" pitchFamily="18" charset="2"/>
              </a:rPr>
              <a:t>k-1</a:t>
            </a:r>
            <a:r>
              <a:rPr lang="en-US" altLang="zh-CN" sz="3200" i="1"/>
              <a:t>y</a:t>
            </a:r>
            <a:r>
              <a:rPr lang="en-US" altLang="zh-CN" sz="3200" baseline="-25000"/>
              <a:t>i-1</a:t>
            </a:r>
          </a:p>
          <a:p>
            <a:pPr lvl="1">
              <a:buFontTx/>
              <a:buNone/>
            </a:pPr>
            <a:r>
              <a:rPr lang="zh-CN" altLang="en-US"/>
              <a:t>为函数</a:t>
            </a:r>
            <a:r>
              <a:rPr lang="en-US" altLang="zh-CN" sz="3200" i="1"/>
              <a:t>f</a:t>
            </a:r>
            <a:r>
              <a:rPr lang="en-US" altLang="zh-CN" sz="3200"/>
              <a:t>(</a:t>
            </a:r>
            <a:r>
              <a:rPr lang="en-US" altLang="zh-CN" sz="3200" i="1"/>
              <a:t>x</a:t>
            </a:r>
            <a:r>
              <a:rPr lang="en-US" altLang="zh-CN" sz="3200"/>
              <a:t>)</a:t>
            </a:r>
            <a:r>
              <a:rPr lang="en-US" altLang="zh-CN" sz="3200" baseline="-25000"/>
              <a:t> </a:t>
            </a:r>
            <a:r>
              <a:rPr lang="zh-CN" altLang="en-US"/>
              <a:t>在[</a:t>
            </a:r>
            <a:r>
              <a:rPr lang="en-US" altLang="zh-CN" sz="3200" i="1"/>
              <a:t>x</a:t>
            </a:r>
            <a:r>
              <a:rPr lang="en-US" altLang="zh-CN" sz="3200" baseline="-25000"/>
              <a:t>i-1</a:t>
            </a:r>
            <a:r>
              <a:rPr lang="zh-CN" altLang="en-US"/>
              <a:t>, </a:t>
            </a:r>
            <a:r>
              <a:rPr lang="en-US" altLang="zh-CN" sz="3200" i="1"/>
              <a:t>x</a:t>
            </a:r>
            <a:r>
              <a:rPr lang="en-US" altLang="zh-CN" sz="3200" baseline="-25000"/>
              <a:t>i+k-1</a:t>
            </a:r>
            <a:r>
              <a:rPr lang="zh-CN" altLang="en-US"/>
              <a:t>]上的</a:t>
            </a:r>
            <a:r>
              <a:rPr lang="en-US" altLang="zh-CN" u="sng">
                <a:solidFill>
                  <a:srgbClr val="FF3300"/>
                </a:solidFill>
              </a:rPr>
              <a:t>k</a:t>
            </a:r>
            <a:r>
              <a:rPr lang="zh-CN" altLang="en-US" u="sng">
                <a:solidFill>
                  <a:srgbClr val="FF3300"/>
                </a:solidFill>
              </a:rPr>
              <a:t>阶差分</a:t>
            </a:r>
            <a:r>
              <a:rPr lang="en-US" altLang="zh-CN" sz="3200"/>
              <a:t>。</a:t>
            </a:r>
            <a:endParaRPr lang="zh-CN" altLang="en-US"/>
          </a:p>
          <a:p>
            <a:r>
              <a:rPr lang="zh-CN" altLang="en-US"/>
              <a:t>(2)差分表</a:t>
            </a:r>
          </a:p>
          <a:p>
            <a:r>
              <a:rPr lang="zh-CN" altLang="en-US"/>
              <a:t>(3)等距节点情况下用差分表示差商</a:t>
            </a:r>
          </a:p>
          <a:p>
            <a:endParaRPr lang="zh-CN" altLang="en-US"/>
          </a:p>
        </p:txBody>
      </p:sp>
      <p:graphicFrame>
        <p:nvGraphicFramePr>
          <p:cNvPr id="936964" name="Object 4"/>
          <p:cNvGraphicFramePr>
            <a:graphicFrameLocks noChangeAspect="1"/>
          </p:cNvGraphicFramePr>
          <p:nvPr/>
        </p:nvGraphicFramePr>
        <p:xfrm>
          <a:off x="1828800" y="3962400"/>
          <a:ext cx="3076575" cy="579438"/>
        </p:xfrm>
        <a:graphic>
          <a:graphicData uri="http://schemas.openxmlformats.org/presentationml/2006/ole">
            <mc:AlternateContent xmlns:mc="http://schemas.openxmlformats.org/markup-compatibility/2006">
              <mc:Choice xmlns:v="urn:schemas-microsoft-com:vml" Requires="v">
                <p:oleObj name="Equation" r:id="rId2" imgW="1269720" imgH="228600" progId="Equation.3">
                  <p:embed/>
                </p:oleObj>
              </mc:Choice>
              <mc:Fallback>
                <p:oleObj name="Equation" r:id="rId2" imgW="126972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962400"/>
                        <a:ext cx="30765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6965" name="Rectangle 5"/>
          <p:cNvSpPr>
            <a:spLocks noChangeArrowheads="1"/>
          </p:cNvSpPr>
          <p:nvPr/>
        </p:nvSpPr>
        <p:spPr bwMode="auto">
          <a:xfrm>
            <a:off x="5022850" y="3657600"/>
            <a:ext cx="7921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sym typeface="Symbol" pitchFamily="18" charset="2"/>
              </a:rPr>
              <a:t></a:t>
            </a:r>
            <a:r>
              <a:rPr lang="en-US" altLang="zh-CN" sz="2800" baseline="30000">
                <a:sym typeface="Symbol" pitchFamily="18" charset="2"/>
              </a:rPr>
              <a:t>n</a:t>
            </a:r>
            <a:r>
              <a:rPr lang="en-US" altLang="zh-CN" i="1"/>
              <a:t>y</a:t>
            </a:r>
            <a:r>
              <a:rPr lang="en-US" altLang="zh-CN" baseline="-25000"/>
              <a:t>i</a:t>
            </a:r>
            <a:endParaRPr lang="zh-CN" altLang="en-US" baseline="-25000"/>
          </a:p>
        </p:txBody>
      </p:sp>
      <p:sp>
        <p:nvSpPr>
          <p:cNvPr id="936966" name="Line 6"/>
          <p:cNvSpPr>
            <a:spLocks noChangeShapeType="1"/>
          </p:cNvSpPr>
          <p:nvPr/>
        </p:nvSpPr>
        <p:spPr bwMode="auto">
          <a:xfrm>
            <a:off x="5030788" y="4267200"/>
            <a:ext cx="9080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936967" name="Rectangle 7"/>
          <p:cNvSpPr>
            <a:spLocks noChangeArrowheads="1"/>
          </p:cNvSpPr>
          <p:nvPr/>
        </p:nvSpPr>
        <p:spPr bwMode="auto">
          <a:xfrm>
            <a:off x="5018088" y="4191000"/>
            <a:ext cx="8350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sym typeface="Symbol" pitchFamily="18" charset="2"/>
              </a:rPr>
              <a:t>n!</a:t>
            </a:r>
            <a:r>
              <a:rPr lang="en-US" altLang="zh-CN" sz="2800" i="1">
                <a:sym typeface="Symbol" pitchFamily="18" charset="2"/>
              </a:rPr>
              <a:t>h</a:t>
            </a:r>
            <a:r>
              <a:rPr lang="en-US" altLang="zh-CN" sz="2800" baseline="30000">
                <a:sym typeface="Symbol" pitchFamily="18" charset="2"/>
              </a:rPr>
              <a:t>n</a:t>
            </a:r>
            <a:endParaRPr lang="zh-CN" altLang="en-US" sz="2800" baseline="30000">
              <a:sym typeface="Symbol" pitchFamily="18" charset="2"/>
            </a:endParaRPr>
          </a:p>
        </p:txBody>
      </p:sp>
      <p:sp>
        <p:nvSpPr>
          <p:cNvPr id="936968" name="Rectangle 8"/>
          <p:cNvSpPr>
            <a:spLocks noChangeArrowheads="1"/>
          </p:cNvSpPr>
          <p:nvPr/>
        </p:nvSpPr>
        <p:spPr bwMode="auto">
          <a:xfrm>
            <a:off x="1785938" y="4797425"/>
            <a:ext cx="29940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a:sym typeface="Symbol" pitchFamily="18" charset="2"/>
              </a:rPr>
              <a:t></a:t>
            </a:r>
            <a:r>
              <a:rPr lang="en-US" altLang="zh-CN" baseline="30000">
                <a:sym typeface="Symbol" pitchFamily="18" charset="2"/>
              </a:rPr>
              <a:t>n</a:t>
            </a:r>
            <a:r>
              <a:rPr lang="en-US" altLang="zh-CN"/>
              <a:t>P</a:t>
            </a:r>
            <a:r>
              <a:rPr lang="en-US" altLang="zh-CN" baseline="-25000"/>
              <a:t>n</a:t>
            </a:r>
            <a:r>
              <a:rPr lang="en-US" altLang="zh-CN"/>
              <a:t>(</a:t>
            </a:r>
            <a:r>
              <a:rPr lang="en-US" altLang="zh-CN" i="1"/>
              <a:t>x</a:t>
            </a:r>
            <a:r>
              <a:rPr lang="en-US" altLang="zh-CN"/>
              <a:t>)=</a:t>
            </a:r>
            <a:r>
              <a:rPr lang="zh-CN" altLang="en-US"/>
              <a:t>常量</a:t>
            </a:r>
          </a:p>
        </p:txBody>
      </p:sp>
    </p:spTree>
    <p:extLst>
      <p:ext uri="{BB962C8B-B14F-4D97-AF65-F5344CB8AC3E}">
        <p14:creationId xmlns:p14="http://schemas.microsoft.com/office/powerpoint/2010/main" val="2380894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灯片编号占位符 3"/>
          <p:cNvSpPr>
            <a:spLocks noGrp="1"/>
          </p:cNvSpPr>
          <p:nvPr>
            <p:ph type="sldNum" sz="quarter" idx="10"/>
          </p:nvPr>
        </p:nvSpPr>
        <p:spPr/>
        <p:txBody>
          <a:bodyPr/>
          <a:lstStyle/>
          <a:p>
            <a:fld id="{0760AA73-6FFE-4249-96F7-647AA35070F5}" type="slidenum">
              <a:rPr lang="zh-CN" altLang="en-US"/>
              <a:pPr/>
              <a:t>43</a:t>
            </a:fld>
            <a:endParaRPr lang="en-US" altLang="zh-CN"/>
          </a:p>
        </p:txBody>
      </p:sp>
      <p:sp>
        <p:nvSpPr>
          <p:cNvPr id="80" name="日期占位符 4"/>
          <p:cNvSpPr>
            <a:spLocks noGrp="1"/>
          </p:cNvSpPr>
          <p:nvPr>
            <p:ph type="dt" sz="half" idx="11"/>
          </p:nvPr>
        </p:nvSpPr>
        <p:spPr/>
        <p:txBody>
          <a:bodyPr/>
          <a:lstStyle/>
          <a:p>
            <a:fld id="{E6F8D2F1-B2CC-4D37-8CDD-FE7E2B25245C}" type="datetime1">
              <a:rPr lang="zh-CN" altLang="en-US"/>
              <a:pPr/>
              <a:t>2024/11/18</a:t>
            </a:fld>
            <a:endParaRPr lang="en-US" altLang="zh-CN" sz="1000"/>
          </a:p>
        </p:txBody>
      </p:sp>
      <p:sp>
        <p:nvSpPr>
          <p:cNvPr id="923650" name="Rectangle 2"/>
          <p:cNvSpPr>
            <a:spLocks noGrp="1" noChangeArrowheads="1"/>
          </p:cNvSpPr>
          <p:nvPr>
            <p:ph type="title"/>
          </p:nvPr>
        </p:nvSpPr>
        <p:spPr>
          <a:xfrm>
            <a:off x="650875" y="174625"/>
            <a:ext cx="8820150" cy="739775"/>
          </a:xfrm>
        </p:spPr>
        <p:txBody>
          <a:bodyPr/>
          <a:lstStyle/>
          <a:p>
            <a:r>
              <a:rPr lang="zh-CN" altLang="en-US" sz="5400"/>
              <a:t>牛顿前插公式</a:t>
            </a:r>
          </a:p>
        </p:txBody>
      </p:sp>
      <p:graphicFrame>
        <p:nvGraphicFramePr>
          <p:cNvPr id="923753" name="Group 105"/>
          <p:cNvGraphicFramePr>
            <a:graphicFrameLocks noGrp="1"/>
          </p:cNvGraphicFramePr>
          <p:nvPr/>
        </p:nvGraphicFramePr>
        <p:xfrm>
          <a:off x="0" y="2349500"/>
          <a:ext cx="4808538" cy="3200403"/>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814388">
                  <a:extLst>
                    <a:ext uri="{9D8B030D-6E8A-4147-A177-3AD203B41FA5}">
                      <a16:colId xmlns:a16="http://schemas.microsoft.com/office/drawing/2014/main" val="20002"/>
                    </a:ext>
                  </a:extLst>
                </a:gridCol>
                <a:gridCol w="877887">
                  <a:extLst>
                    <a:ext uri="{9D8B030D-6E8A-4147-A177-3AD203B41FA5}">
                      <a16:colId xmlns:a16="http://schemas.microsoft.com/office/drawing/2014/main" val="20003"/>
                    </a:ext>
                  </a:extLst>
                </a:gridCol>
                <a:gridCol w="881063">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508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endParaRPr kumimoji="0" lang="en-US" altLang="zh-CN"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4</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400" b="1" i="1"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00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9210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5401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29686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2984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4</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254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619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3238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29686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4</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4</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923724" name="Object 76"/>
          <p:cNvGraphicFramePr>
            <a:graphicFrameLocks noChangeAspect="1"/>
          </p:cNvGraphicFramePr>
          <p:nvPr/>
        </p:nvGraphicFramePr>
        <p:xfrm>
          <a:off x="4824413" y="2781300"/>
          <a:ext cx="5072062" cy="3043238"/>
        </p:xfrm>
        <a:graphic>
          <a:graphicData uri="http://schemas.openxmlformats.org/presentationml/2006/ole">
            <mc:AlternateContent xmlns:mc="http://schemas.openxmlformats.org/markup-compatibility/2006">
              <mc:Choice xmlns:v="urn:schemas-microsoft-com:vml" Requires="v">
                <p:oleObj name="公式" r:id="rId3" imgW="2095200" imgH="1257120" progId="Equation.3">
                  <p:embed/>
                </p:oleObj>
              </mc:Choice>
              <mc:Fallback>
                <p:oleObj name="公式" r:id="rId3" imgW="2095200" imgH="12571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413" y="2781300"/>
                        <a:ext cx="5072062" cy="304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725" name="Line 77"/>
          <p:cNvSpPr>
            <a:spLocks noChangeShapeType="1"/>
          </p:cNvSpPr>
          <p:nvPr/>
        </p:nvSpPr>
        <p:spPr bwMode="auto">
          <a:xfrm>
            <a:off x="1281113" y="2708275"/>
            <a:ext cx="3546475" cy="136048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23746" name="Object 98"/>
          <p:cNvGraphicFramePr>
            <a:graphicFrameLocks noGrp="1" noChangeAspect="1"/>
          </p:cNvGraphicFramePr>
          <p:nvPr>
            <p:ph idx="1"/>
          </p:nvPr>
        </p:nvGraphicFramePr>
        <p:xfrm>
          <a:off x="5349875" y="1746250"/>
          <a:ext cx="1403350" cy="836613"/>
        </p:xfrm>
        <a:graphic>
          <a:graphicData uri="http://schemas.openxmlformats.org/presentationml/2006/ole">
            <mc:AlternateContent xmlns:mc="http://schemas.openxmlformats.org/markup-compatibility/2006">
              <mc:Choice xmlns:v="urn:schemas-microsoft-com:vml" Requires="v">
                <p:oleObj name="Equation" r:id="rId5" imgW="660240" imgH="393480" progId="Equation.3">
                  <p:embed/>
                </p:oleObj>
              </mc:Choice>
              <mc:Fallback>
                <p:oleObj name="Equation" r:id="rId5" imgW="66024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9875" y="1746250"/>
                        <a:ext cx="1403350" cy="836613"/>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416956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23725"/>
                                        </p:tgtEl>
                                        <p:attrNameLst>
                                          <p:attrName>style.visibility</p:attrName>
                                        </p:attrNameLst>
                                      </p:cBhvr>
                                      <p:to>
                                        <p:strVal val="visible"/>
                                      </p:to>
                                    </p:set>
                                    <p:anim calcmode="lin" valueType="num">
                                      <p:cBhvr>
                                        <p:cTn id="7" dur="500" fill="hold"/>
                                        <p:tgtEl>
                                          <p:spTgt spid="923725"/>
                                        </p:tgtEl>
                                        <p:attrNameLst>
                                          <p:attrName>ppt_x</p:attrName>
                                        </p:attrNameLst>
                                      </p:cBhvr>
                                      <p:tavLst>
                                        <p:tav tm="0">
                                          <p:val>
                                            <p:strVal val="#ppt_x-#ppt_w/2"/>
                                          </p:val>
                                        </p:tav>
                                        <p:tav tm="100000">
                                          <p:val>
                                            <p:strVal val="#ppt_x"/>
                                          </p:val>
                                        </p:tav>
                                      </p:tavLst>
                                    </p:anim>
                                    <p:anim calcmode="lin" valueType="num">
                                      <p:cBhvr>
                                        <p:cTn id="8" dur="500" fill="hold"/>
                                        <p:tgtEl>
                                          <p:spTgt spid="923725"/>
                                        </p:tgtEl>
                                        <p:attrNameLst>
                                          <p:attrName>ppt_y</p:attrName>
                                        </p:attrNameLst>
                                      </p:cBhvr>
                                      <p:tavLst>
                                        <p:tav tm="0">
                                          <p:val>
                                            <p:strVal val="#ppt_y"/>
                                          </p:val>
                                        </p:tav>
                                        <p:tav tm="100000">
                                          <p:val>
                                            <p:strVal val="#ppt_y"/>
                                          </p:val>
                                        </p:tav>
                                      </p:tavLst>
                                    </p:anim>
                                    <p:anim calcmode="lin" valueType="num">
                                      <p:cBhvr>
                                        <p:cTn id="9" dur="500" fill="hold"/>
                                        <p:tgtEl>
                                          <p:spTgt spid="923725"/>
                                        </p:tgtEl>
                                        <p:attrNameLst>
                                          <p:attrName>ppt_w</p:attrName>
                                        </p:attrNameLst>
                                      </p:cBhvr>
                                      <p:tavLst>
                                        <p:tav tm="0">
                                          <p:val>
                                            <p:fltVal val="0"/>
                                          </p:val>
                                        </p:tav>
                                        <p:tav tm="100000">
                                          <p:val>
                                            <p:strVal val="#ppt_w"/>
                                          </p:val>
                                        </p:tav>
                                      </p:tavLst>
                                    </p:anim>
                                    <p:anim calcmode="lin" valueType="num">
                                      <p:cBhvr>
                                        <p:cTn id="10" dur="500" fill="hold"/>
                                        <p:tgtEl>
                                          <p:spTgt spid="9237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7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灯片编号占位符 2"/>
          <p:cNvSpPr>
            <a:spLocks noGrp="1"/>
          </p:cNvSpPr>
          <p:nvPr>
            <p:ph type="sldNum" sz="quarter" idx="10"/>
          </p:nvPr>
        </p:nvSpPr>
        <p:spPr/>
        <p:txBody>
          <a:bodyPr/>
          <a:lstStyle/>
          <a:p>
            <a:fld id="{6732C421-6E48-4D62-904B-91ABE1B79A84}" type="slidenum">
              <a:rPr lang="zh-CN" altLang="en-US"/>
              <a:pPr/>
              <a:t>44</a:t>
            </a:fld>
            <a:endParaRPr lang="en-US" altLang="zh-CN"/>
          </a:p>
        </p:txBody>
      </p:sp>
      <p:sp>
        <p:nvSpPr>
          <p:cNvPr id="81" name="日期占位符 3"/>
          <p:cNvSpPr>
            <a:spLocks noGrp="1"/>
          </p:cNvSpPr>
          <p:nvPr>
            <p:ph type="dt" sz="half" idx="11"/>
          </p:nvPr>
        </p:nvSpPr>
        <p:spPr/>
        <p:txBody>
          <a:bodyPr/>
          <a:lstStyle/>
          <a:p>
            <a:fld id="{A9A48E51-E577-4002-8619-034470491EF8}" type="datetime1">
              <a:rPr lang="zh-CN" altLang="en-US"/>
              <a:pPr/>
              <a:t>2024/11/18</a:t>
            </a:fld>
            <a:endParaRPr lang="en-US" altLang="zh-CN" sz="1000"/>
          </a:p>
        </p:txBody>
      </p:sp>
      <p:sp>
        <p:nvSpPr>
          <p:cNvPr id="864258" name="Rectangle 2"/>
          <p:cNvSpPr>
            <a:spLocks noChangeArrowheads="1"/>
          </p:cNvSpPr>
          <p:nvPr/>
        </p:nvSpPr>
        <p:spPr bwMode="auto">
          <a:xfrm>
            <a:off x="650875" y="1143000"/>
            <a:ext cx="882015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t>在节点等距情况下，以</a:t>
            </a:r>
            <a:r>
              <a:rPr lang="en-US" altLang="zh-CN" sz="2800" i="1">
                <a:solidFill>
                  <a:srgbClr val="FF3300"/>
                </a:solidFill>
              </a:rPr>
              <a:t>x</a:t>
            </a:r>
            <a:r>
              <a:rPr lang="en-US" altLang="zh-CN" sz="2800" baseline="-25000">
                <a:solidFill>
                  <a:srgbClr val="FF3300"/>
                </a:solidFill>
              </a:rPr>
              <a:t>n </a:t>
            </a:r>
            <a:r>
              <a:rPr lang="en-US" altLang="zh-CN" sz="2800" i="1">
                <a:solidFill>
                  <a:srgbClr val="FF3300"/>
                </a:solidFill>
              </a:rPr>
              <a:t>x</a:t>
            </a:r>
            <a:r>
              <a:rPr lang="en-US" altLang="zh-CN" sz="2800" i="1" baseline="-25000">
                <a:solidFill>
                  <a:srgbClr val="FF3300"/>
                </a:solidFill>
              </a:rPr>
              <a:t>n-</a:t>
            </a:r>
            <a:r>
              <a:rPr lang="en-US" altLang="zh-CN" sz="2800" baseline="-25000">
                <a:solidFill>
                  <a:srgbClr val="FF3300"/>
                </a:solidFill>
              </a:rPr>
              <a:t>1… </a:t>
            </a:r>
            <a:r>
              <a:rPr lang="en-US" altLang="zh-CN" sz="2800" i="1">
                <a:solidFill>
                  <a:srgbClr val="FF3300"/>
                </a:solidFill>
              </a:rPr>
              <a:t>x</a:t>
            </a:r>
            <a:r>
              <a:rPr lang="en-US" altLang="zh-CN" sz="2800" baseline="-25000">
                <a:solidFill>
                  <a:srgbClr val="FF3300"/>
                </a:solidFill>
              </a:rPr>
              <a:t>0</a:t>
            </a:r>
            <a:r>
              <a:rPr lang="zh-CN" altLang="en-US" sz="2800"/>
              <a:t>顺序建立牛顿基本差商公式</a:t>
            </a:r>
          </a:p>
        </p:txBody>
      </p:sp>
      <p:sp>
        <p:nvSpPr>
          <p:cNvPr id="864259" name="Rectangle 3"/>
          <p:cNvSpPr>
            <a:spLocks noGrp="1" noChangeArrowheads="1"/>
          </p:cNvSpPr>
          <p:nvPr>
            <p:ph type="title"/>
          </p:nvPr>
        </p:nvSpPr>
        <p:spPr/>
        <p:txBody>
          <a:bodyPr/>
          <a:lstStyle/>
          <a:p>
            <a:r>
              <a:rPr lang="zh-CN" altLang="en-US"/>
              <a:t>牛顿后插公式</a:t>
            </a:r>
          </a:p>
        </p:txBody>
      </p:sp>
      <p:graphicFrame>
        <p:nvGraphicFramePr>
          <p:cNvPr id="864342" name="Group 86"/>
          <p:cNvGraphicFramePr>
            <a:graphicFrameLocks noGrp="1"/>
          </p:cNvGraphicFramePr>
          <p:nvPr/>
        </p:nvGraphicFramePr>
        <p:xfrm>
          <a:off x="2286000" y="1600200"/>
          <a:ext cx="5410200" cy="3352802"/>
        </p:xfrm>
        <a:graphic>
          <a:graphicData uri="http://schemas.openxmlformats.org/drawingml/2006/table">
            <a:tbl>
              <a:tblPr/>
              <a:tblGrid>
                <a:gridCol w="685800">
                  <a:extLst>
                    <a:ext uri="{9D8B030D-6E8A-4147-A177-3AD203B41FA5}">
                      <a16:colId xmlns:a16="http://schemas.microsoft.com/office/drawing/2014/main" val="20000"/>
                    </a:ext>
                  </a:extLst>
                </a:gridCol>
                <a:gridCol w="655638">
                  <a:extLst>
                    <a:ext uri="{9D8B030D-6E8A-4147-A177-3AD203B41FA5}">
                      <a16:colId xmlns:a16="http://schemas.microsoft.com/office/drawing/2014/main" val="20001"/>
                    </a:ext>
                  </a:extLst>
                </a:gridCol>
                <a:gridCol w="944562">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6830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x</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黑体" pitchFamily="49" charset="-122"/>
                        </a:rPr>
                        <a:t>y</a:t>
                      </a:r>
                      <a:endParaRPr kumimoji="0" lang="en-US" altLang="zh-CN" sz="20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0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0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0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000" b="1" i="0" u="none" strike="noStrike" cap="none" normalizeH="0" baseline="30000">
                          <a:ln>
                            <a:noFill/>
                          </a:ln>
                          <a:solidFill>
                            <a:schemeClr val="tx1"/>
                          </a:solidFill>
                          <a:effectLst/>
                          <a:latin typeface="Times New Roman" pitchFamily="18" charset="0"/>
                          <a:ea typeface="黑体" pitchFamily="49" charset="-122"/>
                          <a:sym typeface="Symbol" pitchFamily="18" charset="2"/>
                        </a:rPr>
                        <a:t>4</a:t>
                      </a:r>
                      <a:r>
                        <a:rPr kumimoji="0" lang="en-US" altLang="zh-CN" sz="2000" b="1" i="1" u="none" strike="noStrike" cap="none" normalizeH="0" baseline="0">
                          <a:ln>
                            <a:noFill/>
                          </a:ln>
                          <a:solidFill>
                            <a:schemeClr val="tx1"/>
                          </a:solidFill>
                          <a:effectLst/>
                          <a:latin typeface="Times New Roman" pitchFamily="18" charset="0"/>
                          <a:ea typeface="黑体" pitchFamily="49" charset="-122"/>
                        </a:rPr>
                        <a:t>y</a:t>
                      </a:r>
                      <a:endParaRPr kumimoji="0" lang="zh-CN" altLang="en-US" sz="2000" b="1" i="1"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7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0638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3111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4</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0</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41313">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3</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1</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7782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zh-CN" altLang="en-US" sz="2400" b="1" i="0" u="none" strike="noStrike" cap="none" normalizeH="0" baseline="30000">
                          <a:ln>
                            <a:noFill/>
                          </a:ln>
                          <a:solidFill>
                            <a:schemeClr val="tx1"/>
                          </a:solidFill>
                          <a:effectLst/>
                          <a:latin typeface="Times New Roman" pitchFamily="18" charset="0"/>
                          <a:ea typeface="黑体" pitchFamily="49" charset="-122"/>
                          <a:sym typeface="Symbol" pitchFamily="18" charset="2"/>
                        </a:rPr>
                        <a:t>2</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2</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339725">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sym typeface="Symbol" pitchFamily="18" charset="2"/>
                        </a:rPr>
                        <a:t></a:t>
                      </a: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3</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311150">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x</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4</a:t>
                      </a: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49" charset="-122"/>
                        </a:rPr>
                        <a:t>y</a:t>
                      </a:r>
                      <a:r>
                        <a:rPr kumimoji="0" lang="en-US" altLang="zh-CN" sz="2400" b="1" i="0" u="none" strike="noStrike" cap="none" normalizeH="0" baseline="-25000">
                          <a:ln>
                            <a:noFill/>
                          </a:ln>
                          <a:solidFill>
                            <a:schemeClr val="tx1"/>
                          </a:solidFill>
                          <a:effectLst/>
                          <a:latin typeface="Times New Roman" pitchFamily="18" charset="0"/>
                          <a:ea typeface="黑体" pitchFamily="49" charset="-122"/>
                        </a:rPr>
                        <a:t>4</a:t>
                      </a:r>
                      <a:endParaRPr kumimoji="0" lang="zh-CN" altLang="en-US" sz="2400" b="1" i="0" u="none" strike="noStrike" cap="none" normalizeH="0" baseline="-2500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1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64333" name="Line 77"/>
          <p:cNvSpPr>
            <a:spLocks noChangeShapeType="1"/>
          </p:cNvSpPr>
          <p:nvPr/>
        </p:nvSpPr>
        <p:spPr bwMode="auto">
          <a:xfrm flipV="1">
            <a:off x="3276600" y="3429000"/>
            <a:ext cx="4419600" cy="15240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4334" name="Object 78"/>
          <p:cNvGraphicFramePr>
            <a:graphicFrameLocks noChangeAspect="1"/>
          </p:cNvGraphicFramePr>
          <p:nvPr/>
        </p:nvGraphicFramePr>
        <p:xfrm>
          <a:off x="685800" y="4876800"/>
          <a:ext cx="8763000" cy="1981200"/>
        </p:xfrm>
        <a:graphic>
          <a:graphicData uri="http://schemas.openxmlformats.org/presentationml/2006/ole">
            <mc:AlternateContent xmlns:mc="http://schemas.openxmlformats.org/markup-compatibility/2006">
              <mc:Choice xmlns:v="urn:schemas-microsoft-com:vml" Requires="v">
                <p:oleObj name="Equation" r:id="rId2" imgW="3822480" imgH="812520" progId="Equation.3">
                  <p:embed/>
                </p:oleObj>
              </mc:Choice>
              <mc:Fallback>
                <p:oleObj name="Equation" r:id="rId2" imgW="3822480" imgH="8125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876800"/>
                        <a:ext cx="87630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4335" name="Object 79"/>
          <p:cNvGraphicFramePr>
            <a:graphicFrameLocks noChangeAspect="1"/>
          </p:cNvGraphicFramePr>
          <p:nvPr/>
        </p:nvGraphicFramePr>
        <p:xfrm>
          <a:off x="8001000" y="3733800"/>
          <a:ext cx="1533525" cy="846138"/>
        </p:xfrm>
        <a:graphic>
          <a:graphicData uri="http://schemas.openxmlformats.org/presentationml/2006/ole">
            <mc:AlternateContent xmlns:mc="http://schemas.openxmlformats.org/markup-compatibility/2006">
              <mc:Choice xmlns:v="urn:schemas-microsoft-com:vml" Requires="v">
                <p:oleObj name="Equation" r:id="rId4" imgW="685800" imgH="393480" progId="Equation.DSMT4">
                  <p:embed/>
                </p:oleObj>
              </mc:Choice>
              <mc:Fallback>
                <p:oleObj name="Equation" r:id="rId4" imgW="68580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1000" y="3733800"/>
                        <a:ext cx="1533525"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64560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3"/>
          <p:cNvSpPr>
            <a:spLocks noGrp="1"/>
          </p:cNvSpPr>
          <p:nvPr>
            <p:ph type="sldNum" sz="quarter" idx="10"/>
          </p:nvPr>
        </p:nvSpPr>
        <p:spPr/>
        <p:txBody>
          <a:bodyPr/>
          <a:lstStyle/>
          <a:p>
            <a:fld id="{E3CC17F7-E03C-4878-8EFA-B9A9955F8F7C}" type="slidenum">
              <a:rPr lang="zh-CN" altLang="en-US"/>
              <a:pPr/>
              <a:t>45</a:t>
            </a:fld>
            <a:endParaRPr lang="en-US" altLang="zh-CN"/>
          </a:p>
        </p:txBody>
      </p:sp>
      <p:sp>
        <p:nvSpPr>
          <p:cNvPr id="25" name="日期占位符 4"/>
          <p:cNvSpPr>
            <a:spLocks noGrp="1"/>
          </p:cNvSpPr>
          <p:nvPr>
            <p:ph type="dt" sz="half" idx="11"/>
          </p:nvPr>
        </p:nvSpPr>
        <p:spPr/>
        <p:txBody>
          <a:bodyPr/>
          <a:lstStyle/>
          <a:p>
            <a:fld id="{E4D9A360-5D1A-4F86-B346-48727E9103C6}" type="datetime1">
              <a:rPr lang="zh-CN" altLang="en-US"/>
              <a:pPr/>
              <a:t>2024/11/18</a:t>
            </a:fld>
            <a:endParaRPr lang="en-US" altLang="zh-CN" sz="1000"/>
          </a:p>
        </p:txBody>
      </p:sp>
      <p:sp>
        <p:nvSpPr>
          <p:cNvPr id="865282" name="Rectangle 2"/>
          <p:cNvSpPr>
            <a:spLocks noGrp="1" noChangeArrowheads="1"/>
          </p:cNvSpPr>
          <p:nvPr>
            <p:ph type="title"/>
          </p:nvPr>
        </p:nvSpPr>
        <p:spPr/>
        <p:txBody>
          <a:bodyPr/>
          <a:lstStyle/>
          <a:p>
            <a:r>
              <a:rPr lang="zh-CN" altLang="en-US"/>
              <a:t>拉格朗日插值公式</a:t>
            </a:r>
          </a:p>
        </p:txBody>
      </p:sp>
      <p:sp>
        <p:nvSpPr>
          <p:cNvPr id="865283" name="Rectangle 3"/>
          <p:cNvSpPr>
            <a:spLocks noChangeArrowheads="1"/>
          </p:cNvSpPr>
          <p:nvPr/>
        </p:nvSpPr>
        <p:spPr bwMode="auto">
          <a:xfrm>
            <a:off x="1184275" y="1414463"/>
            <a:ext cx="11255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i="1"/>
              <a:t>f</a:t>
            </a:r>
            <a:r>
              <a:rPr lang="en-US" altLang="zh-CN"/>
              <a:t>(</a:t>
            </a:r>
            <a:r>
              <a:rPr lang="en-US" altLang="zh-CN" i="1"/>
              <a:t>x</a:t>
            </a:r>
            <a:r>
              <a:rPr lang="en-US" altLang="zh-CN"/>
              <a:t>) =</a:t>
            </a:r>
            <a:endParaRPr lang="zh-CN" altLang="en-US"/>
          </a:p>
        </p:txBody>
      </p:sp>
      <p:sp>
        <p:nvSpPr>
          <p:cNvPr id="865284" name="Rectangle 4"/>
          <p:cNvSpPr>
            <a:spLocks noChangeArrowheads="1"/>
          </p:cNvSpPr>
          <p:nvPr/>
        </p:nvSpPr>
        <p:spPr bwMode="auto">
          <a:xfrm>
            <a:off x="2498725" y="1676400"/>
            <a:ext cx="35925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1</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2</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n</a:t>
            </a:r>
            <a:r>
              <a:rPr lang="en-US" altLang="zh-CN" sz="2800"/>
              <a:t>)</a:t>
            </a:r>
            <a:endParaRPr lang="zh-CN" altLang="en-US" sz="2800"/>
          </a:p>
        </p:txBody>
      </p:sp>
      <p:sp>
        <p:nvSpPr>
          <p:cNvPr id="865285" name="Line 5"/>
          <p:cNvSpPr>
            <a:spLocks noChangeShapeType="1"/>
          </p:cNvSpPr>
          <p:nvPr/>
        </p:nvSpPr>
        <p:spPr bwMode="auto">
          <a:xfrm>
            <a:off x="2278063" y="1752600"/>
            <a:ext cx="403383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865286" name="Rectangle 6"/>
          <p:cNvSpPr>
            <a:spLocks noChangeArrowheads="1"/>
          </p:cNvSpPr>
          <p:nvPr/>
        </p:nvSpPr>
        <p:spPr bwMode="auto">
          <a:xfrm>
            <a:off x="2606675" y="1233488"/>
            <a:ext cx="33194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a:t>–</a:t>
            </a:r>
            <a:r>
              <a:rPr lang="en-US" altLang="zh-CN" sz="2800" i="1"/>
              <a:t>x</a:t>
            </a:r>
            <a:r>
              <a:rPr lang="en-US" altLang="zh-CN" sz="2800" baseline="-25000"/>
              <a:t>1</a:t>
            </a:r>
            <a:r>
              <a:rPr lang="en-US" altLang="zh-CN" sz="2800"/>
              <a:t>)(</a:t>
            </a:r>
            <a:r>
              <a:rPr lang="en-US" altLang="zh-CN" sz="2800" i="1"/>
              <a:t>x</a:t>
            </a:r>
            <a:r>
              <a:rPr lang="en-US" altLang="zh-CN" sz="2800"/>
              <a:t>–</a:t>
            </a:r>
            <a:r>
              <a:rPr lang="en-US" altLang="zh-CN" sz="2800" i="1"/>
              <a:t>x</a:t>
            </a:r>
            <a:r>
              <a:rPr lang="en-US" altLang="zh-CN" sz="2800" baseline="-25000"/>
              <a:t>2</a:t>
            </a:r>
            <a:r>
              <a:rPr lang="en-US" altLang="zh-CN" sz="2800"/>
              <a:t>) …(</a:t>
            </a:r>
            <a:r>
              <a:rPr lang="en-US" altLang="zh-CN" sz="2800" i="1"/>
              <a:t>x</a:t>
            </a:r>
            <a:r>
              <a:rPr lang="en-US" altLang="zh-CN" sz="2800"/>
              <a:t>–</a:t>
            </a:r>
            <a:r>
              <a:rPr lang="en-US" altLang="zh-CN" sz="2800" i="1"/>
              <a:t>x</a:t>
            </a:r>
            <a:r>
              <a:rPr lang="en-US" altLang="zh-CN" sz="2800" baseline="-25000"/>
              <a:t>n</a:t>
            </a:r>
            <a:r>
              <a:rPr lang="en-US" altLang="zh-CN" sz="2800"/>
              <a:t>)</a:t>
            </a:r>
            <a:endParaRPr lang="zh-CN" altLang="en-US" sz="2800"/>
          </a:p>
        </p:txBody>
      </p:sp>
      <p:sp>
        <p:nvSpPr>
          <p:cNvPr id="865287" name="Rectangle 7"/>
          <p:cNvSpPr>
            <a:spLocks noChangeArrowheads="1"/>
          </p:cNvSpPr>
          <p:nvPr/>
        </p:nvSpPr>
        <p:spPr bwMode="auto">
          <a:xfrm>
            <a:off x="6346825" y="1447800"/>
            <a:ext cx="838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f</a:t>
            </a:r>
            <a:r>
              <a:rPr lang="en-US" altLang="zh-CN" sz="2800"/>
              <a:t>(</a:t>
            </a:r>
            <a:r>
              <a:rPr lang="en-US" altLang="zh-CN" sz="2800" i="1"/>
              <a:t>x</a:t>
            </a:r>
            <a:r>
              <a:rPr lang="en-US" altLang="zh-CN" sz="2800" baseline="-25000"/>
              <a:t>0</a:t>
            </a:r>
            <a:r>
              <a:rPr lang="en-US" altLang="zh-CN" sz="2800"/>
              <a:t>)</a:t>
            </a:r>
            <a:endParaRPr lang="zh-CN" altLang="en-US" sz="2800"/>
          </a:p>
        </p:txBody>
      </p:sp>
      <p:sp>
        <p:nvSpPr>
          <p:cNvPr id="865288" name="Rectangle 8"/>
          <p:cNvSpPr>
            <a:spLocks noChangeArrowheads="1"/>
          </p:cNvSpPr>
          <p:nvPr/>
        </p:nvSpPr>
        <p:spPr bwMode="auto">
          <a:xfrm>
            <a:off x="1028700" y="2605088"/>
            <a:ext cx="12382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sz="2800"/>
              <a:t>+…+</a:t>
            </a:r>
          </a:p>
        </p:txBody>
      </p:sp>
      <p:sp>
        <p:nvSpPr>
          <p:cNvPr id="865289" name="Rectangle 9"/>
          <p:cNvSpPr>
            <a:spLocks noChangeArrowheads="1"/>
          </p:cNvSpPr>
          <p:nvPr/>
        </p:nvSpPr>
        <p:spPr bwMode="auto">
          <a:xfrm>
            <a:off x="2314575" y="2819400"/>
            <a:ext cx="50974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baseline="-25000"/>
              <a:t>i</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i</a:t>
            </a:r>
            <a:r>
              <a:rPr lang="en-US" altLang="zh-CN" sz="2800"/>
              <a:t>–</a:t>
            </a:r>
            <a:r>
              <a:rPr lang="en-US" altLang="zh-CN" sz="2800" i="1"/>
              <a:t>x</a:t>
            </a:r>
            <a:r>
              <a:rPr lang="en-US" altLang="zh-CN" sz="2800" baseline="-25000"/>
              <a:t>i-1</a:t>
            </a:r>
            <a:r>
              <a:rPr lang="en-US" altLang="zh-CN" sz="2800"/>
              <a:t>)(</a:t>
            </a:r>
            <a:r>
              <a:rPr lang="en-US" altLang="zh-CN" sz="2800" i="1"/>
              <a:t>x</a:t>
            </a:r>
            <a:r>
              <a:rPr lang="en-US" altLang="zh-CN" sz="2800" baseline="-25000"/>
              <a:t>i</a:t>
            </a:r>
            <a:r>
              <a:rPr lang="en-US" altLang="zh-CN" sz="2800"/>
              <a:t>–</a:t>
            </a:r>
            <a:r>
              <a:rPr lang="en-US" altLang="zh-CN" sz="2800" i="1"/>
              <a:t>x</a:t>
            </a:r>
            <a:r>
              <a:rPr lang="en-US" altLang="zh-CN" sz="2800" baseline="-25000"/>
              <a:t>i+1</a:t>
            </a:r>
            <a:r>
              <a:rPr lang="en-US" altLang="zh-CN" sz="2800"/>
              <a:t>)…(</a:t>
            </a:r>
            <a:r>
              <a:rPr lang="en-US" altLang="zh-CN" sz="2800" i="1"/>
              <a:t>x</a:t>
            </a:r>
            <a:r>
              <a:rPr lang="en-US" altLang="zh-CN" sz="2800" baseline="-25000"/>
              <a:t>i</a:t>
            </a:r>
            <a:r>
              <a:rPr lang="en-US" altLang="zh-CN" sz="2800"/>
              <a:t>–</a:t>
            </a:r>
            <a:r>
              <a:rPr lang="en-US" altLang="zh-CN" sz="2800" i="1"/>
              <a:t>x</a:t>
            </a:r>
            <a:r>
              <a:rPr lang="en-US" altLang="zh-CN" sz="2800" baseline="-25000"/>
              <a:t>n</a:t>
            </a:r>
            <a:r>
              <a:rPr lang="en-US" altLang="zh-CN" sz="2800"/>
              <a:t>)</a:t>
            </a:r>
            <a:endParaRPr lang="zh-CN" altLang="en-US" sz="2800"/>
          </a:p>
        </p:txBody>
      </p:sp>
      <p:sp>
        <p:nvSpPr>
          <p:cNvPr id="865290" name="Line 10"/>
          <p:cNvSpPr>
            <a:spLocks noChangeShapeType="1"/>
          </p:cNvSpPr>
          <p:nvPr/>
        </p:nvSpPr>
        <p:spPr bwMode="auto">
          <a:xfrm>
            <a:off x="2195513" y="2881313"/>
            <a:ext cx="5189537" cy="1428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865291" name="Rectangle 11"/>
          <p:cNvSpPr>
            <a:spLocks noChangeArrowheads="1"/>
          </p:cNvSpPr>
          <p:nvPr/>
        </p:nvSpPr>
        <p:spPr bwMode="auto">
          <a:xfrm>
            <a:off x="2447925" y="2362200"/>
            <a:ext cx="48307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a:t>–</a:t>
            </a:r>
            <a:r>
              <a:rPr lang="en-US" altLang="zh-CN" sz="2800" i="1"/>
              <a:t>x</a:t>
            </a:r>
            <a:r>
              <a:rPr lang="en-US" altLang="zh-CN" sz="2800" baseline="-25000"/>
              <a:t>i-1</a:t>
            </a:r>
            <a:r>
              <a:rPr lang="en-US" altLang="zh-CN" sz="2800"/>
              <a:t>)(</a:t>
            </a:r>
            <a:r>
              <a:rPr lang="en-US" altLang="zh-CN" sz="2800" i="1"/>
              <a:t>x</a:t>
            </a:r>
            <a:r>
              <a:rPr lang="en-US" altLang="zh-CN" sz="2800"/>
              <a:t>–</a:t>
            </a:r>
            <a:r>
              <a:rPr lang="en-US" altLang="zh-CN" sz="2800" i="1"/>
              <a:t>x</a:t>
            </a:r>
            <a:r>
              <a:rPr lang="en-US" altLang="zh-CN" sz="2800" baseline="-25000"/>
              <a:t>i+1</a:t>
            </a:r>
            <a:r>
              <a:rPr lang="en-US" altLang="zh-CN" sz="2800"/>
              <a:t>)…(</a:t>
            </a:r>
            <a:r>
              <a:rPr lang="en-US" altLang="zh-CN" sz="2800" i="1"/>
              <a:t>x</a:t>
            </a:r>
            <a:r>
              <a:rPr lang="en-US" altLang="zh-CN" sz="2800"/>
              <a:t>–</a:t>
            </a:r>
            <a:r>
              <a:rPr lang="en-US" altLang="zh-CN" sz="2800" i="1"/>
              <a:t>x</a:t>
            </a:r>
            <a:r>
              <a:rPr lang="en-US" altLang="zh-CN" sz="2800" baseline="-25000"/>
              <a:t>n</a:t>
            </a:r>
            <a:r>
              <a:rPr lang="en-US" altLang="zh-CN" sz="2800"/>
              <a:t>)</a:t>
            </a:r>
            <a:endParaRPr lang="zh-CN" altLang="en-US" sz="2800"/>
          </a:p>
        </p:txBody>
      </p:sp>
      <p:sp>
        <p:nvSpPr>
          <p:cNvPr id="865292" name="Rectangle 12"/>
          <p:cNvSpPr>
            <a:spLocks noChangeArrowheads="1"/>
          </p:cNvSpPr>
          <p:nvPr/>
        </p:nvSpPr>
        <p:spPr bwMode="auto">
          <a:xfrm>
            <a:off x="7639050" y="2528888"/>
            <a:ext cx="7858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f</a:t>
            </a:r>
            <a:r>
              <a:rPr lang="en-US" altLang="zh-CN" sz="2800"/>
              <a:t>(</a:t>
            </a:r>
            <a:r>
              <a:rPr lang="en-US" altLang="zh-CN" sz="2800" i="1"/>
              <a:t>x</a:t>
            </a:r>
            <a:r>
              <a:rPr lang="en-US" altLang="zh-CN" sz="2800" baseline="-25000"/>
              <a:t>i</a:t>
            </a:r>
            <a:r>
              <a:rPr lang="en-US" altLang="zh-CN" sz="2800"/>
              <a:t>)</a:t>
            </a:r>
            <a:endParaRPr lang="zh-CN" altLang="en-US" sz="2800"/>
          </a:p>
        </p:txBody>
      </p:sp>
      <p:sp>
        <p:nvSpPr>
          <p:cNvPr id="865293" name="Rectangle 13"/>
          <p:cNvSpPr>
            <a:spLocks noChangeArrowheads="1"/>
          </p:cNvSpPr>
          <p:nvPr/>
        </p:nvSpPr>
        <p:spPr bwMode="auto">
          <a:xfrm>
            <a:off x="1079500" y="3838575"/>
            <a:ext cx="11049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sz="2800"/>
              <a:t>+…+</a:t>
            </a:r>
          </a:p>
        </p:txBody>
      </p:sp>
      <p:sp>
        <p:nvSpPr>
          <p:cNvPr id="865294" name="Rectangle 14"/>
          <p:cNvSpPr>
            <a:spLocks noChangeArrowheads="1"/>
          </p:cNvSpPr>
          <p:nvPr/>
        </p:nvSpPr>
        <p:spPr bwMode="auto">
          <a:xfrm>
            <a:off x="2268538" y="4052888"/>
            <a:ext cx="4016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baseline="-25000"/>
              <a:t>n</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baseline="-25000"/>
              <a:t>n</a:t>
            </a:r>
            <a:r>
              <a:rPr lang="en-US" altLang="zh-CN" sz="2800"/>
              <a:t>–</a:t>
            </a:r>
            <a:r>
              <a:rPr lang="en-US" altLang="zh-CN" sz="2800" i="1"/>
              <a:t>x</a:t>
            </a:r>
            <a:r>
              <a:rPr lang="en-US" altLang="zh-CN" sz="2800" baseline="-25000"/>
              <a:t>1</a:t>
            </a:r>
            <a:r>
              <a:rPr lang="en-US" altLang="zh-CN" sz="2800"/>
              <a:t>) … (</a:t>
            </a:r>
            <a:r>
              <a:rPr lang="en-US" altLang="zh-CN" sz="2800" i="1"/>
              <a:t>x</a:t>
            </a:r>
            <a:r>
              <a:rPr lang="en-US" altLang="zh-CN" sz="2800" baseline="-25000"/>
              <a:t>n</a:t>
            </a:r>
            <a:r>
              <a:rPr lang="en-US" altLang="zh-CN" sz="2800"/>
              <a:t>–</a:t>
            </a:r>
            <a:r>
              <a:rPr lang="en-US" altLang="zh-CN" sz="2800" i="1"/>
              <a:t>x</a:t>
            </a:r>
            <a:r>
              <a:rPr lang="en-US" altLang="zh-CN" sz="2800" baseline="-25000"/>
              <a:t>n-1</a:t>
            </a:r>
            <a:r>
              <a:rPr lang="en-US" altLang="zh-CN" sz="2800"/>
              <a:t>)</a:t>
            </a:r>
            <a:endParaRPr lang="zh-CN" altLang="en-US" sz="2800"/>
          </a:p>
        </p:txBody>
      </p:sp>
      <p:sp>
        <p:nvSpPr>
          <p:cNvPr id="865295" name="Line 15"/>
          <p:cNvSpPr>
            <a:spLocks noChangeShapeType="1"/>
          </p:cNvSpPr>
          <p:nvPr/>
        </p:nvSpPr>
        <p:spPr bwMode="auto">
          <a:xfrm>
            <a:off x="2195513" y="4114800"/>
            <a:ext cx="4198937" cy="1111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865296" name="Rectangle 16"/>
          <p:cNvSpPr>
            <a:spLocks noChangeArrowheads="1"/>
          </p:cNvSpPr>
          <p:nvPr/>
        </p:nvSpPr>
        <p:spPr bwMode="auto">
          <a:xfrm>
            <a:off x="2270125" y="3581400"/>
            <a:ext cx="36099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a:t>(</a:t>
            </a:r>
            <a:r>
              <a:rPr lang="en-US" altLang="zh-CN" sz="2800" i="1"/>
              <a:t>x</a:t>
            </a:r>
            <a:r>
              <a:rPr lang="en-US" altLang="zh-CN" sz="2800"/>
              <a:t>–</a:t>
            </a:r>
            <a:r>
              <a:rPr lang="en-US" altLang="zh-CN" sz="2800" i="1"/>
              <a:t>x</a:t>
            </a:r>
            <a:r>
              <a:rPr lang="en-US" altLang="zh-CN" sz="2800" baseline="-25000"/>
              <a:t>0</a:t>
            </a:r>
            <a:r>
              <a:rPr lang="en-US" altLang="zh-CN" sz="2800"/>
              <a:t>)(</a:t>
            </a:r>
            <a:r>
              <a:rPr lang="en-US" altLang="zh-CN" sz="2800" i="1"/>
              <a:t>x</a:t>
            </a:r>
            <a:r>
              <a:rPr lang="en-US" altLang="zh-CN" sz="2800"/>
              <a:t>–</a:t>
            </a:r>
            <a:r>
              <a:rPr lang="en-US" altLang="zh-CN" sz="2800" i="1"/>
              <a:t>x</a:t>
            </a:r>
            <a:r>
              <a:rPr lang="en-US" altLang="zh-CN" sz="2800" baseline="-25000"/>
              <a:t>1</a:t>
            </a:r>
            <a:r>
              <a:rPr lang="en-US" altLang="zh-CN" sz="2800"/>
              <a:t>) … (</a:t>
            </a:r>
            <a:r>
              <a:rPr lang="en-US" altLang="zh-CN" sz="2800" i="1"/>
              <a:t>x</a:t>
            </a:r>
            <a:r>
              <a:rPr lang="en-US" altLang="zh-CN" sz="2800"/>
              <a:t>–</a:t>
            </a:r>
            <a:r>
              <a:rPr lang="en-US" altLang="zh-CN" sz="2800" i="1"/>
              <a:t>x</a:t>
            </a:r>
            <a:r>
              <a:rPr lang="en-US" altLang="zh-CN" sz="2800" baseline="-25000"/>
              <a:t>n-1</a:t>
            </a:r>
            <a:r>
              <a:rPr lang="en-US" altLang="zh-CN" sz="2800"/>
              <a:t>)</a:t>
            </a:r>
            <a:endParaRPr lang="zh-CN" altLang="en-US" sz="2800"/>
          </a:p>
        </p:txBody>
      </p:sp>
      <p:sp>
        <p:nvSpPr>
          <p:cNvPr id="865297" name="Rectangle 17"/>
          <p:cNvSpPr>
            <a:spLocks noChangeArrowheads="1"/>
          </p:cNvSpPr>
          <p:nvPr/>
        </p:nvSpPr>
        <p:spPr bwMode="auto">
          <a:xfrm>
            <a:off x="6475413" y="3810000"/>
            <a:ext cx="8540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f</a:t>
            </a:r>
            <a:r>
              <a:rPr lang="en-US" altLang="zh-CN" sz="2800"/>
              <a:t>(</a:t>
            </a:r>
            <a:r>
              <a:rPr lang="en-US" altLang="zh-CN" sz="2800" i="1"/>
              <a:t>x</a:t>
            </a:r>
            <a:r>
              <a:rPr lang="en-US" altLang="zh-CN" sz="2800" baseline="-25000"/>
              <a:t>n</a:t>
            </a:r>
            <a:r>
              <a:rPr lang="en-US" altLang="zh-CN" sz="2800"/>
              <a:t>)</a:t>
            </a:r>
            <a:endParaRPr lang="zh-CN" altLang="en-US" sz="2800"/>
          </a:p>
        </p:txBody>
      </p:sp>
      <p:sp>
        <p:nvSpPr>
          <p:cNvPr id="865298" name="Rectangle 18"/>
          <p:cNvSpPr>
            <a:spLocks noChangeArrowheads="1"/>
          </p:cNvSpPr>
          <p:nvPr/>
        </p:nvSpPr>
        <p:spPr bwMode="auto">
          <a:xfrm>
            <a:off x="7250113" y="3824288"/>
            <a:ext cx="12842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 </a:t>
            </a:r>
            <a:r>
              <a:rPr lang="en-US" altLang="zh-CN" sz="2800"/>
              <a:t>R</a:t>
            </a:r>
            <a:r>
              <a:rPr lang="en-US" altLang="zh-CN" sz="2800" baseline="-25000"/>
              <a:t>n</a:t>
            </a:r>
            <a:r>
              <a:rPr lang="en-US" altLang="zh-CN" sz="2800"/>
              <a:t>(</a:t>
            </a:r>
            <a:r>
              <a:rPr lang="en-US" altLang="zh-CN" sz="2800" i="1"/>
              <a:t>x</a:t>
            </a:r>
            <a:r>
              <a:rPr lang="en-US" altLang="zh-CN" sz="2800"/>
              <a:t>)</a:t>
            </a:r>
            <a:endParaRPr lang="zh-CN" altLang="en-US" sz="2800"/>
          </a:p>
        </p:txBody>
      </p:sp>
      <p:sp>
        <p:nvSpPr>
          <p:cNvPr id="865299" name="Rectangle 19"/>
          <p:cNvSpPr>
            <a:spLocks noChangeArrowheads="1"/>
          </p:cNvSpPr>
          <p:nvPr/>
        </p:nvSpPr>
        <p:spPr bwMode="auto">
          <a:xfrm>
            <a:off x="1857375" y="4724400"/>
            <a:ext cx="2452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2800" i="1"/>
              <a:t>= </a:t>
            </a:r>
            <a:r>
              <a:rPr lang="en-US" altLang="zh-CN" sz="2800"/>
              <a:t>L</a:t>
            </a:r>
            <a:r>
              <a:rPr lang="en-US" altLang="zh-CN" sz="2800" baseline="-25000"/>
              <a:t>n</a:t>
            </a:r>
            <a:r>
              <a:rPr lang="en-US" altLang="zh-CN" sz="2800"/>
              <a:t>(</a:t>
            </a:r>
            <a:r>
              <a:rPr lang="en-US" altLang="zh-CN" sz="2800" i="1"/>
              <a:t>x</a:t>
            </a:r>
            <a:r>
              <a:rPr lang="en-US" altLang="zh-CN" sz="2800"/>
              <a:t>)</a:t>
            </a:r>
            <a:r>
              <a:rPr lang="en-US" altLang="zh-CN" sz="2800" i="1"/>
              <a:t> + </a:t>
            </a:r>
            <a:r>
              <a:rPr lang="en-US" altLang="zh-CN" sz="2800"/>
              <a:t>R</a:t>
            </a:r>
            <a:r>
              <a:rPr lang="en-US" altLang="zh-CN" sz="2800" baseline="-25000"/>
              <a:t>n</a:t>
            </a:r>
            <a:r>
              <a:rPr lang="en-US" altLang="zh-CN" sz="2800"/>
              <a:t>(</a:t>
            </a:r>
            <a:r>
              <a:rPr lang="en-US" altLang="zh-CN" sz="2800" i="1"/>
              <a:t>x</a:t>
            </a:r>
            <a:r>
              <a:rPr lang="en-US" altLang="zh-CN" sz="2800"/>
              <a:t>)</a:t>
            </a:r>
            <a:endParaRPr lang="zh-CN" altLang="en-US" sz="2800"/>
          </a:p>
        </p:txBody>
      </p:sp>
      <p:sp>
        <p:nvSpPr>
          <p:cNvPr id="865300" name="AutoShape 20"/>
          <p:cNvSpPr>
            <a:spLocks noChangeArrowheads="1"/>
          </p:cNvSpPr>
          <p:nvPr/>
        </p:nvSpPr>
        <p:spPr bwMode="auto">
          <a:xfrm>
            <a:off x="1276350" y="5486400"/>
            <a:ext cx="2146300" cy="838200"/>
          </a:xfrm>
          <a:prstGeom prst="wedgeRoundRectCallout">
            <a:avLst>
              <a:gd name="adj1" fmla="val -1843"/>
              <a:gd name="adj2" fmla="val -79356"/>
              <a:gd name="adj3" fmla="val 16667"/>
            </a:avLst>
          </a:prstGeom>
          <a:solidFill>
            <a:schemeClr val="accent2"/>
          </a:solidFill>
          <a:ln w="254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lstStyle/>
          <a:p>
            <a:r>
              <a:rPr lang="zh-CN" altLang="en-US" sz="2800">
                <a:latin typeface="Arial" pitchFamily="34" charset="0"/>
              </a:rPr>
              <a:t>拉格朗日插值公式</a:t>
            </a:r>
          </a:p>
        </p:txBody>
      </p:sp>
      <p:sp>
        <p:nvSpPr>
          <p:cNvPr id="865301" name="Rectangle 21"/>
          <p:cNvSpPr>
            <a:spLocks noChangeArrowheads="1"/>
          </p:cNvSpPr>
          <p:nvPr/>
        </p:nvSpPr>
        <p:spPr bwMode="auto">
          <a:xfrm>
            <a:off x="2101850" y="2514600"/>
            <a:ext cx="5530850" cy="914400"/>
          </a:xfrm>
          <a:prstGeom prst="rect">
            <a:avLst/>
          </a:prstGeom>
          <a:noFill/>
          <a:ln w="25400">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865302" name="AutoShape 22"/>
          <p:cNvSpPr>
            <a:spLocks noChangeArrowheads="1"/>
          </p:cNvSpPr>
          <p:nvPr/>
        </p:nvSpPr>
        <p:spPr bwMode="auto">
          <a:xfrm>
            <a:off x="7219950" y="1676400"/>
            <a:ext cx="1238250" cy="533400"/>
          </a:xfrm>
          <a:prstGeom prst="wedgeRoundRectCallout">
            <a:avLst>
              <a:gd name="adj1" fmla="val -49722"/>
              <a:gd name="adj2" fmla="val 100894"/>
              <a:gd name="adj3" fmla="val 16667"/>
            </a:avLst>
          </a:prstGeom>
          <a:solidFill>
            <a:schemeClr val="accent2"/>
          </a:solidFill>
          <a:ln w="254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lstStyle/>
          <a:p>
            <a:r>
              <a:rPr lang="en-US" altLang="zh-CN" i="1"/>
              <a:t>a</a:t>
            </a:r>
            <a:r>
              <a:rPr lang="en-US" altLang="zh-CN" baseline="-25000"/>
              <a:t>i</a:t>
            </a:r>
            <a:r>
              <a:rPr lang="en-US" altLang="zh-CN"/>
              <a:t>(</a:t>
            </a:r>
            <a:r>
              <a:rPr lang="en-US" altLang="zh-CN" i="1"/>
              <a:t>x</a:t>
            </a:r>
            <a:r>
              <a:rPr lang="en-US" altLang="zh-CN"/>
              <a:t>)</a:t>
            </a:r>
            <a:endParaRPr lang="zh-CN" altLang="en-US"/>
          </a:p>
        </p:txBody>
      </p:sp>
      <p:graphicFrame>
        <p:nvGraphicFramePr>
          <p:cNvPr id="865303" name="Object 23"/>
          <p:cNvGraphicFramePr>
            <a:graphicFrameLocks noGrp="1" noChangeAspect="1"/>
          </p:cNvGraphicFramePr>
          <p:nvPr>
            <p:ph idx="1"/>
          </p:nvPr>
        </p:nvGraphicFramePr>
        <p:xfrm>
          <a:off x="6465888" y="4995863"/>
          <a:ext cx="2087562" cy="1165225"/>
        </p:xfrm>
        <a:graphic>
          <a:graphicData uri="http://schemas.openxmlformats.org/presentationml/2006/ole">
            <mc:AlternateContent xmlns:mc="http://schemas.openxmlformats.org/markup-compatibility/2006">
              <mc:Choice xmlns:v="urn:schemas-microsoft-com:vml" Requires="v">
                <p:oleObj name="Equation" r:id="rId3" imgW="774360" imgH="431640" progId="Equation.3">
                  <p:embed/>
                </p:oleObj>
              </mc:Choice>
              <mc:Fallback>
                <p:oleObj name="Equation" r:id="rId3" imgW="77436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5888" y="4995863"/>
                        <a:ext cx="2087562" cy="1165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98735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0"/>
          </p:nvPr>
        </p:nvSpPr>
        <p:spPr/>
        <p:txBody>
          <a:bodyPr/>
          <a:lstStyle/>
          <a:p>
            <a:fld id="{549F0D95-42F3-4902-AC7B-879673DDD54B}" type="slidenum">
              <a:rPr lang="zh-CN" altLang="en-US"/>
              <a:pPr/>
              <a:t>46</a:t>
            </a:fld>
            <a:endParaRPr lang="en-US" altLang="zh-CN"/>
          </a:p>
        </p:txBody>
      </p:sp>
      <p:sp>
        <p:nvSpPr>
          <p:cNvPr id="12" name="日期占位符 4"/>
          <p:cNvSpPr>
            <a:spLocks noGrp="1"/>
          </p:cNvSpPr>
          <p:nvPr>
            <p:ph type="dt" sz="half" idx="11"/>
          </p:nvPr>
        </p:nvSpPr>
        <p:spPr/>
        <p:txBody>
          <a:bodyPr/>
          <a:lstStyle/>
          <a:p>
            <a:fld id="{ED61ACEA-D36B-4AF8-ACD7-7479669C2992}" type="datetime1">
              <a:rPr lang="zh-CN" altLang="en-US"/>
              <a:pPr/>
              <a:t>2024/11/18</a:t>
            </a:fld>
            <a:endParaRPr lang="en-US" altLang="zh-CN" sz="1000"/>
          </a:p>
        </p:txBody>
      </p:sp>
      <p:sp>
        <p:nvSpPr>
          <p:cNvPr id="867330" name="Rectangle 2"/>
          <p:cNvSpPr>
            <a:spLocks noGrp="1" noChangeArrowheads="1"/>
          </p:cNvSpPr>
          <p:nvPr>
            <p:ph type="title"/>
          </p:nvPr>
        </p:nvSpPr>
        <p:spPr/>
        <p:txBody>
          <a:bodyPr/>
          <a:lstStyle/>
          <a:p>
            <a:r>
              <a:rPr lang="zh-CN" altLang="en-US"/>
              <a:t>舍入误差估计</a:t>
            </a:r>
          </a:p>
        </p:txBody>
      </p:sp>
      <p:graphicFrame>
        <p:nvGraphicFramePr>
          <p:cNvPr id="867331" name="Object 3"/>
          <p:cNvGraphicFramePr>
            <a:graphicFrameLocks noChangeAspect="1"/>
          </p:cNvGraphicFramePr>
          <p:nvPr/>
        </p:nvGraphicFramePr>
        <p:xfrm>
          <a:off x="1641475" y="1268413"/>
          <a:ext cx="2817813" cy="1143000"/>
        </p:xfrm>
        <a:graphic>
          <a:graphicData uri="http://schemas.openxmlformats.org/presentationml/2006/ole">
            <mc:AlternateContent xmlns:mc="http://schemas.openxmlformats.org/markup-compatibility/2006">
              <mc:Choice xmlns:v="urn:schemas-microsoft-com:vml" Requires="v">
                <p:oleObj name="Equation" r:id="rId2" imgW="1231560" imgH="431640" progId="Equation.3">
                  <p:embed/>
                </p:oleObj>
              </mc:Choice>
              <mc:Fallback>
                <p:oleObj name="Equation" r:id="rId2" imgW="1231560" imgH="431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475" y="1268413"/>
                        <a:ext cx="28178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7332" name="AutoShape 4"/>
          <p:cNvSpPr>
            <a:spLocks noChangeArrowheads="1"/>
          </p:cNvSpPr>
          <p:nvPr/>
        </p:nvSpPr>
        <p:spPr bwMode="auto">
          <a:xfrm>
            <a:off x="573088" y="2335213"/>
            <a:ext cx="685800" cy="485775"/>
          </a:xfrm>
          <a:prstGeom prst="rightArrow">
            <a:avLst>
              <a:gd name="adj1" fmla="val 50000"/>
              <a:gd name="adj2" fmla="val 35294"/>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7333" name="Object 5"/>
          <p:cNvGraphicFramePr>
            <a:graphicFrameLocks noChangeAspect="1"/>
          </p:cNvGraphicFramePr>
          <p:nvPr/>
        </p:nvGraphicFramePr>
        <p:xfrm>
          <a:off x="1679575" y="2030413"/>
          <a:ext cx="5318125" cy="1143000"/>
        </p:xfrm>
        <a:graphic>
          <a:graphicData uri="http://schemas.openxmlformats.org/presentationml/2006/ole">
            <mc:AlternateContent xmlns:mc="http://schemas.openxmlformats.org/markup-compatibility/2006">
              <mc:Choice xmlns:v="urn:schemas-microsoft-com:vml" Requires="v">
                <p:oleObj name="Equation" r:id="rId4" imgW="2323800" imgH="431640" progId="Equation.3">
                  <p:embed/>
                </p:oleObj>
              </mc:Choice>
              <mc:Fallback>
                <p:oleObj name="Equation" r:id="rId4" imgW="232380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9575" y="2030413"/>
                        <a:ext cx="53181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7334" name="Object 6"/>
          <p:cNvGraphicFramePr>
            <a:graphicFrameLocks noChangeAspect="1"/>
          </p:cNvGraphicFramePr>
          <p:nvPr/>
        </p:nvGraphicFramePr>
        <p:xfrm>
          <a:off x="2984500" y="3021013"/>
          <a:ext cx="2846388" cy="1143000"/>
        </p:xfrm>
        <a:graphic>
          <a:graphicData uri="http://schemas.openxmlformats.org/presentationml/2006/ole">
            <mc:AlternateContent xmlns:mc="http://schemas.openxmlformats.org/markup-compatibility/2006">
              <mc:Choice xmlns:v="urn:schemas-microsoft-com:vml" Requires="v">
                <p:oleObj name="Equation" r:id="rId6" imgW="1244520" imgH="431640" progId="Equation.3">
                  <p:embed/>
                </p:oleObj>
              </mc:Choice>
              <mc:Fallback>
                <p:oleObj name="Equation" r:id="rId6" imgW="124452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4500" y="3021013"/>
                        <a:ext cx="2846388"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7335" name="Rectangle 7"/>
          <p:cNvSpPr>
            <a:spLocks noChangeArrowheads="1"/>
          </p:cNvSpPr>
          <p:nvPr/>
        </p:nvSpPr>
        <p:spPr bwMode="auto">
          <a:xfrm>
            <a:off x="5603875" y="3319463"/>
            <a:ext cx="3997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a:t>[</a:t>
            </a:r>
            <a:r>
              <a:rPr lang="en-US" altLang="zh-CN" sz="2800">
                <a:sym typeface="Symbol" pitchFamily="18" charset="2"/>
              </a:rPr>
              <a:t></a:t>
            </a:r>
            <a:r>
              <a:rPr lang="en-US" altLang="zh-CN" sz="2800" i="1">
                <a:sym typeface="Symbol" pitchFamily="18" charset="2"/>
              </a:rPr>
              <a:t>y</a:t>
            </a:r>
            <a:r>
              <a:rPr lang="en-US" altLang="zh-CN" sz="2800" baseline="-25000"/>
              <a:t>i </a:t>
            </a:r>
            <a:r>
              <a:rPr lang="en-US" altLang="zh-CN" sz="2800" i="1">
                <a:sym typeface="Symbol" pitchFamily="18" charset="2"/>
              </a:rPr>
              <a:t>a</a:t>
            </a:r>
            <a:r>
              <a:rPr lang="en-US" altLang="zh-CN" sz="2800" baseline="-25000"/>
              <a:t>i</a:t>
            </a:r>
            <a:r>
              <a:rPr lang="en-US" altLang="zh-CN" sz="2800"/>
              <a:t>(x)+ </a:t>
            </a:r>
            <a:r>
              <a:rPr lang="en-US" altLang="zh-CN" sz="2800">
                <a:sym typeface="Symbol" pitchFamily="18" charset="2"/>
              </a:rPr>
              <a:t></a:t>
            </a:r>
            <a:r>
              <a:rPr lang="en-US" altLang="zh-CN" sz="2800" i="1">
                <a:sym typeface="Symbol" pitchFamily="18" charset="2"/>
              </a:rPr>
              <a:t>a</a:t>
            </a:r>
            <a:r>
              <a:rPr lang="en-US" altLang="zh-CN" sz="2800" baseline="-25000"/>
              <a:t>i </a:t>
            </a:r>
            <a:r>
              <a:rPr lang="en-US" altLang="zh-CN" sz="2800" i="1">
                <a:sym typeface="Symbol" pitchFamily="18" charset="2"/>
              </a:rPr>
              <a:t>y</a:t>
            </a:r>
            <a:r>
              <a:rPr lang="en-US" altLang="zh-CN" sz="2800" baseline="-25000"/>
              <a:t>i </a:t>
            </a:r>
            <a:r>
              <a:rPr lang="en-US" altLang="zh-CN" sz="2800"/>
              <a:t>+ </a:t>
            </a:r>
            <a:r>
              <a:rPr lang="en-US" altLang="zh-CN" sz="2800">
                <a:sym typeface="Symbol" pitchFamily="18" charset="2"/>
              </a:rPr>
              <a:t></a:t>
            </a:r>
            <a:r>
              <a:rPr lang="en-US" altLang="zh-CN" sz="2800" i="1">
                <a:sym typeface="Symbol" pitchFamily="18" charset="2"/>
              </a:rPr>
              <a:t>a</a:t>
            </a:r>
            <a:r>
              <a:rPr lang="en-US" altLang="zh-CN" sz="2800" baseline="-25000"/>
              <a:t>i </a:t>
            </a:r>
            <a:r>
              <a:rPr lang="en-US" altLang="zh-CN" sz="2800">
                <a:sym typeface="Symbol" pitchFamily="18" charset="2"/>
              </a:rPr>
              <a:t></a:t>
            </a:r>
            <a:r>
              <a:rPr lang="en-US" altLang="zh-CN" sz="2800" i="1">
                <a:sym typeface="Symbol" pitchFamily="18" charset="2"/>
              </a:rPr>
              <a:t>y</a:t>
            </a:r>
            <a:r>
              <a:rPr lang="en-US" altLang="zh-CN" sz="2800" baseline="-25000"/>
              <a:t>i </a:t>
            </a:r>
            <a:r>
              <a:rPr lang="en-US" altLang="zh-CN" sz="2800"/>
              <a:t>]</a:t>
            </a:r>
            <a:endParaRPr lang="zh-CN" altLang="en-US" sz="2800"/>
          </a:p>
        </p:txBody>
      </p:sp>
      <p:sp>
        <p:nvSpPr>
          <p:cNvPr id="867336" name="AutoShape 8"/>
          <p:cNvSpPr>
            <a:spLocks noChangeArrowheads="1"/>
          </p:cNvSpPr>
          <p:nvPr/>
        </p:nvSpPr>
        <p:spPr bwMode="auto">
          <a:xfrm>
            <a:off x="573088" y="4211638"/>
            <a:ext cx="685800" cy="485775"/>
          </a:xfrm>
          <a:prstGeom prst="rightArrow">
            <a:avLst>
              <a:gd name="adj1" fmla="val 50000"/>
              <a:gd name="adj2" fmla="val 35294"/>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67337" name="Object 9"/>
          <p:cNvGraphicFramePr>
            <a:graphicFrameLocks noChangeAspect="1"/>
          </p:cNvGraphicFramePr>
          <p:nvPr/>
        </p:nvGraphicFramePr>
        <p:xfrm>
          <a:off x="1593850" y="3859213"/>
          <a:ext cx="5303838" cy="1143000"/>
        </p:xfrm>
        <a:graphic>
          <a:graphicData uri="http://schemas.openxmlformats.org/presentationml/2006/ole">
            <mc:AlternateContent xmlns:mc="http://schemas.openxmlformats.org/markup-compatibility/2006">
              <mc:Choice xmlns:v="urn:schemas-microsoft-com:vml" Requires="v">
                <p:oleObj name="Equation" r:id="rId8" imgW="1803240" imgH="431640" progId="Equation.3">
                  <p:embed/>
                </p:oleObj>
              </mc:Choice>
              <mc:Fallback>
                <p:oleObj name="Equation" r:id="rId8" imgW="1803240" imgH="431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93850" y="3859213"/>
                        <a:ext cx="5303838"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7338" name="Object 10"/>
          <p:cNvGraphicFramePr>
            <a:graphicFrameLocks noChangeAspect="1"/>
          </p:cNvGraphicFramePr>
          <p:nvPr/>
        </p:nvGraphicFramePr>
        <p:xfrm>
          <a:off x="2173288" y="5002213"/>
          <a:ext cx="4186237" cy="1143000"/>
        </p:xfrm>
        <a:graphic>
          <a:graphicData uri="http://schemas.openxmlformats.org/presentationml/2006/ole">
            <mc:AlternateContent xmlns:mc="http://schemas.openxmlformats.org/markup-compatibility/2006">
              <mc:Choice xmlns:v="urn:schemas-microsoft-com:vml" Requires="v">
                <p:oleObj name="Equation" r:id="rId10" imgW="1828800" imgH="431640" progId="Equation.3">
                  <p:embed/>
                </p:oleObj>
              </mc:Choice>
              <mc:Fallback>
                <p:oleObj name="Equation" r:id="rId10" imgW="1828800" imgH="431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3288" y="5002213"/>
                        <a:ext cx="418623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96788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406E6B09-563C-49B7-B2F2-81C80B40D7FC}" type="slidenum">
              <a:rPr lang="zh-CN" altLang="en-US"/>
              <a:pPr/>
              <a:t>47</a:t>
            </a:fld>
            <a:endParaRPr lang="en-US" altLang="zh-CN"/>
          </a:p>
        </p:txBody>
      </p:sp>
      <p:sp>
        <p:nvSpPr>
          <p:cNvPr id="8" name="日期占位符 4"/>
          <p:cNvSpPr>
            <a:spLocks noGrp="1"/>
          </p:cNvSpPr>
          <p:nvPr>
            <p:ph type="dt" sz="half" idx="11"/>
          </p:nvPr>
        </p:nvSpPr>
        <p:spPr/>
        <p:txBody>
          <a:bodyPr/>
          <a:lstStyle/>
          <a:p>
            <a:fld id="{B0C202D4-5EB3-4565-AC4F-8FDD2BEED90F}" type="datetime1">
              <a:rPr lang="zh-CN" altLang="en-US"/>
              <a:pPr/>
              <a:t>2024/11/18</a:t>
            </a:fld>
            <a:endParaRPr lang="en-US" altLang="zh-CN" sz="1000"/>
          </a:p>
        </p:txBody>
      </p:sp>
      <p:sp>
        <p:nvSpPr>
          <p:cNvPr id="869378" name="Rectangle 2"/>
          <p:cNvSpPr>
            <a:spLocks noGrp="1" noChangeArrowheads="1"/>
          </p:cNvSpPr>
          <p:nvPr>
            <p:ph type="title"/>
          </p:nvPr>
        </p:nvSpPr>
        <p:spPr>
          <a:xfrm>
            <a:off x="650875" y="311150"/>
            <a:ext cx="8820150" cy="603250"/>
          </a:xfrm>
        </p:spPr>
        <p:txBody>
          <a:bodyPr/>
          <a:lstStyle/>
          <a:p>
            <a:r>
              <a:rPr lang="zh-CN" altLang="en-US" sz="4400"/>
              <a:t>§5  插值公式的唯一性及其应用</a:t>
            </a:r>
          </a:p>
        </p:txBody>
      </p:sp>
      <p:sp>
        <p:nvSpPr>
          <p:cNvPr id="869379" name="Rectangle 3"/>
          <p:cNvSpPr>
            <a:spLocks noGrp="1" noChangeArrowheads="1"/>
          </p:cNvSpPr>
          <p:nvPr>
            <p:ph type="body" idx="1"/>
          </p:nvPr>
        </p:nvSpPr>
        <p:spPr>
          <a:xfrm>
            <a:off x="631825" y="1196975"/>
            <a:ext cx="8820150" cy="3968750"/>
          </a:xfrm>
        </p:spPr>
        <p:txBody>
          <a:bodyPr/>
          <a:lstStyle/>
          <a:p>
            <a:r>
              <a:rPr lang="zh-CN" altLang="en-US"/>
              <a:t>插值公式的唯一性</a:t>
            </a:r>
          </a:p>
          <a:p>
            <a:pPr lvl="1"/>
            <a:r>
              <a:rPr lang="zh-CN" altLang="en-US"/>
              <a:t>若插值节点相同，则插值公式是唯一的插值计算中的误差</a:t>
            </a:r>
          </a:p>
          <a:p>
            <a:pPr lvl="1"/>
            <a:r>
              <a:rPr lang="zh-CN" altLang="en-US"/>
              <a:t>(1) 插值公式截断误差的估计</a:t>
            </a:r>
          </a:p>
          <a:p>
            <a:pPr lvl="1"/>
            <a:endParaRPr lang="zh-CN" altLang="en-US"/>
          </a:p>
          <a:p>
            <a:pPr lvl="1"/>
            <a:endParaRPr lang="zh-CN" altLang="en-US"/>
          </a:p>
          <a:p>
            <a:pPr lvl="1"/>
            <a:endParaRPr lang="zh-CN" altLang="en-US"/>
          </a:p>
          <a:p>
            <a:pPr lvl="1"/>
            <a:r>
              <a:rPr lang="zh-CN" altLang="en-US"/>
              <a:t>(2) 插值计算中的舍入误差</a:t>
            </a:r>
            <a:r>
              <a:rPr lang="en-US" altLang="zh-CN"/>
              <a:t>(</a:t>
            </a:r>
            <a:r>
              <a:rPr lang="zh-CN" altLang="en-US"/>
              <a:t>拉格朗日插值公式</a:t>
            </a:r>
            <a:r>
              <a:rPr lang="en-US" altLang="zh-CN"/>
              <a:t>)</a:t>
            </a:r>
          </a:p>
        </p:txBody>
      </p:sp>
      <p:graphicFrame>
        <p:nvGraphicFramePr>
          <p:cNvPr id="869380" name="Object 4"/>
          <p:cNvGraphicFramePr>
            <a:graphicFrameLocks noChangeAspect="1"/>
          </p:cNvGraphicFramePr>
          <p:nvPr/>
        </p:nvGraphicFramePr>
        <p:xfrm>
          <a:off x="1039813" y="3200400"/>
          <a:ext cx="6934200" cy="609600"/>
        </p:xfrm>
        <a:graphic>
          <a:graphicData uri="http://schemas.openxmlformats.org/presentationml/2006/ole">
            <mc:AlternateContent xmlns:mc="http://schemas.openxmlformats.org/markup-compatibility/2006">
              <mc:Choice xmlns:v="urn:schemas-microsoft-com:vml" Requires="v">
                <p:oleObj name="Equation" r:id="rId2" imgW="3251160" imgH="228600" progId="Equation.3">
                  <p:embed/>
                </p:oleObj>
              </mc:Choice>
              <mc:Fallback>
                <p:oleObj name="Equation" r:id="rId2" imgW="325116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3200400"/>
                        <a:ext cx="6934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9381" name="Object 5"/>
          <p:cNvGraphicFramePr>
            <a:graphicFrameLocks noChangeAspect="1"/>
          </p:cNvGraphicFramePr>
          <p:nvPr/>
        </p:nvGraphicFramePr>
        <p:xfrm>
          <a:off x="1878013" y="3733800"/>
          <a:ext cx="4876800" cy="990600"/>
        </p:xfrm>
        <a:graphic>
          <a:graphicData uri="http://schemas.openxmlformats.org/presentationml/2006/ole">
            <mc:AlternateContent xmlns:mc="http://schemas.openxmlformats.org/markup-compatibility/2006">
              <mc:Choice xmlns:v="urn:schemas-microsoft-com:vml" Requires="v">
                <p:oleObj name="Equation" r:id="rId4" imgW="2425680" imgH="444240" progId="Equation.3">
                  <p:embed/>
                </p:oleObj>
              </mc:Choice>
              <mc:Fallback>
                <p:oleObj name="Equation" r:id="rId4" imgW="242568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8013" y="3733800"/>
                        <a:ext cx="4876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9383" name="Object 7"/>
          <p:cNvGraphicFramePr>
            <a:graphicFrameLocks noChangeAspect="1"/>
          </p:cNvGraphicFramePr>
          <p:nvPr/>
        </p:nvGraphicFramePr>
        <p:xfrm>
          <a:off x="2182813" y="5105400"/>
          <a:ext cx="4889500" cy="1143000"/>
        </p:xfrm>
        <a:graphic>
          <a:graphicData uri="http://schemas.openxmlformats.org/presentationml/2006/ole">
            <mc:AlternateContent xmlns:mc="http://schemas.openxmlformats.org/markup-compatibility/2006">
              <mc:Choice xmlns:v="urn:schemas-microsoft-com:vml" Requires="v">
                <p:oleObj name="Equation" r:id="rId6" imgW="1955520" imgH="431640" progId="Equation.3">
                  <p:embed/>
                </p:oleObj>
              </mc:Choice>
              <mc:Fallback>
                <p:oleObj name="Equation" r:id="rId6" imgW="195552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2813" y="5105400"/>
                        <a:ext cx="48895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10125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0"/>
          </p:nvPr>
        </p:nvSpPr>
        <p:spPr/>
        <p:txBody>
          <a:bodyPr/>
          <a:lstStyle/>
          <a:p>
            <a:fld id="{1D5ED958-E087-453A-A6BA-54699CF018DC}" type="slidenum">
              <a:rPr lang="zh-CN" altLang="en-US"/>
              <a:pPr/>
              <a:t>48</a:t>
            </a:fld>
            <a:endParaRPr lang="en-US" altLang="zh-CN"/>
          </a:p>
        </p:txBody>
      </p:sp>
      <p:sp>
        <p:nvSpPr>
          <p:cNvPr id="20" name="日期占位符 4"/>
          <p:cNvSpPr>
            <a:spLocks noGrp="1"/>
          </p:cNvSpPr>
          <p:nvPr>
            <p:ph type="dt" sz="half" idx="11"/>
          </p:nvPr>
        </p:nvSpPr>
        <p:spPr/>
        <p:txBody>
          <a:bodyPr/>
          <a:lstStyle/>
          <a:p>
            <a:fld id="{D5223CCD-01FC-4653-B42D-256E61D27982}" type="datetime1">
              <a:rPr lang="zh-CN" altLang="en-US"/>
              <a:pPr/>
              <a:t>2024/11/18</a:t>
            </a:fld>
            <a:endParaRPr lang="en-US" altLang="zh-CN" sz="1000"/>
          </a:p>
        </p:txBody>
      </p:sp>
      <p:sp>
        <p:nvSpPr>
          <p:cNvPr id="870402" name="Rectangle 2"/>
          <p:cNvSpPr>
            <a:spLocks noGrp="1" noChangeArrowheads="1"/>
          </p:cNvSpPr>
          <p:nvPr>
            <p:ph type="title"/>
          </p:nvPr>
        </p:nvSpPr>
        <p:spPr/>
        <p:txBody>
          <a:bodyPr/>
          <a:lstStyle/>
          <a:p>
            <a:r>
              <a:rPr lang="zh-CN" altLang="en-US"/>
              <a:t>§6 反插值</a:t>
            </a:r>
          </a:p>
        </p:txBody>
      </p:sp>
      <p:sp>
        <p:nvSpPr>
          <p:cNvPr id="870403" name="Rectangle 3"/>
          <p:cNvSpPr>
            <a:spLocks noGrp="1" noChangeArrowheads="1"/>
          </p:cNvSpPr>
          <p:nvPr>
            <p:ph type="body" idx="1"/>
          </p:nvPr>
        </p:nvSpPr>
        <p:spPr>
          <a:xfrm>
            <a:off x="650875" y="1143000"/>
            <a:ext cx="8820150" cy="917575"/>
          </a:xfrm>
        </p:spPr>
        <p:txBody>
          <a:bodyPr/>
          <a:lstStyle/>
          <a:p>
            <a:r>
              <a:rPr lang="en-US" altLang="zh-CN"/>
              <a:t>1.</a:t>
            </a:r>
            <a:r>
              <a:rPr lang="zh-CN" altLang="en-US"/>
              <a:t>使用反函数的插值法</a:t>
            </a:r>
          </a:p>
          <a:p>
            <a:endParaRPr lang="zh-CN" altLang="en-US"/>
          </a:p>
        </p:txBody>
      </p:sp>
      <p:grpSp>
        <p:nvGrpSpPr>
          <p:cNvPr id="870404" name="Group 4"/>
          <p:cNvGrpSpPr>
            <a:grpSpLocks/>
          </p:cNvGrpSpPr>
          <p:nvPr/>
        </p:nvGrpSpPr>
        <p:grpSpPr bwMode="auto">
          <a:xfrm>
            <a:off x="609600" y="1600200"/>
            <a:ext cx="2971800" cy="1143000"/>
            <a:chOff x="144" y="1776"/>
            <a:chExt cx="1872" cy="720"/>
          </a:xfrm>
        </p:grpSpPr>
        <p:sp>
          <p:nvSpPr>
            <p:cNvPr id="870405" name="Rectangle 5"/>
            <p:cNvSpPr>
              <a:spLocks noChangeArrowheads="1"/>
            </p:cNvSpPr>
            <p:nvPr/>
          </p:nvSpPr>
          <p:spPr bwMode="auto">
            <a:xfrm>
              <a:off x="192" y="1776"/>
              <a:ext cx="176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x     x</a:t>
              </a:r>
              <a:r>
                <a:rPr lang="en-US" altLang="zh-CN" baseline="-25000"/>
                <a:t>0</a:t>
              </a:r>
              <a:r>
                <a:rPr lang="en-US" altLang="zh-CN" i="1"/>
                <a:t>  x</a:t>
              </a:r>
              <a:r>
                <a:rPr lang="en-US" altLang="zh-CN" baseline="-25000"/>
                <a:t>1</a:t>
              </a:r>
              <a:r>
                <a:rPr lang="en-US" altLang="zh-CN" i="1"/>
                <a:t> … x</a:t>
              </a:r>
              <a:r>
                <a:rPr lang="en-US" altLang="zh-CN" baseline="-25000"/>
                <a:t>n </a:t>
              </a:r>
              <a:endParaRPr lang="zh-CN" altLang="en-US" baseline="-25000"/>
            </a:p>
          </p:txBody>
        </p:sp>
        <p:sp>
          <p:nvSpPr>
            <p:cNvPr id="870406" name="Rectangle 6"/>
            <p:cNvSpPr>
              <a:spLocks noChangeArrowheads="1"/>
            </p:cNvSpPr>
            <p:nvPr/>
          </p:nvSpPr>
          <p:spPr bwMode="auto">
            <a:xfrm>
              <a:off x="202" y="2112"/>
              <a:ext cx="170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y     y</a:t>
              </a:r>
              <a:r>
                <a:rPr lang="en-US" altLang="zh-CN" baseline="-25000"/>
                <a:t>0</a:t>
              </a:r>
              <a:r>
                <a:rPr lang="en-US" altLang="zh-CN" i="1"/>
                <a:t>  y</a:t>
              </a:r>
              <a:r>
                <a:rPr lang="en-US" altLang="zh-CN" baseline="-25000"/>
                <a:t>1</a:t>
              </a:r>
              <a:r>
                <a:rPr lang="en-US" altLang="zh-CN" i="1"/>
                <a:t> … y</a:t>
              </a:r>
              <a:r>
                <a:rPr lang="en-US" altLang="zh-CN" baseline="-25000"/>
                <a:t>n </a:t>
              </a:r>
              <a:endParaRPr lang="zh-CN" altLang="en-US" baseline="-25000"/>
            </a:p>
          </p:txBody>
        </p:sp>
        <p:sp>
          <p:nvSpPr>
            <p:cNvPr id="870407" name="Line 7"/>
            <p:cNvSpPr>
              <a:spLocks noChangeShapeType="1"/>
            </p:cNvSpPr>
            <p:nvPr/>
          </p:nvSpPr>
          <p:spPr bwMode="auto">
            <a:xfrm>
              <a:off x="144" y="2160"/>
              <a:ext cx="18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408" name="Line 8"/>
            <p:cNvSpPr>
              <a:spLocks noChangeShapeType="1"/>
            </p:cNvSpPr>
            <p:nvPr/>
          </p:nvSpPr>
          <p:spPr bwMode="auto">
            <a:xfrm>
              <a:off x="528" y="182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70409" name="AutoShape 9"/>
          <p:cNvSpPr>
            <a:spLocks noChangeArrowheads="1"/>
          </p:cNvSpPr>
          <p:nvPr/>
        </p:nvSpPr>
        <p:spPr bwMode="auto">
          <a:xfrm>
            <a:off x="4114800" y="1981200"/>
            <a:ext cx="838200" cy="685800"/>
          </a:xfrm>
          <a:prstGeom prst="rightArrow">
            <a:avLst>
              <a:gd name="adj1" fmla="val 50000"/>
              <a:gd name="adj2" fmla="val 30556"/>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410" name="Group 10"/>
          <p:cNvGrpSpPr>
            <a:grpSpLocks/>
          </p:cNvGrpSpPr>
          <p:nvPr/>
        </p:nvGrpSpPr>
        <p:grpSpPr bwMode="auto">
          <a:xfrm>
            <a:off x="5410200" y="1600200"/>
            <a:ext cx="2971800" cy="1143000"/>
            <a:chOff x="144" y="1776"/>
            <a:chExt cx="1872" cy="720"/>
          </a:xfrm>
        </p:grpSpPr>
        <p:sp>
          <p:nvSpPr>
            <p:cNvPr id="870411" name="Rectangle 11"/>
            <p:cNvSpPr>
              <a:spLocks noChangeArrowheads="1"/>
            </p:cNvSpPr>
            <p:nvPr/>
          </p:nvSpPr>
          <p:spPr bwMode="auto">
            <a:xfrm>
              <a:off x="192" y="1776"/>
              <a:ext cx="170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y     y</a:t>
              </a:r>
              <a:r>
                <a:rPr lang="en-US" altLang="zh-CN" baseline="-25000"/>
                <a:t>0</a:t>
              </a:r>
              <a:r>
                <a:rPr lang="en-US" altLang="zh-CN" i="1"/>
                <a:t>  y</a:t>
              </a:r>
              <a:r>
                <a:rPr lang="en-US" altLang="zh-CN" baseline="-25000"/>
                <a:t>1</a:t>
              </a:r>
              <a:r>
                <a:rPr lang="en-US" altLang="zh-CN" i="1"/>
                <a:t> … y</a:t>
              </a:r>
              <a:r>
                <a:rPr lang="en-US" altLang="zh-CN" baseline="-25000"/>
                <a:t>n </a:t>
              </a:r>
              <a:endParaRPr lang="zh-CN" altLang="en-US" baseline="-25000"/>
            </a:p>
          </p:txBody>
        </p:sp>
        <p:sp>
          <p:nvSpPr>
            <p:cNvPr id="870412" name="Rectangle 12"/>
            <p:cNvSpPr>
              <a:spLocks noChangeArrowheads="1"/>
            </p:cNvSpPr>
            <p:nvPr/>
          </p:nvSpPr>
          <p:spPr bwMode="auto">
            <a:xfrm>
              <a:off x="202" y="2112"/>
              <a:ext cx="176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x     x</a:t>
              </a:r>
              <a:r>
                <a:rPr lang="en-US" altLang="zh-CN" baseline="-25000"/>
                <a:t>0</a:t>
              </a:r>
              <a:r>
                <a:rPr lang="en-US" altLang="zh-CN" i="1"/>
                <a:t>  x</a:t>
              </a:r>
              <a:r>
                <a:rPr lang="en-US" altLang="zh-CN" baseline="-25000"/>
                <a:t>1</a:t>
              </a:r>
              <a:r>
                <a:rPr lang="en-US" altLang="zh-CN" i="1"/>
                <a:t> … x</a:t>
              </a:r>
              <a:r>
                <a:rPr lang="en-US" altLang="zh-CN" baseline="-25000"/>
                <a:t>n </a:t>
              </a:r>
              <a:endParaRPr lang="zh-CN" altLang="en-US" baseline="-25000"/>
            </a:p>
          </p:txBody>
        </p:sp>
        <p:sp>
          <p:nvSpPr>
            <p:cNvPr id="870413" name="Line 13"/>
            <p:cNvSpPr>
              <a:spLocks noChangeShapeType="1"/>
            </p:cNvSpPr>
            <p:nvPr/>
          </p:nvSpPr>
          <p:spPr bwMode="auto">
            <a:xfrm>
              <a:off x="144" y="2160"/>
              <a:ext cx="18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414" name="Line 14"/>
            <p:cNvSpPr>
              <a:spLocks noChangeShapeType="1"/>
            </p:cNvSpPr>
            <p:nvPr/>
          </p:nvSpPr>
          <p:spPr bwMode="auto">
            <a:xfrm>
              <a:off x="528" y="182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870415" name="Object 15"/>
          <p:cNvGraphicFramePr>
            <a:graphicFrameLocks noChangeAspect="1"/>
          </p:cNvGraphicFramePr>
          <p:nvPr/>
        </p:nvGraphicFramePr>
        <p:xfrm>
          <a:off x="1373188" y="2819400"/>
          <a:ext cx="6765925" cy="1122363"/>
        </p:xfrm>
        <a:graphic>
          <a:graphicData uri="http://schemas.openxmlformats.org/presentationml/2006/ole">
            <mc:AlternateContent xmlns:mc="http://schemas.openxmlformats.org/markup-compatibility/2006">
              <mc:Choice xmlns:v="urn:schemas-microsoft-com:vml" Requires="v">
                <p:oleObj name="Equation" r:id="rId2" imgW="2971800" imgH="444240" progId="Equation.3">
                  <p:embed/>
                </p:oleObj>
              </mc:Choice>
              <mc:Fallback>
                <p:oleObj name="Equation" r:id="rId2" imgW="297180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188" y="2819400"/>
                        <a:ext cx="6765925"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16" name="AutoShape 16"/>
          <p:cNvSpPr>
            <a:spLocks noChangeArrowheads="1"/>
          </p:cNvSpPr>
          <p:nvPr/>
        </p:nvSpPr>
        <p:spPr bwMode="auto">
          <a:xfrm>
            <a:off x="990600" y="4038600"/>
            <a:ext cx="685800" cy="685800"/>
          </a:xfrm>
          <a:prstGeom prst="rightArrow">
            <a:avLst>
              <a:gd name="adj1" fmla="val 50000"/>
              <a:gd name="adj2" fmla="val 37500"/>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0417" name="Object 17"/>
          <p:cNvGraphicFramePr>
            <a:graphicFrameLocks noChangeAspect="1"/>
          </p:cNvGraphicFramePr>
          <p:nvPr/>
        </p:nvGraphicFramePr>
        <p:xfrm>
          <a:off x="1828800" y="3886200"/>
          <a:ext cx="5551488" cy="1122363"/>
        </p:xfrm>
        <a:graphic>
          <a:graphicData uri="http://schemas.openxmlformats.org/presentationml/2006/ole">
            <mc:AlternateContent xmlns:mc="http://schemas.openxmlformats.org/markup-compatibility/2006">
              <mc:Choice xmlns:v="urn:schemas-microsoft-com:vml" Requires="v">
                <p:oleObj name="Equation" r:id="rId4" imgW="2438280" imgH="444240" progId="Equation.3">
                  <p:embed/>
                </p:oleObj>
              </mc:Choice>
              <mc:Fallback>
                <p:oleObj name="Equation" r:id="rId4" imgW="243828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3886200"/>
                        <a:ext cx="5551488" cy="112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18" name="Rectangle 18"/>
          <p:cNvSpPr>
            <a:spLocks noChangeArrowheads="1"/>
          </p:cNvSpPr>
          <p:nvPr/>
        </p:nvSpPr>
        <p:spPr bwMode="auto">
          <a:xfrm>
            <a:off x="560388" y="5373688"/>
            <a:ext cx="8280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r>
              <a:rPr lang="en-US" altLang="zh-CN" sz="2800">
                <a:latin typeface="黑体" pitchFamily="49" charset="-122"/>
                <a:ea typeface="黑体" pitchFamily="49" charset="-122"/>
              </a:rPr>
              <a:t>2.</a:t>
            </a:r>
            <a:r>
              <a:rPr lang="zh-CN" altLang="en-US" sz="2800">
                <a:latin typeface="黑体" pitchFamily="49" charset="-122"/>
                <a:ea typeface="黑体" pitchFamily="49" charset="-122"/>
              </a:rPr>
              <a:t>利用正函数插值公式的反插值法</a:t>
            </a:r>
          </a:p>
          <a:p>
            <a:pPr lvl="1" algn="l">
              <a:buFontTx/>
              <a:buChar char="•"/>
            </a:pPr>
            <a:r>
              <a:rPr lang="zh-CN" altLang="en-US" sz="2800">
                <a:latin typeface="黑体" pitchFamily="49" charset="-122"/>
                <a:ea typeface="黑体" pitchFamily="49" charset="-122"/>
              </a:rPr>
              <a:t>从正插值函数中推出迭代公式</a:t>
            </a:r>
          </a:p>
        </p:txBody>
      </p:sp>
    </p:spTree>
    <p:extLst>
      <p:ext uri="{BB962C8B-B14F-4D97-AF65-F5344CB8AC3E}">
        <p14:creationId xmlns:p14="http://schemas.microsoft.com/office/powerpoint/2010/main" val="851923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fld id="{2E3442C8-40F0-44BD-AF60-8344D3B3DEF3}" type="slidenum">
              <a:rPr lang="zh-CN" altLang="en-US"/>
              <a:pPr/>
              <a:t>49</a:t>
            </a:fld>
            <a:endParaRPr lang="en-US" altLang="zh-CN"/>
          </a:p>
        </p:txBody>
      </p:sp>
      <p:sp>
        <p:nvSpPr>
          <p:cNvPr id="11" name="日期占位符 4"/>
          <p:cNvSpPr>
            <a:spLocks noGrp="1"/>
          </p:cNvSpPr>
          <p:nvPr>
            <p:ph type="dt" sz="half" idx="11"/>
          </p:nvPr>
        </p:nvSpPr>
        <p:spPr/>
        <p:txBody>
          <a:bodyPr/>
          <a:lstStyle/>
          <a:p>
            <a:fld id="{512667AE-3962-4DB5-945D-96C253944E00}" type="datetime1">
              <a:rPr lang="zh-CN" altLang="en-US"/>
              <a:pPr/>
              <a:t>2024/11/18</a:t>
            </a:fld>
            <a:endParaRPr lang="en-US" altLang="zh-CN" sz="1000"/>
          </a:p>
        </p:txBody>
      </p:sp>
      <p:sp>
        <p:nvSpPr>
          <p:cNvPr id="944130" name="Rectangle 2"/>
          <p:cNvSpPr>
            <a:spLocks noGrp="1" noChangeArrowheads="1"/>
          </p:cNvSpPr>
          <p:nvPr>
            <p:ph type="title"/>
          </p:nvPr>
        </p:nvSpPr>
        <p:spPr/>
        <p:txBody>
          <a:bodyPr/>
          <a:lstStyle/>
          <a:p>
            <a:r>
              <a:rPr lang="en-US" altLang="zh-CN"/>
              <a:t>7.1 </a:t>
            </a:r>
            <a:r>
              <a:rPr lang="zh-CN" altLang="en-US"/>
              <a:t>牛顿型埃米特插值公式</a:t>
            </a:r>
          </a:p>
        </p:txBody>
      </p:sp>
      <p:sp>
        <p:nvSpPr>
          <p:cNvPr id="944131" name="Rectangle 3"/>
          <p:cNvSpPr>
            <a:spLocks noGrp="1" noChangeArrowheads="1"/>
          </p:cNvSpPr>
          <p:nvPr>
            <p:ph type="body" idx="1"/>
          </p:nvPr>
        </p:nvSpPr>
        <p:spPr>
          <a:xfrm>
            <a:off x="650875" y="1143000"/>
            <a:ext cx="8820150" cy="384175"/>
          </a:xfrm>
        </p:spPr>
        <p:txBody>
          <a:bodyPr/>
          <a:lstStyle/>
          <a:p>
            <a:r>
              <a:rPr lang="zh-CN" altLang="en-US"/>
              <a:t>根据差商和导数的关系：</a:t>
            </a:r>
          </a:p>
        </p:txBody>
      </p:sp>
      <p:graphicFrame>
        <p:nvGraphicFramePr>
          <p:cNvPr id="944132" name="Object 4"/>
          <p:cNvGraphicFramePr>
            <a:graphicFrameLocks noChangeAspect="1"/>
          </p:cNvGraphicFramePr>
          <p:nvPr/>
        </p:nvGraphicFramePr>
        <p:xfrm>
          <a:off x="5889625" y="1052513"/>
          <a:ext cx="3735388" cy="1057275"/>
        </p:xfrm>
        <a:graphic>
          <a:graphicData uri="http://schemas.openxmlformats.org/presentationml/2006/ole">
            <mc:AlternateContent xmlns:mc="http://schemas.openxmlformats.org/markup-compatibility/2006">
              <mc:Choice xmlns:v="urn:schemas-microsoft-com:vml" Requires="v">
                <p:oleObj name="Equation" r:id="rId3" imgW="1600200" imgH="419040" progId="Equation.DSMT4">
                  <p:embed/>
                </p:oleObj>
              </mc:Choice>
              <mc:Fallback>
                <p:oleObj name="Equation" r:id="rId3" imgW="16002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625" y="1052513"/>
                        <a:ext cx="3735388"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44135" name="Group 7"/>
          <p:cNvGrpSpPr>
            <a:grpSpLocks/>
          </p:cNvGrpSpPr>
          <p:nvPr/>
        </p:nvGrpSpPr>
        <p:grpSpPr bwMode="auto">
          <a:xfrm>
            <a:off x="1136650" y="1412875"/>
            <a:ext cx="4376738" cy="1816100"/>
            <a:chOff x="0" y="1560"/>
            <a:chExt cx="2757" cy="1144"/>
          </a:xfrm>
        </p:grpSpPr>
        <p:graphicFrame>
          <p:nvGraphicFramePr>
            <p:cNvPr id="944136" name="Object 8"/>
            <p:cNvGraphicFramePr>
              <a:graphicFrameLocks noChangeAspect="1"/>
            </p:cNvGraphicFramePr>
            <p:nvPr/>
          </p:nvGraphicFramePr>
          <p:xfrm>
            <a:off x="0" y="1560"/>
            <a:ext cx="2757" cy="713"/>
          </p:xfrm>
          <a:graphic>
            <a:graphicData uri="http://schemas.openxmlformats.org/presentationml/2006/ole">
              <mc:AlternateContent xmlns:mc="http://schemas.openxmlformats.org/markup-compatibility/2006">
                <mc:Choice xmlns:v="urn:schemas-microsoft-com:vml" Requires="v">
                  <p:oleObj name="公式" r:id="rId5" imgW="1726920" imgH="419040" progId="Equation.3">
                    <p:embed/>
                  </p:oleObj>
                </mc:Choice>
                <mc:Fallback>
                  <p:oleObj name="公式" r:id="rId5" imgW="1726920" imgH="419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560"/>
                          <a:ext cx="2757" cy="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4137" name="Text Box 9"/>
            <p:cNvSpPr txBox="1">
              <a:spLocks noChangeArrowheads="1"/>
            </p:cNvSpPr>
            <p:nvPr/>
          </p:nvSpPr>
          <p:spPr bwMode="auto">
            <a:xfrm>
              <a:off x="454" y="2377"/>
              <a:ext cx="12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pPr>
              <a:r>
                <a:rPr lang="en-US" altLang="zh-CN" sz="2800" b="0">
                  <a:latin typeface="Arial" pitchFamily="34" charset="0"/>
                </a:rPr>
                <a:t>n+1</a:t>
              </a:r>
              <a:r>
                <a:rPr lang="zh-CN" altLang="en-US" sz="2800" b="0">
                  <a:latin typeface="Arial" pitchFamily="34" charset="0"/>
                </a:rPr>
                <a:t>个</a:t>
              </a:r>
              <a:r>
                <a:rPr lang="en-US" altLang="zh-CN" sz="2800" b="0">
                  <a:latin typeface="Arial" pitchFamily="34" charset="0"/>
                </a:rPr>
                <a:t>x</a:t>
              </a:r>
              <a:r>
                <a:rPr lang="en-US" altLang="zh-CN" sz="2800" b="0" baseline="-25000">
                  <a:latin typeface="Arial" pitchFamily="34" charset="0"/>
                </a:rPr>
                <a:t>0</a:t>
              </a:r>
              <a:r>
                <a:rPr lang="en-US" altLang="zh-CN" sz="2800" b="0">
                  <a:latin typeface="Arial" pitchFamily="34" charset="0"/>
                </a:rPr>
                <a:t> </a:t>
              </a:r>
            </a:p>
          </p:txBody>
        </p:sp>
        <p:sp>
          <p:nvSpPr>
            <p:cNvPr id="944138" name="AutoShape 10"/>
            <p:cNvSpPr>
              <a:spLocks/>
            </p:cNvSpPr>
            <p:nvPr/>
          </p:nvSpPr>
          <p:spPr bwMode="auto">
            <a:xfrm rot="16200000" flipV="1">
              <a:off x="850" y="1799"/>
              <a:ext cx="159" cy="861"/>
            </a:xfrm>
            <a:prstGeom prst="leftBrace">
              <a:avLst>
                <a:gd name="adj1" fmla="val 4512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944139" name="Object 11"/>
          <p:cNvGraphicFramePr>
            <a:graphicFrameLocks noChangeAspect="1"/>
          </p:cNvGraphicFramePr>
          <p:nvPr/>
        </p:nvGraphicFramePr>
        <p:xfrm>
          <a:off x="3152775" y="3141663"/>
          <a:ext cx="5962650" cy="3429000"/>
        </p:xfrm>
        <a:graphic>
          <a:graphicData uri="http://schemas.openxmlformats.org/presentationml/2006/ole">
            <mc:AlternateContent xmlns:mc="http://schemas.openxmlformats.org/markup-compatibility/2006">
              <mc:Choice xmlns:v="urn:schemas-microsoft-com:vml" Requires="v">
                <p:oleObj name="公式" r:id="rId7" imgW="2577960" imgH="1346040" progId="Equation.3">
                  <p:embed/>
                </p:oleObj>
              </mc:Choice>
              <mc:Fallback>
                <p:oleObj name="公式" r:id="rId7" imgW="2577960" imgH="1346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2775" y="3141663"/>
                        <a:ext cx="596265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1001220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44135"/>
                                        </p:tgtEl>
                                        <p:attrNameLst>
                                          <p:attrName>style.visibility</p:attrName>
                                        </p:attrNameLst>
                                      </p:cBhvr>
                                      <p:to>
                                        <p:strVal val="visible"/>
                                      </p:to>
                                    </p:set>
                                    <p:anim calcmode="lin" valueType="num">
                                      <p:cBhvr additive="base">
                                        <p:cTn id="7" dur="500" fill="hold"/>
                                        <p:tgtEl>
                                          <p:spTgt spid="944135"/>
                                        </p:tgtEl>
                                        <p:attrNameLst>
                                          <p:attrName>ppt_x</p:attrName>
                                        </p:attrNameLst>
                                      </p:cBhvr>
                                      <p:tavLst>
                                        <p:tav tm="0">
                                          <p:val>
                                            <p:strVal val="#ppt_x"/>
                                          </p:val>
                                        </p:tav>
                                        <p:tav tm="100000">
                                          <p:val>
                                            <p:strVal val="#ppt_x"/>
                                          </p:val>
                                        </p:tav>
                                      </p:tavLst>
                                    </p:anim>
                                    <p:anim calcmode="lin" valueType="num">
                                      <p:cBhvr additive="base">
                                        <p:cTn id="8" dur="500" fill="hold"/>
                                        <p:tgtEl>
                                          <p:spTgt spid="9441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44139"/>
                                        </p:tgtEl>
                                        <p:attrNameLst>
                                          <p:attrName>style.visibility</p:attrName>
                                        </p:attrNameLst>
                                      </p:cBhvr>
                                      <p:to>
                                        <p:strVal val="visible"/>
                                      </p:to>
                                    </p:set>
                                    <p:anim calcmode="lin" valueType="num">
                                      <p:cBhvr additive="base">
                                        <p:cTn id="13" dur="500" fill="hold"/>
                                        <p:tgtEl>
                                          <p:spTgt spid="944139"/>
                                        </p:tgtEl>
                                        <p:attrNameLst>
                                          <p:attrName>ppt_x</p:attrName>
                                        </p:attrNameLst>
                                      </p:cBhvr>
                                      <p:tavLst>
                                        <p:tav tm="0">
                                          <p:val>
                                            <p:strVal val="#ppt_x"/>
                                          </p:val>
                                        </p:tav>
                                        <p:tav tm="100000">
                                          <p:val>
                                            <p:strVal val="#ppt_x"/>
                                          </p:val>
                                        </p:tav>
                                      </p:tavLst>
                                    </p:anim>
                                    <p:anim calcmode="lin" valueType="num">
                                      <p:cBhvr additive="base">
                                        <p:cTn id="14" dur="500" fill="hold"/>
                                        <p:tgtEl>
                                          <p:spTgt spid="944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fld id="{FA9D060C-C1CD-45B5-BD54-1CD37D17A9A5}" type="slidenum">
              <a:rPr lang="zh-CN" altLang="en-US"/>
              <a:pPr/>
              <a:t>50</a:t>
            </a:fld>
            <a:endParaRPr lang="en-US" altLang="zh-CN"/>
          </a:p>
        </p:txBody>
      </p:sp>
      <p:sp>
        <p:nvSpPr>
          <p:cNvPr id="8" name="日期占位符 4"/>
          <p:cNvSpPr>
            <a:spLocks noGrp="1"/>
          </p:cNvSpPr>
          <p:nvPr>
            <p:ph type="dt" sz="half" idx="11"/>
          </p:nvPr>
        </p:nvSpPr>
        <p:spPr/>
        <p:txBody>
          <a:bodyPr/>
          <a:lstStyle/>
          <a:p>
            <a:fld id="{C10E50A1-FEF8-48AA-B671-10455D2D4B88}" type="datetime1">
              <a:rPr lang="zh-CN" altLang="en-US"/>
              <a:pPr/>
              <a:t>2024/11/18</a:t>
            </a:fld>
            <a:endParaRPr lang="en-US" altLang="zh-CN" sz="1000"/>
          </a:p>
        </p:txBody>
      </p:sp>
      <p:sp>
        <p:nvSpPr>
          <p:cNvPr id="939010" name="Rectangle 2"/>
          <p:cNvSpPr>
            <a:spLocks noGrp="1" noChangeArrowheads="1"/>
          </p:cNvSpPr>
          <p:nvPr>
            <p:ph type="title"/>
          </p:nvPr>
        </p:nvSpPr>
        <p:spPr/>
        <p:txBody>
          <a:bodyPr/>
          <a:lstStyle/>
          <a:p>
            <a:r>
              <a:rPr lang="en-US" altLang="zh-CN"/>
              <a:t>7.1 </a:t>
            </a:r>
            <a:r>
              <a:rPr lang="zh-CN" altLang="en-US"/>
              <a:t>牛顿型埃米特插值公式</a:t>
            </a:r>
          </a:p>
        </p:txBody>
      </p:sp>
      <p:sp>
        <p:nvSpPr>
          <p:cNvPr id="939011" name="Rectangle 3"/>
          <p:cNvSpPr>
            <a:spLocks noGrp="1" noChangeArrowheads="1"/>
          </p:cNvSpPr>
          <p:nvPr>
            <p:ph type="body" idx="1"/>
          </p:nvPr>
        </p:nvSpPr>
        <p:spPr>
          <a:xfrm>
            <a:off x="650875" y="1143000"/>
            <a:ext cx="8820150" cy="768350"/>
          </a:xfrm>
        </p:spPr>
        <p:txBody>
          <a:bodyPr/>
          <a:lstStyle/>
          <a:p>
            <a:r>
              <a:rPr lang="zh-CN" altLang="en-US"/>
              <a:t>将每一节点的个数增加到“导数</a:t>
            </a:r>
            <a:r>
              <a:rPr lang="en-US" altLang="zh-CN"/>
              <a:t>+1</a:t>
            </a:r>
            <a:r>
              <a:rPr lang="zh-CN" altLang="en-US"/>
              <a:t>”个后，问题可归结为在</a:t>
            </a:r>
            <a:r>
              <a:rPr lang="en-US" altLang="zh-CN"/>
              <a:t>m+1</a:t>
            </a:r>
            <a:r>
              <a:rPr lang="zh-CN" altLang="en-US"/>
              <a:t>个互异节点组上的插值问题：</a:t>
            </a:r>
            <a:endParaRPr lang="en-US" altLang="zh-CN"/>
          </a:p>
        </p:txBody>
      </p:sp>
      <p:graphicFrame>
        <p:nvGraphicFramePr>
          <p:cNvPr id="939012" name="Object 4"/>
          <p:cNvGraphicFramePr>
            <a:graphicFrameLocks noChangeAspect="1"/>
          </p:cNvGraphicFramePr>
          <p:nvPr/>
        </p:nvGraphicFramePr>
        <p:xfrm>
          <a:off x="1355725" y="1773238"/>
          <a:ext cx="7666038" cy="1627187"/>
        </p:xfrm>
        <a:graphic>
          <a:graphicData uri="http://schemas.openxmlformats.org/presentationml/2006/ole">
            <mc:AlternateContent xmlns:mc="http://schemas.openxmlformats.org/markup-compatibility/2006">
              <mc:Choice xmlns:v="urn:schemas-microsoft-com:vml" Requires="v">
                <p:oleObj name="公式" r:id="rId2" imgW="2692080" imgH="571320" progId="Equation.3">
                  <p:embed/>
                </p:oleObj>
              </mc:Choice>
              <mc:Fallback>
                <p:oleObj name="公式" r:id="rId2" imgW="2692080" imgH="57132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725" y="1773238"/>
                        <a:ext cx="7666038" cy="162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9013" name="Object 5"/>
          <p:cNvGraphicFramePr>
            <a:graphicFrameLocks noChangeAspect="1"/>
          </p:cNvGraphicFramePr>
          <p:nvPr/>
        </p:nvGraphicFramePr>
        <p:xfrm>
          <a:off x="225425" y="3403600"/>
          <a:ext cx="9426575" cy="3001963"/>
        </p:xfrm>
        <a:graphic>
          <a:graphicData uri="http://schemas.openxmlformats.org/presentationml/2006/ole">
            <mc:AlternateContent xmlns:mc="http://schemas.openxmlformats.org/markup-compatibility/2006">
              <mc:Choice xmlns:v="urn:schemas-microsoft-com:vml" Requires="v">
                <p:oleObj name="公式" r:id="rId4" imgW="3987720" imgH="1269720" progId="Equation.3">
                  <p:embed/>
                </p:oleObj>
              </mc:Choice>
              <mc:Fallback>
                <p:oleObj name="公式" r:id="rId4" imgW="3987720" imgH="12697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425" y="3403600"/>
                        <a:ext cx="9426575" cy="300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9014" name="Rectangle 6"/>
          <p:cNvSpPr>
            <a:spLocks noChangeArrowheads="1"/>
          </p:cNvSpPr>
          <p:nvPr/>
        </p:nvSpPr>
        <p:spPr bwMode="auto">
          <a:xfrm>
            <a:off x="200025" y="5805488"/>
            <a:ext cx="9290050" cy="576262"/>
          </a:xfrm>
          <a:prstGeom prst="rect">
            <a:avLst/>
          </a:prstGeom>
          <a:noFill/>
          <a:ln w="50800">
            <a:solidFill>
              <a:srgbClr val="FF0000"/>
            </a:solidFill>
            <a:prstDash val="dash"/>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2416195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灯片编号占位符 3"/>
          <p:cNvSpPr>
            <a:spLocks noGrp="1"/>
          </p:cNvSpPr>
          <p:nvPr>
            <p:ph type="sldNum" sz="quarter" idx="10"/>
          </p:nvPr>
        </p:nvSpPr>
        <p:spPr/>
        <p:txBody>
          <a:bodyPr/>
          <a:lstStyle/>
          <a:p>
            <a:fld id="{61576165-9FFC-4D83-B43C-476E4C484BA7}" type="slidenum">
              <a:rPr lang="zh-CN" altLang="en-US"/>
              <a:pPr/>
              <a:t>51</a:t>
            </a:fld>
            <a:endParaRPr lang="en-US" altLang="zh-CN"/>
          </a:p>
        </p:txBody>
      </p:sp>
      <p:sp>
        <p:nvSpPr>
          <p:cNvPr id="93" name="日期占位符 4"/>
          <p:cNvSpPr>
            <a:spLocks noGrp="1"/>
          </p:cNvSpPr>
          <p:nvPr>
            <p:ph type="dt" sz="half" idx="11"/>
          </p:nvPr>
        </p:nvSpPr>
        <p:spPr/>
        <p:txBody>
          <a:bodyPr/>
          <a:lstStyle/>
          <a:p>
            <a:fld id="{99A5D545-FDAC-4311-9990-BFCEB7525121}" type="datetime1">
              <a:rPr lang="zh-CN" altLang="en-US"/>
              <a:pPr/>
              <a:t>2024/11/18</a:t>
            </a:fld>
            <a:endParaRPr lang="en-US" altLang="zh-CN" sz="1000"/>
          </a:p>
        </p:txBody>
      </p:sp>
      <p:sp>
        <p:nvSpPr>
          <p:cNvPr id="945154" name="Rectangle 2"/>
          <p:cNvSpPr>
            <a:spLocks noGrp="1" noChangeArrowheads="1"/>
          </p:cNvSpPr>
          <p:nvPr>
            <p:ph type="title"/>
          </p:nvPr>
        </p:nvSpPr>
        <p:spPr/>
        <p:txBody>
          <a:bodyPr/>
          <a:lstStyle/>
          <a:p>
            <a:r>
              <a:rPr lang="en-US" altLang="zh-CN"/>
              <a:t>7.1 </a:t>
            </a:r>
            <a:r>
              <a:rPr lang="zh-CN" altLang="en-US"/>
              <a:t>牛顿型埃米特插值公式</a:t>
            </a:r>
          </a:p>
        </p:txBody>
      </p:sp>
      <p:graphicFrame>
        <p:nvGraphicFramePr>
          <p:cNvPr id="945258" name="Group 106"/>
          <p:cNvGraphicFramePr>
            <a:graphicFrameLocks noGrp="1"/>
          </p:cNvGraphicFramePr>
          <p:nvPr/>
        </p:nvGraphicFramePr>
        <p:xfrm>
          <a:off x="776288" y="908050"/>
          <a:ext cx="4105275" cy="1299020"/>
        </p:xfrm>
        <a:graphic>
          <a:graphicData uri="http://schemas.openxmlformats.org/drawingml/2006/table">
            <a:tbl>
              <a:tblPr/>
              <a:tblGrid>
                <a:gridCol w="1035050">
                  <a:extLst>
                    <a:ext uri="{9D8B030D-6E8A-4147-A177-3AD203B41FA5}">
                      <a16:colId xmlns:a16="http://schemas.microsoft.com/office/drawing/2014/main" val="20000"/>
                    </a:ext>
                  </a:extLst>
                </a:gridCol>
                <a:gridCol w="1017587">
                  <a:extLst>
                    <a:ext uri="{9D8B030D-6E8A-4147-A177-3AD203B41FA5}">
                      <a16:colId xmlns:a16="http://schemas.microsoft.com/office/drawing/2014/main" val="20001"/>
                    </a:ext>
                  </a:extLst>
                </a:gridCol>
                <a:gridCol w="1027113">
                  <a:extLst>
                    <a:ext uri="{9D8B030D-6E8A-4147-A177-3AD203B41FA5}">
                      <a16:colId xmlns:a16="http://schemas.microsoft.com/office/drawing/2014/main" val="20002"/>
                    </a:ext>
                  </a:extLst>
                </a:gridCol>
                <a:gridCol w="1025525">
                  <a:extLst>
                    <a:ext uri="{9D8B030D-6E8A-4147-A177-3AD203B41FA5}">
                      <a16:colId xmlns:a16="http://schemas.microsoft.com/office/drawing/2014/main" val="20003"/>
                    </a:ext>
                  </a:extLst>
                </a:gridCol>
              </a:tblGrid>
              <a:tr h="215900">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388">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945259" name="Group 107"/>
          <p:cNvGraphicFramePr>
            <a:graphicFrameLocks noGrp="1"/>
          </p:cNvGraphicFramePr>
          <p:nvPr/>
        </p:nvGraphicFramePr>
        <p:xfrm>
          <a:off x="415925" y="2276475"/>
          <a:ext cx="9201150" cy="3384550"/>
        </p:xfrm>
        <a:graphic>
          <a:graphicData uri="http://schemas.openxmlformats.org/drawingml/2006/table">
            <a:tbl>
              <a:tblPr/>
              <a:tblGrid>
                <a:gridCol w="593725">
                  <a:extLst>
                    <a:ext uri="{9D8B030D-6E8A-4147-A177-3AD203B41FA5}">
                      <a16:colId xmlns:a16="http://schemas.microsoft.com/office/drawing/2014/main" val="20000"/>
                    </a:ext>
                  </a:extLst>
                </a:gridCol>
                <a:gridCol w="611188">
                  <a:extLst>
                    <a:ext uri="{9D8B030D-6E8A-4147-A177-3AD203B41FA5}">
                      <a16:colId xmlns:a16="http://schemas.microsoft.com/office/drawing/2014/main" val="20001"/>
                    </a:ext>
                  </a:extLst>
                </a:gridCol>
                <a:gridCol w="2827337">
                  <a:extLst>
                    <a:ext uri="{9D8B030D-6E8A-4147-A177-3AD203B41FA5}">
                      <a16:colId xmlns:a16="http://schemas.microsoft.com/office/drawing/2014/main" val="20002"/>
                    </a:ext>
                  </a:extLst>
                </a:gridCol>
                <a:gridCol w="1784350">
                  <a:extLst>
                    <a:ext uri="{9D8B030D-6E8A-4147-A177-3AD203B41FA5}">
                      <a16:colId xmlns:a16="http://schemas.microsoft.com/office/drawing/2014/main" val="20003"/>
                    </a:ext>
                  </a:extLst>
                </a:gridCol>
                <a:gridCol w="1728788">
                  <a:extLst>
                    <a:ext uri="{9D8B030D-6E8A-4147-A177-3AD203B41FA5}">
                      <a16:colId xmlns:a16="http://schemas.microsoft.com/office/drawing/2014/main" val="20004"/>
                    </a:ext>
                  </a:extLst>
                </a:gridCol>
                <a:gridCol w="1655762">
                  <a:extLst>
                    <a:ext uri="{9D8B030D-6E8A-4147-A177-3AD203B41FA5}">
                      <a16:colId xmlns:a16="http://schemas.microsoft.com/office/drawing/2014/main" val="20005"/>
                    </a:ext>
                  </a:extLst>
                </a:gridCol>
              </a:tblGrid>
              <a:tr h="5461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一阶差商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二阶差商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三阶差商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四阶差商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83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88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8325">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800" b="1" i="0" u="none" strike="noStrike" cap="none" normalizeH="0" baseline="0">
                          <a:ln>
                            <a:noFill/>
                          </a:ln>
                          <a:solidFill>
                            <a:schemeClr val="tx1"/>
                          </a:solidFill>
                          <a:effectLst/>
                          <a:latin typeface="Times New Roman" pitchFamily="18" charset="0"/>
                          <a:ea typeface="黑体"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en-US" altLang="zh-CN"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1500">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8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945233" name="Object 81"/>
          <p:cNvGraphicFramePr>
            <a:graphicFrameLocks noChangeAspect="1"/>
          </p:cNvGraphicFramePr>
          <p:nvPr/>
        </p:nvGraphicFramePr>
        <p:xfrm>
          <a:off x="1568450" y="3140075"/>
          <a:ext cx="2808288" cy="2232025"/>
        </p:xfrm>
        <a:graphic>
          <a:graphicData uri="http://schemas.openxmlformats.org/presentationml/2006/ole">
            <mc:AlternateContent xmlns:mc="http://schemas.openxmlformats.org/markup-compatibility/2006">
              <mc:Choice xmlns:v="urn:schemas-microsoft-com:vml" Requires="v">
                <p:oleObj name="公式" r:id="rId2" imgW="1180800" imgH="1066680" progId="Equation.3">
                  <p:embed/>
                </p:oleObj>
              </mc:Choice>
              <mc:Fallback>
                <p:oleObj name="公式" r:id="rId2" imgW="1180800" imgH="10666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3140075"/>
                        <a:ext cx="2808288" cy="2232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5234" name="Text Box 82"/>
          <p:cNvSpPr txBox="1">
            <a:spLocks noChangeArrowheads="1"/>
          </p:cNvSpPr>
          <p:nvPr/>
        </p:nvSpPr>
        <p:spPr bwMode="auto">
          <a:xfrm>
            <a:off x="5081588" y="3284538"/>
            <a:ext cx="812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2800" b="0">
                <a:latin typeface="Arial" pitchFamily="34" charset="0"/>
              </a:rPr>
              <a:t>-2</a:t>
            </a:r>
          </a:p>
        </p:txBody>
      </p:sp>
      <p:sp>
        <p:nvSpPr>
          <p:cNvPr id="945235" name="Text Box 83"/>
          <p:cNvSpPr txBox="1">
            <a:spLocks noChangeArrowheads="1"/>
          </p:cNvSpPr>
          <p:nvPr/>
        </p:nvSpPr>
        <p:spPr bwMode="auto">
          <a:xfrm>
            <a:off x="5005388" y="4651375"/>
            <a:ext cx="811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2800">
                <a:solidFill>
                  <a:srgbClr val="FF0000"/>
                </a:solidFill>
                <a:latin typeface="Arial" pitchFamily="34" charset="0"/>
              </a:rPr>
              <a:t>3.5</a:t>
            </a:r>
          </a:p>
        </p:txBody>
      </p:sp>
      <p:sp>
        <p:nvSpPr>
          <p:cNvPr id="945236" name="Rectangle 84"/>
          <p:cNvSpPr>
            <a:spLocks noChangeArrowheads="1"/>
          </p:cNvSpPr>
          <p:nvPr/>
        </p:nvSpPr>
        <p:spPr bwMode="auto">
          <a:xfrm>
            <a:off x="6775450" y="3684588"/>
            <a:ext cx="3825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spcBef>
                <a:spcPct val="35000"/>
              </a:spcBef>
              <a:buClr>
                <a:srgbClr val="27305F"/>
              </a:buClr>
              <a:buSzPct val="60000"/>
              <a:buFont typeface="Wingdings" pitchFamily="2" charset="2"/>
              <a:buNone/>
            </a:pPr>
            <a:r>
              <a:rPr lang="en-US" altLang="zh-CN" sz="2800">
                <a:latin typeface="Arial" pitchFamily="34" charset="0"/>
              </a:rPr>
              <a:t>6</a:t>
            </a:r>
          </a:p>
        </p:txBody>
      </p:sp>
      <p:sp>
        <p:nvSpPr>
          <p:cNvPr id="945237" name="Rectangle 85"/>
          <p:cNvSpPr>
            <a:spLocks noChangeArrowheads="1"/>
          </p:cNvSpPr>
          <p:nvPr/>
        </p:nvSpPr>
        <p:spPr bwMode="auto">
          <a:xfrm>
            <a:off x="6608763" y="4349750"/>
            <a:ext cx="7985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latin typeface="Arial" pitchFamily="34" charset="0"/>
              </a:rPr>
              <a:t>-0.5</a:t>
            </a:r>
            <a:endParaRPr lang="zh-CN" altLang="en-US" sz="2800">
              <a:latin typeface="Arial" pitchFamily="34" charset="0"/>
            </a:endParaRPr>
          </a:p>
        </p:txBody>
      </p:sp>
      <p:sp>
        <p:nvSpPr>
          <p:cNvPr id="945238" name="Rectangle 86"/>
          <p:cNvSpPr>
            <a:spLocks noChangeArrowheads="1"/>
          </p:cNvSpPr>
          <p:nvPr/>
        </p:nvSpPr>
        <p:spPr bwMode="auto">
          <a:xfrm>
            <a:off x="5153025" y="4076700"/>
            <a:ext cx="382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latin typeface="Arial" pitchFamily="34" charset="0"/>
              </a:rPr>
              <a:t>4</a:t>
            </a:r>
            <a:endParaRPr lang="zh-CN" altLang="en-US" sz="2800">
              <a:latin typeface="Arial" pitchFamily="34" charset="0"/>
            </a:endParaRPr>
          </a:p>
        </p:txBody>
      </p:sp>
      <p:graphicFrame>
        <p:nvGraphicFramePr>
          <p:cNvPr id="945239" name="Object 87"/>
          <p:cNvGraphicFramePr>
            <a:graphicFrameLocks noChangeAspect="1"/>
          </p:cNvGraphicFramePr>
          <p:nvPr/>
        </p:nvGraphicFramePr>
        <p:xfrm>
          <a:off x="0" y="5661025"/>
          <a:ext cx="9906000" cy="993775"/>
        </p:xfrm>
        <a:graphic>
          <a:graphicData uri="http://schemas.openxmlformats.org/presentationml/2006/ole">
            <mc:AlternateContent xmlns:mc="http://schemas.openxmlformats.org/markup-compatibility/2006">
              <mc:Choice xmlns:v="urn:schemas-microsoft-com:vml" Requires="v">
                <p:oleObj name="公式" r:id="rId4" imgW="5194080" imgH="482400" progId="Equation.3">
                  <p:embed/>
                </p:oleObj>
              </mc:Choice>
              <mc:Fallback>
                <p:oleObj name="公式" r:id="rId4" imgW="519408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661025"/>
                        <a:ext cx="99060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5240" name="Line 88"/>
          <p:cNvSpPr>
            <a:spLocks noChangeShapeType="1"/>
          </p:cNvSpPr>
          <p:nvPr/>
        </p:nvSpPr>
        <p:spPr bwMode="auto">
          <a:xfrm>
            <a:off x="1136650" y="2706688"/>
            <a:ext cx="7418388" cy="1152525"/>
          </a:xfrm>
          <a:prstGeom prst="line">
            <a:avLst/>
          </a:prstGeom>
          <a:noFill/>
          <a:ln w="50800">
            <a:solidFill>
              <a:srgbClr val="FF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5242" name="Group 90"/>
          <p:cNvGrpSpPr>
            <a:grpSpLocks/>
          </p:cNvGrpSpPr>
          <p:nvPr/>
        </p:nvGrpSpPr>
        <p:grpSpPr bwMode="auto">
          <a:xfrm>
            <a:off x="5529263" y="549275"/>
            <a:ext cx="4376737" cy="1816100"/>
            <a:chOff x="0" y="1560"/>
            <a:chExt cx="2757" cy="1144"/>
          </a:xfrm>
        </p:grpSpPr>
        <p:graphicFrame>
          <p:nvGraphicFramePr>
            <p:cNvPr id="945243" name="Object 91"/>
            <p:cNvGraphicFramePr>
              <a:graphicFrameLocks noChangeAspect="1"/>
            </p:cNvGraphicFramePr>
            <p:nvPr/>
          </p:nvGraphicFramePr>
          <p:xfrm>
            <a:off x="0" y="1560"/>
            <a:ext cx="2757" cy="713"/>
          </p:xfrm>
          <a:graphic>
            <a:graphicData uri="http://schemas.openxmlformats.org/presentationml/2006/ole">
              <mc:AlternateContent xmlns:mc="http://schemas.openxmlformats.org/markup-compatibility/2006">
                <mc:Choice xmlns:v="urn:schemas-microsoft-com:vml" Requires="v">
                  <p:oleObj name="公式" r:id="rId6" imgW="1726920" imgH="419040" progId="Equation.3">
                    <p:embed/>
                  </p:oleObj>
                </mc:Choice>
                <mc:Fallback>
                  <p:oleObj name="公式" r:id="rId6" imgW="172692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560"/>
                          <a:ext cx="2757" cy="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5244" name="Text Box 92"/>
            <p:cNvSpPr txBox="1">
              <a:spLocks noChangeArrowheads="1"/>
            </p:cNvSpPr>
            <p:nvPr/>
          </p:nvSpPr>
          <p:spPr bwMode="auto">
            <a:xfrm>
              <a:off x="454" y="2377"/>
              <a:ext cx="12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pPr>
              <a:r>
                <a:rPr lang="en-US" altLang="zh-CN" sz="2800" b="0">
                  <a:latin typeface="Arial" pitchFamily="34" charset="0"/>
                </a:rPr>
                <a:t>n+1</a:t>
              </a:r>
              <a:r>
                <a:rPr lang="zh-CN" altLang="en-US" sz="2800" b="0">
                  <a:latin typeface="Arial" pitchFamily="34" charset="0"/>
                </a:rPr>
                <a:t>个</a:t>
              </a:r>
              <a:r>
                <a:rPr lang="en-US" altLang="zh-CN" sz="2800" b="0">
                  <a:latin typeface="Arial" pitchFamily="34" charset="0"/>
                </a:rPr>
                <a:t>x</a:t>
              </a:r>
              <a:r>
                <a:rPr lang="en-US" altLang="zh-CN" sz="2800" b="0" baseline="-25000">
                  <a:latin typeface="Arial" pitchFamily="34" charset="0"/>
                </a:rPr>
                <a:t>0</a:t>
              </a:r>
              <a:r>
                <a:rPr lang="en-US" altLang="zh-CN" sz="2800" b="0">
                  <a:latin typeface="Arial" pitchFamily="34" charset="0"/>
                </a:rPr>
                <a:t> </a:t>
              </a:r>
            </a:p>
          </p:txBody>
        </p:sp>
        <p:sp>
          <p:nvSpPr>
            <p:cNvPr id="945245" name="AutoShape 93"/>
            <p:cNvSpPr>
              <a:spLocks/>
            </p:cNvSpPr>
            <p:nvPr/>
          </p:nvSpPr>
          <p:spPr bwMode="auto">
            <a:xfrm rot="16200000" flipV="1">
              <a:off x="850" y="1799"/>
              <a:ext cx="159" cy="861"/>
            </a:xfrm>
            <a:prstGeom prst="leftBrace">
              <a:avLst>
                <a:gd name="adj1" fmla="val 4512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0952419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C04B8EC2-03CE-4BB1-9DD5-EACB202FA6C8}" type="slidenum">
              <a:rPr lang="zh-CN" altLang="en-US" sz="2000" b="0" smtClean="0">
                <a:latin typeface="Arial" charset="0"/>
              </a:rPr>
              <a:pPr/>
              <a:t>52</a:t>
            </a:fld>
            <a:endParaRPr lang="en-US" altLang="zh-CN" sz="2000" b="0">
              <a:latin typeface="Arial" charset="0"/>
            </a:endParaRPr>
          </a:p>
        </p:txBody>
      </p:sp>
      <p:sp>
        <p:nvSpPr>
          <p:cNvPr id="46083"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29876A79-8030-47C4-927A-37FB5FD0E311}" type="datetime1">
              <a:rPr lang="zh-CN" altLang="en-US" sz="1800" smtClean="0">
                <a:latin typeface="Arial" charset="0"/>
              </a:rPr>
              <a:pPr/>
              <a:t>2024/11/18</a:t>
            </a:fld>
            <a:endParaRPr lang="en-US" altLang="zh-CN" sz="1800">
              <a:latin typeface="Arial" charset="0"/>
            </a:endParaRPr>
          </a:p>
        </p:txBody>
      </p:sp>
      <p:sp>
        <p:nvSpPr>
          <p:cNvPr id="788482" name="Rectangle 2"/>
          <p:cNvSpPr>
            <a:spLocks noGrp="1" noChangeArrowheads="1"/>
          </p:cNvSpPr>
          <p:nvPr>
            <p:ph type="title"/>
          </p:nvPr>
        </p:nvSpPr>
        <p:spPr/>
        <p:txBody>
          <a:bodyPr/>
          <a:lstStyle/>
          <a:p>
            <a:pPr>
              <a:defRPr/>
            </a:pPr>
            <a:r>
              <a:rPr lang="en-US" altLang="zh-CN"/>
              <a:t>8.1 </a:t>
            </a:r>
            <a:r>
              <a:rPr lang="zh-CN" altLang="en-US"/>
              <a:t>样条的概念</a:t>
            </a:r>
          </a:p>
        </p:txBody>
      </p:sp>
      <p:sp>
        <p:nvSpPr>
          <p:cNvPr id="46085" name="Rectangle 3"/>
          <p:cNvSpPr>
            <a:spLocks noGrp="1" noChangeArrowheads="1"/>
          </p:cNvSpPr>
          <p:nvPr>
            <p:ph type="body" idx="1"/>
          </p:nvPr>
        </p:nvSpPr>
        <p:spPr>
          <a:xfrm>
            <a:off x="650875" y="1143000"/>
            <a:ext cx="8820150" cy="4395788"/>
          </a:xfrm>
        </p:spPr>
        <p:txBody>
          <a:bodyPr/>
          <a:lstStyle/>
          <a:p>
            <a:r>
              <a:rPr lang="zh-CN" altLang="en-US"/>
              <a:t>分段线性插值与分段二次插值，可以构造一个整个连续的函数，</a:t>
            </a:r>
            <a:endParaRPr lang="en-US" altLang="zh-CN"/>
          </a:p>
          <a:p>
            <a:pPr lvl="1"/>
            <a:r>
              <a:rPr lang="zh-CN" altLang="en-US"/>
              <a:t>分段低次插值的优点是具有收敛性与稳定性，</a:t>
            </a:r>
            <a:endParaRPr lang="en-US" altLang="zh-CN"/>
          </a:p>
          <a:p>
            <a:pPr lvl="1"/>
            <a:r>
              <a:rPr lang="zh-CN" altLang="en-US"/>
              <a:t>缺点是光滑性较差， </a:t>
            </a:r>
          </a:p>
          <a:p>
            <a:r>
              <a:rPr lang="zh-CN" altLang="en-US"/>
              <a:t>分段三次埃尔米特插值可以构造一个整体上具有一阶连续导数的插值函数。</a:t>
            </a:r>
          </a:p>
          <a:p>
            <a:pPr lvl="1"/>
            <a:r>
              <a:rPr lang="zh-CN" altLang="en-US"/>
              <a:t>实际需求中要求有二阶光滑度，即二阶导数连续 ，</a:t>
            </a:r>
            <a:endParaRPr lang="en-US" altLang="zh-CN"/>
          </a:p>
          <a:p>
            <a:pPr lvl="1"/>
            <a:r>
              <a:rPr lang="zh-CN" altLang="en-US"/>
              <a:t>原理上，应用高次埃尔米特插值可以达到目的，</a:t>
            </a:r>
            <a:endParaRPr lang="en-US" altLang="zh-CN"/>
          </a:p>
          <a:p>
            <a:pPr lvl="1"/>
            <a:r>
              <a:rPr lang="zh-CN" altLang="en-US"/>
              <a:t>但必须已知节点上的导数值，实际上很难满足。</a:t>
            </a:r>
          </a:p>
        </p:txBody>
      </p:sp>
    </p:spTree>
    <p:extLst>
      <p:ext uri="{BB962C8B-B14F-4D97-AF65-F5344CB8AC3E}">
        <p14:creationId xmlns:p14="http://schemas.microsoft.com/office/powerpoint/2010/main" val="5933356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A1E9473E-AB1F-40D1-8B54-8538659B29FD}" type="slidenum">
              <a:rPr lang="zh-CN" altLang="en-US" sz="2000" b="0" smtClean="0">
                <a:latin typeface="Arial" charset="0"/>
              </a:rPr>
              <a:pPr/>
              <a:t>53</a:t>
            </a:fld>
            <a:endParaRPr lang="en-US" altLang="zh-CN" sz="2000" b="0">
              <a:latin typeface="Arial" charset="0"/>
            </a:endParaRPr>
          </a:p>
        </p:txBody>
      </p:sp>
      <p:sp>
        <p:nvSpPr>
          <p:cNvPr id="47107" name="日期占位符 4"/>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3F05B552-AF7D-4CFA-BA72-A42FDC98DA56}" type="datetime1">
              <a:rPr lang="zh-CN" altLang="en-US" sz="1800" smtClean="0">
                <a:latin typeface="Arial" charset="0"/>
              </a:rPr>
              <a:pPr/>
              <a:t>2024/11/18</a:t>
            </a:fld>
            <a:endParaRPr lang="en-US" altLang="zh-CN" sz="1800">
              <a:latin typeface="Arial" charset="0"/>
            </a:endParaRPr>
          </a:p>
        </p:txBody>
      </p:sp>
      <p:sp>
        <p:nvSpPr>
          <p:cNvPr id="789506" name="Rectangle 2"/>
          <p:cNvSpPr>
            <a:spLocks noGrp="1" noChangeArrowheads="1"/>
          </p:cNvSpPr>
          <p:nvPr>
            <p:ph type="title"/>
          </p:nvPr>
        </p:nvSpPr>
        <p:spPr/>
        <p:txBody>
          <a:bodyPr/>
          <a:lstStyle/>
          <a:p>
            <a:pPr>
              <a:defRPr/>
            </a:pPr>
            <a:r>
              <a:rPr lang="en-US" altLang="zh-CN"/>
              <a:t>8.1 </a:t>
            </a:r>
            <a:r>
              <a:rPr lang="zh-CN" altLang="en-US"/>
              <a:t>样条的概念</a:t>
            </a:r>
          </a:p>
        </p:txBody>
      </p:sp>
      <p:sp>
        <p:nvSpPr>
          <p:cNvPr id="47109" name="Rectangle 3"/>
          <p:cNvSpPr>
            <a:spLocks noGrp="1" noChangeArrowheads="1"/>
          </p:cNvSpPr>
          <p:nvPr>
            <p:ph type="body" idx="1"/>
          </p:nvPr>
        </p:nvSpPr>
        <p:spPr>
          <a:xfrm>
            <a:off x="650875" y="1143000"/>
            <a:ext cx="8820150" cy="3136900"/>
          </a:xfrm>
        </p:spPr>
        <p:txBody>
          <a:bodyPr/>
          <a:lstStyle/>
          <a:p>
            <a:r>
              <a:rPr lang="zh-CN" altLang="en-US"/>
              <a:t>要求</a:t>
            </a:r>
          </a:p>
          <a:p>
            <a:pPr lvl="1"/>
            <a:r>
              <a:rPr lang="zh-CN" altLang="en-US"/>
              <a:t>插值曲线即要简单，又要在曲线的连接处比较光滑</a:t>
            </a:r>
          </a:p>
          <a:p>
            <a:pPr lvl="1"/>
            <a:r>
              <a:rPr lang="zh-CN" altLang="en-US"/>
              <a:t>这样的分段插值函数在分段上要求多项式次数低，而在节点上不仅连续，还存在连续的低阶导数，</a:t>
            </a:r>
          </a:p>
          <a:p>
            <a:pPr lvl="1"/>
            <a:r>
              <a:rPr lang="zh-CN" altLang="en-US"/>
              <a:t>我们把满足这样条件的插值函数，称为</a:t>
            </a:r>
            <a:r>
              <a:rPr lang="zh-CN" altLang="en-US">
                <a:solidFill>
                  <a:srgbClr val="0000CC"/>
                </a:solidFill>
              </a:rPr>
              <a:t>样条插值函数</a:t>
            </a:r>
            <a:r>
              <a:rPr lang="zh-CN" altLang="en-US"/>
              <a:t>，它所对应的曲线称为</a:t>
            </a:r>
            <a:r>
              <a:rPr lang="zh-CN" altLang="en-US">
                <a:solidFill>
                  <a:srgbClr val="0000CC"/>
                </a:solidFill>
              </a:rPr>
              <a:t>样条曲线</a:t>
            </a:r>
            <a:r>
              <a:rPr lang="zh-CN" altLang="en-US"/>
              <a:t>，其节点称为</a:t>
            </a:r>
            <a:r>
              <a:rPr lang="zh-CN" altLang="en-US">
                <a:solidFill>
                  <a:srgbClr val="0000CC"/>
                </a:solidFill>
              </a:rPr>
              <a:t>样点</a:t>
            </a:r>
            <a:r>
              <a:rPr lang="zh-CN" altLang="en-US"/>
              <a:t>，这种插值方法称为</a:t>
            </a:r>
            <a:r>
              <a:rPr lang="zh-CN" altLang="en-US">
                <a:solidFill>
                  <a:srgbClr val="0000CC"/>
                </a:solidFill>
              </a:rPr>
              <a:t>样条插值</a:t>
            </a:r>
            <a:r>
              <a:rPr lang="zh-CN" altLang="en-US"/>
              <a:t>。</a:t>
            </a:r>
          </a:p>
        </p:txBody>
      </p:sp>
    </p:spTree>
    <p:extLst>
      <p:ext uri="{BB962C8B-B14F-4D97-AF65-F5344CB8AC3E}">
        <p14:creationId xmlns:p14="http://schemas.microsoft.com/office/powerpoint/2010/main" val="7778227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29BD2EC5-29A7-4E29-B63D-7FFE9768F0C1}" type="slidenum">
              <a:rPr lang="zh-CN" altLang="en-US"/>
              <a:pPr>
                <a:defRPr/>
              </a:pPr>
              <a:t>54</a:t>
            </a:fld>
            <a:endParaRPr lang="en-US" altLang="zh-CN"/>
          </a:p>
        </p:txBody>
      </p:sp>
      <p:sp>
        <p:nvSpPr>
          <p:cNvPr id="5" name="日期占位符 4"/>
          <p:cNvSpPr>
            <a:spLocks noGrp="1"/>
          </p:cNvSpPr>
          <p:nvPr>
            <p:ph type="dt" sz="quarter" idx="11"/>
          </p:nvPr>
        </p:nvSpPr>
        <p:spPr/>
        <p:txBody>
          <a:bodyPr/>
          <a:lstStyle/>
          <a:p>
            <a:pPr>
              <a:defRPr/>
            </a:pPr>
            <a:fld id="{8E67191A-4070-4971-8DD2-A215FDC0D7A8}" type="datetime1">
              <a:rPr lang="zh-CN" altLang="en-US"/>
              <a:pPr>
                <a:defRPr/>
              </a:pPr>
              <a:t>2024/11/18</a:t>
            </a:fld>
            <a:endParaRPr lang="en-US" altLang="zh-CN" sz="1000"/>
          </a:p>
        </p:txBody>
      </p:sp>
      <p:sp>
        <p:nvSpPr>
          <p:cNvPr id="937986" name="Rectangle 2"/>
          <p:cNvSpPr>
            <a:spLocks noGrp="1" noChangeArrowheads="1"/>
          </p:cNvSpPr>
          <p:nvPr>
            <p:ph type="title"/>
          </p:nvPr>
        </p:nvSpPr>
        <p:spPr>
          <a:xfrm>
            <a:off x="650875" y="249238"/>
            <a:ext cx="8820150" cy="665162"/>
          </a:xfrm>
        </p:spPr>
        <p:txBody>
          <a:bodyPr/>
          <a:lstStyle/>
          <a:p>
            <a:pPr>
              <a:defRPr/>
            </a:pPr>
            <a:r>
              <a:rPr lang="zh-CN" altLang="en-US" dirty="0"/>
              <a:t>§</a:t>
            </a:r>
            <a:r>
              <a:rPr lang="en-US" altLang="zh-CN" dirty="0"/>
              <a:t>8 </a:t>
            </a:r>
            <a:r>
              <a:rPr lang="zh-CN" altLang="en-US" dirty="0"/>
              <a:t>三次样条插值</a:t>
            </a:r>
          </a:p>
        </p:txBody>
      </p:sp>
      <p:sp>
        <p:nvSpPr>
          <p:cNvPr id="48133" name="灯片编号占位符 3"/>
          <p:cNvSpPr txBox="1">
            <a:spLocks/>
          </p:cNvSpPr>
          <p:nvPr/>
        </p:nvSpPr>
        <p:spPr bwMode="auto">
          <a:xfrm>
            <a:off x="7321550" y="6324600"/>
            <a:ext cx="25019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15646" tIns="57824" rIns="115646" bIns="57824"/>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pPr algn="r"/>
            <a:fld id="{C161F92C-F880-478C-81AC-4360F19E1CAB}" type="slidenum">
              <a:rPr lang="zh-CN" altLang="en-US" sz="2000" b="0">
                <a:latin typeface="Arial" charset="0"/>
              </a:rPr>
              <a:pPr algn="r"/>
              <a:t>54</a:t>
            </a:fld>
            <a:endParaRPr lang="en-US" altLang="zh-CN" sz="2000" b="0">
              <a:latin typeface="Arial" charset="0"/>
            </a:endParaRPr>
          </a:p>
        </p:txBody>
      </p:sp>
      <p:sp>
        <p:nvSpPr>
          <p:cNvPr id="8" name="Rectangle 3"/>
          <p:cNvSpPr txBox="1">
            <a:spLocks noChangeArrowheads="1"/>
          </p:cNvSpPr>
          <p:nvPr/>
        </p:nvSpPr>
        <p:spPr bwMode="auto">
          <a:xfrm>
            <a:off x="650875" y="1143000"/>
            <a:ext cx="8820150"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4pPr>
            <a:lvl5pPr marL="18049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5pPr>
            <a:lvl6pPr marL="22621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6pPr>
            <a:lvl7pPr marL="27193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7pPr>
            <a:lvl8pPr marL="31765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8pPr>
            <a:lvl9pPr marL="3633788" indent="-260350"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9pPr>
          </a:lstStyle>
          <a:p>
            <a:pPr>
              <a:lnSpc>
                <a:spcPct val="80000"/>
              </a:lnSpc>
              <a:defRPr/>
            </a:pPr>
            <a:r>
              <a:rPr kumimoji="1" lang="zh-CN" altLang="en-US" kern="0" dirty="0"/>
              <a:t>定义：设对</a:t>
            </a:r>
            <a:r>
              <a:rPr kumimoji="1" lang="en-US" altLang="zh-CN" i="1" kern="0" dirty="0"/>
              <a:t>y = f</a:t>
            </a:r>
            <a:r>
              <a:rPr kumimoji="1" lang="en-US" altLang="zh-CN" kern="0" dirty="0"/>
              <a:t> (</a:t>
            </a:r>
            <a:r>
              <a:rPr kumimoji="1" lang="en-US" altLang="zh-CN" i="1" kern="0" dirty="0"/>
              <a:t>x</a:t>
            </a:r>
            <a:r>
              <a:rPr kumimoji="1" lang="en-US" altLang="zh-CN" kern="0" dirty="0"/>
              <a:t>)</a:t>
            </a:r>
            <a:r>
              <a:rPr kumimoji="1" lang="zh-CN" altLang="en-US" kern="0" dirty="0"/>
              <a:t>在区间</a:t>
            </a:r>
            <a:r>
              <a:rPr kumimoji="1" lang="en-US" altLang="zh-CN" kern="0" dirty="0"/>
              <a:t>[a, b]</a:t>
            </a:r>
            <a:r>
              <a:rPr kumimoji="1" lang="zh-CN" altLang="en-US" kern="0" dirty="0"/>
              <a:t>上给定一组节点 </a:t>
            </a:r>
          </a:p>
          <a:p>
            <a:pPr>
              <a:lnSpc>
                <a:spcPct val="80000"/>
              </a:lnSpc>
              <a:buFont typeface="Wingdings" pitchFamily="2" charset="2"/>
              <a:buNone/>
              <a:defRPr/>
            </a:pPr>
            <a:r>
              <a:rPr kumimoji="1" lang="en-US" altLang="zh-CN" i="1" kern="0" dirty="0"/>
              <a:t>a = x</a:t>
            </a:r>
            <a:r>
              <a:rPr kumimoji="1" lang="en-US" altLang="zh-CN" kern="0" baseline="-25000" dirty="0"/>
              <a:t>0</a:t>
            </a:r>
            <a:r>
              <a:rPr kumimoji="1" lang="en-US" altLang="zh-CN" kern="0" dirty="0"/>
              <a:t> &lt; </a:t>
            </a:r>
            <a:r>
              <a:rPr kumimoji="1" lang="en-US" altLang="zh-CN" i="1" kern="0" dirty="0"/>
              <a:t>x</a:t>
            </a:r>
            <a:r>
              <a:rPr kumimoji="1" lang="en-US" altLang="zh-CN" kern="0" baseline="-25000" dirty="0"/>
              <a:t>1</a:t>
            </a:r>
            <a:r>
              <a:rPr kumimoji="1" lang="en-US" altLang="zh-CN" kern="0" dirty="0"/>
              <a:t> &lt; </a:t>
            </a:r>
            <a:r>
              <a:rPr kumimoji="1" lang="en-US" altLang="zh-CN" i="1" kern="0" dirty="0"/>
              <a:t>x</a:t>
            </a:r>
            <a:r>
              <a:rPr kumimoji="1" lang="en-US" altLang="zh-CN" kern="0" baseline="-25000" dirty="0"/>
              <a:t>2</a:t>
            </a:r>
            <a:r>
              <a:rPr kumimoji="1" lang="en-US" altLang="zh-CN" kern="0" dirty="0"/>
              <a:t> &lt;…&lt; </a:t>
            </a:r>
            <a:r>
              <a:rPr kumimoji="1" lang="en-US" altLang="zh-CN" i="1" kern="0" dirty="0" err="1"/>
              <a:t>x</a:t>
            </a:r>
            <a:r>
              <a:rPr kumimoji="1" lang="en-US" altLang="zh-CN" i="1" kern="0" baseline="-25000" dirty="0" err="1"/>
              <a:t>n</a:t>
            </a:r>
            <a:r>
              <a:rPr kumimoji="1" lang="en-US" altLang="zh-CN" i="1" kern="0" dirty="0"/>
              <a:t> = b</a:t>
            </a:r>
            <a:r>
              <a:rPr kumimoji="1" lang="zh-CN" altLang="en-US" kern="0" dirty="0"/>
              <a:t>和相应的函数值</a:t>
            </a:r>
            <a:r>
              <a:rPr kumimoji="1" lang="en-US" altLang="zh-CN" i="1" kern="0" dirty="0"/>
              <a:t>y</a:t>
            </a:r>
            <a:r>
              <a:rPr kumimoji="1" lang="en-US" altLang="zh-CN" kern="0" baseline="-25000" dirty="0"/>
              <a:t>0</a:t>
            </a:r>
            <a:r>
              <a:rPr kumimoji="1" lang="en-US" altLang="zh-CN" kern="0" dirty="0"/>
              <a:t>, </a:t>
            </a:r>
            <a:r>
              <a:rPr kumimoji="1" lang="en-US" altLang="zh-CN" i="1" kern="0" dirty="0"/>
              <a:t>y</a:t>
            </a:r>
            <a:r>
              <a:rPr kumimoji="1" lang="en-US" altLang="zh-CN" kern="0" baseline="-25000" dirty="0"/>
              <a:t>1</a:t>
            </a:r>
            <a:r>
              <a:rPr kumimoji="1" lang="en-US" altLang="zh-CN" kern="0" dirty="0"/>
              <a:t>,…, </a:t>
            </a:r>
            <a:r>
              <a:rPr kumimoji="1" lang="en-US" altLang="zh-CN" i="1" kern="0" dirty="0" err="1"/>
              <a:t>y</a:t>
            </a:r>
            <a:r>
              <a:rPr kumimoji="1" lang="en-US" altLang="zh-CN" i="1" kern="0" baseline="-25000" dirty="0" err="1"/>
              <a:t>n</a:t>
            </a:r>
            <a:endParaRPr kumimoji="1" lang="en-US" altLang="zh-CN" i="1" kern="0" baseline="-25000" dirty="0"/>
          </a:p>
          <a:p>
            <a:pPr>
              <a:lnSpc>
                <a:spcPct val="80000"/>
              </a:lnSpc>
              <a:buFont typeface="Wingdings" pitchFamily="2" charset="2"/>
              <a:buNone/>
              <a:defRPr/>
            </a:pPr>
            <a:r>
              <a:rPr kumimoji="1" lang="zh-CN" altLang="en-US" kern="0" dirty="0"/>
              <a:t>如果</a:t>
            </a:r>
            <a:r>
              <a:rPr kumimoji="1" lang="en-US" altLang="zh-CN" i="1" kern="0" dirty="0"/>
              <a:t>s</a:t>
            </a:r>
            <a:r>
              <a:rPr kumimoji="1" lang="en-US" altLang="zh-CN" kern="0" dirty="0"/>
              <a:t>(</a:t>
            </a:r>
            <a:r>
              <a:rPr kumimoji="1" lang="en-US" altLang="zh-CN" i="1" kern="0" dirty="0"/>
              <a:t>x</a:t>
            </a:r>
            <a:r>
              <a:rPr kumimoji="1" lang="en-US" altLang="zh-CN" kern="0" dirty="0"/>
              <a:t>)</a:t>
            </a:r>
            <a:r>
              <a:rPr kumimoji="1" lang="zh-CN" altLang="en-US" kern="0" dirty="0"/>
              <a:t>具有如下性质， </a:t>
            </a:r>
            <a:r>
              <a:rPr kumimoji="1" lang="en-US" altLang="zh-CN" kern="0" dirty="0"/>
              <a:t>(</a:t>
            </a:r>
            <a:r>
              <a:rPr kumimoji="1" lang="zh-CN" altLang="en-US" kern="0" dirty="0"/>
              <a:t>记</a:t>
            </a:r>
            <a:r>
              <a:rPr kumimoji="1" lang="en-US" altLang="zh-CN" i="1" kern="0" dirty="0" err="1"/>
              <a:t>i</a:t>
            </a:r>
            <a:r>
              <a:rPr kumimoji="1" lang="en-US" altLang="zh-CN" kern="0" dirty="0"/>
              <a:t> = 1,2,…, </a:t>
            </a:r>
            <a:r>
              <a:rPr kumimoji="1" lang="en-US" altLang="zh-CN" i="1" kern="0" dirty="0"/>
              <a:t>n</a:t>
            </a:r>
            <a:r>
              <a:rPr kumimoji="1" lang="en-US" altLang="zh-CN" kern="0" dirty="0"/>
              <a:t>)</a:t>
            </a:r>
            <a:endParaRPr kumimoji="1" lang="zh-CN" altLang="en-US" kern="0" dirty="0"/>
          </a:p>
        </p:txBody>
      </p:sp>
      <p:pic>
        <p:nvPicPr>
          <p:cNvPr id="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9625" y="2460625"/>
            <a:ext cx="4016375"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a:spLocks noChangeArrowheads="1"/>
          </p:cNvSpPr>
          <p:nvPr/>
        </p:nvSpPr>
        <p:spPr bwMode="auto">
          <a:xfrm>
            <a:off x="488950" y="2819400"/>
            <a:ext cx="5832475"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marL="258763" indent="-258763" algn="l" defTabSz="814388">
              <a:lnSpc>
                <a:spcPct val="80000"/>
              </a:lnSpc>
              <a:spcBef>
                <a:spcPct val="35000"/>
              </a:spcBef>
              <a:buClr>
                <a:srgbClr val="27305F"/>
              </a:buClr>
              <a:buSzPct val="60000"/>
              <a:buFont typeface="Wingdings" pitchFamily="2" charset="2"/>
              <a:buNone/>
            </a:pPr>
            <a:r>
              <a:rPr kumimoji="1" lang="zh-CN" altLang="en-US" sz="2800">
                <a:ea typeface="黑体" pitchFamily="49" charset="-122"/>
              </a:rPr>
              <a:t>（</a:t>
            </a:r>
            <a:r>
              <a:rPr kumimoji="1" lang="en-US" altLang="zh-CN" sz="2800">
                <a:ea typeface="黑体" pitchFamily="49" charset="-122"/>
              </a:rPr>
              <a:t>1</a:t>
            </a:r>
            <a:r>
              <a:rPr kumimoji="1" lang="zh-CN" altLang="en-US" sz="2800">
                <a:ea typeface="黑体" pitchFamily="49" charset="-122"/>
              </a:rPr>
              <a:t>）在每个子区间</a:t>
            </a:r>
            <a:r>
              <a:rPr kumimoji="1" lang="en-US" altLang="zh-CN" sz="2800">
                <a:ea typeface="黑体" pitchFamily="49" charset="-122"/>
              </a:rPr>
              <a:t>[x</a:t>
            </a:r>
            <a:r>
              <a:rPr kumimoji="1" lang="en-US" altLang="zh-CN" sz="2800" baseline="-25000">
                <a:ea typeface="黑体" pitchFamily="49" charset="-122"/>
              </a:rPr>
              <a:t>i-1</a:t>
            </a:r>
            <a:r>
              <a:rPr kumimoji="1" lang="en-US" altLang="zh-CN" sz="2800">
                <a:ea typeface="黑体" pitchFamily="49" charset="-122"/>
              </a:rPr>
              <a:t>, x</a:t>
            </a:r>
            <a:r>
              <a:rPr kumimoji="1" lang="en-US" altLang="zh-CN" sz="2800" baseline="-25000">
                <a:ea typeface="黑体" pitchFamily="49" charset="-122"/>
              </a:rPr>
              <a:t>i</a:t>
            </a:r>
            <a:r>
              <a:rPr kumimoji="1" lang="en-US" altLang="zh-CN" sz="2800">
                <a:ea typeface="黑体" pitchFamily="49" charset="-122"/>
              </a:rPr>
              <a:t>] </a:t>
            </a:r>
            <a:r>
              <a:rPr kumimoji="1" lang="zh-CN" altLang="en-US" sz="2800">
                <a:ea typeface="黑体" pitchFamily="49" charset="-122"/>
              </a:rPr>
              <a:t>上</a:t>
            </a:r>
            <a:r>
              <a:rPr kumimoji="1" lang="en-US" altLang="zh-CN" sz="2800">
                <a:ea typeface="黑体" pitchFamily="49" charset="-122"/>
              </a:rPr>
              <a:t>s(x)</a:t>
            </a:r>
            <a:r>
              <a:rPr kumimoji="1" lang="zh-CN" altLang="en-US" sz="2800">
                <a:ea typeface="黑体" pitchFamily="49" charset="-122"/>
              </a:rPr>
              <a:t>是不高于三次的多项式</a:t>
            </a:r>
          </a:p>
          <a:p>
            <a:pPr marL="258763" indent="-258763" algn="l" defTabSz="814388">
              <a:lnSpc>
                <a:spcPct val="80000"/>
              </a:lnSpc>
              <a:spcBef>
                <a:spcPct val="35000"/>
              </a:spcBef>
              <a:buClr>
                <a:srgbClr val="27305F"/>
              </a:buClr>
              <a:buSzPct val="60000"/>
              <a:buFont typeface="Wingdings" pitchFamily="2" charset="2"/>
              <a:buNone/>
            </a:pPr>
            <a:r>
              <a:rPr kumimoji="1" lang="zh-CN" altLang="en-US" sz="2800">
                <a:ea typeface="黑体" pitchFamily="49" charset="-122"/>
              </a:rPr>
              <a:t>（</a:t>
            </a:r>
            <a:r>
              <a:rPr kumimoji="1" lang="en-US" altLang="zh-CN" sz="2800">
                <a:ea typeface="黑体" pitchFamily="49" charset="-122"/>
              </a:rPr>
              <a:t>2</a:t>
            </a:r>
            <a:r>
              <a:rPr kumimoji="1" lang="zh-CN" altLang="en-US" sz="2800">
                <a:ea typeface="黑体" pitchFamily="49" charset="-122"/>
              </a:rPr>
              <a:t>）</a:t>
            </a:r>
            <a:r>
              <a:rPr kumimoji="1" lang="en-US" altLang="zh-CN" sz="2800">
                <a:ea typeface="黑体" pitchFamily="49" charset="-122"/>
              </a:rPr>
              <a:t>s(x)</a:t>
            </a:r>
            <a:r>
              <a:rPr kumimoji="1" lang="zh-CN" altLang="en-US" sz="2800">
                <a:ea typeface="黑体" pitchFamily="49" charset="-122"/>
              </a:rPr>
              <a:t>，</a:t>
            </a:r>
            <a:r>
              <a:rPr kumimoji="1" lang="en-US" altLang="zh-CN" sz="2800">
                <a:ea typeface="黑体" pitchFamily="49" charset="-122"/>
              </a:rPr>
              <a:t>s’(x)</a:t>
            </a:r>
            <a:r>
              <a:rPr kumimoji="1" lang="zh-CN" altLang="en-US" sz="2800">
                <a:ea typeface="黑体" pitchFamily="49" charset="-122"/>
              </a:rPr>
              <a:t>，</a:t>
            </a:r>
            <a:r>
              <a:rPr kumimoji="1" lang="en-US" altLang="zh-CN" sz="2800">
                <a:ea typeface="黑体" pitchFamily="49" charset="-122"/>
              </a:rPr>
              <a:t>s</a:t>
            </a:r>
            <a:r>
              <a:rPr kumimoji="1" lang="en-US" altLang="zh-CN" sz="2800">
                <a:ea typeface="黑体" pitchFamily="49" charset="-122"/>
                <a:sym typeface="Symbol" pitchFamily="18" charset="2"/>
              </a:rPr>
              <a:t></a:t>
            </a:r>
            <a:r>
              <a:rPr kumimoji="1" lang="en-US" altLang="zh-CN" sz="2800">
                <a:ea typeface="黑体" pitchFamily="49" charset="-122"/>
              </a:rPr>
              <a:t> (x)</a:t>
            </a:r>
            <a:r>
              <a:rPr kumimoji="1" lang="zh-CN" altLang="en-US" sz="2800">
                <a:ea typeface="黑体" pitchFamily="49" charset="-122"/>
              </a:rPr>
              <a:t>在 </a:t>
            </a:r>
            <a:r>
              <a:rPr kumimoji="1" lang="en-US" altLang="zh-CN" sz="2800">
                <a:ea typeface="黑体" pitchFamily="49" charset="-122"/>
              </a:rPr>
              <a:t>[a, b]</a:t>
            </a:r>
            <a:r>
              <a:rPr kumimoji="1" lang="zh-CN" altLang="en-US" sz="2800">
                <a:ea typeface="黑体" pitchFamily="49" charset="-122"/>
              </a:rPr>
              <a:t>上连续；则称</a:t>
            </a:r>
            <a:r>
              <a:rPr kumimoji="1" lang="en-US" altLang="zh-CN" sz="2800">
                <a:ea typeface="黑体" pitchFamily="49" charset="-122"/>
              </a:rPr>
              <a:t>s (x)</a:t>
            </a:r>
            <a:r>
              <a:rPr kumimoji="1" lang="zh-CN" altLang="en-US" sz="2800">
                <a:ea typeface="黑体" pitchFamily="49" charset="-122"/>
              </a:rPr>
              <a:t>为三次样条函数。</a:t>
            </a:r>
          </a:p>
          <a:p>
            <a:pPr marL="258763" indent="-258763" algn="l" defTabSz="814388">
              <a:lnSpc>
                <a:spcPct val="40000"/>
              </a:lnSpc>
              <a:spcBef>
                <a:spcPct val="35000"/>
              </a:spcBef>
              <a:buClr>
                <a:srgbClr val="27305F"/>
              </a:buClr>
              <a:buSzPct val="60000"/>
              <a:buFont typeface="Wingdings" pitchFamily="2" charset="2"/>
              <a:buNone/>
            </a:pPr>
            <a:endParaRPr kumimoji="1" lang="en-US" altLang="zh-CN" sz="2800">
              <a:ea typeface="黑体" pitchFamily="49" charset="-122"/>
            </a:endParaRPr>
          </a:p>
          <a:p>
            <a:pPr marL="258763" indent="-258763" algn="l" defTabSz="814388">
              <a:lnSpc>
                <a:spcPct val="40000"/>
              </a:lnSpc>
              <a:spcBef>
                <a:spcPct val="35000"/>
              </a:spcBef>
              <a:buClr>
                <a:srgbClr val="27305F"/>
              </a:buClr>
              <a:buSzPct val="60000"/>
              <a:buFont typeface="Wingdings" pitchFamily="2" charset="2"/>
              <a:buNone/>
            </a:pPr>
            <a:endParaRPr kumimoji="1" lang="en-US" altLang="zh-CN" sz="2800">
              <a:ea typeface="黑体" pitchFamily="49" charset="-122"/>
            </a:endParaRPr>
          </a:p>
          <a:p>
            <a:pPr marL="258763" indent="-258763" algn="l" defTabSz="814388">
              <a:lnSpc>
                <a:spcPct val="40000"/>
              </a:lnSpc>
              <a:spcBef>
                <a:spcPct val="35000"/>
              </a:spcBef>
              <a:buClr>
                <a:srgbClr val="27305F"/>
              </a:buClr>
              <a:buSzPct val="60000"/>
              <a:buFont typeface="Wingdings" pitchFamily="2" charset="2"/>
              <a:buNone/>
            </a:pPr>
            <a:r>
              <a:rPr kumimoji="1" lang="zh-CN" altLang="en-US" sz="2800">
                <a:ea typeface="黑体" pitchFamily="49" charset="-122"/>
              </a:rPr>
              <a:t>如再满足</a:t>
            </a:r>
          </a:p>
          <a:p>
            <a:pPr marL="258763" indent="-258763" algn="l" defTabSz="814388">
              <a:lnSpc>
                <a:spcPct val="80000"/>
              </a:lnSpc>
              <a:spcBef>
                <a:spcPct val="35000"/>
              </a:spcBef>
              <a:buClr>
                <a:srgbClr val="27305F"/>
              </a:buClr>
              <a:buSzPct val="60000"/>
              <a:buFont typeface="Wingdings" pitchFamily="2" charset="2"/>
              <a:buNone/>
            </a:pPr>
            <a:r>
              <a:rPr kumimoji="1" lang="zh-CN" altLang="en-US" sz="2800">
                <a:ea typeface="黑体" pitchFamily="49" charset="-122"/>
              </a:rPr>
              <a:t>（</a:t>
            </a:r>
            <a:r>
              <a:rPr kumimoji="1" lang="en-US" altLang="zh-CN" sz="2800">
                <a:ea typeface="黑体" pitchFamily="49" charset="-122"/>
              </a:rPr>
              <a:t>3</a:t>
            </a:r>
            <a:r>
              <a:rPr kumimoji="1" lang="zh-CN" altLang="en-US" sz="2800">
                <a:ea typeface="黑体" pitchFamily="49" charset="-122"/>
              </a:rPr>
              <a:t>）插值条件</a:t>
            </a:r>
            <a:r>
              <a:rPr kumimoji="1" lang="en-US" altLang="zh-CN" sz="2800">
                <a:ea typeface="黑体" pitchFamily="49" charset="-122"/>
              </a:rPr>
              <a:t>s(x</a:t>
            </a:r>
            <a:r>
              <a:rPr kumimoji="1" lang="en-US" altLang="zh-CN" sz="2800" baseline="-25000">
                <a:ea typeface="黑体" pitchFamily="49" charset="-122"/>
              </a:rPr>
              <a:t>i</a:t>
            </a:r>
            <a:r>
              <a:rPr kumimoji="1" lang="en-US" altLang="zh-CN" sz="2800">
                <a:ea typeface="黑体" pitchFamily="49" charset="-122"/>
              </a:rPr>
              <a:t>)= y</a:t>
            </a:r>
            <a:r>
              <a:rPr kumimoji="1" lang="en-US" altLang="zh-CN" sz="2800" baseline="-25000">
                <a:ea typeface="黑体" pitchFamily="49" charset="-122"/>
              </a:rPr>
              <a:t>i</a:t>
            </a:r>
            <a:r>
              <a:rPr kumimoji="1" lang="en-US" altLang="zh-CN" sz="2800">
                <a:ea typeface="黑体" pitchFamily="49" charset="-122"/>
              </a:rPr>
              <a:t> </a:t>
            </a:r>
            <a:r>
              <a:rPr kumimoji="1" lang="zh-CN" altLang="en-US" sz="2800">
                <a:ea typeface="黑体" pitchFamily="49" charset="-122"/>
              </a:rPr>
              <a:t>，则称</a:t>
            </a:r>
            <a:r>
              <a:rPr kumimoji="1" lang="en-US" altLang="zh-CN" sz="2800">
                <a:ea typeface="黑体" pitchFamily="49" charset="-122"/>
              </a:rPr>
              <a:t>s(x)</a:t>
            </a:r>
            <a:r>
              <a:rPr kumimoji="1" lang="zh-CN" altLang="en-US" sz="2800">
                <a:ea typeface="黑体" pitchFamily="49" charset="-122"/>
              </a:rPr>
              <a:t>为  </a:t>
            </a:r>
            <a:r>
              <a:rPr kumimoji="1" lang="en-US" altLang="zh-CN" sz="2800">
                <a:ea typeface="黑体" pitchFamily="49" charset="-122"/>
              </a:rPr>
              <a:t>y = f (x)</a:t>
            </a:r>
            <a:r>
              <a:rPr kumimoji="1" lang="zh-CN" altLang="en-US" sz="2800">
                <a:ea typeface="黑体" pitchFamily="49" charset="-122"/>
              </a:rPr>
              <a:t>的三次样条插值函数</a:t>
            </a:r>
          </a:p>
        </p:txBody>
      </p:sp>
    </p:spTree>
    <p:extLst>
      <p:ext uri="{BB962C8B-B14F-4D97-AF65-F5344CB8AC3E}">
        <p14:creationId xmlns:p14="http://schemas.microsoft.com/office/powerpoint/2010/main" val="1664132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643EBF55-4FBE-48B8-9B10-F938DCE17D19}" type="slidenum">
              <a:rPr lang="zh-CN" altLang="en-US" sz="2000" b="0" smtClean="0">
                <a:latin typeface="Arial" charset="0"/>
              </a:rPr>
              <a:pPr/>
              <a:t>55</a:t>
            </a:fld>
            <a:endParaRPr lang="en-US" altLang="zh-CN" sz="2000" b="0">
              <a:latin typeface="Arial" charset="0"/>
            </a:endParaRPr>
          </a:p>
        </p:txBody>
      </p:sp>
      <p:sp>
        <p:nvSpPr>
          <p:cNvPr id="50179" name="日期占位符 2"/>
          <p:cNvSpPr>
            <a:spLocks noGrp="1"/>
          </p:cNvSpPr>
          <p:nvPr>
            <p:ph type="dt"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1157288">
              <a:defRPr sz="3200" b="1">
                <a:solidFill>
                  <a:schemeClr val="tx1"/>
                </a:solidFill>
                <a:latin typeface="Times New Roman" pitchFamily="18" charset="0"/>
                <a:ea typeface="宋体" charset="-122"/>
              </a:defRPr>
            </a:lvl1pPr>
            <a:lvl2pPr marL="742950" indent="-285750" defTabSz="1157288">
              <a:defRPr sz="3200" b="1">
                <a:solidFill>
                  <a:schemeClr val="tx1"/>
                </a:solidFill>
                <a:latin typeface="Times New Roman" pitchFamily="18" charset="0"/>
                <a:ea typeface="宋体" charset="-122"/>
              </a:defRPr>
            </a:lvl2pPr>
            <a:lvl3pPr marL="1143000" indent="-228600" defTabSz="1157288">
              <a:defRPr sz="3200" b="1">
                <a:solidFill>
                  <a:schemeClr val="tx1"/>
                </a:solidFill>
                <a:latin typeface="Times New Roman" pitchFamily="18" charset="0"/>
                <a:ea typeface="宋体" charset="-122"/>
              </a:defRPr>
            </a:lvl3pPr>
            <a:lvl4pPr marL="1600200" indent="-228600" defTabSz="1157288">
              <a:defRPr sz="3200" b="1">
                <a:solidFill>
                  <a:schemeClr val="tx1"/>
                </a:solidFill>
                <a:latin typeface="Times New Roman" pitchFamily="18" charset="0"/>
                <a:ea typeface="宋体" charset="-122"/>
              </a:defRPr>
            </a:lvl4pPr>
            <a:lvl5pPr marL="2057400" indent="-228600" defTabSz="1157288">
              <a:defRPr sz="3200" b="1">
                <a:solidFill>
                  <a:schemeClr val="tx1"/>
                </a:solidFill>
                <a:latin typeface="Times New Roman" pitchFamily="18" charset="0"/>
                <a:ea typeface="宋体" charset="-122"/>
              </a:defRPr>
            </a:lvl5pPr>
            <a:lvl6pPr marL="25146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defTabSz="1157288" eaLnBrk="0" fontAlgn="base" hangingPunct="0">
              <a:spcBef>
                <a:spcPct val="0"/>
              </a:spcBef>
              <a:spcAft>
                <a:spcPct val="0"/>
              </a:spcAft>
              <a:defRPr sz="3200" b="1">
                <a:solidFill>
                  <a:schemeClr val="tx1"/>
                </a:solidFill>
                <a:latin typeface="Times New Roman" pitchFamily="18" charset="0"/>
                <a:ea typeface="宋体" charset="-122"/>
              </a:defRPr>
            </a:lvl9pPr>
          </a:lstStyle>
          <a:p>
            <a:fld id="{74D71BEE-7D1C-4D41-A0E4-2082148BC461}" type="datetime1">
              <a:rPr lang="zh-CN" altLang="en-US" sz="1800" smtClean="0">
                <a:latin typeface="Arial" charset="0"/>
              </a:rPr>
              <a:pPr/>
              <a:t>2024/11/18</a:t>
            </a:fld>
            <a:endParaRPr lang="en-US" altLang="zh-CN" sz="1800">
              <a:latin typeface="Arial" charset="0"/>
            </a:endParaRPr>
          </a:p>
        </p:txBody>
      </p:sp>
      <p:sp>
        <p:nvSpPr>
          <p:cNvPr id="50180" name="Text Box 2"/>
          <p:cNvSpPr txBox="1">
            <a:spLocks noChangeArrowheads="1"/>
          </p:cNvSpPr>
          <p:nvPr/>
        </p:nvSpPr>
        <p:spPr bwMode="auto">
          <a:xfrm>
            <a:off x="725488" y="165100"/>
            <a:ext cx="42735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4800">
                <a:solidFill>
                  <a:schemeClr val="accent2"/>
                </a:solidFill>
                <a:latin typeface="楷体_GB2312" pitchFamily="49" charset="-122"/>
                <a:ea typeface="楷体_GB2312" pitchFamily="49" charset="-122"/>
              </a:rPr>
              <a:t>算 法 描 述：</a:t>
            </a:r>
            <a:r>
              <a:rPr kumimoji="1" lang="zh-CN" altLang="en-US">
                <a:ea typeface="楷体_GB2312" pitchFamily="49" charset="-122"/>
              </a:rPr>
              <a:t> </a:t>
            </a:r>
          </a:p>
        </p:txBody>
      </p:sp>
      <p:sp>
        <p:nvSpPr>
          <p:cNvPr id="782339" name="Text Box 3"/>
          <p:cNvSpPr txBox="1">
            <a:spLocks noChangeArrowheads="1"/>
          </p:cNvSpPr>
          <p:nvPr/>
        </p:nvSpPr>
        <p:spPr bwMode="auto">
          <a:xfrm>
            <a:off x="577850" y="1120775"/>
            <a:ext cx="26965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t>（</a:t>
            </a:r>
            <a:r>
              <a:rPr kumimoji="1" lang="en-US" altLang="zh-CN" sz="2400" dirty="0"/>
              <a:t>1</a:t>
            </a:r>
            <a:r>
              <a:rPr kumimoji="1" lang="zh-CN" altLang="en-US" sz="2400" dirty="0"/>
              <a:t>）</a:t>
            </a:r>
            <a:r>
              <a:rPr kumimoji="1" lang="zh-CN" altLang="en-US" sz="2400" i="1" dirty="0"/>
              <a:t> </a:t>
            </a:r>
            <a:r>
              <a:rPr kumimoji="1" lang="en-US" altLang="zh-CN" sz="2400" i="1" dirty="0"/>
              <a:t>i</a:t>
            </a:r>
            <a:r>
              <a:rPr kumimoji="1" lang="en-US" altLang="zh-CN" sz="2400" dirty="0"/>
              <a:t> = 1, 2, …, </a:t>
            </a:r>
            <a:r>
              <a:rPr kumimoji="1" lang="en-US" altLang="zh-CN" sz="2400" i="1" dirty="0"/>
              <a:t>n</a:t>
            </a:r>
            <a:endParaRPr kumimoji="1" lang="en-US" altLang="zh-CN" sz="2400" i="1" baseline="-30000" dirty="0"/>
          </a:p>
        </p:txBody>
      </p:sp>
      <p:sp>
        <p:nvSpPr>
          <p:cNvPr id="782340" name="Text Box 4"/>
          <p:cNvSpPr txBox="1">
            <a:spLocks noChangeArrowheads="1"/>
          </p:cNvSpPr>
          <p:nvPr/>
        </p:nvSpPr>
        <p:spPr bwMode="auto">
          <a:xfrm>
            <a:off x="5601072" y="1120775"/>
            <a:ext cx="33956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en-US" altLang="zh-CN" i="1" dirty="0"/>
              <a:t>h</a:t>
            </a:r>
            <a:r>
              <a:rPr kumimoji="1" lang="en-US" altLang="zh-CN" i="1" baseline="-30000" dirty="0"/>
              <a:t>i </a:t>
            </a:r>
            <a:r>
              <a:rPr kumimoji="1" lang="en-US" altLang="zh-CN" i="1" dirty="0"/>
              <a:t>= x</a:t>
            </a:r>
            <a:r>
              <a:rPr kumimoji="1" lang="en-US" altLang="zh-CN" i="1" baseline="-30000" dirty="0"/>
              <a:t>i</a:t>
            </a:r>
            <a:r>
              <a:rPr kumimoji="1" lang="en-US" altLang="zh-CN" i="1" dirty="0"/>
              <a:t> – x</a:t>
            </a:r>
            <a:r>
              <a:rPr kumimoji="1" lang="en-US" altLang="zh-CN" i="1" baseline="-30000" dirty="0"/>
              <a:t>i-1 </a:t>
            </a:r>
            <a:endParaRPr kumimoji="1" lang="en-US" altLang="zh-CN" dirty="0">
              <a:ea typeface="楷体_GB2312" pitchFamily="49" charset="-122"/>
            </a:endParaRPr>
          </a:p>
        </p:txBody>
      </p:sp>
      <p:sp>
        <p:nvSpPr>
          <p:cNvPr id="782341" name="Text Box 5"/>
          <p:cNvSpPr txBox="1">
            <a:spLocks noChangeArrowheads="1"/>
          </p:cNvSpPr>
          <p:nvPr/>
        </p:nvSpPr>
        <p:spPr bwMode="auto">
          <a:xfrm>
            <a:off x="616322" y="1700213"/>
            <a:ext cx="26196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t>（</a:t>
            </a:r>
            <a:r>
              <a:rPr kumimoji="1" lang="en-US" altLang="zh-CN" sz="2400" dirty="0"/>
              <a:t>2</a:t>
            </a:r>
            <a:r>
              <a:rPr kumimoji="1" lang="zh-CN" altLang="en-US" sz="2400" dirty="0"/>
              <a:t>） </a:t>
            </a:r>
            <a:r>
              <a:rPr kumimoji="1" lang="en-US" altLang="zh-CN" sz="2400" i="1" dirty="0"/>
              <a:t>i</a:t>
            </a:r>
            <a:r>
              <a:rPr kumimoji="1" lang="en-US" altLang="zh-CN" sz="2400" dirty="0"/>
              <a:t> = 1, 2,…, </a:t>
            </a:r>
            <a:r>
              <a:rPr kumimoji="1" lang="en-US" altLang="zh-CN" sz="2400" i="1" dirty="0"/>
              <a:t>n</a:t>
            </a:r>
            <a:endParaRPr kumimoji="1" lang="en-US" altLang="zh-CN" sz="2400" dirty="0">
              <a:ea typeface="楷体_GB2312" pitchFamily="49" charset="-122"/>
            </a:endParaRPr>
          </a:p>
        </p:txBody>
      </p:sp>
      <p:graphicFrame>
        <p:nvGraphicFramePr>
          <p:cNvPr id="782342" name="Object 6"/>
          <p:cNvGraphicFramePr>
            <a:graphicFrameLocks noChangeAspect="1"/>
          </p:cNvGraphicFramePr>
          <p:nvPr/>
        </p:nvGraphicFramePr>
        <p:xfrm>
          <a:off x="1181207" y="2159444"/>
          <a:ext cx="4404353" cy="1901452"/>
        </p:xfrm>
        <a:graphic>
          <a:graphicData uri="http://schemas.openxmlformats.org/presentationml/2006/ole">
            <mc:AlternateContent xmlns:mc="http://schemas.openxmlformats.org/markup-compatibility/2006">
              <mc:Choice xmlns:v="urn:schemas-microsoft-com:vml" Requires="v">
                <p:oleObj name="公式" r:id="rId3" imgW="1600200" imgH="749300" progId="Equation.3">
                  <p:embed/>
                </p:oleObj>
              </mc:Choice>
              <mc:Fallback>
                <p:oleObj name="公式" r:id="rId3" imgW="1600200" imgH="749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207" y="2159444"/>
                        <a:ext cx="4404353" cy="1901452"/>
                      </a:xfrm>
                      <a:prstGeom prst="rect">
                        <a:avLst/>
                      </a:prstGeom>
                      <a:noFill/>
                      <a:ln>
                        <a:noFill/>
                      </a:ln>
                    </p:spPr>
                  </p:pic>
                </p:oleObj>
              </mc:Fallback>
            </mc:AlternateContent>
          </a:graphicData>
        </a:graphic>
      </p:graphicFrame>
      <p:graphicFrame>
        <p:nvGraphicFramePr>
          <p:cNvPr id="782344" name="Object 8"/>
          <p:cNvGraphicFramePr>
            <a:graphicFrameLocks noChangeAspect="1"/>
          </p:cNvGraphicFramePr>
          <p:nvPr/>
        </p:nvGraphicFramePr>
        <p:xfrm>
          <a:off x="5961112" y="2276872"/>
          <a:ext cx="3193355" cy="557395"/>
        </p:xfrm>
        <a:graphic>
          <a:graphicData uri="http://schemas.openxmlformats.org/presentationml/2006/ole">
            <mc:AlternateContent xmlns:mc="http://schemas.openxmlformats.org/markup-compatibility/2006">
              <mc:Choice xmlns:v="urn:schemas-microsoft-com:vml" Requires="v">
                <p:oleObj name="Equation" r:id="rId5" imgW="1206500" imgH="228600" progId="Equation.3">
                  <p:embed/>
                </p:oleObj>
              </mc:Choice>
              <mc:Fallback>
                <p:oleObj name="Equation" r:id="rId5" imgW="12065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61112" y="2276872"/>
                        <a:ext cx="3193355" cy="557395"/>
                      </a:xfrm>
                      <a:prstGeom prst="rect">
                        <a:avLst/>
                      </a:prstGeom>
                      <a:noFill/>
                      <a:ln>
                        <a:noFill/>
                      </a:ln>
                    </p:spPr>
                  </p:pic>
                </p:oleObj>
              </mc:Fallback>
            </mc:AlternateContent>
          </a:graphicData>
        </a:graphic>
      </p:graphicFrame>
      <p:graphicFrame>
        <p:nvGraphicFramePr>
          <p:cNvPr id="782345" name="Object 9"/>
          <p:cNvGraphicFramePr>
            <a:graphicFrameLocks noChangeAspect="1"/>
          </p:cNvGraphicFramePr>
          <p:nvPr/>
        </p:nvGraphicFramePr>
        <p:xfrm>
          <a:off x="5961112" y="2996952"/>
          <a:ext cx="1943819" cy="624927"/>
        </p:xfrm>
        <a:graphic>
          <a:graphicData uri="http://schemas.openxmlformats.org/presentationml/2006/ole">
            <mc:AlternateContent xmlns:mc="http://schemas.openxmlformats.org/markup-compatibility/2006">
              <mc:Choice xmlns:v="urn:schemas-microsoft-com:vml" Requires="v">
                <p:oleObj name="Equation" r:id="rId7" imgW="660400" imgH="228600" progId="Equation.3">
                  <p:embed/>
                </p:oleObj>
              </mc:Choice>
              <mc:Fallback>
                <p:oleObj name="Equation" r:id="rId7" imgW="6604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61112" y="2996952"/>
                        <a:ext cx="1943819" cy="624927"/>
                      </a:xfrm>
                      <a:prstGeom prst="rect">
                        <a:avLst/>
                      </a:prstGeom>
                      <a:noFill/>
                      <a:ln>
                        <a:noFill/>
                      </a:ln>
                    </p:spPr>
                  </p:pic>
                </p:oleObj>
              </mc:Fallback>
            </mc:AlternateContent>
          </a:graphicData>
        </a:graphic>
      </p:graphicFrame>
      <p:sp>
        <p:nvSpPr>
          <p:cNvPr id="11" name="Text Box 2"/>
          <p:cNvSpPr txBox="1">
            <a:spLocks noChangeArrowheads="1"/>
          </p:cNvSpPr>
          <p:nvPr/>
        </p:nvSpPr>
        <p:spPr bwMode="auto">
          <a:xfrm>
            <a:off x="714400" y="3951214"/>
            <a:ext cx="74898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t>（</a:t>
            </a:r>
            <a:r>
              <a:rPr kumimoji="1" lang="en-US" altLang="zh-CN" sz="2400" dirty="0"/>
              <a:t>3</a:t>
            </a:r>
            <a:r>
              <a:rPr kumimoji="1" lang="zh-CN" altLang="en-US" sz="2400" dirty="0"/>
              <a:t>）</a:t>
            </a:r>
            <a:r>
              <a:rPr kumimoji="1" lang="zh-CN" altLang="en-US" sz="2400" dirty="0">
                <a:ea typeface="楷体_GB2312" pitchFamily="49" charset="-122"/>
              </a:rPr>
              <a:t>解</a:t>
            </a:r>
            <a:r>
              <a:rPr kumimoji="1" lang="en-US" altLang="zh-CN" sz="2400" i="1" dirty="0"/>
              <a:t>n – </a:t>
            </a:r>
            <a:r>
              <a:rPr kumimoji="1" lang="en-US" altLang="zh-CN" sz="2400" dirty="0"/>
              <a:t>1</a:t>
            </a:r>
            <a:r>
              <a:rPr kumimoji="1" lang="zh-CN" altLang="en-US" sz="2400" dirty="0">
                <a:ea typeface="楷体_GB2312" pitchFamily="49" charset="-122"/>
              </a:rPr>
              <a:t>阶三对角方程组</a:t>
            </a:r>
            <a:r>
              <a:rPr kumimoji="1" lang="zh-CN" altLang="en-US" sz="2400" dirty="0"/>
              <a:t>，</a:t>
            </a:r>
            <a:r>
              <a:rPr kumimoji="1" lang="zh-CN" altLang="en-US" sz="2400" dirty="0">
                <a:ea typeface="楷体_GB2312" pitchFamily="49" charset="-122"/>
              </a:rPr>
              <a:t>得</a:t>
            </a:r>
          </a:p>
        </p:txBody>
      </p:sp>
      <p:sp>
        <p:nvSpPr>
          <p:cNvPr id="12" name="Text Box 3"/>
          <p:cNvSpPr txBox="1">
            <a:spLocks noChangeArrowheads="1"/>
          </p:cNvSpPr>
          <p:nvPr/>
        </p:nvSpPr>
        <p:spPr bwMode="auto">
          <a:xfrm>
            <a:off x="5414934" y="3951213"/>
            <a:ext cx="25661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en-US" altLang="zh-CN" sz="2400" i="1" dirty="0"/>
              <a:t>M</a:t>
            </a:r>
            <a:r>
              <a:rPr kumimoji="1" lang="en-US" altLang="zh-CN" sz="2400" baseline="-30000" dirty="0"/>
              <a:t>1 </a:t>
            </a:r>
            <a:r>
              <a:rPr kumimoji="1" lang="en-US" altLang="zh-CN" sz="2400" dirty="0"/>
              <a:t>,  </a:t>
            </a:r>
            <a:r>
              <a:rPr kumimoji="1" lang="en-US" altLang="zh-CN" sz="2400" i="1" dirty="0"/>
              <a:t>M</a:t>
            </a:r>
            <a:r>
              <a:rPr kumimoji="1" lang="en-US" altLang="zh-CN" sz="2400" baseline="-30000" dirty="0"/>
              <a:t>2 </a:t>
            </a:r>
            <a:r>
              <a:rPr kumimoji="1" lang="en-US" altLang="zh-CN" sz="2400" dirty="0"/>
              <a:t>,…, </a:t>
            </a:r>
            <a:r>
              <a:rPr kumimoji="1" lang="en-US" altLang="zh-CN" sz="2400" i="1" dirty="0"/>
              <a:t>M</a:t>
            </a:r>
            <a:r>
              <a:rPr kumimoji="1" lang="en-US" altLang="zh-CN" sz="2400" i="1" baseline="-30000" dirty="0"/>
              <a:t>n</a:t>
            </a:r>
            <a:r>
              <a:rPr kumimoji="1" lang="en-US" altLang="zh-CN" sz="2400" baseline="-30000" dirty="0"/>
              <a:t>-1</a:t>
            </a:r>
            <a:r>
              <a:rPr kumimoji="1" lang="en-US" altLang="zh-CN" sz="2400" dirty="0"/>
              <a:t> </a:t>
            </a:r>
            <a:endParaRPr kumimoji="1" lang="en-US" altLang="zh-CN" sz="2400" dirty="0">
              <a:ea typeface="楷体_GB2312" pitchFamily="49" charset="-122"/>
            </a:endParaRPr>
          </a:p>
        </p:txBody>
      </p:sp>
      <p:sp>
        <p:nvSpPr>
          <p:cNvPr id="13" name="Text Box 4"/>
          <p:cNvSpPr txBox="1">
            <a:spLocks noChangeArrowheads="1"/>
          </p:cNvSpPr>
          <p:nvPr/>
        </p:nvSpPr>
        <p:spPr bwMode="auto">
          <a:xfrm>
            <a:off x="1526502" y="4397060"/>
            <a:ext cx="36295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ea typeface="楷体_GB2312" pitchFamily="49" charset="-122"/>
              </a:rPr>
              <a:t>代入端点条件计算</a:t>
            </a:r>
            <a:r>
              <a:rPr kumimoji="1" lang="en-US" altLang="zh-CN" sz="2400" i="1" dirty="0"/>
              <a:t>M</a:t>
            </a:r>
            <a:r>
              <a:rPr kumimoji="1" lang="en-US" altLang="zh-CN" sz="2400" baseline="-30000" dirty="0"/>
              <a:t>0 </a:t>
            </a:r>
            <a:r>
              <a:rPr kumimoji="1" lang="en-US" altLang="zh-CN" sz="2400" dirty="0"/>
              <a:t>, </a:t>
            </a:r>
            <a:r>
              <a:rPr kumimoji="1" lang="en-US" altLang="zh-CN" sz="2400" i="1" dirty="0" err="1"/>
              <a:t>M</a:t>
            </a:r>
            <a:r>
              <a:rPr kumimoji="1" lang="en-US" altLang="zh-CN" sz="2400" i="1" baseline="-30000" dirty="0" err="1"/>
              <a:t>n</a:t>
            </a:r>
            <a:endParaRPr kumimoji="1" lang="en-US" altLang="zh-CN" sz="2400" dirty="0">
              <a:ea typeface="楷体_GB2312" pitchFamily="49" charset="-122"/>
            </a:endParaRPr>
          </a:p>
        </p:txBody>
      </p:sp>
      <p:grpSp>
        <p:nvGrpSpPr>
          <p:cNvPr id="18" name="Group 5"/>
          <p:cNvGrpSpPr>
            <a:grpSpLocks/>
          </p:cNvGrpSpPr>
          <p:nvPr/>
        </p:nvGrpSpPr>
        <p:grpSpPr bwMode="auto">
          <a:xfrm>
            <a:off x="714400" y="4858106"/>
            <a:ext cx="4531602" cy="849905"/>
            <a:chOff x="336" y="1560"/>
            <a:chExt cx="2392" cy="374"/>
          </a:xfrm>
        </p:grpSpPr>
        <p:sp>
          <p:nvSpPr>
            <p:cNvPr id="19" name="Text Box 6"/>
            <p:cNvSpPr txBox="1">
              <a:spLocks noChangeArrowheads="1"/>
            </p:cNvSpPr>
            <p:nvPr/>
          </p:nvSpPr>
          <p:spPr bwMode="auto">
            <a:xfrm>
              <a:off x="336" y="1586"/>
              <a:ext cx="54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latin typeface="宋体" charset="-122"/>
                </a:rPr>
                <a:t>（</a:t>
              </a:r>
              <a:r>
                <a:rPr kumimoji="1" lang="en-US" altLang="zh-CN" sz="2400" dirty="0"/>
                <a:t>4</a:t>
              </a:r>
              <a:r>
                <a:rPr kumimoji="1" lang="zh-CN" altLang="en-US" sz="2400" dirty="0">
                  <a:latin typeface="宋体" charset="-122"/>
                </a:rPr>
                <a:t>）</a:t>
              </a:r>
              <a:r>
                <a:rPr kumimoji="1" lang="zh-CN" altLang="en-US" sz="2400" dirty="0">
                  <a:ea typeface="楷体_GB2312" pitchFamily="49" charset="-122"/>
                </a:rPr>
                <a:t> </a:t>
              </a:r>
            </a:p>
          </p:txBody>
        </p:sp>
        <p:graphicFrame>
          <p:nvGraphicFramePr>
            <p:cNvPr id="20" name="Object 7"/>
            <p:cNvGraphicFramePr>
              <a:graphicFrameLocks noChangeAspect="1"/>
            </p:cNvGraphicFramePr>
            <p:nvPr/>
          </p:nvGraphicFramePr>
          <p:xfrm>
            <a:off x="718" y="1560"/>
            <a:ext cx="2010" cy="374"/>
          </p:xfrm>
          <a:graphic>
            <a:graphicData uri="http://schemas.openxmlformats.org/presentationml/2006/ole">
              <mc:AlternateContent xmlns:mc="http://schemas.openxmlformats.org/markup-compatibility/2006">
                <mc:Choice xmlns:v="urn:schemas-microsoft-com:vml" Requires="v">
                  <p:oleObj name="Equation" r:id="rId9" imgW="2463800" imgH="457200" progId="Equation.3">
                    <p:embed/>
                  </p:oleObj>
                </mc:Choice>
                <mc:Fallback>
                  <p:oleObj name="Equation" r:id="rId9" imgW="24638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8" y="1560"/>
                          <a:ext cx="2010" cy="374"/>
                        </a:xfrm>
                        <a:prstGeom prst="rect">
                          <a:avLst/>
                        </a:prstGeom>
                        <a:noFill/>
                        <a:ln>
                          <a:noFill/>
                        </a:ln>
                      </p:spPr>
                    </p:pic>
                  </p:oleObj>
                </mc:Fallback>
              </mc:AlternateContent>
            </a:graphicData>
          </a:graphic>
        </p:graphicFrame>
      </p:grpSp>
      <p:graphicFrame>
        <p:nvGraphicFramePr>
          <p:cNvPr id="21" name="Object 8"/>
          <p:cNvGraphicFramePr>
            <a:graphicFrameLocks noChangeAspect="1"/>
          </p:cNvGraphicFramePr>
          <p:nvPr/>
        </p:nvGraphicFramePr>
        <p:xfrm>
          <a:off x="1748788" y="5555879"/>
          <a:ext cx="6480274" cy="868799"/>
        </p:xfrm>
        <a:graphic>
          <a:graphicData uri="http://schemas.openxmlformats.org/presentationml/2006/ole">
            <mc:AlternateContent xmlns:mc="http://schemas.openxmlformats.org/markup-compatibility/2006">
              <mc:Choice xmlns:v="urn:schemas-microsoft-com:vml" Requires="v">
                <p:oleObj name="Equation" r:id="rId11" imgW="3060700" imgH="444500" progId="Equation.3">
                  <p:embed/>
                </p:oleObj>
              </mc:Choice>
              <mc:Fallback>
                <p:oleObj name="Equation" r:id="rId11" imgW="3060700" imgH="444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48788" y="5555879"/>
                        <a:ext cx="6480274" cy="868799"/>
                      </a:xfrm>
                      <a:prstGeom prst="rect">
                        <a:avLst/>
                      </a:prstGeom>
                      <a:noFill/>
                      <a:ln>
                        <a:noFill/>
                      </a:ln>
                      <a:effectLst/>
                    </p:spPr>
                  </p:pic>
                </p:oleObj>
              </mc:Fallback>
            </mc:AlternateContent>
          </a:graphicData>
        </a:graphic>
      </p:graphicFrame>
    </p:spTree>
    <p:custDataLst>
      <p:tags r:id="rId1"/>
    </p:custDataLst>
    <p:extLst>
      <p:ext uri="{BB962C8B-B14F-4D97-AF65-F5344CB8AC3E}">
        <p14:creationId xmlns:p14="http://schemas.microsoft.com/office/powerpoint/2010/main" val="2175015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2339"/>
                                        </p:tgtEl>
                                        <p:attrNameLst>
                                          <p:attrName>style.visibility</p:attrName>
                                        </p:attrNameLst>
                                      </p:cBhvr>
                                      <p:to>
                                        <p:strVal val="visible"/>
                                      </p:to>
                                    </p:set>
                                    <p:animEffect transition="in" filter="wipe(left)">
                                      <p:cBhvr>
                                        <p:cTn id="7" dur="500"/>
                                        <p:tgtEl>
                                          <p:spTgt spid="782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82340"/>
                                        </p:tgtEl>
                                        <p:attrNameLst>
                                          <p:attrName>style.visibility</p:attrName>
                                        </p:attrNameLst>
                                      </p:cBhvr>
                                      <p:to>
                                        <p:strVal val="visible"/>
                                      </p:to>
                                    </p:set>
                                    <p:animEffect transition="in" filter="strips(downRight)">
                                      <p:cBhvr>
                                        <p:cTn id="12" dur="500"/>
                                        <p:tgtEl>
                                          <p:spTgt spid="782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2341"/>
                                        </p:tgtEl>
                                        <p:attrNameLst>
                                          <p:attrName>style.visibility</p:attrName>
                                        </p:attrNameLst>
                                      </p:cBhvr>
                                      <p:to>
                                        <p:strVal val="visible"/>
                                      </p:to>
                                    </p:set>
                                    <p:animEffect transition="in" filter="wipe(left)">
                                      <p:cBhvr>
                                        <p:cTn id="17" dur="500"/>
                                        <p:tgtEl>
                                          <p:spTgt spid="782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82342"/>
                                        </p:tgtEl>
                                        <p:attrNameLst>
                                          <p:attrName>style.visibility</p:attrName>
                                        </p:attrNameLst>
                                      </p:cBhvr>
                                      <p:to>
                                        <p:strVal val="visible"/>
                                      </p:to>
                                    </p:set>
                                    <p:animEffect transition="in" filter="dissolve">
                                      <p:cBhvr>
                                        <p:cTn id="22" dur="500"/>
                                        <p:tgtEl>
                                          <p:spTgt spid="7823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82344"/>
                                        </p:tgtEl>
                                        <p:attrNameLst>
                                          <p:attrName>style.visibility</p:attrName>
                                        </p:attrNameLst>
                                      </p:cBhvr>
                                      <p:to>
                                        <p:strVal val="visible"/>
                                      </p:to>
                                    </p:set>
                                    <p:animEffect transition="in" filter="wipe(left)">
                                      <p:cBhvr>
                                        <p:cTn id="27" dur="500"/>
                                        <p:tgtEl>
                                          <p:spTgt spid="7823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82345"/>
                                        </p:tgtEl>
                                        <p:attrNameLst>
                                          <p:attrName>style.visibility</p:attrName>
                                        </p:attrNameLst>
                                      </p:cBhvr>
                                      <p:to>
                                        <p:strVal val="visible"/>
                                      </p:to>
                                    </p:set>
                                    <p:animEffect transition="in" filter="wipe(left)">
                                      <p:cBhvr>
                                        <p:cTn id="32" dur="500"/>
                                        <p:tgtEl>
                                          <p:spTgt spid="78234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checkerboard(across)">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ssolv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dissolv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9" grpId="0" autoUpdateAnimBg="0"/>
      <p:bldP spid="782340" grpId="0" autoUpdateAnimBg="0"/>
      <p:bldP spid="782341" grpId="0" autoUpdateAnimBg="0"/>
      <p:bldP spid="11" grpId="0" autoUpdateAnimBg="0"/>
      <p:bldP spid="12" grpId="0" autoUpdateAnimBg="0"/>
      <p:bldP spid="13"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7383463" y="6310313"/>
            <a:ext cx="2501900" cy="527050"/>
          </a:xfrm>
        </p:spPr>
        <p:txBody>
          <a:bodyPr/>
          <a:lstStyle/>
          <a:p>
            <a:pPr>
              <a:defRPr/>
            </a:pPr>
            <a:fld id="{B8AD63A1-2625-490E-BB60-78A2F6B1C630}" type="slidenum">
              <a:rPr lang="zh-CN" altLang="en-US" smtClean="0"/>
              <a:pPr>
                <a:defRPr/>
              </a:pPr>
              <a:t>56</a:t>
            </a:fld>
            <a:endParaRPr lang="en-US" altLang="zh-CN"/>
          </a:p>
        </p:txBody>
      </p:sp>
      <p:sp>
        <p:nvSpPr>
          <p:cNvPr id="3" name="日期占位符 2"/>
          <p:cNvSpPr>
            <a:spLocks noGrp="1"/>
          </p:cNvSpPr>
          <p:nvPr>
            <p:ph type="dt" sz="quarter" idx="11"/>
          </p:nvPr>
        </p:nvSpPr>
        <p:spPr>
          <a:xfrm>
            <a:off x="3175" y="6273800"/>
            <a:ext cx="2297113" cy="577850"/>
          </a:xfrm>
        </p:spPr>
        <p:txBody>
          <a:bodyPr/>
          <a:lstStyle/>
          <a:p>
            <a:pPr>
              <a:defRPr/>
            </a:pPr>
            <a:fld id="{63493A75-37D3-4D7A-9DAD-16287F3F0141}" type="datetime1">
              <a:rPr lang="zh-CN" altLang="en-US" smtClean="0"/>
              <a:pPr>
                <a:defRPr/>
              </a:pPr>
              <a:t>2024/11/18</a:t>
            </a:fld>
            <a:endParaRPr lang="en-US" altLang="zh-CN" sz="1000" dirty="0"/>
          </a:p>
        </p:txBody>
      </p:sp>
      <p:graphicFrame>
        <p:nvGraphicFramePr>
          <p:cNvPr id="52228" name="对象 3"/>
          <p:cNvGraphicFramePr>
            <a:graphicFrameLocks noChangeAspect="1"/>
          </p:cNvGraphicFramePr>
          <p:nvPr/>
        </p:nvGraphicFramePr>
        <p:xfrm>
          <a:off x="2505075" y="981075"/>
          <a:ext cx="3902075" cy="1190625"/>
        </p:xfrm>
        <a:graphic>
          <a:graphicData uri="http://schemas.openxmlformats.org/presentationml/2006/ole">
            <mc:AlternateContent xmlns:mc="http://schemas.openxmlformats.org/markup-compatibility/2006">
              <mc:Choice xmlns:v="urn:schemas-microsoft-com:vml" Requires="v">
                <p:oleObj name="公式" r:id="rId3" imgW="1485900" imgH="482600" progId="Equation.3">
                  <p:embed/>
                </p:oleObj>
              </mc:Choice>
              <mc:Fallback>
                <p:oleObj name="公式" r:id="rId3" imgW="1485900" imgH="482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075" y="981075"/>
                        <a:ext cx="39020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2"/>
          <p:cNvSpPr txBox="1">
            <a:spLocks noChangeArrowheads="1"/>
          </p:cNvSpPr>
          <p:nvPr/>
        </p:nvSpPr>
        <p:spPr bwMode="auto">
          <a:xfrm>
            <a:off x="128464" y="2473732"/>
            <a:ext cx="22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solidFill>
                  <a:srgbClr val="FF0000"/>
                </a:solidFill>
                <a:ea typeface="黑体" pitchFamily="49" charset="-122"/>
              </a:rPr>
              <a:t>端点条件</a:t>
            </a:r>
          </a:p>
        </p:txBody>
      </p:sp>
      <p:sp>
        <p:nvSpPr>
          <p:cNvPr id="6" name="Text Box 3"/>
          <p:cNvSpPr txBox="1">
            <a:spLocks noChangeArrowheads="1"/>
          </p:cNvSpPr>
          <p:nvPr/>
        </p:nvSpPr>
        <p:spPr bwMode="auto">
          <a:xfrm>
            <a:off x="684213" y="3048000"/>
            <a:ext cx="86328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800">
                <a:latin typeface="楷体_GB2312" pitchFamily="49" charset="-122"/>
                <a:ea typeface="黑体" pitchFamily="49" charset="-122"/>
              </a:rPr>
              <a:t>最后一个方程。若</a:t>
            </a:r>
            <a:r>
              <a:rPr kumimoji="1" lang="zh-CN" altLang="en-US" sz="2800">
                <a:solidFill>
                  <a:srgbClr val="FF0000"/>
                </a:solidFill>
                <a:latin typeface="楷体_GB2312" pitchFamily="49" charset="-122"/>
                <a:ea typeface="黑体" pitchFamily="49" charset="-122"/>
              </a:rPr>
              <a:t>取 </a:t>
            </a:r>
            <a:r>
              <a:rPr kumimoji="1" lang="en-US" altLang="zh-CN" sz="2800" i="1">
                <a:solidFill>
                  <a:srgbClr val="FF0000"/>
                </a:solidFill>
                <a:ea typeface="黑体" pitchFamily="49" charset="-122"/>
              </a:rPr>
              <a:t>M</a:t>
            </a:r>
            <a:r>
              <a:rPr kumimoji="1" lang="en-US" altLang="zh-CN" sz="2800" baseline="-30000">
                <a:solidFill>
                  <a:srgbClr val="FF0000"/>
                </a:solidFill>
                <a:ea typeface="黑体" pitchFamily="49" charset="-122"/>
              </a:rPr>
              <a:t>0</a:t>
            </a:r>
            <a:r>
              <a:rPr kumimoji="1" lang="en-US" altLang="zh-CN" sz="2800">
                <a:solidFill>
                  <a:srgbClr val="FF0000"/>
                </a:solidFill>
                <a:ea typeface="黑体" pitchFamily="49" charset="-122"/>
              </a:rPr>
              <a:t> = </a:t>
            </a:r>
            <a:r>
              <a:rPr kumimoji="1" lang="en-US" altLang="zh-CN" sz="2800" i="1">
                <a:solidFill>
                  <a:srgbClr val="FF0000"/>
                </a:solidFill>
                <a:ea typeface="黑体" pitchFamily="49" charset="-122"/>
              </a:rPr>
              <a:t>M</a:t>
            </a:r>
            <a:r>
              <a:rPr kumimoji="1" lang="en-US" altLang="zh-CN" sz="2800" i="1" baseline="-30000">
                <a:solidFill>
                  <a:srgbClr val="FF0000"/>
                </a:solidFill>
                <a:ea typeface="黑体" pitchFamily="49" charset="-122"/>
              </a:rPr>
              <a:t>n</a:t>
            </a:r>
            <a:r>
              <a:rPr kumimoji="1" lang="en-US" altLang="zh-CN" sz="2800">
                <a:solidFill>
                  <a:srgbClr val="FF0000"/>
                </a:solidFill>
                <a:ea typeface="黑体" pitchFamily="49" charset="-122"/>
              </a:rPr>
              <a:t>=0</a:t>
            </a:r>
            <a:r>
              <a:rPr kumimoji="1" lang="zh-CN" altLang="en-US" sz="2800">
                <a:ea typeface="黑体" pitchFamily="49" charset="-122"/>
              </a:rPr>
              <a:t>，</a:t>
            </a:r>
            <a:r>
              <a:rPr kumimoji="1" lang="zh-CN" altLang="en-US" sz="2800">
                <a:latin typeface="楷体_GB2312" pitchFamily="49" charset="-122"/>
                <a:ea typeface="黑体" pitchFamily="49" charset="-122"/>
              </a:rPr>
              <a:t>称为</a:t>
            </a:r>
            <a:r>
              <a:rPr kumimoji="1" lang="zh-CN" altLang="en-US" sz="2800">
                <a:solidFill>
                  <a:srgbClr val="FF0000"/>
                </a:solidFill>
                <a:latin typeface="楷体_GB2312" pitchFamily="49" charset="-122"/>
                <a:ea typeface="黑体" pitchFamily="49" charset="-122"/>
              </a:rPr>
              <a:t>三次自然样条</a:t>
            </a:r>
            <a:r>
              <a:rPr kumimoji="1" lang="zh-CN" altLang="en-US" sz="2800">
                <a:latin typeface="楷体_GB2312" pitchFamily="49" charset="-122"/>
                <a:ea typeface="黑体" pitchFamily="49" charset="-122"/>
              </a:rPr>
              <a:t>。即样条在首尾两端自然伸直</a:t>
            </a:r>
          </a:p>
        </p:txBody>
      </p:sp>
      <p:grpSp>
        <p:nvGrpSpPr>
          <p:cNvPr id="7" name="Group 4"/>
          <p:cNvGrpSpPr>
            <a:grpSpLocks/>
          </p:cNvGrpSpPr>
          <p:nvPr/>
        </p:nvGrpSpPr>
        <p:grpSpPr bwMode="auto">
          <a:xfrm>
            <a:off x="1335249" y="2492375"/>
            <a:ext cx="7748427" cy="531813"/>
            <a:chOff x="735" y="666"/>
            <a:chExt cx="4505" cy="335"/>
          </a:xfrm>
        </p:grpSpPr>
        <p:graphicFrame>
          <p:nvGraphicFramePr>
            <p:cNvPr id="52237" name="Object 5"/>
            <p:cNvGraphicFramePr>
              <a:graphicFrameLocks noChangeAspect="1"/>
            </p:cNvGraphicFramePr>
            <p:nvPr/>
          </p:nvGraphicFramePr>
          <p:xfrm>
            <a:off x="1642" y="674"/>
            <a:ext cx="1602" cy="287"/>
          </p:xfrm>
          <a:graphic>
            <a:graphicData uri="http://schemas.openxmlformats.org/presentationml/2006/ole">
              <mc:AlternateContent xmlns:mc="http://schemas.openxmlformats.org/markup-compatibility/2006">
                <mc:Choice xmlns:v="urn:schemas-microsoft-com:vml" Requires="v">
                  <p:oleObj name="Equation" r:id="rId5" imgW="1282700" imgH="228600" progId="Equation.3">
                    <p:embed/>
                  </p:oleObj>
                </mc:Choice>
                <mc:Fallback>
                  <p:oleObj name="Equation" r:id="rId5" imgW="12827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2" y="674"/>
                          <a:ext cx="160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8" name="Text Box 6"/>
            <p:cNvSpPr txBox="1">
              <a:spLocks noChangeArrowheads="1"/>
            </p:cNvSpPr>
            <p:nvPr/>
          </p:nvSpPr>
          <p:spPr bwMode="auto">
            <a:xfrm>
              <a:off x="735" y="666"/>
              <a:ext cx="9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ea typeface="黑体" pitchFamily="49" charset="-122"/>
                </a:rPr>
                <a:t>（</a:t>
              </a:r>
              <a:r>
                <a:rPr kumimoji="1" lang="en-US" altLang="zh-CN" sz="2400" dirty="0">
                  <a:ea typeface="黑体" pitchFamily="49" charset="-122"/>
                </a:rPr>
                <a:t>1</a:t>
              </a:r>
              <a:r>
                <a:rPr kumimoji="1" lang="zh-CN" altLang="en-US" sz="2400" dirty="0">
                  <a:ea typeface="黑体" pitchFamily="49" charset="-122"/>
                </a:rPr>
                <a:t>）给定</a:t>
              </a:r>
            </a:p>
          </p:txBody>
        </p:sp>
        <p:sp>
          <p:nvSpPr>
            <p:cNvPr id="52239" name="Text Box 7"/>
            <p:cNvSpPr txBox="1">
              <a:spLocks noChangeArrowheads="1"/>
            </p:cNvSpPr>
            <p:nvPr/>
          </p:nvSpPr>
          <p:spPr bwMode="auto">
            <a:xfrm>
              <a:off x="3264" y="674"/>
              <a:ext cx="19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800">
                  <a:latin typeface="楷体_GB2312" pitchFamily="49" charset="-122"/>
                  <a:ea typeface="黑体" pitchFamily="49" charset="-122"/>
                </a:rPr>
                <a:t>补充</a:t>
              </a:r>
              <a:r>
                <a:rPr kumimoji="1" lang="zh-CN" altLang="en-US" sz="2800">
                  <a:latin typeface="Arial" charset="0"/>
                  <a:ea typeface="黑体" pitchFamily="49" charset="-122"/>
                </a:rPr>
                <a:t>上式</a:t>
              </a:r>
              <a:r>
                <a:rPr kumimoji="1" lang="zh-CN" altLang="en-US" sz="2800">
                  <a:latin typeface="楷体_GB2312" pitchFamily="49" charset="-122"/>
                  <a:ea typeface="黑体" pitchFamily="49" charset="-122"/>
                </a:rPr>
                <a:t>的第一个和</a:t>
              </a:r>
            </a:p>
          </p:txBody>
        </p:sp>
      </p:grpSp>
      <p:grpSp>
        <p:nvGrpSpPr>
          <p:cNvPr id="11" name="Group 11"/>
          <p:cNvGrpSpPr>
            <a:grpSpLocks/>
          </p:cNvGrpSpPr>
          <p:nvPr/>
        </p:nvGrpSpPr>
        <p:grpSpPr bwMode="auto">
          <a:xfrm>
            <a:off x="1180604" y="4005263"/>
            <a:ext cx="7361238" cy="549275"/>
            <a:chOff x="528" y="1408"/>
            <a:chExt cx="4280" cy="346"/>
          </a:xfrm>
        </p:grpSpPr>
        <p:sp>
          <p:nvSpPr>
            <p:cNvPr id="52235" name="Text Box 12"/>
            <p:cNvSpPr txBox="1">
              <a:spLocks noChangeArrowheads="1"/>
            </p:cNvSpPr>
            <p:nvPr/>
          </p:nvSpPr>
          <p:spPr bwMode="auto">
            <a:xfrm>
              <a:off x="528" y="1408"/>
              <a:ext cx="233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800" dirty="0">
                  <a:ea typeface="黑体" pitchFamily="49" charset="-122"/>
                </a:rPr>
                <a:t>（</a:t>
              </a:r>
              <a:r>
                <a:rPr kumimoji="1" lang="en-US" altLang="zh-CN" sz="2800" dirty="0">
                  <a:ea typeface="黑体" pitchFamily="49" charset="-122"/>
                </a:rPr>
                <a:t>2</a:t>
              </a:r>
              <a:r>
                <a:rPr kumimoji="1" lang="zh-CN" altLang="en-US" sz="2800" dirty="0">
                  <a:ea typeface="黑体" pitchFamily="49" charset="-122"/>
                </a:rPr>
                <a:t>）</a:t>
              </a:r>
              <a:r>
                <a:rPr kumimoji="1" lang="zh-CN" altLang="en-US" sz="2800" dirty="0">
                  <a:solidFill>
                    <a:srgbClr val="FF0000"/>
                  </a:solidFill>
                  <a:latin typeface="楷体_GB2312" pitchFamily="49" charset="-122"/>
                  <a:ea typeface="黑体" pitchFamily="49" charset="-122"/>
                </a:rPr>
                <a:t>给定两端点导数值</a:t>
              </a:r>
              <a:r>
                <a:rPr kumimoji="1" lang="zh-CN" altLang="en-US" sz="2800" dirty="0">
                  <a:solidFill>
                    <a:srgbClr val="FF0000"/>
                  </a:solidFill>
                  <a:ea typeface="黑体" pitchFamily="49" charset="-122"/>
                </a:rPr>
                <a:t> </a:t>
              </a:r>
            </a:p>
          </p:txBody>
        </p:sp>
        <p:graphicFrame>
          <p:nvGraphicFramePr>
            <p:cNvPr id="52236" name="Object 13"/>
            <p:cNvGraphicFramePr>
              <a:graphicFrameLocks noChangeAspect="1"/>
            </p:cNvGraphicFramePr>
            <p:nvPr/>
          </p:nvGraphicFramePr>
          <p:xfrm>
            <a:off x="2777" y="1488"/>
            <a:ext cx="2031" cy="266"/>
          </p:xfrm>
          <a:graphic>
            <a:graphicData uri="http://schemas.openxmlformats.org/presentationml/2006/ole">
              <mc:AlternateContent xmlns:mc="http://schemas.openxmlformats.org/markup-compatibility/2006">
                <mc:Choice xmlns:v="urn:schemas-microsoft-com:vml" Requires="v">
                  <p:oleObj name="Equation" r:id="rId7" imgW="1752600" imgH="228600" progId="Equation.3">
                    <p:embed/>
                  </p:oleObj>
                </mc:Choice>
                <mc:Fallback>
                  <p:oleObj name="Equation" r:id="rId7" imgW="17526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7" y="1488"/>
                          <a:ext cx="203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 name="对象 13"/>
          <p:cNvGraphicFramePr>
            <a:graphicFrameLocks noChangeAspect="1"/>
          </p:cNvGraphicFramePr>
          <p:nvPr/>
        </p:nvGraphicFramePr>
        <p:xfrm>
          <a:off x="2360613" y="4524375"/>
          <a:ext cx="3786187" cy="877888"/>
        </p:xfrm>
        <a:graphic>
          <a:graphicData uri="http://schemas.openxmlformats.org/presentationml/2006/ole">
            <mc:AlternateContent xmlns:mc="http://schemas.openxmlformats.org/markup-compatibility/2006">
              <mc:Choice xmlns:v="urn:schemas-microsoft-com:vml" Requires="v">
                <p:oleObj name="Equation" r:id="rId9" imgW="1905000" imgH="482600" progId="Equation.3">
                  <p:embed/>
                </p:oleObj>
              </mc:Choice>
              <mc:Fallback>
                <p:oleObj name="Equation" r:id="rId9" imgW="1905000" imgH="482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0613" y="4524375"/>
                        <a:ext cx="3786187"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2360613" y="5373688"/>
          <a:ext cx="3929062" cy="800100"/>
        </p:xfrm>
        <a:graphic>
          <a:graphicData uri="http://schemas.openxmlformats.org/presentationml/2006/ole">
            <mc:AlternateContent xmlns:mc="http://schemas.openxmlformats.org/markup-compatibility/2006">
              <mc:Choice xmlns:v="urn:schemas-microsoft-com:vml" Requires="v">
                <p:oleObj name="Equation" r:id="rId11" imgW="2159000" imgH="482600" progId="Equation.3">
                  <p:embed/>
                </p:oleObj>
              </mc:Choice>
              <mc:Fallback>
                <p:oleObj name="Equation" r:id="rId11" imgW="2159000" imgH="482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0613" y="5373688"/>
                        <a:ext cx="39290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2"/>
          <p:cNvSpPr txBox="1">
            <a:spLocks noChangeArrowheads="1"/>
          </p:cNvSpPr>
          <p:nvPr/>
        </p:nvSpPr>
        <p:spPr bwMode="auto">
          <a:xfrm>
            <a:off x="144615" y="4005263"/>
            <a:ext cx="22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charset="-122"/>
              </a:defRPr>
            </a:lvl1pPr>
            <a:lvl2pPr marL="742950" indent="-285750">
              <a:defRPr sz="3200" b="1">
                <a:solidFill>
                  <a:schemeClr val="tx1"/>
                </a:solidFill>
                <a:latin typeface="Times New Roman" pitchFamily="18" charset="0"/>
                <a:ea typeface="宋体" charset="-122"/>
              </a:defRPr>
            </a:lvl2pPr>
            <a:lvl3pPr marL="1143000" indent="-228600">
              <a:defRPr sz="3200" b="1">
                <a:solidFill>
                  <a:schemeClr val="tx1"/>
                </a:solidFill>
                <a:latin typeface="Times New Roman" pitchFamily="18" charset="0"/>
                <a:ea typeface="宋体" charset="-122"/>
              </a:defRPr>
            </a:lvl3pPr>
            <a:lvl4pPr marL="1600200" indent="-228600">
              <a:defRPr sz="3200" b="1">
                <a:solidFill>
                  <a:schemeClr val="tx1"/>
                </a:solidFill>
                <a:latin typeface="Times New Roman" pitchFamily="18" charset="0"/>
                <a:ea typeface="宋体" charset="-122"/>
              </a:defRPr>
            </a:lvl4pPr>
            <a:lvl5pPr marL="2057400" indent="-228600">
              <a:defRPr sz="3200" b="1">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sz="3200" b="1">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sz="3200" b="1">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sz="3200" b="1">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sz="3200" b="1">
                <a:solidFill>
                  <a:schemeClr val="tx1"/>
                </a:solidFill>
                <a:latin typeface="Times New Roman" pitchFamily="18" charset="0"/>
                <a:ea typeface="宋体" charset="-122"/>
              </a:defRPr>
            </a:lvl9pPr>
          </a:lstStyle>
          <a:p>
            <a:pPr algn="l" eaLnBrk="1" hangingPunct="1"/>
            <a:r>
              <a:rPr kumimoji="1" lang="zh-CN" altLang="en-US" sz="2400" dirty="0">
                <a:solidFill>
                  <a:srgbClr val="FF0000"/>
                </a:solidFill>
                <a:ea typeface="黑体" pitchFamily="49" charset="-122"/>
              </a:rPr>
              <a:t>端点条件</a:t>
            </a:r>
          </a:p>
        </p:txBody>
      </p:sp>
    </p:spTree>
    <p:custDataLst>
      <p:tags r:id="rId1"/>
    </p:custDataLst>
    <p:extLst>
      <p:ext uri="{BB962C8B-B14F-4D97-AF65-F5344CB8AC3E}">
        <p14:creationId xmlns:p14="http://schemas.microsoft.com/office/powerpoint/2010/main" val="1872697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downRigh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heckerboard(across)">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2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705660E3-48A1-4E73-A82D-02CFB86EF692}" type="slidenum">
              <a:rPr lang="zh-CN" altLang="en-US"/>
              <a:pPr/>
              <a:t>57</a:t>
            </a:fld>
            <a:endParaRPr lang="en-US" altLang="zh-CN"/>
          </a:p>
        </p:txBody>
      </p:sp>
      <p:sp>
        <p:nvSpPr>
          <p:cNvPr id="5" name="日期占位符 4"/>
          <p:cNvSpPr>
            <a:spLocks noGrp="1"/>
          </p:cNvSpPr>
          <p:nvPr>
            <p:ph type="dt" sz="half" idx="11"/>
          </p:nvPr>
        </p:nvSpPr>
        <p:spPr/>
        <p:txBody>
          <a:bodyPr/>
          <a:lstStyle/>
          <a:p>
            <a:fld id="{B2D47003-D146-4C7B-A52C-8E96BAE8DF1B}" type="datetime1">
              <a:rPr lang="zh-CN" altLang="en-US"/>
              <a:pPr/>
              <a:t>2024/11/18</a:t>
            </a:fld>
            <a:endParaRPr lang="en-US" altLang="zh-CN" sz="1000"/>
          </a:p>
        </p:txBody>
      </p:sp>
      <p:sp>
        <p:nvSpPr>
          <p:cNvPr id="871426" name="Rectangle 2"/>
          <p:cNvSpPr>
            <a:spLocks noGrp="1" noChangeArrowheads="1"/>
          </p:cNvSpPr>
          <p:nvPr>
            <p:ph type="title"/>
          </p:nvPr>
        </p:nvSpPr>
        <p:spPr/>
        <p:txBody>
          <a:bodyPr/>
          <a:lstStyle/>
          <a:p>
            <a:r>
              <a:rPr lang="zh-CN" altLang="en-US"/>
              <a:t>第六章 数值微分和数值积分</a:t>
            </a:r>
          </a:p>
        </p:txBody>
      </p:sp>
      <p:sp>
        <p:nvSpPr>
          <p:cNvPr id="871427" name="Rectangle 3"/>
          <p:cNvSpPr>
            <a:spLocks noGrp="1" noChangeArrowheads="1"/>
          </p:cNvSpPr>
          <p:nvPr>
            <p:ph type="body" idx="1"/>
          </p:nvPr>
        </p:nvSpPr>
        <p:spPr>
          <a:xfrm>
            <a:off x="650875" y="1143000"/>
            <a:ext cx="8820150" cy="2003625"/>
          </a:xfrm>
        </p:spPr>
        <p:txBody>
          <a:bodyPr/>
          <a:lstStyle/>
          <a:p>
            <a:pPr lvl="1"/>
            <a:r>
              <a:rPr lang="zh-CN" altLang="en-US" dirty="0"/>
              <a:t>1 牛顿－科特斯求积公式</a:t>
            </a:r>
          </a:p>
          <a:p>
            <a:pPr lvl="1"/>
            <a:r>
              <a:rPr lang="zh-CN" altLang="en-US" dirty="0"/>
              <a:t>2 复化求积公式</a:t>
            </a:r>
          </a:p>
          <a:p>
            <a:pPr lvl="1"/>
            <a:r>
              <a:rPr lang="zh-CN" altLang="en-US" dirty="0"/>
              <a:t>3 龙贝格法</a:t>
            </a:r>
          </a:p>
          <a:p>
            <a:pPr lvl="1"/>
            <a:r>
              <a:rPr lang="zh-CN" altLang="en-US" dirty="0"/>
              <a:t>4 高斯求积</a:t>
            </a:r>
          </a:p>
        </p:txBody>
      </p:sp>
    </p:spTree>
    <p:extLst>
      <p:ext uri="{BB962C8B-B14F-4D97-AF65-F5344CB8AC3E}">
        <p14:creationId xmlns:p14="http://schemas.microsoft.com/office/powerpoint/2010/main" val="14622722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0"/>
          </p:nvPr>
        </p:nvSpPr>
        <p:spPr/>
        <p:txBody>
          <a:bodyPr/>
          <a:lstStyle/>
          <a:p>
            <a:fld id="{3F780956-798D-480B-AAE5-952B5DF6DA75}" type="slidenum">
              <a:rPr lang="zh-CN" altLang="en-US"/>
              <a:pPr/>
              <a:t>58</a:t>
            </a:fld>
            <a:endParaRPr lang="en-US" altLang="zh-CN"/>
          </a:p>
        </p:txBody>
      </p:sp>
      <p:sp>
        <p:nvSpPr>
          <p:cNvPr id="15" name="日期占位符 4"/>
          <p:cNvSpPr>
            <a:spLocks noGrp="1"/>
          </p:cNvSpPr>
          <p:nvPr>
            <p:ph type="dt" sz="half" idx="11"/>
          </p:nvPr>
        </p:nvSpPr>
        <p:spPr/>
        <p:txBody>
          <a:bodyPr/>
          <a:lstStyle/>
          <a:p>
            <a:fld id="{EE9E2B2C-004D-4B9E-974C-A389FAF0B29D}" type="datetime1">
              <a:rPr lang="zh-CN" altLang="en-US"/>
              <a:pPr/>
              <a:t>2024/11/18</a:t>
            </a:fld>
            <a:endParaRPr lang="en-US" altLang="zh-CN" sz="1000"/>
          </a:p>
        </p:txBody>
      </p:sp>
      <p:sp>
        <p:nvSpPr>
          <p:cNvPr id="872450" name="Rectangle 2"/>
          <p:cNvSpPr>
            <a:spLocks noGrp="1" noChangeArrowheads="1"/>
          </p:cNvSpPr>
          <p:nvPr>
            <p:ph type="title"/>
          </p:nvPr>
        </p:nvSpPr>
        <p:spPr>
          <a:xfrm>
            <a:off x="650875" y="305002"/>
            <a:ext cx="8820150" cy="609398"/>
          </a:xfrm>
        </p:spPr>
        <p:txBody>
          <a:bodyPr/>
          <a:lstStyle/>
          <a:p>
            <a:r>
              <a:rPr lang="zh-CN" altLang="en-US" sz="4400" dirty="0"/>
              <a:t>1</a:t>
            </a:r>
            <a:r>
              <a:rPr lang="en-US" altLang="zh-CN" sz="4400" dirty="0"/>
              <a:t>.</a:t>
            </a:r>
            <a:r>
              <a:rPr lang="zh-CN" altLang="en-US" sz="4400" dirty="0"/>
              <a:t> 牛顿——柯特斯求积公式</a:t>
            </a:r>
          </a:p>
        </p:txBody>
      </p:sp>
      <p:sp>
        <p:nvSpPr>
          <p:cNvPr id="872451" name="Rectangle 3"/>
          <p:cNvSpPr>
            <a:spLocks noGrp="1" noChangeArrowheads="1"/>
          </p:cNvSpPr>
          <p:nvPr>
            <p:ph type="body" idx="1"/>
          </p:nvPr>
        </p:nvSpPr>
        <p:spPr>
          <a:xfrm>
            <a:off x="650875" y="1143000"/>
            <a:ext cx="8820150" cy="384175"/>
          </a:xfrm>
          <a:noFill/>
          <a:ln/>
        </p:spPr>
        <p:txBody>
          <a:bodyPr/>
          <a:lstStyle/>
          <a:p>
            <a:r>
              <a:rPr lang="en-US" altLang="zh-CN" i="1"/>
              <a:t>f</a:t>
            </a:r>
            <a:r>
              <a:rPr lang="en-US" altLang="zh-CN"/>
              <a:t>(</a:t>
            </a:r>
            <a:r>
              <a:rPr lang="en-US" altLang="zh-CN" i="1"/>
              <a:t>x</a:t>
            </a:r>
            <a:r>
              <a:rPr lang="en-US" altLang="zh-CN"/>
              <a:t>) </a:t>
            </a:r>
            <a:r>
              <a:rPr lang="en-US" altLang="zh-CN">
                <a:sym typeface="Symbol" pitchFamily="18" charset="2"/>
              </a:rPr>
              <a:t> </a:t>
            </a:r>
            <a:r>
              <a:rPr lang="en-US" altLang="zh-CN" i="1">
                <a:sym typeface="Symbol" pitchFamily="18" charset="2"/>
              </a:rPr>
              <a:t>P</a:t>
            </a:r>
            <a:r>
              <a:rPr lang="en-US" altLang="zh-CN" baseline="-25000"/>
              <a:t>n</a:t>
            </a:r>
            <a:r>
              <a:rPr lang="en-US" altLang="zh-CN"/>
              <a:t>(</a:t>
            </a:r>
            <a:r>
              <a:rPr lang="en-US" altLang="zh-CN" i="1"/>
              <a:t>x</a:t>
            </a:r>
            <a:r>
              <a:rPr lang="en-US" altLang="zh-CN"/>
              <a:t>)</a:t>
            </a:r>
            <a:endParaRPr lang="zh-CN" altLang="en-US"/>
          </a:p>
        </p:txBody>
      </p:sp>
      <p:sp>
        <p:nvSpPr>
          <p:cNvPr id="872452" name="AutoShape 4"/>
          <p:cNvSpPr>
            <a:spLocks noChangeArrowheads="1"/>
          </p:cNvSpPr>
          <p:nvPr/>
        </p:nvSpPr>
        <p:spPr bwMode="auto">
          <a:xfrm>
            <a:off x="2895600" y="1143000"/>
            <a:ext cx="609600" cy="457200"/>
          </a:xfrm>
          <a:prstGeom prst="rightArrow">
            <a:avLst>
              <a:gd name="adj1" fmla="val 50000"/>
              <a:gd name="adj2" fmla="val 33333"/>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2453" name="Object 5"/>
          <p:cNvGraphicFramePr>
            <a:graphicFrameLocks noChangeAspect="1"/>
          </p:cNvGraphicFramePr>
          <p:nvPr/>
        </p:nvGraphicFramePr>
        <p:xfrm>
          <a:off x="3581400" y="914400"/>
          <a:ext cx="3949700" cy="814388"/>
        </p:xfrm>
        <a:graphic>
          <a:graphicData uri="http://schemas.openxmlformats.org/presentationml/2006/ole">
            <mc:AlternateContent xmlns:mc="http://schemas.openxmlformats.org/markup-compatibility/2006">
              <mc:Choice xmlns:v="urn:schemas-microsoft-com:vml" Requires="v">
                <p:oleObj name="Equation" r:id="rId3" imgW="1447560" imgH="330120" progId="Equation.3">
                  <p:embed/>
                </p:oleObj>
              </mc:Choice>
              <mc:Fallback>
                <p:oleObj name="Equation" r:id="rId3" imgW="1447560" imgH="3301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914400"/>
                        <a:ext cx="3949700"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2454" name="Object 6"/>
          <p:cNvGraphicFramePr>
            <a:graphicFrameLocks noChangeAspect="1"/>
          </p:cNvGraphicFramePr>
          <p:nvPr/>
        </p:nvGraphicFramePr>
        <p:xfrm>
          <a:off x="1198563" y="1716088"/>
          <a:ext cx="5410200" cy="1065212"/>
        </p:xfrm>
        <a:graphic>
          <a:graphicData uri="http://schemas.openxmlformats.org/presentationml/2006/ole">
            <mc:AlternateContent xmlns:mc="http://schemas.openxmlformats.org/markup-compatibility/2006">
              <mc:Choice xmlns:v="urn:schemas-microsoft-com:vml" Requires="v">
                <p:oleObj name="Equation" r:id="rId5" imgW="2438280" imgH="431640" progId="Equation.3">
                  <p:embed/>
                </p:oleObj>
              </mc:Choice>
              <mc:Fallback>
                <p:oleObj name="Equation" r:id="rId5" imgW="243828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8563" y="1716088"/>
                        <a:ext cx="5410200"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2455" name="Object 7"/>
          <p:cNvGraphicFramePr>
            <a:graphicFrameLocks noChangeAspect="1"/>
          </p:cNvGraphicFramePr>
          <p:nvPr/>
        </p:nvGraphicFramePr>
        <p:xfrm>
          <a:off x="1617663" y="3090863"/>
          <a:ext cx="2503487" cy="1065212"/>
        </p:xfrm>
        <a:graphic>
          <a:graphicData uri="http://schemas.openxmlformats.org/presentationml/2006/ole">
            <mc:AlternateContent xmlns:mc="http://schemas.openxmlformats.org/markup-compatibility/2006">
              <mc:Choice xmlns:v="urn:schemas-microsoft-com:vml" Requires="v">
                <p:oleObj name="Equation" r:id="rId7" imgW="977760" imgH="431640" progId="Equation.3">
                  <p:embed/>
                </p:oleObj>
              </mc:Choice>
              <mc:Fallback>
                <p:oleObj name="Equation" r:id="rId7" imgW="97776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7663" y="3090863"/>
                        <a:ext cx="2503487"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2456" name="Object 8"/>
          <p:cNvGraphicFramePr>
            <a:graphicFrameLocks noChangeAspect="1"/>
          </p:cNvGraphicFramePr>
          <p:nvPr/>
        </p:nvGraphicFramePr>
        <p:xfrm>
          <a:off x="4089400" y="3068638"/>
          <a:ext cx="3578225" cy="1065212"/>
        </p:xfrm>
        <a:graphic>
          <a:graphicData uri="http://schemas.openxmlformats.org/presentationml/2006/ole">
            <mc:AlternateContent xmlns:mc="http://schemas.openxmlformats.org/markup-compatibility/2006">
              <mc:Choice xmlns:v="urn:schemas-microsoft-com:vml" Requires="v">
                <p:oleObj name="Equation" r:id="rId9" imgW="1396800" imgH="431640" progId="Equation.3">
                  <p:embed/>
                </p:oleObj>
              </mc:Choice>
              <mc:Fallback>
                <p:oleObj name="Equation" r:id="rId9" imgW="1396800" imgH="431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9400" y="3068638"/>
                        <a:ext cx="3578225"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2457" name="Rectangle 9"/>
          <p:cNvSpPr>
            <a:spLocks noChangeArrowheads="1"/>
          </p:cNvSpPr>
          <p:nvPr/>
        </p:nvSpPr>
        <p:spPr bwMode="auto">
          <a:xfrm>
            <a:off x="4592638" y="4076700"/>
            <a:ext cx="3794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a:latin typeface="Arial" pitchFamily="34" charset="0"/>
              </a:rPr>
              <a:t>C</a:t>
            </a:r>
            <a:r>
              <a:rPr lang="en-US" altLang="zh-CN" sz="2800" i="1" baseline="-25000">
                <a:latin typeface="Arial" pitchFamily="34" charset="0"/>
              </a:rPr>
              <a:t>i</a:t>
            </a:r>
            <a:r>
              <a:rPr lang="en-US" altLang="zh-CN" sz="2800" i="1" baseline="30000">
                <a:latin typeface="Arial" pitchFamily="34" charset="0"/>
              </a:rPr>
              <a:t>(n)</a:t>
            </a:r>
            <a:r>
              <a:rPr lang="en-US" altLang="zh-CN" sz="2800">
                <a:latin typeface="Arial" pitchFamily="34" charset="0"/>
              </a:rPr>
              <a:t>:</a:t>
            </a:r>
            <a:r>
              <a:rPr lang="zh-CN" altLang="en-US" sz="2800">
                <a:solidFill>
                  <a:srgbClr val="FF3300"/>
                </a:solidFill>
              </a:rPr>
              <a:t>牛顿—柯特斯系数</a:t>
            </a:r>
          </a:p>
        </p:txBody>
      </p:sp>
      <p:sp>
        <p:nvSpPr>
          <p:cNvPr id="872458" name="Rectangle 10"/>
          <p:cNvSpPr>
            <a:spLocks noChangeArrowheads="1"/>
          </p:cNvSpPr>
          <p:nvPr/>
        </p:nvSpPr>
        <p:spPr bwMode="auto">
          <a:xfrm>
            <a:off x="787400" y="2760663"/>
            <a:ext cx="3756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t>牛顿－柯特斯求积公式</a:t>
            </a:r>
          </a:p>
        </p:txBody>
      </p:sp>
      <p:graphicFrame>
        <p:nvGraphicFramePr>
          <p:cNvPr id="872463" name="Object 15"/>
          <p:cNvGraphicFramePr>
            <a:graphicFrameLocks noChangeAspect="1"/>
          </p:cNvGraphicFramePr>
          <p:nvPr/>
        </p:nvGraphicFramePr>
        <p:xfrm>
          <a:off x="1969294" y="4609472"/>
          <a:ext cx="1852612" cy="1065212"/>
        </p:xfrm>
        <a:graphic>
          <a:graphicData uri="http://schemas.openxmlformats.org/presentationml/2006/ole">
            <mc:AlternateContent xmlns:mc="http://schemas.openxmlformats.org/markup-compatibility/2006">
              <mc:Choice xmlns:v="urn:schemas-microsoft-com:vml" Requires="v">
                <p:oleObj name="Equation" r:id="rId11" imgW="723600" imgH="431640" progId="Equation.3">
                  <p:embed/>
                </p:oleObj>
              </mc:Choice>
              <mc:Fallback>
                <p:oleObj name="Equation" r:id="rId11" imgW="723600" imgH="431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9294" y="4609472"/>
                        <a:ext cx="1852612"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2464" name="Object 16"/>
          <p:cNvGraphicFramePr>
            <a:graphicFrameLocks noChangeAspect="1"/>
          </p:cNvGraphicFramePr>
          <p:nvPr/>
        </p:nvGraphicFramePr>
        <p:xfrm>
          <a:off x="2073275" y="5838825"/>
          <a:ext cx="1584325" cy="614363"/>
        </p:xfrm>
        <a:graphic>
          <a:graphicData uri="http://schemas.openxmlformats.org/presentationml/2006/ole">
            <mc:AlternateContent xmlns:mc="http://schemas.openxmlformats.org/markup-compatibility/2006">
              <mc:Choice xmlns:v="urn:schemas-microsoft-com:vml" Requires="v">
                <p:oleObj name="Equation" r:id="rId13" imgW="622080" imgH="241200" progId="Equation.DSMT4">
                  <p:embed/>
                </p:oleObj>
              </mc:Choice>
              <mc:Fallback>
                <p:oleObj name="Equation" r:id="rId13" imgW="622080" imgH="2412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3275" y="5838825"/>
                        <a:ext cx="1584325"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2465" name="Text Box 17" descr="白色大理石"/>
          <p:cNvSpPr txBox="1">
            <a:spLocks noChangeArrowheads="1"/>
          </p:cNvSpPr>
          <p:nvPr/>
        </p:nvSpPr>
        <p:spPr bwMode="auto">
          <a:xfrm>
            <a:off x="4233863" y="5983288"/>
            <a:ext cx="4032250" cy="427037"/>
          </a:xfrm>
          <a:prstGeom prst="rect">
            <a:avLst/>
          </a:prstGeom>
          <a:noFill/>
          <a:ln>
            <a:noFill/>
          </a:ln>
          <a:effectLst/>
          <a:extLst>
            <a:ext uri="{909E8E84-426E-40DD-AFC4-6F175D3DCCD1}">
              <a14:hiddenFill xmlns:a14="http://schemas.microsoft.com/office/drawing/2010/main">
                <a:blipFill dpi="0" rotWithShape="1">
                  <a:blip r:embed="rId15"/>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eaLnBrk="1" hangingPunct="1">
              <a:spcBef>
                <a:spcPct val="50000"/>
              </a:spcBef>
            </a:pPr>
            <a:r>
              <a:rPr lang="zh-CN" altLang="en-US" sz="2800">
                <a:ea typeface="楷体_GB2312" pitchFamily="49" charset="-122"/>
              </a:rPr>
              <a:t>柯特斯系数具有对称性</a:t>
            </a:r>
          </a:p>
        </p:txBody>
      </p:sp>
    </p:spTree>
    <p:custDataLst>
      <p:tags r:id="rId1"/>
    </p:custDataLst>
    <p:extLst>
      <p:ext uri="{BB962C8B-B14F-4D97-AF65-F5344CB8AC3E}">
        <p14:creationId xmlns:p14="http://schemas.microsoft.com/office/powerpoint/2010/main" val="4063683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72464"/>
                                        </p:tgtEl>
                                        <p:attrNameLst>
                                          <p:attrName>style.visibility</p:attrName>
                                        </p:attrNameLst>
                                      </p:cBhvr>
                                      <p:to>
                                        <p:strVal val="visible"/>
                                      </p:to>
                                    </p:set>
                                    <p:animEffect transition="in" filter="wipe(up)">
                                      <p:cBhvr>
                                        <p:cTn id="7" dur="500"/>
                                        <p:tgtEl>
                                          <p:spTgt spid="872464"/>
                                        </p:tgtEl>
                                      </p:cBhvr>
                                    </p:animEffect>
                                  </p:childTnLst>
                                </p:cTn>
                              </p:par>
                              <p:par>
                                <p:cTn id="8" presetID="22" presetClass="entr" presetSubtype="1" fill="hold" nodeType="withEffect">
                                  <p:stCondLst>
                                    <p:cond delay="0"/>
                                  </p:stCondLst>
                                  <p:childTnLst>
                                    <p:set>
                                      <p:cBhvr>
                                        <p:cTn id="9" dur="1" fill="hold">
                                          <p:stCondLst>
                                            <p:cond delay="0"/>
                                          </p:stCondLst>
                                        </p:cTn>
                                        <p:tgtEl>
                                          <p:spTgt spid="872463"/>
                                        </p:tgtEl>
                                        <p:attrNameLst>
                                          <p:attrName>style.visibility</p:attrName>
                                        </p:attrNameLst>
                                      </p:cBhvr>
                                      <p:to>
                                        <p:strVal val="visible"/>
                                      </p:to>
                                    </p:set>
                                    <p:animEffect transition="in" filter="wipe(up)">
                                      <p:cBhvr>
                                        <p:cTn id="10" dur="500"/>
                                        <p:tgtEl>
                                          <p:spTgt spid="872463"/>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72465"/>
                                        </p:tgtEl>
                                        <p:attrNameLst>
                                          <p:attrName>style.visibility</p:attrName>
                                        </p:attrNameLst>
                                      </p:cBhvr>
                                      <p:to>
                                        <p:strVal val="visible"/>
                                      </p:to>
                                    </p:set>
                                    <p:animEffect transition="in" filter="wipe(up)">
                                      <p:cBhvr>
                                        <p:cTn id="13" dur="500"/>
                                        <p:tgtEl>
                                          <p:spTgt spid="872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6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0"/>
          </p:nvPr>
        </p:nvSpPr>
        <p:spPr/>
        <p:txBody>
          <a:bodyPr/>
          <a:lstStyle/>
          <a:p>
            <a:fld id="{D7B38B7C-A798-40C1-9EA6-CC0B74A96D66}" type="slidenum">
              <a:rPr lang="zh-CN" altLang="en-US"/>
              <a:pPr/>
              <a:t>59</a:t>
            </a:fld>
            <a:endParaRPr lang="en-US" altLang="zh-CN"/>
          </a:p>
        </p:txBody>
      </p:sp>
      <p:sp>
        <p:nvSpPr>
          <p:cNvPr id="20" name="日期占位符 4"/>
          <p:cNvSpPr>
            <a:spLocks noGrp="1"/>
          </p:cNvSpPr>
          <p:nvPr>
            <p:ph type="dt" sz="half" idx="11"/>
          </p:nvPr>
        </p:nvSpPr>
        <p:spPr/>
        <p:txBody>
          <a:bodyPr/>
          <a:lstStyle/>
          <a:p>
            <a:fld id="{AD520F31-9900-4A6B-9148-9F63CB48148A}" type="datetime1">
              <a:rPr lang="zh-CN" altLang="en-US"/>
              <a:pPr/>
              <a:t>2024/11/18</a:t>
            </a:fld>
            <a:endParaRPr lang="en-US" altLang="zh-CN"/>
          </a:p>
        </p:txBody>
      </p:sp>
      <p:sp>
        <p:nvSpPr>
          <p:cNvPr id="832514" name="Rectangle 2"/>
          <p:cNvSpPr>
            <a:spLocks noGrp="1" noChangeArrowheads="1"/>
          </p:cNvSpPr>
          <p:nvPr>
            <p:ph type="title"/>
          </p:nvPr>
        </p:nvSpPr>
        <p:spPr/>
        <p:txBody>
          <a:bodyPr/>
          <a:lstStyle/>
          <a:p>
            <a:r>
              <a:rPr lang="zh-CN" altLang="en-US" dirty="0"/>
              <a:t>1</a:t>
            </a:r>
            <a:r>
              <a:rPr lang="en-US" altLang="zh-CN" dirty="0"/>
              <a:t>.</a:t>
            </a:r>
            <a:r>
              <a:rPr lang="zh-CN" altLang="en-US" dirty="0"/>
              <a:t>牛顿——柯特斯求积公式</a:t>
            </a:r>
          </a:p>
        </p:txBody>
      </p:sp>
      <p:graphicFrame>
        <p:nvGraphicFramePr>
          <p:cNvPr id="832524" name="Object 12"/>
          <p:cNvGraphicFramePr>
            <a:graphicFrameLocks noChangeAspect="1"/>
          </p:cNvGraphicFramePr>
          <p:nvPr/>
        </p:nvGraphicFramePr>
        <p:xfrm>
          <a:off x="1351762" y="1681075"/>
          <a:ext cx="6403976" cy="1065213"/>
        </p:xfrm>
        <a:graphic>
          <a:graphicData uri="http://schemas.openxmlformats.org/presentationml/2006/ole">
            <mc:AlternateContent xmlns:mc="http://schemas.openxmlformats.org/markup-compatibility/2006">
              <mc:Choice xmlns:v="urn:schemas-microsoft-com:vml" Requires="v">
                <p:oleObj name="公式" r:id="rId3" imgW="2501640" imgH="431640" progId="Equation.3">
                  <p:embed/>
                </p:oleObj>
              </mc:Choice>
              <mc:Fallback>
                <p:oleObj name="公式" r:id="rId3" imgW="250164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1762" y="1681075"/>
                        <a:ext cx="6403976"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2525" name="Object 13"/>
          <p:cNvGraphicFramePr>
            <a:graphicFrameLocks noChangeAspect="1"/>
          </p:cNvGraphicFramePr>
          <p:nvPr/>
        </p:nvGraphicFramePr>
        <p:xfrm>
          <a:off x="1351762" y="4028421"/>
          <a:ext cx="1927225" cy="1143000"/>
        </p:xfrm>
        <a:graphic>
          <a:graphicData uri="http://schemas.openxmlformats.org/presentationml/2006/ole">
            <mc:AlternateContent xmlns:mc="http://schemas.openxmlformats.org/markup-compatibility/2006">
              <mc:Choice xmlns:v="urn:schemas-microsoft-com:vml" Requires="v">
                <p:oleObj name="Equation" r:id="rId5" imgW="736560" imgH="431640" progId="Equation.3">
                  <p:embed/>
                </p:oleObj>
              </mc:Choice>
              <mc:Fallback>
                <p:oleObj name="Equation" r:id="rId5" imgW="73656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1762" y="4028421"/>
                        <a:ext cx="192722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2526" name="AutoShape 14"/>
          <p:cNvSpPr>
            <a:spLocks/>
          </p:cNvSpPr>
          <p:nvPr/>
        </p:nvSpPr>
        <p:spPr bwMode="auto">
          <a:xfrm>
            <a:off x="3388517" y="3952221"/>
            <a:ext cx="304800" cy="1295400"/>
          </a:xfrm>
          <a:prstGeom prst="leftBrace">
            <a:avLst>
              <a:gd name="adj1" fmla="val 35417"/>
              <a:gd name="adj2" fmla="val 48282"/>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527" name="Rectangle 15"/>
          <p:cNvSpPr>
            <a:spLocks noChangeArrowheads="1"/>
          </p:cNvSpPr>
          <p:nvPr/>
        </p:nvSpPr>
        <p:spPr bwMode="auto">
          <a:xfrm>
            <a:off x="3939611" y="3789040"/>
            <a:ext cx="24368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0" dirty="0">
                <a:latin typeface="Times New Roman" pitchFamily="18" charset="0"/>
              </a:rPr>
              <a:t>1   </a:t>
            </a:r>
            <a:r>
              <a:rPr lang="zh-CN" altLang="en-US" sz="2800" i="0" dirty="0">
                <a:latin typeface="Times New Roman" pitchFamily="18" charset="0"/>
              </a:rPr>
              <a:t>系数全为正</a:t>
            </a:r>
          </a:p>
        </p:txBody>
      </p:sp>
      <p:sp>
        <p:nvSpPr>
          <p:cNvPr id="832528" name="Rectangle 16"/>
          <p:cNvSpPr>
            <a:spLocks noChangeArrowheads="1"/>
          </p:cNvSpPr>
          <p:nvPr/>
        </p:nvSpPr>
        <p:spPr bwMode="auto">
          <a:xfrm>
            <a:off x="3792137" y="4724401"/>
            <a:ext cx="30330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i="0" dirty="0">
                <a:latin typeface="Times New Roman" pitchFamily="18" charset="0"/>
              </a:rPr>
              <a:t>&gt;1 </a:t>
            </a:r>
            <a:r>
              <a:rPr lang="zh-CN" altLang="en-US" sz="2800" dirty="0"/>
              <a:t>系数有正有负</a:t>
            </a:r>
            <a:endParaRPr lang="zh-CN" altLang="en-US" sz="2800" i="0" dirty="0">
              <a:latin typeface="Times New Roman" pitchFamily="18" charset="0"/>
            </a:endParaRPr>
          </a:p>
        </p:txBody>
      </p:sp>
      <p:sp>
        <p:nvSpPr>
          <p:cNvPr id="832529" name="Rectangle 17"/>
          <p:cNvSpPr>
            <a:spLocks noChangeArrowheads="1"/>
          </p:cNvSpPr>
          <p:nvPr/>
        </p:nvSpPr>
        <p:spPr bwMode="auto">
          <a:xfrm>
            <a:off x="127006" y="1052519"/>
            <a:ext cx="24495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i="0">
                <a:ea typeface="黑体" pitchFamily="2" charset="-122"/>
              </a:rPr>
              <a:t>舍入误差估计</a:t>
            </a:r>
            <a:endParaRPr lang="zh-CN" altLang="en-US" i="0">
              <a:ea typeface="黑体" pitchFamily="2" charset="-122"/>
            </a:endParaRPr>
          </a:p>
        </p:txBody>
      </p:sp>
      <p:graphicFrame>
        <p:nvGraphicFramePr>
          <p:cNvPr id="832530" name="Object 18"/>
          <p:cNvGraphicFramePr>
            <a:graphicFrameLocks noChangeAspect="1"/>
          </p:cNvGraphicFramePr>
          <p:nvPr/>
        </p:nvGraphicFramePr>
        <p:xfrm>
          <a:off x="1398365" y="2723828"/>
          <a:ext cx="5232400" cy="1065212"/>
        </p:xfrm>
        <a:graphic>
          <a:graphicData uri="http://schemas.openxmlformats.org/presentationml/2006/ole">
            <mc:AlternateContent xmlns:mc="http://schemas.openxmlformats.org/markup-compatibility/2006">
              <mc:Choice xmlns:v="urn:schemas-microsoft-com:vml" Requires="v">
                <p:oleObj name="公式" r:id="rId7" imgW="2044440" imgH="431640" progId="Equation.3">
                  <p:embed/>
                </p:oleObj>
              </mc:Choice>
              <mc:Fallback>
                <p:oleObj name="公式" r:id="rId7" imgW="204444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8365" y="2723828"/>
                        <a:ext cx="5232400"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nvGraphicFramePr>
        <p:xfrm>
          <a:off x="1231972" y="5589240"/>
          <a:ext cx="8153400" cy="520700"/>
        </p:xfrm>
        <a:graphic>
          <a:graphicData uri="http://schemas.openxmlformats.org/presentationml/2006/ole">
            <mc:AlternateContent xmlns:mc="http://schemas.openxmlformats.org/markup-compatibility/2006">
              <mc:Choice xmlns:v="urn:schemas-microsoft-com:vml" Requires="v">
                <p:oleObj r:id="rId9" imgW="8149863" imgH="520474" progId="Equation.3">
                  <p:embed/>
                </p:oleObj>
              </mc:Choice>
              <mc:Fallback>
                <p:oleObj r:id="rId9" imgW="8149863" imgH="52047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1972" y="5589240"/>
                        <a:ext cx="81534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804651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2524"/>
                                        </p:tgtEl>
                                        <p:attrNameLst>
                                          <p:attrName>style.visibility</p:attrName>
                                        </p:attrNameLst>
                                      </p:cBhvr>
                                      <p:to>
                                        <p:strVal val="visible"/>
                                      </p:to>
                                    </p:set>
                                    <p:animEffect transition="in" filter="dissolve">
                                      <p:cBhvr>
                                        <p:cTn id="7" dur="500"/>
                                        <p:tgtEl>
                                          <p:spTgt spid="8325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32530"/>
                                        </p:tgtEl>
                                        <p:attrNameLst>
                                          <p:attrName>style.visibility</p:attrName>
                                        </p:attrNameLst>
                                      </p:cBhvr>
                                      <p:to>
                                        <p:strVal val="visible"/>
                                      </p:to>
                                    </p:set>
                                    <p:animEffect transition="in" filter="dissolve">
                                      <p:cBhvr>
                                        <p:cTn id="12" dur="500"/>
                                        <p:tgtEl>
                                          <p:spTgt spid="8325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32525"/>
                                        </p:tgtEl>
                                        <p:attrNameLst>
                                          <p:attrName>style.visibility</p:attrName>
                                        </p:attrNameLst>
                                      </p:cBhvr>
                                      <p:to>
                                        <p:strVal val="visible"/>
                                      </p:to>
                                    </p:set>
                                    <p:animEffect transition="in" filter="dissolve">
                                      <p:cBhvr>
                                        <p:cTn id="17" dur="500"/>
                                        <p:tgtEl>
                                          <p:spTgt spid="8325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32526"/>
                                        </p:tgtEl>
                                        <p:attrNameLst>
                                          <p:attrName>style.visibility</p:attrName>
                                        </p:attrNameLst>
                                      </p:cBhvr>
                                      <p:to>
                                        <p:strVal val="visible"/>
                                      </p:to>
                                    </p:set>
                                    <p:animEffect transition="in" filter="dissolve">
                                      <p:cBhvr>
                                        <p:cTn id="22" dur="500"/>
                                        <p:tgtEl>
                                          <p:spTgt spid="8325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32527"/>
                                        </p:tgtEl>
                                        <p:attrNameLst>
                                          <p:attrName>style.visibility</p:attrName>
                                        </p:attrNameLst>
                                      </p:cBhvr>
                                      <p:to>
                                        <p:strVal val="visible"/>
                                      </p:to>
                                    </p:set>
                                    <p:animEffect transition="in" filter="dissolve">
                                      <p:cBhvr>
                                        <p:cTn id="27" dur="500"/>
                                        <p:tgtEl>
                                          <p:spTgt spid="8325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32528"/>
                                        </p:tgtEl>
                                        <p:attrNameLst>
                                          <p:attrName>style.visibility</p:attrName>
                                        </p:attrNameLst>
                                      </p:cBhvr>
                                      <p:to>
                                        <p:strVal val="visible"/>
                                      </p:to>
                                    </p:set>
                                    <p:animEffect transition="in" filter="dissolve">
                                      <p:cBhvr>
                                        <p:cTn id="32" dur="500"/>
                                        <p:tgtEl>
                                          <p:spTgt spid="8325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26" grpId="0" animBg="1"/>
      <p:bldP spid="832527" grpId="0" autoUpdateAnimBg="0"/>
      <p:bldP spid="83252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fld id="{71210650-D952-42BC-A477-9664EE0DC345}" type="slidenum">
              <a:rPr lang="zh-CN" altLang="en-US"/>
              <a:pPr/>
              <a:t>60</a:t>
            </a:fld>
            <a:endParaRPr lang="en-US" altLang="zh-CN"/>
          </a:p>
        </p:txBody>
      </p:sp>
      <p:sp>
        <p:nvSpPr>
          <p:cNvPr id="9" name="日期占位符 4"/>
          <p:cNvSpPr>
            <a:spLocks noGrp="1"/>
          </p:cNvSpPr>
          <p:nvPr>
            <p:ph type="dt" sz="half" idx="11"/>
          </p:nvPr>
        </p:nvSpPr>
        <p:spPr/>
        <p:txBody>
          <a:bodyPr/>
          <a:lstStyle/>
          <a:p>
            <a:fld id="{25856C33-06A2-4A57-BFCF-EC47B536816E}" type="datetime1">
              <a:rPr lang="zh-CN" altLang="en-US"/>
              <a:pPr/>
              <a:t>2024/11/18</a:t>
            </a:fld>
            <a:endParaRPr lang="en-US" altLang="zh-CN" sz="1000"/>
          </a:p>
        </p:txBody>
      </p:sp>
      <p:sp>
        <p:nvSpPr>
          <p:cNvPr id="955394" name="Rectangle 2"/>
          <p:cNvSpPr>
            <a:spLocks noGrp="1" noChangeArrowheads="1"/>
          </p:cNvSpPr>
          <p:nvPr>
            <p:ph type="title"/>
          </p:nvPr>
        </p:nvSpPr>
        <p:spPr>
          <a:xfrm>
            <a:off x="650875" y="305002"/>
            <a:ext cx="8820150" cy="609398"/>
          </a:xfrm>
        </p:spPr>
        <p:txBody>
          <a:bodyPr/>
          <a:lstStyle/>
          <a:p>
            <a:r>
              <a:rPr lang="zh-CN" altLang="en-US" sz="4400" dirty="0"/>
              <a:t>1</a:t>
            </a:r>
            <a:r>
              <a:rPr lang="en-US" altLang="zh-CN" sz="4400" dirty="0"/>
              <a:t>.</a:t>
            </a:r>
            <a:r>
              <a:rPr lang="zh-CN" altLang="en-US" sz="4400" dirty="0"/>
              <a:t>牛顿——柯特斯求积公式</a:t>
            </a:r>
          </a:p>
        </p:txBody>
      </p:sp>
      <p:sp>
        <p:nvSpPr>
          <p:cNvPr id="955403" name="Rectangle 11"/>
          <p:cNvSpPr>
            <a:spLocks noChangeArrowheads="1"/>
          </p:cNvSpPr>
          <p:nvPr/>
        </p:nvSpPr>
        <p:spPr bwMode="auto">
          <a:xfrm>
            <a:off x="300038" y="1412875"/>
            <a:ext cx="92614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dirty="0">
                <a:latin typeface="宋体" pitchFamily="2" charset="-122"/>
                <a:ea typeface="黑体" pitchFamily="49" charset="-122"/>
              </a:rPr>
              <a:t>当</a:t>
            </a:r>
            <a:r>
              <a:rPr lang="en-US" altLang="zh-CN" sz="2800" dirty="0">
                <a:latin typeface="宋体" pitchFamily="2" charset="-122"/>
                <a:ea typeface="黑体" pitchFamily="49" charset="-122"/>
              </a:rPr>
              <a:t>n=1</a:t>
            </a:r>
            <a:r>
              <a:rPr lang="zh-CN" altLang="en-US" sz="2800" dirty="0">
                <a:latin typeface="宋体" pitchFamily="2" charset="-122"/>
                <a:ea typeface="黑体" pitchFamily="49" charset="-122"/>
              </a:rPr>
              <a:t>时</a:t>
            </a:r>
            <a:r>
              <a:rPr lang="en-US" altLang="zh-CN" sz="2800" dirty="0">
                <a:latin typeface="宋体" pitchFamily="2" charset="-122"/>
                <a:ea typeface="黑体" pitchFamily="49" charset="-122"/>
              </a:rPr>
              <a:t>,</a:t>
            </a:r>
            <a:r>
              <a:rPr lang="en-US" altLang="zh-CN" sz="2800" i="1" dirty="0">
                <a:latin typeface="宋体" pitchFamily="2" charset="-122"/>
                <a:ea typeface="黑体" pitchFamily="49" charset="-122"/>
              </a:rPr>
              <a:t>C</a:t>
            </a:r>
            <a:r>
              <a:rPr lang="en-US" altLang="zh-CN" sz="2800" i="1" baseline="-25000" dirty="0">
                <a:latin typeface="宋体" pitchFamily="2" charset="-122"/>
                <a:ea typeface="黑体" pitchFamily="49" charset="-122"/>
              </a:rPr>
              <a:t>0</a:t>
            </a:r>
            <a:r>
              <a:rPr lang="en-US" altLang="zh-CN" sz="2800" baseline="30000" dirty="0">
                <a:latin typeface="宋体" pitchFamily="2" charset="-122"/>
                <a:ea typeface="黑体" pitchFamily="49" charset="-122"/>
              </a:rPr>
              <a:t>(1) </a:t>
            </a:r>
            <a:r>
              <a:rPr lang="en-US" altLang="zh-CN" sz="2800" dirty="0">
                <a:latin typeface="宋体" pitchFamily="2" charset="-122"/>
                <a:ea typeface="黑体" pitchFamily="49" charset="-122"/>
              </a:rPr>
              <a:t>=</a:t>
            </a:r>
            <a:r>
              <a:rPr lang="en-US" altLang="zh-CN" sz="2800" i="1" dirty="0">
                <a:latin typeface="宋体" pitchFamily="2" charset="-122"/>
                <a:ea typeface="黑体" pitchFamily="49" charset="-122"/>
              </a:rPr>
              <a:t>C</a:t>
            </a:r>
            <a:r>
              <a:rPr lang="en-US" altLang="zh-CN" sz="2800" i="1" baseline="-25000" dirty="0">
                <a:latin typeface="宋体" pitchFamily="2" charset="-122"/>
                <a:ea typeface="黑体" pitchFamily="49" charset="-122"/>
              </a:rPr>
              <a:t>1</a:t>
            </a:r>
            <a:r>
              <a:rPr lang="en-US" altLang="zh-CN" sz="2800" baseline="30000" dirty="0">
                <a:latin typeface="宋体" pitchFamily="2" charset="-122"/>
                <a:ea typeface="黑体" pitchFamily="49" charset="-122"/>
              </a:rPr>
              <a:t>(1)</a:t>
            </a:r>
            <a:r>
              <a:rPr lang="en-US" altLang="zh-CN" sz="2800" dirty="0">
                <a:latin typeface="宋体" pitchFamily="2" charset="-122"/>
                <a:ea typeface="黑体" pitchFamily="49" charset="-122"/>
              </a:rPr>
              <a:t>,</a:t>
            </a:r>
            <a:r>
              <a:rPr lang="zh-CN" altLang="en-US" sz="2800" dirty="0">
                <a:latin typeface="宋体" pitchFamily="2" charset="-122"/>
                <a:ea typeface="黑体" pitchFamily="49" charset="-122"/>
              </a:rPr>
              <a:t>称为</a:t>
            </a:r>
            <a:r>
              <a:rPr lang="zh-CN" altLang="en-US" sz="2800" dirty="0">
                <a:solidFill>
                  <a:srgbClr val="FF0000"/>
                </a:solidFill>
                <a:latin typeface="宋体" pitchFamily="2" charset="-122"/>
                <a:ea typeface="黑体" pitchFamily="49" charset="-122"/>
              </a:rPr>
              <a:t>梯形公式： 具有</a:t>
            </a:r>
            <a:r>
              <a:rPr lang="en-US" altLang="zh-CN" sz="2800" dirty="0">
                <a:solidFill>
                  <a:srgbClr val="FF0000"/>
                </a:solidFill>
                <a:latin typeface="宋体" pitchFamily="2" charset="-122"/>
                <a:ea typeface="黑体" pitchFamily="49" charset="-122"/>
              </a:rPr>
              <a:t>1</a:t>
            </a:r>
            <a:r>
              <a:rPr lang="zh-CN" altLang="en-US" sz="2800" dirty="0">
                <a:solidFill>
                  <a:srgbClr val="FF0000"/>
                </a:solidFill>
                <a:latin typeface="宋体" pitchFamily="2" charset="-122"/>
                <a:ea typeface="黑体" pitchFamily="49" charset="-122"/>
              </a:rPr>
              <a:t>次代数精确度</a:t>
            </a:r>
          </a:p>
        </p:txBody>
      </p:sp>
      <p:graphicFrame>
        <p:nvGraphicFramePr>
          <p:cNvPr id="955404" name="Object 12"/>
          <p:cNvGraphicFramePr>
            <a:graphicFrameLocks noChangeAspect="1"/>
          </p:cNvGraphicFramePr>
          <p:nvPr/>
        </p:nvGraphicFramePr>
        <p:xfrm>
          <a:off x="1712913" y="1989138"/>
          <a:ext cx="5832475" cy="1074737"/>
        </p:xfrm>
        <a:graphic>
          <a:graphicData uri="http://schemas.openxmlformats.org/presentationml/2006/ole">
            <mc:AlternateContent xmlns:mc="http://schemas.openxmlformats.org/markup-compatibility/2006">
              <mc:Choice xmlns:v="urn:schemas-microsoft-com:vml" Requires="v">
                <p:oleObj name="Equation" r:id="rId2" imgW="2361960" imgH="393480" progId="Equation.DSMT4">
                  <p:embed/>
                </p:oleObj>
              </mc:Choice>
              <mc:Fallback>
                <p:oleObj name="Equation" r:id="rId2" imgW="2361960" imgH="39348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913" y="1989138"/>
                        <a:ext cx="5832475" cy="1074737"/>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5405" name="Rectangle 13"/>
          <p:cNvSpPr>
            <a:spLocks noChangeArrowheads="1"/>
          </p:cNvSpPr>
          <p:nvPr/>
        </p:nvSpPr>
        <p:spPr bwMode="auto">
          <a:xfrm>
            <a:off x="304800" y="3440113"/>
            <a:ext cx="9601200"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dirty="0">
                <a:latin typeface="宋体" pitchFamily="2" charset="-122"/>
                <a:ea typeface="黑体" pitchFamily="49" charset="-122"/>
              </a:rPr>
              <a:t>当</a:t>
            </a:r>
            <a:r>
              <a:rPr lang="en-US" altLang="zh-CN" sz="2800" dirty="0">
                <a:latin typeface="Arial" pitchFamily="34" charset="0"/>
                <a:ea typeface="黑体" pitchFamily="49" charset="-122"/>
              </a:rPr>
              <a:t>n=2</a:t>
            </a:r>
            <a:r>
              <a:rPr lang="zh-CN" altLang="en-US" sz="2800" dirty="0">
                <a:latin typeface="Arial" pitchFamily="34" charset="0"/>
                <a:ea typeface="黑体" pitchFamily="49" charset="-122"/>
              </a:rPr>
              <a:t>时</a:t>
            </a:r>
            <a:r>
              <a:rPr lang="en-US" altLang="zh-CN" sz="2800" dirty="0">
                <a:latin typeface="Arial" pitchFamily="34" charset="0"/>
                <a:ea typeface="黑体" pitchFamily="49" charset="-122"/>
              </a:rPr>
              <a:t>,</a:t>
            </a:r>
            <a:r>
              <a:rPr lang="en-US" altLang="zh-CN" sz="2800" i="1" dirty="0">
                <a:ea typeface="黑体" pitchFamily="49" charset="-122"/>
              </a:rPr>
              <a:t>N-C</a:t>
            </a:r>
            <a:r>
              <a:rPr lang="zh-CN" altLang="en-US" sz="2800" dirty="0">
                <a:ea typeface="黑体" pitchFamily="49" charset="-122"/>
              </a:rPr>
              <a:t>公式称为</a:t>
            </a:r>
            <a:r>
              <a:rPr lang="zh-CN" altLang="en-US" sz="2800" dirty="0">
                <a:solidFill>
                  <a:srgbClr val="FF0000"/>
                </a:solidFill>
                <a:ea typeface="黑体" pitchFamily="49" charset="-122"/>
              </a:rPr>
              <a:t>辛普生公式</a:t>
            </a:r>
            <a:r>
              <a:rPr lang="en-US" altLang="zh-CN" sz="2800" dirty="0">
                <a:solidFill>
                  <a:srgbClr val="FF0000"/>
                </a:solidFill>
                <a:ea typeface="黑体" pitchFamily="49" charset="-122"/>
              </a:rPr>
              <a:t>(Simpson)</a:t>
            </a:r>
            <a:r>
              <a:rPr lang="en-US" altLang="zh-CN" sz="2800" dirty="0">
                <a:solidFill>
                  <a:srgbClr val="FF0000"/>
                </a:solidFill>
                <a:latin typeface="Arial" pitchFamily="34" charset="0"/>
                <a:ea typeface="黑体" pitchFamily="49" charset="-122"/>
              </a:rPr>
              <a:t>:3</a:t>
            </a:r>
            <a:r>
              <a:rPr lang="zh-CN" altLang="en-US" sz="2800" dirty="0">
                <a:solidFill>
                  <a:srgbClr val="FF0000"/>
                </a:solidFill>
                <a:latin typeface="Arial" pitchFamily="34" charset="0"/>
                <a:ea typeface="黑体" pitchFamily="49" charset="-122"/>
              </a:rPr>
              <a:t>次代数精确度</a:t>
            </a:r>
          </a:p>
        </p:txBody>
      </p:sp>
      <p:graphicFrame>
        <p:nvGraphicFramePr>
          <p:cNvPr id="955406" name="Object 14"/>
          <p:cNvGraphicFramePr>
            <a:graphicFrameLocks noChangeAspect="1"/>
          </p:cNvGraphicFramePr>
          <p:nvPr/>
        </p:nvGraphicFramePr>
        <p:xfrm>
          <a:off x="1423988" y="3943350"/>
          <a:ext cx="7129462" cy="998538"/>
        </p:xfrm>
        <a:graphic>
          <a:graphicData uri="http://schemas.openxmlformats.org/presentationml/2006/ole">
            <mc:AlternateContent xmlns:mc="http://schemas.openxmlformats.org/markup-compatibility/2006">
              <mc:Choice xmlns:v="urn:schemas-microsoft-com:vml" Requires="v">
                <p:oleObj name="Equation" r:id="rId4" imgW="3111480" imgH="393480" progId="Equation.DSMT4">
                  <p:embed/>
                </p:oleObj>
              </mc:Choice>
              <mc:Fallback>
                <p:oleObj name="Equation" r:id="rId4" imgW="311148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3988" y="3943350"/>
                        <a:ext cx="7129462" cy="998538"/>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5409" name="Rectangle 17"/>
          <p:cNvSpPr>
            <a:spLocks noChangeArrowheads="1"/>
          </p:cNvSpPr>
          <p:nvPr/>
        </p:nvSpPr>
        <p:spPr bwMode="auto">
          <a:xfrm>
            <a:off x="488950" y="5589588"/>
            <a:ext cx="8712200"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dirty="0">
                <a:solidFill>
                  <a:srgbClr val="FF0000"/>
                </a:solidFill>
                <a:latin typeface="Arial" pitchFamily="34" charset="0"/>
                <a:ea typeface="黑体" pitchFamily="49" charset="-122"/>
              </a:rPr>
              <a:t>n+1</a:t>
            </a:r>
            <a:r>
              <a:rPr lang="zh-CN" altLang="en-US" sz="2800" dirty="0">
                <a:solidFill>
                  <a:srgbClr val="FF0000"/>
                </a:solidFill>
                <a:latin typeface="Arial" pitchFamily="34" charset="0"/>
                <a:ea typeface="黑体" pitchFamily="49" charset="-122"/>
              </a:rPr>
              <a:t>个求积节点的</a:t>
            </a:r>
            <a:r>
              <a:rPr lang="en-US" altLang="zh-CN" sz="2800" i="1" dirty="0">
                <a:solidFill>
                  <a:srgbClr val="FF0000"/>
                </a:solidFill>
                <a:ea typeface="黑体" pitchFamily="49" charset="-122"/>
              </a:rPr>
              <a:t>N-C</a:t>
            </a:r>
            <a:r>
              <a:rPr lang="zh-CN" altLang="en-US" sz="2800" dirty="0">
                <a:solidFill>
                  <a:srgbClr val="FF0000"/>
                </a:solidFill>
                <a:ea typeface="黑体" pitchFamily="49" charset="-122"/>
              </a:rPr>
              <a:t>公式至少具有</a:t>
            </a:r>
            <a:r>
              <a:rPr lang="en-US" altLang="zh-CN" sz="2800" dirty="0">
                <a:solidFill>
                  <a:srgbClr val="FF0000"/>
                </a:solidFill>
                <a:ea typeface="黑体" pitchFamily="49" charset="-122"/>
              </a:rPr>
              <a:t>n</a:t>
            </a:r>
            <a:r>
              <a:rPr lang="zh-CN" altLang="en-US" sz="2800" dirty="0">
                <a:solidFill>
                  <a:srgbClr val="FF0000"/>
                </a:solidFill>
                <a:latin typeface="Arial" pitchFamily="34" charset="0"/>
                <a:ea typeface="黑体" pitchFamily="49" charset="-122"/>
              </a:rPr>
              <a:t>次代数精确度</a:t>
            </a:r>
          </a:p>
        </p:txBody>
      </p:sp>
    </p:spTree>
    <p:extLst>
      <p:ext uri="{BB962C8B-B14F-4D97-AF65-F5344CB8AC3E}">
        <p14:creationId xmlns:p14="http://schemas.microsoft.com/office/powerpoint/2010/main" val="2154342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灯片编号占位符 3"/>
          <p:cNvSpPr>
            <a:spLocks noGrp="1"/>
          </p:cNvSpPr>
          <p:nvPr>
            <p:ph type="sldNum" sz="quarter" idx="10"/>
          </p:nvPr>
        </p:nvSpPr>
        <p:spPr/>
        <p:txBody>
          <a:bodyPr/>
          <a:lstStyle/>
          <a:p>
            <a:fld id="{9A5D5B4D-AC21-4E9E-924D-8D93116AF1AC}" type="slidenum">
              <a:rPr lang="zh-CN" altLang="en-US"/>
              <a:pPr/>
              <a:t>61</a:t>
            </a:fld>
            <a:endParaRPr lang="en-US" altLang="zh-CN"/>
          </a:p>
        </p:txBody>
      </p:sp>
      <p:sp>
        <p:nvSpPr>
          <p:cNvPr id="41" name="日期占位符 4"/>
          <p:cNvSpPr>
            <a:spLocks noGrp="1"/>
          </p:cNvSpPr>
          <p:nvPr>
            <p:ph type="dt" sz="half" idx="11"/>
          </p:nvPr>
        </p:nvSpPr>
        <p:spPr/>
        <p:txBody>
          <a:bodyPr/>
          <a:lstStyle/>
          <a:p>
            <a:fld id="{989EF7F4-16FC-4BB6-AF60-A576AE873AEA}" type="datetime1">
              <a:rPr lang="zh-CN" altLang="en-US"/>
              <a:pPr/>
              <a:t>2024/11/18</a:t>
            </a:fld>
            <a:endParaRPr lang="en-US" altLang="zh-CN"/>
          </a:p>
        </p:txBody>
      </p:sp>
      <p:sp>
        <p:nvSpPr>
          <p:cNvPr id="833538" name="Rectangle 2"/>
          <p:cNvSpPr>
            <a:spLocks noGrp="1" noChangeArrowheads="1"/>
          </p:cNvSpPr>
          <p:nvPr>
            <p:ph type="title"/>
          </p:nvPr>
        </p:nvSpPr>
        <p:spPr>
          <a:xfrm>
            <a:off x="650878" y="255588"/>
            <a:ext cx="8820150" cy="658812"/>
          </a:xfrm>
        </p:spPr>
        <p:txBody>
          <a:bodyPr/>
          <a:lstStyle/>
          <a:p>
            <a:r>
              <a:rPr lang="en-US" altLang="zh-CN" dirty="0"/>
              <a:t>2. </a:t>
            </a:r>
            <a:r>
              <a:rPr lang="zh-CN" altLang="en-US" sz="4800" dirty="0"/>
              <a:t>复化求积公式</a:t>
            </a:r>
          </a:p>
        </p:txBody>
      </p:sp>
      <p:grpSp>
        <p:nvGrpSpPr>
          <p:cNvPr id="833539" name="Group 3"/>
          <p:cNvGrpSpPr>
            <a:grpSpLocks/>
          </p:cNvGrpSpPr>
          <p:nvPr/>
        </p:nvGrpSpPr>
        <p:grpSpPr bwMode="auto">
          <a:xfrm>
            <a:off x="919095" y="4039917"/>
            <a:ext cx="8534400" cy="865188"/>
            <a:chOff x="576" y="1440"/>
            <a:chExt cx="5376" cy="545"/>
          </a:xfrm>
        </p:grpSpPr>
        <p:sp>
          <p:nvSpPr>
            <p:cNvPr id="833540" name="AutoShape 4"/>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1" name="Rectangle 5"/>
            <p:cNvSpPr>
              <a:spLocks noChangeArrowheads="1"/>
            </p:cNvSpPr>
            <p:nvPr/>
          </p:nvSpPr>
          <p:spPr bwMode="auto">
            <a:xfrm>
              <a:off x="2708" y="1694"/>
              <a:ext cx="124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Times New Roman" pitchFamily="18" charset="0"/>
                </a:rPr>
                <a:t>M=</a:t>
              </a:r>
              <a:r>
                <a:rPr lang="en-US" altLang="zh-CN" sz="2400" dirty="0" err="1">
                  <a:latin typeface="Times New Roman" pitchFamily="18" charset="0"/>
                </a:rPr>
                <a:t>m</a:t>
              </a:r>
              <a:r>
                <a:rPr lang="en-US" altLang="zh-CN" sz="2400" dirty="0" err="1">
                  <a:solidFill>
                    <a:srgbClr val="FF3300"/>
                  </a:solidFill>
                  <a:latin typeface="Times New Roman" pitchFamily="18" charset="0"/>
                </a:rPr>
                <a:t>n</a:t>
              </a:r>
              <a:r>
                <a:rPr lang="zh-CN" altLang="en-US" sz="2400" i="0" dirty="0">
                  <a:latin typeface="Times New Roman" pitchFamily="18" charset="0"/>
                  <a:ea typeface="黑体" pitchFamily="2" charset="-122"/>
                </a:rPr>
                <a:t>个小段</a:t>
              </a:r>
            </a:p>
          </p:txBody>
        </p:sp>
      </p:grpSp>
      <p:grpSp>
        <p:nvGrpSpPr>
          <p:cNvPr id="833542" name="Group 6"/>
          <p:cNvGrpSpPr>
            <a:grpSpLocks/>
          </p:cNvGrpSpPr>
          <p:nvPr/>
        </p:nvGrpSpPr>
        <p:grpSpPr bwMode="auto">
          <a:xfrm>
            <a:off x="6710295" y="3582718"/>
            <a:ext cx="762000" cy="671513"/>
            <a:chOff x="4224" y="1152"/>
            <a:chExt cx="912" cy="423"/>
          </a:xfrm>
        </p:grpSpPr>
        <p:sp>
          <p:nvSpPr>
            <p:cNvPr id="833543" name="AutoShape 7"/>
            <p:cNvSpPr>
              <a:spLocks/>
            </p:cNvSpPr>
            <p:nvPr/>
          </p:nvSpPr>
          <p:spPr bwMode="auto">
            <a:xfrm rot="5400000">
              <a:off x="4608" y="768"/>
              <a:ext cx="144" cy="912"/>
            </a:xfrm>
            <a:prstGeom prst="rightBrace">
              <a:avLst>
                <a:gd name="adj1" fmla="val 52778"/>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4" name="Rectangle 8"/>
            <p:cNvSpPr>
              <a:spLocks noChangeArrowheads="1"/>
            </p:cNvSpPr>
            <p:nvPr/>
          </p:nvSpPr>
          <p:spPr bwMode="auto">
            <a:xfrm>
              <a:off x="4608" y="1248"/>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a:latin typeface="Times New Roman" pitchFamily="18" charset="0"/>
                </a:rPr>
                <a:t>h</a:t>
              </a:r>
              <a:endParaRPr lang="zh-CN" altLang="en-US" sz="2800">
                <a:latin typeface="Times New Roman" pitchFamily="18" charset="0"/>
              </a:endParaRPr>
            </a:p>
          </p:txBody>
        </p:sp>
      </p:grpSp>
      <p:sp>
        <p:nvSpPr>
          <p:cNvPr id="833545" name="AutoShape 9"/>
          <p:cNvSpPr>
            <a:spLocks noChangeArrowheads="1"/>
          </p:cNvSpPr>
          <p:nvPr/>
        </p:nvSpPr>
        <p:spPr bwMode="auto">
          <a:xfrm>
            <a:off x="7167716" y="1992737"/>
            <a:ext cx="2438400" cy="609600"/>
          </a:xfrm>
          <a:prstGeom prst="wedgeRoundRectCallout">
            <a:avLst>
              <a:gd name="adj1" fmla="val -48435"/>
              <a:gd name="adj2" fmla="val 117449"/>
              <a:gd name="adj3" fmla="val 16667"/>
            </a:avLst>
          </a:prstGeom>
          <a:solidFill>
            <a:srgbClr val="FFFF99"/>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3200"/>
              <a:t>h=(b-a)/M</a:t>
            </a:r>
            <a:endParaRPr lang="zh-CN" altLang="en-US" sz="3200" baseline="30000"/>
          </a:p>
        </p:txBody>
      </p:sp>
      <p:grpSp>
        <p:nvGrpSpPr>
          <p:cNvPr id="833546" name="Group 10"/>
          <p:cNvGrpSpPr>
            <a:grpSpLocks/>
          </p:cNvGrpSpPr>
          <p:nvPr/>
        </p:nvGrpSpPr>
        <p:grpSpPr bwMode="auto">
          <a:xfrm>
            <a:off x="688909" y="3277927"/>
            <a:ext cx="9001129" cy="812801"/>
            <a:chOff x="431" y="960"/>
            <a:chExt cx="5670" cy="512"/>
          </a:xfrm>
        </p:grpSpPr>
        <p:grpSp>
          <p:nvGrpSpPr>
            <p:cNvPr id="833547" name="Group 11"/>
            <p:cNvGrpSpPr>
              <a:grpSpLocks/>
            </p:cNvGrpSpPr>
            <p:nvPr/>
          </p:nvGrpSpPr>
          <p:grpSpPr bwMode="auto">
            <a:xfrm>
              <a:off x="431" y="960"/>
              <a:ext cx="5670" cy="512"/>
              <a:chOff x="431" y="960"/>
              <a:chExt cx="5670" cy="512"/>
            </a:xfrm>
          </p:grpSpPr>
          <p:sp>
            <p:nvSpPr>
              <p:cNvPr id="833548" name="Line 12"/>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49" name="Line 13"/>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0" name="Line 14"/>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1" name="Rectangle 15"/>
              <p:cNvSpPr>
                <a:spLocks noChangeArrowheads="1"/>
              </p:cNvSpPr>
              <p:nvPr/>
            </p:nvSpPr>
            <p:spPr bwMode="auto">
              <a:xfrm>
                <a:off x="431"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a</a:t>
                </a:r>
                <a:endParaRPr lang="zh-CN" altLang="en-US" sz="3200">
                  <a:latin typeface="Times New Roman" pitchFamily="18" charset="0"/>
                </a:endParaRPr>
              </a:p>
            </p:txBody>
          </p:sp>
          <p:sp>
            <p:nvSpPr>
              <p:cNvPr id="833552" name="Rectangle 16"/>
              <p:cNvSpPr>
                <a:spLocks noChangeArrowheads="1"/>
              </p:cNvSpPr>
              <p:nvPr/>
            </p:nvSpPr>
            <p:spPr bwMode="auto">
              <a:xfrm>
                <a:off x="5855" y="1104"/>
                <a:ext cx="24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latin typeface="Times New Roman" pitchFamily="18" charset="0"/>
                  </a:rPr>
                  <a:t>b</a:t>
                </a:r>
                <a:endParaRPr lang="zh-CN" altLang="en-US" sz="3200">
                  <a:latin typeface="Times New Roman" pitchFamily="18" charset="0"/>
                </a:endParaRPr>
              </a:p>
            </p:txBody>
          </p:sp>
          <p:sp>
            <p:nvSpPr>
              <p:cNvPr id="833553" name="Line 17"/>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4" name="Line 18"/>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5" name="Line 19"/>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6" name="Line 20"/>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7" name="Line 21"/>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558" name="Line 22"/>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59" name="Line 23"/>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0" name="Line 24"/>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1" name="Line 25"/>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2" name="Line 26"/>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3" name="Line 27"/>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564" name="Group 28"/>
          <p:cNvGrpSpPr>
            <a:grpSpLocks/>
          </p:cNvGrpSpPr>
          <p:nvPr/>
        </p:nvGrpSpPr>
        <p:grpSpPr bwMode="auto">
          <a:xfrm>
            <a:off x="142805" y="2611740"/>
            <a:ext cx="3686178" cy="1326146"/>
            <a:chOff x="234" y="555"/>
            <a:chExt cx="1548" cy="741"/>
          </a:xfrm>
        </p:grpSpPr>
        <p:sp>
          <p:nvSpPr>
            <p:cNvPr id="833565" name="AutoShape 29"/>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66" name="Rectangle 30"/>
            <p:cNvSpPr>
              <a:spLocks noChangeArrowheads="1"/>
            </p:cNvSpPr>
            <p:nvPr/>
          </p:nvSpPr>
          <p:spPr bwMode="auto">
            <a:xfrm>
              <a:off x="234" y="555"/>
              <a:ext cx="15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i="0" dirty="0">
                  <a:solidFill>
                    <a:srgbClr val="FF3300"/>
                  </a:solidFill>
                  <a:latin typeface="Times New Roman" pitchFamily="18" charset="0"/>
                </a:rPr>
                <a:t>每大段用</a:t>
              </a:r>
              <a:r>
                <a:rPr lang="en-US" altLang="zh-CN" sz="2400" i="0" dirty="0">
                  <a:solidFill>
                    <a:srgbClr val="FF3300"/>
                  </a:solidFill>
                  <a:latin typeface="Times New Roman" pitchFamily="18" charset="0"/>
                </a:rPr>
                <a:t>1</a:t>
              </a:r>
              <a:r>
                <a:rPr lang="zh-CN" altLang="en-US" sz="2400" i="0" dirty="0">
                  <a:solidFill>
                    <a:srgbClr val="FF3300"/>
                  </a:solidFill>
                  <a:latin typeface="Times New Roman" pitchFamily="18" charset="0"/>
                </a:rPr>
                <a:t>个</a:t>
              </a:r>
              <a:r>
                <a:rPr lang="en-US" altLang="zh-CN" sz="2400" i="0" dirty="0">
                  <a:solidFill>
                    <a:srgbClr val="FF3300"/>
                  </a:solidFill>
                  <a:latin typeface="Times New Roman" pitchFamily="18" charset="0"/>
                </a:rPr>
                <a:t>n</a:t>
              </a:r>
              <a:r>
                <a:rPr lang="zh-CN" altLang="en-US" sz="2400" i="0" dirty="0">
                  <a:solidFill>
                    <a:srgbClr val="FF3300"/>
                  </a:solidFill>
                  <a:latin typeface="Times New Roman" pitchFamily="18" charset="0"/>
                </a:rPr>
                <a:t>次</a:t>
              </a:r>
              <a:r>
                <a:rPr lang="en-US" altLang="zh-CN" sz="2400" i="0" dirty="0">
                  <a:solidFill>
                    <a:srgbClr val="FF3300"/>
                  </a:solidFill>
                  <a:latin typeface="Times New Roman" pitchFamily="18" charset="0"/>
                </a:rPr>
                <a:t>N-C</a:t>
              </a:r>
              <a:r>
                <a:rPr lang="zh-CN" altLang="en-US" sz="2400" i="0" dirty="0">
                  <a:solidFill>
                    <a:srgbClr val="FF3300"/>
                  </a:solidFill>
                  <a:latin typeface="Times New Roman" pitchFamily="18" charset="0"/>
                </a:rPr>
                <a:t>公式</a:t>
              </a:r>
            </a:p>
          </p:txBody>
        </p:sp>
        <p:sp>
          <p:nvSpPr>
            <p:cNvPr id="833567" name="Rectangle 31"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568" name="Rectangle 32"/>
          <p:cNvSpPr>
            <a:spLocks noChangeArrowheads="1"/>
          </p:cNvSpPr>
          <p:nvPr/>
        </p:nvSpPr>
        <p:spPr bwMode="auto">
          <a:xfrm>
            <a:off x="3963333" y="3676276"/>
            <a:ext cx="14029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FF3300"/>
                </a:solidFill>
                <a:latin typeface="Times New Roman" pitchFamily="18" charset="0"/>
              </a:rPr>
              <a:t>m</a:t>
            </a:r>
            <a:r>
              <a:rPr lang="zh-CN" altLang="en-US" sz="2400" i="0" dirty="0">
                <a:solidFill>
                  <a:srgbClr val="FF3300"/>
                </a:solidFill>
                <a:latin typeface="Times New Roman" pitchFamily="18" charset="0"/>
                <a:ea typeface="黑体" pitchFamily="2" charset="-122"/>
              </a:rPr>
              <a:t>个大</a:t>
            </a:r>
            <a:r>
              <a:rPr lang="zh-CN" altLang="en-US" sz="2800" i="0" dirty="0">
                <a:solidFill>
                  <a:srgbClr val="FF3300"/>
                </a:solidFill>
                <a:latin typeface="Times New Roman" pitchFamily="18" charset="0"/>
                <a:ea typeface="黑体" pitchFamily="2" charset="-122"/>
              </a:rPr>
              <a:t>段</a:t>
            </a:r>
            <a:endParaRPr lang="en-US" altLang="zh-CN" sz="2800" i="0" dirty="0">
              <a:solidFill>
                <a:srgbClr val="FF3300"/>
              </a:solidFill>
              <a:latin typeface="Times New Roman" pitchFamily="18" charset="0"/>
              <a:ea typeface="黑体" pitchFamily="2" charset="-122"/>
            </a:endParaRPr>
          </a:p>
        </p:txBody>
      </p:sp>
      <p:cxnSp>
        <p:nvCxnSpPr>
          <p:cNvPr id="3" name="直接连接符 2"/>
          <p:cNvCxnSpPr/>
          <p:nvPr/>
        </p:nvCxnSpPr>
        <p:spPr bwMode="auto">
          <a:xfrm>
            <a:off x="3128898" y="3098039"/>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5355687" y="30736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7472300" y="30736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9529701" y="3031071"/>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781452" y="3149883"/>
            <a:ext cx="0" cy="713290"/>
          </a:xfrm>
          <a:prstGeom prst="line">
            <a:avLst/>
          </a:prstGeom>
          <a:solidFill>
            <a:schemeClr val="accent1"/>
          </a:solidFill>
          <a:ln w="88900" cap="flat" cmpd="sng" algn="ctr">
            <a:solidFill>
              <a:srgbClr val="FF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Rectangle 32"/>
          <p:cNvSpPr>
            <a:spLocks noChangeArrowheads="1"/>
          </p:cNvSpPr>
          <p:nvPr/>
        </p:nvSpPr>
        <p:spPr bwMode="auto">
          <a:xfrm>
            <a:off x="1501532" y="3795368"/>
            <a:ext cx="12843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rgbClr val="FF3300"/>
                </a:solidFill>
                <a:latin typeface="Times New Roman" pitchFamily="18" charset="0"/>
                <a:ea typeface="黑体" pitchFamily="2" charset="-122"/>
              </a:rPr>
              <a:t>n</a:t>
            </a:r>
            <a:r>
              <a:rPr lang="zh-CN" altLang="en-US" sz="2400" i="0" dirty="0">
                <a:solidFill>
                  <a:srgbClr val="FF3300"/>
                </a:solidFill>
                <a:latin typeface="Times New Roman" pitchFamily="18" charset="0"/>
                <a:ea typeface="黑体" pitchFamily="2" charset="-122"/>
              </a:rPr>
              <a:t>个小段</a:t>
            </a:r>
            <a:endParaRPr lang="en-US" altLang="zh-CN" sz="2400" i="0" dirty="0">
              <a:solidFill>
                <a:srgbClr val="FF3300"/>
              </a:solidFill>
              <a:latin typeface="Times New Roman" pitchFamily="18" charset="0"/>
              <a:ea typeface="黑体" pitchFamily="2" charset="-122"/>
            </a:endParaRPr>
          </a:p>
        </p:txBody>
      </p:sp>
    </p:spTree>
    <p:custDataLst>
      <p:tags r:id="rId1"/>
    </p:custDataLst>
    <p:extLst>
      <p:ext uri="{BB962C8B-B14F-4D97-AF65-F5344CB8AC3E}">
        <p14:creationId xmlns:p14="http://schemas.microsoft.com/office/powerpoint/2010/main" val="304590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3546"/>
                                        </p:tgtEl>
                                        <p:attrNameLst>
                                          <p:attrName>style.visibility</p:attrName>
                                        </p:attrNameLst>
                                      </p:cBhvr>
                                      <p:to>
                                        <p:strVal val="visible"/>
                                      </p:to>
                                    </p:set>
                                    <p:animEffect transition="in" filter="dissolve">
                                      <p:cBhvr>
                                        <p:cTn id="7" dur="500"/>
                                        <p:tgtEl>
                                          <p:spTgt spid="833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3568"/>
                                        </p:tgtEl>
                                        <p:attrNameLst>
                                          <p:attrName>style.visibility</p:attrName>
                                        </p:attrNameLst>
                                      </p:cBhvr>
                                      <p:to>
                                        <p:strVal val="visible"/>
                                      </p:to>
                                    </p:set>
                                    <p:animEffect transition="in" filter="dissolve">
                                      <p:cBhvr>
                                        <p:cTn id="12" dur="500"/>
                                        <p:tgtEl>
                                          <p:spTgt spid="8335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33564"/>
                                        </p:tgtEl>
                                        <p:attrNameLst>
                                          <p:attrName>style.visibility</p:attrName>
                                        </p:attrNameLst>
                                      </p:cBhvr>
                                      <p:to>
                                        <p:strVal val="visible"/>
                                      </p:to>
                                    </p:set>
                                    <p:animEffect transition="in" filter="dissolve">
                                      <p:cBhvr>
                                        <p:cTn id="17" dur="500"/>
                                        <p:tgtEl>
                                          <p:spTgt spid="83356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33539"/>
                                        </p:tgtEl>
                                        <p:attrNameLst>
                                          <p:attrName>style.visibility</p:attrName>
                                        </p:attrNameLst>
                                      </p:cBhvr>
                                      <p:to>
                                        <p:strVal val="visible"/>
                                      </p:to>
                                    </p:set>
                                    <p:animEffect transition="in" filter="dissolve">
                                      <p:cBhvr>
                                        <p:cTn id="27" dur="500"/>
                                        <p:tgtEl>
                                          <p:spTgt spid="8335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33542"/>
                                        </p:tgtEl>
                                        <p:attrNameLst>
                                          <p:attrName>style.visibility</p:attrName>
                                        </p:attrNameLst>
                                      </p:cBhvr>
                                      <p:to>
                                        <p:strVal val="visible"/>
                                      </p:to>
                                    </p:set>
                                    <p:animEffect transition="in" filter="dissolve">
                                      <p:cBhvr>
                                        <p:cTn id="32" dur="500"/>
                                        <p:tgtEl>
                                          <p:spTgt spid="83354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33545"/>
                                        </p:tgtEl>
                                        <p:attrNameLst>
                                          <p:attrName>style.visibility</p:attrName>
                                        </p:attrNameLst>
                                      </p:cBhvr>
                                      <p:to>
                                        <p:strVal val="visible"/>
                                      </p:to>
                                    </p:set>
                                    <p:animEffect transition="in" filter="dissolve">
                                      <p:cBhvr>
                                        <p:cTn id="37" dur="500"/>
                                        <p:tgtEl>
                                          <p:spTgt spid="833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45" grpId="0" animBg="1" autoUpdateAnimBg="0"/>
      <p:bldP spid="833568" grpId="0" autoUpdateAnimBg="0"/>
      <p:bldP spid="53"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 name="灯片编号占位符 3"/>
          <p:cNvSpPr>
            <a:spLocks noGrp="1"/>
          </p:cNvSpPr>
          <p:nvPr>
            <p:ph type="sldNum" sz="quarter" idx="10"/>
          </p:nvPr>
        </p:nvSpPr>
        <p:spPr/>
        <p:txBody>
          <a:bodyPr/>
          <a:lstStyle/>
          <a:p>
            <a:fld id="{9A5D5B4D-AC21-4E9E-924D-8D93116AF1AC}" type="slidenum">
              <a:rPr lang="zh-CN" altLang="en-US"/>
              <a:pPr/>
              <a:t>62</a:t>
            </a:fld>
            <a:endParaRPr lang="en-US" altLang="zh-CN"/>
          </a:p>
        </p:txBody>
      </p:sp>
      <p:sp>
        <p:nvSpPr>
          <p:cNvPr id="41" name="日期占位符 4"/>
          <p:cNvSpPr>
            <a:spLocks noGrp="1"/>
          </p:cNvSpPr>
          <p:nvPr>
            <p:ph type="dt" sz="half" idx="11"/>
          </p:nvPr>
        </p:nvSpPr>
        <p:spPr/>
        <p:txBody>
          <a:bodyPr/>
          <a:lstStyle/>
          <a:p>
            <a:fld id="{989EF7F4-16FC-4BB6-AF60-A576AE873AEA}" type="datetime1">
              <a:rPr lang="zh-CN" altLang="en-US"/>
              <a:pPr/>
              <a:t>2024/11/18</a:t>
            </a:fld>
            <a:endParaRPr lang="en-US" altLang="zh-CN"/>
          </a:p>
        </p:txBody>
      </p:sp>
      <p:sp>
        <p:nvSpPr>
          <p:cNvPr id="833538" name="Rectangle 2"/>
          <p:cNvSpPr>
            <a:spLocks noGrp="1" noChangeArrowheads="1"/>
          </p:cNvSpPr>
          <p:nvPr>
            <p:ph type="title"/>
          </p:nvPr>
        </p:nvSpPr>
        <p:spPr>
          <a:xfrm>
            <a:off x="650878" y="255588"/>
            <a:ext cx="8820150" cy="658812"/>
          </a:xfrm>
        </p:spPr>
        <p:txBody>
          <a:bodyPr/>
          <a:lstStyle/>
          <a:p>
            <a:r>
              <a:rPr lang="en-US" altLang="zh-CN" dirty="0"/>
              <a:t>2.</a:t>
            </a:r>
            <a:r>
              <a:rPr lang="zh-CN" altLang="en-US" sz="4800" dirty="0"/>
              <a:t>复化求积公式</a:t>
            </a:r>
          </a:p>
        </p:txBody>
      </p:sp>
      <p:sp>
        <p:nvSpPr>
          <p:cNvPr id="833569" name="Rectangle 33"/>
          <p:cNvSpPr>
            <a:spLocks noGrp="1" noChangeArrowheads="1"/>
          </p:cNvSpPr>
          <p:nvPr>
            <p:ph type="body" idx="1"/>
          </p:nvPr>
        </p:nvSpPr>
        <p:spPr>
          <a:xfrm>
            <a:off x="560512" y="1196752"/>
            <a:ext cx="8820150" cy="384175"/>
          </a:xfrm>
          <a:noFill/>
          <a:ln/>
        </p:spPr>
        <p:txBody>
          <a:bodyPr/>
          <a:lstStyle/>
          <a:p>
            <a:r>
              <a:rPr lang="en-US" altLang="zh-CN" dirty="0"/>
              <a:t>(</a:t>
            </a:r>
            <a:r>
              <a:rPr lang="zh-CN" altLang="en-US" dirty="0"/>
              <a:t>1</a:t>
            </a:r>
            <a:r>
              <a:rPr lang="en-US" altLang="zh-CN" dirty="0"/>
              <a:t>)</a:t>
            </a:r>
            <a:r>
              <a:rPr lang="zh-CN" altLang="en-US" dirty="0"/>
              <a:t>复化梯形公式</a:t>
            </a:r>
          </a:p>
        </p:txBody>
      </p:sp>
      <p:graphicFrame>
        <p:nvGraphicFramePr>
          <p:cNvPr id="833570" name="Object 34"/>
          <p:cNvGraphicFramePr>
            <a:graphicFrameLocks noChangeAspect="1"/>
          </p:cNvGraphicFramePr>
          <p:nvPr/>
        </p:nvGraphicFramePr>
        <p:xfrm>
          <a:off x="1120897" y="1504715"/>
          <a:ext cx="7940675" cy="1035050"/>
        </p:xfrm>
        <a:graphic>
          <a:graphicData uri="http://schemas.openxmlformats.org/presentationml/2006/ole">
            <mc:AlternateContent xmlns:mc="http://schemas.openxmlformats.org/markup-compatibility/2006">
              <mc:Choice xmlns:v="urn:schemas-microsoft-com:vml" Requires="v">
                <p:oleObj name="Equation" r:id="rId4" imgW="2946240" imgH="419040" progId="Equation.3">
                  <p:embed/>
                </p:oleObj>
              </mc:Choice>
              <mc:Fallback>
                <p:oleObj name="Equation" r:id="rId4" imgW="2946240" imgH="419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0897" y="1504715"/>
                        <a:ext cx="794067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1" name="Object 35"/>
          <p:cNvGraphicFramePr>
            <a:graphicFrameLocks noChangeAspect="1"/>
          </p:cNvGraphicFramePr>
          <p:nvPr/>
        </p:nvGraphicFramePr>
        <p:xfrm>
          <a:off x="128464" y="2348880"/>
          <a:ext cx="8703568" cy="973138"/>
        </p:xfrm>
        <a:graphic>
          <a:graphicData uri="http://schemas.openxmlformats.org/presentationml/2006/ole">
            <mc:AlternateContent xmlns:mc="http://schemas.openxmlformats.org/markup-compatibility/2006">
              <mc:Choice xmlns:v="urn:schemas-microsoft-com:vml" Requires="v">
                <p:oleObj name="Equation" r:id="rId6" imgW="3936960" imgH="393480" progId="Equation.3">
                  <p:embed/>
                </p:oleObj>
              </mc:Choice>
              <mc:Fallback>
                <p:oleObj name="Equation" r:id="rId6" imgW="393696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464" y="2348880"/>
                        <a:ext cx="8703568" cy="973138"/>
                      </a:xfrm>
                      <a:prstGeom prst="rect">
                        <a:avLst/>
                      </a:prstGeom>
                      <a:noFill/>
                      <a:ln>
                        <a:noFill/>
                      </a:ln>
                      <a:effectLst/>
                    </p:spPr>
                  </p:pic>
                </p:oleObj>
              </mc:Fallback>
            </mc:AlternateContent>
          </a:graphicData>
        </a:graphic>
      </p:graphicFrame>
      <p:graphicFrame>
        <p:nvGraphicFramePr>
          <p:cNvPr id="833572" name="Object 36"/>
          <p:cNvGraphicFramePr>
            <a:graphicFrameLocks noChangeAspect="1"/>
          </p:cNvGraphicFramePr>
          <p:nvPr/>
        </p:nvGraphicFramePr>
        <p:xfrm>
          <a:off x="1982909" y="3035077"/>
          <a:ext cx="6108700" cy="1057275"/>
        </p:xfrm>
        <a:graphic>
          <a:graphicData uri="http://schemas.openxmlformats.org/presentationml/2006/ole">
            <mc:AlternateContent xmlns:mc="http://schemas.openxmlformats.org/markup-compatibility/2006">
              <mc:Choice xmlns:v="urn:schemas-microsoft-com:vml" Requires="v">
                <p:oleObj name="Equation" r:id="rId8" imgW="2463480" imgH="393480" progId="Equation.DSMT4">
                  <p:embed/>
                </p:oleObj>
              </mc:Choice>
              <mc:Fallback>
                <p:oleObj name="Equation" r:id="rId8" imgW="2463480" imgH="39348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2909" y="3035077"/>
                        <a:ext cx="61087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3" name="Object 37"/>
          <p:cNvGraphicFramePr>
            <a:graphicFrameLocks noChangeAspect="1"/>
          </p:cNvGraphicFramePr>
          <p:nvPr/>
        </p:nvGraphicFramePr>
        <p:xfrm>
          <a:off x="539872" y="3933056"/>
          <a:ext cx="2667000" cy="1035050"/>
        </p:xfrm>
        <a:graphic>
          <a:graphicData uri="http://schemas.openxmlformats.org/presentationml/2006/ole">
            <mc:AlternateContent xmlns:mc="http://schemas.openxmlformats.org/markup-compatibility/2006">
              <mc:Choice xmlns:v="urn:schemas-microsoft-com:vml" Requires="v">
                <p:oleObj name="Equation" r:id="rId10" imgW="1206360" imgH="419040" progId="Equation.3">
                  <p:embed/>
                </p:oleObj>
              </mc:Choice>
              <mc:Fallback>
                <p:oleObj name="Equation" r:id="rId10" imgW="1206360" imgH="4190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872" y="3933056"/>
                        <a:ext cx="26670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4" name="Object 38"/>
          <p:cNvGraphicFramePr>
            <a:graphicFrameLocks noChangeAspect="1"/>
          </p:cNvGraphicFramePr>
          <p:nvPr/>
        </p:nvGraphicFramePr>
        <p:xfrm>
          <a:off x="3318004" y="3944181"/>
          <a:ext cx="2860675" cy="1023937"/>
        </p:xfrm>
        <a:graphic>
          <a:graphicData uri="http://schemas.openxmlformats.org/presentationml/2006/ole">
            <mc:AlternateContent xmlns:mc="http://schemas.openxmlformats.org/markup-compatibility/2006">
              <mc:Choice xmlns:v="urn:schemas-microsoft-com:vml" Requires="v">
                <p:oleObj name="Equation" r:id="rId12" imgW="1320480" imgH="419040" progId="Equation.3">
                  <p:embed/>
                </p:oleObj>
              </mc:Choice>
              <mc:Fallback>
                <p:oleObj name="Equation" r:id="rId12" imgW="1320480" imgH="4190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18004" y="3944181"/>
                        <a:ext cx="2860675"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3575" name="Object 39"/>
          <p:cNvGraphicFramePr>
            <a:graphicFrameLocks noChangeAspect="1"/>
          </p:cNvGraphicFramePr>
          <p:nvPr/>
        </p:nvGraphicFramePr>
        <p:xfrm>
          <a:off x="6302497" y="4012431"/>
          <a:ext cx="2667000" cy="1023938"/>
        </p:xfrm>
        <a:graphic>
          <a:graphicData uri="http://schemas.openxmlformats.org/presentationml/2006/ole">
            <mc:AlternateContent xmlns:mc="http://schemas.openxmlformats.org/markup-compatibility/2006">
              <mc:Choice xmlns:v="urn:schemas-microsoft-com:vml" Requires="v">
                <p:oleObj name="Equation" r:id="rId14" imgW="1231560" imgH="419040" progId="Equation.3">
                  <p:embed/>
                </p:oleObj>
              </mc:Choice>
              <mc:Fallback>
                <p:oleObj name="Equation" r:id="rId14" imgW="1231560" imgH="4190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2497" y="4012431"/>
                        <a:ext cx="2667000"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nvGraphicFramePr>
        <p:xfrm>
          <a:off x="416496" y="4982926"/>
          <a:ext cx="2695575" cy="1023938"/>
        </p:xfrm>
        <a:graphic>
          <a:graphicData uri="http://schemas.openxmlformats.org/presentationml/2006/ole">
            <mc:AlternateContent xmlns:mc="http://schemas.openxmlformats.org/markup-compatibility/2006">
              <mc:Choice xmlns:v="urn:schemas-microsoft-com:vml" Requires="v">
                <p:oleObj name="Equation" r:id="rId16" imgW="1244600" imgH="419100" progId="Equation.3">
                  <p:embed/>
                </p:oleObj>
              </mc:Choice>
              <mc:Fallback>
                <p:oleObj name="Equation" r:id="rId16" imgW="1244600" imgH="4191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6496" y="4982926"/>
                        <a:ext cx="2695575" cy="1023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nvGraphicFramePr>
        <p:xfrm>
          <a:off x="3152800" y="5054934"/>
          <a:ext cx="2952328" cy="955470"/>
        </p:xfrm>
        <a:graphic>
          <a:graphicData uri="http://schemas.openxmlformats.org/presentationml/2006/ole">
            <mc:AlternateContent xmlns:mc="http://schemas.openxmlformats.org/markup-compatibility/2006">
              <mc:Choice xmlns:v="urn:schemas-microsoft-com:vml" Requires="v">
                <p:oleObj name="公式" r:id="rId18" imgW="1460160" imgH="419040" progId="Equation.3">
                  <p:embed/>
                </p:oleObj>
              </mc:Choice>
              <mc:Fallback>
                <p:oleObj name="公式" r:id="rId18" imgW="1460160" imgH="419040" progId="Equation.3">
                  <p:embed/>
                  <p:pic>
                    <p:nvPicPr>
                      <p:cNvPr id="0" name=""/>
                      <p:cNvPicPr>
                        <a:picLocks noChangeAspect="1" noChangeArrowheads="1"/>
                      </p:cNvPicPr>
                      <p:nvPr/>
                    </p:nvPicPr>
                    <p:blipFill>
                      <a:blip r:embed="rId19"/>
                      <a:srcRect/>
                      <a:stretch>
                        <a:fillRect/>
                      </a:stretch>
                    </p:blipFill>
                    <p:spPr bwMode="auto">
                      <a:xfrm>
                        <a:off x="3152800" y="5054934"/>
                        <a:ext cx="2952328" cy="955470"/>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nvGraphicFramePr>
        <p:xfrm>
          <a:off x="5313363" y="5534025"/>
          <a:ext cx="3929062" cy="1027113"/>
        </p:xfrm>
        <a:graphic>
          <a:graphicData uri="http://schemas.openxmlformats.org/presentationml/2006/ole">
            <mc:AlternateContent xmlns:mc="http://schemas.openxmlformats.org/markup-compatibility/2006">
              <mc:Choice xmlns:v="urn:schemas-microsoft-com:vml" Requires="v">
                <p:oleObj name="公式" r:id="rId20" imgW="2070000" imgH="469800" progId="Equation.3">
                  <p:embed/>
                </p:oleObj>
              </mc:Choice>
              <mc:Fallback>
                <p:oleObj name="公式" r:id="rId20" imgW="2070000" imgH="469800" progId="Equation.3">
                  <p:embed/>
                  <p:pic>
                    <p:nvPicPr>
                      <p:cNvPr id="0" name=""/>
                      <p:cNvPicPr>
                        <a:picLocks noChangeAspect="1" noChangeArrowheads="1"/>
                      </p:cNvPicPr>
                      <p:nvPr/>
                    </p:nvPicPr>
                    <p:blipFill>
                      <a:blip r:embed="rId21"/>
                      <a:srcRect/>
                      <a:stretch>
                        <a:fillRect/>
                      </a:stretch>
                    </p:blipFill>
                    <p:spPr bwMode="auto">
                      <a:xfrm>
                        <a:off x="5313363" y="5534025"/>
                        <a:ext cx="3929062" cy="1027113"/>
                      </a:xfrm>
                      <a:prstGeom prst="rect">
                        <a:avLst/>
                      </a:prstGeom>
                      <a:noFill/>
                      <a:ln>
                        <a:noFill/>
                      </a:ln>
                      <a:effectLst/>
                    </p:spPr>
                  </p:pic>
                </p:oleObj>
              </mc:Fallback>
            </mc:AlternateContent>
          </a:graphicData>
        </a:graphic>
      </p:graphicFrame>
      <p:sp>
        <p:nvSpPr>
          <p:cNvPr id="54" name="Rectangle 35"/>
          <p:cNvSpPr>
            <a:spLocks noChangeArrowheads="1"/>
          </p:cNvSpPr>
          <p:nvPr/>
        </p:nvSpPr>
        <p:spPr bwMode="auto">
          <a:xfrm>
            <a:off x="8193360" y="2492896"/>
            <a:ext cx="1640632" cy="1415772"/>
          </a:xfrm>
          <a:prstGeom prst="rect">
            <a:avLst/>
          </a:prstGeom>
          <a:noFill/>
          <a:ln w="381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altLang="zh-CN" sz="3200" dirty="0">
              <a:solidFill>
                <a:srgbClr val="FF3300"/>
              </a:solidFill>
              <a:latin typeface="Times New Roman" pitchFamily="18" charset="0"/>
            </a:endParaRPr>
          </a:p>
          <a:p>
            <a:pPr algn="l"/>
            <a:r>
              <a:rPr lang="en-US" altLang="zh-CN" sz="1800" i="0" dirty="0">
                <a:solidFill>
                  <a:srgbClr val="FF3300"/>
                </a:solidFill>
                <a:latin typeface="Times New Roman" pitchFamily="18" charset="0"/>
              </a:rPr>
              <a:t>1</a:t>
            </a:r>
            <a:r>
              <a:rPr lang="zh-CN" altLang="en-US" sz="1800" i="0" dirty="0">
                <a:solidFill>
                  <a:srgbClr val="FF3300"/>
                </a:solidFill>
                <a:latin typeface="Times New Roman" pitchFamily="18" charset="0"/>
              </a:rPr>
              <a:t>个梯形公式的误差</a:t>
            </a:r>
            <a:r>
              <a:rPr lang="en-US" altLang="zh-CN" sz="1800" i="0" dirty="0">
                <a:solidFill>
                  <a:srgbClr val="FF3300"/>
                </a:solidFill>
                <a:latin typeface="Times New Roman" pitchFamily="18" charset="0"/>
              </a:rPr>
              <a:t>*m</a:t>
            </a:r>
            <a:r>
              <a:rPr lang="zh-CN" altLang="en-US" sz="1800" i="0" dirty="0">
                <a:solidFill>
                  <a:srgbClr val="FF3300"/>
                </a:solidFill>
                <a:latin typeface="Times New Roman" pitchFamily="18" charset="0"/>
              </a:rPr>
              <a:t>个大段</a:t>
            </a:r>
          </a:p>
        </p:txBody>
      </p:sp>
    </p:spTree>
    <p:custDataLst>
      <p:tags r:id="rId1"/>
    </p:custDataLst>
    <p:extLst>
      <p:ext uri="{BB962C8B-B14F-4D97-AF65-F5344CB8AC3E}">
        <p14:creationId xmlns:p14="http://schemas.microsoft.com/office/powerpoint/2010/main" val="371400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833569">
                                            <p:txEl>
                                              <p:pRg st="0" end="0"/>
                                            </p:txEl>
                                          </p:spTgt>
                                        </p:tgtEl>
                                        <p:attrNameLst>
                                          <p:attrName>style.visibility</p:attrName>
                                        </p:attrNameLst>
                                      </p:cBhvr>
                                      <p:to>
                                        <p:strVal val="visible"/>
                                      </p:to>
                                    </p:set>
                                    <p:animEffect transition="in" filter="dissolve">
                                      <p:cBhvr>
                                        <p:cTn id="7" dur="75"/>
                                        <p:tgtEl>
                                          <p:spTgt spid="8335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33570"/>
                                        </p:tgtEl>
                                        <p:attrNameLst>
                                          <p:attrName>style.visibility</p:attrName>
                                        </p:attrNameLst>
                                      </p:cBhvr>
                                      <p:to>
                                        <p:strVal val="visible"/>
                                      </p:to>
                                    </p:set>
                                    <p:animEffect transition="in" filter="dissolve">
                                      <p:cBhvr>
                                        <p:cTn id="12" dur="500"/>
                                        <p:tgtEl>
                                          <p:spTgt spid="83357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33571"/>
                                        </p:tgtEl>
                                        <p:attrNameLst>
                                          <p:attrName>style.visibility</p:attrName>
                                        </p:attrNameLst>
                                      </p:cBhvr>
                                      <p:to>
                                        <p:strVal val="visible"/>
                                      </p:to>
                                    </p:set>
                                    <p:animEffect transition="in" filter="dissolve">
                                      <p:cBhvr>
                                        <p:cTn id="17" dur="500"/>
                                        <p:tgtEl>
                                          <p:spTgt spid="83357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33572"/>
                                        </p:tgtEl>
                                        <p:attrNameLst>
                                          <p:attrName>style.visibility</p:attrName>
                                        </p:attrNameLst>
                                      </p:cBhvr>
                                      <p:to>
                                        <p:strVal val="visible"/>
                                      </p:to>
                                    </p:set>
                                    <p:animEffect transition="in" filter="dissolve">
                                      <p:cBhvr>
                                        <p:cTn id="22" dur="500"/>
                                        <p:tgtEl>
                                          <p:spTgt spid="83357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33573"/>
                                        </p:tgtEl>
                                        <p:attrNameLst>
                                          <p:attrName>style.visibility</p:attrName>
                                        </p:attrNameLst>
                                      </p:cBhvr>
                                      <p:to>
                                        <p:strVal val="visible"/>
                                      </p:to>
                                    </p:set>
                                    <p:animEffect transition="in" filter="dissolve">
                                      <p:cBhvr>
                                        <p:cTn id="27" dur="500"/>
                                        <p:tgtEl>
                                          <p:spTgt spid="83357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833574"/>
                                        </p:tgtEl>
                                        <p:attrNameLst>
                                          <p:attrName>style.visibility</p:attrName>
                                        </p:attrNameLst>
                                      </p:cBhvr>
                                      <p:to>
                                        <p:strVal val="visible"/>
                                      </p:to>
                                    </p:set>
                                    <p:animEffect transition="in" filter="dissolve">
                                      <p:cBhvr>
                                        <p:cTn id="32" dur="500"/>
                                        <p:tgtEl>
                                          <p:spTgt spid="83357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833575"/>
                                        </p:tgtEl>
                                        <p:attrNameLst>
                                          <p:attrName>style.visibility</p:attrName>
                                        </p:attrNameLst>
                                      </p:cBhvr>
                                      <p:to>
                                        <p:strVal val="visible"/>
                                      </p:to>
                                    </p:set>
                                    <p:animEffect transition="in" filter="dissolve">
                                      <p:cBhvr>
                                        <p:cTn id="37" dur="500"/>
                                        <p:tgtEl>
                                          <p:spTgt spid="83357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dissolv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dissolv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dissolve">
                                      <p:cBhvr>
                                        <p:cTn id="5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69" grpId="0" build="p" autoUpdateAnimBg="0"/>
      <p:bldP spid="54"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 name="灯片编号占位符 3"/>
          <p:cNvSpPr>
            <a:spLocks noGrp="1"/>
          </p:cNvSpPr>
          <p:nvPr>
            <p:ph type="sldNum" sz="quarter" idx="10"/>
          </p:nvPr>
        </p:nvSpPr>
        <p:spPr/>
        <p:txBody>
          <a:bodyPr/>
          <a:lstStyle/>
          <a:p>
            <a:fld id="{171FF300-2BFE-4AB0-8902-7132991EC740}" type="slidenum">
              <a:rPr lang="zh-CN" altLang="en-US"/>
              <a:pPr/>
              <a:t>63</a:t>
            </a:fld>
            <a:endParaRPr lang="en-US" altLang="zh-CN"/>
          </a:p>
        </p:txBody>
      </p:sp>
      <p:sp>
        <p:nvSpPr>
          <p:cNvPr id="48" name="日期占位符 4"/>
          <p:cNvSpPr>
            <a:spLocks noGrp="1"/>
          </p:cNvSpPr>
          <p:nvPr>
            <p:ph type="dt" sz="half" idx="11"/>
          </p:nvPr>
        </p:nvSpPr>
        <p:spPr/>
        <p:txBody>
          <a:bodyPr/>
          <a:lstStyle/>
          <a:p>
            <a:fld id="{2BD38BE0-2F51-4870-9DA5-972DC2BC29B8}" type="datetime1">
              <a:rPr lang="zh-CN" altLang="en-US"/>
              <a:pPr/>
              <a:t>2024/11/18</a:t>
            </a:fld>
            <a:endParaRPr lang="en-US" altLang="zh-CN" sz="1000"/>
          </a:p>
        </p:txBody>
      </p:sp>
      <p:sp>
        <p:nvSpPr>
          <p:cNvPr id="874498" name="Rectangle 2"/>
          <p:cNvSpPr>
            <a:spLocks noGrp="1" noChangeArrowheads="1"/>
          </p:cNvSpPr>
          <p:nvPr>
            <p:ph type="title"/>
          </p:nvPr>
        </p:nvSpPr>
        <p:spPr>
          <a:xfrm>
            <a:off x="650875" y="305002"/>
            <a:ext cx="8820150" cy="609398"/>
          </a:xfrm>
        </p:spPr>
        <p:txBody>
          <a:bodyPr/>
          <a:lstStyle/>
          <a:p>
            <a:r>
              <a:rPr lang="en-US" altLang="zh-CN" sz="4400" dirty="0"/>
              <a:t>2.</a:t>
            </a:r>
            <a:r>
              <a:rPr lang="zh-CN" altLang="en-US" sz="4400" dirty="0"/>
              <a:t>复化求积公式</a:t>
            </a:r>
          </a:p>
        </p:txBody>
      </p:sp>
      <p:sp>
        <p:nvSpPr>
          <p:cNvPr id="874499" name="Rectangle 3"/>
          <p:cNvSpPr>
            <a:spLocks noGrp="1" noChangeArrowheads="1"/>
          </p:cNvSpPr>
          <p:nvPr>
            <p:ph type="body" idx="1"/>
          </p:nvPr>
        </p:nvSpPr>
        <p:spPr>
          <a:xfrm>
            <a:off x="533400" y="1143000"/>
            <a:ext cx="8820150" cy="384175"/>
          </a:xfrm>
          <a:noFill/>
          <a:ln/>
        </p:spPr>
        <p:txBody>
          <a:bodyPr/>
          <a:lstStyle/>
          <a:p>
            <a:r>
              <a:rPr lang="en-US" altLang="zh-CN" dirty="0"/>
              <a:t>(</a:t>
            </a:r>
            <a:r>
              <a:rPr lang="zh-CN" altLang="en-US" dirty="0"/>
              <a:t>2</a:t>
            </a:r>
            <a:r>
              <a:rPr lang="en-US" altLang="zh-CN" dirty="0"/>
              <a:t>)</a:t>
            </a:r>
            <a:r>
              <a:rPr lang="zh-CN" altLang="en-US" dirty="0"/>
              <a:t>复化辛卜生公式</a:t>
            </a:r>
          </a:p>
        </p:txBody>
      </p:sp>
      <p:graphicFrame>
        <p:nvGraphicFramePr>
          <p:cNvPr id="874500" name="Object 4"/>
          <p:cNvGraphicFramePr>
            <a:graphicFrameLocks noChangeAspect="1"/>
          </p:cNvGraphicFramePr>
          <p:nvPr/>
        </p:nvGraphicFramePr>
        <p:xfrm>
          <a:off x="1136650" y="1412875"/>
          <a:ext cx="8380413" cy="969963"/>
        </p:xfrm>
        <a:graphic>
          <a:graphicData uri="http://schemas.openxmlformats.org/presentationml/2006/ole">
            <mc:AlternateContent xmlns:mc="http://schemas.openxmlformats.org/markup-compatibility/2006">
              <mc:Choice xmlns:v="urn:schemas-microsoft-com:vml" Requires="v">
                <p:oleObj name="Equation" r:id="rId3" imgW="3530520" imgH="419040" progId="Equation.3">
                  <p:embed/>
                </p:oleObj>
              </mc:Choice>
              <mc:Fallback>
                <p:oleObj name="Equation" r:id="rId3" imgW="353052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412875"/>
                        <a:ext cx="8380413"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1" name="Object 5"/>
          <p:cNvGraphicFramePr>
            <a:graphicFrameLocks noChangeAspect="1"/>
          </p:cNvGraphicFramePr>
          <p:nvPr/>
        </p:nvGraphicFramePr>
        <p:xfrm>
          <a:off x="1281113" y="3500438"/>
          <a:ext cx="2047875" cy="576262"/>
        </p:xfrm>
        <a:graphic>
          <a:graphicData uri="http://schemas.openxmlformats.org/presentationml/2006/ole">
            <mc:AlternateContent xmlns:mc="http://schemas.openxmlformats.org/markup-compatibility/2006">
              <mc:Choice xmlns:v="urn:schemas-microsoft-com:vml" Requires="v">
                <p:oleObj name="Equation" r:id="rId5" imgW="876240" imgH="228600" progId="Equation.3">
                  <p:embed/>
                </p:oleObj>
              </mc:Choice>
              <mc:Fallback>
                <p:oleObj name="Equation" r:id="rId5" imgW="87624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1113" y="3500438"/>
                        <a:ext cx="20478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2" name="Object 6"/>
          <p:cNvGraphicFramePr>
            <a:graphicFrameLocks noChangeAspect="1"/>
          </p:cNvGraphicFramePr>
          <p:nvPr/>
        </p:nvGraphicFramePr>
        <p:xfrm>
          <a:off x="2792413" y="3933825"/>
          <a:ext cx="2078037" cy="576263"/>
        </p:xfrm>
        <a:graphic>
          <a:graphicData uri="http://schemas.openxmlformats.org/presentationml/2006/ole">
            <mc:AlternateContent xmlns:mc="http://schemas.openxmlformats.org/markup-compatibility/2006">
              <mc:Choice xmlns:v="urn:schemas-microsoft-com:vml" Requires="v">
                <p:oleObj name="Equation" r:id="rId7" imgW="888840" imgH="228600" progId="Equation.3">
                  <p:embed/>
                </p:oleObj>
              </mc:Choice>
              <mc:Fallback>
                <p:oleObj name="Equation" r:id="rId7" imgW="88884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2413" y="3933825"/>
                        <a:ext cx="20780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3" name="Object 7"/>
          <p:cNvGraphicFramePr>
            <a:graphicFrameLocks noChangeAspect="1"/>
          </p:cNvGraphicFramePr>
          <p:nvPr/>
        </p:nvGraphicFramePr>
        <p:xfrm>
          <a:off x="4376738" y="4365625"/>
          <a:ext cx="2078037" cy="576263"/>
        </p:xfrm>
        <a:graphic>
          <a:graphicData uri="http://schemas.openxmlformats.org/presentationml/2006/ole">
            <mc:AlternateContent xmlns:mc="http://schemas.openxmlformats.org/markup-compatibility/2006">
              <mc:Choice xmlns:v="urn:schemas-microsoft-com:vml" Requires="v">
                <p:oleObj name="Equation" r:id="rId9" imgW="888840" imgH="228600" progId="Equation.3">
                  <p:embed/>
                </p:oleObj>
              </mc:Choice>
              <mc:Fallback>
                <p:oleObj name="Equation" r:id="rId9" imgW="88884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76738" y="4365625"/>
                        <a:ext cx="207803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4" name="Object 8"/>
          <p:cNvGraphicFramePr>
            <a:graphicFrameLocks noChangeAspect="1"/>
          </p:cNvGraphicFramePr>
          <p:nvPr/>
        </p:nvGraphicFramePr>
        <p:xfrm>
          <a:off x="6019800" y="4724400"/>
          <a:ext cx="2078038" cy="576263"/>
        </p:xfrm>
        <a:graphic>
          <a:graphicData uri="http://schemas.openxmlformats.org/presentationml/2006/ole">
            <mc:AlternateContent xmlns:mc="http://schemas.openxmlformats.org/markup-compatibility/2006">
              <mc:Choice xmlns:v="urn:schemas-microsoft-com:vml" Requires="v">
                <p:oleObj name="Equation" r:id="rId11" imgW="888840" imgH="228600" progId="Equation.3">
                  <p:embed/>
                </p:oleObj>
              </mc:Choice>
              <mc:Fallback>
                <p:oleObj name="Equation" r:id="rId11" imgW="88884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9800" y="4724400"/>
                        <a:ext cx="2078038"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5" name="Object 9"/>
          <p:cNvGraphicFramePr>
            <a:graphicFrameLocks noChangeAspect="1"/>
          </p:cNvGraphicFramePr>
          <p:nvPr/>
        </p:nvGraphicFramePr>
        <p:xfrm>
          <a:off x="1066800" y="4953000"/>
          <a:ext cx="7391400" cy="1628775"/>
        </p:xfrm>
        <a:graphic>
          <a:graphicData uri="http://schemas.openxmlformats.org/presentationml/2006/ole">
            <mc:AlternateContent xmlns:mc="http://schemas.openxmlformats.org/markup-compatibility/2006">
              <mc:Choice xmlns:v="urn:schemas-microsoft-com:vml" Requires="v">
                <p:oleObj name="Equation" r:id="rId13" imgW="3136680" imgH="634680" progId="Equation.3">
                  <p:embed/>
                </p:oleObj>
              </mc:Choice>
              <mc:Fallback>
                <p:oleObj name="Equation" r:id="rId13" imgW="3136680" imgH="6346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6800" y="4953000"/>
                        <a:ext cx="7391400"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6" name="Object 10"/>
          <p:cNvGraphicFramePr>
            <a:graphicFrameLocks noChangeAspect="1"/>
          </p:cNvGraphicFramePr>
          <p:nvPr/>
        </p:nvGraphicFramePr>
        <p:xfrm>
          <a:off x="6096000" y="5822950"/>
          <a:ext cx="3030538" cy="1035050"/>
        </p:xfrm>
        <a:graphic>
          <a:graphicData uri="http://schemas.openxmlformats.org/presentationml/2006/ole">
            <mc:AlternateContent xmlns:mc="http://schemas.openxmlformats.org/markup-compatibility/2006">
              <mc:Choice xmlns:v="urn:schemas-microsoft-com:vml" Requires="v">
                <p:oleObj name="Equation" r:id="rId15" imgW="1371600" imgH="419040" progId="Equation.3">
                  <p:embed/>
                </p:oleObj>
              </mc:Choice>
              <mc:Fallback>
                <p:oleObj name="Equation" r:id="rId15" imgW="1371600" imgH="4190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5822950"/>
                        <a:ext cx="30305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4507" name="Object 11"/>
          <p:cNvGraphicFramePr>
            <a:graphicFrameLocks noChangeAspect="1"/>
          </p:cNvGraphicFramePr>
          <p:nvPr/>
        </p:nvGraphicFramePr>
        <p:xfrm>
          <a:off x="6629400" y="3657600"/>
          <a:ext cx="3276600" cy="1077913"/>
        </p:xfrm>
        <a:graphic>
          <a:graphicData uri="http://schemas.openxmlformats.org/presentationml/2006/ole">
            <mc:AlternateContent xmlns:mc="http://schemas.openxmlformats.org/markup-compatibility/2006">
              <mc:Choice xmlns:v="urn:schemas-microsoft-com:vml" Requires="v">
                <p:oleObj name="Equation" r:id="rId17" imgW="1447560" imgH="469800" progId="Equation.3">
                  <p:embed/>
                </p:oleObj>
              </mc:Choice>
              <mc:Fallback>
                <p:oleObj name="Equation" r:id="rId17" imgW="1447560" imgH="4698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29400" y="3657600"/>
                        <a:ext cx="3276600" cy="107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74508" name="Group 12"/>
          <p:cNvGrpSpPr>
            <a:grpSpLocks/>
          </p:cNvGrpSpPr>
          <p:nvPr/>
        </p:nvGrpSpPr>
        <p:grpSpPr bwMode="auto">
          <a:xfrm>
            <a:off x="273050" y="1989138"/>
            <a:ext cx="8864600" cy="1870075"/>
            <a:chOff x="286" y="1806"/>
            <a:chExt cx="5672" cy="1224"/>
          </a:xfrm>
        </p:grpSpPr>
        <p:grpSp>
          <p:nvGrpSpPr>
            <p:cNvPr id="874509" name="Group 13"/>
            <p:cNvGrpSpPr>
              <a:grpSpLocks/>
            </p:cNvGrpSpPr>
            <p:nvPr/>
          </p:nvGrpSpPr>
          <p:grpSpPr bwMode="auto">
            <a:xfrm>
              <a:off x="286" y="2246"/>
              <a:ext cx="5672" cy="784"/>
              <a:chOff x="286" y="2160"/>
              <a:chExt cx="5672" cy="784"/>
            </a:xfrm>
          </p:grpSpPr>
          <p:grpSp>
            <p:nvGrpSpPr>
              <p:cNvPr id="874510" name="Group 14"/>
              <p:cNvGrpSpPr>
                <a:grpSpLocks/>
              </p:cNvGrpSpPr>
              <p:nvPr/>
            </p:nvGrpSpPr>
            <p:grpSpPr bwMode="auto">
              <a:xfrm>
                <a:off x="286" y="2160"/>
                <a:ext cx="5672" cy="784"/>
                <a:chOff x="286" y="2275"/>
                <a:chExt cx="5672" cy="784"/>
              </a:xfrm>
            </p:grpSpPr>
            <p:grpSp>
              <p:nvGrpSpPr>
                <p:cNvPr id="874511" name="Group 15"/>
                <p:cNvGrpSpPr>
                  <a:grpSpLocks/>
                </p:cNvGrpSpPr>
                <p:nvPr/>
              </p:nvGrpSpPr>
              <p:grpSpPr bwMode="auto">
                <a:xfrm>
                  <a:off x="432" y="2496"/>
                  <a:ext cx="5376" cy="563"/>
                  <a:chOff x="576" y="1440"/>
                  <a:chExt cx="5376" cy="563"/>
                </a:xfrm>
              </p:grpSpPr>
              <p:sp>
                <p:nvSpPr>
                  <p:cNvPr id="874512" name="AutoShape 16"/>
                  <p:cNvSpPr>
                    <a:spLocks/>
                  </p:cNvSpPr>
                  <p:nvPr/>
                </p:nvSpPr>
                <p:spPr bwMode="auto">
                  <a:xfrm rot="5400000">
                    <a:off x="3144" y="-1128"/>
                    <a:ext cx="240" cy="5376"/>
                  </a:xfrm>
                  <a:prstGeom prst="rightBrace">
                    <a:avLst>
                      <a:gd name="adj1" fmla="val 186667"/>
                      <a:gd name="adj2" fmla="val 50019"/>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13" name="Rectangle 17"/>
                  <p:cNvSpPr>
                    <a:spLocks noChangeArrowheads="1"/>
                  </p:cNvSpPr>
                  <p:nvPr/>
                </p:nvSpPr>
                <p:spPr bwMode="auto">
                  <a:xfrm>
                    <a:off x="2827" y="1663"/>
                    <a:ext cx="1006"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a:t>M</a:t>
                    </a:r>
                    <a:r>
                      <a:rPr lang="zh-CN" altLang="en-US" sz="2800"/>
                      <a:t>个小段</a:t>
                    </a:r>
                  </a:p>
                </p:txBody>
              </p:sp>
            </p:grpSp>
            <p:grpSp>
              <p:nvGrpSpPr>
                <p:cNvPr id="874514" name="Group 18"/>
                <p:cNvGrpSpPr>
                  <a:grpSpLocks/>
                </p:cNvGrpSpPr>
                <p:nvPr/>
              </p:nvGrpSpPr>
              <p:grpSpPr bwMode="auto">
                <a:xfrm>
                  <a:off x="286" y="2275"/>
                  <a:ext cx="5672" cy="524"/>
                  <a:chOff x="430" y="960"/>
                  <a:chExt cx="5672" cy="524"/>
                </a:xfrm>
              </p:grpSpPr>
              <p:grpSp>
                <p:nvGrpSpPr>
                  <p:cNvPr id="874515" name="Group 19"/>
                  <p:cNvGrpSpPr>
                    <a:grpSpLocks/>
                  </p:cNvGrpSpPr>
                  <p:nvPr/>
                </p:nvGrpSpPr>
                <p:grpSpPr bwMode="auto">
                  <a:xfrm>
                    <a:off x="430" y="960"/>
                    <a:ext cx="5672" cy="524"/>
                    <a:chOff x="430" y="960"/>
                    <a:chExt cx="5672" cy="524"/>
                  </a:xfrm>
                </p:grpSpPr>
                <p:sp>
                  <p:nvSpPr>
                    <p:cNvPr id="874516" name="Line 20"/>
                    <p:cNvSpPr>
                      <a:spLocks noChangeShapeType="1"/>
                    </p:cNvSpPr>
                    <p:nvPr/>
                  </p:nvSpPr>
                  <p:spPr bwMode="auto">
                    <a:xfrm>
                      <a:off x="5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17" name="Line 21"/>
                    <p:cNvSpPr>
                      <a:spLocks noChangeShapeType="1"/>
                    </p:cNvSpPr>
                    <p:nvPr/>
                  </p:nvSpPr>
                  <p:spPr bwMode="auto">
                    <a:xfrm>
                      <a:off x="528" y="1104"/>
                      <a:ext cx="54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18" name="Line 22"/>
                    <p:cNvSpPr>
                      <a:spLocks noChangeShapeType="1"/>
                    </p:cNvSpPr>
                    <p:nvPr/>
                  </p:nvSpPr>
                  <p:spPr bwMode="auto">
                    <a:xfrm>
                      <a:off x="600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19" name="Rectangle 23"/>
                    <p:cNvSpPr>
                      <a:spLocks noChangeArrowheads="1"/>
                    </p:cNvSpPr>
                    <p:nvPr/>
                  </p:nvSpPr>
                  <p:spPr bwMode="auto">
                    <a:xfrm>
                      <a:off x="430" y="1105"/>
                      <a:ext cx="248" cy="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a</a:t>
                      </a:r>
                      <a:endParaRPr lang="zh-CN" altLang="en-US" i="1"/>
                    </a:p>
                  </p:txBody>
                </p:sp>
                <p:sp>
                  <p:nvSpPr>
                    <p:cNvPr id="874520" name="Rectangle 24"/>
                    <p:cNvSpPr>
                      <a:spLocks noChangeArrowheads="1"/>
                    </p:cNvSpPr>
                    <p:nvPr/>
                  </p:nvSpPr>
                  <p:spPr bwMode="auto">
                    <a:xfrm>
                      <a:off x="5854" y="1104"/>
                      <a:ext cx="248"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t>b</a:t>
                      </a:r>
                      <a:endParaRPr lang="zh-CN" altLang="en-US" i="1"/>
                    </a:p>
                  </p:txBody>
                </p:sp>
                <p:sp>
                  <p:nvSpPr>
                    <p:cNvPr id="874521" name="Line 25"/>
                    <p:cNvSpPr>
                      <a:spLocks noChangeShapeType="1"/>
                    </p:cNvSpPr>
                    <p:nvPr/>
                  </p:nvSpPr>
                  <p:spPr bwMode="auto">
                    <a:xfrm>
                      <a:off x="148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2" name="Line 26"/>
                    <p:cNvSpPr>
                      <a:spLocks noChangeShapeType="1"/>
                    </p:cNvSpPr>
                    <p:nvPr/>
                  </p:nvSpPr>
                  <p:spPr bwMode="auto">
                    <a:xfrm>
                      <a:off x="244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3" name="Line 27"/>
                    <p:cNvSpPr>
                      <a:spLocks noChangeShapeType="1"/>
                    </p:cNvSpPr>
                    <p:nvPr/>
                  </p:nvSpPr>
                  <p:spPr bwMode="auto">
                    <a:xfrm>
                      <a:off x="3360"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4" name="Line 28"/>
                    <p:cNvSpPr>
                      <a:spLocks noChangeShapeType="1"/>
                    </p:cNvSpPr>
                    <p:nvPr/>
                  </p:nvSpPr>
                  <p:spPr bwMode="auto">
                    <a:xfrm>
                      <a:off x="422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5" name="Line 29"/>
                    <p:cNvSpPr>
                      <a:spLocks noChangeShapeType="1"/>
                    </p:cNvSpPr>
                    <p:nvPr/>
                  </p:nvSpPr>
                  <p:spPr bwMode="auto">
                    <a:xfrm>
                      <a:off x="513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4526" name="Line 30"/>
                  <p:cNvSpPr>
                    <a:spLocks noChangeShapeType="1"/>
                  </p:cNvSpPr>
                  <p:nvPr/>
                </p:nvSpPr>
                <p:spPr bwMode="auto">
                  <a:xfrm>
                    <a:off x="100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7" name="Line 31"/>
                  <p:cNvSpPr>
                    <a:spLocks noChangeShapeType="1"/>
                  </p:cNvSpPr>
                  <p:nvPr/>
                </p:nvSpPr>
                <p:spPr bwMode="auto">
                  <a:xfrm>
                    <a:off x="196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8" name="Line 32"/>
                  <p:cNvSpPr>
                    <a:spLocks noChangeShapeType="1"/>
                  </p:cNvSpPr>
                  <p:nvPr/>
                </p:nvSpPr>
                <p:spPr bwMode="auto">
                  <a:xfrm>
                    <a:off x="2928"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29" name="Line 33"/>
                  <p:cNvSpPr>
                    <a:spLocks noChangeShapeType="1"/>
                  </p:cNvSpPr>
                  <p:nvPr/>
                </p:nvSpPr>
                <p:spPr bwMode="auto">
                  <a:xfrm>
                    <a:off x="3792"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30" name="Line 34"/>
                  <p:cNvSpPr>
                    <a:spLocks noChangeShapeType="1"/>
                  </p:cNvSpPr>
                  <p:nvPr/>
                </p:nvSpPr>
                <p:spPr bwMode="auto">
                  <a:xfrm>
                    <a:off x="4704"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31" name="Line 35"/>
                  <p:cNvSpPr>
                    <a:spLocks noChangeShapeType="1"/>
                  </p:cNvSpPr>
                  <p:nvPr/>
                </p:nvSpPr>
                <p:spPr bwMode="auto">
                  <a:xfrm>
                    <a:off x="5616" y="960"/>
                    <a:ext cx="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4532" name="Group 36"/>
                <p:cNvGrpSpPr>
                  <a:grpSpLocks/>
                </p:cNvGrpSpPr>
                <p:nvPr/>
              </p:nvGrpSpPr>
              <p:grpSpPr bwMode="auto">
                <a:xfrm>
                  <a:off x="384" y="2371"/>
                  <a:ext cx="960" cy="531"/>
                  <a:chOff x="528" y="1056"/>
                  <a:chExt cx="960" cy="531"/>
                </a:xfrm>
              </p:grpSpPr>
              <p:sp>
                <p:nvSpPr>
                  <p:cNvPr id="874533" name="AutoShape 37"/>
                  <p:cNvSpPr>
                    <a:spLocks/>
                  </p:cNvSpPr>
                  <p:nvPr/>
                </p:nvSpPr>
                <p:spPr bwMode="auto">
                  <a:xfrm rot="5400000">
                    <a:off x="960" y="768"/>
                    <a:ext cx="144" cy="912"/>
                  </a:xfrm>
                  <a:prstGeom prst="rightBrace">
                    <a:avLst>
                      <a:gd name="adj1" fmla="val 52778"/>
                      <a:gd name="adj2" fmla="val 50019"/>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4534" name="Rectangle 38"/>
                  <p:cNvSpPr>
                    <a:spLocks noChangeArrowheads="1"/>
                  </p:cNvSpPr>
                  <p:nvPr/>
                </p:nvSpPr>
                <p:spPr bwMode="auto">
                  <a:xfrm>
                    <a:off x="625" y="1248"/>
                    <a:ext cx="815"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i="1">
                        <a:solidFill>
                          <a:srgbClr val="FF3300"/>
                        </a:solidFill>
                      </a:rPr>
                      <a:t>n</a:t>
                    </a:r>
                    <a:r>
                      <a:rPr lang="zh-CN" altLang="en-US" sz="2800">
                        <a:solidFill>
                          <a:srgbClr val="FF3300"/>
                        </a:solidFill>
                      </a:rPr>
                      <a:t>小段</a:t>
                    </a:r>
                  </a:p>
                </p:txBody>
              </p:sp>
              <p:sp>
                <p:nvSpPr>
                  <p:cNvPr id="874535" name="Rectangle 39" descr="浅色下对角线"/>
                  <p:cNvSpPr>
                    <a:spLocks noChangeArrowheads="1"/>
                  </p:cNvSpPr>
                  <p:nvPr/>
                </p:nvSpPr>
                <p:spPr bwMode="auto">
                  <a:xfrm>
                    <a:off x="528" y="1056"/>
                    <a:ext cx="960" cy="96"/>
                  </a:xfrm>
                  <a:prstGeom prst="rect">
                    <a:avLst/>
                  </a:prstGeom>
                  <a:pattFill prst="ltDnDiag">
                    <a:fgClr>
                      <a:srgbClr val="FF3300"/>
                    </a:fgClr>
                    <a:bgClr>
                      <a:schemeClr val="bg1"/>
                    </a:bgClr>
                  </a:pattFill>
                  <a:ln w="127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74536" name="Rectangle 40"/>
              <p:cNvSpPr>
                <a:spLocks noChangeArrowheads="1"/>
              </p:cNvSpPr>
              <p:nvPr/>
            </p:nvSpPr>
            <p:spPr bwMode="auto">
              <a:xfrm>
                <a:off x="3998" y="2515"/>
                <a:ext cx="89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FF3300"/>
                    </a:solidFill>
                  </a:rPr>
                  <a:t>M =2m</a:t>
                </a:r>
                <a:endParaRPr lang="zh-CN" altLang="en-US" i="1">
                  <a:solidFill>
                    <a:srgbClr val="FF3300"/>
                  </a:solidFill>
                </a:endParaRPr>
              </a:p>
            </p:txBody>
          </p:sp>
        </p:grpSp>
        <p:sp>
          <p:nvSpPr>
            <p:cNvPr id="874537" name="Rectangle 41"/>
            <p:cNvSpPr>
              <a:spLocks noChangeArrowheads="1"/>
            </p:cNvSpPr>
            <p:nvPr/>
          </p:nvSpPr>
          <p:spPr bwMode="auto">
            <a:xfrm>
              <a:off x="811" y="1806"/>
              <a:ext cx="143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i="1">
                  <a:solidFill>
                    <a:srgbClr val="FF3300"/>
                  </a:solidFill>
                </a:rPr>
                <a:t>m</a:t>
              </a:r>
              <a:r>
                <a:rPr lang="zh-CN" altLang="en-US" sz="2800">
                  <a:solidFill>
                    <a:srgbClr val="FF3300"/>
                  </a:solidFill>
                </a:rPr>
                <a:t>个等分区间</a:t>
              </a:r>
              <a:endParaRPr lang="en-US" altLang="zh-CN" sz="2800">
                <a:solidFill>
                  <a:srgbClr val="FF3300"/>
                </a:solidFill>
              </a:endParaRPr>
            </a:p>
          </p:txBody>
        </p:sp>
        <p:sp>
          <p:nvSpPr>
            <p:cNvPr id="874538" name="Line 42"/>
            <p:cNvSpPr>
              <a:spLocks noChangeShapeType="1"/>
            </p:cNvSpPr>
            <p:nvPr/>
          </p:nvSpPr>
          <p:spPr bwMode="auto">
            <a:xfrm>
              <a:off x="1344" y="2112"/>
              <a:ext cx="0" cy="384"/>
            </a:xfrm>
            <a:prstGeom prst="line">
              <a:avLst/>
            </a:prstGeom>
            <a:noFill/>
            <a:ln w="508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4539" name="Line 43"/>
            <p:cNvSpPr>
              <a:spLocks noChangeShapeType="1"/>
            </p:cNvSpPr>
            <p:nvPr/>
          </p:nvSpPr>
          <p:spPr bwMode="auto">
            <a:xfrm>
              <a:off x="2304" y="2112"/>
              <a:ext cx="0" cy="384"/>
            </a:xfrm>
            <a:prstGeom prst="line">
              <a:avLst/>
            </a:prstGeom>
            <a:noFill/>
            <a:ln w="508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4540" name="Line 44"/>
            <p:cNvSpPr>
              <a:spLocks noChangeShapeType="1"/>
            </p:cNvSpPr>
            <p:nvPr/>
          </p:nvSpPr>
          <p:spPr bwMode="auto">
            <a:xfrm>
              <a:off x="3216" y="2112"/>
              <a:ext cx="0" cy="384"/>
            </a:xfrm>
            <a:prstGeom prst="line">
              <a:avLst/>
            </a:prstGeom>
            <a:noFill/>
            <a:ln w="508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4541" name="Line 45"/>
            <p:cNvSpPr>
              <a:spLocks noChangeShapeType="1"/>
            </p:cNvSpPr>
            <p:nvPr/>
          </p:nvSpPr>
          <p:spPr bwMode="auto">
            <a:xfrm>
              <a:off x="4080" y="2112"/>
              <a:ext cx="0" cy="384"/>
            </a:xfrm>
            <a:prstGeom prst="line">
              <a:avLst/>
            </a:prstGeom>
            <a:noFill/>
            <a:ln w="508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74542" name="Line 46"/>
            <p:cNvSpPr>
              <a:spLocks noChangeShapeType="1"/>
            </p:cNvSpPr>
            <p:nvPr/>
          </p:nvSpPr>
          <p:spPr bwMode="auto">
            <a:xfrm>
              <a:off x="4992" y="2112"/>
              <a:ext cx="0" cy="384"/>
            </a:xfrm>
            <a:prstGeom prst="line">
              <a:avLst/>
            </a:prstGeom>
            <a:noFill/>
            <a:ln w="50800">
              <a:solidFill>
                <a:srgbClr val="FF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ustDataLst>
      <p:tags r:id="rId1"/>
    </p:custDataLst>
    <p:extLst>
      <p:ext uri="{BB962C8B-B14F-4D97-AF65-F5344CB8AC3E}">
        <p14:creationId xmlns:p14="http://schemas.microsoft.com/office/powerpoint/2010/main" val="685675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4506"/>
                                        </p:tgtEl>
                                        <p:attrNameLst>
                                          <p:attrName>style.visibility</p:attrName>
                                        </p:attrNameLst>
                                      </p:cBhvr>
                                      <p:to>
                                        <p:strVal val="visible"/>
                                      </p:to>
                                    </p:set>
                                    <p:animEffect transition="in" filter="dissolve">
                                      <p:cBhvr>
                                        <p:cTn id="7" dur="500"/>
                                        <p:tgtEl>
                                          <p:spTgt spid="874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74507"/>
                                        </p:tgtEl>
                                        <p:attrNameLst>
                                          <p:attrName>style.visibility</p:attrName>
                                        </p:attrNameLst>
                                      </p:cBhvr>
                                      <p:to>
                                        <p:strVal val="visible"/>
                                      </p:to>
                                    </p:set>
                                    <p:animEffect transition="in" filter="dissolve">
                                      <p:cBhvr>
                                        <p:cTn id="12" dur="500"/>
                                        <p:tgtEl>
                                          <p:spTgt spid="874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0"/>
          </p:nvPr>
        </p:nvSpPr>
        <p:spPr/>
        <p:txBody>
          <a:bodyPr/>
          <a:lstStyle/>
          <a:p>
            <a:fld id="{1B2D225F-7172-4B79-83F7-14CF3ADED831}" type="slidenum">
              <a:rPr lang="zh-CN" altLang="en-US"/>
              <a:pPr/>
              <a:t>64</a:t>
            </a:fld>
            <a:endParaRPr lang="en-US" altLang="zh-CN"/>
          </a:p>
        </p:txBody>
      </p:sp>
      <p:sp>
        <p:nvSpPr>
          <p:cNvPr id="17" name="日期占位符 4"/>
          <p:cNvSpPr>
            <a:spLocks noGrp="1"/>
          </p:cNvSpPr>
          <p:nvPr>
            <p:ph type="dt" sz="half" idx="11"/>
          </p:nvPr>
        </p:nvSpPr>
        <p:spPr/>
        <p:txBody>
          <a:bodyPr/>
          <a:lstStyle/>
          <a:p>
            <a:fld id="{679E8D82-EC6D-4659-829F-88248D71207C}" type="datetime1">
              <a:rPr lang="zh-CN" altLang="en-US"/>
              <a:pPr/>
              <a:t>2024/11/18</a:t>
            </a:fld>
            <a:endParaRPr lang="en-US" altLang="zh-CN" sz="1000"/>
          </a:p>
        </p:txBody>
      </p:sp>
      <p:sp>
        <p:nvSpPr>
          <p:cNvPr id="875522" name="Rectangle 2"/>
          <p:cNvSpPr>
            <a:spLocks noGrp="1" noChangeArrowheads="1"/>
          </p:cNvSpPr>
          <p:nvPr>
            <p:ph type="title"/>
          </p:nvPr>
        </p:nvSpPr>
        <p:spPr/>
        <p:txBody>
          <a:bodyPr/>
          <a:lstStyle/>
          <a:p>
            <a:r>
              <a:rPr lang="zh-CN" altLang="en-US"/>
              <a:t>3 龙贝格法</a:t>
            </a:r>
          </a:p>
        </p:txBody>
      </p:sp>
      <p:sp>
        <p:nvSpPr>
          <p:cNvPr id="875523" name="Rectangle 3"/>
          <p:cNvSpPr>
            <a:spLocks noGrp="1" noChangeArrowheads="1"/>
          </p:cNvSpPr>
          <p:nvPr>
            <p:ph type="body" idx="1"/>
          </p:nvPr>
        </p:nvSpPr>
        <p:spPr>
          <a:xfrm>
            <a:off x="650875" y="1143000"/>
            <a:ext cx="8820150" cy="768350"/>
          </a:xfrm>
        </p:spPr>
        <p:txBody>
          <a:bodyPr/>
          <a:lstStyle/>
          <a:p>
            <a:r>
              <a:rPr lang="zh-CN" altLang="en-US"/>
              <a:t>当区间[</a:t>
            </a:r>
            <a:r>
              <a:rPr lang="en-US" altLang="zh-CN"/>
              <a:t>a,b]</a:t>
            </a:r>
            <a:r>
              <a:rPr lang="zh-CN" altLang="en-US"/>
              <a:t>分为2</a:t>
            </a:r>
            <a:r>
              <a:rPr lang="en-US" altLang="zh-CN" baseline="30000"/>
              <a:t>k</a:t>
            </a:r>
            <a:r>
              <a:rPr lang="zh-CN" altLang="en-US"/>
              <a:t>等分，步长</a:t>
            </a:r>
            <a:r>
              <a:rPr lang="en-US" altLang="zh-CN"/>
              <a:t>h=(b-a)/</a:t>
            </a:r>
            <a:r>
              <a:rPr lang="zh-CN" altLang="en-US"/>
              <a:t>2</a:t>
            </a:r>
            <a:r>
              <a:rPr lang="en-US" altLang="zh-CN" baseline="30000"/>
              <a:t>k</a:t>
            </a:r>
            <a:r>
              <a:rPr lang="en-US" altLang="zh-CN"/>
              <a:t>,</a:t>
            </a:r>
            <a:r>
              <a:rPr lang="zh-CN" altLang="en-US"/>
              <a:t>复化梯形递推公式为</a:t>
            </a:r>
          </a:p>
        </p:txBody>
      </p:sp>
      <p:graphicFrame>
        <p:nvGraphicFramePr>
          <p:cNvPr id="875525" name="Object 5"/>
          <p:cNvGraphicFramePr>
            <a:graphicFrameLocks noChangeAspect="1"/>
          </p:cNvGraphicFramePr>
          <p:nvPr/>
        </p:nvGraphicFramePr>
        <p:xfrm>
          <a:off x="2144713" y="1484313"/>
          <a:ext cx="5988050" cy="1127125"/>
        </p:xfrm>
        <a:graphic>
          <a:graphicData uri="http://schemas.openxmlformats.org/presentationml/2006/ole">
            <mc:AlternateContent xmlns:mc="http://schemas.openxmlformats.org/markup-compatibility/2006">
              <mc:Choice xmlns:v="urn:schemas-microsoft-com:vml" Requires="v">
                <p:oleObj name="Equation" r:id="rId3" imgW="2450880" imgH="457200" progId="Equation.3">
                  <p:embed/>
                </p:oleObj>
              </mc:Choice>
              <mc:Fallback>
                <p:oleObj name="Equation" r:id="rId3" imgW="245088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4713" y="1484313"/>
                        <a:ext cx="5988050"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6" name="Object 6"/>
          <p:cNvGraphicFramePr>
            <a:graphicFrameLocks noChangeAspect="1"/>
          </p:cNvGraphicFramePr>
          <p:nvPr/>
        </p:nvGraphicFramePr>
        <p:xfrm>
          <a:off x="609600" y="2514600"/>
          <a:ext cx="3656013" cy="900113"/>
        </p:xfrm>
        <a:graphic>
          <a:graphicData uri="http://schemas.openxmlformats.org/presentationml/2006/ole">
            <mc:AlternateContent xmlns:mc="http://schemas.openxmlformats.org/markup-compatibility/2006">
              <mc:Choice xmlns:v="urn:schemas-microsoft-com:vml" Requires="v">
                <p:oleObj name="Equation" r:id="rId5" imgW="1688760" imgH="393480" progId="Equation.3">
                  <p:embed/>
                </p:oleObj>
              </mc:Choice>
              <mc:Fallback>
                <p:oleObj name="Equation" r:id="rId5" imgW="168876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514600"/>
                        <a:ext cx="3656013"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7" name="Object 7"/>
          <p:cNvGraphicFramePr>
            <a:graphicFrameLocks noChangeAspect="1"/>
          </p:cNvGraphicFramePr>
          <p:nvPr/>
        </p:nvGraphicFramePr>
        <p:xfrm>
          <a:off x="609600" y="3429000"/>
          <a:ext cx="4267200" cy="996950"/>
        </p:xfrm>
        <a:graphic>
          <a:graphicData uri="http://schemas.openxmlformats.org/presentationml/2006/ole">
            <mc:AlternateContent xmlns:mc="http://schemas.openxmlformats.org/markup-compatibility/2006">
              <mc:Choice xmlns:v="urn:schemas-microsoft-com:vml" Requires="v">
                <p:oleObj name="Equation" r:id="rId7" imgW="1892160" imgH="419040" progId="Equation.3">
                  <p:embed/>
                </p:oleObj>
              </mc:Choice>
              <mc:Fallback>
                <p:oleObj name="Equation" r:id="rId7" imgW="1892160" imgH="419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3429000"/>
                        <a:ext cx="42672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5528" name="Object 8"/>
          <p:cNvGraphicFramePr>
            <a:graphicFrameLocks noChangeAspect="1"/>
          </p:cNvGraphicFramePr>
          <p:nvPr/>
        </p:nvGraphicFramePr>
        <p:xfrm>
          <a:off x="5257800" y="3429000"/>
          <a:ext cx="3887788" cy="1033463"/>
        </p:xfrm>
        <a:graphic>
          <a:graphicData uri="http://schemas.openxmlformats.org/presentationml/2006/ole">
            <mc:AlternateContent xmlns:mc="http://schemas.openxmlformats.org/markup-compatibility/2006">
              <mc:Choice xmlns:v="urn:schemas-microsoft-com:vml" Requires="v">
                <p:oleObj name="Equation" r:id="rId9" imgW="1904760" imgH="419040" progId="Equation.3">
                  <p:embed/>
                </p:oleObj>
              </mc:Choice>
              <mc:Fallback>
                <p:oleObj name="Equation" r:id="rId9" imgW="1904760" imgH="419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7800" y="3429000"/>
                        <a:ext cx="3887788"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5529" name="Rectangle 9"/>
          <p:cNvSpPr>
            <a:spLocks noChangeArrowheads="1"/>
          </p:cNvSpPr>
          <p:nvPr/>
        </p:nvSpPr>
        <p:spPr bwMode="auto">
          <a:xfrm>
            <a:off x="908050" y="4495800"/>
            <a:ext cx="6535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a:t>复化梯形递推公式构成的序列</a:t>
            </a:r>
            <a:r>
              <a:rPr lang="en-US" altLang="zh-CN" sz="2800"/>
              <a:t>T</a:t>
            </a:r>
            <a:r>
              <a:rPr lang="en-US" altLang="zh-CN" i="1" baseline="-25000">
                <a:latin typeface="Arial" pitchFamily="34" charset="0"/>
              </a:rPr>
              <a:t>1 </a:t>
            </a:r>
            <a:r>
              <a:rPr lang="en-US" altLang="zh-CN" sz="2800"/>
              <a:t>T</a:t>
            </a:r>
            <a:r>
              <a:rPr lang="en-US" altLang="zh-CN" i="1" baseline="-25000">
                <a:latin typeface="Arial" pitchFamily="34" charset="0"/>
              </a:rPr>
              <a:t>2 </a:t>
            </a:r>
            <a:r>
              <a:rPr lang="en-US" altLang="zh-CN" sz="2800"/>
              <a:t>T</a:t>
            </a:r>
            <a:r>
              <a:rPr lang="en-US" altLang="zh-CN" i="1" baseline="-25000">
                <a:latin typeface="Arial" pitchFamily="34" charset="0"/>
              </a:rPr>
              <a:t>4</a:t>
            </a:r>
            <a:r>
              <a:rPr lang="en-US" altLang="zh-CN">
                <a:latin typeface="Arial" pitchFamily="34" charset="0"/>
              </a:rPr>
              <a:t>…</a:t>
            </a:r>
            <a:endParaRPr lang="zh-CN" altLang="en-US">
              <a:latin typeface="Arial" pitchFamily="34" charset="0"/>
            </a:endParaRPr>
          </a:p>
        </p:txBody>
      </p:sp>
      <p:sp>
        <p:nvSpPr>
          <p:cNvPr id="875530" name="AutoShape 10"/>
          <p:cNvSpPr>
            <a:spLocks noChangeArrowheads="1"/>
          </p:cNvSpPr>
          <p:nvPr/>
        </p:nvSpPr>
        <p:spPr bwMode="auto">
          <a:xfrm>
            <a:off x="831850" y="5286375"/>
            <a:ext cx="838200" cy="533400"/>
          </a:xfrm>
          <a:prstGeom prst="rightArrow">
            <a:avLst>
              <a:gd name="adj1" fmla="val 50000"/>
              <a:gd name="adj2" fmla="val 392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5531" name="Rectangle 11"/>
          <p:cNvSpPr>
            <a:spLocks noChangeArrowheads="1"/>
          </p:cNvSpPr>
          <p:nvPr/>
        </p:nvSpPr>
        <p:spPr bwMode="auto">
          <a:xfrm>
            <a:off x="1746250" y="5210175"/>
            <a:ext cx="3563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a:t>辛卜生序列</a:t>
            </a:r>
            <a:r>
              <a:rPr lang="en-US" altLang="zh-CN" sz="2800"/>
              <a:t>S</a:t>
            </a:r>
            <a:r>
              <a:rPr lang="en-US" altLang="zh-CN" i="1" baseline="-25000">
                <a:latin typeface="Arial" pitchFamily="34" charset="0"/>
              </a:rPr>
              <a:t>1 </a:t>
            </a:r>
            <a:r>
              <a:rPr lang="en-US" altLang="zh-CN" sz="2800"/>
              <a:t>S</a:t>
            </a:r>
            <a:r>
              <a:rPr lang="en-US" altLang="zh-CN" i="1" baseline="-25000">
                <a:latin typeface="Arial" pitchFamily="34" charset="0"/>
              </a:rPr>
              <a:t>2 </a:t>
            </a:r>
            <a:r>
              <a:rPr lang="en-US" altLang="zh-CN" sz="2800"/>
              <a:t>S</a:t>
            </a:r>
            <a:r>
              <a:rPr lang="en-US" altLang="zh-CN" i="1" baseline="-25000">
                <a:latin typeface="Arial" pitchFamily="34" charset="0"/>
              </a:rPr>
              <a:t>4</a:t>
            </a:r>
            <a:r>
              <a:rPr lang="en-US" altLang="zh-CN">
                <a:latin typeface="Arial" pitchFamily="34" charset="0"/>
              </a:rPr>
              <a:t>…</a:t>
            </a:r>
            <a:endParaRPr lang="zh-CN" altLang="en-US">
              <a:latin typeface="Arial" pitchFamily="34" charset="0"/>
            </a:endParaRPr>
          </a:p>
        </p:txBody>
      </p:sp>
      <p:sp>
        <p:nvSpPr>
          <p:cNvPr id="875532" name="AutoShape 12"/>
          <p:cNvSpPr>
            <a:spLocks noChangeArrowheads="1"/>
          </p:cNvSpPr>
          <p:nvPr/>
        </p:nvSpPr>
        <p:spPr bwMode="auto">
          <a:xfrm>
            <a:off x="5253038" y="5286375"/>
            <a:ext cx="836612" cy="533400"/>
          </a:xfrm>
          <a:prstGeom prst="rightArrow">
            <a:avLst>
              <a:gd name="adj1" fmla="val 50000"/>
              <a:gd name="adj2" fmla="val 39211"/>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5533" name="Rectangle 13"/>
          <p:cNvSpPr>
            <a:spLocks noChangeArrowheads="1"/>
          </p:cNvSpPr>
          <p:nvPr/>
        </p:nvSpPr>
        <p:spPr bwMode="auto">
          <a:xfrm>
            <a:off x="6165850" y="5210175"/>
            <a:ext cx="374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a:t>柯特斯序列</a:t>
            </a:r>
            <a:r>
              <a:rPr lang="en-US" altLang="zh-CN" sz="2800"/>
              <a:t>C</a:t>
            </a:r>
            <a:r>
              <a:rPr lang="en-US" altLang="zh-CN" i="1" baseline="-25000">
                <a:latin typeface="Arial" pitchFamily="34" charset="0"/>
              </a:rPr>
              <a:t>1 </a:t>
            </a:r>
            <a:r>
              <a:rPr lang="en-US" altLang="zh-CN" sz="2800"/>
              <a:t>C</a:t>
            </a:r>
            <a:r>
              <a:rPr lang="en-US" altLang="zh-CN" i="1" baseline="-25000">
                <a:latin typeface="Arial" pitchFamily="34" charset="0"/>
              </a:rPr>
              <a:t>2 </a:t>
            </a:r>
            <a:r>
              <a:rPr lang="en-US" altLang="zh-CN" sz="2800"/>
              <a:t>C</a:t>
            </a:r>
            <a:r>
              <a:rPr lang="en-US" altLang="zh-CN" i="1" baseline="-25000">
                <a:latin typeface="Arial" pitchFamily="34" charset="0"/>
              </a:rPr>
              <a:t>4</a:t>
            </a:r>
            <a:r>
              <a:rPr lang="en-US" altLang="zh-CN">
                <a:latin typeface="Arial" pitchFamily="34" charset="0"/>
              </a:rPr>
              <a:t>…</a:t>
            </a:r>
            <a:endParaRPr lang="zh-CN" altLang="en-US">
              <a:latin typeface="Arial" pitchFamily="34" charset="0"/>
            </a:endParaRPr>
          </a:p>
        </p:txBody>
      </p:sp>
      <p:sp>
        <p:nvSpPr>
          <p:cNvPr id="875534" name="AutoShape 14"/>
          <p:cNvSpPr>
            <a:spLocks noChangeArrowheads="1"/>
          </p:cNvSpPr>
          <p:nvPr/>
        </p:nvSpPr>
        <p:spPr bwMode="auto">
          <a:xfrm>
            <a:off x="831850" y="5895975"/>
            <a:ext cx="838200" cy="533400"/>
          </a:xfrm>
          <a:prstGeom prst="rightArrow">
            <a:avLst>
              <a:gd name="adj1" fmla="val 50000"/>
              <a:gd name="adj2" fmla="val 39286"/>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5535" name="Rectangle 15"/>
          <p:cNvSpPr>
            <a:spLocks noChangeArrowheads="1"/>
          </p:cNvSpPr>
          <p:nvPr/>
        </p:nvSpPr>
        <p:spPr bwMode="auto">
          <a:xfrm>
            <a:off x="1746250" y="5819775"/>
            <a:ext cx="3740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u="sng">
                <a:solidFill>
                  <a:srgbClr val="FF3300"/>
                </a:solidFill>
              </a:rPr>
              <a:t>龙贝格序列</a:t>
            </a:r>
            <a:r>
              <a:rPr lang="en-US" altLang="zh-CN" sz="2800"/>
              <a:t>R</a:t>
            </a:r>
            <a:r>
              <a:rPr lang="en-US" altLang="zh-CN" i="1" baseline="-25000">
                <a:latin typeface="Arial" pitchFamily="34" charset="0"/>
              </a:rPr>
              <a:t>1 </a:t>
            </a:r>
            <a:r>
              <a:rPr lang="en-US" altLang="zh-CN" sz="2800"/>
              <a:t>R</a:t>
            </a:r>
            <a:r>
              <a:rPr lang="en-US" altLang="zh-CN" i="1" baseline="-25000">
                <a:latin typeface="Arial" pitchFamily="34" charset="0"/>
              </a:rPr>
              <a:t>2 </a:t>
            </a:r>
            <a:r>
              <a:rPr lang="en-US" altLang="zh-CN" sz="2800"/>
              <a:t>R</a:t>
            </a:r>
            <a:r>
              <a:rPr lang="en-US" altLang="zh-CN" i="1" baseline="-25000">
                <a:latin typeface="Arial" pitchFamily="34" charset="0"/>
              </a:rPr>
              <a:t>4</a:t>
            </a:r>
            <a:r>
              <a:rPr lang="en-US" altLang="zh-CN">
                <a:latin typeface="Arial" pitchFamily="34" charset="0"/>
              </a:rPr>
              <a:t>…</a:t>
            </a:r>
            <a:endParaRPr lang="zh-CN" altLang="en-US">
              <a:latin typeface="Arial" pitchFamily="34" charset="0"/>
            </a:endParaRPr>
          </a:p>
        </p:txBody>
      </p:sp>
      <p:sp>
        <p:nvSpPr>
          <p:cNvPr id="875536" name="Rectangle 16"/>
          <p:cNvSpPr>
            <a:spLocks noChangeArrowheads="1"/>
          </p:cNvSpPr>
          <p:nvPr/>
        </p:nvSpPr>
        <p:spPr bwMode="auto">
          <a:xfrm>
            <a:off x="5607050" y="5943600"/>
            <a:ext cx="2328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u="sng">
                <a:solidFill>
                  <a:srgbClr val="FF3300"/>
                </a:solidFill>
              </a:rPr>
              <a:t>龙贝格求积法</a:t>
            </a:r>
          </a:p>
        </p:txBody>
      </p:sp>
    </p:spTree>
    <p:custDataLst>
      <p:tags r:id="rId1"/>
    </p:custDataLst>
    <p:extLst>
      <p:ext uri="{BB962C8B-B14F-4D97-AF65-F5344CB8AC3E}">
        <p14:creationId xmlns:p14="http://schemas.microsoft.com/office/powerpoint/2010/main" val="33567043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5525"/>
                                        </p:tgtEl>
                                        <p:attrNameLst>
                                          <p:attrName>style.visibility</p:attrName>
                                        </p:attrNameLst>
                                      </p:cBhvr>
                                      <p:to>
                                        <p:strVal val="visible"/>
                                      </p:to>
                                    </p:set>
                                    <p:animEffect transition="in" filter="dissolve">
                                      <p:cBhvr>
                                        <p:cTn id="7" dur="500"/>
                                        <p:tgtEl>
                                          <p:spTgt spid="8755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75526"/>
                                        </p:tgtEl>
                                        <p:attrNameLst>
                                          <p:attrName>style.visibility</p:attrName>
                                        </p:attrNameLst>
                                      </p:cBhvr>
                                      <p:to>
                                        <p:strVal val="visible"/>
                                      </p:to>
                                    </p:set>
                                    <p:animEffect transition="in" filter="dissolve">
                                      <p:cBhvr>
                                        <p:cTn id="12" dur="500"/>
                                        <p:tgtEl>
                                          <p:spTgt spid="8755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75527"/>
                                        </p:tgtEl>
                                        <p:attrNameLst>
                                          <p:attrName>style.visibility</p:attrName>
                                        </p:attrNameLst>
                                      </p:cBhvr>
                                      <p:to>
                                        <p:strVal val="visible"/>
                                      </p:to>
                                    </p:set>
                                    <p:animEffect transition="in" filter="dissolve">
                                      <p:cBhvr>
                                        <p:cTn id="17" dur="500"/>
                                        <p:tgtEl>
                                          <p:spTgt spid="8755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75529"/>
                                        </p:tgtEl>
                                        <p:attrNameLst>
                                          <p:attrName>style.visibility</p:attrName>
                                        </p:attrNameLst>
                                      </p:cBhvr>
                                      <p:to>
                                        <p:strVal val="visible"/>
                                      </p:to>
                                    </p:set>
                                    <p:animEffect transition="in" filter="dissolve">
                                      <p:cBhvr>
                                        <p:cTn id="22" dur="500"/>
                                        <p:tgtEl>
                                          <p:spTgt spid="8755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75528"/>
                                        </p:tgtEl>
                                        <p:attrNameLst>
                                          <p:attrName>style.visibility</p:attrName>
                                        </p:attrNameLst>
                                      </p:cBhvr>
                                      <p:to>
                                        <p:strVal val="visible"/>
                                      </p:to>
                                    </p:set>
                                    <p:animEffect transition="in" filter="dissolve">
                                      <p:cBhvr>
                                        <p:cTn id="27" dur="500"/>
                                        <p:tgtEl>
                                          <p:spTgt spid="8755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75530"/>
                                        </p:tgtEl>
                                        <p:attrNameLst>
                                          <p:attrName>style.visibility</p:attrName>
                                        </p:attrNameLst>
                                      </p:cBhvr>
                                      <p:to>
                                        <p:strVal val="visible"/>
                                      </p:to>
                                    </p:set>
                                    <p:animEffect transition="in" filter="dissolve">
                                      <p:cBhvr>
                                        <p:cTn id="32" dur="500"/>
                                        <p:tgtEl>
                                          <p:spTgt spid="8755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75531"/>
                                        </p:tgtEl>
                                        <p:attrNameLst>
                                          <p:attrName>style.visibility</p:attrName>
                                        </p:attrNameLst>
                                      </p:cBhvr>
                                      <p:to>
                                        <p:strVal val="visible"/>
                                      </p:to>
                                    </p:set>
                                    <p:animEffect transition="in" filter="dissolve">
                                      <p:cBhvr>
                                        <p:cTn id="37" dur="500"/>
                                        <p:tgtEl>
                                          <p:spTgt spid="8755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75532"/>
                                        </p:tgtEl>
                                        <p:attrNameLst>
                                          <p:attrName>style.visibility</p:attrName>
                                        </p:attrNameLst>
                                      </p:cBhvr>
                                      <p:to>
                                        <p:strVal val="visible"/>
                                      </p:to>
                                    </p:set>
                                    <p:animEffect transition="in" filter="dissolve">
                                      <p:cBhvr>
                                        <p:cTn id="42" dur="500"/>
                                        <p:tgtEl>
                                          <p:spTgt spid="87553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75533"/>
                                        </p:tgtEl>
                                        <p:attrNameLst>
                                          <p:attrName>style.visibility</p:attrName>
                                        </p:attrNameLst>
                                      </p:cBhvr>
                                      <p:to>
                                        <p:strVal val="visible"/>
                                      </p:to>
                                    </p:set>
                                    <p:animEffect transition="in" filter="dissolve">
                                      <p:cBhvr>
                                        <p:cTn id="47" dur="500"/>
                                        <p:tgtEl>
                                          <p:spTgt spid="8755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75534"/>
                                        </p:tgtEl>
                                        <p:attrNameLst>
                                          <p:attrName>style.visibility</p:attrName>
                                        </p:attrNameLst>
                                      </p:cBhvr>
                                      <p:to>
                                        <p:strVal val="visible"/>
                                      </p:to>
                                    </p:set>
                                    <p:animEffect transition="in" filter="dissolve">
                                      <p:cBhvr>
                                        <p:cTn id="52" dur="500"/>
                                        <p:tgtEl>
                                          <p:spTgt spid="8755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75535"/>
                                        </p:tgtEl>
                                        <p:attrNameLst>
                                          <p:attrName>style.visibility</p:attrName>
                                        </p:attrNameLst>
                                      </p:cBhvr>
                                      <p:to>
                                        <p:strVal val="visible"/>
                                      </p:to>
                                    </p:set>
                                    <p:animEffect transition="in" filter="dissolve">
                                      <p:cBhvr>
                                        <p:cTn id="57" dur="500"/>
                                        <p:tgtEl>
                                          <p:spTgt spid="87553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875536"/>
                                        </p:tgtEl>
                                        <p:attrNameLst>
                                          <p:attrName>style.visibility</p:attrName>
                                        </p:attrNameLst>
                                      </p:cBhvr>
                                      <p:to>
                                        <p:strVal val="visible"/>
                                      </p:to>
                                    </p:set>
                                    <p:animEffect transition="in" filter="dissolve">
                                      <p:cBhvr>
                                        <p:cTn id="62" dur="500"/>
                                        <p:tgtEl>
                                          <p:spTgt spid="875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9" grpId="0" autoUpdateAnimBg="0"/>
      <p:bldP spid="875530" grpId="0" animBg="1"/>
      <p:bldP spid="875531" grpId="0" autoUpdateAnimBg="0"/>
      <p:bldP spid="875532" grpId="0" animBg="1"/>
      <p:bldP spid="875533" grpId="0" autoUpdateAnimBg="0"/>
      <p:bldP spid="875534" grpId="0" animBg="1"/>
      <p:bldP spid="875535" grpId="0" autoUpdateAnimBg="0"/>
      <p:bldP spid="87553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3"/>
          <p:cNvSpPr>
            <a:spLocks noGrp="1"/>
          </p:cNvSpPr>
          <p:nvPr>
            <p:ph type="sldNum" sz="quarter" idx="10"/>
          </p:nvPr>
        </p:nvSpPr>
        <p:spPr/>
        <p:txBody>
          <a:bodyPr/>
          <a:lstStyle/>
          <a:p>
            <a:fld id="{61FABF49-C70B-458D-BE20-853D6F449BD8}" type="slidenum">
              <a:rPr lang="zh-CN" altLang="en-US"/>
              <a:pPr/>
              <a:t>65</a:t>
            </a:fld>
            <a:endParaRPr lang="en-US" altLang="zh-CN"/>
          </a:p>
        </p:txBody>
      </p:sp>
      <p:sp>
        <p:nvSpPr>
          <p:cNvPr id="63" name="日期占位符 4"/>
          <p:cNvSpPr>
            <a:spLocks noGrp="1"/>
          </p:cNvSpPr>
          <p:nvPr>
            <p:ph type="dt" sz="half" idx="11"/>
          </p:nvPr>
        </p:nvSpPr>
        <p:spPr/>
        <p:txBody>
          <a:bodyPr/>
          <a:lstStyle/>
          <a:p>
            <a:fld id="{F4965003-C3C6-49DB-A550-291B6EBCA5BA}" type="datetime1">
              <a:rPr lang="zh-CN" altLang="en-US"/>
              <a:pPr/>
              <a:t>2024/11/18</a:t>
            </a:fld>
            <a:endParaRPr lang="en-US" altLang="zh-CN" sz="1000"/>
          </a:p>
        </p:txBody>
      </p:sp>
      <p:sp>
        <p:nvSpPr>
          <p:cNvPr id="956418" name="Rectangle 2"/>
          <p:cNvSpPr>
            <a:spLocks noGrp="1" noChangeArrowheads="1"/>
          </p:cNvSpPr>
          <p:nvPr>
            <p:ph type="title"/>
          </p:nvPr>
        </p:nvSpPr>
        <p:spPr/>
        <p:txBody>
          <a:bodyPr/>
          <a:lstStyle/>
          <a:p>
            <a:r>
              <a:rPr lang="zh-CN" altLang="en-US"/>
              <a:t>3 龙贝格法</a:t>
            </a:r>
          </a:p>
        </p:txBody>
      </p:sp>
      <p:graphicFrame>
        <p:nvGraphicFramePr>
          <p:cNvPr id="956484" name="Group 68"/>
          <p:cNvGraphicFramePr>
            <a:graphicFrameLocks noGrp="1"/>
          </p:cNvGraphicFramePr>
          <p:nvPr/>
        </p:nvGraphicFramePr>
        <p:xfrm>
          <a:off x="1765300" y="1366838"/>
          <a:ext cx="6604000" cy="5081590"/>
        </p:xfrm>
        <a:graphic>
          <a:graphicData uri="http://schemas.openxmlformats.org/drawingml/2006/table">
            <a:tbl>
              <a:tblPr/>
              <a:tblGrid>
                <a:gridCol w="1674813">
                  <a:extLst>
                    <a:ext uri="{9D8B030D-6E8A-4147-A177-3AD203B41FA5}">
                      <a16:colId xmlns:a16="http://schemas.microsoft.com/office/drawing/2014/main" val="20000"/>
                    </a:ext>
                  </a:extLst>
                </a:gridCol>
                <a:gridCol w="1627187">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tblGrid>
              <a:tr h="728663">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1200">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T</a:t>
                      </a:r>
                      <a:r>
                        <a:rPr kumimoji="0" lang="en-US" altLang="zh-CN" sz="3200" b="1" i="1" u="none" strike="noStrike" cap="none" normalizeH="0" baseline="-25000">
                          <a:ln>
                            <a:noFill/>
                          </a:ln>
                          <a:solidFill>
                            <a:schemeClr val="tx1"/>
                          </a:solidFill>
                          <a:effectLst/>
                          <a:latin typeface="Arial" pitchFamily="34" charset="0"/>
                          <a:ea typeface="黑体" pitchFamily="49" charset="-122"/>
                        </a:rPr>
                        <a:t>1</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T</a:t>
                      </a:r>
                      <a:r>
                        <a:rPr kumimoji="0" lang="en-US" altLang="zh-CN" sz="3200" b="1" i="1" u="none" strike="noStrike" cap="none" normalizeH="0" baseline="-25000">
                          <a:ln>
                            <a:noFill/>
                          </a:ln>
                          <a:solidFill>
                            <a:schemeClr val="tx1"/>
                          </a:solidFill>
                          <a:effectLst/>
                          <a:latin typeface="Arial" pitchFamily="34" charset="0"/>
                          <a:ea typeface="黑体" pitchFamily="49" charset="-122"/>
                        </a:rPr>
                        <a:t>2</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S</a:t>
                      </a:r>
                      <a:r>
                        <a:rPr kumimoji="0" lang="en-US" altLang="zh-CN" sz="3200" b="1" i="1" u="none" strike="noStrike" cap="none" normalizeH="0" baseline="-25000">
                          <a:ln>
                            <a:noFill/>
                          </a:ln>
                          <a:solidFill>
                            <a:schemeClr val="tx1"/>
                          </a:solidFill>
                          <a:effectLst/>
                          <a:latin typeface="Arial" pitchFamily="34" charset="0"/>
                          <a:ea typeface="黑体" pitchFamily="49" charset="-122"/>
                        </a:rPr>
                        <a:t>1</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T</a:t>
                      </a:r>
                      <a:r>
                        <a:rPr kumimoji="0" lang="en-US" altLang="zh-CN" sz="3200" b="1" i="1" u="none" strike="noStrike" cap="none" normalizeH="0" baseline="-25000">
                          <a:ln>
                            <a:noFill/>
                          </a:ln>
                          <a:solidFill>
                            <a:schemeClr val="tx1"/>
                          </a:solidFill>
                          <a:effectLst/>
                          <a:latin typeface="Arial" pitchFamily="34" charset="0"/>
                          <a:ea typeface="黑体" pitchFamily="49" charset="-122"/>
                        </a:rPr>
                        <a:t>4</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S</a:t>
                      </a:r>
                      <a:r>
                        <a:rPr kumimoji="0" lang="en-US" altLang="zh-CN" sz="3200" b="1" i="1" u="none" strike="noStrike" cap="none" normalizeH="0" baseline="-25000">
                          <a:ln>
                            <a:noFill/>
                          </a:ln>
                          <a:solidFill>
                            <a:schemeClr val="tx1"/>
                          </a:solidFill>
                          <a:effectLst/>
                          <a:latin typeface="Arial" pitchFamily="34" charset="0"/>
                          <a:ea typeface="黑体" pitchFamily="49" charset="-122"/>
                        </a:rPr>
                        <a:t>2</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C</a:t>
                      </a:r>
                      <a:r>
                        <a:rPr kumimoji="0" lang="en-US" altLang="zh-CN" sz="3200" b="1" i="1" u="none" strike="noStrike" cap="none" normalizeH="0" baseline="-25000">
                          <a:ln>
                            <a:noFill/>
                          </a:ln>
                          <a:solidFill>
                            <a:schemeClr val="tx1"/>
                          </a:solidFill>
                          <a:effectLst/>
                          <a:latin typeface="Arial" pitchFamily="34" charset="0"/>
                          <a:ea typeface="黑体" pitchFamily="49" charset="-122"/>
                        </a:rPr>
                        <a:t>1</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T</a:t>
                      </a:r>
                      <a:r>
                        <a:rPr kumimoji="0" lang="en-US" altLang="zh-CN" sz="3200" b="1" i="1" u="none" strike="noStrike" cap="none" normalizeH="0" baseline="-25000">
                          <a:ln>
                            <a:noFill/>
                          </a:ln>
                          <a:solidFill>
                            <a:schemeClr val="tx1"/>
                          </a:solidFill>
                          <a:effectLst/>
                          <a:latin typeface="Arial" pitchFamily="34" charset="0"/>
                          <a:ea typeface="黑体" pitchFamily="49" charset="-122"/>
                        </a:rPr>
                        <a:t>8</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S</a:t>
                      </a:r>
                      <a:r>
                        <a:rPr kumimoji="0" lang="en-US" altLang="zh-CN" sz="3200" b="1" i="1" u="none" strike="noStrike" cap="none" normalizeH="0" baseline="-25000">
                          <a:ln>
                            <a:noFill/>
                          </a:ln>
                          <a:solidFill>
                            <a:schemeClr val="tx1"/>
                          </a:solidFill>
                          <a:effectLst/>
                          <a:latin typeface="Arial" pitchFamily="34" charset="0"/>
                          <a:ea typeface="黑体" pitchFamily="49" charset="-122"/>
                        </a:rPr>
                        <a:t>4</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C</a:t>
                      </a:r>
                      <a:r>
                        <a:rPr kumimoji="0" lang="en-US" altLang="zh-CN" sz="3200" b="1" i="1" u="none" strike="noStrike" cap="none" normalizeH="0" baseline="-25000">
                          <a:ln>
                            <a:noFill/>
                          </a:ln>
                          <a:solidFill>
                            <a:schemeClr val="tx1"/>
                          </a:solidFill>
                          <a:effectLst/>
                          <a:latin typeface="Arial" pitchFamily="34" charset="0"/>
                          <a:ea typeface="黑体" pitchFamily="49" charset="-122"/>
                        </a:rPr>
                        <a:t>2</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R</a:t>
                      </a:r>
                      <a:r>
                        <a:rPr kumimoji="0" lang="en-US" altLang="zh-CN" sz="3200" b="1" i="1" u="none" strike="noStrike" cap="none" normalizeH="0" baseline="-25000">
                          <a:ln>
                            <a:noFill/>
                          </a:ln>
                          <a:solidFill>
                            <a:schemeClr val="tx1"/>
                          </a:solidFill>
                          <a:effectLst/>
                          <a:latin typeface="Arial" pitchFamily="34" charset="0"/>
                          <a:ea typeface="黑体" pitchFamily="49" charset="-122"/>
                        </a:rPr>
                        <a:t>1</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7075">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T</a:t>
                      </a:r>
                      <a:r>
                        <a:rPr kumimoji="0" lang="en-US" altLang="zh-CN" sz="3200" b="1" i="1" u="none" strike="noStrike" cap="none" normalizeH="0" baseline="-25000">
                          <a:ln>
                            <a:noFill/>
                          </a:ln>
                          <a:solidFill>
                            <a:schemeClr val="tx1"/>
                          </a:solidFill>
                          <a:effectLst/>
                          <a:latin typeface="Arial" pitchFamily="34" charset="0"/>
                          <a:ea typeface="黑体" pitchFamily="49" charset="-122"/>
                        </a:rPr>
                        <a:t>16</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S</a:t>
                      </a:r>
                      <a:r>
                        <a:rPr kumimoji="0" lang="en-US" altLang="zh-CN" sz="3200" b="1" i="1" u="none" strike="noStrike" cap="none" normalizeH="0" baseline="-25000">
                          <a:ln>
                            <a:noFill/>
                          </a:ln>
                          <a:solidFill>
                            <a:schemeClr val="tx1"/>
                          </a:solidFill>
                          <a:effectLst/>
                          <a:latin typeface="Arial" pitchFamily="34" charset="0"/>
                          <a:ea typeface="黑体" pitchFamily="49" charset="-122"/>
                        </a:rPr>
                        <a:t>8</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C</a:t>
                      </a:r>
                      <a:r>
                        <a:rPr kumimoji="0" lang="en-US" altLang="zh-CN" sz="3200" b="1" i="1" u="none" strike="noStrike" cap="none" normalizeH="0" baseline="-25000">
                          <a:ln>
                            <a:noFill/>
                          </a:ln>
                          <a:solidFill>
                            <a:schemeClr val="tx1"/>
                          </a:solidFill>
                          <a:effectLst/>
                          <a:latin typeface="Arial" pitchFamily="34" charset="0"/>
                          <a:ea typeface="黑体" pitchFamily="49" charset="-122"/>
                        </a:rPr>
                        <a:t>4</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en-US" altLang="zh-CN" sz="2800" b="1" i="0" u="none" strike="noStrike" cap="none" normalizeH="0" baseline="0">
                          <a:ln>
                            <a:noFill/>
                          </a:ln>
                          <a:solidFill>
                            <a:schemeClr val="tx1"/>
                          </a:solidFill>
                          <a:effectLst/>
                          <a:latin typeface="Times New Roman" pitchFamily="18" charset="0"/>
                          <a:ea typeface="黑体" pitchFamily="49" charset="-122"/>
                        </a:rPr>
                        <a:t>R</a:t>
                      </a:r>
                      <a:r>
                        <a:rPr kumimoji="0" lang="en-US" altLang="zh-CN" sz="3200" b="1" i="1" u="none" strike="noStrike" cap="none" normalizeH="0" baseline="-25000">
                          <a:ln>
                            <a:noFill/>
                          </a:ln>
                          <a:solidFill>
                            <a:schemeClr val="tx1"/>
                          </a:solidFill>
                          <a:effectLst/>
                          <a:latin typeface="Arial" pitchFamily="34" charset="0"/>
                          <a:ea typeface="黑体" pitchFamily="49" charset="-122"/>
                        </a:rPr>
                        <a:t>2</a:t>
                      </a:r>
                      <a:endParaRPr kumimoji="0" lang="zh-CN" altLang="en-US" sz="3200" b="1" i="1" u="none" strike="noStrike" cap="none" normalizeH="0" baseline="-25000">
                        <a:ln>
                          <a:noFill/>
                        </a:ln>
                        <a:solidFill>
                          <a:schemeClr val="tx1"/>
                        </a:solidFill>
                        <a:effectLst/>
                        <a:latin typeface="Arial"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28663">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56462" name="Object 46"/>
          <p:cNvGraphicFramePr>
            <a:graphicFrameLocks noChangeAspect="1"/>
          </p:cNvGraphicFramePr>
          <p:nvPr/>
        </p:nvGraphicFramePr>
        <p:xfrm>
          <a:off x="7073900" y="1474788"/>
          <a:ext cx="538163" cy="569912"/>
        </p:xfrm>
        <a:graphic>
          <a:graphicData uri="http://schemas.openxmlformats.org/presentationml/2006/ole">
            <mc:AlternateContent xmlns:mc="http://schemas.openxmlformats.org/markup-compatibility/2006">
              <mc:Choice xmlns:v="urn:schemas-microsoft-com:vml" Requires="v">
                <p:oleObj name="Equation" r:id="rId2" imgW="253800" imgH="241200" progId="Equation.3">
                  <p:embed/>
                </p:oleObj>
              </mc:Choice>
              <mc:Fallback>
                <p:oleObj name="Equation" r:id="rId2" imgW="253800" imgH="241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3900" y="1474788"/>
                        <a:ext cx="538163"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6463" name="Object 47"/>
          <p:cNvGraphicFramePr>
            <a:graphicFrameLocks noChangeAspect="1"/>
          </p:cNvGraphicFramePr>
          <p:nvPr/>
        </p:nvGraphicFramePr>
        <p:xfrm>
          <a:off x="5473700" y="1511300"/>
          <a:ext cx="538163" cy="569913"/>
        </p:xfrm>
        <a:graphic>
          <a:graphicData uri="http://schemas.openxmlformats.org/presentationml/2006/ole">
            <mc:AlternateContent xmlns:mc="http://schemas.openxmlformats.org/markup-compatibility/2006">
              <mc:Choice xmlns:v="urn:schemas-microsoft-com:vml" Requires="v">
                <p:oleObj name="Equation" r:id="rId4" imgW="253800" imgH="241200" progId="Equation.3">
                  <p:embed/>
                </p:oleObj>
              </mc:Choice>
              <mc:Fallback>
                <p:oleObj name="Equation" r:id="rId4" imgW="25380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3700" y="1511300"/>
                        <a:ext cx="5381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6464" name="Object 48"/>
          <p:cNvGraphicFramePr>
            <a:graphicFrameLocks noChangeAspect="1"/>
          </p:cNvGraphicFramePr>
          <p:nvPr/>
        </p:nvGraphicFramePr>
        <p:xfrm>
          <a:off x="3721100" y="1511300"/>
          <a:ext cx="538163" cy="569913"/>
        </p:xfrm>
        <a:graphic>
          <a:graphicData uri="http://schemas.openxmlformats.org/presentationml/2006/ole">
            <mc:AlternateContent xmlns:mc="http://schemas.openxmlformats.org/markup-compatibility/2006">
              <mc:Choice xmlns:v="urn:schemas-microsoft-com:vml" Requires="v">
                <p:oleObj name="Equation" r:id="rId6" imgW="253800" imgH="241200" progId="Equation.3">
                  <p:embed/>
                </p:oleObj>
              </mc:Choice>
              <mc:Fallback>
                <p:oleObj name="Equation" r:id="rId6" imgW="253800" imgH="24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1100" y="1511300"/>
                        <a:ext cx="5381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6465" name="Object 49"/>
          <p:cNvGraphicFramePr>
            <a:graphicFrameLocks noChangeAspect="1"/>
          </p:cNvGraphicFramePr>
          <p:nvPr/>
        </p:nvGraphicFramePr>
        <p:xfrm>
          <a:off x="2071688" y="1511300"/>
          <a:ext cx="484187" cy="569913"/>
        </p:xfrm>
        <a:graphic>
          <a:graphicData uri="http://schemas.openxmlformats.org/presentationml/2006/ole">
            <mc:AlternateContent xmlns:mc="http://schemas.openxmlformats.org/markup-compatibility/2006">
              <mc:Choice xmlns:v="urn:schemas-microsoft-com:vml" Requires="v">
                <p:oleObj name="Equation" r:id="rId8" imgW="228600" imgH="241200" progId="Equation.3">
                  <p:embed/>
                </p:oleObj>
              </mc:Choice>
              <mc:Fallback>
                <p:oleObj name="Equation" r:id="rId8" imgW="22860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1688" y="1511300"/>
                        <a:ext cx="484187"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6466" name="Line 50"/>
          <p:cNvSpPr>
            <a:spLocks noChangeShapeType="1"/>
          </p:cNvSpPr>
          <p:nvPr/>
        </p:nvSpPr>
        <p:spPr bwMode="auto">
          <a:xfrm>
            <a:off x="2578100" y="2501900"/>
            <a:ext cx="0" cy="3810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67" name="Line 51"/>
          <p:cNvSpPr>
            <a:spLocks noChangeShapeType="1"/>
          </p:cNvSpPr>
          <p:nvPr/>
        </p:nvSpPr>
        <p:spPr bwMode="auto">
          <a:xfrm>
            <a:off x="2806700" y="3111500"/>
            <a:ext cx="11430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68" name="Line 52"/>
          <p:cNvSpPr>
            <a:spLocks noChangeShapeType="1"/>
          </p:cNvSpPr>
          <p:nvPr/>
        </p:nvSpPr>
        <p:spPr bwMode="auto">
          <a:xfrm flipH="1">
            <a:off x="2730500" y="3263900"/>
            <a:ext cx="1219200" cy="533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69" name="Line 53"/>
          <p:cNvSpPr>
            <a:spLocks noChangeShapeType="1"/>
          </p:cNvSpPr>
          <p:nvPr/>
        </p:nvSpPr>
        <p:spPr bwMode="auto">
          <a:xfrm>
            <a:off x="2806700" y="3873500"/>
            <a:ext cx="11430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0" name="Line 54"/>
          <p:cNvSpPr>
            <a:spLocks noChangeShapeType="1"/>
          </p:cNvSpPr>
          <p:nvPr/>
        </p:nvSpPr>
        <p:spPr bwMode="auto">
          <a:xfrm>
            <a:off x="4406900" y="3797300"/>
            <a:ext cx="12192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1" name="Line 55"/>
          <p:cNvSpPr>
            <a:spLocks noChangeShapeType="1"/>
          </p:cNvSpPr>
          <p:nvPr/>
        </p:nvSpPr>
        <p:spPr bwMode="auto">
          <a:xfrm flipH="1">
            <a:off x="2806700" y="3873500"/>
            <a:ext cx="3048000" cy="6096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2" name="Line 56"/>
          <p:cNvSpPr>
            <a:spLocks noChangeShapeType="1"/>
          </p:cNvSpPr>
          <p:nvPr/>
        </p:nvSpPr>
        <p:spPr bwMode="auto">
          <a:xfrm>
            <a:off x="2882900" y="4559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3" name="Line 57"/>
          <p:cNvSpPr>
            <a:spLocks noChangeShapeType="1"/>
          </p:cNvSpPr>
          <p:nvPr/>
        </p:nvSpPr>
        <p:spPr bwMode="auto">
          <a:xfrm>
            <a:off x="4635500" y="4559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4" name="Line 58"/>
          <p:cNvSpPr>
            <a:spLocks noChangeShapeType="1"/>
          </p:cNvSpPr>
          <p:nvPr/>
        </p:nvSpPr>
        <p:spPr bwMode="auto">
          <a:xfrm>
            <a:off x="6235700" y="4559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5" name="Line 59"/>
          <p:cNvSpPr>
            <a:spLocks noChangeShapeType="1"/>
          </p:cNvSpPr>
          <p:nvPr/>
        </p:nvSpPr>
        <p:spPr bwMode="auto">
          <a:xfrm flipH="1">
            <a:off x="2882900" y="4635500"/>
            <a:ext cx="4343400" cy="533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6" name="Line 60"/>
          <p:cNvSpPr>
            <a:spLocks noChangeShapeType="1"/>
          </p:cNvSpPr>
          <p:nvPr/>
        </p:nvSpPr>
        <p:spPr bwMode="auto">
          <a:xfrm>
            <a:off x="2882900" y="5321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7" name="Line 61"/>
          <p:cNvSpPr>
            <a:spLocks noChangeShapeType="1"/>
          </p:cNvSpPr>
          <p:nvPr/>
        </p:nvSpPr>
        <p:spPr bwMode="auto">
          <a:xfrm>
            <a:off x="4635500" y="5321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6478" name="Line 62"/>
          <p:cNvSpPr>
            <a:spLocks noChangeShapeType="1"/>
          </p:cNvSpPr>
          <p:nvPr/>
        </p:nvSpPr>
        <p:spPr bwMode="auto">
          <a:xfrm>
            <a:off x="6235700" y="5321300"/>
            <a:ext cx="1066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1710722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139AFE12-EF65-461F-BAA7-F23C4F615E6C}" type="slidenum">
              <a:rPr lang="zh-CN" altLang="en-US"/>
              <a:pPr/>
              <a:t>66</a:t>
            </a:fld>
            <a:endParaRPr lang="en-US" altLang="zh-CN"/>
          </a:p>
        </p:txBody>
      </p:sp>
      <p:sp>
        <p:nvSpPr>
          <p:cNvPr id="14" name="日期占位符 4"/>
          <p:cNvSpPr>
            <a:spLocks noGrp="1"/>
          </p:cNvSpPr>
          <p:nvPr>
            <p:ph type="dt" sz="half" idx="4294967295"/>
          </p:nvPr>
        </p:nvSpPr>
        <p:spPr>
          <a:xfrm>
            <a:off x="14295" y="6350000"/>
            <a:ext cx="2297112" cy="577850"/>
          </a:xfrm>
        </p:spPr>
        <p:txBody>
          <a:bodyPr/>
          <a:lstStyle/>
          <a:p>
            <a:fld id="{D65E7DF3-EDBB-4EAF-BEFE-210F079E4DA4}" type="datetime1">
              <a:rPr lang="zh-CN" altLang="en-US"/>
              <a:pPr/>
              <a:t>2024/11/18</a:t>
            </a:fld>
            <a:endParaRPr lang="en-US" altLang="zh-CN"/>
          </a:p>
        </p:txBody>
      </p:sp>
      <p:sp>
        <p:nvSpPr>
          <p:cNvPr id="850946" name="Rectangle 2"/>
          <p:cNvSpPr>
            <a:spLocks noGrp="1" noChangeArrowheads="1"/>
          </p:cNvSpPr>
          <p:nvPr>
            <p:ph type="title"/>
          </p:nvPr>
        </p:nvSpPr>
        <p:spPr>
          <a:xfrm>
            <a:off x="650878" y="255588"/>
            <a:ext cx="8820150" cy="658812"/>
          </a:xfrm>
        </p:spPr>
        <p:txBody>
          <a:bodyPr/>
          <a:lstStyle/>
          <a:p>
            <a:r>
              <a:rPr lang="zh-CN" altLang="en-US" dirty="0"/>
              <a:t>代数精确度</a:t>
            </a:r>
            <a:endParaRPr lang="zh-CN" altLang="en-US" sz="4800" dirty="0"/>
          </a:p>
        </p:txBody>
      </p:sp>
      <p:sp>
        <p:nvSpPr>
          <p:cNvPr id="850947" name="Rectangle 3"/>
          <p:cNvSpPr>
            <a:spLocks noGrp="1" noChangeArrowheads="1"/>
          </p:cNvSpPr>
          <p:nvPr>
            <p:ph type="body" idx="1"/>
          </p:nvPr>
        </p:nvSpPr>
        <p:spPr>
          <a:xfrm>
            <a:off x="650878" y="1143004"/>
            <a:ext cx="8820150" cy="1163395"/>
          </a:xfrm>
        </p:spPr>
        <p:txBody>
          <a:bodyPr/>
          <a:lstStyle/>
          <a:p>
            <a:r>
              <a:rPr lang="zh-CN" altLang="en-US" dirty="0"/>
              <a:t>如果一个求积公式对任意</a:t>
            </a:r>
            <a:r>
              <a:rPr lang="en-US" altLang="zh-CN" dirty="0"/>
              <a:t>n</a:t>
            </a:r>
            <a:r>
              <a:rPr lang="zh-CN" altLang="en-US" dirty="0"/>
              <a:t>次多项式精确成立，而对大于</a:t>
            </a:r>
            <a:r>
              <a:rPr lang="en-US" altLang="zh-CN" i="1" dirty="0"/>
              <a:t>n</a:t>
            </a:r>
            <a:r>
              <a:rPr lang="zh-CN" altLang="en-US" dirty="0"/>
              <a:t>的多项式不精确成立，称该求积公式具有</a:t>
            </a:r>
            <a:r>
              <a:rPr lang="en-US" altLang="zh-CN" i="1" u="sng" dirty="0">
                <a:solidFill>
                  <a:srgbClr val="FF3300"/>
                </a:solidFill>
              </a:rPr>
              <a:t>n</a:t>
            </a:r>
            <a:r>
              <a:rPr lang="zh-CN" altLang="en-US" u="sng" dirty="0">
                <a:solidFill>
                  <a:srgbClr val="FF3300"/>
                </a:solidFill>
              </a:rPr>
              <a:t>次代数精确度</a:t>
            </a:r>
            <a:r>
              <a:rPr lang="zh-CN" altLang="en-US" dirty="0"/>
              <a:t>。</a:t>
            </a:r>
          </a:p>
        </p:txBody>
      </p:sp>
      <p:sp>
        <p:nvSpPr>
          <p:cNvPr id="15" name="Rectangle 16"/>
          <p:cNvSpPr>
            <a:spLocks noChangeArrowheads="1"/>
          </p:cNvSpPr>
          <p:nvPr/>
        </p:nvSpPr>
        <p:spPr bwMode="auto">
          <a:xfrm>
            <a:off x="330520" y="2709982"/>
            <a:ext cx="6008056"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
                <a:srgbClr val="008000"/>
              </a:buClr>
              <a:buSzPct val="90000"/>
              <a:buFont typeface="Wingdings" panose="05000000000000000000" pitchFamily="2" charset="2"/>
              <a:buChar char="ª"/>
            </a:pPr>
            <a:r>
              <a:rPr lang="zh-CN" altLang="en-US" sz="2800" i="0" dirty="0">
                <a:solidFill>
                  <a:srgbClr val="040000"/>
                </a:solidFill>
                <a:latin typeface="Times New Roman" panose="02020603050405020304" pitchFamily="18" charset="0"/>
                <a:ea typeface="楷体_GB2312" pitchFamily="49" charset="-122"/>
              </a:rPr>
              <a:t>梯形求积公式</a:t>
            </a:r>
            <a:r>
              <a:rPr lang="en-US" altLang="zh-CN" sz="2800" i="0" dirty="0">
                <a:solidFill>
                  <a:srgbClr val="040000"/>
                </a:solidFill>
                <a:latin typeface="Times New Roman" panose="02020603050405020304" pitchFamily="18" charset="0"/>
                <a:ea typeface="楷体_GB2312" pitchFamily="49" charset="-122"/>
              </a:rPr>
              <a:t>(n=1)</a:t>
            </a:r>
            <a:r>
              <a:rPr lang="zh-CN" altLang="en-US" sz="2800" i="0" dirty="0">
                <a:solidFill>
                  <a:srgbClr val="040000"/>
                </a:solidFill>
                <a:latin typeface="Times New Roman" panose="02020603050405020304" pitchFamily="18" charset="0"/>
                <a:ea typeface="楷体_GB2312" pitchFamily="49" charset="-122"/>
              </a:rPr>
              <a:t>的代数精确度</a:t>
            </a:r>
            <a:r>
              <a:rPr lang="en-US" altLang="zh-CN" sz="2800" i="0" dirty="0">
                <a:solidFill>
                  <a:srgbClr val="040000"/>
                </a:solidFill>
                <a:latin typeface="Times New Roman" panose="02020603050405020304" pitchFamily="18" charset="0"/>
                <a:ea typeface="楷体_GB2312" pitchFamily="49" charset="-122"/>
              </a:rPr>
              <a:t>=</a:t>
            </a:r>
            <a:r>
              <a:rPr lang="zh-CN" altLang="en-US" sz="2800" i="0" dirty="0">
                <a:solidFill>
                  <a:srgbClr val="040000"/>
                </a:solidFill>
                <a:latin typeface="Times New Roman" panose="02020603050405020304" pitchFamily="18" charset="0"/>
                <a:ea typeface="楷体_GB2312" pitchFamily="49" charset="-122"/>
              </a:rPr>
              <a:t>？</a:t>
            </a:r>
          </a:p>
        </p:txBody>
      </p:sp>
      <p:graphicFrame>
        <p:nvGraphicFramePr>
          <p:cNvPr id="16" name="Object 19"/>
          <p:cNvGraphicFramePr>
            <a:graphicFrameLocks noChangeAspect="1"/>
          </p:cNvGraphicFramePr>
          <p:nvPr/>
        </p:nvGraphicFramePr>
        <p:xfrm>
          <a:off x="518156" y="3793405"/>
          <a:ext cx="4858418" cy="1583620"/>
        </p:xfrm>
        <a:graphic>
          <a:graphicData uri="http://schemas.openxmlformats.org/presentationml/2006/ole">
            <mc:AlternateContent xmlns:mc="http://schemas.openxmlformats.org/markup-compatibility/2006">
              <mc:Choice xmlns:v="urn:schemas-microsoft-com:vml" Requires="v">
                <p:oleObj name="Equation" r:id="rId3" imgW="2921000" imgH="812800" progId="Equation.DSMT4">
                  <p:embed/>
                </p:oleObj>
              </mc:Choice>
              <mc:Fallback>
                <p:oleObj name="Equation" r:id="rId3" imgW="2921000" imgH="812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56" y="3793405"/>
                        <a:ext cx="4858418" cy="1583620"/>
                      </a:xfrm>
                      <a:prstGeom prst="rect">
                        <a:avLst/>
                      </a:prstGeom>
                      <a:noFill/>
                      <a:ln>
                        <a:noFill/>
                      </a:ln>
                      <a:effectLst/>
                    </p:spPr>
                  </p:pic>
                </p:oleObj>
              </mc:Fallback>
            </mc:AlternateContent>
          </a:graphicData>
        </a:graphic>
      </p:graphicFrame>
      <p:sp>
        <p:nvSpPr>
          <p:cNvPr id="17" name="Rectangle 20"/>
          <p:cNvSpPr>
            <a:spLocks noChangeArrowheads="1"/>
          </p:cNvSpPr>
          <p:nvPr/>
        </p:nvSpPr>
        <p:spPr bwMode="auto">
          <a:xfrm>
            <a:off x="488504" y="3340607"/>
            <a:ext cx="3035300"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dirty="0">
                <a:latin typeface="Times New Roman" panose="02020603050405020304" pitchFamily="18" charset="0"/>
                <a:ea typeface="楷体_GB2312" pitchFamily="49" charset="-122"/>
              </a:rPr>
              <a:t>若</a:t>
            </a:r>
            <a:r>
              <a:rPr lang="en-US" altLang="zh-CN" sz="2800" i="1" dirty="0">
                <a:latin typeface="Times New Roman" panose="02020603050405020304" pitchFamily="18" charset="0"/>
                <a:ea typeface="楷体_GB2312" pitchFamily="49" charset="-122"/>
              </a:rPr>
              <a:t>f</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dirty="0">
                <a:latin typeface="Times New Roman" panose="02020603050405020304" pitchFamily="18" charset="0"/>
                <a:ea typeface="楷体_GB2312" pitchFamily="49" charset="-122"/>
              </a:rPr>
              <a:t>)</a:t>
            </a:r>
            <a:r>
              <a:rPr lang="zh-CN" altLang="en-US" sz="2800" dirty="0">
                <a:latin typeface="Times New Roman" panose="02020603050405020304" pitchFamily="18" charset="0"/>
                <a:ea typeface="楷体_GB2312" pitchFamily="49" charset="-122"/>
              </a:rPr>
              <a:t>为一次多项式</a:t>
            </a:r>
          </a:p>
        </p:txBody>
      </p:sp>
      <p:sp>
        <p:nvSpPr>
          <p:cNvPr id="18" name="Rectangle 21"/>
          <p:cNvSpPr>
            <a:spLocks noChangeArrowheads="1"/>
          </p:cNvSpPr>
          <p:nvPr/>
        </p:nvSpPr>
        <p:spPr bwMode="auto">
          <a:xfrm>
            <a:off x="5673080" y="3362558"/>
            <a:ext cx="352583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dirty="0">
                <a:latin typeface="Times New Roman" panose="02020603050405020304" pitchFamily="18" charset="0"/>
                <a:ea typeface="楷体_GB2312" pitchFamily="49" charset="-122"/>
              </a:rPr>
              <a:t>若</a:t>
            </a:r>
            <a:r>
              <a:rPr lang="en-US" altLang="zh-CN" sz="2800" i="1" dirty="0">
                <a:latin typeface="Times New Roman" panose="02020603050405020304" pitchFamily="18" charset="0"/>
                <a:ea typeface="楷体_GB2312" pitchFamily="49" charset="-122"/>
              </a:rPr>
              <a:t>f</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dirty="0">
                <a:latin typeface="Times New Roman" panose="02020603050405020304" pitchFamily="18" charset="0"/>
                <a:ea typeface="楷体_GB2312" pitchFamily="49" charset="-122"/>
              </a:rPr>
              <a:t>)=</a:t>
            </a:r>
            <a:r>
              <a:rPr lang="en-US" altLang="zh-CN" sz="2800" i="1" dirty="0">
                <a:latin typeface="Times New Roman" panose="02020603050405020304" pitchFamily="18" charset="0"/>
                <a:ea typeface="楷体_GB2312" pitchFamily="49" charset="-122"/>
              </a:rPr>
              <a:t>x</a:t>
            </a:r>
            <a:r>
              <a:rPr lang="en-US" altLang="zh-CN" sz="2800" baseline="30000" dirty="0">
                <a:latin typeface="Times New Roman" panose="02020603050405020304" pitchFamily="18" charset="0"/>
                <a:ea typeface="楷体_GB2312" pitchFamily="49" charset="-122"/>
              </a:rPr>
              <a:t>2</a:t>
            </a:r>
            <a:r>
              <a:rPr lang="zh-CN" altLang="en-US" sz="2800" dirty="0">
                <a:latin typeface="Times New Roman" panose="02020603050405020304" pitchFamily="18" charset="0"/>
                <a:ea typeface="楷体_GB2312" pitchFamily="49" charset="-122"/>
              </a:rPr>
              <a:t>为二次多项式</a:t>
            </a:r>
          </a:p>
        </p:txBody>
      </p:sp>
      <p:graphicFrame>
        <p:nvGraphicFramePr>
          <p:cNvPr id="19" name="Object 22"/>
          <p:cNvGraphicFramePr>
            <a:graphicFrameLocks noChangeAspect="1"/>
          </p:cNvGraphicFramePr>
          <p:nvPr/>
        </p:nvGraphicFramePr>
        <p:xfrm>
          <a:off x="5817096" y="3789596"/>
          <a:ext cx="3797948" cy="1648410"/>
        </p:xfrm>
        <a:graphic>
          <a:graphicData uri="http://schemas.openxmlformats.org/presentationml/2006/ole">
            <mc:AlternateContent xmlns:mc="http://schemas.openxmlformats.org/markup-compatibility/2006">
              <mc:Choice xmlns:v="urn:schemas-microsoft-com:vml" Requires="v">
                <p:oleObj name="Equation" r:id="rId5" imgW="1943100" imgH="812800" progId="Equation.DSMT4">
                  <p:embed/>
                </p:oleObj>
              </mc:Choice>
              <mc:Fallback>
                <p:oleObj name="Equation" r:id="rId5" imgW="1943100" imgH="812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7096" y="3789596"/>
                        <a:ext cx="3797948" cy="1648410"/>
                      </a:xfrm>
                      <a:prstGeom prst="rect">
                        <a:avLst/>
                      </a:prstGeom>
                      <a:noFill/>
                      <a:ln>
                        <a:noFill/>
                      </a:ln>
                      <a:effectLst/>
                    </p:spPr>
                  </p:pic>
                </p:oleObj>
              </mc:Fallback>
            </mc:AlternateContent>
          </a:graphicData>
        </a:graphic>
      </p:graphicFrame>
    </p:spTree>
    <p:custDataLst>
      <p:tags r:id="rId1"/>
    </p:custDataLst>
    <p:extLst>
      <p:ext uri="{BB962C8B-B14F-4D97-AF65-F5344CB8AC3E}">
        <p14:creationId xmlns:p14="http://schemas.microsoft.com/office/powerpoint/2010/main" val="14679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0"/>
          </p:nvPr>
        </p:nvSpPr>
        <p:spPr/>
        <p:txBody>
          <a:bodyPr/>
          <a:lstStyle/>
          <a:p>
            <a:fld id="{1F5F0EBA-0C75-4BFC-809B-EB51E31A110C}" type="slidenum">
              <a:rPr lang="zh-CN" altLang="en-US" smtClean="0"/>
              <a:pPr/>
              <a:t>67</a:t>
            </a:fld>
            <a:endParaRPr lang="en-US" altLang="zh-CN"/>
          </a:p>
        </p:txBody>
      </p:sp>
      <p:sp>
        <p:nvSpPr>
          <p:cNvPr id="5" name="日期占位符 4"/>
          <p:cNvSpPr>
            <a:spLocks noGrp="1"/>
          </p:cNvSpPr>
          <p:nvPr>
            <p:ph type="dt" sz="half" idx="11"/>
          </p:nvPr>
        </p:nvSpPr>
        <p:spPr/>
        <p:txBody>
          <a:bodyPr/>
          <a:lstStyle/>
          <a:p>
            <a:fld id="{3C8D7209-8540-466F-BFB0-B486ABF0E336}" type="datetime1">
              <a:rPr lang="zh-CN" altLang="en-US" smtClean="0"/>
              <a:pPr/>
              <a:t>2024/11/18</a:t>
            </a:fld>
            <a:endParaRPr lang="en-US" altLang="zh-CN"/>
          </a:p>
        </p:txBody>
      </p:sp>
      <p:sp>
        <p:nvSpPr>
          <p:cNvPr id="6" name="Text Box 10"/>
          <p:cNvSpPr txBox="1">
            <a:spLocks noChangeArrowheads="1"/>
          </p:cNvSpPr>
          <p:nvPr/>
        </p:nvSpPr>
        <p:spPr bwMode="auto">
          <a:xfrm>
            <a:off x="250825" y="1625600"/>
            <a:ext cx="8424863"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en-US" sz="2800" i="0" dirty="0">
                <a:latin typeface="Times New Roman" panose="02020603050405020304" pitchFamily="18" charset="0"/>
                <a:ea typeface="楷体_GB2312" pitchFamily="49" charset="-122"/>
              </a:rPr>
              <a:t>例：判别求积公式</a:t>
            </a:r>
          </a:p>
        </p:txBody>
      </p:sp>
      <p:graphicFrame>
        <p:nvGraphicFramePr>
          <p:cNvPr id="7" name="Object 11"/>
          <p:cNvGraphicFramePr>
            <a:graphicFrameLocks noChangeAspect="1"/>
          </p:cNvGraphicFramePr>
          <p:nvPr/>
        </p:nvGraphicFramePr>
        <p:xfrm>
          <a:off x="1187450" y="2128838"/>
          <a:ext cx="5976938" cy="815975"/>
        </p:xfrm>
        <a:graphic>
          <a:graphicData uri="http://schemas.openxmlformats.org/presentationml/2006/ole">
            <mc:AlternateContent xmlns:mc="http://schemas.openxmlformats.org/markup-compatibility/2006">
              <mc:Choice xmlns:v="urn:schemas-microsoft-com:vml" Requires="v">
                <p:oleObj name="Equation" r:id="rId2" imgW="2882900" imgH="393700" progId="Equation.DSMT4">
                  <p:embed/>
                </p:oleObj>
              </mc:Choice>
              <mc:Fallback>
                <p:oleObj name="Equation" r:id="rId2" imgW="2882900" imgH="39370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2128838"/>
                        <a:ext cx="59769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12"/>
          <p:cNvSpPr>
            <a:spLocks noChangeArrowheads="1"/>
          </p:cNvSpPr>
          <p:nvPr/>
        </p:nvSpPr>
        <p:spPr bwMode="auto">
          <a:xfrm>
            <a:off x="1105548" y="3136900"/>
            <a:ext cx="2164055"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i="0">
                <a:latin typeface="Times New Roman" panose="02020603050405020304" pitchFamily="18" charset="0"/>
                <a:ea typeface="楷体_GB2312" pitchFamily="49" charset="-122"/>
              </a:rPr>
              <a:t>的代数精度。</a:t>
            </a:r>
          </a:p>
        </p:txBody>
      </p:sp>
      <p:sp>
        <p:nvSpPr>
          <p:cNvPr id="9" name="Rectangle 3"/>
          <p:cNvSpPr>
            <a:spLocks noChangeArrowheads="1"/>
          </p:cNvSpPr>
          <p:nvPr/>
        </p:nvSpPr>
        <p:spPr bwMode="auto">
          <a:xfrm>
            <a:off x="1046587" y="4211489"/>
            <a:ext cx="84582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
                <a:srgbClr val="008000"/>
              </a:buClr>
              <a:buSzPct val="90000"/>
              <a:buFont typeface="Wingdings" panose="05000000000000000000" pitchFamily="2" charset="2"/>
              <a:buChar char="ª"/>
            </a:pPr>
            <a:r>
              <a:rPr lang="zh-CN" altLang="en-US" sz="2800">
                <a:solidFill>
                  <a:srgbClr val="A50021"/>
                </a:solidFill>
                <a:latin typeface="Times New Roman" panose="02020603050405020304" pitchFamily="18" charset="0"/>
                <a:ea typeface="楷体_GB2312" pitchFamily="49" charset="-122"/>
              </a:rPr>
              <a:t>思路：</a:t>
            </a:r>
          </a:p>
          <a:p>
            <a:pPr algn="just" eaLnBrk="1" hangingPunct="1">
              <a:spcBef>
                <a:spcPct val="0"/>
              </a:spcBef>
              <a:buClr>
                <a:srgbClr val="008000"/>
              </a:buClr>
              <a:buSzPct val="90000"/>
              <a:buFont typeface="Wingdings" panose="05000000000000000000" pitchFamily="2" charset="2"/>
              <a:buChar char="ª"/>
            </a:pPr>
            <a:r>
              <a:rPr lang="zh-CN" altLang="en-US" sz="2800">
                <a:solidFill>
                  <a:srgbClr val="A50021"/>
                </a:solidFill>
                <a:latin typeface="Times New Roman" panose="02020603050405020304" pitchFamily="18" charset="0"/>
                <a:ea typeface="楷体_GB2312" pitchFamily="49" charset="-122"/>
              </a:rPr>
              <a:t>当</a:t>
            </a:r>
            <a:r>
              <a:rPr lang="en-US" altLang="zh-CN" sz="2800" i="1">
                <a:solidFill>
                  <a:srgbClr val="A50021"/>
                </a:solidFill>
                <a:latin typeface="Times New Roman" panose="02020603050405020304" pitchFamily="18" charset="0"/>
                <a:ea typeface="楷体_GB2312" pitchFamily="49" charset="-122"/>
              </a:rPr>
              <a:t>f</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a:solidFill>
                  <a:srgbClr val="A50021"/>
                </a:solidFill>
                <a:latin typeface="Times New Roman" panose="02020603050405020304" pitchFamily="18" charset="0"/>
                <a:ea typeface="楷体_GB2312" pitchFamily="49" charset="-122"/>
              </a:rPr>
              <a:t>)=1,</a:t>
            </a:r>
            <a:r>
              <a:rPr lang="en-US" altLang="zh-CN" sz="2800" i="1">
                <a:solidFill>
                  <a:srgbClr val="A50021"/>
                </a:solidFill>
                <a:latin typeface="Times New Roman" panose="02020603050405020304" pitchFamily="18" charset="0"/>
                <a:ea typeface="楷体_GB2312" pitchFamily="49" charset="-122"/>
              </a:rPr>
              <a:t>x</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baseline="30000">
                <a:solidFill>
                  <a:srgbClr val="A50021"/>
                </a:solidFill>
                <a:latin typeface="Times New Roman" panose="02020603050405020304" pitchFamily="18" charset="0"/>
                <a:ea typeface="楷体_GB2312" pitchFamily="49" charset="-122"/>
              </a:rPr>
              <a:t>2</a:t>
            </a:r>
            <a:r>
              <a:rPr lang="en-US" altLang="zh-CN" sz="2800">
                <a:solidFill>
                  <a:srgbClr val="A50021"/>
                </a:solidFill>
                <a:latin typeface="Times New Roman" panose="02020603050405020304" pitchFamily="18" charset="0"/>
                <a:ea typeface="楷体_GB2312" pitchFamily="49" charset="-122"/>
              </a:rPr>
              <a:t>,</a:t>
            </a:r>
            <a:r>
              <a:rPr lang="en-US" altLang="zh-CN" sz="2800" i="1">
                <a:solidFill>
                  <a:srgbClr val="A50021"/>
                </a:solidFill>
                <a:latin typeface="Times New Roman" panose="02020603050405020304" pitchFamily="18" charset="0"/>
                <a:ea typeface="楷体_GB2312" pitchFamily="49" charset="-122"/>
              </a:rPr>
              <a:t>x</a:t>
            </a:r>
            <a:r>
              <a:rPr lang="en-US" altLang="zh-CN" sz="2800" baseline="30000">
                <a:solidFill>
                  <a:srgbClr val="A50021"/>
                </a:solidFill>
                <a:latin typeface="Times New Roman" panose="02020603050405020304" pitchFamily="18" charset="0"/>
                <a:ea typeface="楷体_GB2312" pitchFamily="49" charset="-122"/>
              </a:rPr>
              <a:t>3</a:t>
            </a:r>
            <a:r>
              <a:rPr lang="en-US" altLang="zh-CN" sz="2800">
                <a:solidFill>
                  <a:srgbClr val="A50021"/>
                </a:solidFill>
                <a:latin typeface="Times New Roman" panose="02020603050405020304" pitchFamily="18" charset="0"/>
                <a:ea typeface="楷体_GB2312" pitchFamily="49" charset="-122"/>
              </a:rPr>
              <a:t>…, </a:t>
            </a:r>
            <a:r>
              <a:rPr lang="zh-CN" altLang="en-US" sz="2800">
                <a:solidFill>
                  <a:srgbClr val="A50021"/>
                </a:solidFill>
                <a:latin typeface="Times New Roman" panose="02020603050405020304" pitchFamily="18" charset="0"/>
                <a:ea typeface="楷体_GB2312" pitchFamily="49" charset="-122"/>
              </a:rPr>
              <a:t>分别求</a:t>
            </a:r>
          </a:p>
        </p:txBody>
      </p:sp>
      <p:graphicFrame>
        <p:nvGraphicFramePr>
          <p:cNvPr id="10" name="Object 7"/>
          <p:cNvGraphicFramePr>
            <a:graphicFrameLocks noChangeAspect="1"/>
          </p:cNvGraphicFramePr>
          <p:nvPr/>
        </p:nvGraphicFramePr>
        <p:xfrm>
          <a:off x="5256637" y="4489302"/>
          <a:ext cx="1404937" cy="730250"/>
        </p:xfrm>
        <a:graphic>
          <a:graphicData uri="http://schemas.openxmlformats.org/presentationml/2006/ole">
            <mc:AlternateContent xmlns:mc="http://schemas.openxmlformats.org/markup-compatibility/2006">
              <mc:Choice xmlns:v="urn:schemas-microsoft-com:vml" Requires="v">
                <p:oleObj name="Equation" r:id="rId4" imgW="634725" imgH="330057" progId="Equation.DSMT4">
                  <p:embed/>
                </p:oleObj>
              </mc:Choice>
              <mc:Fallback>
                <p:oleObj name="Equation" r:id="rId4" imgW="634725" imgH="33005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6637" y="4489302"/>
                        <a:ext cx="1404937"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15"/>
          <p:cNvSpPr txBox="1">
            <a:spLocks noChangeArrowheads="1"/>
          </p:cNvSpPr>
          <p:nvPr/>
        </p:nvSpPr>
        <p:spPr bwMode="auto">
          <a:xfrm>
            <a:off x="1151362" y="5219552"/>
            <a:ext cx="7129462" cy="427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lang="zh-CN" altLang="en-US" sz="2800" dirty="0">
                <a:latin typeface="Times New Roman" panose="02020603050405020304" pitchFamily="18" charset="0"/>
                <a:ea typeface="楷体_GB2312" pitchFamily="49" charset="-122"/>
              </a:rPr>
              <a:t>答案：具有</a:t>
            </a:r>
            <a:r>
              <a:rPr lang="en-US" altLang="zh-CN" sz="2800" dirty="0">
                <a:latin typeface="Times New Roman" panose="02020603050405020304" pitchFamily="18" charset="0"/>
                <a:ea typeface="楷体_GB2312" pitchFamily="49" charset="-122"/>
              </a:rPr>
              <a:t>5</a:t>
            </a:r>
            <a:r>
              <a:rPr lang="zh-CN" altLang="en-US" sz="2800" dirty="0">
                <a:latin typeface="Times New Roman" panose="02020603050405020304" pitchFamily="18" charset="0"/>
                <a:ea typeface="楷体_GB2312" pitchFamily="49" charset="-122"/>
              </a:rPr>
              <a:t>次代数精度。</a:t>
            </a:r>
          </a:p>
        </p:txBody>
      </p:sp>
    </p:spTree>
    <p:extLst>
      <p:ext uri="{BB962C8B-B14F-4D97-AF65-F5344CB8AC3E}">
        <p14:creationId xmlns:p14="http://schemas.microsoft.com/office/powerpoint/2010/main" val="204891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fld id="{D32B0987-5E0B-4D90-91F4-AC698EAF8C29}" type="slidenum">
              <a:rPr lang="zh-CN" altLang="en-US"/>
              <a:pPr/>
              <a:t>68</a:t>
            </a:fld>
            <a:endParaRPr lang="en-US" altLang="zh-CN"/>
          </a:p>
        </p:txBody>
      </p:sp>
      <p:sp>
        <p:nvSpPr>
          <p:cNvPr id="10" name="日期占位符 4"/>
          <p:cNvSpPr>
            <a:spLocks noGrp="1"/>
          </p:cNvSpPr>
          <p:nvPr>
            <p:ph type="dt" sz="half" idx="11"/>
          </p:nvPr>
        </p:nvSpPr>
        <p:spPr/>
        <p:txBody>
          <a:bodyPr/>
          <a:lstStyle/>
          <a:p>
            <a:fld id="{2993C17C-71E1-4097-ABA6-3B78FF458B57}" type="datetime1">
              <a:rPr lang="zh-CN" altLang="en-US"/>
              <a:pPr/>
              <a:t>2024/11/18</a:t>
            </a:fld>
            <a:endParaRPr lang="en-US" altLang="zh-CN" sz="1000"/>
          </a:p>
        </p:txBody>
      </p:sp>
      <p:sp>
        <p:nvSpPr>
          <p:cNvPr id="876546" name="Rectangle 2"/>
          <p:cNvSpPr>
            <a:spLocks noGrp="1" noChangeArrowheads="1"/>
          </p:cNvSpPr>
          <p:nvPr>
            <p:ph type="title"/>
          </p:nvPr>
        </p:nvSpPr>
        <p:spPr/>
        <p:txBody>
          <a:bodyPr/>
          <a:lstStyle/>
          <a:p>
            <a:r>
              <a:rPr lang="zh-CN" altLang="en-US"/>
              <a:t>4 高斯求积</a:t>
            </a:r>
          </a:p>
        </p:txBody>
      </p:sp>
      <p:sp>
        <p:nvSpPr>
          <p:cNvPr id="876547" name="Rectangle 3"/>
          <p:cNvSpPr>
            <a:spLocks noGrp="1" noChangeArrowheads="1"/>
          </p:cNvSpPr>
          <p:nvPr>
            <p:ph type="body" idx="1"/>
          </p:nvPr>
        </p:nvSpPr>
        <p:spPr>
          <a:xfrm>
            <a:off x="650875" y="1143000"/>
            <a:ext cx="8820150" cy="1450975"/>
          </a:xfrm>
        </p:spPr>
        <p:txBody>
          <a:bodyPr/>
          <a:lstStyle/>
          <a:p>
            <a:r>
              <a:rPr lang="zh-CN" altLang="en-US">
                <a:latin typeface="宋体" pitchFamily="2" charset="-122"/>
              </a:rPr>
              <a:t>高斯求积公式</a:t>
            </a:r>
          </a:p>
          <a:p>
            <a:pPr lvl="1"/>
            <a:r>
              <a:rPr lang="en-US" altLang="zh-CN">
                <a:latin typeface="宋体" pitchFamily="2" charset="-122"/>
              </a:rPr>
              <a:t>n</a:t>
            </a:r>
            <a:r>
              <a:rPr lang="zh-CN" altLang="en-US">
                <a:latin typeface="宋体" pitchFamily="2" charset="-122"/>
              </a:rPr>
              <a:t>个求积节点，具有2</a:t>
            </a:r>
            <a:r>
              <a:rPr lang="en-US" altLang="zh-CN">
                <a:latin typeface="宋体" pitchFamily="2" charset="-122"/>
              </a:rPr>
              <a:t>n-1</a:t>
            </a:r>
            <a:r>
              <a:rPr lang="zh-CN" altLang="en-US">
                <a:latin typeface="宋体" pitchFamily="2" charset="-122"/>
              </a:rPr>
              <a:t>次代数精确度</a:t>
            </a:r>
          </a:p>
          <a:p>
            <a:pPr lvl="1"/>
            <a:r>
              <a:rPr lang="zh-CN" altLang="en-US">
                <a:latin typeface="宋体" pitchFamily="2" charset="-122"/>
              </a:rPr>
              <a:t>特点：使用节点数目少且精度高</a:t>
            </a:r>
          </a:p>
        </p:txBody>
      </p:sp>
      <p:graphicFrame>
        <p:nvGraphicFramePr>
          <p:cNvPr id="876549" name="Object 5"/>
          <p:cNvGraphicFramePr>
            <a:graphicFrameLocks noChangeAspect="1"/>
          </p:cNvGraphicFramePr>
          <p:nvPr/>
        </p:nvGraphicFramePr>
        <p:xfrm>
          <a:off x="762000" y="2743200"/>
          <a:ext cx="8535988" cy="982663"/>
        </p:xfrm>
        <a:graphic>
          <a:graphicData uri="http://schemas.openxmlformats.org/presentationml/2006/ole">
            <mc:AlternateContent xmlns:mc="http://schemas.openxmlformats.org/markup-compatibility/2006">
              <mc:Choice xmlns:v="urn:schemas-microsoft-com:vml" Requires="v">
                <p:oleObj name="Equation" r:id="rId2" imgW="3314520" imgH="444240" progId="Equation.3">
                  <p:embed/>
                </p:oleObj>
              </mc:Choice>
              <mc:Fallback>
                <p:oleObj name="Equation" r:id="rId2" imgW="331452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743200"/>
                        <a:ext cx="853598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0" name="Object 6"/>
          <p:cNvGraphicFramePr>
            <a:graphicFrameLocks noChangeAspect="1"/>
          </p:cNvGraphicFramePr>
          <p:nvPr/>
        </p:nvGraphicFramePr>
        <p:xfrm>
          <a:off x="1065213" y="3789363"/>
          <a:ext cx="4868862" cy="1090612"/>
        </p:xfrm>
        <a:graphic>
          <a:graphicData uri="http://schemas.openxmlformats.org/presentationml/2006/ole">
            <mc:AlternateContent xmlns:mc="http://schemas.openxmlformats.org/markup-compatibility/2006">
              <mc:Choice xmlns:v="urn:schemas-microsoft-com:vml" Requires="v">
                <p:oleObj name="公式" r:id="rId4" imgW="1854000" imgH="431640" progId="Equation.3">
                  <p:embed/>
                </p:oleObj>
              </mc:Choice>
              <mc:Fallback>
                <p:oleObj name="公式" r:id="rId4" imgW="185400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5213" y="3789363"/>
                        <a:ext cx="4868862"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6551" name="Rectangle 7"/>
          <p:cNvSpPr>
            <a:spLocks noChangeArrowheads="1"/>
          </p:cNvSpPr>
          <p:nvPr/>
        </p:nvSpPr>
        <p:spPr bwMode="auto">
          <a:xfrm>
            <a:off x="5638800" y="2743200"/>
            <a:ext cx="3048000" cy="990600"/>
          </a:xfrm>
          <a:prstGeom prst="rect">
            <a:avLst/>
          </a:prstGeom>
          <a:noFill/>
          <a:ln w="38100">
            <a:solidFill>
              <a:srgbClr val="FF3300"/>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76552" name="Object 8"/>
          <p:cNvGraphicFramePr>
            <a:graphicFrameLocks noChangeAspect="1"/>
          </p:cNvGraphicFramePr>
          <p:nvPr/>
        </p:nvGraphicFramePr>
        <p:xfrm>
          <a:off x="1568450" y="4868863"/>
          <a:ext cx="3962400" cy="938212"/>
        </p:xfrm>
        <a:graphic>
          <a:graphicData uri="http://schemas.openxmlformats.org/presentationml/2006/ole">
            <mc:AlternateContent xmlns:mc="http://schemas.openxmlformats.org/markup-compatibility/2006">
              <mc:Choice xmlns:v="urn:schemas-microsoft-com:vml" Requires="v">
                <p:oleObj name="Equation" r:id="rId6" imgW="1562040" imgH="393480" progId="Equation.3">
                  <p:embed/>
                </p:oleObj>
              </mc:Choice>
              <mc:Fallback>
                <p:oleObj name="Equation" r:id="rId6" imgW="1562040" imgH="393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8450" y="4868863"/>
                        <a:ext cx="3962400" cy="938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6554" name="Object 10"/>
          <p:cNvGraphicFramePr>
            <a:graphicFrameLocks noChangeAspect="1"/>
          </p:cNvGraphicFramePr>
          <p:nvPr/>
        </p:nvGraphicFramePr>
        <p:xfrm>
          <a:off x="7924800" y="1981200"/>
          <a:ext cx="622300" cy="774700"/>
        </p:xfrm>
        <a:graphic>
          <a:graphicData uri="http://schemas.openxmlformats.org/presentationml/2006/ole">
            <mc:AlternateContent xmlns:mc="http://schemas.openxmlformats.org/markup-compatibility/2006">
              <mc:Choice xmlns:v="urn:schemas-microsoft-com:vml" Requires="v">
                <p:oleObj name="Equation" r:id="rId8" imgW="190440" imgH="228600" progId="Equation.3">
                  <p:embed/>
                </p:oleObj>
              </mc:Choice>
              <mc:Fallback>
                <p:oleObj name="Equation" r:id="rId8" imgW="19044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24800" y="1981200"/>
                        <a:ext cx="6223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193700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B85604D9-F772-4BFC-A996-046610762FC6}" type="slidenum">
              <a:rPr lang="zh-CN" altLang="en-US"/>
              <a:pPr/>
              <a:t>69</a:t>
            </a:fld>
            <a:endParaRPr lang="en-US" altLang="zh-CN"/>
          </a:p>
        </p:txBody>
      </p:sp>
      <p:sp>
        <p:nvSpPr>
          <p:cNvPr id="5" name="日期占位符 4"/>
          <p:cNvSpPr>
            <a:spLocks noGrp="1"/>
          </p:cNvSpPr>
          <p:nvPr>
            <p:ph type="dt" sz="half" idx="11"/>
          </p:nvPr>
        </p:nvSpPr>
        <p:spPr/>
        <p:txBody>
          <a:bodyPr/>
          <a:lstStyle/>
          <a:p>
            <a:fld id="{29E0F4EF-709A-4053-911A-E5BD8243F82B}" type="datetime1">
              <a:rPr lang="zh-CN" altLang="en-US"/>
              <a:pPr/>
              <a:t>2024/11/18</a:t>
            </a:fld>
            <a:endParaRPr lang="en-US" altLang="zh-CN" sz="1000"/>
          </a:p>
        </p:txBody>
      </p:sp>
      <p:sp>
        <p:nvSpPr>
          <p:cNvPr id="793602" name="Rectangle 2"/>
          <p:cNvSpPr>
            <a:spLocks noGrp="1" noChangeArrowheads="1"/>
          </p:cNvSpPr>
          <p:nvPr>
            <p:ph type="title"/>
          </p:nvPr>
        </p:nvSpPr>
        <p:spPr/>
        <p:txBody>
          <a:bodyPr/>
          <a:lstStyle/>
          <a:p>
            <a:r>
              <a:rPr lang="zh-CN" altLang="en-US" dirty="0"/>
              <a:t> 考试题型</a:t>
            </a:r>
            <a:r>
              <a:rPr lang="en-US" altLang="zh-CN" dirty="0"/>
              <a:t>(</a:t>
            </a:r>
            <a:r>
              <a:rPr lang="zh-CN" altLang="en-US" dirty="0"/>
              <a:t>计划</a:t>
            </a:r>
            <a:r>
              <a:rPr lang="en-US" altLang="zh-CN" dirty="0"/>
              <a:t>)</a:t>
            </a:r>
            <a:endParaRPr lang="zh-CN" altLang="en-US" dirty="0"/>
          </a:p>
        </p:txBody>
      </p:sp>
      <p:sp>
        <p:nvSpPr>
          <p:cNvPr id="793603" name="Rectangle 3"/>
          <p:cNvSpPr>
            <a:spLocks noGrp="1" noChangeArrowheads="1"/>
          </p:cNvSpPr>
          <p:nvPr>
            <p:ph type="body" idx="1"/>
          </p:nvPr>
        </p:nvSpPr>
        <p:spPr>
          <a:xfrm>
            <a:off x="762000" y="1143000"/>
            <a:ext cx="8686800" cy="3964162"/>
          </a:xfrm>
        </p:spPr>
        <p:txBody>
          <a:bodyPr/>
          <a:lstStyle/>
          <a:p>
            <a:r>
              <a:rPr kumimoji="1" lang="zh-CN" altLang="en-US" sz="3200" b="0" dirty="0">
                <a:solidFill>
                  <a:srgbClr val="000000"/>
                </a:solidFill>
                <a:latin typeface="Tahoma" pitchFamily="34" charset="0"/>
              </a:rPr>
              <a:t>一、</a:t>
            </a:r>
            <a:r>
              <a:rPr lang="zh-CN" altLang="en-US" sz="3200" dirty="0"/>
              <a:t>填空题（每空</a:t>
            </a:r>
            <a:r>
              <a:rPr lang="en-US" altLang="zh-CN" sz="3200" dirty="0"/>
              <a:t>2</a:t>
            </a:r>
            <a:r>
              <a:rPr lang="zh-CN" altLang="en-US" sz="3200" dirty="0"/>
              <a:t>分，共</a:t>
            </a:r>
            <a:r>
              <a:rPr lang="en-US" altLang="zh-CN" sz="3200" dirty="0"/>
              <a:t>40</a:t>
            </a:r>
            <a:r>
              <a:rPr lang="zh-CN" altLang="en-US" sz="3200" dirty="0"/>
              <a:t>分）</a:t>
            </a:r>
          </a:p>
          <a:p>
            <a:r>
              <a:rPr kumimoji="1" lang="zh-CN" altLang="en-US" sz="3200" dirty="0"/>
              <a:t>二、计算题（</a:t>
            </a:r>
            <a:r>
              <a:rPr kumimoji="1" lang="en-US" altLang="zh-CN" sz="3200" dirty="0"/>
              <a:t>60</a:t>
            </a:r>
            <a:r>
              <a:rPr kumimoji="1" lang="zh-CN" altLang="en-US" sz="3200" dirty="0"/>
              <a:t>分）</a:t>
            </a:r>
            <a:endParaRPr lang="zh-CN" altLang="en-US" sz="3200" dirty="0"/>
          </a:p>
          <a:p>
            <a:pPr lvl="1"/>
            <a:r>
              <a:rPr lang="zh-CN" altLang="en-US" sz="3200" dirty="0"/>
              <a:t>掌握数值方法的内容、公式和计算方法，应用条件、误差分析等内容。</a:t>
            </a:r>
            <a:endParaRPr lang="en-US" altLang="zh-CN" sz="3200" dirty="0"/>
          </a:p>
          <a:p>
            <a:pPr lvl="1"/>
            <a:endParaRPr lang="en-US" altLang="zh-CN" sz="3200" dirty="0"/>
          </a:p>
          <a:p>
            <a:r>
              <a:rPr lang="zh-CN" altLang="en-US" sz="3200" dirty="0"/>
              <a:t>计算过程可以使用计算器</a:t>
            </a:r>
            <a:endParaRPr lang="en-US" altLang="zh-CN" sz="3200" dirty="0"/>
          </a:p>
          <a:p>
            <a:pPr lvl="1"/>
            <a:r>
              <a:rPr lang="zh-CN" altLang="en-US" sz="3200" dirty="0"/>
              <a:t>不可以用手机和具有编程功能的计算器</a:t>
            </a:r>
          </a:p>
        </p:txBody>
      </p:sp>
    </p:spTree>
    <p:extLst>
      <p:ext uri="{BB962C8B-B14F-4D97-AF65-F5344CB8AC3E}">
        <p14:creationId xmlns:p14="http://schemas.microsoft.com/office/powerpoint/2010/main" val="726491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7"/>
</p:tagLst>
</file>

<file path=ppt/tags/tag2.xml><?xml version="1.0" encoding="utf-8"?>
<p:tagLst xmlns:a="http://schemas.openxmlformats.org/drawingml/2006/main" xmlns:r="http://schemas.openxmlformats.org/officeDocument/2006/relationships" xmlns:p="http://schemas.openxmlformats.org/presentationml/2006/main">
  <p:tag name="TIMING" val="|79.7"/>
</p:tagLst>
</file>

<file path=ppt/tags/tag3.xml><?xml version="1.0" encoding="utf-8"?>
<p:tagLst xmlns:a="http://schemas.openxmlformats.org/drawingml/2006/main" xmlns:r="http://schemas.openxmlformats.org/officeDocument/2006/relationships" xmlns:p="http://schemas.openxmlformats.org/presentationml/2006/main">
  <p:tag name="TIMING" val="|34.4"/>
</p:tagLst>
</file>

<file path=ppt/tags/tag4.xml><?xml version="1.0" encoding="utf-8"?>
<p:tagLst xmlns:a="http://schemas.openxmlformats.org/drawingml/2006/main" xmlns:r="http://schemas.openxmlformats.org/officeDocument/2006/relationships" xmlns:p="http://schemas.openxmlformats.org/presentationml/2006/main">
  <p:tag name="TIMING" val="|28.7|2|5.7|2.9"/>
</p:tagLst>
</file>

<file path=ppt/tags/tag5.xml><?xml version="1.0" encoding="utf-8"?>
<p:tagLst xmlns:a="http://schemas.openxmlformats.org/drawingml/2006/main" xmlns:r="http://schemas.openxmlformats.org/officeDocument/2006/relationships" xmlns:p="http://schemas.openxmlformats.org/presentationml/2006/main">
  <p:tag name="TIMING" val="|26.3|8.8"/>
</p:tagLst>
</file>

<file path=ppt/tags/tag6.xml><?xml version="1.0" encoding="utf-8"?>
<p:tagLst xmlns:a="http://schemas.openxmlformats.org/drawingml/2006/main" xmlns:r="http://schemas.openxmlformats.org/officeDocument/2006/relationships" xmlns:p="http://schemas.openxmlformats.org/presentationml/2006/main">
  <p:tag name="TIMING" val="|5.7"/>
</p:tagLst>
</file>

<file path=ppt/tags/tag7.xml><?xml version="1.0" encoding="utf-8"?>
<p:tagLst xmlns:a="http://schemas.openxmlformats.org/drawingml/2006/main" xmlns:r="http://schemas.openxmlformats.org/officeDocument/2006/relationships" xmlns:p="http://schemas.openxmlformats.org/presentationml/2006/main">
  <p:tag name="TIMING" val="|0.4|1.9|0.8|0.9|1.1|13.4|2.6|10.1|17.3|9"/>
</p:tagLst>
</file>

<file path=ppt/tags/tag8.xml><?xml version="1.0" encoding="utf-8"?>
<p:tagLst xmlns:a="http://schemas.openxmlformats.org/drawingml/2006/main" xmlns:r="http://schemas.openxmlformats.org/officeDocument/2006/relationships" xmlns:p="http://schemas.openxmlformats.org/presentationml/2006/main">
  <p:tag name="TIMING" val="|10.6"/>
</p:tagLst>
</file>

<file path=ppt/tags/tag9.xml><?xml version="1.0" encoding="utf-8"?>
<p:tagLst xmlns:a="http://schemas.openxmlformats.org/drawingml/2006/main" xmlns:r="http://schemas.openxmlformats.org/officeDocument/2006/relationships" xmlns:p="http://schemas.openxmlformats.org/presentationml/2006/main">
  <p:tag name="TIMING" val="|2.1"/>
</p:tagLst>
</file>

<file path=ppt/tags/tag10.xml><?xml version="1.0" encoding="utf-8"?>
<p:tagLst xmlns:a="http://schemas.openxmlformats.org/drawingml/2006/main" xmlns:r="http://schemas.openxmlformats.org/officeDocument/2006/relationships" xmlns:p="http://schemas.openxmlformats.org/presentationml/2006/main">
  <p:tag name="TIMING" val="|49.9|25.9|1.6|2.7|42.9"/>
</p:tagLst>
</file>

<file path=ppt/tags/tag11.xml><?xml version="1.0" encoding="utf-8"?>
<p:tagLst xmlns:a="http://schemas.openxmlformats.org/drawingml/2006/main" xmlns:r="http://schemas.openxmlformats.org/officeDocument/2006/relationships" xmlns:p="http://schemas.openxmlformats.org/presentationml/2006/main">
  <p:tag name="TIMING" val="|53.2|21.3|7.9|18.9"/>
</p:tagLst>
</file>

<file path=ppt/tags/tag12.xml><?xml version="1.0" encoding="utf-8"?>
<p:tagLst xmlns:a="http://schemas.openxmlformats.org/drawingml/2006/main" xmlns:r="http://schemas.openxmlformats.org/officeDocument/2006/relationships" xmlns:p="http://schemas.openxmlformats.org/presentationml/2006/main">
  <p:tag name="TIMING" val="|124.4|16.1"/>
</p:tagLst>
</file>

<file path=ppt/tags/tag13.xml><?xml version="1.0" encoding="utf-8"?>
<p:tagLst xmlns:a="http://schemas.openxmlformats.org/drawingml/2006/main" xmlns:r="http://schemas.openxmlformats.org/officeDocument/2006/relationships" xmlns:p="http://schemas.openxmlformats.org/presentationml/2006/main">
  <p:tag name="TIMING" val="|30.4|20.7|1.2|1.2|1"/>
</p:tagLst>
</file>

<file path=ppt/tags/tag14.xml><?xml version="1.0" encoding="utf-8"?>
<p:tagLst xmlns:a="http://schemas.openxmlformats.org/drawingml/2006/main" xmlns:r="http://schemas.openxmlformats.org/officeDocument/2006/relationships" xmlns:p="http://schemas.openxmlformats.org/presentationml/2006/main">
  <p:tag name="TIMING" val="|1.3"/>
</p:tagLst>
</file>

<file path=ppt/tags/tag15.xml><?xml version="1.0" encoding="utf-8"?>
<p:tagLst xmlns:a="http://schemas.openxmlformats.org/drawingml/2006/main" xmlns:r="http://schemas.openxmlformats.org/officeDocument/2006/relationships" xmlns:p="http://schemas.openxmlformats.org/presentationml/2006/main">
  <p:tag name="TIMING" val="|26.3|19.4"/>
</p:tagLst>
</file>

<file path=ppt/tags/tag16.xml><?xml version="1.0" encoding="utf-8"?>
<p:tagLst xmlns:a="http://schemas.openxmlformats.org/drawingml/2006/main" xmlns:r="http://schemas.openxmlformats.org/officeDocument/2006/relationships" xmlns:p="http://schemas.openxmlformats.org/presentationml/2006/main">
  <p:tag name="TIMING" val="|1.2|4.1|1.1|1|4.1|1|1.2|0.9|2.7|9.6|11.6"/>
</p:tagLst>
</file>

<file path=ppt/tags/tag17.xml><?xml version="1.0" encoding="utf-8"?>
<p:tagLst xmlns:a="http://schemas.openxmlformats.org/drawingml/2006/main" xmlns:r="http://schemas.openxmlformats.org/officeDocument/2006/relationships" xmlns:p="http://schemas.openxmlformats.org/presentationml/2006/main">
  <p:tag name="TIMING" val="|0.9|1|3.3|15.6|9.4|8.3|1.5"/>
</p:tagLst>
</file>

<file path=ppt/tags/tag18.xml><?xml version="1.0" encoding="utf-8"?>
<p:tagLst xmlns:a="http://schemas.openxmlformats.org/drawingml/2006/main" xmlns:r="http://schemas.openxmlformats.org/officeDocument/2006/relationships" xmlns:p="http://schemas.openxmlformats.org/presentationml/2006/main">
  <p:tag name="TIMING" val="|76"/>
</p:tagLst>
</file>

<file path=ppt/tags/tag19.xml><?xml version="1.0" encoding="utf-8"?>
<p:tagLst xmlns:a="http://schemas.openxmlformats.org/drawingml/2006/main" xmlns:r="http://schemas.openxmlformats.org/officeDocument/2006/relationships" xmlns:p="http://schemas.openxmlformats.org/presentationml/2006/main">
  <p:tag name="TIMING" val="|9|9.7|1.1|1.5|4.1|1.6|23.5"/>
</p:tagLst>
</file>

<file path=ppt/tags/tag20.xml><?xml version="1.0" encoding="utf-8"?>
<p:tagLst xmlns:a="http://schemas.openxmlformats.org/drawingml/2006/main" xmlns:r="http://schemas.openxmlformats.org/officeDocument/2006/relationships" xmlns:p="http://schemas.openxmlformats.org/presentationml/2006/main">
  <p:tag name="TIMING" val="|14.4|43.1|2.6|2.8|54.4|3.1|2.8"/>
</p:tagLst>
</file>

<file path=ppt/tags/tag21.xml><?xml version="1.0" encoding="utf-8"?>
<p:tagLst xmlns:a="http://schemas.openxmlformats.org/drawingml/2006/main" xmlns:r="http://schemas.openxmlformats.org/officeDocument/2006/relationships" xmlns:p="http://schemas.openxmlformats.org/presentationml/2006/main">
  <p:tag name="TIMING" val="|1.5|5.9|1.5|1.1|7.3|6.8|7.3|1.4|1|26.5|6.2"/>
</p:tagLst>
</file>

<file path=ppt/tags/tag22.xml><?xml version="1.0" encoding="utf-8"?>
<p:tagLst xmlns:a="http://schemas.openxmlformats.org/drawingml/2006/main" xmlns:r="http://schemas.openxmlformats.org/officeDocument/2006/relationships" xmlns:p="http://schemas.openxmlformats.org/presentationml/2006/main">
  <p:tag name="TIMING" val="|35|2.5"/>
</p:tagLst>
</file>

<file path=ppt/tags/tag23.xml><?xml version="1.0" encoding="utf-8"?>
<p:tagLst xmlns:a="http://schemas.openxmlformats.org/drawingml/2006/main" xmlns:r="http://schemas.openxmlformats.org/officeDocument/2006/relationships" xmlns:p="http://schemas.openxmlformats.org/presentationml/2006/main">
  <p:tag name="TIMING" val="|13.9|2.9|4.6|1.3|8|3.3|1.1|1.6|0.6|17.9|0.8|1.1"/>
</p:tagLst>
</file>

<file path=ppt/tags/tag24.xml><?xml version="1.0" encoding="utf-8"?>
<p:tagLst xmlns:a="http://schemas.openxmlformats.org/drawingml/2006/main" xmlns:r="http://schemas.openxmlformats.org/officeDocument/2006/relationships" xmlns:p="http://schemas.openxmlformats.org/presentationml/2006/main">
  <p:tag name="TIMING" val="|1.1|28.4|58.4|73.3|1.7|66.8|2.9"/>
</p:tagLst>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flat" cmpd="sng" algn="ctr">
              <a:solidFill>
                <a:srgbClr val="FF33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flat" cmpd="sng" algn="ctr">
              <a:solidFill>
                <a:srgbClr val="FF33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9115</TotalTime>
  <Pages>26</Pages>
  <Words>4483</Words>
  <Application>Microsoft Office PowerPoint</Application>
  <PresentationFormat>A4 纸张(210x297 毫米)</PresentationFormat>
  <Paragraphs>787</Paragraphs>
  <Slides>69</Slides>
  <Notes>23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69</vt:i4>
      </vt:variant>
    </vt:vector>
  </HeadingPairs>
  <TitlesOfParts>
    <vt:vector size="82" baseType="lpstr">
      <vt:lpstr>PMingLiU</vt:lpstr>
      <vt:lpstr>黑体</vt:lpstr>
      <vt:lpstr>楷体_GB2312</vt:lpstr>
      <vt:lpstr>宋体</vt:lpstr>
      <vt:lpstr>Arial</vt:lpstr>
      <vt:lpstr>Symbol</vt:lpstr>
      <vt:lpstr>Tahoma</vt:lpstr>
      <vt:lpstr>Times New Roman</vt:lpstr>
      <vt:lpstr>Wingdings</vt:lpstr>
      <vt:lpstr>Borland</vt:lpstr>
      <vt:lpstr>Equation</vt:lpstr>
      <vt:lpstr>公式</vt:lpstr>
      <vt:lpstr>Equation.3</vt:lpstr>
      <vt:lpstr>《数  值  分  析》</vt:lpstr>
      <vt:lpstr> 考试题型(计划)</vt:lpstr>
      <vt:lpstr>期末成绩及组成</vt:lpstr>
      <vt:lpstr>第一章    数值计算中的误差</vt:lpstr>
      <vt:lpstr>1.1 绝对误差与相对误差</vt:lpstr>
      <vt:lpstr>1.2 有效数字</vt:lpstr>
      <vt:lpstr>2.算术运算中的误差</vt:lpstr>
      <vt:lpstr>3 误差的来源与分类</vt:lpstr>
      <vt:lpstr>4 误差的分配原则与处理方法</vt:lpstr>
      <vt:lpstr>第二章 方程(组)的迭代解法</vt:lpstr>
      <vt:lpstr>1. 根的初值确定方法</vt:lpstr>
      <vt:lpstr>2.1.3   对分法</vt:lpstr>
      <vt:lpstr>2.迭代解法</vt:lpstr>
      <vt:lpstr>2.迭代解法</vt:lpstr>
      <vt:lpstr>PowerPoint 演示文稿</vt:lpstr>
      <vt:lpstr>3.迭代公式的改进</vt:lpstr>
      <vt:lpstr>(2) 牛顿迭代法</vt:lpstr>
      <vt:lpstr>(3)牛顿下山法</vt:lpstr>
      <vt:lpstr>(3)  牛顿下山法</vt:lpstr>
      <vt:lpstr>(4) 弦截法</vt:lpstr>
      <vt:lpstr>第二章  方程求根的迭代解法</vt:lpstr>
      <vt:lpstr>第三章 解线性方程组的直接法</vt:lpstr>
      <vt:lpstr>1  消元法</vt:lpstr>
      <vt:lpstr>消元法综述</vt:lpstr>
      <vt:lpstr>2.常用消元法</vt:lpstr>
      <vt:lpstr>3.消元法的应用条件</vt:lpstr>
      <vt:lpstr>4. 主元素法</vt:lpstr>
      <vt:lpstr>第四章  解线性方程组的迭代法</vt:lpstr>
      <vt:lpstr>1 向量范数,矩阵范数,谱半径</vt:lpstr>
      <vt:lpstr>2. 雅克比迭代法</vt:lpstr>
      <vt:lpstr>3. 高斯-赛德尔迭代法</vt:lpstr>
      <vt:lpstr>4.有关收敛的判别——迭代矩阵</vt:lpstr>
      <vt:lpstr>4.有关收敛的判别——迭代矩阵</vt:lpstr>
      <vt:lpstr>4.有关收敛的判别——系数矩阵</vt:lpstr>
      <vt:lpstr>5. 松弛法</vt:lpstr>
      <vt:lpstr>第五章 插 值 法</vt:lpstr>
      <vt:lpstr>第五章 插 值 法</vt:lpstr>
      <vt:lpstr>第五章 插值法</vt:lpstr>
      <vt:lpstr>§1.1  差  商</vt:lpstr>
      <vt:lpstr>2 牛顿基本差商公式</vt:lpstr>
      <vt:lpstr>牛顿基本差商公式误差估计</vt:lpstr>
      <vt:lpstr>4.差分</vt:lpstr>
      <vt:lpstr>牛顿前插公式</vt:lpstr>
      <vt:lpstr>牛顿后插公式</vt:lpstr>
      <vt:lpstr>拉格朗日插值公式</vt:lpstr>
      <vt:lpstr>舍入误差估计</vt:lpstr>
      <vt:lpstr>§5  插值公式的唯一性及其应用</vt:lpstr>
      <vt:lpstr>§6 反插值</vt:lpstr>
      <vt:lpstr>7.1 牛顿型埃米特插值公式</vt:lpstr>
      <vt:lpstr>7.1 牛顿型埃米特插值公式</vt:lpstr>
      <vt:lpstr>7.1 牛顿型埃米特插值公式</vt:lpstr>
      <vt:lpstr>8.1 样条的概念</vt:lpstr>
      <vt:lpstr>8.1 样条的概念</vt:lpstr>
      <vt:lpstr>§8 三次样条插值</vt:lpstr>
      <vt:lpstr>PowerPoint 演示文稿</vt:lpstr>
      <vt:lpstr>PowerPoint 演示文稿</vt:lpstr>
      <vt:lpstr>第六章 数值微分和数值积分</vt:lpstr>
      <vt:lpstr>1. 牛顿——柯特斯求积公式</vt:lpstr>
      <vt:lpstr>1.牛顿——柯特斯求积公式</vt:lpstr>
      <vt:lpstr>1.牛顿——柯特斯求积公式</vt:lpstr>
      <vt:lpstr>2. 复化求积公式</vt:lpstr>
      <vt:lpstr>2.复化求积公式</vt:lpstr>
      <vt:lpstr>2.复化求积公式</vt:lpstr>
      <vt:lpstr>3 龙贝格法</vt:lpstr>
      <vt:lpstr>3 龙贝格法</vt:lpstr>
      <vt:lpstr>代数精确度</vt:lpstr>
      <vt:lpstr>PowerPoint 演示文稿</vt:lpstr>
      <vt:lpstr>4 高斯求积</vt:lpstr>
      <vt:lpstr> 考试题型(计划)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第一次串讲</dc:title>
  <dc:creator>sunxin</dc:creator>
  <cp:lastModifiedBy>墨霏 陈</cp:lastModifiedBy>
  <cp:revision>2022</cp:revision>
  <cp:lastPrinted>1998-03-12T04:44:47Z</cp:lastPrinted>
  <dcterms:created xsi:type="dcterms:W3CDTF">2001-07-02T15:09:48Z</dcterms:created>
  <dcterms:modified xsi:type="dcterms:W3CDTF">2024-11-18T12:33:28Z</dcterms:modified>
</cp:coreProperties>
</file>