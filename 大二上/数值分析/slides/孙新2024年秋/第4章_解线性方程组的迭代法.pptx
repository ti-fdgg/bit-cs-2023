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93"/>
  </p:notesMasterIdLst>
  <p:handoutMasterIdLst>
    <p:handoutMasterId r:id="rId94"/>
  </p:handoutMasterIdLst>
  <p:sldIdLst>
    <p:sldId id="272" r:id="rId2"/>
    <p:sldId id="591" r:id="rId3"/>
    <p:sldId id="519" r:id="rId4"/>
    <p:sldId id="570" r:id="rId5"/>
    <p:sldId id="587" r:id="rId6"/>
    <p:sldId id="521" r:id="rId7"/>
    <p:sldId id="547" r:id="rId8"/>
    <p:sldId id="549" r:id="rId9"/>
    <p:sldId id="550" r:id="rId10"/>
    <p:sldId id="551" r:id="rId11"/>
    <p:sldId id="537" r:id="rId12"/>
    <p:sldId id="536" r:id="rId13"/>
    <p:sldId id="538" r:id="rId14"/>
    <p:sldId id="539" r:id="rId15"/>
    <p:sldId id="552" r:id="rId16"/>
    <p:sldId id="540" r:id="rId17"/>
    <p:sldId id="542" r:id="rId18"/>
    <p:sldId id="541" r:id="rId19"/>
    <p:sldId id="543" r:id="rId20"/>
    <p:sldId id="544" r:id="rId21"/>
    <p:sldId id="545" r:id="rId22"/>
    <p:sldId id="546" r:id="rId23"/>
    <p:sldId id="442" r:id="rId24"/>
    <p:sldId id="592" r:id="rId25"/>
    <p:sldId id="486" r:id="rId26"/>
    <p:sldId id="489" r:id="rId27"/>
    <p:sldId id="443" r:id="rId28"/>
    <p:sldId id="571" r:id="rId29"/>
    <p:sldId id="613" r:id="rId30"/>
    <p:sldId id="614" r:id="rId31"/>
    <p:sldId id="491" r:id="rId32"/>
    <p:sldId id="615" r:id="rId33"/>
    <p:sldId id="616" r:id="rId34"/>
    <p:sldId id="617" r:id="rId35"/>
    <p:sldId id="621" r:id="rId36"/>
    <p:sldId id="556" r:id="rId37"/>
    <p:sldId id="557" r:id="rId38"/>
    <p:sldId id="558" r:id="rId39"/>
    <p:sldId id="593" r:id="rId40"/>
    <p:sldId id="496" r:id="rId41"/>
    <p:sldId id="497" r:id="rId42"/>
    <p:sldId id="498" r:id="rId43"/>
    <p:sldId id="499" r:id="rId44"/>
    <p:sldId id="582" r:id="rId45"/>
    <p:sldId id="572" r:id="rId46"/>
    <p:sldId id="502" r:id="rId47"/>
    <p:sldId id="457" r:id="rId48"/>
    <p:sldId id="459" r:id="rId49"/>
    <p:sldId id="560" r:id="rId50"/>
    <p:sldId id="573" r:id="rId51"/>
    <p:sldId id="618" r:id="rId52"/>
    <p:sldId id="619" r:id="rId53"/>
    <p:sldId id="620" r:id="rId54"/>
    <p:sldId id="606" r:id="rId55"/>
    <p:sldId id="503" r:id="rId56"/>
    <p:sldId id="504" r:id="rId57"/>
    <p:sldId id="505" r:id="rId58"/>
    <p:sldId id="574" r:id="rId59"/>
    <p:sldId id="607" r:id="rId60"/>
    <p:sldId id="608" r:id="rId61"/>
    <p:sldId id="609" r:id="rId62"/>
    <p:sldId id="576" r:id="rId63"/>
    <p:sldId id="578" r:id="rId64"/>
    <p:sldId id="579" r:id="rId65"/>
    <p:sldId id="588" r:id="rId66"/>
    <p:sldId id="610" r:id="rId67"/>
    <p:sldId id="589" r:id="rId68"/>
    <p:sldId id="590" r:id="rId69"/>
    <p:sldId id="598" r:id="rId70"/>
    <p:sldId id="597" r:id="rId71"/>
    <p:sldId id="599" r:id="rId72"/>
    <p:sldId id="600" r:id="rId73"/>
    <p:sldId id="601" r:id="rId74"/>
    <p:sldId id="602" r:id="rId75"/>
    <p:sldId id="603" r:id="rId76"/>
    <p:sldId id="604" r:id="rId77"/>
    <p:sldId id="474" r:id="rId78"/>
    <p:sldId id="507" r:id="rId79"/>
    <p:sldId id="508" r:id="rId80"/>
    <p:sldId id="509" r:id="rId81"/>
    <p:sldId id="510" r:id="rId82"/>
    <p:sldId id="511" r:id="rId83"/>
    <p:sldId id="581" r:id="rId84"/>
    <p:sldId id="480" r:id="rId85"/>
    <p:sldId id="513" r:id="rId86"/>
    <p:sldId id="516" r:id="rId87"/>
    <p:sldId id="517" r:id="rId88"/>
    <p:sldId id="518" r:id="rId89"/>
    <p:sldId id="483" r:id="rId90"/>
    <p:sldId id="585" r:id="rId91"/>
    <p:sldId id="568" r:id="rId92"/>
  </p:sldIdLst>
  <p:sldSz cx="9144000" cy="6858000" type="letter"/>
  <p:notesSz cx="9923463" cy="68564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312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33CC"/>
    <a:srgbClr val="2C376C"/>
    <a:srgbClr val="CDD2ED"/>
    <a:srgbClr val="D3D8EF"/>
    <a:srgbClr val="B5BEE3"/>
    <a:srgbClr val="D5DAEF"/>
    <a:srgbClr val="0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8055" autoAdjust="0"/>
    <p:restoredTop sz="82107" autoAdjust="0"/>
  </p:normalViewPr>
  <p:slideViewPr>
    <p:cSldViewPr>
      <p:cViewPr varScale="1">
        <p:scale>
          <a:sx n="73" d="100"/>
          <a:sy n="73" d="100"/>
        </p:scale>
        <p:origin x="206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576" y="-72"/>
      </p:cViewPr>
      <p:guideLst>
        <p:guide orient="horz" pos="2160"/>
        <p:guide pos="31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89.xml"/><Relationship Id="rId2" Type="http://schemas.openxmlformats.org/officeDocument/2006/relationships/slide" Target="slides/slide47.xml"/><Relationship Id="rId1" Type="http://schemas.openxmlformats.org/officeDocument/2006/relationships/slide" Target="slides/slide2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9.wmf"/><Relationship Id="rId5" Type="http://schemas.openxmlformats.org/officeDocument/2006/relationships/image" Target="../media/image10.wmf"/><Relationship Id="rId4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17.wmf"/><Relationship Id="rId4" Type="http://schemas.openxmlformats.org/officeDocument/2006/relationships/image" Target="../media/image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9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emf"/><Relationship Id="rId4" Type="http://schemas.openxmlformats.org/officeDocument/2006/relationships/image" Target="../media/image60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4" Type="http://schemas.openxmlformats.org/officeDocument/2006/relationships/image" Target="../media/image6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4" Type="http://schemas.openxmlformats.org/officeDocument/2006/relationships/image" Target="../media/image85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emf"/><Relationship Id="rId4" Type="http://schemas.openxmlformats.org/officeDocument/2006/relationships/image" Target="../media/image94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4" Type="http://schemas.openxmlformats.org/officeDocument/2006/relationships/image" Target="../media/image99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wmf"/><Relationship Id="rId1" Type="http://schemas.openxmlformats.org/officeDocument/2006/relationships/image" Target="../media/image108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112.emf"/><Relationship Id="rId4" Type="http://schemas.openxmlformats.org/officeDocument/2006/relationships/image" Target="../media/image60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4" Type="http://schemas.openxmlformats.org/officeDocument/2006/relationships/image" Target="../media/image116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emf"/><Relationship Id="rId1" Type="http://schemas.openxmlformats.org/officeDocument/2006/relationships/image" Target="../media/image78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e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emf"/><Relationship Id="rId1" Type="http://schemas.openxmlformats.org/officeDocument/2006/relationships/image" Target="../media/image126.wmf"/><Relationship Id="rId5" Type="http://schemas.openxmlformats.org/officeDocument/2006/relationships/image" Target="../media/image130.emf"/><Relationship Id="rId4" Type="http://schemas.openxmlformats.org/officeDocument/2006/relationships/image" Target="../media/image129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2" Type="http://schemas.openxmlformats.org/officeDocument/2006/relationships/image" Target="../media/image132.emf"/><Relationship Id="rId1" Type="http://schemas.openxmlformats.org/officeDocument/2006/relationships/image" Target="../media/image131.wmf"/><Relationship Id="rId6" Type="http://schemas.openxmlformats.org/officeDocument/2006/relationships/image" Target="../media/image134.e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136.emf"/><Relationship Id="rId1" Type="http://schemas.openxmlformats.org/officeDocument/2006/relationships/image" Target="../media/image135.emf"/><Relationship Id="rId5" Type="http://schemas.openxmlformats.org/officeDocument/2006/relationships/image" Target="../media/image138.wmf"/><Relationship Id="rId4" Type="http://schemas.openxmlformats.org/officeDocument/2006/relationships/image" Target="../media/image137.e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emf"/><Relationship Id="rId2" Type="http://schemas.openxmlformats.org/officeDocument/2006/relationships/image" Target="../media/image140.emf"/><Relationship Id="rId1" Type="http://schemas.openxmlformats.org/officeDocument/2006/relationships/image" Target="../media/image139.wmf"/><Relationship Id="rId5" Type="http://schemas.openxmlformats.org/officeDocument/2006/relationships/image" Target="../media/image143.wmf"/><Relationship Id="rId4" Type="http://schemas.openxmlformats.org/officeDocument/2006/relationships/image" Target="../media/image142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4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4" Type="http://schemas.openxmlformats.org/officeDocument/2006/relationships/image" Target="../media/image151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49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4" Type="http://schemas.openxmlformats.org/officeDocument/2006/relationships/image" Target="../media/image159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wmf"/><Relationship Id="rId1" Type="http://schemas.openxmlformats.org/officeDocument/2006/relationships/image" Target="../media/image168.wmf"/></Relationships>
</file>

<file path=ppt/drawings/_rels/vmlDrawing5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wmf"/><Relationship Id="rId1" Type="http://schemas.openxmlformats.org/officeDocument/2006/relationships/image" Target="../media/image170.w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wmf"/><Relationship Id="rId1" Type="http://schemas.openxmlformats.org/officeDocument/2006/relationships/image" Target="../media/image172.wmf"/></Relationships>
</file>

<file path=ppt/drawings/_rels/vmlDrawing6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wmf"/><Relationship Id="rId1" Type="http://schemas.openxmlformats.org/officeDocument/2006/relationships/image" Target="../media/image174.wmf"/></Relationships>
</file>

<file path=ppt/drawings/_rels/vmlDrawing6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wmf"/><Relationship Id="rId1" Type="http://schemas.openxmlformats.org/officeDocument/2006/relationships/image" Target="../media/image176.w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8.w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9.e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7" Type="http://schemas.openxmlformats.org/officeDocument/2006/relationships/image" Target="../media/image185.wmf"/><Relationship Id="rId2" Type="http://schemas.openxmlformats.org/officeDocument/2006/relationships/image" Target="../media/image172.wmf"/><Relationship Id="rId1" Type="http://schemas.openxmlformats.org/officeDocument/2006/relationships/image" Target="../media/image180.wmf"/><Relationship Id="rId6" Type="http://schemas.openxmlformats.org/officeDocument/2006/relationships/image" Target="../media/image184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6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e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/Relationships>
</file>

<file path=ppt/drawings/_rels/vmlDrawing6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wmf"/><Relationship Id="rId1" Type="http://schemas.openxmlformats.org/officeDocument/2006/relationships/image" Target="../media/image195.wmf"/></Relationships>
</file>

<file path=ppt/drawings/_rels/vmlDrawing7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wmf"/><Relationship Id="rId1" Type="http://schemas.openxmlformats.org/officeDocument/2006/relationships/image" Target="../media/image197.wmf"/></Relationships>
</file>

<file path=ppt/drawings/_rels/vmlDrawing7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wmf"/><Relationship Id="rId2" Type="http://schemas.openxmlformats.org/officeDocument/2006/relationships/image" Target="../media/image200.png"/><Relationship Id="rId1" Type="http://schemas.openxmlformats.org/officeDocument/2006/relationships/image" Target="../media/image199.wmf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ChangeArrowheads="1"/>
          </p:cNvSpPr>
          <p:nvPr/>
        </p:nvSpPr>
        <p:spPr bwMode="auto">
          <a:xfrm>
            <a:off x="5272088" y="6429375"/>
            <a:ext cx="43005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/>
          <a:p>
            <a:pPr algn="r"/>
            <a:fld id="{D450A5E5-60D4-4766-BD79-A412BDF021AC}" type="slidenum">
              <a:rPr lang="zh-CN" altLang="en-US" sz="1200" b="0"/>
              <a:pPr algn="r"/>
              <a:t>‹#›</a:t>
            </a:fld>
            <a:endParaRPr lang="en-US" altLang="zh-CN" sz="1200" b="0"/>
          </a:p>
        </p:txBody>
      </p:sp>
    </p:spTree>
    <p:extLst>
      <p:ext uri="{BB962C8B-B14F-4D97-AF65-F5344CB8AC3E}">
        <p14:creationId xmlns:p14="http://schemas.microsoft.com/office/powerpoint/2010/main" val="3813306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46438" y="514350"/>
            <a:ext cx="3429000" cy="2571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2388" y="3257550"/>
            <a:ext cx="7278687" cy="30845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10855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4300538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zh-CN" altLang="en-US"/>
              <a:t>Confidential, for review only</a:t>
            </a:r>
            <a:r>
              <a:rPr lang="en-US" altLang="en-US"/>
              <a:t>Borland</a:t>
            </a:r>
          </a:p>
        </p:txBody>
      </p:sp>
      <p:sp>
        <p:nvSpPr>
          <p:cNvPr id="10855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513513"/>
            <a:ext cx="4300538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EC8E8AB0-38E1-49A2-B5F8-5C86D16414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05469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222250" indent="-222250" algn="l" rtl="0" eaLnBrk="0" fontAlgn="base" hangingPunct="0">
      <a:lnSpc>
        <a:spcPct val="90000"/>
      </a:lnSpc>
      <a:spcBef>
        <a:spcPct val="20000"/>
      </a:spcBef>
      <a:spcAft>
        <a:spcPct val="0"/>
      </a:spcAft>
      <a:buSzPct val="100000"/>
      <a:buChar char="•"/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520700" indent="-184150" algn="l" rtl="0" eaLnBrk="0" fontAlgn="base" hangingPunct="0">
      <a:lnSpc>
        <a:spcPct val="90000"/>
      </a:lnSpc>
      <a:spcBef>
        <a:spcPct val="20000"/>
      </a:spcBef>
      <a:spcAft>
        <a:spcPct val="0"/>
      </a:spcAft>
      <a:buSzPct val="100000"/>
      <a:buChar char="-"/>
      <a:defRPr sz="16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lnSpc>
        <a:spcPct val="89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lnSpc>
        <a:spcPct val="89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lnSpc>
        <a:spcPct val="89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2288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C4FDE20-67F8-48A5-989A-43DE7742EAD3}" type="slidenum">
              <a:rPr lang="zh-CN" altLang="en-US" sz="1200" smtClean="0"/>
              <a:pPr/>
              <a:t>1</a:t>
            </a:fld>
            <a:endParaRPr lang="en-US" altLang="zh-CN" sz="1200" smtClean="0"/>
          </a:p>
        </p:txBody>
      </p:sp>
      <p:sp>
        <p:nvSpPr>
          <p:cNvPr id="1228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350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2390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7ABC71D-134A-4DEA-8EC2-4DC6142D0B2B}" type="slidenum">
              <a:rPr lang="zh-CN" altLang="en-US" sz="1200" smtClean="0"/>
              <a:pPr/>
              <a:t>3</a:t>
            </a:fld>
            <a:endParaRPr lang="en-US" altLang="zh-CN" sz="1200" smtClean="0"/>
          </a:p>
        </p:txBody>
      </p:sp>
      <p:sp>
        <p:nvSpPr>
          <p:cNvPr id="1239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390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327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2493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D6A36EE-D22D-42FE-814C-DB36C81F9FED}" type="slidenum">
              <a:rPr lang="zh-CN" altLang="en-US" sz="1200" smtClean="0"/>
              <a:pPr/>
              <a:t>4</a:t>
            </a:fld>
            <a:endParaRPr lang="en-US" altLang="zh-CN" sz="1200" smtClean="0"/>
          </a:p>
        </p:txBody>
      </p:sp>
      <p:sp>
        <p:nvSpPr>
          <p:cNvPr id="1249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6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2595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03973637-A0C7-4EDC-AC32-A5B4729754EF}" type="slidenum">
              <a:rPr lang="zh-CN" altLang="en-US" sz="1200" smtClean="0"/>
              <a:pPr/>
              <a:t>5</a:t>
            </a:fld>
            <a:endParaRPr lang="en-US" altLang="zh-CN" sz="1200" smtClean="0"/>
          </a:p>
        </p:txBody>
      </p:sp>
      <p:sp>
        <p:nvSpPr>
          <p:cNvPr id="1259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924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2697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7EC73C1-9507-4712-95E0-9B0201233C39}" type="slidenum">
              <a:rPr lang="zh-CN" altLang="en-US" sz="1200" smtClean="0"/>
              <a:pPr/>
              <a:t>6</a:t>
            </a:fld>
            <a:endParaRPr lang="en-US" altLang="zh-CN" sz="1200" smtClean="0"/>
          </a:p>
        </p:txBody>
      </p:sp>
      <p:sp>
        <p:nvSpPr>
          <p:cNvPr id="1269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3200" smtClean="0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86813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2800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CA87B3F-D1B8-44BC-9742-9EA8620B1608}" type="slidenum">
              <a:rPr lang="zh-CN" altLang="en-US" sz="1200" smtClean="0"/>
              <a:pPr/>
              <a:t>7</a:t>
            </a:fld>
            <a:endParaRPr lang="en-US" altLang="zh-CN" sz="1200" smtClean="0"/>
          </a:p>
        </p:txBody>
      </p:sp>
      <p:sp>
        <p:nvSpPr>
          <p:cNvPr id="1280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118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290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97A9630-F321-402B-BDC1-715C6E8993CD}" type="slidenum">
              <a:rPr lang="zh-CN" altLang="en-US" sz="1200" smtClean="0"/>
              <a:pPr/>
              <a:t>8</a:t>
            </a:fld>
            <a:endParaRPr lang="en-US" altLang="zh-CN" sz="1200" smtClean="0"/>
          </a:p>
        </p:txBody>
      </p:sp>
      <p:sp>
        <p:nvSpPr>
          <p:cNvPr id="1290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0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919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3005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D60938C-CD5C-4F2B-9387-43B8B01245C0}" type="slidenum">
              <a:rPr lang="zh-CN" altLang="en-US" sz="1200" smtClean="0"/>
              <a:pPr/>
              <a:t>9</a:t>
            </a:fld>
            <a:endParaRPr lang="en-US" altLang="zh-CN" sz="1200" smtClean="0"/>
          </a:p>
        </p:txBody>
      </p:sp>
      <p:sp>
        <p:nvSpPr>
          <p:cNvPr id="1300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0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548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3107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E9F9C97-0783-4922-8FE7-7E5DBAE209BB}" type="slidenum">
              <a:rPr lang="zh-CN" altLang="en-US" sz="1200" smtClean="0"/>
              <a:pPr/>
              <a:t>11</a:t>
            </a:fld>
            <a:endParaRPr lang="en-US" altLang="zh-CN" sz="1200" smtClean="0"/>
          </a:p>
        </p:txBody>
      </p:sp>
      <p:sp>
        <p:nvSpPr>
          <p:cNvPr id="1310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918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3209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2B7847C-B0CB-407D-938E-8EDAE6087213}" type="slidenum">
              <a:rPr lang="zh-CN" altLang="en-US" sz="1200" smtClean="0"/>
              <a:pPr/>
              <a:t>12</a:t>
            </a:fld>
            <a:endParaRPr lang="en-US" altLang="zh-CN" sz="1200" smtClean="0"/>
          </a:p>
        </p:txBody>
      </p:sp>
      <p:sp>
        <p:nvSpPr>
          <p:cNvPr id="1321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0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259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3312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0689885-B6A5-4D33-B13D-CF8AD1389FF1}" type="slidenum">
              <a:rPr lang="zh-CN" altLang="en-US" sz="1200" smtClean="0"/>
              <a:pPr/>
              <a:t>13</a:t>
            </a:fld>
            <a:endParaRPr lang="en-US" altLang="zh-CN" sz="1200" smtClean="0"/>
          </a:p>
        </p:txBody>
      </p:sp>
      <p:sp>
        <p:nvSpPr>
          <p:cNvPr id="1331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748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3414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71F115C-0DDE-4411-82C7-EFBF68017431}" type="slidenum">
              <a:rPr lang="zh-CN" altLang="en-US" sz="1200" smtClean="0"/>
              <a:pPr/>
              <a:t>14</a:t>
            </a:fld>
            <a:endParaRPr lang="en-US" altLang="zh-CN" sz="1200" smtClean="0"/>
          </a:p>
        </p:txBody>
      </p:sp>
      <p:sp>
        <p:nvSpPr>
          <p:cNvPr id="1341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000" smtClean="0">
              <a:latin typeface="Arial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74454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3517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C1A34CF-3CB3-4D55-B700-33CBB6CD98F2}" type="slidenum">
              <a:rPr lang="zh-CN" altLang="en-US" sz="1200" smtClean="0"/>
              <a:pPr/>
              <a:t>15</a:t>
            </a:fld>
            <a:endParaRPr lang="en-US" altLang="zh-CN" sz="1200" smtClean="0"/>
          </a:p>
        </p:txBody>
      </p:sp>
      <p:sp>
        <p:nvSpPr>
          <p:cNvPr id="1351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200" smtClean="0">
              <a:solidFill>
                <a:srgbClr val="FF33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567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3619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401B029-A960-49B1-887F-F73981ED3AF4}" type="slidenum">
              <a:rPr lang="zh-CN" altLang="en-US" sz="1200" smtClean="0"/>
              <a:pPr/>
              <a:t>16</a:t>
            </a:fld>
            <a:endParaRPr lang="en-US" altLang="zh-CN" sz="1200" smtClean="0"/>
          </a:p>
        </p:txBody>
      </p:sp>
      <p:sp>
        <p:nvSpPr>
          <p:cNvPr id="136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091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3721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AE29CB1E-0A11-4A13-ABEB-28B0CE02ABD8}" type="slidenum">
              <a:rPr lang="zh-CN" altLang="en-US" sz="1200" smtClean="0"/>
              <a:pPr/>
              <a:t>17</a:t>
            </a:fld>
            <a:endParaRPr lang="en-US" altLang="zh-CN" sz="1200" smtClean="0"/>
          </a:p>
        </p:txBody>
      </p:sp>
      <p:sp>
        <p:nvSpPr>
          <p:cNvPr id="137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800" b="1" smtClean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94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3824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7A2164C-8088-4BA8-883B-B9F4EDB0B22D}" type="slidenum">
              <a:rPr lang="zh-CN" altLang="en-US" sz="1200" smtClean="0"/>
              <a:pPr/>
              <a:t>18</a:t>
            </a:fld>
            <a:endParaRPr lang="en-US" altLang="zh-CN" sz="1200" smtClean="0"/>
          </a:p>
        </p:txBody>
      </p:sp>
      <p:sp>
        <p:nvSpPr>
          <p:cNvPr id="1382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518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3926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BC8A128-66F9-4B3A-B271-FEF2A56937FA}" type="slidenum">
              <a:rPr lang="zh-CN" altLang="en-US" sz="1200" smtClean="0"/>
              <a:pPr/>
              <a:t>19</a:t>
            </a:fld>
            <a:endParaRPr lang="en-US" altLang="zh-CN" sz="1200" smtClean="0"/>
          </a:p>
        </p:txBody>
      </p:sp>
      <p:sp>
        <p:nvSpPr>
          <p:cNvPr id="1392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808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4029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A36B1FF-B90F-4EA8-A07F-2A2ACF303698}" type="slidenum">
              <a:rPr lang="zh-CN" altLang="en-US" sz="1200" smtClean="0"/>
              <a:pPr/>
              <a:t>21</a:t>
            </a:fld>
            <a:endParaRPr lang="en-US" altLang="zh-CN" sz="1200" smtClean="0"/>
          </a:p>
        </p:txBody>
      </p:sp>
      <p:sp>
        <p:nvSpPr>
          <p:cNvPr id="1402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800" b="1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4427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4131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8B34B10-58E0-48BA-A300-6EC64842B984}" type="slidenum">
              <a:rPr lang="zh-CN" altLang="en-US" sz="1200" smtClean="0"/>
              <a:pPr/>
              <a:t>23</a:t>
            </a:fld>
            <a:endParaRPr lang="en-US" altLang="zh-CN" sz="1200" smtClean="0"/>
          </a:p>
        </p:txBody>
      </p:sp>
      <p:sp>
        <p:nvSpPr>
          <p:cNvPr id="1413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131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8647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4233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A3DFEF3E-23F2-47DE-9A88-295308A4B748}" type="slidenum">
              <a:rPr lang="zh-CN" altLang="en-US" sz="1200" smtClean="0"/>
              <a:pPr/>
              <a:t>25</a:t>
            </a:fld>
            <a:endParaRPr lang="en-US" altLang="zh-CN" sz="1200" smtClean="0"/>
          </a:p>
        </p:txBody>
      </p:sp>
      <p:sp>
        <p:nvSpPr>
          <p:cNvPr id="142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4760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4438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1CA8E7D-C70B-43E4-A9F8-1598E2840C29}" type="slidenum">
              <a:rPr lang="zh-CN" altLang="en-US" sz="1200" smtClean="0"/>
              <a:pPr/>
              <a:t>26</a:t>
            </a:fld>
            <a:endParaRPr lang="en-US" altLang="zh-CN" sz="1200" smtClean="0"/>
          </a:p>
        </p:txBody>
      </p:sp>
      <p:sp>
        <p:nvSpPr>
          <p:cNvPr id="1443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r>
              <a:rPr lang="zh-CN" altLang="en-US" smtClean="0">
                <a:latin typeface="Arial" pitchFamily="34" charset="0"/>
              </a:rPr>
              <a:t>式中</a:t>
            </a:r>
            <a:r>
              <a:rPr lang="en-US" altLang="zh-CN" smtClean="0">
                <a:latin typeface="Arial" pitchFamily="34" charset="0"/>
              </a:rPr>
              <a:t>C=I-A</a:t>
            </a:r>
            <a:r>
              <a:rPr lang="zh-CN" altLang="en-US" smtClean="0">
                <a:latin typeface="Arial" pitchFamily="34" charset="0"/>
              </a:rPr>
              <a:t>称为迭代矩阵</a:t>
            </a:r>
          </a:p>
        </p:txBody>
      </p:sp>
    </p:spTree>
    <p:extLst>
      <p:ext uri="{BB962C8B-B14F-4D97-AF65-F5344CB8AC3E}">
        <p14:creationId xmlns:p14="http://schemas.microsoft.com/office/powerpoint/2010/main" val="40583244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4541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F86A62B-A95D-44E9-88D3-20767FB47C18}" type="slidenum">
              <a:rPr lang="zh-CN" altLang="en-US" sz="1200" smtClean="0"/>
              <a:pPr/>
              <a:t>27</a:t>
            </a:fld>
            <a:endParaRPr lang="en-US" altLang="zh-CN" sz="1200" smtClean="0"/>
          </a:p>
        </p:txBody>
      </p:sp>
      <p:sp>
        <p:nvSpPr>
          <p:cNvPr id="1454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zh-CN" alt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309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4643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3DB6829-2934-4C80-8C3C-2BD07D717B40}" type="slidenum">
              <a:rPr lang="zh-CN" altLang="en-US" sz="1200" smtClean="0"/>
              <a:pPr/>
              <a:t>31</a:t>
            </a:fld>
            <a:endParaRPr lang="en-US" altLang="zh-CN" sz="1200" smtClean="0"/>
          </a:p>
        </p:txBody>
      </p:sp>
      <p:sp>
        <p:nvSpPr>
          <p:cNvPr id="146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3200" b="1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735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4745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52FA074-A79E-457C-918D-05B434469CAA}" type="slidenum">
              <a:rPr lang="zh-CN" altLang="en-US" sz="1200" smtClean="0"/>
              <a:pPr/>
              <a:t>38</a:t>
            </a:fld>
            <a:endParaRPr lang="en-US" altLang="zh-CN" sz="1200" smtClean="0"/>
          </a:p>
        </p:txBody>
      </p:sp>
      <p:sp>
        <p:nvSpPr>
          <p:cNvPr id="1474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9645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4848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AAD86A68-40EB-4D2C-968D-AA8917140E1C}" type="slidenum">
              <a:rPr lang="zh-CN" altLang="en-US" sz="1200" smtClean="0"/>
              <a:pPr/>
              <a:t>40</a:t>
            </a:fld>
            <a:endParaRPr lang="en-US" altLang="zh-CN" sz="1200" smtClean="0"/>
          </a:p>
        </p:txBody>
      </p:sp>
      <p:sp>
        <p:nvSpPr>
          <p:cNvPr id="148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9116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4950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0A093D1D-6A39-446D-8DEF-45076D48D122}" type="slidenum">
              <a:rPr lang="zh-CN" altLang="en-US" sz="1200" smtClean="0"/>
              <a:pPr/>
              <a:t>43</a:t>
            </a:fld>
            <a:endParaRPr lang="en-US" altLang="zh-CN" sz="1200" smtClean="0"/>
          </a:p>
        </p:txBody>
      </p:sp>
      <p:sp>
        <p:nvSpPr>
          <p:cNvPr id="1495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3200" b="1" smtClean="0">
                <a:latin typeface="Times New Roman" pitchFamily="18" charset="0"/>
              </a:rPr>
              <a:t>知</a:t>
            </a:r>
            <a:r>
              <a:rPr lang="en-US" altLang="zh-CN" sz="3200" b="1" smtClean="0">
                <a:latin typeface="Times New Roman" pitchFamily="18" charset="0"/>
              </a:rPr>
              <a:t>m</a:t>
            </a:r>
            <a:r>
              <a:rPr lang="en-US" altLang="zh-CN" sz="3200" b="1" baseline="-25000" smtClean="0">
                <a:latin typeface="Times New Roman" pitchFamily="18" charset="0"/>
              </a:rPr>
              <a:t>ij</a:t>
            </a:r>
            <a:r>
              <a:rPr lang="zh-CN" altLang="en-US" sz="3200" b="1" smtClean="0">
                <a:latin typeface="Times New Roman" pitchFamily="18" charset="0"/>
              </a:rPr>
              <a:t>在任意初值下都为常数，因此属大范围收敛充分条件。</a:t>
            </a:r>
          </a:p>
        </p:txBody>
      </p:sp>
    </p:spTree>
    <p:extLst>
      <p:ext uri="{BB962C8B-B14F-4D97-AF65-F5344CB8AC3E}">
        <p14:creationId xmlns:p14="http://schemas.microsoft.com/office/powerpoint/2010/main" val="14866393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5053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867C716-EBB4-420E-8FAB-9533158E7AC5}" type="slidenum">
              <a:rPr lang="zh-CN" altLang="en-US" sz="1200" smtClean="0"/>
              <a:pPr/>
              <a:t>45</a:t>
            </a:fld>
            <a:endParaRPr lang="en-US" altLang="zh-CN" sz="1200" smtClean="0"/>
          </a:p>
        </p:txBody>
      </p:sp>
      <p:sp>
        <p:nvSpPr>
          <p:cNvPr id="150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053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z="3200" b="1" smtClean="0"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254892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5155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A77B35B-8ED0-4204-BEBF-3A37ACE20749}" type="slidenum">
              <a:rPr lang="zh-CN" altLang="en-US" sz="1200" smtClean="0"/>
              <a:pPr/>
              <a:t>46</a:t>
            </a:fld>
            <a:endParaRPr lang="en-US" altLang="zh-CN" sz="1200" smtClean="0"/>
          </a:p>
        </p:txBody>
      </p:sp>
      <p:sp>
        <p:nvSpPr>
          <p:cNvPr id="1515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6943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5257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94B4BA8-9D43-4898-AAB7-41E3C0F774E3}" type="slidenum">
              <a:rPr lang="zh-CN" altLang="en-US" sz="1200" smtClean="0"/>
              <a:pPr/>
              <a:t>47</a:t>
            </a:fld>
            <a:endParaRPr lang="en-US" altLang="zh-CN" sz="1200" smtClean="0"/>
          </a:p>
        </p:txBody>
      </p:sp>
      <p:sp>
        <p:nvSpPr>
          <p:cNvPr id="1525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3200" b="1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0204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5360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CC2703CD-7C40-4143-8521-049F52019937}" type="slidenum">
              <a:rPr lang="zh-CN" altLang="en-US" sz="1200" smtClean="0"/>
              <a:pPr/>
              <a:t>48</a:t>
            </a:fld>
            <a:endParaRPr lang="en-US" altLang="zh-CN" sz="1200" smtClean="0"/>
          </a:p>
        </p:txBody>
      </p:sp>
      <p:sp>
        <p:nvSpPr>
          <p:cNvPr id="1536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360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0410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5667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EB94FD7-9B84-4816-ABE1-DF6B1B8AE444}" type="slidenum">
              <a:rPr lang="zh-CN" altLang="en-US" sz="1200" smtClean="0"/>
              <a:pPr/>
              <a:t>55</a:t>
            </a:fld>
            <a:endParaRPr lang="en-US" altLang="zh-CN" sz="1200" smtClean="0"/>
          </a:p>
        </p:txBody>
      </p:sp>
      <p:sp>
        <p:nvSpPr>
          <p:cNvPr id="1566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233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5769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DAC82EC-6DDB-4ACD-B02A-DEF2A281B792}" type="slidenum">
              <a:rPr lang="zh-CN" altLang="en-US" sz="1200" smtClean="0"/>
              <a:pPr/>
              <a:t>57</a:t>
            </a:fld>
            <a:endParaRPr lang="en-US" altLang="zh-CN" sz="1200" smtClean="0"/>
          </a:p>
        </p:txBody>
      </p:sp>
      <p:sp>
        <p:nvSpPr>
          <p:cNvPr id="1577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390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5974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FD2FB092-C3A6-46DA-B4D8-F87A8A737128}" type="slidenum">
              <a:rPr lang="zh-CN" altLang="en-US" sz="1200" smtClean="0"/>
              <a:pPr/>
              <a:t>60</a:t>
            </a:fld>
            <a:endParaRPr lang="en-US" altLang="zh-CN" sz="1200" smtClean="0"/>
          </a:p>
        </p:txBody>
      </p:sp>
      <p:sp>
        <p:nvSpPr>
          <p:cNvPr id="159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8025" y="514350"/>
            <a:ext cx="3429000" cy="2571750"/>
          </a:xfrm>
          <a:solidFill>
            <a:srgbClr val="FFFFFF"/>
          </a:solidFill>
          <a:ln/>
        </p:spPr>
      </p:sp>
      <p:sp>
        <p:nvSpPr>
          <p:cNvPr id="15974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424" tIns="46712" rIns="93424" bIns="46712"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8273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5565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D48A2FB-EAE1-40E8-98B1-5ABE93C0536D}" type="slidenum">
              <a:rPr lang="zh-CN" altLang="en-US" sz="1200" smtClean="0"/>
              <a:pPr/>
              <a:t>61</a:t>
            </a:fld>
            <a:endParaRPr lang="en-US" altLang="zh-CN" sz="1200" smtClean="0"/>
          </a:p>
        </p:txBody>
      </p:sp>
      <p:sp>
        <p:nvSpPr>
          <p:cNvPr id="1556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9181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5872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82E0B78-C4D6-4F9E-AA32-F402D4AC491E}" type="slidenum">
              <a:rPr lang="zh-CN" altLang="en-US" sz="1200" smtClean="0"/>
              <a:pPr/>
              <a:t>62</a:t>
            </a:fld>
            <a:endParaRPr lang="en-US" altLang="zh-CN" sz="1200" smtClean="0"/>
          </a:p>
        </p:txBody>
      </p:sp>
      <p:sp>
        <p:nvSpPr>
          <p:cNvPr id="1587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8025" y="514350"/>
            <a:ext cx="3429000" cy="2571750"/>
          </a:xfrm>
          <a:solidFill>
            <a:srgbClr val="FFFFFF"/>
          </a:solidFill>
          <a:ln/>
        </p:spPr>
      </p:sp>
      <p:sp>
        <p:nvSpPr>
          <p:cNvPr id="15872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34" tIns="45717" rIns="91434" bIns="45717"/>
          <a:lstStyle/>
          <a:p>
            <a:endParaRPr lang="zh-CN" altLang="en-US" sz="20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403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2250" marR="0" indent="-2222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zh-CN" altLang="en-US" dirty="0" smtClean="0"/>
              <a:t>求</a:t>
            </a:r>
            <a:r>
              <a:rPr lang="en-US" altLang="zh-CN" sz="1800" dirty="0" smtClean="0">
                <a:solidFill>
                  <a:srgbClr val="FF3300"/>
                </a:solidFill>
              </a:rPr>
              <a:t>G</a:t>
            </a:r>
            <a:r>
              <a:rPr lang="zh-CN" altLang="en-US" sz="1800" dirty="0" smtClean="0">
                <a:solidFill>
                  <a:srgbClr val="FF3300"/>
                </a:solidFill>
              </a:rPr>
              <a:t>的特征值</a:t>
            </a:r>
            <a:r>
              <a:rPr lang="zh-CN" altLang="en-US" sz="1800" dirty="0" smtClean="0">
                <a:solidFill>
                  <a:srgbClr val="FF3300"/>
                </a:solidFill>
                <a:sym typeface="Symbol" pitchFamily="18" charset="2"/>
              </a:rPr>
              <a:t>的问题就转化成了，求 满足 </a:t>
            </a:r>
            <a:r>
              <a:rPr lang="en-US" altLang="zh-CN" sz="1800" dirty="0" smtClean="0">
                <a:solidFill>
                  <a:srgbClr val="FF3300"/>
                </a:solidFill>
                <a:sym typeface="Symbol" pitchFamily="18" charset="2"/>
              </a:rPr>
              <a:t>|</a:t>
            </a:r>
            <a:r>
              <a:rPr lang="en-US" altLang="zh-CN" sz="1800" baseline="30000" dirty="0" smtClean="0">
                <a:solidFill>
                  <a:srgbClr val="FF3300"/>
                </a:solidFill>
              </a:rPr>
              <a:t> </a:t>
            </a:r>
            <a:r>
              <a:rPr lang="zh-CN" altLang="en-US" sz="1800" dirty="0" smtClean="0">
                <a:solidFill>
                  <a:srgbClr val="FF3300"/>
                </a:solidFill>
                <a:sym typeface="Symbol" pitchFamily="18" charset="2"/>
              </a:rPr>
              <a:t></a:t>
            </a:r>
            <a:r>
              <a:rPr lang="en-US" altLang="zh-CN" sz="1800" dirty="0" smtClean="0">
                <a:solidFill>
                  <a:srgbClr val="FF3300"/>
                </a:solidFill>
              </a:rPr>
              <a:t>(D+L)</a:t>
            </a:r>
            <a:r>
              <a:rPr lang="en-US" altLang="zh-CN" sz="1800" dirty="0" smtClean="0">
                <a:solidFill>
                  <a:srgbClr val="FF3300"/>
                </a:solidFill>
                <a:sym typeface="Symbol" pitchFamily="18" charset="2"/>
              </a:rPr>
              <a:t>+</a:t>
            </a:r>
            <a:r>
              <a:rPr lang="en-US" altLang="zh-CN" sz="1800" dirty="0" smtClean="0">
                <a:solidFill>
                  <a:srgbClr val="FF3300"/>
                </a:solidFill>
              </a:rPr>
              <a:t>U</a:t>
            </a:r>
            <a:r>
              <a:rPr lang="en-US" altLang="zh-CN" sz="1800" dirty="0" smtClean="0">
                <a:solidFill>
                  <a:srgbClr val="FF3300"/>
                </a:solidFill>
                <a:sym typeface="Symbol" pitchFamily="18" charset="2"/>
              </a:rPr>
              <a:t>|=0 </a:t>
            </a:r>
            <a:r>
              <a:rPr lang="zh-CN" altLang="en-US" sz="1800" dirty="0" smtClean="0">
                <a:solidFill>
                  <a:srgbClr val="FF3300"/>
                </a:solidFill>
                <a:sym typeface="Symbol" pitchFamily="18" charset="2"/>
              </a:rPr>
              <a:t>的  的问题了。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Confidential, for review only</a:t>
            </a:r>
            <a:r>
              <a:rPr lang="en-US" altLang="en-US" smtClean="0"/>
              <a:t>Borland</a:t>
            </a:r>
            <a:endParaRPr lang="en-US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8E8AB0-38E1-49A2-B5F8-5C86D1641410}" type="slidenum">
              <a:rPr lang="zh-CN" altLang="en-US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8492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6077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D147BAC-C219-48C8-9084-7A836650FA79}" type="slidenum">
              <a:rPr lang="zh-CN" altLang="en-US" sz="1200" smtClean="0"/>
              <a:pPr/>
              <a:t>77</a:t>
            </a:fld>
            <a:endParaRPr lang="en-US" altLang="zh-CN" sz="1200" smtClean="0"/>
          </a:p>
        </p:txBody>
      </p:sp>
      <p:sp>
        <p:nvSpPr>
          <p:cNvPr id="160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077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8632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6179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6FDE74B-F613-4C70-8C18-4DB98C505762}" type="slidenum">
              <a:rPr lang="zh-CN" altLang="en-US" sz="1200" smtClean="0"/>
              <a:pPr/>
              <a:t>78</a:t>
            </a:fld>
            <a:endParaRPr lang="en-US" altLang="zh-CN" sz="1200" smtClean="0"/>
          </a:p>
        </p:txBody>
      </p:sp>
      <p:sp>
        <p:nvSpPr>
          <p:cNvPr id="161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3998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6281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6B1689C-1755-4AC3-87D3-DB7EEF2A34AB}" type="slidenum">
              <a:rPr lang="zh-CN" altLang="en-US" sz="1200" smtClean="0"/>
              <a:pPr/>
              <a:t>79</a:t>
            </a:fld>
            <a:endParaRPr lang="en-US" altLang="zh-CN" sz="1200" smtClean="0"/>
          </a:p>
        </p:txBody>
      </p:sp>
      <p:sp>
        <p:nvSpPr>
          <p:cNvPr id="1628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0385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6384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AF438349-415B-4E54-854E-47D8744D69A8}" type="slidenum">
              <a:rPr lang="zh-CN" altLang="en-US" sz="1200" smtClean="0"/>
              <a:pPr/>
              <a:t>83</a:t>
            </a:fld>
            <a:endParaRPr lang="en-US" altLang="zh-CN" sz="1200" smtClean="0"/>
          </a:p>
        </p:txBody>
      </p:sp>
      <p:sp>
        <p:nvSpPr>
          <p:cNvPr id="163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8964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6486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13A1967-385F-4954-A710-FD9C1F08B6E7}" type="slidenum">
              <a:rPr lang="zh-CN" altLang="en-US" sz="1200" smtClean="0"/>
              <a:pPr/>
              <a:t>84</a:t>
            </a:fld>
            <a:endParaRPr lang="en-US" altLang="zh-CN" sz="1200" smtClean="0"/>
          </a:p>
        </p:txBody>
      </p:sp>
      <p:sp>
        <p:nvSpPr>
          <p:cNvPr id="164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800" b="1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3729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6589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2801316-9744-460E-8C4B-9B2B12933C7A}" type="slidenum">
              <a:rPr lang="zh-CN" altLang="en-US" sz="1200" smtClean="0"/>
              <a:pPr/>
              <a:t>85</a:t>
            </a:fld>
            <a:endParaRPr lang="en-US" altLang="zh-CN" sz="1200" smtClean="0"/>
          </a:p>
        </p:txBody>
      </p:sp>
      <p:sp>
        <p:nvSpPr>
          <p:cNvPr id="165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8312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6691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5312899-1E1B-4874-8D4B-51C12A3393CE}" type="slidenum">
              <a:rPr lang="zh-CN" altLang="en-US" sz="1200" smtClean="0"/>
              <a:pPr/>
              <a:t>87</a:t>
            </a:fld>
            <a:endParaRPr lang="en-US" altLang="zh-CN" sz="1200" smtClean="0"/>
          </a:p>
        </p:txBody>
      </p:sp>
      <p:sp>
        <p:nvSpPr>
          <p:cNvPr id="166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2925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6793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9FD2CB7-D18F-4D61-B369-884CF96FD0C2}" type="slidenum">
              <a:rPr lang="zh-CN" altLang="en-US" sz="1200" smtClean="0"/>
              <a:pPr/>
              <a:t>88</a:t>
            </a:fld>
            <a:endParaRPr lang="en-US" altLang="zh-CN" sz="1200" smtClean="0"/>
          </a:p>
        </p:txBody>
      </p:sp>
      <p:sp>
        <p:nvSpPr>
          <p:cNvPr id="1679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237050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6896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4314D58-B8E9-47E7-B07E-45E50F596A5C}" type="slidenum">
              <a:rPr lang="zh-CN" altLang="en-US" sz="1200" smtClean="0"/>
              <a:pPr/>
              <a:t>89</a:t>
            </a:fld>
            <a:endParaRPr lang="en-US" altLang="zh-CN" sz="1200" smtClean="0"/>
          </a:p>
        </p:txBody>
      </p:sp>
      <p:sp>
        <p:nvSpPr>
          <p:cNvPr id="168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4400" b="1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5236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r>
              <a:rPr lang="en-US" altLang="en-US" sz="1200" smtClean="0"/>
              <a:t>Borland</a:t>
            </a:r>
          </a:p>
        </p:txBody>
      </p:sp>
      <p:sp>
        <p:nvSpPr>
          <p:cNvPr id="16998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69AE8ED-636C-476C-9507-5087FD1253F8}" type="slidenum">
              <a:rPr lang="zh-CN" altLang="en-US" sz="1200" smtClean="0"/>
              <a:pPr/>
              <a:t>91</a:t>
            </a:fld>
            <a:endParaRPr lang="en-US" altLang="zh-CN" sz="1200" smtClean="0"/>
          </a:p>
        </p:txBody>
      </p:sp>
      <p:sp>
        <p:nvSpPr>
          <p:cNvPr id="169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998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850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orlandTitle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7"/>
          <a:stretch/>
        </p:blipFill>
        <p:spPr bwMode="auto">
          <a:xfrm>
            <a:off x="0" y="0"/>
            <a:ext cx="9144000" cy="686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981200" y="3505200"/>
            <a:ext cx="5303838" cy="976313"/>
          </a:xfrm>
        </p:spPr>
        <p:txBody>
          <a:bodyPr/>
          <a:lstStyle>
            <a:lvl1pPr marL="0" indent="0" algn="ctr">
              <a:lnSpc>
                <a:spcPct val="95000"/>
              </a:lnSpc>
              <a:spcBef>
                <a:spcPct val="10000"/>
              </a:spcBef>
              <a:buFont typeface="Wingdings" pitchFamily="2" charset="2"/>
              <a:buNone/>
              <a:defRPr sz="3200">
                <a:solidFill>
                  <a:srgbClr val="C1C4DD"/>
                </a:solidFill>
              </a:defRPr>
            </a:lvl1pPr>
          </a:lstStyle>
          <a:p>
            <a:r>
              <a:rPr lang="en-US" altLang="en-US"/>
              <a:t>Speaker’s Name,</a:t>
            </a:r>
          </a:p>
          <a:p>
            <a:r>
              <a:rPr lang="en-US" altLang="en-US"/>
              <a:t>Speaker’s Title</a:t>
            </a:r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1012825" y="2136775"/>
            <a:ext cx="7023100" cy="1793875"/>
          </a:xfrm>
          <a:effectLst/>
        </p:spPr>
        <p:txBody>
          <a:bodyPr anchor="t"/>
          <a:lstStyle>
            <a:lvl1pPr algn="ctr">
              <a:lnSpc>
                <a:spcPct val="95000"/>
              </a:lnSpc>
              <a:buClr>
                <a:schemeClr val="folHlink"/>
              </a:buClr>
              <a:buSzPct val="95000"/>
              <a:defRPr sz="6200"/>
            </a:lvl1pPr>
          </a:lstStyle>
          <a:p>
            <a:r>
              <a:rPr lang="en-US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370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521CD-799B-4BD7-8BE6-514407F0223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85DF6-8668-450F-A83D-47C0455A9450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844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19909-9F44-4C66-9576-B8ACA44EDC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A1A582-9CE3-4184-B333-BB2275484391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728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0075" y="1143000"/>
            <a:ext cx="3994150" cy="2289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46625" y="1143000"/>
            <a:ext cx="3995738" cy="2289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AD591-86CF-4235-9DF8-23912EAEBB2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9826D-F162-49C2-995A-0CAECC42FC30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9553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3FCAA9-91F6-48D5-9FE1-32AAEACE743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74F4B-3A7C-41A8-AE08-E5FD15A57098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641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19D54-5607-4AD2-B1AA-C4AC03DEDE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EED91F-BBD9-4CE5-AEEC-316A793E0CC2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552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56C7FF-3E0D-40E0-98A9-E24278C890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BCA87-DCD1-4462-8F66-CBFC4C0AF78A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248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0540F-E7FC-4AA9-BDE9-2F5DD48CC5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4B6641-CD33-49FC-9BA9-DC83ADE4DAEA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8493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415F5B-1587-4500-A0DD-5238831D3D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919E4B-ADFB-4EA7-8DA5-C3A1FD6BA34B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8904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5AFF6-4150-497F-9066-0067776B482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E73D4E-D8D6-4A0E-8B86-A2137E29B42A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7542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11150"/>
            <a:ext cx="2035175" cy="31210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0075" y="311150"/>
            <a:ext cx="5954713" cy="31210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58261-0C32-447E-9122-0260CDC3E1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A60DD-0445-4AFC-9106-68E36B143D7B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5763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311150"/>
            <a:ext cx="8142288" cy="603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0075" y="1143000"/>
            <a:ext cx="3994150" cy="22891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46625" y="1143000"/>
            <a:ext cx="3995738" cy="22891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991339-2015-4940-AEDE-9162E45F0DB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B215F-183F-4F3F-BE3C-6C380342C641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285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311150"/>
            <a:ext cx="8142288" cy="603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0075" y="1143000"/>
            <a:ext cx="3994150" cy="22891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46625" y="1143000"/>
            <a:ext cx="3995738" cy="10683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46625" y="2363788"/>
            <a:ext cx="3995738" cy="10683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46AEBF-2859-4793-87AC-BE92CC19863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094E3-5DA8-48F9-B430-0383F51387E1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58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0075" y="1143000"/>
            <a:ext cx="8142288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Body Text</a:t>
            </a:r>
          </a:p>
          <a:p>
            <a:pPr lvl="1"/>
            <a:r>
              <a:rPr lang="en-US" altLang="en-US" smtClean="0"/>
              <a:t> 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4479925" y="2967038"/>
            <a:ext cx="180975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311150"/>
            <a:ext cx="8142288" cy="603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Slide Title</a:t>
            </a:r>
          </a:p>
        </p:txBody>
      </p:sp>
      <p:sp>
        <p:nvSpPr>
          <p:cNvPr id="1044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57988" y="6324600"/>
            <a:ext cx="2309812" cy="527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115646" tIns="57824" rIns="115646" bIns="57824" numCol="1" anchor="t" anchorCtr="0" compatLnSpc="1">
            <a:prstTxWarp prst="textNoShape">
              <a:avLst/>
            </a:prstTxWarp>
          </a:bodyPr>
          <a:lstStyle>
            <a:lvl1pPr algn="r">
              <a:defRPr b="0" smtClean="0"/>
            </a:lvl1pPr>
          </a:lstStyle>
          <a:p>
            <a:pPr>
              <a:defRPr/>
            </a:pPr>
            <a:fld id="{8A256A12-4959-45FC-98A2-E439A9B84DC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700" y="6350000"/>
            <a:ext cx="2120900" cy="577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115646" tIns="57824" rIns="115646" bIns="57824" numCol="1" anchor="t" anchorCtr="0" compatLnSpc="1">
            <a:prstTxWarp prst="textNoShape">
              <a:avLst/>
            </a:prstTxWarp>
          </a:bodyPr>
          <a:lstStyle>
            <a:lvl1pPr algn="l">
              <a:defRPr sz="1800" b="0" smtClean="0"/>
            </a:lvl1pPr>
          </a:lstStyle>
          <a:p>
            <a:pPr>
              <a:defRPr/>
            </a:pPr>
            <a:fld id="{ED3CF36B-D878-4A01-A333-3FB68668D8C5}" type="datetime1">
              <a:rPr lang="zh-CN" altLang="en-US"/>
              <a:pPr>
                <a:defRPr/>
              </a:pPr>
              <a:t>2024/10/13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5pPr>
      <a:lvl6pPr marL="457200"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6pPr>
      <a:lvl7pPr marL="914400"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7pPr>
      <a:lvl8pPr marL="1371600"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8pPr>
      <a:lvl9pPr marL="1828800"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9pPr>
    </p:titleStyle>
    <p:bodyStyle>
      <a:lvl1pPr marL="258763" indent="-258763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SzPct val="6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49288" indent="-261938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027113" indent="-249238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-"/>
        <a:defRPr sz="2400" b="1">
          <a:solidFill>
            <a:schemeClr val="tx1"/>
          </a:solidFill>
          <a:latin typeface="+mn-lt"/>
          <a:ea typeface="+mn-ea"/>
        </a:defRPr>
      </a:lvl3pPr>
      <a:lvl4pPr marL="1416050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4pPr>
      <a:lvl5pPr marL="18049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5pPr>
      <a:lvl6pPr marL="22621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6pPr>
      <a:lvl7pPr marL="27193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7pPr>
      <a:lvl8pPr marL="31765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8pPr>
      <a:lvl9pPr marL="36337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0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8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7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8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22.wmf"/><Relationship Id="rId18" Type="http://schemas.openxmlformats.org/officeDocument/2006/relationships/oleObject" Target="../embeddings/oleObject30.bin"/><Relationship Id="rId3" Type="http://schemas.openxmlformats.org/officeDocument/2006/relationships/notesSlide" Target="../notesSlides/notesSlide13.xml"/><Relationship Id="rId21" Type="http://schemas.openxmlformats.org/officeDocument/2006/relationships/image" Target="../media/image26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9.bin"/><Relationship Id="rId20" Type="http://schemas.openxmlformats.org/officeDocument/2006/relationships/oleObject" Target="../embeddings/oleObject31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26.bin"/><Relationship Id="rId19" Type="http://schemas.openxmlformats.org/officeDocument/2006/relationships/image" Target="../media/image25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2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3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2.e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4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44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50.wmf"/><Relationship Id="rId3" Type="http://schemas.openxmlformats.org/officeDocument/2006/relationships/audio" Target="../media/audio1.wav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5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49.wmf"/><Relationship Id="rId5" Type="http://schemas.openxmlformats.org/officeDocument/2006/relationships/image" Target="../media/image52.wmf"/><Relationship Id="rId15" Type="http://schemas.openxmlformats.org/officeDocument/2006/relationships/image" Target="../media/image51.wmf"/><Relationship Id="rId10" Type="http://schemas.openxmlformats.org/officeDocument/2006/relationships/oleObject" Target="../embeddings/oleObject55.bin"/><Relationship Id="rId4" Type="http://schemas.openxmlformats.org/officeDocument/2006/relationships/audio" Target="../media/audio2.wav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5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5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5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60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8.e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2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3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68.e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73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69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0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80.bin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7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8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8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86.bin"/><Relationship Id="rId5" Type="http://schemas.openxmlformats.org/officeDocument/2006/relationships/image" Target="../media/image81.wmf"/><Relationship Id="rId4" Type="http://schemas.openxmlformats.org/officeDocument/2006/relationships/oleObject" Target="../embeddings/oleObject85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8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85.wmf"/><Relationship Id="rId5" Type="http://schemas.openxmlformats.org/officeDocument/2006/relationships/image" Target="../media/image83.wmf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7.bin"/><Relationship Id="rId9" Type="http://schemas.openxmlformats.org/officeDocument/2006/relationships/image" Target="../media/image78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86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88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9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94.wmf"/><Relationship Id="rId5" Type="http://schemas.openxmlformats.org/officeDocument/2006/relationships/image" Target="../media/image91.emf"/><Relationship Id="rId10" Type="http://schemas.openxmlformats.org/officeDocument/2006/relationships/oleObject" Target="../embeddings/oleObject99.bin"/><Relationship Id="rId4" Type="http://schemas.openxmlformats.org/officeDocument/2006/relationships/oleObject" Target="../embeddings/oleObject96.bin"/><Relationship Id="rId9" Type="http://schemas.openxmlformats.org/officeDocument/2006/relationships/image" Target="../media/image93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95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notesSlide" Target="../notesSlides/notesSlide27.xml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9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0" Type="http://schemas.openxmlformats.org/officeDocument/2006/relationships/image" Target="../media/image98.emf"/><Relationship Id="rId4" Type="http://schemas.openxmlformats.org/officeDocument/2006/relationships/audio" Target="../media/audio3.wav"/><Relationship Id="rId9" Type="http://schemas.openxmlformats.org/officeDocument/2006/relationships/oleObject" Target="../embeddings/oleObject103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10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02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107.wmf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104.wmf"/><Relationship Id="rId12" Type="http://schemas.openxmlformats.org/officeDocument/2006/relationships/oleObject" Target="../embeddings/oleObject1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06.wmf"/><Relationship Id="rId5" Type="http://schemas.openxmlformats.org/officeDocument/2006/relationships/image" Target="../media/image103.wmf"/><Relationship Id="rId10" Type="http://schemas.openxmlformats.org/officeDocument/2006/relationships/oleObject" Target="../embeddings/oleObject111.bin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05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08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13" Type="http://schemas.openxmlformats.org/officeDocument/2006/relationships/oleObject" Target="../embeddings/oleObject120.bin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10.e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62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70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26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28.bin"/><Relationship Id="rId10" Type="http://schemas.microsoft.com/office/2007/relationships/hdphoto" Target="../media/hdphoto2.wdp"/><Relationship Id="rId4" Type="http://schemas.openxmlformats.org/officeDocument/2006/relationships/image" Target="../media/image117.wmf"/><Relationship Id="rId9" Type="http://schemas.openxmlformats.org/officeDocument/2006/relationships/image" Target="../media/image12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08.e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78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25.wmf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122.wmf"/><Relationship Id="rId12" Type="http://schemas.openxmlformats.org/officeDocument/2006/relationships/oleObject" Target="../embeddings/oleObject1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24.wmf"/><Relationship Id="rId5" Type="http://schemas.openxmlformats.org/officeDocument/2006/relationships/image" Target="../media/image121.emf"/><Relationship Id="rId10" Type="http://schemas.openxmlformats.org/officeDocument/2006/relationships/oleObject" Target="../embeddings/oleObject136.bin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23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3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27.e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41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29.wmf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132.emf"/><Relationship Id="rId12" Type="http://schemas.openxmlformats.org/officeDocument/2006/relationships/oleObject" Target="../embeddings/oleObject1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28.wmf"/><Relationship Id="rId5" Type="http://schemas.openxmlformats.org/officeDocument/2006/relationships/image" Target="../media/image131.wmf"/><Relationship Id="rId15" Type="http://schemas.openxmlformats.org/officeDocument/2006/relationships/image" Target="../media/image134.emf"/><Relationship Id="rId10" Type="http://schemas.openxmlformats.org/officeDocument/2006/relationships/oleObject" Target="../embeddings/oleObject146.bin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33.emf"/><Relationship Id="rId14" Type="http://schemas.openxmlformats.org/officeDocument/2006/relationships/oleObject" Target="../embeddings/oleObject148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36.e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0" Type="http://schemas.openxmlformats.org/officeDocument/2006/relationships/image" Target="../media/image137.emf"/><Relationship Id="rId4" Type="http://schemas.openxmlformats.org/officeDocument/2006/relationships/image" Target="../media/image135.emf"/><Relationship Id="rId9" Type="http://schemas.openxmlformats.org/officeDocument/2006/relationships/oleObject" Target="../embeddings/oleObject152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e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40.e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0" Type="http://schemas.openxmlformats.org/officeDocument/2006/relationships/image" Target="../media/image142.e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57.bin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5" Type="http://schemas.openxmlformats.org/officeDocument/2006/relationships/image" Target="../media/image144.wmf"/><Relationship Id="rId4" Type="http://schemas.openxmlformats.org/officeDocument/2006/relationships/oleObject" Target="../embeddings/oleObject159.bin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14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6" Type="http://schemas.openxmlformats.org/officeDocument/2006/relationships/oleObject" Target="../embeddings/oleObject161.bin"/><Relationship Id="rId5" Type="http://schemas.openxmlformats.org/officeDocument/2006/relationships/image" Target="../media/image145.wmf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47.w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64.bin"/><Relationship Id="rId10" Type="http://schemas.openxmlformats.org/officeDocument/2006/relationships/image" Target="../media/image151.wmf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166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image" Target="../media/image155.wmf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12" Type="http://schemas.openxmlformats.org/officeDocument/2006/relationships/oleObject" Target="../embeddings/oleObject1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71.bin"/><Relationship Id="rId5" Type="http://schemas.openxmlformats.org/officeDocument/2006/relationships/oleObject" Target="../embeddings/oleObject168.bin"/><Relationship Id="rId10" Type="http://schemas.openxmlformats.org/officeDocument/2006/relationships/image" Target="../media/image154.w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70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3" Type="http://schemas.openxmlformats.org/officeDocument/2006/relationships/audio" Target="../media/audio2.wav"/><Relationship Id="rId7" Type="http://schemas.openxmlformats.org/officeDocument/2006/relationships/image" Target="../media/image15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4.vml"/><Relationship Id="rId6" Type="http://schemas.openxmlformats.org/officeDocument/2006/relationships/oleObject" Target="../embeddings/oleObject174.bin"/><Relationship Id="rId11" Type="http://schemas.openxmlformats.org/officeDocument/2006/relationships/image" Target="../media/image159.wmf"/><Relationship Id="rId5" Type="http://schemas.openxmlformats.org/officeDocument/2006/relationships/image" Target="../media/image156.wmf"/><Relationship Id="rId10" Type="http://schemas.openxmlformats.org/officeDocument/2006/relationships/oleObject" Target="../embeddings/oleObject176.bin"/><Relationship Id="rId4" Type="http://schemas.openxmlformats.org/officeDocument/2006/relationships/oleObject" Target="../embeddings/oleObject173.bin"/><Relationship Id="rId9" Type="http://schemas.openxmlformats.org/officeDocument/2006/relationships/image" Target="../media/image158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61.wmf"/><Relationship Id="rId5" Type="http://schemas.openxmlformats.org/officeDocument/2006/relationships/oleObject" Target="../embeddings/oleObject178.bin"/><Relationship Id="rId4" Type="http://schemas.openxmlformats.org/officeDocument/2006/relationships/image" Target="../media/image160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164.wmf"/><Relationship Id="rId5" Type="http://schemas.openxmlformats.org/officeDocument/2006/relationships/oleObject" Target="../embeddings/oleObject181.bin"/><Relationship Id="rId4" Type="http://schemas.openxmlformats.org/officeDocument/2006/relationships/image" Target="../media/image163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3" Type="http://schemas.openxmlformats.org/officeDocument/2006/relationships/oleObject" Target="../embeddings/oleObject183.bin"/><Relationship Id="rId7" Type="http://schemas.openxmlformats.org/officeDocument/2006/relationships/oleObject" Target="../embeddings/oleObject18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67.wmf"/><Relationship Id="rId5" Type="http://schemas.openxmlformats.org/officeDocument/2006/relationships/oleObject" Target="../embeddings/oleObject184.bin"/><Relationship Id="rId4" Type="http://schemas.openxmlformats.org/officeDocument/2006/relationships/image" Target="../media/image166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68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89.bin"/><Relationship Id="rId4" Type="http://schemas.openxmlformats.org/officeDocument/2006/relationships/image" Target="../media/image170.wmf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17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0.vml"/><Relationship Id="rId6" Type="http://schemas.openxmlformats.org/officeDocument/2006/relationships/oleObject" Target="../embeddings/oleObject191.bin"/><Relationship Id="rId5" Type="http://schemas.openxmlformats.org/officeDocument/2006/relationships/image" Target="../media/image172.wmf"/><Relationship Id="rId4" Type="http://schemas.openxmlformats.org/officeDocument/2006/relationships/oleObject" Target="../embeddings/oleObject190.bin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17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1.vml"/><Relationship Id="rId6" Type="http://schemas.openxmlformats.org/officeDocument/2006/relationships/oleObject" Target="../embeddings/oleObject193.bin"/><Relationship Id="rId5" Type="http://schemas.openxmlformats.org/officeDocument/2006/relationships/image" Target="../media/image174.wmf"/><Relationship Id="rId4" Type="http://schemas.openxmlformats.org/officeDocument/2006/relationships/oleObject" Target="../embeddings/oleObject192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176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3.vml"/><Relationship Id="rId4" Type="http://schemas.openxmlformats.org/officeDocument/2006/relationships/image" Target="../media/image178.w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4.vml"/><Relationship Id="rId4" Type="http://schemas.openxmlformats.org/officeDocument/2006/relationships/image" Target="../media/image179.e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13" Type="http://schemas.openxmlformats.org/officeDocument/2006/relationships/image" Target="../media/image183.wmf"/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172.wmf"/><Relationship Id="rId12" Type="http://schemas.openxmlformats.org/officeDocument/2006/relationships/oleObject" Target="../embeddings/oleObject202.bin"/><Relationship Id="rId17" Type="http://schemas.openxmlformats.org/officeDocument/2006/relationships/image" Target="../media/image18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04.bin"/><Relationship Id="rId1" Type="http://schemas.openxmlformats.org/officeDocument/2006/relationships/vmlDrawing" Target="../drawings/vmlDrawing65.v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182.wmf"/><Relationship Id="rId5" Type="http://schemas.openxmlformats.org/officeDocument/2006/relationships/image" Target="../media/image180.wmf"/><Relationship Id="rId15" Type="http://schemas.openxmlformats.org/officeDocument/2006/relationships/image" Target="../media/image184.wmf"/><Relationship Id="rId10" Type="http://schemas.openxmlformats.org/officeDocument/2006/relationships/oleObject" Target="../embeddings/oleObject201.bin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181.wmf"/><Relationship Id="rId14" Type="http://schemas.openxmlformats.org/officeDocument/2006/relationships/oleObject" Target="../embeddings/oleObject203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6.vml"/><Relationship Id="rId5" Type="http://schemas.openxmlformats.org/officeDocument/2006/relationships/image" Target="../media/image186.wmf"/><Relationship Id="rId4" Type="http://schemas.openxmlformats.org/officeDocument/2006/relationships/oleObject" Target="../embeddings/oleObject205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8.bin"/><Relationship Id="rId13" Type="http://schemas.openxmlformats.org/officeDocument/2006/relationships/image" Target="../media/image191.wmf"/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188.wmf"/><Relationship Id="rId12" Type="http://schemas.openxmlformats.org/officeDocument/2006/relationships/oleObject" Target="../embeddings/oleObject2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7.vml"/><Relationship Id="rId6" Type="http://schemas.openxmlformats.org/officeDocument/2006/relationships/oleObject" Target="../embeddings/oleObject207.bin"/><Relationship Id="rId11" Type="http://schemas.openxmlformats.org/officeDocument/2006/relationships/image" Target="../media/image190.wmf"/><Relationship Id="rId5" Type="http://schemas.openxmlformats.org/officeDocument/2006/relationships/image" Target="../media/image187.wmf"/><Relationship Id="rId10" Type="http://schemas.openxmlformats.org/officeDocument/2006/relationships/oleObject" Target="../embeddings/oleObject209.bin"/><Relationship Id="rId4" Type="http://schemas.openxmlformats.org/officeDocument/2006/relationships/oleObject" Target="../embeddings/oleObject206.bin"/><Relationship Id="rId9" Type="http://schemas.openxmlformats.org/officeDocument/2006/relationships/image" Target="../media/image189.w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emf"/><Relationship Id="rId3" Type="http://schemas.openxmlformats.org/officeDocument/2006/relationships/oleObject" Target="../embeddings/oleObject211.bin"/><Relationship Id="rId7" Type="http://schemas.openxmlformats.org/officeDocument/2006/relationships/oleObject" Target="../embeddings/oleObject2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212.bin"/><Relationship Id="rId4" Type="http://schemas.openxmlformats.org/officeDocument/2006/relationships/image" Target="../media/image192.w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19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9.vml"/><Relationship Id="rId6" Type="http://schemas.openxmlformats.org/officeDocument/2006/relationships/oleObject" Target="../embeddings/oleObject215.bin"/><Relationship Id="rId5" Type="http://schemas.openxmlformats.org/officeDocument/2006/relationships/image" Target="../media/image195.wmf"/><Relationship Id="rId4" Type="http://schemas.openxmlformats.org/officeDocument/2006/relationships/oleObject" Target="../embeddings/oleObject214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19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0.vml"/><Relationship Id="rId6" Type="http://schemas.openxmlformats.org/officeDocument/2006/relationships/oleObject" Target="../embeddings/oleObject217.bin"/><Relationship Id="rId5" Type="http://schemas.openxmlformats.org/officeDocument/2006/relationships/image" Target="../media/image197.wmf"/><Relationship Id="rId4" Type="http://schemas.openxmlformats.org/officeDocument/2006/relationships/oleObject" Target="../embeddings/oleObject216.bin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3" Type="http://schemas.openxmlformats.org/officeDocument/2006/relationships/oleObject" Target="../embeddings/oleObject218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0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200.png"/><Relationship Id="rId11" Type="http://schemas.openxmlformats.org/officeDocument/2006/relationships/oleObject" Target="../embeddings/oleObject222.bin"/><Relationship Id="rId5" Type="http://schemas.openxmlformats.org/officeDocument/2006/relationships/oleObject" Target="../embeddings/oleObject219.bin"/><Relationship Id="rId10" Type="http://schemas.openxmlformats.org/officeDocument/2006/relationships/image" Target="../media/image202.png"/><Relationship Id="rId4" Type="http://schemas.openxmlformats.org/officeDocument/2006/relationships/image" Target="../media/image199.wmf"/><Relationship Id="rId9" Type="http://schemas.openxmlformats.org/officeDocument/2006/relationships/oleObject" Target="../embeddings/oleObject221.bin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95" name="Rectangle 23"/>
          <p:cNvSpPr>
            <a:spLocks noGrp="1" noChangeArrowheads="1"/>
          </p:cNvSpPr>
          <p:nvPr>
            <p:ph type="ctrTitle"/>
          </p:nvPr>
        </p:nvSpPr>
        <p:spPr>
          <a:xfrm>
            <a:off x="762000" y="1447800"/>
            <a:ext cx="7696200" cy="2101850"/>
          </a:xfrm>
        </p:spPr>
        <p:txBody>
          <a:bodyPr/>
          <a:lstStyle/>
          <a:p>
            <a:pPr>
              <a:lnSpc>
                <a:spcPct val="115000"/>
              </a:lnSpc>
              <a:defRPr/>
            </a:pPr>
            <a:r>
              <a:rPr lang="zh-CN" altLang="en-US" sz="6000" dirty="0" smtClean="0"/>
              <a:t>第四章 </a:t>
            </a:r>
            <a:br>
              <a:rPr lang="zh-CN" altLang="en-US" sz="6000" dirty="0" smtClean="0"/>
            </a:br>
            <a:r>
              <a:rPr lang="zh-CN" altLang="en-US" sz="6000" dirty="0" smtClean="0"/>
              <a:t>解线性方程组的迭代法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3C1D625-37A6-449E-B605-35917ED1B258}" type="slidenum">
              <a:rPr lang="zh-CN" altLang="en-US" b="0"/>
              <a:pPr/>
              <a:t>2</a:t>
            </a:fld>
            <a:endParaRPr lang="en-US" altLang="zh-CN" b="0"/>
          </a:p>
        </p:txBody>
      </p:sp>
      <p:sp>
        <p:nvSpPr>
          <p:cNvPr id="30724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AB24649-E722-43B5-B4CD-06FC23EE1AFC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23850" y="1341438"/>
            <a:ext cx="8077200" cy="3384550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lvl="1">
              <a:lnSpc>
                <a:spcPct val="144000"/>
              </a:lnSpc>
              <a:defRPr/>
            </a:pP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1" charset="-122"/>
                <a:sym typeface="Wingdings" pitchFamily="2" charset="2"/>
              </a:rPr>
              <a:t>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1" charset="-122"/>
              </a:rPr>
              <a:t>  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1" charset="-122"/>
              </a:rPr>
              <a:t>问 题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1" charset="-122"/>
              </a:rPr>
              <a:t>  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1" charset="-122"/>
                <a:sym typeface="Wingdings" pitchFamily="2" charset="2"/>
              </a:rPr>
              <a:t></a:t>
            </a:r>
            <a:endParaRPr lang="zh-CN" altLang="en-US" sz="2800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1" charset="-122"/>
            </a:endParaRPr>
          </a:p>
          <a:p>
            <a:pPr lvl="1" algn="just">
              <a:lnSpc>
                <a:spcPct val="144000"/>
              </a:lnSpc>
              <a:defRPr/>
            </a:pP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在实际应用中遇到的系数矩阵多为大型稀疏矩阵，如用求解线性方程组的直接法求解，在计算机上会耗费大量的时间和存储单元。在许多应用问题中使用迭代法。</a:t>
            </a:r>
            <a:endParaRPr lang="zh-CN" altLang="en-US" sz="2800" dirty="0"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8799D8B-3F16-4858-A01C-490BE7269807}" type="slidenum">
              <a:rPr lang="zh-CN" altLang="en-US" b="0"/>
              <a:pPr/>
              <a:t>3</a:t>
            </a:fld>
            <a:endParaRPr lang="en-US" altLang="zh-CN" b="0"/>
          </a:p>
        </p:txBody>
      </p:sp>
      <p:sp>
        <p:nvSpPr>
          <p:cNvPr id="31747" name="日期占位符 3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9309A6C-63ED-427B-A573-1AF81CC2EA35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grpSp>
        <p:nvGrpSpPr>
          <p:cNvPr id="31748" name="Group 2"/>
          <p:cNvGrpSpPr>
            <a:grpSpLocks/>
          </p:cNvGrpSpPr>
          <p:nvPr/>
        </p:nvGrpSpPr>
        <p:grpSpPr bwMode="auto">
          <a:xfrm>
            <a:off x="555625" y="2036763"/>
            <a:ext cx="7945438" cy="2608262"/>
            <a:chOff x="350" y="1283"/>
            <a:chExt cx="5005" cy="1643"/>
          </a:xfrm>
        </p:grpSpPr>
        <p:sp>
          <p:nvSpPr>
            <p:cNvPr id="31750" name="Rectangle 3"/>
            <p:cNvSpPr>
              <a:spLocks noChangeArrowheads="1"/>
            </p:cNvSpPr>
            <p:nvPr/>
          </p:nvSpPr>
          <p:spPr bwMode="auto">
            <a:xfrm>
              <a:off x="483" y="1325"/>
              <a:ext cx="4780" cy="1564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51" name="Rectangle 4"/>
            <p:cNvSpPr>
              <a:spLocks noChangeArrowheads="1"/>
            </p:cNvSpPr>
            <p:nvPr/>
          </p:nvSpPr>
          <p:spPr bwMode="auto">
            <a:xfrm>
              <a:off x="362" y="1283"/>
              <a:ext cx="125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2" name="Rectangle 5"/>
            <p:cNvSpPr>
              <a:spLocks noChangeArrowheads="1"/>
            </p:cNvSpPr>
            <p:nvPr/>
          </p:nvSpPr>
          <p:spPr bwMode="auto">
            <a:xfrm>
              <a:off x="5218" y="1283"/>
              <a:ext cx="133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3" name="AutoShape 6"/>
            <p:cNvSpPr>
              <a:spLocks noChangeArrowheads="1"/>
            </p:cNvSpPr>
            <p:nvPr/>
          </p:nvSpPr>
          <p:spPr bwMode="auto">
            <a:xfrm>
              <a:off x="377" y="1283"/>
              <a:ext cx="4974" cy="98"/>
            </a:xfrm>
            <a:custGeom>
              <a:avLst/>
              <a:gdLst>
                <a:gd name="T0" fmla="*/ 1132 w 21600"/>
                <a:gd name="T1" fmla="*/ 0 h 21600"/>
                <a:gd name="T2" fmla="*/ 573 w 21600"/>
                <a:gd name="T3" fmla="*/ 0 h 21600"/>
                <a:gd name="T4" fmla="*/ 14 w 21600"/>
                <a:gd name="T5" fmla="*/ 0 h 21600"/>
                <a:gd name="T6" fmla="*/ 57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54 w 21600"/>
                <a:gd name="T13" fmla="*/ 1984 h 21600"/>
                <a:gd name="T14" fmla="*/ 19546 w 21600"/>
                <a:gd name="T15" fmla="*/ 19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12" y="21600"/>
                  </a:lnTo>
                  <a:lnTo>
                    <a:pt x="2108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4" name="AutoShape 7"/>
            <p:cNvSpPr>
              <a:spLocks noChangeArrowheads="1"/>
            </p:cNvSpPr>
            <p:nvPr/>
          </p:nvSpPr>
          <p:spPr bwMode="auto">
            <a:xfrm flipV="1">
              <a:off x="350" y="2828"/>
              <a:ext cx="5005" cy="98"/>
            </a:xfrm>
            <a:custGeom>
              <a:avLst/>
              <a:gdLst>
                <a:gd name="T0" fmla="*/ 1143 w 21600"/>
                <a:gd name="T1" fmla="*/ 0 h 21600"/>
                <a:gd name="T2" fmla="*/ 580 w 21600"/>
                <a:gd name="T3" fmla="*/ 0 h 21600"/>
                <a:gd name="T4" fmla="*/ 16 w 21600"/>
                <a:gd name="T5" fmla="*/ 0 h 21600"/>
                <a:gd name="T6" fmla="*/ 58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106 w 21600"/>
                <a:gd name="T13" fmla="*/ 2204 h 21600"/>
                <a:gd name="T14" fmla="*/ 19494 w 21600"/>
                <a:gd name="T15" fmla="*/ 19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12" y="21600"/>
                  </a:lnTo>
                  <a:lnTo>
                    <a:pt x="2098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5" name="Rectangle 8"/>
            <p:cNvSpPr>
              <a:spLocks noChangeArrowheads="1"/>
            </p:cNvSpPr>
            <p:nvPr/>
          </p:nvSpPr>
          <p:spPr bwMode="auto">
            <a:xfrm>
              <a:off x="480" y="1380"/>
              <a:ext cx="4738" cy="14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354281"/>
              </a:solidFill>
              <a:miter lim="800000"/>
              <a:headEnd/>
              <a:tailEnd/>
            </a:ln>
            <a:effectLst>
              <a:prstShdw prst="shdw17" dist="17961" dir="2700000">
                <a:srgbClr val="20284D"/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7129" name="Rectangle 9"/>
          <p:cNvSpPr>
            <a:spLocks noChangeArrowheads="1"/>
          </p:cNvSpPr>
          <p:nvPr/>
        </p:nvSpPr>
        <p:spPr bwMode="auto">
          <a:xfrm>
            <a:off x="609600" y="2438400"/>
            <a:ext cx="7585075" cy="155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rgbClr val="354281"/>
            </a:outerShdw>
          </a:effectLst>
        </p:spPr>
        <p:txBody>
          <a:bodyPr lIns="0" tIns="0" rIns="0" bIns="0">
            <a:spAutoFit/>
          </a:bodyPr>
          <a:lstStyle/>
          <a:p>
            <a:pPr marL="290513" indent="-290513" defTabSz="915988">
              <a:lnSpc>
                <a:spcPct val="8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5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§1</a:t>
            </a:r>
            <a:r>
              <a:rPr lang="zh-CN" altLang="en-US" sz="6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</a:t>
            </a:r>
            <a:r>
              <a:rPr lang="zh-CN" altLang="en-US" sz="5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向量范数、矩阵范数、谱半径及有关性质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E7EB6B5-2D01-4126-B307-6630D42CC08E}" type="slidenum">
              <a:rPr lang="zh-CN" altLang="en-US" b="0"/>
              <a:pPr/>
              <a:t>4</a:t>
            </a:fld>
            <a:endParaRPr lang="en-US" altLang="zh-CN" b="0"/>
          </a:p>
        </p:txBody>
      </p:sp>
      <p:sp>
        <p:nvSpPr>
          <p:cNvPr id="3277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FD2B00B-E775-4A24-8F56-C01CECCBF0CB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08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(1) 向量范数定义</a:t>
            </a:r>
          </a:p>
        </p:txBody>
      </p:sp>
      <p:sp>
        <p:nvSpPr>
          <p:cNvPr id="608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543925" cy="54641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mtClean="0"/>
              <a:t>考虑二、三维中长度的概念</a:t>
            </a:r>
          </a:p>
          <a:p>
            <a:pPr lvl="1">
              <a:lnSpc>
                <a:spcPct val="100000"/>
              </a:lnSpc>
            </a:pPr>
            <a:r>
              <a:rPr lang="zh-CN" altLang="en-US" smtClean="0"/>
              <a:t>向量</a:t>
            </a:r>
            <a:r>
              <a:rPr lang="en-US" altLang="zh-CN" smtClean="0"/>
              <a:t>X</a:t>
            </a:r>
            <a:r>
              <a:rPr lang="en-US" altLang="zh-CN" smtClean="0">
                <a:sym typeface="Symbol" pitchFamily="18" charset="2"/>
              </a:rPr>
              <a:t>R</a:t>
            </a:r>
            <a:r>
              <a:rPr lang="en-US" altLang="zh-CN" baseline="30000" smtClean="0">
                <a:sym typeface="Symbol" pitchFamily="18" charset="2"/>
              </a:rPr>
              <a:t>2</a:t>
            </a:r>
            <a:r>
              <a:rPr lang="zh-CN" altLang="en-US" smtClean="0">
                <a:sym typeface="Symbol" pitchFamily="18" charset="2"/>
              </a:rPr>
              <a:t>，</a:t>
            </a:r>
          </a:p>
          <a:p>
            <a:pPr lvl="1">
              <a:lnSpc>
                <a:spcPct val="100000"/>
              </a:lnSpc>
            </a:pPr>
            <a:r>
              <a:rPr lang="zh-CN" altLang="en-US" smtClean="0"/>
              <a:t>向量</a:t>
            </a:r>
            <a:r>
              <a:rPr lang="en-US" altLang="zh-CN" smtClean="0"/>
              <a:t>X</a:t>
            </a:r>
            <a:r>
              <a:rPr lang="en-US" altLang="zh-CN" smtClean="0">
                <a:sym typeface="Symbol" pitchFamily="18" charset="2"/>
              </a:rPr>
              <a:t>R</a:t>
            </a:r>
            <a:r>
              <a:rPr lang="en-US" altLang="zh-CN" baseline="30000" smtClean="0">
                <a:sym typeface="Symbol" pitchFamily="18" charset="2"/>
              </a:rPr>
              <a:t>3</a:t>
            </a:r>
            <a:r>
              <a:rPr lang="zh-CN" altLang="en-US" smtClean="0">
                <a:sym typeface="Symbol" pitchFamily="18" charset="2"/>
              </a:rPr>
              <a:t>，</a:t>
            </a:r>
          </a:p>
          <a:p>
            <a:pPr lvl="1">
              <a:lnSpc>
                <a:spcPct val="100000"/>
              </a:lnSpc>
            </a:pPr>
            <a:r>
              <a:rPr lang="zh-CN" altLang="en-US" smtClean="0">
                <a:sym typeface="Symbol" pitchFamily="18" charset="2"/>
              </a:rPr>
              <a:t>这是欧氏长度的概念</a:t>
            </a:r>
          </a:p>
          <a:p>
            <a:pPr>
              <a:lnSpc>
                <a:spcPct val="100000"/>
              </a:lnSpc>
            </a:pPr>
            <a:r>
              <a:rPr lang="zh-CN" altLang="en-US" smtClean="0"/>
              <a:t>考虑距离的概念</a:t>
            </a:r>
          </a:p>
          <a:p>
            <a:pPr lvl="1">
              <a:lnSpc>
                <a:spcPct val="100000"/>
              </a:lnSpc>
            </a:pPr>
            <a:r>
              <a:rPr lang="zh-CN" altLang="en-US" smtClean="0"/>
              <a:t>二维的距离</a:t>
            </a:r>
          </a:p>
          <a:p>
            <a:pPr lvl="1">
              <a:lnSpc>
                <a:spcPct val="100000"/>
              </a:lnSpc>
              <a:buFontTx/>
              <a:buNone/>
            </a:pPr>
            <a:r>
              <a:rPr lang="zh-CN" altLang="en-US" smtClean="0"/>
              <a:t>这是勾股弦定理，求出的是直角三角形的斜边长</a:t>
            </a:r>
          </a:p>
          <a:p>
            <a:pPr lvl="1">
              <a:lnSpc>
                <a:spcPct val="100000"/>
              </a:lnSpc>
            </a:pPr>
            <a:r>
              <a:rPr lang="zh-CN" altLang="en-US" smtClean="0"/>
              <a:t>也可以用直角边来衡量距离，例如，以两直角边之和作为距离，或取直角边中长的一边来衡量。</a:t>
            </a:r>
          </a:p>
          <a:p>
            <a:pPr>
              <a:lnSpc>
                <a:spcPct val="100000"/>
              </a:lnSpc>
            </a:pPr>
            <a:r>
              <a:rPr lang="zh-CN" altLang="en-US" smtClean="0">
                <a:solidFill>
                  <a:srgbClr val="FF0000"/>
                </a:solidFill>
              </a:rPr>
              <a:t>共同的特征：长度或距离不会为负数。</a:t>
            </a:r>
          </a:p>
        </p:txBody>
      </p:sp>
      <p:graphicFrame>
        <p:nvGraphicFramePr>
          <p:cNvPr id="608263" name="Object 7"/>
          <p:cNvGraphicFramePr>
            <a:graphicFrameLocks noChangeAspect="1"/>
          </p:cNvGraphicFramePr>
          <p:nvPr/>
        </p:nvGraphicFramePr>
        <p:xfrm>
          <a:off x="3302000" y="1484313"/>
          <a:ext cx="24447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4" name="公式" r:id="rId4" imgW="952087" imgH="266584" progId="Equation.3">
                  <p:embed/>
                </p:oleObj>
              </mc:Choice>
              <mc:Fallback>
                <p:oleObj name="公式" r:id="rId4" imgW="952087" imgH="26658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1484313"/>
                        <a:ext cx="24447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8266" name="Object 10"/>
          <p:cNvGraphicFramePr>
            <a:graphicFrameLocks noChangeAspect="1"/>
          </p:cNvGraphicFramePr>
          <p:nvPr/>
        </p:nvGraphicFramePr>
        <p:xfrm>
          <a:off x="3325813" y="2133600"/>
          <a:ext cx="32623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5" name="公式" r:id="rId6" imgW="1269449" imgH="266584" progId="Equation.3">
                  <p:embed/>
                </p:oleObj>
              </mc:Choice>
              <mc:Fallback>
                <p:oleObj name="公式" r:id="rId6" imgW="1269449" imgH="26658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813" y="2133600"/>
                        <a:ext cx="326231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8269" name="Object 13"/>
          <p:cNvGraphicFramePr>
            <a:graphicFrameLocks noChangeAspect="1"/>
          </p:cNvGraphicFramePr>
          <p:nvPr/>
        </p:nvGraphicFramePr>
        <p:xfrm>
          <a:off x="3079750" y="4005263"/>
          <a:ext cx="58848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6" name="公式" r:id="rId8" imgW="3162300" imgH="304800" progId="Equation.3">
                  <p:embed/>
                </p:oleObj>
              </mc:Choice>
              <mc:Fallback>
                <p:oleObj name="公式" r:id="rId8" imgW="3162300" imgH="304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4005263"/>
                        <a:ext cx="58848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8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08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0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08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0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08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08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08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0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08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08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08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5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A2425268-A317-4D1B-99C2-2430EA78DACA}" type="slidenum">
              <a:rPr lang="zh-CN" altLang="en-US" b="0"/>
              <a:pPr/>
              <a:t>5</a:t>
            </a:fld>
            <a:endParaRPr lang="en-US" altLang="zh-CN" b="0"/>
          </a:p>
        </p:txBody>
      </p:sp>
      <p:sp>
        <p:nvSpPr>
          <p:cNvPr id="3379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73D0651-2341-4091-9492-16D826F4DCC0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(1) 向量范数定义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004175" cy="4662488"/>
          </a:xfrm>
        </p:spPr>
        <p:txBody>
          <a:bodyPr/>
          <a:lstStyle/>
          <a:p>
            <a:r>
              <a:rPr lang="zh-CN" altLang="en-US" smtClean="0"/>
              <a:t>向量范数是用来度量向量长度的,它可以看成是二、三维解析几何中向量</a:t>
            </a:r>
            <a:r>
              <a:rPr lang="zh-CN" altLang="en-US" smtClean="0">
                <a:solidFill>
                  <a:srgbClr val="FF3300"/>
                </a:solidFill>
              </a:rPr>
              <a:t>长度概念</a:t>
            </a:r>
            <a:r>
              <a:rPr lang="zh-CN" altLang="en-US" smtClean="0"/>
              <a:t>的推广</a:t>
            </a:r>
          </a:p>
          <a:p>
            <a:r>
              <a:rPr lang="zh-CN" altLang="en-US" smtClean="0"/>
              <a:t>定义4.1  对任一向量</a:t>
            </a:r>
            <a:r>
              <a:rPr lang="en-US" altLang="zh-CN" smtClean="0"/>
              <a:t>X</a:t>
            </a:r>
            <a:r>
              <a:rPr lang="en-US" altLang="zh-CN" smtClean="0">
                <a:sym typeface="Symbol" pitchFamily="18" charset="2"/>
              </a:rPr>
              <a:t>R</a:t>
            </a:r>
            <a:r>
              <a:rPr lang="en-US" altLang="zh-CN" baseline="30000" smtClean="0">
                <a:sym typeface="Symbol" pitchFamily="18" charset="2"/>
              </a:rPr>
              <a:t>n</a:t>
            </a:r>
            <a:r>
              <a:rPr lang="en-US" altLang="zh-CN" smtClean="0">
                <a:sym typeface="Symbol" pitchFamily="18" charset="2"/>
              </a:rPr>
              <a:t>，</a:t>
            </a:r>
            <a:r>
              <a:rPr lang="zh-CN" altLang="en-US" smtClean="0">
                <a:sym typeface="Symbol" pitchFamily="18" charset="2"/>
              </a:rPr>
              <a:t>按照一定规则确定一个实数与它对应，该实数记为||</a:t>
            </a:r>
            <a:r>
              <a:rPr lang="en-US" altLang="zh-CN" smtClean="0"/>
              <a:t>X||，</a:t>
            </a:r>
            <a:r>
              <a:rPr lang="zh-CN" altLang="en-US" smtClean="0"/>
              <a:t>若</a:t>
            </a:r>
            <a:r>
              <a:rPr lang="zh-CN" altLang="en-US" smtClean="0">
                <a:sym typeface="Symbol" pitchFamily="18" charset="2"/>
              </a:rPr>
              <a:t>||</a:t>
            </a:r>
            <a:r>
              <a:rPr lang="en-US" altLang="zh-CN" smtClean="0"/>
              <a:t>X||</a:t>
            </a:r>
            <a:r>
              <a:rPr lang="zh-CN" altLang="en-US" smtClean="0"/>
              <a:t>满足下面三个性质：</a:t>
            </a:r>
          </a:p>
          <a:p>
            <a:pPr lvl="1"/>
            <a:r>
              <a:rPr lang="zh-CN" altLang="en-US" smtClean="0"/>
              <a:t>1）</a:t>
            </a:r>
            <a:r>
              <a:rPr lang="zh-CN" altLang="en-US" smtClean="0">
                <a:sym typeface="Symbol" pitchFamily="18" charset="2"/>
              </a:rPr>
              <a:t>||</a:t>
            </a:r>
            <a:r>
              <a:rPr lang="en-US" altLang="zh-CN" smtClean="0"/>
              <a:t>X||</a:t>
            </a:r>
            <a:r>
              <a:rPr lang="en-US" altLang="zh-CN" smtClean="0">
                <a:sym typeface="Symbol" pitchFamily="18" charset="2"/>
              </a:rPr>
              <a:t></a:t>
            </a:r>
            <a:r>
              <a:rPr lang="en-US" altLang="zh-CN" smtClean="0"/>
              <a:t>0;(</a:t>
            </a:r>
            <a:r>
              <a:rPr lang="zh-CN" altLang="en-US" smtClean="0">
                <a:sym typeface="Symbol" pitchFamily="18" charset="2"/>
              </a:rPr>
              <a:t>||</a:t>
            </a:r>
            <a:r>
              <a:rPr lang="en-US" altLang="zh-CN" smtClean="0"/>
              <a:t>X||=0</a:t>
            </a:r>
            <a:r>
              <a:rPr lang="zh-CN" altLang="en-US" smtClean="0"/>
              <a:t>当且仅当</a:t>
            </a:r>
            <a:r>
              <a:rPr lang="en-US" altLang="zh-CN" smtClean="0"/>
              <a:t>X=0)； </a:t>
            </a:r>
            <a:r>
              <a:rPr lang="en-US" altLang="zh-CN" b="0" smtClean="0">
                <a:solidFill>
                  <a:srgbClr val="ED5F2D"/>
                </a:solidFill>
              </a:rPr>
              <a:t>(</a:t>
            </a:r>
            <a:r>
              <a:rPr lang="zh-CN" altLang="en-US" b="0" smtClean="0">
                <a:solidFill>
                  <a:srgbClr val="ED5F2D"/>
                </a:solidFill>
              </a:rPr>
              <a:t>正定性</a:t>
            </a:r>
            <a:r>
              <a:rPr lang="en-US" altLang="zh-CN" b="0" smtClean="0">
                <a:solidFill>
                  <a:srgbClr val="ED5F2D"/>
                </a:solidFill>
              </a:rPr>
              <a:t>)</a:t>
            </a:r>
            <a:endParaRPr lang="en-US" altLang="zh-CN" smtClean="0"/>
          </a:p>
          <a:p>
            <a:pPr lvl="1"/>
            <a:r>
              <a:rPr lang="zh-CN" altLang="en-US" smtClean="0"/>
              <a:t>2）对任意实数</a:t>
            </a:r>
            <a:r>
              <a:rPr lang="zh-CN" altLang="en-US" smtClean="0">
                <a:sym typeface="Symbol" pitchFamily="18" charset="2"/>
              </a:rPr>
              <a:t>, ||</a:t>
            </a:r>
            <a:r>
              <a:rPr lang="en-US" altLang="zh-CN" smtClean="0"/>
              <a:t>X||=|</a:t>
            </a:r>
            <a:r>
              <a:rPr lang="zh-CN" altLang="en-US" smtClean="0">
                <a:sym typeface="Symbol" pitchFamily="18" charset="2"/>
              </a:rPr>
              <a:t>| ||</a:t>
            </a:r>
            <a:r>
              <a:rPr lang="en-US" altLang="zh-CN" smtClean="0"/>
              <a:t>X||； </a:t>
            </a:r>
            <a:r>
              <a:rPr lang="en-US" altLang="zh-CN" sz="3200" b="0" smtClean="0">
                <a:solidFill>
                  <a:srgbClr val="ED5F2D"/>
                </a:solidFill>
              </a:rPr>
              <a:t>(</a:t>
            </a:r>
            <a:r>
              <a:rPr lang="zh-CN" altLang="en-US" sz="3200" b="0" smtClean="0">
                <a:solidFill>
                  <a:srgbClr val="ED5F2D"/>
                </a:solidFill>
              </a:rPr>
              <a:t>齐次性</a:t>
            </a:r>
            <a:r>
              <a:rPr lang="en-US" altLang="zh-CN" sz="3200" b="0" smtClean="0">
                <a:solidFill>
                  <a:srgbClr val="ED5F2D"/>
                </a:solidFill>
              </a:rPr>
              <a:t>)</a:t>
            </a:r>
            <a:endParaRPr lang="en-US" altLang="zh-CN" smtClean="0"/>
          </a:p>
          <a:p>
            <a:pPr lvl="1"/>
            <a:r>
              <a:rPr lang="zh-CN" altLang="en-US" smtClean="0"/>
              <a:t>3）对任意向量</a:t>
            </a:r>
            <a:r>
              <a:rPr lang="en-US" altLang="zh-CN" smtClean="0"/>
              <a:t>Y</a:t>
            </a:r>
            <a:r>
              <a:rPr lang="en-US" altLang="zh-CN" smtClean="0">
                <a:sym typeface="Symbol" pitchFamily="18" charset="2"/>
              </a:rPr>
              <a:t>R</a:t>
            </a:r>
            <a:r>
              <a:rPr lang="en-US" altLang="zh-CN" baseline="30000" smtClean="0">
                <a:sym typeface="Symbol" pitchFamily="18" charset="2"/>
              </a:rPr>
              <a:t>n</a:t>
            </a:r>
            <a:r>
              <a:rPr lang="en-US" altLang="zh-CN" smtClean="0">
                <a:sym typeface="Symbol" pitchFamily="18" charset="2"/>
              </a:rPr>
              <a:t>，</a:t>
            </a:r>
            <a:r>
              <a:rPr lang="zh-CN" altLang="en-US" smtClean="0">
                <a:sym typeface="Symbol" pitchFamily="18" charset="2"/>
              </a:rPr>
              <a:t>||</a:t>
            </a:r>
            <a:r>
              <a:rPr lang="en-US" altLang="zh-CN" smtClean="0"/>
              <a:t>X+Y|| </a:t>
            </a:r>
            <a:r>
              <a:rPr lang="en-US" altLang="zh-CN" smtClean="0">
                <a:sym typeface="Symbol" pitchFamily="18" charset="2"/>
              </a:rPr>
              <a:t> </a:t>
            </a:r>
            <a:r>
              <a:rPr lang="zh-CN" altLang="en-US" smtClean="0">
                <a:sym typeface="Symbol" pitchFamily="18" charset="2"/>
              </a:rPr>
              <a:t>||</a:t>
            </a:r>
            <a:r>
              <a:rPr lang="en-US" altLang="zh-CN" smtClean="0"/>
              <a:t>X||+||Y|| </a:t>
            </a:r>
            <a:r>
              <a:rPr lang="en-US" altLang="zh-CN" b="0" smtClean="0">
                <a:solidFill>
                  <a:srgbClr val="ED5F2D"/>
                </a:solidFill>
              </a:rPr>
              <a:t>(</a:t>
            </a:r>
            <a:r>
              <a:rPr lang="zh-CN" altLang="en-US" b="0" smtClean="0">
                <a:solidFill>
                  <a:srgbClr val="ED5F2D"/>
                </a:solidFill>
              </a:rPr>
              <a:t>半可加性</a:t>
            </a:r>
            <a:r>
              <a:rPr lang="en-US" altLang="zh-CN" b="0" smtClean="0">
                <a:solidFill>
                  <a:srgbClr val="ED5F2D"/>
                </a:solidFill>
              </a:rPr>
              <a:t>)</a:t>
            </a:r>
            <a:endParaRPr lang="en-US" altLang="zh-CN" smtClean="0"/>
          </a:p>
          <a:p>
            <a:pPr>
              <a:buFont typeface="Wingdings" pitchFamily="2" charset="2"/>
              <a:buNone/>
            </a:pPr>
            <a:r>
              <a:rPr lang="en-US" altLang="zh-CN" smtClean="0"/>
              <a:t>	</a:t>
            </a:r>
            <a:r>
              <a:rPr lang="zh-CN" altLang="en-US" smtClean="0"/>
              <a:t>则称该实数</a:t>
            </a:r>
            <a:r>
              <a:rPr lang="zh-CN" altLang="en-US" smtClean="0">
                <a:sym typeface="Symbol" pitchFamily="18" charset="2"/>
              </a:rPr>
              <a:t>||</a:t>
            </a:r>
            <a:r>
              <a:rPr lang="en-US" altLang="zh-CN" smtClean="0"/>
              <a:t>X||</a:t>
            </a:r>
            <a:r>
              <a:rPr lang="zh-CN" altLang="en-US" smtClean="0"/>
              <a:t>为向量</a:t>
            </a:r>
            <a:r>
              <a:rPr lang="en-US" altLang="zh-CN" smtClean="0"/>
              <a:t>X</a:t>
            </a:r>
            <a:r>
              <a:rPr lang="zh-CN" altLang="en-US" smtClean="0"/>
              <a:t>的</a:t>
            </a:r>
            <a:r>
              <a:rPr lang="zh-CN" altLang="en-US" u="sng" smtClean="0">
                <a:solidFill>
                  <a:srgbClr val="FF3300"/>
                </a:solidFill>
              </a:rPr>
              <a:t>范数</a:t>
            </a:r>
          </a:p>
        </p:txBody>
      </p:sp>
      <p:sp>
        <p:nvSpPr>
          <p:cNvPr id="638980" name="AutoShape 4"/>
          <p:cNvSpPr>
            <a:spLocks noChangeArrowheads="1"/>
          </p:cNvSpPr>
          <p:nvPr/>
        </p:nvSpPr>
        <p:spPr bwMode="auto">
          <a:xfrm>
            <a:off x="6553200" y="3068638"/>
            <a:ext cx="2590800" cy="1219200"/>
          </a:xfrm>
          <a:prstGeom prst="cloudCallout">
            <a:avLst>
              <a:gd name="adj1" fmla="val -13972"/>
              <a:gd name="adj2" fmla="val -76824"/>
            </a:avLst>
          </a:prstGeom>
          <a:solidFill>
            <a:srgbClr val="FFFF99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altLang="zh-CN" sz="2800" i="1">
                <a:latin typeface="Times New Roman" pitchFamily="18" charset="0"/>
              </a:rPr>
              <a:t>f</a:t>
            </a:r>
            <a:r>
              <a:rPr lang="en-US" altLang="zh-CN" sz="2800"/>
              <a:t>(X)=||X||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8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8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980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FB170E3-8A70-4328-9AAE-0FDCBEF5DD3F}" type="slidenum">
              <a:rPr lang="zh-CN" altLang="en-US" b="0"/>
              <a:pPr/>
              <a:t>6</a:t>
            </a:fld>
            <a:endParaRPr lang="en-US" altLang="zh-CN" b="0"/>
          </a:p>
        </p:txBody>
      </p:sp>
      <p:sp>
        <p:nvSpPr>
          <p:cNvPr id="3481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BAA2EB5-C82B-44D5-806C-A0D7388187B0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(1) 向量范数定义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38150"/>
          </a:xfrm>
        </p:spPr>
        <p:txBody>
          <a:bodyPr/>
          <a:lstStyle/>
          <a:p>
            <a:r>
              <a:rPr lang="zh-CN" altLang="en-US" sz="3200" smtClean="0"/>
              <a:t>在</a:t>
            </a:r>
            <a:r>
              <a:rPr lang="en-US" altLang="zh-CN" sz="3200" smtClean="0">
                <a:sym typeface="Symbol" pitchFamily="18" charset="2"/>
              </a:rPr>
              <a:t>R</a:t>
            </a:r>
            <a:r>
              <a:rPr lang="en-US" altLang="zh-CN" sz="3200" baseline="30000" smtClean="0">
                <a:sym typeface="Symbol" pitchFamily="18" charset="2"/>
              </a:rPr>
              <a:t>n</a:t>
            </a:r>
            <a:r>
              <a:rPr lang="zh-CN" altLang="en-US" sz="3200" smtClean="0">
                <a:sym typeface="Symbol" pitchFamily="18" charset="2"/>
              </a:rPr>
              <a:t>中</a:t>
            </a:r>
            <a:r>
              <a:rPr lang="en-US" altLang="zh-CN" sz="3200" smtClean="0">
                <a:sym typeface="Symbol" pitchFamily="18" charset="2"/>
              </a:rPr>
              <a:t>，</a:t>
            </a:r>
            <a:r>
              <a:rPr lang="zh-CN" altLang="en-US" sz="3200" smtClean="0">
                <a:sym typeface="Symbol" pitchFamily="18" charset="2"/>
              </a:rPr>
              <a:t>常用的几种范数有：</a:t>
            </a:r>
          </a:p>
        </p:txBody>
      </p:sp>
      <p:graphicFrame>
        <p:nvGraphicFramePr>
          <p:cNvPr id="34822" name="Object 4"/>
          <p:cNvGraphicFramePr>
            <a:graphicFrameLocks noChangeAspect="1"/>
          </p:cNvGraphicFramePr>
          <p:nvPr/>
        </p:nvGraphicFramePr>
        <p:xfrm>
          <a:off x="1447800" y="1524000"/>
          <a:ext cx="629443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6" name="Equation" r:id="rId4" imgW="2451100" imgH="431800" progId="Equation.3">
                  <p:embed/>
                </p:oleObj>
              </mc:Choice>
              <mc:Fallback>
                <p:oleObj name="Equation" r:id="rId4" imgW="24511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524000"/>
                        <a:ext cx="6294438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5"/>
          <p:cNvGraphicFramePr>
            <a:graphicFrameLocks noChangeAspect="1"/>
          </p:cNvGraphicFramePr>
          <p:nvPr/>
        </p:nvGraphicFramePr>
        <p:xfrm>
          <a:off x="1447800" y="2438400"/>
          <a:ext cx="67818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7" name="Equation" r:id="rId6" imgW="2641600" imgH="457200" progId="Equation.3">
                  <p:embed/>
                </p:oleObj>
              </mc:Choice>
              <mc:Fallback>
                <p:oleObj name="Equation" r:id="rId6" imgW="26416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781800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6"/>
          <p:cNvGraphicFramePr>
            <a:graphicFrameLocks noChangeAspect="1"/>
          </p:cNvGraphicFramePr>
          <p:nvPr/>
        </p:nvGraphicFramePr>
        <p:xfrm>
          <a:off x="1458913" y="3657600"/>
          <a:ext cx="753268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8" name="Equation" r:id="rId8" imgW="2933700" imgH="279400" progId="Equation.3">
                  <p:embed/>
                </p:oleObj>
              </mc:Choice>
              <mc:Fallback>
                <p:oleObj name="Equation" r:id="rId8" imgW="29337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3657600"/>
                        <a:ext cx="7532687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5" name="Rectangle 7"/>
          <p:cNvSpPr>
            <a:spLocks noChangeArrowheads="1"/>
          </p:cNvSpPr>
          <p:nvPr/>
        </p:nvSpPr>
        <p:spPr bwMode="auto">
          <a:xfrm>
            <a:off x="544513" y="4514850"/>
            <a:ext cx="81422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649288" lvl="1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</a:rPr>
              <a:t>	其中</a:t>
            </a:r>
            <a:r>
              <a:rPr lang="en-US" altLang="zh-CN" sz="3200" i="1">
                <a:latin typeface="Times New Roman" pitchFamily="18" charset="0"/>
              </a:rPr>
              <a:t>x</a:t>
            </a:r>
            <a:r>
              <a:rPr lang="en-US" altLang="zh-CN" sz="3200" baseline="-25000">
                <a:latin typeface="Times New Roman" pitchFamily="18" charset="0"/>
              </a:rPr>
              <a:t>1</a:t>
            </a:r>
            <a:r>
              <a:rPr lang="en-US" altLang="zh-CN" sz="3200">
                <a:latin typeface="Times New Roman" pitchFamily="18" charset="0"/>
              </a:rPr>
              <a:t>,</a:t>
            </a:r>
            <a:r>
              <a:rPr lang="en-US" altLang="zh-CN" sz="3200" i="1">
                <a:latin typeface="Times New Roman" pitchFamily="18" charset="0"/>
              </a:rPr>
              <a:t>x</a:t>
            </a:r>
            <a:r>
              <a:rPr lang="en-US" altLang="zh-CN" sz="3200" baseline="-25000">
                <a:latin typeface="Times New Roman" pitchFamily="18" charset="0"/>
              </a:rPr>
              <a:t>2</a:t>
            </a:r>
            <a:r>
              <a:rPr lang="en-US" altLang="zh-CN" sz="3200">
                <a:latin typeface="Times New Roman" pitchFamily="18" charset="0"/>
              </a:rPr>
              <a:t>, …,</a:t>
            </a:r>
            <a:r>
              <a:rPr lang="en-US" altLang="zh-CN" sz="3200" i="1">
                <a:latin typeface="Times New Roman" pitchFamily="18" charset="0"/>
              </a:rPr>
              <a:t>x</a:t>
            </a:r>
            <a:r>
              <a:rPr lang="en-US" altLang="zh-CN" sz="3200" baseline="-25000">
                <a:latin typeface="Times New Roman" pitchFamily="18" charset="0"/>
              </a:rPr>
              <a:t>n</a:t>
            </a:r>
            <a:r>
              <a:rPr lang="zh-CN" altLang="en-US" sz="3200">
                <a:latin typeface="Times New Roman" pitchFamily="18" charset="0"/>
              </a:rPr>
              <a:t>分别是</a:t>
            </a:r>
            <a:r>
              <a:rPr lang="en-US" altLang="zh-CN" sz="3200">
                <a:latin typeface="Times New Roman" pitchFamily="18" charset="0"/>
              </a:rPr>
              <a:t>X</a:t>
            </a:r>
            <a:r>
              <a:rPr lang="zh-CN" altLang="en-US" sz="3200">
                <a:latin typeface="Times New Roman" pitchFamily="18" charset="0"/>
              </a:rPr>
              <a:t>的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zh-CN" altLang="en-US" sz="3200">
                <a:latin typeface="Times New Roman" pitchFamily="18" charset="0"/>
              </a:rPr>
              <a:t>个分量。</a:t>
            </a:r>
            <a:endParaRPr lang="zh-CN" altLang="en-US" sz="320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4826" name="Rectangle 8"/>
          <p:cNvSpPr>
            <a:spLocks noChangeArrowheads="1"/>
          </p:cNvSpPr>
          <p:nvPr/>
        </p:nvSpPr>
        <p:spPr bwMode="auto">
          <a:xfrm>
            <a:off x="22225" y="1828800"/>
            <a:ext cx="1577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1-范数</a:t>
            </a:r>
          </a:p>
        </p:txBody>
      </p:sp>
      <p:sp>
        <p:nvSpPr>
          <p:cNvPr id="34827" name="Rectangle 9"/>
          <p:cNvSpPr>
            <a:spLocks noChangeArrowheads="1"/>
          </p:cNvSpPr>
          <p:nvPr/>
        </p:nvSpPr>
        <p:spPr bwMode="auto">
          <a:xfrm>
            <a:off x="22225" y="2819400"/>
            <a:ext cx="16541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2-范数</a:t>
            </a:r>
          </a:p>
        </p:txBody>
      </p:sp>
      <p:sp>
        <p:nvSpPr>
          <p:cNvPr id="34828" name="Rectangle 10"/>
          <p:cNvSpPr>
            <a:spLocks noChangeArrowheads="1"/>
          </p:cNvSpPr>
          <p:nvPr/>
        </p:nvSpPr>
        <p:spPr bwMode="auto">
          <a:xfrm>
            <a:off x="-76200" y="3581400"/>
            <a:ext cx="1730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-范数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7C6DE29-DFFE-40EF-A818-0133BA8A94ED}" type="slidenum">
              <a:rPr lang="zh-CN" altLang="en-US" b="0"/>
              <a:pPr/>
              <a:t>7</a:t>
            </a:fld>
            <a:endParaRPr lang="en-US" altLang="zh-CN" b="0"/>
          </a:p>
        </p:txBody>
      </p:sp>
      <p:sp>
        <p:nvSpPr>
          <p:cNvPr id="3584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25965FC-F25E-40AC-8156-3255ABF3D22D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(1) 向量范数定义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229600" cy="46402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mtClean="0">
                <a:sym typeface="Symbol" pitchFamily="18" charset="2"/>
              </a:rPr>
              <a:t>-范数也叫做</a:t>
            </a:r>
            <a:r>
              <a:rPr lang="zh-CN" altLang="en-US" smtClean="0"/>
              <a:t>最</a:t>
            </a:r>
            <a:r>
              <a:rPr lang="zh-CN" altLang="en-US" smtClean="0">
                <a:sym typeface="Symbol" pitchFamily="18" charset="2"/>
              </a:rPr>
              <a:t>大范数，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zh-CN" altLang="en-US" smtClean="0">
                <a:solidFill>
                  <a:srgbClr val="FF3300"/>
                </a:solidFill>
              </a:rPr>
              <a:t>1）</a:t>
            </a:r>
            <a:r>
              <a:rPr lang="zh-CN" altLang="en-US" smtClean="0">
                <a:solidFill>
                  <a:srgbClr val="FF3300"/>
                </a:solidFill>
                <a:sym typeface="Symbol" pitchFamily="18" charset="2"/>
              </a:rPr>
              <a:t>||</a:t>
            </a:r>
            <a:r>
              <a:rPr lang="en-US" altLang="zh-CN" smtClean="0">
                <a:solidFill>
                  <a:srgbClr val="FF3300"/>
                </a:solidFill>
              </a:rPr>
              <a:t>X||</a:t>
            </a:r>
            <a:r>
              <a:rPr lang="en-US" altLang="zh-CN" smtClean="0">
                <a:solidFill>
                  <a:srgbClr val="FF3300"/>
                </a:solidFill>
                <a:sym typeface="Symbol" pitchFamily="18" charset="2"/>
              </a:rPr>
              <a:t></a:t>
            </a:r>
            <a:r>
              <a:rPr lang="en-US" altLang="zh-CN" smtClean="0">
                <a:solidFill>
                  <a:srgbClr val="FF3300"/>
                </a:solidFill>
              </a:rPr>
              <a:t>0;(</a:t>
            </a:r>
            <a:r>
              <a:rPr lang="zh-CN" altLang="en-US" smtClean="0">
                <a:solidFill>
                  <a:srgbClr val="FF3300"/>
                </a:solidFill>
                <a:sym typeface="Symbol" pitchFamily="18" charset="2"/>
              </a:rPr>
              <a:t>||</a:t>
            </a:r>
            <a:r>
              <a:rPr lang="en-US" altLang="zh-CN" smtClean="0">
                <a:solidFill>
                  <a:srgbClr val="FF3300"/>
                </a:solidFill>
              </a:rPr>
              <a:t>X||=0</a:t>
            </a:r>
            <a:r>
              <a:rPr lang="zh-CN" altLang="en-US" smtClean="0">
                <a:solidFill>
                  <a:srgbClr val="FF3300"/>
                </a:solidFill>
              </a:rPr>
              <a:t>当且仅当</a:t>
            </a:r>
            <a:r>
              <a:rPr lang="en-US" altLang="zh-CN" smtClean="0">
                <a:solidFill>
                  <a:srgbClr val="FF3300"/>
                </a:solidFill>
              </a:rPr>
              <a:t>X=0)；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zh-CN" altLang="en-US" smtClean="0">
                <a:sym typeface="Symbol" pitchFamily="18" charset="2"/>
              </a:rPr>
              <a:t>向量</a:t>
            </a:r>
            <a:r>
              <a:rPr lang="en-US" altLang="zh-CN" smtClean="0">
                <a:sym typeface="Symbol" pitchFamily="18" charset="2"/>
              </a:rPr>
              <a:t>X=(</a:t>
            </a:r>
            <a:r>
              <a:rPr lang="en-US" altLang="zh-CN" sz="3200" i="1" smtClean="0"/>
              <a:t>x</a:t>
            </a:r>
            <a:r>
              <a:rPr lang="en-US" altLang="zh-CN" sz="3200" baseline="-25000" smtClean="0"/>
              <a:t>1</a:t>
            </a:r>
            <a:r>
              <a:rPr lang="en-US" altLang="zh-CN" sz="3200" smtClean="0"/>
              <a:t>,</a:t>
            </a:r>
            <a:r>
              <a:rPr lang="en-US" altLang="zh-CN" sz="3200" i="1" smtClean="0"/>
              <a:t>x</a:t>
            </a:r>
            <a:r>
              <a:rPr lang="en-US" altLang="zh-CN" sz="3200" baseline="-25000" smtClean="0"/>
              <a:t>2</a:t>
            </a:r>
            <a:r>
              <a:rPr lang="en-US" altLang="zh-CN" sz="3200" smtClean="0"/>
              <a:t>, …,</a:t>
            </a:r>
            <a:r>
              <a:rPr lang="en-US" altLang="zh-CN" sz="3200" i="1" smtClean="0"/>
              <a:t>x</a:t>
            </a:r>
            <a:r>
              <a:rPr lang="en-US" altLang="zh-CN" sz="3200" baseline="-25000" smtClean="0"/>
              <a:t>n</a:t>
            </a:r>
            <a:r>
              <a:rPr lang="zh-CN" altLang="en-US" smtClean="0">
                <a:sym typeface="Symbol" pitchFamily="18" charset="2"/>
              </a:rPr>
              <a:t>),||</a:t>
            </a:r>
            <a:r>
              <a:rPr lang="en-US" altLang="zh-CN" smtClean="0">
                <a:sym typeface="Symbol" pitchFamily="18" charset="2"/>
              </a:rPr>
              <a:t>X||</a:t>
            </a:r>
            <a:r>
              <a:rPr lang="zh-CN" altLang="en-US" baseline="-25000" smtClean="0">
                <a:sym typeface="Symbol" pitchFamily="18" charset="2"/>
              </a:rPr>
              <a:t></a:t>
            </a:r>
            <a:r>
              <a:rPr lang="zh-CN" altLang="en-US" smtClean="0">
                <a:sym typeface="Symbol" pitchFamily="18" charset="2"/>
              </a:rPr>
              <a:t>=|</a:t>
            </a:r>
            <a:r>
              <a:rPr lang="en-US" altLang="zh-CN" sz="3200" i="1" smtClean="0"/>
              <a:t>x</a:t>
            </a:r>
            <a:r>
              <a:rPr lang="en-US" altLang="zh-CN" sz="3200" i="1" baseline="-25000" smtClean="0"/>
              <a:t>k</a:t>
            </a:r>
            <a:r>
              <a:rPr lang="zh-CN" altLang="en-US" smtClean="0">
                <a:sym typeface="Symbol" pitchFamily="18" charset="2"/>
              </a:rPr>
              <a:t>|,</a:t>
            </a:r>
            <a:endParaRPr lang="en-US" altLang="zh-CN" smtClean="0">
              <a:solidFill>
                <a:srgbClr val="FF3300"/>
              </a:solidFill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zh-CN" altLang="en-US" smtClean="0">
                <a:solidFill>
                  <a:srgbClr val="FF3300"/>
                </a:solidFill>
              </a:rPr>
              <a:t>2）对任意实数</a:t>
            </a:r>
            <a:r>
              <a:rPr lang="zh-CN" altLang="en-US" smtClean="0">
                <a:solidFill>
                  <a:srgbClr val="FF3300"/>
                </a:solidFill>
                <a:sym typeface="Symbol" pitchFamily="18" charset="2"/>
              </a:rPr>
              <a:t>, ||</a:t>
            </a:r>
            <a:r>
              <a:rPr lang="en-US" altLang="zh-CN" smtClean="0">
                <a:solidFill>
                  <a:srgbClr val="FF3300"/>
                </a:solidFill>
              </a:rPr>
              <a:t>X||=|</a:t>
            </a:r>
            <a:r>
              <a:rPr lang="zh-CN" altLang="en-US" smtClean="0">
                <a:solidFill>
                  <a:srgbClr val="FF3300"/>
                </a:solidFill>
                <a:sym typeface="Symbol" pitchFamily="18" charset="2"/>
              </a:rPr>
              <a:t>| ||</a:t>
            </a:r>
            <a:r>
              <a:rPr lang="en-US" altLang="zh-CN" smtClean="0">
                <a:solidFill>
                  <a:srgbClr val="FF3300"/>
                </a:solidFill>
              </a:rPr>
              <a:t>X||；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zh-CN" altLang="en-US" smtClean="0"/>
              <a:t>任意实数</a:t>
            </a:r>
            <a:r>
              <a:rPr lang="zh-CN" altLang="en-US" smtClean="0">
                <a:sym typeface="Symbol" pitchFamily="18" charset="2"/>
              </a:rPr>
              <a:t>,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mtClean="0">
                <a:sym typeface="Symbol" pitchFamily="18" charset="2"/>
              </a:rPr>
              <a:t>      </a:t>
            </a:r>
            <a:r>
              <a:rPr lang="en-US" altLang="zh-CN" smtClean="0">
                <a:sym typeface="Symbol" pitchFamily="18" charset="2"/>
              </a:rPr>
              <a:t>X=(</a:t>
            </a:r>
            <a:r>
              <a:rPr lang="zh-CN" altLang="en-US" smtClean="0">
                <a:sym typeface="Symbol" pitchFamily="18" charset="2"/>
              </a:rPr>
              <a:t></a:t>
            </a:r>
            <a:r>
              <a:rPr lang="en-US" altLang="zh-CN" sz="3200" i="1" smtClean="0"/>
              <a:t>x</a:t>
            </a:r>
            <a:r>
              <a:rPr lang="en-US" altLang="zh-CN" sz="3200" baseline="-25000" smtClean="0"/>
              <a:t>1</a:t>
            </a:r>
            <a:r>
              <a:rPr lang="en-US" altLang="zh-CN" sz="3200" smtClean="0"/>
              <a:t>, </a:t>
            </a:r>
            <a:r>
              <a:rPr lang="zh-CN" altLang="en-US" smtClean="0">
                <a:sym typeface="Symbol" pitchFamily="18" charset="2"/>
              </a:rPr>
              <a:t></a:t>
            </a:r>
            <a:r>
              <a:rPr lang="en-US" altLang="zh-CN" sz="3200" i="1" smtClean="0"/>
              <a:t>x</a:t>
            </a:r>
            <a:r>
              <a:rPr lang="en-US" altLang="zh-CN" sz="3200" baseline="-25000" smtClean="0"/>
              <a:t>2</a:t>
            </a:r>
            <a:r>
              <a:rPr lang="en-US" altLang="zh-CN" sz="3200" smtClean="0"/>
              <a:t>, …, </a:t>
            </a:r>
            <a:r>
              <a:rPr lang="zh-CN" altLang="en-US" smtClean="0">
                <a:sym typeface="Symbol" pitchFamily="18" charset="2"/>
              </a:rPr>
              <a:t></a:t>
            </a:r>
            <a:r>
              <a:rPr lang="en-US" altLang="zh-CN" sz="3200" i="1" smtClean="0"/>
              <a:t>x</a:t>
            </a:r>
            <a:r>
              <a:rPr lang="en-US" altLang="zh-CN" sz="3200" baseline="-25000" smtClean="0"/>
              <a:t>n</a:t>
            </a:r>
            <a:r>
              <a:rPr lang="zh-CN" altLang="en-US" smtClean="0">
                <a:sym typeface="Symbol" pitchFamily="18" charset="2"/>
              </a:rPr>
              <a:t>),</a:t>
            </a:r>
            <a:r>
              <a:rPr lang="zh-CN" altLang="en-US" smtClean="0">
                <a:solidFill>
                  <a:srgbClr val="FF3300"/>
                </a:solidFill>
              </a:rPr>
              <a:t> </a:t>
            </a:r>
            <a:r>
              <a:rPr lang="zh-CN" altLang="en-US" smtClean="0">
                <a:sym typeface="Symbol" pitchFamily="18" charset="2"/>
              </a:rPr>
              <a:t>|| </a:t>
            </a:r>
            <a:r>
              <a:rPr lang="en-US" altLang="zh-CN" smtClean="0">
                <a:sym typeface="Symbol" pitchFamily="18" charset="2"/>
              </a:rPr>
              <a:t>X||</a:t>
            </a:r>
            <a:r>
              <a:rPr lang="zh-CN" altLang="en-US" baseline="-25000" smtClean="0">
                <a:sym typeface="Symbol" pitchFamily="18" charset="2"/>
              </a:rPr>
              <a:t></a:t>
            </a:r>
            <a:r>
              <a:rPr lang="zh-CN" altLang="en-US" smtClean="0">
                <a:sym typeface="Symbol" pitchFamily="18" charset="2"/>
              </a:rPr>
              <a:t>=| </a:t>
            </a:r>
            <a:r>
              <a:rPr lang="en-US" altLang="zh-CN" sz="3200" i="1" smtClean="0"/>
              <a:t>x</a:t>
            </a:r>
            <a:r>
              <a:rPr lang="en-US" altLang="zh-CN" sz="3200" i="1" baseline="-25000" smtClean="0"/>
              <a:t>k</a:t>
            </a:r>
            <a:r>
              <a:rPr lang="zh-CN" altLang="en-US" smtClean="0">
                <a:sym typeface="Symbol" pitchFamily="18" charset="2"/>
              </a:rPr>
              <a:t>| =|| |</a:t>
            </a:r>
            <a:r>
              <a:rPr lang="en-US" altLang="zh-CN" sz="3200" i="1" smtClean="0"/>
              <a:t>x</a:t>
            </a:r>
            <a:r>
              <a:rPr lang="en-US" altLang="zh-CN" sz="3200" i="1" baseline="-25000" smtClean="0"/>
              <a:t>k</a:t>
            </a:r>
            <a:r>
              <a:rPr lang="zh-CN" altLang="en-US" smtClean="0">
                <a:sym typeface="Symbol" pitchFamily="18" charset="2"/>
              </a:rPr>
              <a:t>|</a:t>
            </a:r>
            <a:endParaRPr lang="zh-CN" altLang="en-US" smtClean="0">
              <a:solidFill>
                <a:srgbClr val="FF3300"/>
              </a:solidFill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mtClean="0">
                <a:solidFill>
                  <a:srgbClr val="FF3300"/>
                </a:solidFill>
              </a:rPr>
              <a:t>	 3）对任意向量</a:t>
            </a:r>
            <a:r>
              <a:rPr lang="en-US" altLang="zh-CN" smtClean="0">
                <a:solidFill>
                  <a:srgbClr val="FF3300"/>
                </a:solidFill>
              </a:rPr>
              <a:t>Y</a:t>
            </a:r>
            <a:r>
              <a:rPr lang="en-US" altLang="zh-CN" smtClean="0">
                <a:solidFill>
                  <a:srgbClr val="FF3300"/>
                </a:solidFill>
                <a:sym typeface="Symbol" pitchFamily="18" charset="2"/>
              </a:rPr>
              <a:t>R</a:t>
            </a:r>
            <a:r>
              <a:rPr lang="en-US" altLang="zh-CN" baseline="30000" smtClean="0">
                <a:solidFill>
                  <a:srgbClr val="FF3300"/>
                </a:solidFill>
                <a:sym typeface="Symbol" pitchFamily="18" charset="2"/>
              </a:rPr>
              <a:t>n</a:t>
            </a:r>
            <a:r>
              <a:rPr lang="en-US" altLang="zh-CN" smtClean="0">
                <a:solidFill>
                  <a:srgbClr val="FF3300"/>
                </a:solidFill>
                <a:sym typeface="Symbol" pitchFamily="18" charset="2"/>
              </a:rPr>
              <a:t>，</a:t>
            </a:r>
            <a:r>
              <a:rPr lang="zh-CN" altLang="en-US" smtClean="0">
                <a:solidFill>
                  <a:srgbClr val="FF3300"/>
                </a:solidFill>
                <a:sym typeface="Symbol" pitchFamily="18" charset="2"/>
              </a:rPr>
              <a:t>||</a:t>
            </a:r>
            <a:r>
              <a:rPr lang="en-US" altLang="zh-CN" smtClean="0">
                <a:solidFill>
                  <a:srgbClr val="FF3300"/>
                </a:solidFill>
              </a:rPr>
              <a:t>X+Y|| </a:t>
            </a:r>
            <a:r>
              <a:rPr lang="en-US" altLang="zh-CN" smtClean="0">
                <a:solidFill>
                  <a:srgbClr val="FF3300"/>
                </a:solidFill>
                <a:sym typeface="Symbol" pitchFamily="18" charset="2"/>
              </a:rPr>
              <a:t> </a:t>
            </a:r>
            <a:r>
              <a:rPr lang="zh-CN" altLang="en-US" smtClean="0">
                <a:solidFill>
                  <a:srgbClr val="FF3300"/>
                </a:solidFill>
                <a:sym typeface="Symbol" pitchFamily="18" charset="2"/>
              </a:rPr>
              <a:t>||</a:t>
            </a:r>
            <a:r>
              <a:rPr lang="en-US" altLang="zh-CN" smtClean="0">
                <a:solidFill>
                  <a:srgbClr val="FF3300"/>
                </a:solidFill>
              </a:rPr>
              <a:t>X||+||Y||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zh-CN" altLang="en-US" smtClean="0">
                <a:sym typeface="Symbol" pitchFamily="18" charset="2"/>
              </a:rPr>
              <a:t>向量</a:t>
            </a:r>
            <a:r>
              <a:rPr lang="en-US" altLang="zh-CN" smtClean="0">
                <a:sym typeface="Symbol" pitchFamily="18" charset="2"/>
              </a:rPr>
              <a:t>Y=(</a:t>
            </a:r>
            <a:r>
              <a:rPr lang="en-US" altLang="zh-CN" sz="3200" i="1" smtClean="0"/>
              <a:t>y</a:t>
            </a:r>
            <a:r>
              <a:rPr lang="en-US" altLang="zh-CN" sz="3200" baseline="-25000" smtClean="0"/>
              <a:t>1</a:t>
            </a:r>
            <a:r>
              <a:rPr lang="en-US" altLang="zh-CN" sz="3200" smtClean="0"/>
              <a:t>,</a:t>
            </a:r>
            <a:r>
              <a:rPr lang="en-US" altLang="zh-CN" sz="3200" i="1" smtClean="0"/>
              <a:t>y</a:t>
            </a:r>
            <a:r>
              <a:rPr lang="en-US" altLang="zh-CN" sz="3200" baseline="-25000" smtClean="0"/>
              <a:t>2</a:t>
            </a:r>
            <a:r>
              <a:rPr lang="en-US" altLang="zh-CN" sz="3200" smtClean="0"/>
              <a:t>, …,</a:t>
            </a:r>
            <a:r>
              <a:rPr lang="en-US" altLang="zh-CN" sz="3200" i="1" smtClean="0"/>
              <a:t>y</a:t>
            </a:r>
            <a:r>
              <a:rPr lang="en-US" altLang="zh-CN" sz="3200" baseline="-25000" smtClean="0"/>
              <a:t>n</a:t>
            </a:r>
            <a:r>
              <a:rPr lang="zh-CN" altLang="en-US" smtClean="0">
                <a:sym typeface="Symbol" pitchFamily="18" charset="2"/>
              </a:rPr>
              <a:t>),||</a:t>
            </a:r>
            <a:r>
              <a:rPr lang="en-US" altLang="zh-CN" smtClean="0">
                <a:sym typeface="Symbol" pitchFamily="18" charset="2"/>
              </a:rPr>
              <a:t>Y||</a:t>
            </a:r>
            <a:r>
              <a:rPr lang="zh-CN" altLang="en-US" baseline="-25000" smtClean="0">
                <a:sym typeface="Symbol" pitchFamily="18" charset="2"/>
              </a:rPr>
              <a:t></a:t>
            </a:r>
            <a:r>
              <a:rPr lang="zh-CN" altLang="en-US" smtClean="0">
                <a:sym typeface="Symbol" pitchFamily="18" charset="2"/>
              </a:rPr>
              <a:t>=|</a:t>
            </a:r>
            <a:r>
              <a:rPr lang="en-US" altLang="zh-CN" sz="3200" i="1" smtClean="0"/>
              <a:t>y</a:t>
            </a:r>
            <a:r>
              <a:rPr lang="en-US" altLang="zh-CN" sz="3200" i="1" baseline="-25000" smtClean="0"/>
              <a:t>j</a:t>
            </a:r>
            <a:r>
              <a:rPr lang="zh-CN" altLang="en-US" smtClean="0">
                <a:sym typeface="Symbol" pitchFamily="18" charset="2"/>
              </a:rPr>
              <a:t>|,</a:t>
            </a:r>
            <a:endParaRPr lang="en-US" altLang="zh-CN" smtClean="0">
              <a:solidFill>
                <a:srgbClr val="FF3300"/>
              </a:solidFill>
            </a:endParaRPr>
          </a:p>
          <a:p>
            <a:pPr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mtClean="0">
                <a:sym typeface="Symbol" pitchFamily="18" charset="2"/>
              </a:rPr>
              <a:t>    向量</a:t>
            </a:r>
            <a:r>
              <a:rPr lang="en-US" altLang="zh-CN" smtClean="0">
                <a:sym typeface="Symbol" pitchFamily="18" charset="2"/>
              </a:rPr>
              <a:t>X+Y=(</a:t>
            </a:r>
            <a:r>
              <a:rPr lang="en-US" altLang="zh-CN" sz="3200" i="1" smtClean="0"/>
              <a:t>x</a:t>
            </a:r>
            <a:r>
              <a:rPr lang="en-US" altLang="zh-CN" sz="3200" baseline="-25000" smtClean="0"/>
              <a:t>1</a:t>
            </a:r>
            <a:r>
              <a:rPr lang="en-US" altLang="zh-CN" smtClean="0">
                <a:sym typeface="Symbol" pitchFamily="18" charset="2"/>
              </a:rPr>
              <a:t>+</a:t>
            </a:r>
            <a:r>
              <a:rPr lang="en-US" altLang="zh-CN" sz="3200" i="1" smtClean="0"/>
              <a:t>y</a:t>
            </a:r>
            <a:r>
              <a:rPr lang="en-US" altLang="zh-CN" sz="3200" baseline="-25000" smtClean="0"/>
              <a:t>1</a:t>
            </a:r>
            <a:r>
              <a:rPr lang="en-US" altLang="zh-CN" sz="3200" smtClean="0"/>
              <a:t>, </a:t>
            </a:r>
            <a:r>
              <a:rPr lang="en-US" altLang="zh-CN" sz="3200" i="1" smtClean="0"/>
              <a:t>x</a:t>
            </a:r>
            <a:r>
              <a:rPr lang="en-US" altLang="zh-CN" sz="3200" baseline="-25000" smtClean="0"/>
              <a:t>2</a:t>
            </a:r>
            <a:r>
              <a:rPr lang="en-US" altLang="zh-CN" sz="3200" smtClean="0"/>
              <a:t>+</a:t>
            </a:r>
            <a:r>
              <a:rPr lang="en-US" altLang="zh-CN" sz="3200" i="1" smtClean="0"/>
              <a:t>y</a:t>
            </a:r>
            <a:r>
              <a:rPr lang="en-US" altLang="zh-CN" sz="3200" baseline="-25000" smtClean="0"/>
              <a:t>2</a:t>
            </a:r>
            <a:r>
              <a:rPr lang="en-US" altLang="zh-CN" sz="3200" smtClean="0"/>
              <a:t>, …, </a:t>
            </a:r>
            <a:r>
              <a:rPr lang="en-US" altLang="zh-CN" sz="3200" i="1" smtClean="0"/>
              <a:t>x</a:t>
            </a:r>
            <a:r>
              <a:rPr lang="en-US" altLang="zh-CN" sz="3200" baseline="-25000" smtClean="0"/>
              <a:t>n</a:t>
            </a:r>
            <a:r>
              <a:rPr lang="en-US" altLang="zh-CN" sz="3200" smtClean="0"/>
              <a:t>+</a:t>
            </a:r>
            <a:r>
              <a:rPr lang="en-US" altLang="zh-CN" sz="3200" i="1" smtClean="0"/>
              <a:t>y</a:t>
            </a:r>
            <a:r>
              <a:rPr lang="en-US" altLang="zh-CN" sz="3200" baseline="-25000" smtClean="0"/>
              <a:t>n</a:t>
            </a:r>
            <a:r>
              <a:rPr lang="zh-CN" altLang="en-US" smtClean="0">
                <a:sym typeface="Symbol" pitchFamily="18" charset="2"/>
              </a:rPr>
              <a:t>),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mtClean="0">
                <a:sym typeface="Symbol" pitchFamily="18" charset="2"/>
              </a:rPr>
              <a:t>    ||</a:t>
            </a:r>
            <a:r>
              <a:rPr lang="en-US" altLang="zh-CN" smtClean="0">
                <a:sym typeface="Symbol" pitchFamily="18" charset="2"/>
              </a:rPr>
              <a:t>X+Y||</a:t>
            </a:r>
            <a:r>
              <a:rPr lang="zh-CN" altLang="en-US" baseline="-25000" smtClean="0">
                <a:sym typeface="Symbol" pitchFamily="18" charset="2"/>
              </a:rPr>
              <a:t></a:t>
            </a:r>
            <a:r>
              <a:rPr lang="zh-CN" altLang="en-US" smtClean="0">
                <a:sym typeface="Symbol" pitchFamily="18" charset="2"/>
              </a:rPr>
              <a:t>=| </a:t>
            </a:r>
            <a:r>
              <a:rPr lang="en-US" altLang="zh-CN" sz="3200" i="1" smtClean="0"/>
              <a:t>x</a:t>
            </a:r>
            <a:r>
              <a:rPr lang="en-US" altLang="zh-CN" sz="3200" i="1" baseline="-25000" smtClean="0"/>
              <a:t>k</a:t>
            </a:r>
            <a:r>
              <a:rPr lang="zh-CN" altLang="en-US" smtClean="0">
                <a:sym typeface="Symbol" pitchFamily="18" charset="2"/>
              </a:rPr>
              <a:t> +</a:t>
            </a:r>
            <a:r>
              <a:rPr lang="en-US" altLang="zh-CN" sz="3200" i="1" smtClean="0"/>
              <a:t>y</a:t>
            </a:r>
            <a:r>
              <a:rPr lang="en-US" altLang="zh-CN" sz="3200" i="1" baseline="-25000" smtClean="0"/>
              <a:t>k</a:t>
            </a:r>
            <a:r>
              <a:rPr lang="zh-CN" altLang="en-US" smtClean="0">
                <a:sym typeface="Symbol" pitchFamily="18" charset="2"/>
              </a:rPr>
              <a:t>| </a:t>
            </a:r>
            <a:r>
              <a:rPr lang="en-US" altLang="zh-CN" sz="3200" smtClean="0">
                <a:sym typeface="Symbol" pitchFamily="18" charset="2"/>
              </a:rPr>
              <a:t> </a:t>
            </a:r>
            <a:r>
              <a:rPr lang="zh-CN" altLang="en-US" smtClean="0">
                <a:sym typeface="Symbol" pitchFamily="18" charset="2"/>
              </a:rPr>
              <a:t>|</a:t>
            </a:r>
            <a:r>
              <a:rPr lang="en-US" altLang="zh-CN" sz="3200" i="1" smtClean="0"/>
              <a:t>x</a:t>
            </a:r>
            <a:r>
              <a:rPr lang="en-US" altLang="zh-CN" sz="3200" i="1" baseline="-25000" smtClean="0"/>
              <a:t>i</a:t>
            </a:r>
            <a:r>
              <a:rPr lang="zh-CN" altLang="en-US" smtClean="0">
                <a:sym typeface="Symbol" pitchFamily="18" charset="2"/>
              </a:rPr>
              <a:t>|+ |</a:t>
            </a:r>
            <a:r>
              <a:rPr lang="en-US" altLang="zh-CN" sz="3200" i="1" smtClean="0"/>
              <a:t>y</a:t>
            </a:r>
            <a:r>
              <a:rPr lang="en-US" altLang="zh-CN" sz="3200" i="1" baseline="-25000" smtClean="0"/>
              <a:t>j</a:t>
            </a:r>
            <a:r>
              <a:rPr lang="zh-CN" altLang="en-US" smtClean="0">
                <a:sym typeface="Symbol" pitchFamily="18" charset="2"/>
              </a:rPr>
              <a:t>|</a:t>
            </a:r>
          </a:p>
        </p:txBody>
      </p:sp>
      <p:graphicFrame>
        <p:nvGraphicFramePr>
          <p:cNvPr id="35846" name="Object 4"/>
          <p:cNvGraphicFramePr>
            <a:graphicFrameLocks noChangeAspect="1"/>
          </p:cNvGraphicFramePr>
          <p:nvPr/>
        </p:nvGraphicFramePr>
        <p:xfrm>
          <a:off x="685800" y="1143000"/>
          <a:ext cx="7532688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6" name="Equation" r:id="rId4" imgW="2933700" imgH="279400" progId="Equation.3">
                  <p:embed/>
                </p:oleObj>
              </mc:Choice>
              <mc:Fallback>
                <p:oleObj name="Equation" r:id="rId4" imgW="2933700" imgH="279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143000"/>
                        <a:ext cx="7532688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F68D5908-92D8-4735-9078-77C5F8289A1A}" type="slidenum">
              <a:rPr lang="zh-CN" altLang="en-US" b="0"/>
              <a:pPr/>
              <a:t>8</a:t>
            </a:fld>
            <a:endParaRPr lang="en-US" altLang="zh-CN" b="0"/>
          </a:p>
        </p:txBody>
      </p:sp>
      <p:sp>
        <p:nvSpPr>
          <p:cNvPr id="3686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897B93A-3934-4140-A33E-F883F1504984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1) 向量范数定义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5703888"/>
            <a:ext cx="8142288" cy="438150"/>
          </a:xfrm>
        </p:spPr>
        <p:txBody>
          <a:bodyPr/>
          <a:lstStyle/>
          <a:p>
            <a:r>
              <a:rPr lang="zh-CN" altLang="en-US" sz="3200" smtClean="0"/>
              <a:t>用记号 || . ||  泛指任何一种向量范数。</a:t>
            </a:r>
          </a:p>
        </p:txBody>
      </p:sp>
      <p:graphicFrame>
        <p:nvGraphicFramePr>
          <p:cNvPr id="36870" name="Object 4"/>
          <p:cNvGraphicFramePr>
            <a:graphicFrameLocks noChangeAspect="1"/>
          </p:cNvGraphicFramePr>
          <p:nvPr/>
        </p:nvGraphicFramePr>
        <p:xfrm>
          <a:off x="990600" y="3810000"/>
          <a:ext cx="7535863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3" name="Equation" r:id="rId4" imgW="2933700" imgH="469900" progId="Equation.3">
                  <p:embed/>
                </p:oleObj>
              </mc:Choice>
              <mc:Fallback>
                <p:oleObj name="Equation" r:id="rId4" imgW="29337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810000"/>
                        <a:ext cx="7535863" cy="120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6"/>
          <p:cNvGraphicFramePr>
            <a:graphicFrameLocks noChangeAspect="1"/>
          </p:cNvGraphicFramePr>
          <p:nvPr/>
        </p:nvGraphicFramePr>
        <p:xfrm>
          <a:off x="1577975" y="1143000"/>
          <a:ext cx="629443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4" name="Equation" r:id="rId6" imgW="2451100" imgH="431800" progId="Equation.3">
                  <p:embed/>
                </p:oleObj>
              </mc:Choice>
              <mc:Fallback>
                <p:oleObj name="Equation" r:id="rId6" imgW="24511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975" y="1143000"/>
                        <a:ext cx="6294438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7"/>
          <p:cNvGraphicFramePr>
            <a:graphicFrameLocks noChangeAspect="1"/>
          </p:cNvGraphicFramePr>
          <p:nvPr/>
        </p:nvGraphicFramePr>
        <p:xfrm>
          <a:off x="1577975" y="2057400"/>
          <a:ext cx="67818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5" name="Equation" r:id="rId8" imgW="2641600" imgH="457200" progId="Equation.3">
                  <p:embed/>
                </p:oleObj>
              </mc:Choice>
              <mc:Fallback>
                <p:oleObj name="Equation" r:id="rId8" imgW="26416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975" y="2057400"/>
                        <a:ext cx="6781800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8"/>
          <p:cNvGraphicFramePr>
            <a:graphicFrameLocks noChangeAspect="1"/>
          </p:cNvGraphicFramePr>
          <p:nvPr/>
        </p:nvGraphicFramePr>
        <p:xfrm>
          <a:off x="1589088" y="3276600"/>
          <a:ext cx="753268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6" name="Equation" r:id="rId10" imgW="2933700" imgH="279400" progId="Equation.3">
                  <p:embed/>
                </p:oleObj>
              </mc:Choice>
              <mc:Fallback>
                <p:oleObj name="Equation" r:id="rId10" imgW="2933700" imgH="279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3276600"/>
                        <a:ext cx="7532687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Rectangle 9"/>
          <p:cNvSpPr>
            <a:spLocks noChangeArrowheads="1"/>
          </p:cNvSpPr>
          <p:nvPr/>
        </p:nvSpPr>
        <p:spPr bwMode="auto">
          <a:xfrm>
            <a:off x="304800" y="1447800"/>
            <a:ext cx="1338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1-范数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04800" y="2438400"/>
            <a:ext cx="1338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2-范数</a:t>
            </a:r>
          </a:p>
        </p:txBody>
      </p:sp>
      <p:sp>
        <p:nvSpPr>
          <p:cNvPr id="36876" name="Rectangle 11"/>
          <p:cNvSpPr>
            <a:spLocks noChangeArrowheads="1"/>
          </p:cNvSpPr>
          <p:nvPr/>
        </p:nvSpPr>
        <p:spPr bwMode="auto">
          <a:xfrm>
            <a:off x="304800" y="3200400"/>
            <a:ext cx="1425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-范数</a:t>
            </a:r>
          </a:p>
        </p:txBody>
      </p:sp>
      <p:graphicFrame>
        <p:nvGraphicFramePr>
          <p:cNvPr id="36877" name="Object 12"/>
          <p:cNvGraphicFramePr>
            <a:graphicFrameLocks noChangeAspect="1"/>
          </p:cNvGraphicFramePr>
          <p:nvPr/>
        </p:nvGraphicFramePr>
        <p:xfrm>
          <a:off x="1828800" y="4876800"/>
          <a:ext cx="3973513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7" name="Equation" r:id="rId12" imgW="1612900" imgH="292100" progId="Equation.3">
                  <p:embed/>
                </p:oleObj>
              </mc:Choice>
              <mc:Fallback>
                <p:oleObj name="Equation" r:id="rId12" imgW="1612900" imgH="292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876800"/>
                        <a:ext cx="3973513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FED93C38-ED16-4656-A033-E8B0D1680285}" type="slidenum">
              <a:rPr lang="zh-CN" altLang="en-US" b="0"/>
              <a:pPr/>
              <a:t>9</a:t>
            </a:fld>
            <a:endParaRPr lang="en-US" altLang="zh-CN" b="0"/>
          </a:p>
        </p:txBody>
      </p:sp>
      <p:sp>
        <p:nvSpPr>
          <p:cNvPr id="3789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BFB08134-CEA9-4748-B28C-71BA00414153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66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1) 向量范数定义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543925" cy="1450975"/>
          </a:xfrm>
        </p:spPr>
        <p:txBody>
          <a:bodyPr/>
          <a:lstStyle/>
          <a:p>
            <a:r>
              <a:rPr lang="zh-CN" altLang="en-US" smtClean="0"/>
              <a:t>例：计算向量</a:t>
            </a:r>
            <a:r>
              <a:rPr lang="en-US" altLang="zh-CN" smtClean="0"/>
              <a:t>X=(1,-2,3),Y=(3,4,0)</a:t>
            </a:r>
            <a:r>
              <a:rPr lang="zh-CN" altLang="en-US" smtClean="0"/>
              <a:t>的各种范数</a:t>
            </a:r>
          </a:p>
          <a:p>
            <a:r>
              <a:rPr lang="zh-CN" altLang="en-US" smtClean="0"/>
              <a:t>解:  </a:t>
            </a:r>
            <a:r>
              <a:rPr lang="zh-CN" altLang="en-US" smtClean="0">
                <a:sym typeface="Symbol" pitchFamily="18" charset="2"/>
              </a:rPr>
              <a:t>||</a:t>
            </a:r>
            <a:r>
              <a:rPr lang="en-US" altLang="zh-CN" smtClean="0">
                <a:sym typeface="Symbol" pitchFamily="18" charset="2"/>
              </a:rPr>
              <a:t>X||</a:t>
            </a:r>
            <a:r>
              <a:rPr lang="zh-CN" altLang="en-US" baseline="-25000" smtClean="0">
                <a:sym typeface="Symbol" pitchFamily="18" charset="2"/>
              </a:rPr>
              <a:t>1</a:t>
            </a:r>
            <a:r>
              <a:rPr lang="zh-CN" altLang="en-US" smtClean="0">
                <a:sym typeface="Symbol" pitchFamily="18" charset="2"/>
              </a:rPr>
              <a:t>=1+2+3=6            </a:t>
            </a:r>
          </a:p>
          <a:p>
            <a:pPr>
              <a:buFont typeface="Wingdings" pitchFamily="2" charset="2"/>
              <a:buNone/>
            </a:pPr>
            <a:r>
              <a:rPr lang="zh-CN" altLang="en-US" smtClean="0">
                <a:sym typeface="Symbol" pitchFamily="18" charset="2"/>
              </a:rPr>
              <a:t>		  ||</a:t>
            </a:r>
            <a:r>
              <a:rPr lang="en-US" altLang="zh-CN" smtClean="0">
                <a:sym typeface="Symbol" pitchFamily="18" charset="2"/>
              </a:rPr>
              <a:t>X||</a:t>
            </a:r>
            <a:r>
              <a:rPr lang="zh-CN" altLang="en-US" baseline="-25000" smtClean="0">
                <a:sym typeface="Symbol" pitchFamily="18" charset="2"/>
              </a:rPr>
              <a:t></a:t>
            </a:r>
            <a:r>
              <a:rPr lang="zh-CN" altLang="en-US" smtClean="0">
                <a:sym typeface="Symbol" pitchFamily="18" charset="2"/>
              </a:rPr>
              <a:t>=3</a:t>
            </a:r>
          </a:p>
        </p:txBody>
      </p:sp>
      <p:graphicFrame>
        <p:nvGraphicFramePr>
          <p:cNvPr id="566276" name="Object 4"/>
          <p:cNvGraphicFramePr>
            <a:graphicFrameLocks noChangeAspect="1"/>
          </p:cNvGraphicFramePr>
          <p:nvPr/>
        </p:nvGraphicFramePr>
        <p:xfrm>
          <a:off x="1524000" y="2543175"/>
          <a:ext cx="35052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7" name="Equation" r:id="rId4" imgW="1853396" imgH="266584" progId="Equation.3">
                  <p:embed/>
                </p:oleObj>
              </mc:Choice>
              <mc:Fallback>
                <p:oleObj name="Equation" r:id="rId4" imgW="1853396" imgH="26658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543175"/>
                        <a:ext cx="3505200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410200" y="1676400"/>
            <a:ext cx="3200400" cy="1524000"/>
            <a:chOff x="3504" y="1056"/>
            <a:chExt cx="2052" cy="1056"/>
          </a:xfrm>
        </p:grpSpPr>
        <p:sp>
          <p:nvSpPr>
            <p:cNvPr id="37898" name="Rectangle 5"/>
            <p:cNvSpPr>
              <a:spLocks noChangeArrowheads="1"/>
            </p:cNvSpPr>
            <p:nvPr/>
          </p:nvSpPr>
          <p:spPr bwMode="auto">
            <a:xfrm>
              <a:off x="3504" y="1056"/>
              <a:ext cx="1680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70000"/>
                </a:lnSpc>
                <a:spcBef>
                  <a:spcPct val="50000"/>
                </a:spcBef>
                <a:buClr>
                  <a:srgbClr val="27305F"/>
                </a:buClr>
                <a:buSzPct val="60000"/>
                <a:buFont typeface="Wingdings" pitchFamily="2" charset="2"/>
                <a:buNone/>
              </a:pPr>
              <a:r>
                <a:rPr lang="zh-CN" altLang="en-US" sz="2800">
                  <a:latin typeface="Times New Roman" pitchFamily="18" charset="0"/>
                  <a:sym typeface="Symbol" pitchFamily="18" charset="2"/>
                </a:rPr>
                <a:t>||</a:t>
              </a:r>
              <a:r>
                <a:rPr lang="en-US" altLang="zh-CN" sz="2800">
                  <a:latin typeface="Times New Roman" pitchFamily="18" charset="0"/>
                  <a:sym typeface="Symbol" pitchFamily="18" charset="2"/>
                </a:rPr>
                <a:t>Y||</a:t>
              </a:r>
              <a:r>
                <a:rPr lang="zh-CN" altLang="en-US" sz="2800" baseline="-25000">
                  <a:latin typeface="Times New Roman" pitchFamily="18" charset="0"/>
                  <a:sym typeface="Symbol" pitchFamily="18" charset="2"/>
                </a:rPr>
                <a:t>1</a:t>
              </a:r>
              <a:r>
                <a:rPr lang="zh-CN" altLang="en-US" sz="2800">
                  <a:latin typeface="Times New Roman" pitchFamily="18" charset="0"/>
                  <a:sym typeface="Symbol" pitchFamily="18" charset="2"/>
                </a:rPr>
                <a:t>=3+4+0=7           </a:t>
              </a:r>
            </a:p>
            <a:p>
              <a:pPr algn="l">
                <a:lnSpc>
                  <a:spcPct val="70000"/>
                </a:lnSpc>
                <a:spcBef>
                  <a:spcPct val="50000"/>
                </a:spcBef>
                <a:buClr>
                  <a:srgbClr val="27305F"/>
                </a:buClr>
                <a:buSzPct val="60000"/>
                <a:buFont typeface="Wingdings" pitchFamily="2" charset="2"/>
                <a:buNone/>
              </a:pPr>
              <a:r>
                <a:rPr lang="zh-CN" altLang="en-US" sz="2800">
                  <a:latin typeface="Times New Roman" pitchFamily="18" charset="0"/>
                  <a:sym typeface="Symbol" pitchFamily="18" charset="2"/>
                </a:rPr>
                <a:t>||</a:t>
              </a:r>
              <a:r>
                <a:rPr lang="en-US" altLang="zh-CN" sz="2800">
                  <a:latin typeface="Times New Roman" pitchFamily="18" charset="0"/>
                  <a:sym typeface="Symbol" pitchFamily="18" charset="2"/>
                </a:rPr>
                <a:t>Y||</a:t>
              </a:r>
              <a:r>
                <a:rPr lang="zh-CN" altLang="en-US" sz="2800" baseline="-25000">
                  <a:latin typeface="Times New Roman" pitchFamily="18" charset="0"/>
                  <a:sym typeface="Symbol" pitchFamily="18" charset="2"/>
                </a:rPr>
                <a:t></a:t>
              </a:r>
              <a:r>
                <a:rPr lang="zh-CN" altLang="en-US" sz="2800">
                  <a:latin typeface="Times New Roman" pitchFamily="18" charset="0"/>
                  <a:sym typeface="Symbol" pitchFamily="18" charset="2"/>
                </a:rPr>
                <a:t>=4</a:t>
              </a:r>
            </a:p>
          </p:txBody>
        </p:sp>
        <p:graphicFrame>
          <p:nvGraphicFramePr>
            <p:cNvPr id="37899" name="Object 6"/>
            <p:cNvGraphicFramePr>
              <a:graphicFrameLocks noChangeAspect="1"/>
            </p:cNvGraphicFramePr>
            <p:nvPr/>
          </p:nvGraphicFramePr>
          <p:xfrm>
            <a:off x="3552" y="1706"/>
            <a:ext cx="2004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58" name="Equation" r:id="rId6" imgW="1637589" imgH="266584" progId="Equation.3">
                    <p:embed/>
                  </p:oleObj>
                </mc:Choice>
                <mc:Fallback>
                  <p:oleObj name="Equation" r:id="rId6" imgW="1637589" imgH="266584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706"/>
                          <a:ext cx="2004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6280" name="Rectangle 8"/>
          <p:cNvSpPr>
            <a:spLocks noChangeArrowheads="1"/>
          </p:cNvSpPr>
          <p:nvPr/>
        </p:nvSpPr>
        <p:spPr bwMode="auto">
          <a:xfrm>
            <a:off x="544513" y="3276600"/>
            <a:ext cx="8131943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 dirty="0">
                <a:ea typeface="黑体" pitchFamily="49" charset="-122"/>
              </a:rPr>
              <a:t>向量范数是用来</a:t>
            </a:r>
            <a:r>
              <a:rPr lang="zh-CN" altLang="en-US" sz="2800" dirty="0">
                <a:solidFill>
                  <a:srgbClr val="FF3300"/>
                </a:solidFill>
                <a:ea typeface="黑体" pitchFamily="49" charset="-122"/>
              </a:rPr>
              <a:t>定义向量长度</a:t>
            </a:r>
            <a:r>
              <a:rPr lang="zh-CN" altLang="en-US" sz="2800" dirty="0">
                <a:ea typeface="黑体" pitchFamily="49" charset="-122"/>
              </a:rPr>
              <a:t>的(向量“大小”)，</a:t>
            </a:r>
            <a:endParaRPr lang="zh-CN" altLang="en-US" sz="2800" dirty="0">
              <a:latin typeface="Times New Roman" pitchFamily="18" charset="0"/>
              <a:ea typeface="黑体" pitchFamily="49" charset="-122"/>
              <a:sym typeface="Symbol" pitchFamily="18" charset="2"/>
            </a:endParaRP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 dirty="0">
                <a:ea typeface="黑体" pitchFamily="49" charset="-122"/>
              </a:rPr>
              <a:t>可以</a:t>
            </a:r>
            <a:r>
              <a:rPr lang="zh-CN" altLang="en-US" sz="2800" dirty="0">
                <a:solidFill>
                  <a:srgbClr val="FF3300"/>
                </a:solidFill>
                <a:ea typeface="黑体" pitchFamily="49" charset="-122"/>
              </a:rPr>
              <a:t>度量</a:t>
            </a:r>
            <a:r>
              <a:rPr lang="zh-CN" altLang="en-US" sz="2800" dirty="0">
                <a:ea typeface="黑体" pitchFamily="49" charset="-122"/>
              </a:rPr>
              <a:t>两个向量以及两个矩阵间的“</a:t>
            </a:r>
            <a:r>
              <a:rPr lang="zh-CN" altLang="en-US" sz="2800" dirty="0">
                <a:solidFill>
                  <a:srgbClr val="FF3300"/>
                </a:solidFill>
                <a:ea typeface="黑体" pitchFamily="49" charset="-122"/>
              </a:rPr>
              <a:t>距离</a:t>
            </a:r>
            <a:r>
              <a:rPr lang="zh-CN" altLang="en-US" sz="2800" dirty="0">
                <a:ea typeface="黑体" pitchFamily="49" charset="-122"/>
              </a:rPr>
              <a:t>”，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</a:rPr>
              <a:t>表示向量的误差。</a:t>
            </a:r>
          </a:p>
          <a:p>
            <a:pPr marL="649288" lvl="1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FontTx/>
              <a:buChar char="–"/>
            </a:pPr>
            <a:r>
              <a:rPr lang="en-US" altLang="zh-CN" sz="280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AX=B     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是精确解，</a:t>
            </a:r>
            <a:r>
              <a:rPr lang="en-US" altLang="zh-CN" sz="280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X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为其近似解，</a:t>
            </a:r>
          </a:p>
          <a:p>
            <a:pPr marL="649288" lvl="1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</a:pPr>
            <a:r>
              <a:rPr lang="zh-CN" altLang="en-US" sz="280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                   绝对误差    ||</a:t>
            </a:r>
            <a:r>
              <a:rPr lang="en-US" altLang="zh-CN" sz="280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X-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</a:t>
            </a:r>
            <a:r>
              <a:rPr lang="en-US" altLang="zh-CN" sz="280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||，</a:t>
            </a:r>
          </a:p>
          <a:p>
            <a:pPr marL="649288" lvl="1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</a:pPr>
            <a:r>
              <a:rPr lang="zh-CN" altLang="en-US" sz="280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 			     相对误差</a:t>
            </a:r>
          </a:p>
        </p:txBody>
      </p:sp>
      <p:graphicFrame>
        <p:nvGraphicFramePr>
          <p:cNvPr id="566281" name="Object 9"/>
          <p:cNvGraphicFramePr>
            <a:graphicFrameLocks noChangeAspect="1"/>
          </p:cNvGraphicFramePr>
          <p:nvPr/>
        </p:nvGraphicFramePr>
        <p:xfrm>
          <a:off x="4343400" y="5638800"/>
          <a:ext cx="266700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9" name="Equation" r:id="rId8" imgW="1206500" imgH="482600" progId="Equation.3">
                  <p:embed/>
                </p:oleObj>
              </mc:Choice>
              <mc:Fallback>
                <p:oleObj name="Equation" r:id="rId8" imgW="12065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638800"/>
                        <a:ext cx="2667000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66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6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66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66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66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6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80" grpId="0" build="p" bldLvl="2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83271F3-EB84-4E0F-B4BC-1525896E5B2B}" type="slidenum">
              <a:rPr lang="zh-CN" altLang="en-US" b="0"/>
              <a:pPr/>
              <a:t>10</a:t>
            </a:fld>
            <a:endParaRPr lang="en-US" altLang="zh-CN" b="0"/>
          </a:p>
        </p:txBody>
      </p:sp>
      <p:sp>
        <p:nvSpPr>
          <p:cNvPr id="3891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6F25AE8-C169-4237-A098-A6B0CD4510F5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范数函数的性质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2252663"/>
          </a:xfrm>
        </p:spPr>
        <p:txBody>
          <a:bodyPr/>
          <a:lstStyle/>
          <a:p>
            <a:r>
              <a:rPr lang="zh-CN" altLang="en-US" sz="3200" u="sng" smtClean="0"/>
              <a:t>定理</a:t>
            </a:r>
            <a:r>
              <a:rPr lang="zh-CN" altLang="en-US" smtClean="0"/>
              <a:t> （向量范数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3300"/>
                </a:solidFill>
              </a:rPr>
              <a:t>连续性</a:t>
            </a:r>
            <a:r>
              <a:rPr lang="zh-CN" altLang="en-US" smtClean="0"/>
              <a:t>）设非负函数</a:t>
            </a:r>
            <a:r>
              <a:rPr lang="en-US" altLang="zh-CN" i="1" smtClean="0"/>
              <a:t>f</a:t>
            </a:r>
            <a:r>
              <a:rPr lang="en-US" altLang="zh-CN" smtClean="0"/>
              <a:t>(X)=||X|| </a:t>
            </a:r>
            <a:r>
              <a:rPr lang="zh-CN" altLang="en-US" smtClean="0"/>
              <a:t>为</a:t>
            </a:r>
            <a:r>
              <a:rPr lang="en-US" altLang="zh-CN" smtClean="0">
                <a:sym typeface="Symbol" pitchFamily="18" charset="2"/>
              </a:rPr>
              <a:t>R</a:t>
            </a:r>
            <a:r>
              <a:rPr lang="en-US" altLang="zh-CN" baseline="30000" smtClean="0">
                <a:sym typeface="Symbol" pitchFamily="18" charset="2"/>
              </a:rPr>
              <a:t>n</a:t>
            </a:r>
            <a:r>
              <a:rPr lang="zh-CN" altLang="en-US" smtClean="0"/>
              <a:t>上的任一向量范数，则</a:t>
            </a:r>
            <a:r>
              <a:rPr lang="en-US" altLang="zh-CN" i="1" smtClean="0"/>
              <a:t>f</a:t>
            </a:r>
            <a:r>
              <a:rPr lang="en-US" altLang="zh-CN" smtClean="0"/>
              <a:t>(X)</a:t>
            </a:r>
            <a:r>
              <a:rPr lang="zh-CN" altLang="en-US" smtClean="0"/>
              <a:t>是</a:t>
            </a:r>
            <a:r>
              <a:rPr lang="en-US" altLang="zh-CN" smtClean="0"/>
              <a:t>X</a:t>
            </a:r>
            <a:r>
              <a:rPr lang="zh-CN" altLang="en-US" smtClean="0"/>
              <a:t>的分量</a:t>
            </a:r>
            <a:r>
              <a:rPr lang="en-US" altLang="zh-CN" sz="3200" i="1" smtClean="0"/>
              <a:t>x</a:t>
            </a:r>
            <a:r>
              <a:rPr lang="en-US" altLang="zh-CN" sz="3200" baseline="-25000" smtClean="0"/>
              <a:t>1</a:t>
            </a:r>
            <a:r>
              <a:rPr lang="en-US" altLang="zh-CN" sz="3200" smtClean="0"/>
              <a:t>,</a:t>
            </a:r>
            <a:r>
              <a:rPr lang="en-US" altLang="zh-CN" sz="3200" i="1" smtClean="0"/>
              <a:t>x</a:t>
            </a:r>
            <a:r>
              <a:rPr lang="en-US" altLang="zh-CN" sz="3200" baseline="-25000" smtClean="0"/>
              <a:t>2</a:t>
            </a:r>
            <a:r>
              <a:rPr lang="en-US" altLang="zh-CN" sz="3200" smtClean="0"/>
              <a:t>, …,</a:t>
            </a:r>
            <a:r>
              <a:rPr lang="en-US" altLang="zh-CN" sz="3200" i="1" smtClean="0"/>
              <a:t>x</a:t>
            </a:r>
            <a:r>
              <a:rPr lang="en-US" altLang="zh-CN" sz="3200" baseline="-25000" smtClean="0"/>
              <a:t>n</a:t>
            </a:r>
            <a:r>
              <a:rPr lang="zh-CN" altLang="en-US" smtClean="0"/>
              <a:t>的连续函数。</a:t>
            </a:r>
          </a:p>
          <a:p>
            <a:r>
              <a:rPr lang="zh-CN" altLang="en-US" sz="3200" u="sng" smtClean="0"/>
              <a:t>定理</a:t>
            </a:r>
            <a:r>
              <a:rPr lang="zh-CN" altLang="en-US" smtClean="0"/>
              <a:t> （向量范数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3300"/>
                </a:solidFill>
              </a:rPr>
              <a:t>等价性</a:t>
            </a:r>
            <a:r>
              <a:rPr lang="zh-CN" altLang="en-US" smtClean="0"/>
              <a:t>）对于</a:t>
            </a:r>
            <a:r>
              <a:rPr lang="en-US" altLang="zh-CN" smtClean="0">
                <a:sym typeface="Symbol" pitchFamily="18" charset="2"/>
              </a:rPr>
              <a:t>R</a:t>
            </a:r>
            <a:r>
              <a:rPr lang="en-US" altLang="zh-CN" baseline="30000" smtClean="0">
                <a:sym typeface="Symbol" pitchFamily="18" charset="2"/>
              </a:rPr>
              <a:t>n</a:t>
            </a:r>
            <a:r>
              <a:rPr lang="zh-CN" altLang="en-US" smtClean="0"/>
              <a:t>上的任意两种向量范数</a:t>
            </a:r>
            <a:r>
              <a:rPr lang="zh-CN" altLang="en-US" smtClean="0">
                <a:sym typeface="Symbol" pitchFamily="18" charset="2"/>
              </a:rPr>
              <a:t>||</a:t>
            </a:r>
            <a:r>
              <a:rPr lang="en-US" altLang="zh-CN" smtClean="0">
                <a:sym typeface="Symbol" pitchFamily="18" charset="2"/>
              </a:rPr>
              <a:t>X||</a:t>
            </a:r>
            <a:r>
              <a:rPr lang="en-US" altLang="zh-CN" baseline="-25000" smtClean="0">
                <a:sym typeface="Symbol" pitchFamily="18" charset="2"/>
              </a:rPr>
              <a:t>p</a:t>
            </a:r>
            <a:r>
              <a:rPr lang="en-US" altLang="zh-CN" smtClean="0"/>
              <a:t> </a:t>
            </a:r>
            <a:r>
              <a:rPr lang="en-US" altLang="zh-CN" smtClean="0">
                <a:sym typeface="Symbol" pitchFamily="18" charset="2"/>
              </a:rPr>
              <a:t>||X||</a:t>
            </a:r>
            <a:r>
              <a:rPr lang="en-US" altLang="zh-CN" baseline="-25000" smtClean="0">
                <a:sym typeface="Symbol" pitchFamily="18" charset="2"/>
              </a:rPr>
              <a:t>q</a:t>
            </a:r>
            <a:r>
              <a:rPr lang="en-US" altLang="zh-CN" smtClean="0"/>
              <a:t> ，</a:t>
            </a:r>
            <a:r>
              <a:rPr lang="zh-CN" altLang="en-US" smtClean="0"/>
              <a:t>总存在正数 </a:t>
            </a:r>
            <a:r>
              <a:rPr lang="en-US" altLang="zh-CN" i="1" smtClean="0"/>
              <a:t>c</a:t>
            </a:r>
            <a:r>
              <a:rPr lang="en-US" altLang="zh-CN" baseline="-25000" smtClean="0"/>
              <a:t>1</a:t>
            </a:r>
            <a:r>
              <a:rPr lang="zh-CN" altLang="en-US" smtClean="0"/>
              <a:t>和 </a:t>
            </a:r>
            <a:r>
              <a:rPr lang="en-US" altLang="zh-CN" i="1" smtClean="0"/>
              <a:t>c</a:t>
            </a:r>
            <a:r>
              <a:rPr lang="en-US" altLang="zh-CN" baseline="-25000" smtClean="0"/>
              <a:t>2</a:t>
            </a:r>
            <a:r>
              <a:rPr lang="zh-CN" altLang="en-US" smtClean="0"/>
              <a:t> ，使</a:t>
            </a:r>
          </a:p>
        </p:txBody>
      </p:sp>
      <p:graphicFrame>
        <p:nvGraphicFramePr>
          <p:cNvPr id="568324" name="Object 4"/>
          <p:cNvGraphicFramePr>
            <a:graphicFrameLocks noChangeAspect="1"/>
          </p:cNvGraphicFramePr>
          <p:nvPr/>
        </p:nvGraphicFramePr>
        <p:xfrm>
          <a:off x="1800225" y="3429000"/>
          <a:ext cx="51339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9" name="Equation" r:id="rId3" imgW="1803400" imgH="241300" progId="Equation.3">
                  <p:embed/>
                </p:oleObj>
              </mc:Choice>
              <mc:Fallback>
                <p:oleObj name="Equation" r:id="rId3" imgW="18034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3429000"/>
                        <a:ext cx="51339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8325" name="Rectangle 5"/>
          <p:cNvSpPr>
            <a:spLocks noChangeArrowheads="1"/>
          </p:cNvSpPr>
          <p:nvPr/>
        </p:nvSpPr>
        <p:spPr bwMode="auto">
          <a:xfrm>
            <a:off x="609600" y="4071938"/>
            <a:ext cx="8142288" cy="229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  对一切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R</a:t>
            </a:r>
            <a:r>
              <a:rPr lang="en-US" altLang="zh-CN" sz="2800" baseline="30000">
                <a:latin typeface="Times New Roman" pitchFamily="18" charset="0"/>
                <a:ea typeface="黑体" pitchFamily="49" charset="-122"/>
                <a:sym typeface="Symbol" pitchFamily="18" charset="2"/>
              </a:rPr>
              <a:t>n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均成立。</a:t>
            </a: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 u="sng">
                <a:latin typeface="Times New Roman" pitchFamily="18" charset="0"/>
                <a:ea typeface="黑体" pitchFamily="49" charset="-122"/>
              </a:rPr>
              <a:t>结论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  向量范数具有</a:t>
            </a:r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等价性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，因此以后只需就一种范数进行讨论，其余范数也都具有相似结论。</a:t>
            </a: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             </a:t>
            </a:r>
            <a:r>
              <a:rPr lang="zh-CN" altLang="en-US" sz="280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如果在一种范数意义下向量序列收敛时，则在任何一种范数意义下该向量亦收敛。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68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568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568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02FEF080-300F-496A-A051-2545C9BABBD8}" type="slidenum">
              <a:rPr lang="zh-CN" altLang="en-US" b="0"/>
              <a:pPr/>
              <a:t>11</a:t>
            </a:fld>
            <a:endParaRPr lang="en-US" altLang="zh-CN" b="0"/>
          </a:p>
        </p:txBody>
      </p:sp>
      <p:sp>
        <p:nvSpPr>
          <p:cNvPr id="3993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89F3006-B26E-4800-BB59-95256597119F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(2) 矩阵范数定义</a:t>
            </a:r>
          </a:p>
        </p:txBody>
      </p:sp>
      <p:sp>
        <p:nvSpPr>
          <p:cNvPr id="538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137025"/>
          </a:xfrm>
        </p:spPr>
        <p:txBody>
          <a:bodyPr/>
          <a:lstStyle/>
          <a:p>
            <a:pPr>
              <a:lnSpc>
                <a:spcPct val="70000"/>
              </a:lnSpc>
            </a:pPr>
            <a:r>
              <a:rPr lang="zh-CN" altLang="en-US" smtClean="0"/>
              <a:t>定义4.2  设</a:t>
            </a:r>
            <a:r>
              <a:rPr lang="en-US" altLang="zh-CN" smtClean="0"/>
              <a:t>A</a:t>
            </a:r>
            <a:r>
              <a:rPr lang="zh-CN" altLang="en-US" smtClean="0"/>
              <a:t>为</a:t>
            </a:r>
            <a:r>
              <a:rPr lang="en-US" altLang="zh-CN" i="1" smtClean="0"/>
              <a:t>n</a:t>
            </a:r>
            <a:r>
              <a:rPr lang="zh-CN" altLang="en-US" smtClean="0"/>
              <a:t>阶方阵，若对应的非负实数||</a:t>
            </a:r>
            <a:r>
              <a:rPr lang="en-US" altLang="zh-CN" smtClean="0"/>
              <a:t>A||</a:t>
            </a:r>
            <a:r>
              <a:rPr lang="zh-CN" altLang="en-US" smtClean="0"/>
              <a:t>满足：</a:t>
            </a:r>
          </a:p>
          <a:p>
            <a:pPr lvl="1">
              <a:lnSpc>
                <a:spcPct val="70000"/>
              </a:lnSpc>
            </a:pPr>
            <a:r>
              <a:rPr lang="zh-CN" altLang="en-US" smtClean="0"/>
              <a:t>1）||</a:t>
            </a:r>
            <a:r>
              <a:rPr lang="en-US" altLang="zh-CN" smtClean="0"/>
              <a:t>A||</a:t>
            </a:r>
            <a:r>
              <a:rPr lang="en-US" altLang="zh-CN" smtClean="0">
                <a:sym typeface="Symbol" pitchFamily="18" charset="2"/>
              </a:rPr>
              <a:t>0; </a:t>
            </a:r>
            <a:r>
              <a:rPr lang="zh-CN" altLang="en-US" smtClean="0"/>
              <a:t>||</a:t>
            </a:r>
            <a:r>
              <a:rPr lang="en-US" altLang="zh-CN" smtClean="0"/>
              <a:t>A||=0，</a:t>
            </a:r>
            <a:r>
              <a:rPr lang="zh-CN" altLang="en-US" smtClean="0"/>
              <a:t>当且仅当</a:t>
            </a:r>
            <a:r>
              <a:rPr lang="en-US" altLang="zh-CN" smtClean="0"/>
              <a:t>A=0</a:t>
            </a:r>
            <a:r>
              <a:rPr lang="zh-CN" altLang="en-US" smtClean="0"/>
              <a:t>时；</a:t>
            </a:r>
          </a:p>
          <a:p>
            <a:pPr lvl="1">
              <a:lnSpc>
                <a:spcPct val="70000"/>
              </a:lnSpc>
            </a:pPr>
            <a:r>
              <a:rPr lang="zh-CN" altLang="en-US" smtClean="0"/>
              <a:t>2）对任意实数</a:t>
            </a:r>
            <a:r>
              <a:rPr lang="zh-CN" altLang="en-US" smtClean="0">
                <a:sym typeface="Symbol" pitchFamily="18" charset="2"/>
              </a:rPr>
              <a:t>， ||</a:t>
            </a:r>
            <a:r>
              <a:rPr lang="en-US" altLang="zh-CN" smtClean="0"/>
              <a:t>A||=|</a:t>
            </a:r>
            <a:r>
              <a:rPr lang="zh-CN" altLang="en-US" smtClean="0">
                <a:sym typeface="Symbol" pitchFamily="18" charset="2"/>
              </a:rPr>
              <a:t>| ||</a:t>
            </a:r>
            <a:r>
              <a:rPr lang="en-US" altLang="zh-CN" smtClean="0"/>
              <a:t>A||；</a:t>
            </a:r>
          </a:p>
          <a:p>
            <a:pPr lvl="1">
              <a:lnSpc>
                <a:spcPct val="70000"/>
              </a:lnSpc>
            </a:pPr>
            <a:r>
              <a:rPr lang="zh-CN" altLang="en-US" smtClean="0"/>
              <a:t>3）</a:t>
            </a:r>
            <a:r>
              <a:rPr lang="zh-CN" altLang="en-US" smtClean="0">
                <a:sym typeface="Symbol" pitchFamily="18" charset="2"/>
              </a:rPr>
              <a:t>||</a:t>
            </a:r>
            <a:r>
              <a:rPr lang="en-US" altLang="zh-CN" smtClean="0"/>
              <a:t>A+B|| </a:t>
            </a:r>
            <a:r>
              <a:rPr lang="en-US" altLang="zh-CN" smtClean="0">
                <a:sym typeface="Symbol" pitchFamily="18" charset="2"/>
              </a:rPr>
              <a:t> </a:t>
            </a:r>
            <a:r>
              <a:rPr lang="zh-CN" altLang="en-US" smtClean="0">
                <a:sym typeface="Symbol" pitchFamily="18" charset="2"/>
              </a:rPr>
              <a:t>||</a:t>
            </a:r>
            <a:r>
              <a:rPr lang="en-US" altLang="zh-CN" smtClean="0"/>
              <a:t>A||+||B||</a:t>
            </a:r>
          </a:p>
          <a:p>
            <a:pPr lvl="1">
              <a:lnSpc>
                <a:spcPct val="70000"/>
              </a:lnSpc>
            </a:pPr>
            <a:r>
              <a:rPr lang="zh-CN" altLang="en-US" smtClean="0"/>
              <a:t>4）</a:t>
            </a:r>
            <a:r>
              <a:rPr lang="zh-CN" altLang="en-US" smtClean="0">
                <a:sym typeface="Symbol" pitchFamily="18" charset="2"/>
              </a:rPr>
              <a:t>||</a:t>
            </a:r>
            <a:r>
              <a:rPr lang="en-US" altLang="zh-CN" smtClean="0"/>
              <a:t>AB|| </a:t>
            </a:r>
            <a:r>
              <a:rPr lang="en-US" altLang="zh-CN" smtClean="0">
                <a:sym typeface="Symbol" pitchFamily="18" charset="2"/>
              </a:rPr>
              <a:t> </a:t>
            </a:r>
            <a:r>
              <a:rPr lang="zh-CN" altLang="en-US" smtClean="0">
                <a:sym typeface="Symbol" pitchFamily="18" charset="2"/>
              </a:rPr>
              <a:t>||</a:t>
            </a:r>
            <a:r>
              <a:rPr lang="en-US" altLang="zh-CN" smtClean="0"/>
              <a:t>A|| ||B||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smtClean="0"/>
              <a:t>其中</a:t>
            </a:r>
            <a:r>
              <a:rPr lang="en-US" altLang="zh-CN" smtClean="0"/>
              <a:t>B</a:t>
            </a:r>
            <a:r>
              <a:rPr lang="zh-CN" altLang="en-US" smtClean="0"/>
              <a:t>也是</a:t>
            </a:r>
            <a:r>
              <a:rPr lang="en-US" altLang="zh-CN" i="1" smtClean="0"/>
              <a:t>n</a:t>
            </a:r>
            <a:r>
              <a:rPr lang="zh-CN" altLang="en-US" smtClean="0"/>
              <a:t>阶矩阵，则称||</a:t>
            </a:r>
            <a:r>
              <a:rPr lang="en-US" altLang="zh-CN" smtClean="0"/>
              <a:t>A||</a:t>
            </a:r>
            <a:r>
              <a:rPr lang="zh-CN" altLang="en-US" smtClean="0"/>
              <a:t>为</a:t>
            </a:r>
            <a:r>
              <a:rPr lang="zh-CN" altLang="en-US" u="sng" smtClean="0">
                <a:solidFill>
                  <a:srgbClr val="FF3300"/>
                </a:solidFill>
              </a:rPr>
              <a:t>矩阵</a:t>
            </a:r>
            <a:r>
              <a:rPr lang="en-US" altLang="zh-CN" u="sng" smtClean="0">
                <a:solidFill>
                  <a:srgbClr val="FF3300"/>
                </a:solidFill>
              </a:rPr>
              <a:t>A</a:t>
            </a:r>
            <a:r>
              <a:rPr lang="zh-CN" altLang="en-US" u="sng" smtClean="0">
                <a:solidFill>
                  <a:srgbClr val="FF3300"/>
                </a:solidFill>
              </a:rPr>
              <a:t>的范数</a:t>
            </a:r>
          </a:p>
          <a:p>
            <a:r>
              <a:rPr lang="zh-CN" altLang="en-US" smtClean="0"/>
              <a:t>定义 （</a:t>
            </a:r>
            <a:r>
              <a:rPr lang="zh-CN" altLang="en-US" smtClean="0">
                <a:solidFill>
                  <a:srgbClr val="FF0000"/>
                </a:solidFill>
              </a:rPr>
              <a:t>矩阵的算子范数</a:t>
            </a:r>
            <a:r>
              <a:rPr lang="zh-CN" altLang="en-US" smtClean="0"/>
              <a:t>）设</a:t>
            </a:r>
            <a:r>
              <a:rPr lang="en-US" altLang="zh-CN" smtClean="0"/>
              <a:t>A</a:t>
            </a:r>
            <a:r>
              <a:rPr lang="zh-CN" altLang="en-US" smtClean="0"/>
              <a:t>为</a:t>
            </a:r>
            <a:r>
              <a:rPr lang="en-US" altLang="zh-CN" i="1" smtClean="0"/>
              <a:t>n</a:t>
            </a:r>
            <a:r>
              <a:rPr lang="zh-CN" altLang="en-US" smtClean="0"/>
              <a:t>阶方阵， </a:t>
            </a:r>
            <a:r>
              <a:rPr lang="en-US" altLang="zh-CN" smtClean="0"/>
              <a:t>X</a:t>
            </a:r>
            <a:r>
              <a:rPr lang="en-US" altLang="zh-CN" smtClean="0">
                <a:sym typeface="Symbol" pitchFamily="18" charset="2"/>
              </a:rPr>
              <a:t>R</a:t>
            </a:r>
            <a:r>
              <a:rPr lang="en-US" altLang="zh-CN" baseline="30000" smtClean="0">
                <a:sym typeface="Symbol" pitchFamily="18" charset="2"/>
              </a:rPr>
              <a:t>n</a:t>
            </a:r>
            <a:r>
              <a:rPr lang="en-US" altLang="zh-CN" smtClean="0">
                <a:sym typeface="Symbol" pitchFamily="18" charset="2"/>
              </a:rPr>
              <a:t>,</a:t>
            </a:r>
            <a:r>
              <a:rPr lang="zh-CN" altLang="en-US" smtClean="0"/>
              <a:t>给出一种向量范数 ||</a:t>
            </a:r>
            <a:r>
              <a:rPr lang="en-US" altLang="zh-CN" smtClean="0"/>
              <a:t>X|| ，</a:t>
            </a:r>
            <a:r>
              <a:rPr lang="zh-CN" altLang="en-US" smtClean="0"/>
              <a:t>相应的定义矩阵</a:t>
            </a:r>
            <a:r>
              <a:rPr lang="en-US" altLang="zh-CN" smtClean="0"/>
              <a:t>A</a:t>
            </a:r>
            <a:r>
              <a:rPr lang="zh-CN" altLang="en-US" smtClean="0"/>
              <a:t>的非负函数</a:t>
            </a:r>
          </a:p>
        </p:txBody>
      </p:sp>
      <p:graphicFrame>
        <p:nvGraphicFramePr>
          <p:cNvPr id="538628" name="Object 4"/>
          <p:cNvGraphicFramePr>
            <a:graphicFrameLocks noChangeAspect="1"/>
          </p:cNvGraphicFramePr>
          <p:nvPr/>
        </p:nvGraphicFramePr>
        <p:xfrm>
          <a:off x="2205038" y="4867275"/>
          <a:ext cx="5414962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3" name="Equation" r:id="rId4" imgW="2108200" imgH="419100" progId="Equation.3">
                  <p:embed/>
                </p:oleObj>
              </mc:Choice>
              <mc:Fallback>
                <p:oleObj name="Equation" r:id="rId4" imgW="21082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4867275"/>
                        <a:ext cx="5414962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29" name="Rectangle 5"/>
          <p:cNvSpPr>
            <a:spLocks noChangeArrowheads="1"/>
          </p:cNvSpPr>
          <p:nvPr/>
        </p:nvSpPr>
        <p:spPr bwMode="auto">
          <a:xfrm>
            <a:off x="685800" y="5924550"/>
            <a:ext cx="81422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   为矩阵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的范数，称为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的算子范数。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3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3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38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38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38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38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3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7" grpId="0" build="p"/>
      <p:bldP spid="53862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0BD5DDF-59EF-4853-B48D-A2717007AA07}" type="slidenum">
              <a:rPr lang="zh-CN" altLang="en-US" b="0"/>
              <a:pPr/>
              <a:t>12</a:t>
            </a:fld>
            <a:endParaRPr lang="en-US" altLang="zh-CN" b="0"/>
          </a:p>
        </p:txBody>
      </p:sp>
      <p:sp>
        <p:nvSpPr>
          <p:cNvPr id="4096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43BEDCF-EB68-40C1-B4A2-DBDFA42F33EA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(2) 矩阵范数定义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524375"/>
          </a:xfrm>
        </p:spPr>
        <p:txBody>
          <a:bodyPr/>
          <a:lstStyle/>
          <a:p>
            <a:r>
              <a:rPr lang="zh-CN" altLang="en-US" sz="3200" smtClean="0"/>
              <a:t>向量范数和矩阵范数的相容关系：</a:t>
            </a:r>
          </a:p>
          <a:p>
            <a:pPr lvl="1"/>
            <a:r>
              <a:rPr lang="zh-CN" altLang="en-US" sz="3200" smtClean="0"/>
              <a:t>设</a:t>
            </a:r>
            <a:r>
              <a:rPr lang="en-US" altLang="zh-CN" sz="3200" smtClean="0">
                <a:sym typeface="Symbol" pitchFamily="18" charset="2"/>
              </a:rPr>
              <a:t>R</a:t>
            </a:r>
            <a:r>
              <a:rPr lang="en-US" altLang="zh-CN" sz="3200" baseline="30000" smtClean="0">
                <a:sym typeface="Symbol" pitchFamily="18" charset="2"/>
              </a:rPr>
              <a:t>n</a:t>
            </a:r>
            <a:r>
              <a:rPr lang="zh-CN" altLang="en-US" sz="3200" smtClean="0"/>
              <a:t>中规定的向量范数为||</a:t>
            </a:r>
            <a:r>
              <a:rPr lang="en-US" altLang="zh-CN" sz="3200" smtClean="0"/>
              <a:t>X||</a:t>
            </a:r>
            <a:r>
              <a:rPr lang="zh-CN" altLang="en-US" sz="3200" baseline="-25000" smtClean="0">
                <a:sym typeface="Symbol" pitchFamily="18" charset="2"/>
              </a:rPr>
              <a:t></a:t>
            </a:r>
            <a:r>
              <a:rPr lang="en-US" altLang="zh-CN" sz="3200" smtClean="0"/>
              <a:t>,</a:t>
            </a:r>
          </a:p>
          <a:p>
            <a:pPr lvl="1"/>
            <a:r>
              <a:rPr lang="zh-CN" altLang="en-US" sz="3200" smtClean="0"/>
              <a:t>在</a:t>
            </a:r>
            <a:r>
              <a:rPr lang="en-US" altLang="zh-CN" sz="3200" smtClean="0">
                <a:sym typeface="Symbol" pitchFamily="18" charset="2"/>
              </a:rPr>
              <a:t>R</a:t>
            </a:r>
            <a:r>
              <a:rPr lang="en-US" altLang="zh-CN" sz="3200" i="1" baseline="30000" smtClean="0">
                <a:sym typeface="Symbol" pitchFamily="18" charset="2"/>
              </a:rPr>
              <a:t>n</a:t>
            </a:r>
            <a:r>
              <a:rPr lang="en-US" altLang="zh-CN" i="1" baseline="30000" smtClean="0">
                <a:sym typeface="Symbol" pitchFamily="18" charset="2"/>
              </a:rPr>
              <a:t> </a:t>
            </a:r>
            <a:r>
              <a:rPr lang="en-US" altLang="zh-CN" sz="3200" baseline="30000" smtClean="0">
                <a:sym typeface="Symbol" pitchFamily="18" charset="2"/>
              </a:rPr>
              <a:t>x</a:t>
            </a:r>
            <a:r>
              <a:rPr lang="en-US" altLang="zh-CN" i="1" baseline="30000" smtClean="0">
                <a:sym typeface="Symbol" pitchFamily="18" charset="2"/>
              </a:rPr>
              <a:t> </a:t>
            </a:r>
            <a:r>
              <a:rPr lang="en-US" altLang="zh-CN" sz="3200" i="1" baseline="30000" smtClean="0">
                <a:sym typeface="Symbol" pitchFamily="18" charset="2"/>
              </a:rPr>
              <a:t>n </a:t>
            </a:r>
            <a:r>
              <a:rPr lang="zh-CN" altLang="en-US" sz="3200" smtClean="0"/>
              <a:t>中规定的矩阵范数为||</a:t>
            </a:r>
            <a:r>
              <a:rPr lang="en-US" altLang="zh-CN" sz="3200" smtClean="0"/>
              <a:t>A||</a:t>
            </a:r>
            <a:r>
              <a:rPr lang="zh-CN" altLang="en-US" sz="3200" baseline="-25000" smtClean="0">
                <a:sym typeface="Symbol" pitchFamily="18" charset="2"/>
              </a:rPr>
              <a:t></a:t>
            </a:r>
            <a:r>
              <a:rPr lang="en-US" altLang="zh-CN" sz="3200" smtClean="0"/>
              <a:t>，</a:t>
            </a:r>
          </a:p>
          <a:p>
            <a:pPr lvl="1"/>
            <a:r>
              <a:rPr lang="zh-CN" altLang="en-US" sz="3200" smtClean="0"/>
              <a:t>要求向量范数与矩阵范数满足以下不等式</a:t>
            </a:r>
          </a:p>
          <a:p>
            <a:pPr>
              <a:buFont typeface="Wingdings" pitchFamily="2" charset="2"/>
              <a:buNone/>
            </a:pPr>
            <a:r>
              <a:rPr lang="zh-CN" altLang="en-US" sz="3200" smtClean="0"/>
              <a:t>			 ||</a:t>
            </a:r>
            <a:r>
              <a:rPr lang="en-US" altLang="zh-CN" sz="3200" smtClean="0"/>
              <a:t>AX||</a:t>
            </a:r>
            <a:r>
              <a:rPr lang="zh-CN" altLang="en-US" sz="3200" baseline="-25000" smtClean="0">
                <a:sym typeface="Symbol" pitchFamily="18" charset="2"/>
              </a:rPr>
              <a:t> </a:t>
            </a:r>
            <a:r>
              <a:rPr lang="en-US" altLang="zh-CN" sz="3200" smtClean="0">
                <a:sym typeface="Symbol" pitchFamily="18" charset="2"/>
              </a:rPr>
              <a:t> </a:t>
            </a:r>
            <a:r>
              <a:rPr lang="zh-CN" altLang="en-US" sz="3200" smtClean="0"/>
              <a:t>||</a:t>
            </a:r>
            <a:r>
              <a:rPr lang="en-US" altLang="zh-CN" sz="3200" smtClean="0"/>
              <a:t>A||</a:t>
            </a:r>
            <a:r>
              <a:rPr lang="zh-CN" altLang="en-US" sz="3200" baseline="-25000" smtClean="0">
                <a:sym typeface="Symbol" pitchFamily="18" charset="2"/>
              </a:rPr>
              <a:t> </a:t>
            </a:r>
            <a:r>
              <a:rPr lang="zh-CN" altLang="en-US" sz="3200" smtClean="0"/>
              <a:t>||</a:t>
            </a:r>
            <a:r>
              <a:rPr lang="en-US" altLang="zh-CN" sz="3200" smtClean="0"/>
              <a:t>X||</a:t>
            </a:r>
            <a:r>
              <a:rPr lang="zh-CN" altLang="en-US" sz="3200" baseline="-25000" smtClean="0">
                <a:sym typeface="Symbol" pitchFamily="18" charset="2"/>
              </a:rPr>
              <a:t></a:t>
            </a:r>
          </a:p>
          <a:p>
            <a:pPr>
              <a:buFont typeface="Wingdings" pitchFamily="2" charset="2"/>
              <a:buNone/>
            </a:pPr>
            <a:r>
              <a:rPr lang="zh-CN" altLang="en-US" sz="3200" baseline="-25000" smtClean="0">
                <a:sym typeface="Symbol" pitchFamily="18" charset="2"/>
              </a:rPr>
              <a:t>	     </a:t>
            </a:r>
            <a:r>
              <a:rPr lang="zh-CN" altLang="en-US" sz="3200" smtClean="0">
                <a:sym typeface="Symbol" pitchFamily="18" charset="2"/>
              </a:rPr>
              <a:t>则</a:t>
            </a:r>
            <a:r>
              <a:rPr lang="zh-CN" altLang="en-US" sz="3200" smtClean="0">
                <a:solidFill>
                  <a:srgbClr val="FF3300"/>
                </a:solidFill>
                <a:sym typeface="Symbol" pitchFamily="18" charset="2"/>
              </a:rPr>
              <a:t>矩阵范数</a:t>
            </a:r>
            <a:r>
              <a:rPr lang="zh-CN" altLang="en-US" sz="3200" smtClean="0">
                <a:solidFill>
                  <a:srgbClr val="FF3300"/>
                </a:solidFill>
              </a:rPr>
              <a:t>||</a:t>
            </a:r>
            <a:r>
              <a:rPr lang="en-US" altLang="zh-CN" sz="3200" smtClean="0">
                <a:solidFill>
                  <a:srgbClr val="FF3300"/>
                </a:solidFill>
              </a:rPr>
              <a:t>A||</a:t>
            </a:r>
            <a:r>
              <a:rPr lang="zh-CN" altLang="en-US" sz="3200" baseline="-25000" smtClean="0">
                <a:solidFill>
                  <a:srgbClr val="FF3300"/>
                </a:solidFill>
                <a:sym typeface="Symbol" pitchFamily="18" charset="2"/>
              </a:rPr>
              <a:t></a:t>
            </a:r>
            <a:r>
              <a:rPr lang="zh-CN" altLang="en-US" sz="3200" smtClean="0">
                <a:solidFill>
                  <a:srgbClr val="FF3300"/>
                </a:solidFill>
                <a:sym typeface="Symbol" pitchFamily="18" charset="2"/>
              </a:rPr>
              <a:t>和向量范数</a:t>
            </a:r>
            <a:r>
              <a:rPr lang="zh-CN" altLang="en-US" sz="3200" smtClean="0">
                <a:solidFill>
                  <a:srgbClr val="FF3300"/>
                </a:solidFill>
              </a:rPr>
              <a:t>||</a:t>
            </a:r>
            <a:r>
              <a:rPr lang="en-US" altLang="zh-CN" sz="3200" smtClean="0">
                <a:solidFill>
                  <a:srgbClr val="FF3300"/>
                </a:solidFill>
              </a:rPr>
              <a:t>X||</a:t>
            </a:r>
            <a:r>
              <a:rPr lang="zh-CN" altLang="en-US" sz="3200" baseline="-25000" smtClean="0">
                <a:solidFill>
                  <a:srgbClr val="FF3300"/>
                </a:solidFill>
                <a:sym typeface="Symbol" pitchFamily="18" charset="2"/>
              </a:rPr>
              <a:t></a:t>
            </a:r>
            <a:r>
              <a:rPr lang="zh-CN" altLang="en-US" sz="3200" smtClean="0">
                <a:solidFill>
                  <a:srgbClr val="FF3300"/>
                </a:solidFill>
                <a:sym typeface="Symbol" pitchFamily="18" charset="2"/>
              </a:rPr>
              <a:t>相容</a:t>
            </a:r>
          </a:p>
          <a:p>
            <a:r>
              <a:rPr lang="zh-CN" altLang="en-US" sz="3200" smtClean="0"/>
              <a:t>当定义一种矩阵范数时，应当使它能与某种向量范数相容。</a:t>
            </a:r>
          </a:p>
        </p:txBody>
      </p:sp>
      <p:sp>
        <p:nvSpPr>
          <p:cNvPr id="537604" name="AutoShape 4"/>
          <p:cNvSpPr>
            <a:spLocks noChangeArrowheads="1"/>
          </p:cNvSpPr>
          <p:nvPr/>
        </p:nvSpPr>
        <p:spPr bwMode="auto">
          <a:xfrm>
            <a:off x="6248400" y="2743200"/>
            <a:ext cx="2209800" cy="762000"/>
          </a:xfrm>
          <a:prstGeom prst="wedgeRectCallout">
            <a:avLst>
              <a:gd name="adj1" fmla="val -82972"/>
              <a:gd name="adj2" fmla="val 82083"/>
            </a:avLst>
          </a:prstGeom>
          <a:solidFill>
            <a:srgbClr val="FFFF99"/>
          </a:solidFill>
          <a:ln w="38100">
            <a:solidFill>
              <a:srgbClr val="3366FF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3200">
                <a:solidFill>
                  <a:srgbClr val="FF0000"/>
                </a:solidFill>
                <a:ea typeface="黑体" pitchFamily="49" charset="-122"/>
              </a:rPr>
              <a:t>相容条件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7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7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04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20E2D28-C681-4221-92E6-2169873B2D38}" type="slidenum">
              <a:rPr lang="zh-CN" altLang="en-US" b="0"/>
              <a:pPr/>
              <a:t>13</a:t>
            </a:fld>
            <a:endParaRPr lang="en-US" altLang="zh-CN" b="0"/>
          </a:p>
        </p:txBody>
      </p:sp>
      <p:sp>
        <p:nvSpPr>
          <p:cNvPr id="4198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185BE49-4D29-40B7-8FBB-C584910A2AAA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(2) 矩阵范数定义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305800" cy="876300"/>
          </a:xfrm>
        </p:spPr>
        <p:txBody>
          <a:bodyPr/>
          <a:lstStyle/>
          <a:p>
            <a:r>
              <a:rPr lang="zh-CN" altLang="en-US" sz="3200" smtClean="0"/>
              <a:t>定理4.1  设在</a:t>
            </a:r>
            <a:r>
              <a:rPr lang="en-US" altLang="zh-CN" sz="3200" smtClean="0">
                <a:sym typeface="Symbol" pitchFamily="18" charset="2"/>
              </a:rPr>
              <a:t>R</a:t>
            </a:r>
            <a:r>
              <a:rPr lang="en-US" altLang="zh-CN" sz="3200" baseline="30000" smtClean="0">
                <a:sym typeface="Symbol" pitchFamily="18" charset="2"/>
              </a:rPr>
              <a:t>n</a:t>
            </a:r>
            <a:r>
              <a:rPr lang="zh-CN" altLang="en-US" sz="3200" smtClean="0"/>
              <a:t>中给定了一种向量范数，对任一</a:t>
            </a:r>
            <a:r>
              <a:rPr lang="en-US" altLang="zh-CN" sz="3200" i="1" smtClean="0"/>
              <a:t>n</a:t>
            </a:r>
            <a:r>
              <a:rPr lang="zh-CN" altLang="en-US" sz="3200" smtClean="0"/>
              <a:t>阶方阵</a:t>
            </a:r>
            <a:r>
              <a:rPr lang="en-US" altLang="zh-CN" sz="3200" smtClean="0"/>
              <a:t>A，</a:t>
            </a:r>
            <a:r>
              <a:rPr lang="zh-CN" altLang="en-US" sz="3200" smtClean="0"/>
              <a:t>令</a:t>
            </a:r>
          </a:p>
        </p:txBody>
      </p:sp>
      <p:graphicFrame>
        <p:nvGraphicFramePr>
          <p:cNvPr id="541700" name="Object 4"/>
          <p:cNvGraphicFramePr>
            <a:graphicFrameLocks noChangeAspect="1"/>
          </p:cNvGraphicFramePr>
          <p:nvPr/>
        </p:nvGraphicFramePr>
        <p:xfrm>
          <a:off x="4433888" y="1763713"/>
          <a:ext cx="3033712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1" name="Equation" r:id="rId4" imgW="1180588" imgH="291973" progId="Equation.3">
                  <p:embed/>
                </p:oleObj>
              </mc:Choice>
              <mc:Fallback>
                <p:oleObj name="Equation" r:id="rId4" imgW="1180588" imgH="29197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888" y="1763713"/>
                        <a:ext cx="3033712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1701" name="Rectangle 5"/>
          <p:cNvSpPr>
            <a:spLocks noChangeArrowheads="1"/>
          </p:cNvSpPr>
          <p:nvPr/>
        </p:nvSpPr>
        <p:spPr bwMode="auto">
          <a:xfrm>
            <a:off x="609600" y="2568575"/>
            <a:ext cx="8153400" cy="401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	则由上式所定义的 || . || 是一种矩阵范数，并且它与所给定的向量范数相容</a:t>
            </a: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结论</a:t>
            </a:r>
          </a:p>
          <a:p>
            <a:pPr marL="649288" lvl="1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Symbol" pitchFamily="18" charset="2"/>
              <a:buChar char="-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称上式所定义的矩阵范数为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从属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于所给定向量范数的矩阵范数。</a:t>
            </a:r>
          </a:p>
          <a:p>
            <a:pPr marL="649288" lvl="1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Symbol" pitchFamily="18" charset="2"/>
              <a:buChar char="-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这种矩阵范数实际上就是把矩阵看成是</a:t>
            </a:r>
            <a:r>
              <a:rPr lang="en-US" altLang="zh-CN" sz="3200">
                <a:latin typeface="Times New Roman" pitchFamily="18" charset="0"/>
                <a:ea typeface="黑体" pitchFamily="49" charset="-122"/>
                <a:sym typeface="Symbol" pitchFamily="18" charset="2"/>
              </a:rPr>
              <a:t>R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  <a:sym typeface="Symbol" pitchFamily="18" charset="2"/>
              </a:rPr>
              <a:t>n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上线性变换的算子范数，所以称为矩阵的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算子范数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或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由向量范数导出的矩阵范数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41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541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541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541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701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071AA0E-69A6-4377-9DB7-145FEF974F71}" type="slidenum">
              <a:rPr lang="zh-CN" altLang="en-US" b="0"/>
              <a:pPr/>
              <a:t>14</a:t>
            </a:fld>
            <a:endParaRPr lang="en-US" altLang="zh-CN" b="0"/>
          </a:p>
        </p:txBody>
      </p:sp>
      <p:sp>
        <p:nvSpPr>
          <p:cNvPr id="4301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4625B28-ED24-4E2A-B70C-B13603BF3381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(2) 矩阵范数定义</a:t>
            </a:r>
          </a:p>
        </p:txBody>
      </p:sp>
      <p:graphicFrame>
        <p:nvGraphicFramePr>
          <p:cNvPr id="543748" name="Object 4"/>
          <p:cNvGraphicFramePr>
            <a:graphicFrameLocks noChangeAspect="1"/>
          </p:cNvGraphicFramePr>
          <p:nvPr/>
        </p:nvGraphicFramePr>
        <p:xfrm>
          <a:off x="1676400" y="3733800"/>
          <a:ext cx="3589338" cy="280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9" name="Equation" r:id="rId4" imgW="1333500" imgH="1181100" progId="Equation.3">
                  <p:embed/>
                </p:oleObj>
              </mc:Choice>
              <mc:Fallback>
                <p:oleObj name="Equation" r:id="rId4" imgW="1333500" imgH="1181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733800"/>
                        <a:ext cx="3589338" cy="280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1676400" y="1101725"/>
          <a:ext cx="60198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0" name="Equation" r:id="rId6" imgW="2451100" imgH="431800" progId="Equation.3">
                  <p:embed/>
                </p:oleObj>
              </mc:Choice>
              <mc:Fallback>
                <p:oleObj name="Equation" r:id="rId6" imgW="24511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101725"/>
                        <a:ext cx="60198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7"/>
          <p:cNvGraphicFramePr>
            <a:graphicFrameLocks noChangeAspect="1"/>
          </p:cNvGraphicFramePr>
          <p:nvPr/>
        </p:nvGraphicFramePr>
        <p:xfrm>
          <a:off x="1676400" y="1981200"/>
          <a:ext cx="59436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1" name="Equation" r:id="rId8" imgW="2641600" imgH="457200" progId="Equation.3">
                  <p:embed/>
                </p:oleObj>
              </mc:Choice>
              <mc:Fallback>
                <p:oleObj name="Equation" r:id="rId8" imgW="26416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81200"/>
                        <a:ext cx="5943600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1687513" y="3016250"/>
          <a:ext cx="745648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2" name="Equation" r:id="rId10" imgW="2933700" imgH="279400" progId="Equation.3">
                  <p:embed/>
                </p:oleObj>
              </mc:Choice>
              <mc:Fallback>
                <p:oleObj name="Equation" r:id="rId10" imgW="2933700" imgH="279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3016250"/>
                        <a:ext cx="7456487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0" y="1341438"/>
            <a:ext cx="18653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FF33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1-范数</a:t>
            </a:r>
          </a:p>
        </p:txBody>
      </p:sp>
      <p:sp>
        <p:nvSpPr>
          <p:cNvPr id="43018" name="Rectangle 10"/>
          <p:cNvSpPr>
            <a:spLocks noChangeArrowheads="1"/>
          </p:cNvSpPr>
          <p:nvPr/>
        </p:nvSpPr>
        <p:spPr bwMode="auto">
          <a:xfrm>
            <a:off x="179388" y="2239963"/>
            <a:ext cx="15763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FF33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2-范数</a:t>
            </a:r>
          </a:p>
        </p:txBody>
      </p:sp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107950" y="2940050"/>
            <a:ext cx="1792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FF33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-范数</a:t>
            </a:r>
          </a:p>
        </p:txBody>
      </p:sp>
      <p:sp>
        <p:nvSpPr>
          <p:cNvPr id="543757" name="Rectangle 13"/>
          <p:cNvSpPr>
            <a:spLocks noChangeArrowheads="1"/>
          </p:cNvSpPr>
          <p:nvPr/>
        </p:nvSpPr>
        <p:spPr bwMode="auto">
          <a:xfrm>
            <a:off x="5410200" y="5715000"/>
            <a:ext cx="18415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 u="sng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行范数</a:t>
            </a:r>
          </a:p>
        </p:txBody>
      </p:sp>
      <p:sp>
        <p:nvSpPr>
          <p:cNvPr id="543758" name="Rectangle 14"/>
          <p:cNvSpPr>
            <a:spLocks noChangeArrowheads="1"/>
          </p:cNvSpPr>
          <p:nvPr/>
        </p:nvSpPr>
        <p:spPr bwMode="auto">
          <a:xfrm>
            <a:off x="5486400" y="3916363"/>
            <a:ext cx="18415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 u="sng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列范数</a:t>
            </a:r>
          </a:p>
        </p:txBody>
      </p:sp>
      <p:sp>
        <p:nvSpPr>
          <p:cNvPr id="543759" name="Rectangle 15"/>
          <p:cNvSpPr>
            <a:spLocks noChangeArrowheads="1"/>
          </p:cNvSpPr>
          <p:nvPr/>
        </p:nvSpPr>
        <p:spPr bwMode="auto">
          <a:xfrm>
            <a:off x="5486400" y="4724400"/>
            <a:ext cx="17494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 u="sng">
                <a:solidFill>
                  <a:srgbClr val="FF33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2-范数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3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3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3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3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3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43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57" grpId="0" autoUpdateAnimBg="0"/>
      <p:bldP spid="543758" grpId="0" autoUpdateAnimBg="0"/>
      <p:bldP spid="54375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C11FD7B0-38E7-4696-9370-D0C67B4044B8}" type="slidenum">
              <a:rPr lang="zh-CN" altLang="en-US" b="0"/>
              <a:pPr/>
              <a:t>15</a:t>
            </a:fld>
            <a:endParaRPr lang="en-US" altLang="zh-CN" b="0"/>
          </a:p>
        </p:txBody>
      </p:sp>
      <p:sp>
        <p:nvSpPr>
          <p:cNvPr id="4403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BAC79475-3E44-4585-900F-5EFEBB5AA5E3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(2) 矩阵范数定义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384175"/>
          </a:xfrm>
        </p:spPr>
        <p:txBody>
          <a:bodyPr/>
          <a:lstStyle/>
          <a:p>
            <a:r>
              <a:rPr lang="zh-CN" altLang="en-US" smtClean="0"/>
              <a:t>例  计算</a:t>
            </a:r>
            <a:r>
              <a:rPr lang="en-US" altLang="zh-CN" smtClean="0"/>
              <a:t>A</a:t>
            </a:r>
            <a:r>
              <a:rPr lang="zh-CN" altLang="en-US" smtClean="0"/>
              <a:t>的各种范数</a:t>
            </a:r>
          </a:p>
        </p:txBody>
      </p:sp>
      <p:graphicFrame>
        <p:nvGraphicFramePr>
          <p:cNvPr id="44038" name="Object 4"/>
          <p:cNvGraphicFramePr>
            <a:graphicFrameLocks noChangeAspect="1"/>
          </p:cNvGraphicFramePr>
          <p:nvPr/>
        </p:nvGraphicFramePr>
        <p:xfrm>
          <a:off x="4267200" y="762000"/>
          <a:ext cx="1981200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8" name="Equation" r:id="rId4" imgW="850900" imgH="457200" progId="Equation.3">
                  <p:embed/>
                </p:oleObj>
              </mc:Choice>
              <mc:Fallback>
                <p:oleObj name="Equation" r:id="rId4" imgW="8509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762000"/>
                        <a:ext cx="1981200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45" name="Object 5"/>
          <p:cNvGraphicFramePr>
            <a:graphicFrameLocks noChangeAspect="1"/>
          </p:cNvGraphicFramePr>
          <p:nvPr/>
        </p:nvGraphicFramePr>
        <p:xfrm>
          <a:off x="762000" y="1447800"/>
          <a:ext cx="7350125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9" name="Equation" r:id="rId6" imgW="2730500" imgH="444500" progId="Equation.3">
                  <p:embed/>
                </p:oleObj>
              </mc:Choice>
              <mc:Fallback>
                <p:oleObj name="Equation" r:id="rId6" imgW="27305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447800"/>
                        <a:ext cx="7350125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46" name="Object 6"/>
          <p:cNvGraphicFramePr>
            <a:graphicFrameLocks noChangeAspect="1"/>
          </p:cNvGraphicFramePr>
          <p:nvPr/>
        </p:nvGraphicFramePr>
        <p:xfrm>
          <a:off x="762000" y="2133600"/>
          <a:ext cx="60198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0" name="Equation" r:id="rId8" imgW="2692400" imgH="431800" progId="Equation.3">
                  <p:embed/>
                </p:oleObj>
              </mc:Choice>
              <mc:Fallback>
                <p:oleObj name="Equation" r:id="rId8" imgW="26924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133600"/>
                        <a:ext cx="601980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47" name="Object 7"/>
          <p:cNvGraphicFramePr>
            <a:graphicFrameLocks noChangeAspect="1"/>
          </p:cNvGraphicFramePr>
          <p:nvPr/>
        </p:nvGraphicFramePr>
        <p:xfrm>
          <a:off x="762000" y="3124200"/>
          <a:ext cx="28956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1" name="Equation" r:id="rId10" imgW="1320227" imgH="266584" progId="Equation.3">
                  <p:embed/>
                </p:oleObj>
              </mc:Choice>
              <mc:Fallback>
                <p:oleObj name="Equation" r:id="rId10" imgW="1320227" imgH="26658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124200"/>
                        <a:ext cx="28956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48" name="Object 8"/>
          <p:cNvGraphicFramePr>
            <a:graphicFrameLocks noChangeAspect="1"/>
          </p:cNvGraphicFramePr>
          <p:nvPr/>
        </p:nvGraphicFramePr>
        <p:xfrm>
          <a:off x="4114800" y="2743200"/>
          <a:ext cx="35814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2" name="Equation" r:id="rId12" imgW="1562100" imgH="457200" progId="Equation.3">
                  <p:embed/>
                </p:oleObj>
              </mc:Choice>
              <mc:Fallback>
                <p:oleObj name="Equation" r:id="rId12" imgW="15621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743200"/>
                        <a:ext cx="358140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49" name="Object 9"/>
          <p:cNvGraphicFramePr>
            <a:graphicFrameLocks noChangeAspect="1"/>
          </p:cNvGraphicFramePr>
          <p:nvPr/>
        </p:nvGraphicFramePr>
        <p:xfrm>
          <a:off x="762000" y="3810000"/>
          <a:ext cx="716597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3" name="Equation" r:id="rId14" imgW="3187700" imgH="457200" progId="Equation.3">
                  <p:embed/>
                </p:oleObj>
              </mc:Choice>
              <mc:Fallback>
                <p:oleObj name="Equation" r:id="rId14" imgW="318770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810000"/>
                        <a:ext cx="7165975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50" name="Object 10"/>
          <p:cNvGraphicFramePr>
            <a:graphicFrameLocks noChangeAspect="1"/>
          </p:cNvGraphicFramePr>
          <p:nvPr/>
        </p:nvGraphicFramePr>
        <p:xfrm>
          <a:off x="762000" y="4724400"/>
          <a:ext cx="4418013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4" name="Equation" r:id="rId16" imgW="1993900" imgH="457200" progId="Equation.3">
                  <p:embed/>
                </p:oleObj>
              </mc:Choice>
              <mc:Fallback>
                <p:oleObj name="Equation" r:id="rId16" imgW="19939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724400"/>
                        <a:ext cx="4418013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51" name="Object 11"/>
          <p:cNvGraphicFramePr>
            <a:graphicFrameLocks noChangeAspect="1"/>
          </p:cNvGraphicFramePr>
          <p:nvPr/>
        </p:nvGraphicFramePr>
        <p:xfrm>
          <a:off x="5410200" y="4816475"/>
          <a:ext cx="343535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5" name="Equation" r:id="rId18" imgW="1497950" imgH="406224" progId="Equation.3">
                  <p:embed/>
                </p:oleObj>
              </mc:Choice>
              <mc:Fallback>
                <p:oleObj name="Equation" r:id="rId18" imgW="1497950" imgH="40622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816475"/>
                        <a:ext cx="3435350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52" name="Object 12"/>
          <p:cNvGraphicFramePr>
            <a:graphicFrameLocks noChangeAspect="1"/>
          </p:cNvGraphicFramePr>
          <p:nvPr/>
        </p:nvGraphicFramePr>
        <p:xfrm>
          <a:off x="1447800" y="5662613"/>
          <a:ext cx="57150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6" name="Equation" r:id="rId20" imgW="2743200" imgH="495300" progId="Equation.3">
                  <p:embed/>
                </p:oleObj>
              </mc:Choice>
              <mc:Fallback>
                <p:oleObj name="Equation" r:id="rId20" imgW="2743200" imgH="495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662613"/>
                        <a:ext cx="57150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7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7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7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7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7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73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7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FAC355FE-47BC-4A52-923E-5F2A694ABE52}" type="slidenum">
              <a:rPr lang="zh-CN" altLang="en-US" b="0"/>
              <a:pPr/>
              <a:t>16</a:t>
            </a:fld>
            <a:endParaRPr lang="en-US" altLang="zh-CN" b="0"/>
          </a:p>
        </p:txBody>
      </p:sp>
      <p:sp>
        <p:nvSpPr>
          <p:cNvPr id="4505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ADBBBC58-4DF1-4A8E-9873-79563034F4C5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(2) 矩阵范数定义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38150"/>
          </a:xfrm>
        </p:spPr>
        <p:txBody>
          <a:bodyPr/>
          <a:lstStyle/>
          <a:p>
            <a:r>
              <a:rPr lang="zh-CN" altLang="en-US" sz="3200" smtClean="0"/>
              <a:t>另一种常用的矩阵范数</a:t>
            </a:r>
          </a:p>
        </p:txBody>
      </p:sp>
      <p:graphicFrame>
        <p:nvGraphicFramePr>
          <p:cNvPr id="546820" name="Object 4"/>
          <p:cNvGraphicFramePr>
            <a:graphicFrameLocks noChangeAspect="1"/>
          </p:cNvGraphicFramePr>
          <p:nvPr/>
        </p:nvGraphicFramePr>
        <p:xfrm>
          <a:off x="900113" y="1628775"/>
          <a:ext cx="2871787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3" name="Equation" r:id="rId4" imgW="1066337" imgH="495085" progId="Equation.3">
                  <p:embed/>
                </p:oleObj>
              </mc:Choice>
              <mc:Fallback>
                <p:oleObj name="Equation" r:id="rId4" imgW="1066337" imgH="4950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628775"/>
                        <a:ext cx="2871787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21" name="Rectangle 5"/>
          <p:cNvSpPr>
            <a:spLocks noChangeArrowheads="1"/>
          </p:cNvSpPr>
          <p:nvPr/>
        </p:nvSpPr>
        <p:spPr bwMode="auto">
          <a:xfrm>
            <a:off x="468313" y="2852738"/>
            <a:ext cx="8142287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	这是另一种常用的矩阵范数，称||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A||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F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为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的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F-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范数(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Frobenius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范数)，</a:t>
            </a: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可以证明它与向量范数中的2-范数相容，即</a:t>
            </a: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		 ||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AX||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F </a:t>
            </a:r>
            <a:r>
              <a:rPr lang="en-US" altLang="zh-CN" sz="3200">
                <a:latin typeface="Times New Roman" pitchFamily="18" charset="0"/>
                <a:ea typeface="黑体" pitchFamily="49" charset="-122"/>
                <a:sym typeface="Symbol" pitchFamily="18" charset="2"/>
              </a:rPr>
              <a:t> 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||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A||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  <a:sym typeface="Symbol" pitchFamily="18" charset="2"/>
              </a:rPr>
              <a:t>F 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||X||</a:t>
            </a:r>
            <a:r>
              <a:rPr lang="zh-CN" altLang="en-US" sz="3200" baseline="-25000">
                <a:latin typeface="Times New Roman" pitchFamily="18" charset="0"/>
                <a:ea typeface="黑体" pitchFamily="49" charset="-122"/>
                <a:sym typeface="Symbol" pitchFamily="18" charset="2"/>
              </a:rPr>
              <a:t>2</a:t>
            </a:r>
          </a:p>
        </p:txBody>
      </p:sp>
      <p:graphicFrame>
        <p:nvGraphicFramePr>
          <p:cNvPr id="546822" name="Object 6"/>
          <p:cNvGraphicFramePr>
            <a:graphicFrameLocks noChangeAspect="1"/>
          </p:cNvGraphicFramePr>
          <p:nvPr/>
        </p:nvGraphicFramePr>
        <p:xfrm>
          <a:off x="1331913" y="5084763"/>
          <a:ext cx="6618287" cy="12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4" name="Equation" r:id="rId6" imgW="2567894" imgH="472492" progId="Equation.3">
                  <p:embed/>
                </p:oleObj>
              </mc:Choice>
              <mc:Fallback>
                <p:oleObj name="Equation" r:id="rId6" imgW="2567894" imgH="47249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084763"/>
                        <a:ext cx="6618287" cy="1239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46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546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546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4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21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7C9D4E6-F139-476D-8DCA-F3501819ECEA}" type="slidenum">
              <a:rPr lang="zh-CN" altLang="en-US" b="0"/>
              <a:pPr/>
              <a:t>17</a:t>
            </a:fld>
            <a:endParaRPr lang="en-US" altLang="zh-CN" b="0"/>
          </a:p>
        </p:txBody>
      </p:sp>
      <p:sp>
        <p:nvSpPr>
          <p:cNvPr id="4608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AFBE7A23-9041-4DA2-B269-1EBD1CCC8404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49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(3)向量、矩阵收敛问题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38150"/>
          </a:xfrm>
        </p:spPr>
        <p:txBody>
          <a:bodyPr/>
          <a:lstStyle/>
          <a:p>
            <a:r>
              <a:rPr lang="zh-CN" altLang="en-US" sz="3200" smtClean="0"/>
              <a:t>定义4.3  对于</a:t>
            </a:r>
            <a:r>
              <a:rPr lang="en-US" altLang="zh-CN" sz="3200" smtClean="0">
                <a:sym typeface="Symbol" pitchFamily="18" charset="2"/>
              </a:rPr>
              <a:t>R</a:t>
            </a:r>
            <a:r>
              <a:rPr lang="en-US" altLang="zh-CN" sz="3200" baseline="30000" smtClean="0">
                <a:sym typeface="Symbol" pitchFamily="18" charset="2"/>
              </a:rPr>
              <a:t>n</a:t>
            </a:r>
            <a:r>
              <a:rPr lang="zh-CN" altLang="en-US" sz="3200" smtClean="0"/>
              <a:t>中的向量序列{</a:t>
            </a:r>
            <a:r>
              <a:rPr lang="en-US" altLang="zh-CN" sz="3200" smtClean="0"/>
              <a:t>X</a:t>
            </a:r>
            <a:r>
              <a:rPr lang="en-US" altLang="zh-CN" sz="3200" baseline="30000" smtClean="0"/>
              <a:t>(k)</a:t>
            </a:r>
            <a:r>
              <a:rPr lang="en-US" altLang="zh-CN" sz="3200" smtClean="0"/>
              <a:t>},</a:t>
            </a:r>
            <a:r>
              <a:rPr lang="zh-CN" altLang="en-US" sz="3200" smtClean="0"/>
              <a:t>如果</a:t>
            </a:r>
          </a:p>
        </p:txBody>
      </p:sp>
      <p:graphicFrame>
        <p:nvGraphicFramePr>
          <p:cNvPr id="549892" name="Object 4"/>
          <p:cNvGraphicFramePr>
            <a:graphicFrameLocks noChangeAspect="1"/>
          </p:cNvGraphicFramePr>
          <p:nvPr/>
        </p:nvGraphicFramePr>
        <p:xfrm>
          <a:off x="1981200" y="1752600"/>
          <a:ext cx="338455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9" name="Equation" r:id="rId4" imgW="1257300" imgH="292100" progId="Equation.3">
                  <p:embed/>
                </p:oleObj>
              </mc:Choice>
              <mc:Fallback>
                <p:oleObj name="Equation" r:id="rId4" imgW="1257300" imgH="292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52600"/>
                        <a:ext cx="338455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893" name="Rectangle 5"/>
          <p:cNvSpPr>
            <a:spLocks noChangeArrowheads="1"/>
          </p:cNvSpPr>
          <p:nvPr/>
        </p:nvSpPr>
        <p:spPr bwMode="auto">
          <a:xfrm>
            <a:off x="609600" y="2514600"/>
            <a:ext cx="8142288" cy="104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	则称向量序列{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(k)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}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收敛于</a:t>
            </a:r>
            <a:r>
              <a:rPr lang="en-US" altLang="zh-CN" sz="3200">
                <a:latin typeface="Times New Roman" pitchFamily="18" charset="0"/>
                <a:ea typeface="黑体" pitchFamily="49" charset="-122"/>
                <a:sym typeface="Symbol" pitchFamily="18" charset="2"/>
              </a:rPr>
              <a:t>R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  <a:sym typeface="Symbol" pitchFamily="18" charset="2"/>
              </a:rPr>
              <a:t>n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中的向量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X。</a:t>
            </a: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定义4.4 对于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n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阶方阵序列{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(k)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},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如果</a:t>
            </a:r>
          </a:p>
        </p:txBody>
      </p:sp>
      <p:graphicFrame>
        <p:nvGraphicFramePr>
          <p:cNvPr id="549894" name="Object 6"/>
          <p:cNvGraphicFramePr>
            <a:graphicFrameLocks noChangeAspect="1"/>
          </p:cNvGraphicFramePr>
          <p:nvPr/>
        </p:nvGraphicFramePr>
        <p:xfrm>
          <a:off x="2057400" y="3668713"/>
          <a:ext cx="3281363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0" name="Equation" r:id="rId6" imgW="1218671" imgH="291973" progId="Equation.3">
                  <p:embed/>
                </p:oleObj>
              </mc:Choice>
              <mc:Fallback>
                <p:oleObj name="Equation" r:id="rId6" imgW="1218671" imgH="29197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668713"/>
                        <a:ext cx="3281363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895" name="Rectangle 7"/>
          <p:cNvSpPr>
            <a:spLocks noChangeArrowheads="1"/>
          </p:cNvSpPr>
          <p:nvPr/>
        </p:nvSpPr>
        <p:spPr bwMode="auto">
          <a:xfrm>
            <a:off x="609600" y="4591050"/>
            <a:ext cx="81422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	则称方阵序列{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(k)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}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收敛于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n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阶方阵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A。</a:t>
            </a:r>
          </a:p>
        </p:txBody>
      </p:sp>
      <p:graphicFrame>
        <p:nvGraphicFramePr>
          <p:cNvPr id="549896" name="Object 8"/>
          <p:cNvGraphicFramePr>
            <a:graphicFrameLocks noChangeAspect="1"/>
          </p:cNvGraphicFramePr>
          <p:nvPr/>
        </p:nvGraphicFramePr>
        <p:xfrm>
          <a:off x="5943600" y="1676400"/>
          <a:ext cx="23590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1" name="Equation" r:id="rId8" imgW="868778" imgH="282027" progId="Equation.3">
                  <p:embed/>
                </p:oleObj>
              </mc:Choice>
              <mc:Fallback>
                <p:oleObj name="Equation" r:id="rId8" imgW="868778" imgH="28202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676400"/>
                        <a:ext cx="2359025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7" name="Object 9"/>
          <p:cNvGraphicFramePr>
            <a:graphicFrameLocks noChangeAspect="1"/>
          </p:cNvGraphicFramePr>
          <p:nvPr/>
        </p:nvGraphicFramePr>
        <p:xfrm>
          <a:off x="5973763" y="3657600"/>
          <a:ext cx="225583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2" name="Equation" r:id="rId10" imgW="830554" imgH="282027" progId="Equation.3">
                  <p:embed/>
                </p:oleObj>
              </mc:Choice>
              <mc:Fallback>
                <p:oleObj name="Equation" r:id="rId10" imgW="830554" imgH="28202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3763" y="3657600"/>
                        <a:ext cx="2255837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898" name="Rectangle 10"/>
          <p:cNvSpPr>
            <a:spLocks noChangeArrowheads="1"/>
          </p:cNvSpPr>
          <p:nvPr/>
        </p:nvSpPr>
        <p:spPr bwMode="auto">
          <a:xfrm>
            <a:off x="609600" y="5029200"/>
            <a:ext cx="81534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（范数等价性）如果在一种范数意义下向量序列收敛时，则在任何一种范数意义下该向量亦收敛。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4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4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54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4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4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893" grpId="0" autoUpdateAnimBg="0"/>
      <p:bldP spid="549895" grpId="0" autoUpdateAnimBg="0"/>
      <p:bldP spid="54989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B23361B2-3DE5-448D-8897-5129E891C3DF}" type="slidenum">
              <a:rPr lang="zh-CN" altLang="en-US" b="0"/>
              <a:pPr/>
              <a:t>18</a:t>
            </a:fld>
            <a:endParaRPr lang="en-US" altLang="zh-CN" b="0"/>
          </a:p>
        </p:txBody>
      </p:sp>
      <p:sp>
        <p:nvSpPr>
          <p:cNvPr id="4710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ECB11A4-FE37-44AD-9ED6-C1A1AF32C1F8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(3)向量、矩阵收敛问题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876300"/>
          </a:xfrm>
        </p:spPr>
        <p:txBody>
          <a:bodyPr/>
          <a:lstStyle/>
          <a:p>
            <a:r>
              <a:rPr lang="zh-CN" altLang="en-US" sz="3200" smtClean="0"/>
              <a:t>定理4.2  </a:t>
            </a:r>
            <a:r>
              <a:rPr lang="en-US" altLang="zh-CN" sz="3200" smtClean="0">
                <a:sym typeface="Symbol" pitchFamily="18" charset="2"/>
              </a:rPr>
              <a:t>R</a:t>
            </a:r>
            <a:r>
              <a:rPr lang="en-US" altLang="zh-CN" sz="3200" baseline="30000" smtClean="0">
                <a:sym typeface="Symbol" pitchFamily="18" charset="2"/>
              </a:rPr>
              <a:t>n</a:t>
            </a:r>
            <a:r>
              <a:rPr lang="zh-CN" altLang="en-US" sz="3200" smtClean="0"/>
              <a:t>中的向量序列{</a:t>
            </a:r>
            <a:r>
              <a:rPr lang="en-US" altLang="zh-CN" sz="3200" smtClean="0"/>
              <a:t>X</a:t>
            </a:r>
            <a:r>
              <a:rPr lang="en-US" altLang="zh-CN" sz="3200" baseline="30000" smtClean="0"/>
              <a:t>(k)</a:t>
            </a:r>
            <a:r>
              <a:rPr lang="en-US" altLang="zh-CN" sz="3200" smtClean="0"/>
              <a:t>}</a:t>
            </a:r>
            <a:r>
              <a:rPr lang="zh-CN" altLang="en-US" sz="3200" smtClean="0"/>
              <a:t>收敛于</a:t>
            </a:r>
            <a:r>
              <a:rPr lang="en-US" altLang="zh-CN" sz="3200" smtClean="0">
                <a:sym typeface="Symbol" pitchFamily="18" charset="2"/>
              </a:rPr>
              <a:t>R</a:t>
            </a:r>
            <a:r>
              <a:rPr lang="en-US" altLang="zh-CN" sz="3200" baseline="30000" smtClean="0">
                <a:sym typeface="Symbol" pitchFamily="18" charset="2"/>
              </a:rPr>
              <a:t>n</a:t>
            </a:r>
            <a:r>
              <a:rPr lang="zh-CN" altLang="en-US" sz="3200" smtClean="0"/>
              <a:t>中的向量</a:t>
            </a:r>
            <a:r>
              <a:rPr lang="en-US" altLang="zh-CN" sz="3200" smtClean="0"/>
              <a:t>X</a:t>
            </a:r>
            <a:r>
              <a:rPr lang="zh-CN" altLang="en-US" sz="3200" smtClean="0"/>
              <a:t>的必要充分条件是</a:t>
            </a:r>
          </a:p>
        </p:txBody>
      </p:sp>
      <p:graphicFrame>
        <p:nvGraphicFramePr>
          <p:cNvPr id="47110" name="Object 4"/>
          <p:cNvGraphicFramePr>
            <a:graphicFrameLocks noChangeAspect="1"/>
          </p:cNvGraphicFramePr>
          <p:nvPr/>
        </p:nvGraphicFramePr>
        <p:xfrm>
          <a:off x="1784350" y="2133600"/>
          <a:ext cx="46164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1" name="Equation" r:id="rId4" imgW="1714500" imgH="304800" progId="Equation.3">
                  <p:embed/>
                </p:oleObj>
              </mc:Choice>
              <mc:Fallback>
                <p:oleObj name="Equation" r:id="rId4" imgW="1714500" imgH="304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0" y="2133600"/>
                        <a:ext cx="46164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Rectangle 5"/>
          <p:cNvSpPr>
            <a:spLocks noChangeArrowheads="1"/>
          </p:cNvSpPr>
          <p:nvPr/>
        </p:nvSpPr>
        <p:spPr bwMode="auto">
          <a:xfrm>
            <a:off x="611188" y="2997200"/>
            <a:ext cx="8142287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	其中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i="1" baseline="-25000">
                <a:latin typeface="Times New Roman" pitchFamily="18" charset="0"/>
                <a:ea typeface="黑体" pitchFamily="49" charset="-122"/>
              </a:rPr>
              <a:t>j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(k)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和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i="1" baseline="-25000">
                <a:latin typeface="Times New Roman" pitchFamily="18" charset="0"/>
                <a:ea typeface="黑体" pitchFamily="49" charset="-122"/>
              </a:rPr>
              <a:t>j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分别表示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 i="1" baseline="30000">
                <a:latin typeface="Times New Roman" pitchFamily="18" charset="0"/>
                <a:ea typeface="黑体" pitchFamily="49" charset="-122"/>
              </a:rPr>
              <a:t>k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和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X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中的第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j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个分量</a:t>
            </a: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endParaRPr lang="zh-CN" altLang="en-US" sz="3200">
              <a:latin typeface="Times New Roman" pitchFamily="18" charset="0"/>
              <a:ea typeface="黑体" pitchFamily="49" charset="-122"/>
            </a:endParaRP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定理4.3 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n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阶方阵序列{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(k)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}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收敛于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n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阶方阵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的充分必要条件是 </a:t>
            </a:r>
          </a:p>
        </p:txBody>
      </p:sp>
      <p:graphicFrame>
        <p:nvGraphicFramePr>
          <p:cNvPr id="47112" name="Object 6"/>
          <p:cNvGraphicFramePr>
            <a:graphicFrameLocks noChangeAspect="1"/>
          </p:cNvGraphicFramePr>
          <p:nvPr/>
        </p:nvGraphicFramePr>
        <p:xfrm>
          <a:off x="1763713" y="5157788"/>
          <a:ext cx="48863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2" name="Equation" r:id="rId6" imgW="1815312" imgH="304668" progId="Equation.3">
                  <p:embed/>
                </p:oleObj>
              </mc:Choice>
              <mc:Fallback>
                <p:oleObj name="Equation" r:id="rId6" imgW="1815312" imgH="30466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157788"/>
                        <a:ext cx="488632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(4)谱半径定义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543925" cy="876300"/>
          </a:xfrm>
        </p:spPr>
        <p:txBody>
          <a:bodyPr/>
          <a:lstStyle/>
          <a:p>
            <a:r>
              <a:rPr lang="zh-CN" altLang="en-US" sz="3200" smtClean="0"/>
              <a:t>定义4.5  设</a:t>
            </a:r>
            <a:r>
              <a:rPr lang="en-US" altLang="zh-CN" sz="3200" smtClean="0"/>
              <a:t>n</a:t>
            </a:r>
            <a:r>
              <a:rPr lang="zh-CN" altLang="en-US" sz="3200" smtClean="0"/>
              <a:t>阶方阵</a:t>
            </a:r>
            <a:r>
              <a:rPr lang="en-US" altLang="zh-CN" sz="3200" smtClean="0"/>
              <a:t>A</a:t>
            </a:r>
            <a:r>
              <a:rPr lang="zh-CN" altLang="en-US" sz="3200" smtClean="0"/>
              <a:t>的特征值为 </a:t>
            </a:r>
            <a:r>
              <a:rPr lang="zh-CN" altLang="en-US" sz="3200" smtClean="0">
                <a:sym typeface="Symbol" pitchFamily="18" charset="2"/>
              </a:rPr>
              <a:t></a:t>
            </a:r>
            <a:r>
              <a:rPr lang="en-US" altLang="zh-CN" sz="3200" baseline="-25000" smtClean="0">
                <a:sym typeface="Symbol" pitchFamily="18" charset="2"/>
              </a:rPr>
              <a:t>i </a:t>
            </a:r>
            <a:r>
              <a:rPr lang="en-US" altLang="zh-CN" sz="3200" smtClean="0">
                <a:sym typeface="Symbol" pitchFamily="18" charset="2"/>
              </a:rPr>
              <a:t>(i=1,2,…,n), </a:t>
            </a:r>
            <a:r>
              <a:rPr lang="zh-CN" altLang="en-US" sz="3200" smtClean="0">
                <a:sym typeface="Symbol" pitchFamily="18" charset="2"/>
              </a:rPr>
              <a:t>则称</a:t>
            </a:r>
          </a:p>
        </p:txBody>
      </p:sp>
      <p:graphicFrame>
        <p:nvGraphicFramePr>
          <p:cNvPr id="552964" name="Object 4"/>
          <p:cNvGraphicFramePr>
            <a:graphicFrameLocks noChangeAspect="1"/>
          </p:cNvGraphicFramePr>
          <p:nvPr/>
        </p:nvGraphicFramePr>
        <p:xfrm>
          <a:off x="2286000" y="1600200"/>
          <a:ext cx="2906713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4" name="Equation" r:id="rId4" imgW="1079500" imgH="279400" progId="Equation.3">
                  <p:embed/>
                </p:oleObj>
              </mc:Choice>
              <mc:Fallback>
                <p:oleObj name="Equation" r:id="rId4" imgW="1079500" imgH="279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600200"/>
                        <a:ext cx="2906713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65" name="Rectangle 5"/>
          <p:cNvSpPr>
            <a:spLocks noChangeArrowheads="1"/>
          </p:cNvSpPr>
          <p:nvPr/>
        </p:nvSpPr>
        <p:spPr bwMode="auto">
          <a:xfrm>
            <a:off x="533400" y="2286000"/>
            <a:ext cx="8142288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8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	为矩阵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的</a:t>
            </a:r>
            <a:r>
              <a:rPr lang="zh-CN" altLang="en-US" sz="3200" u="sng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谱半径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。</a:t>
            </a:r>
          </a:p>
          <a:p>
            <a:pPr marL="258763" indent="-258763" algn="l" defTabSz="814388">
              <a:lnSpc>
                <a:spcPct val="8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endParaRPr lang="en-US" altLang="zh-CN" sz="3200">
              <a:latin typeface="Times New Roman" pitchFamily="18" charset="0"/>
              <a:ea typeface="黑体" pitchFamily="49" charset="-122"/>
            </a:endParaRPr>
          </a:p>
          <a:p>
            <a:pPr marL="258763" indent="-258763" algn="l" defTabSz="814388">
              <a:lnSpc>
                <a:spcPct val="8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结论：矩阵范数和谱半径有关系</a:t>
            </a:r>
          </a:p>
        </p:txBody>
      </p:sp>
      <p:graphicFrame>
        <p:nvGraphicFramePr>
          <p:cNvPr id="552966" name="Object 6"/>
          <p:cNvGraphicFramePr>
            <a:graphicFrameLocks noChangeAspect="1"/>
          </p:cNvGraphicFramePr>
          <p:nvPr/>
        </p:nvGraphicFramePr>
        <p:xfrm>
          <a:off x="6572250" y="3286125"/>
          <a:ext cx="211931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5" name="Equation" r:id="rId6" imgW="777214" imgH="198023" progId="Equation.3">
                  <p:embed/>
                </p:oleObj>
              </mc:Choice>
              <mc:Fallback>
                <p:oleObj name="Equation" r:id="rId6" imgW="777214" imgH="19802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3286125"/>
                        <a:ext cx="2119313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67" name="Rectangle 7"/>
          <p:cNvSpPr>
            <a:spLocks noChangeArrowheads="1"/>
          </p:cNvSpPr>
          <p:nvPr/>
        </p:nvSpPr>
        <p:spPr bwMode="auto">
          <a:xfrm>
            <a:off x="0" y="4143375"/>
            <a:ext cx="8599488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649288" lvl="1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      设</a:t>
            </a:r>
            <a:r>
              <a:rPr lang="en-US" altLang="zh-CN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时</a:t>
            </a:r>
            <a:r>
              <a:rPr lang="en-US" altLang="zh-CN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n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阶方阵，如果数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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和</a:t>
            </a:r>
            <a:r>
              <a:rPr lang="en-US" altLang="zh-CN" sz="3200" i="1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n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元非零列向量</a:t>
            </a:r>
            <a:r>
              <a:rPr lang="en-US" altLang="zh-CN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X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使关系式</a:t>
            </a:r>
            <a:r>
              <a:rPr lang="en-US" altLang="zh-CN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AX= 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</a:t>
            </a:r>
            <a:r>
              <a:rPr lang="en-US" altLang="zh-CN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X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成立，那么这样的数称为方阵</a:t>
            </a:r>
            <a:r>
              <a:rPr lang="en-US" altLang="zh-CN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A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的</a:t>
            </a:r>
            <a:r>
              <a:rPr lang="zh-CN" altLang="en-US" sz="3200" u="sng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特征值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，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非零向量</a:t>
            </a:r>
            <a:r>
              <a:rPr lang="en-US" altLang="zh-CN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X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称为</a:t>
            </a:r>
            <a:r>
              <a:rPr lang="en-US" altLang="zh-CN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的对应于特征值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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的</a:t>
            </a:r>
            <a:r>
              <a:rPr lang="zh-CN" altLang="en-US" sz="3200" u="sng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特征向量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5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5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55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5" grpId="0" autoUpdateAnimBg="0"/>
      <p:bldP spid="55296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EC812AB-D08F-4E13-A22F-D68668797828}" type="slidenum">
              <a:rPr lang="zh-CN" altLang="en-US" b="0"/>
              <a:pPr/>
              <a:t>20</a:t>
            </a:fld>
            <a:endParaRPr lang="en-US" altLang="zh-CN" b="0"/>
          </a:p>
        </p:txBody>
      </p:sp>
      <p:sp>
        <p:nvSpPr>
          <p:cNvPr id="4915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B085C844-8131-4787-8C0A-F6BB7AD6C6CE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(4)谱半径定义</a:t>
            </a:r>
          </a:p>
        </p:txBody>
      </p:sp>
      <p:graphicFrame>
        <p:nvGraphicFramePr>
          <p:cNvPr id="555012" name="Object 4"/>
          <p:cNvGraphicFramePr>
            <a:graphicFrameLocks noChangeAspect="1"/>
          </p:cNvGraphicFramePr>
          <p:nvPr/>
        </p:nvGraphicFramePr>
        <p:xfrm>
          <a:off x="6689725" y="4895850"/>
          <a:ext cx="211931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0" name="Equation" r:id="rId3" imgW="787058" imgH="203112" progId="Equation.3">
                  <p:embed/>
                </p:oleObj>
              </mc:Choice>
              <mc:Fallback>
                <p:oleObj name="Equation" r:id="rId3" imgW="787058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725" y="4895850"/>
                        <a:ext cx="2119313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5013" name="Rectangle 5"/>
          <p:cNvSpPr>
            <a:spLocks noChangeArrowheads="1"/>
          </p:cNvSpPr>
          <p:nvPr/>
        </p:nvSpPr>
        <p:spPr bwMode="auto">
          <a:xfrm>
            <a:off x="517525" y="5581650"/>
            <a:ext cx="8142288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矩阵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的谱半径不超过它的任何一种范数，即||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A||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是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的特征值的上界。</a:t>
            </a:r>
          </a:p>
        </p:txBody>
      </p:sp>
      <p:graphicFrame>
        <p:nvGraphicFramePr>
          <p:cNvPr id="49159" name="Object 6"/>
          <p:cNvGraphicFramePr>
            <a:graphicFrameLocks noChangeAspect="1"/>
          </p:cNvGraphicFramePr>
          <p:nvPr/>
        </p:nvGraphicFramePr>
        <p:xfrm>
          <a:off x="295275" y="2076450"/>
          <a:ext cx="20510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1" name="Equation" r:id="rId5" imgW="761669" imgH="228501" progId="Equation.3">
                  <p:embed/>
                </p:oleObj>
              </mc:Choice>
              <mc:Fallback>
                <p:oleObj name="Equation" r:id="rId5" imgW="761669" imgH="2285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" y="2076450"/>
                        <a:ext cx="20510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5015" name="AutoShape 7"/>
          <p:cNvSpPr>
            <a:spLocks noChangeArrowheads="1"/>
          </p:cNvSpPr>
          <p:nvPr/>
        </p:nvSpPr>
        <p:spPr bwMode="auto">
          <a:xfrm>
            <a:off x="2346325" y="215265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55016" name="Object 8"/>
          <p:cNvGraphicFramePr>
            <a:graphicFrameLocks noChangeAspect="1"/>
          </p:cNvGraphicFramePr>
          <p:nvPr/>
        </p:nvGraphicFramePr>
        <p:xfrm>
          <a:off x="3184525" y="2000250"/>
          <a:ext cx="236220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2" name="Equation" r:id="rId7" imgW="977476" imgH="253890" progId="Equation.3">
                  <p:embed/>
                </p:oleObj>
              </mc:Choice>
              <mc:Fallback>
                <p:oleObj name="Equation" r:id="rId7" imgW="977476" imgH="25389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2000250"/>
                        <a:ext cx="236220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5017" name="Rectangle 9"/>
          <p:cNvSpPr>
            <a:spLocks noChangeArrowheads="1"/>
          </p:cNvSpPr>
          <p:nvPr/>
        </p:nvSpPr>
        <p:spPr bwMode="auto">
          <a:xfrm>
            <a:off x="1279525" y="3371850"/>
            <a:ext cx="336708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</a:rPr>
              <a:t>AX||</a:t>
            </a:r>
            <a:r>
              <a:rPr lang="zh-CN" altLang="en-US" sz="3200" baseline="-25000">
                <a:latin typeface="Times New Roman" pitchFamily="18" charset="0"/>
                <a:sym typeface="Symbol" pitchFamily="18" charset="2"/>
              </a:rPr>
              <a:t> </a:t>
            </a:r>
            <a:r>
              <a:rPr lang="en-US" altLang="zh-CN" sz="3200">
                <a:latin typeface="Times New Roman" pitchFamily="18" charset="0"/>
                <a:sym typeface="Symbol" pitchFamily="18" charset="2"/>
              </a:rPr>
              <a:t> </a:t>
            </a:r>
            <a:r>
              <a:rPr lang="zh-CN" altLang="en-US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</a:rPr>
              <a:t>A||</a:t>
            </a:r>
            <a:r>
              <a:rPr lang="zh-CN" altLang="en-US" sz="3200" baseline="-25000">
                <a:latin typeface="Times New Roman" pitchFamily="18" charset="0"/>
                <a:sym typeface="Symbol" pitchFamily="18" charset="2"/>
              </a:rPr>
              <a:t> </a:t>
            </a:r>
            <a:r>
              <a:rPr lang="zh-CN" altLang="en-US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</a:rPr>
              <a:t>X||</a:t>
            </a:r>
            <a:r>
              <a:rPr lang="zh-CN" altLang="en-US" sz="3200" baseline="-25000">
                <a:latin typeface="Times New Roman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555018" name="AutoShape 10"/>
          <p:cNvSpPr>
            <a:spLocks/>
          </p:cNvSpPr>
          <p:nvPr/>
        </p:nvSpPr>
        <p:spPr bwMode="auto">
          <a:xfrm>
            <a:off x="5699125" y="2990850"/>
            <a:ext cx="304800" cy="1371600"/>
          </a:xfrm>
          <a:prstGeom prst="rightBrace">
            <a:avLst>
              <a:gd name="adj1" fmla="val 375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5019" name="Rectangle 11"/>
          <p:cNvSpPr>
            <a:spLocks noChangeArrowheads="1"/>
          </p:cNvSpPr>
          <p:nvPr/>
        </p:nvSpPr>
        <p:spPr bwMode="auto">
          <a:xfrm>
            <a:off x="5927725" y="3448050"/>
            <a:ext cx="3216275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7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sym typeface="Symbol" pitchFamily="18" charset="2"/>
              </a:rPr>
              <a:t>|</a:t>
            </a:r>
            <a:r>
              <a:rPr lang="en-US" altLang="zh-CN" sz="3200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lang="zh-CN" altLang="en-US" sz="3200">
                <a:latin typeface="Times New Roman" pitchFamily="18" charset="0"/>
              </a:rPr>
              <a:t>|</a:t>
            </a:r>
            <a:r>
              <a:rPr lang="en-US" altLang="zh-CN" sz="3200" baseline="-2500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</a:rPr>
              <a:t>X</a:t>
            </a:r>
            <a:r>
              <a:rPr lang="en-US" altLang="zh-CN" sz="3200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  <a:sym typeface="Symbol" pitchFamily="18" charset="2"/>
              </a:rPr>
              <a:t> </a:t>
            </a:r>
            <a:r>
              <a:rPr lang="zh-CN" altLang="en-US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</a:rPr>
              <a:t>A||</a:t>
            </a:r>
            <a:r>
              <a:rPr lang="zh-CN" altLang="en-US" sz="3200" baseline="-2500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</a:rPr>
              <a:t>X</a:t>
            </a:r>
            <a:r>
              <a:rPr lang="en-US" altLang="zh-CN" sz="3200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3200">
                <a:latin typeface="Times New Roman" pitchFamily="18" charset="0"/>
              </a:rPr>
              <a:t>||</a:t>
            </a:r>
          </a:p>
        </p:txBody>
      </p:sp>
      <p:sp>
        <p:nvSpPr>
          <p:cNvPr id="555020" name="AutoShape 12"/>
          <p:cNvSpPr>
            <a:spLocks noChangeArrowheads="1"/>
          </p:cNvSpPr>
          <p:nvPr/>
        </p:nvSpPr>
        <p:spPr bwMode="auto">
          <a:xfrm>
            <a:off x="2346325" y="276225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5021" name="Rectangle 13"/>
          <p:cNvSpPr>
            <a:spLocks noChangeArrowheads="1"/>
          </p:cNvSpPr>
          <p:nvPr/>
        </p:nvSpPr>
        <p:spPr bwMode="auto">
          <a:xfrm>
            <a:off x="3074988" y="2762250"/>
            <a:ext cx="270033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|</a:t>
            </a:r>
            <a:r>
              <a:rPr lang="en-US" altLang="zh-CN" sz="3200" baseline="-2500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|</a:t>
            </a:r>
            <a:r>
              <a:rPr lang="en-US" altLang="zh-CN" sz="3200" baseline="-2500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||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sz="3200" baseline="-2500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||</a:t>
            </a:r>
            <a:r>
              <a:rPr lang="zh-CN" altLang="en-US" sz="3200">
                <a:latin typeface="Times New Roman" pitchFamily="18" charset="0"/>
                <a:sym typeface="Symbol" pitchFamily="18" charset="2"/>
              </a:rPr>
              <a:t>=</a:t>
            </a:r>
            <a:r>
              <a:rPr lang="zh-CN" altLang="en-US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</a:rPr>
              <a:t>AX</a:t>
            </a:r>
            <a:r>
              <a:rPr lang="en-US" altLang="zh-CN" sz="3200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3200">
                <a:latin typeface="Times New Roman" pitchFamily="18" charset="0"/>
              </a:rPr>
              <a:t>||</a:t>
            </a:r>
            <a:endParaRPr lang="zh-CN" altLang="en-US" sz="3200">
              <a:latin typeface="Times New Roman" pitchFamily="18" charset="0"/>
            </a:endParaRPr>
          </a:p>
        </p:txBody>
      </p:sp>
      <p:sp>
        <p:nvSpPr>
          <p:cNvPr id="555023" name="Rectangle 15"/>
          <p:cNvSpPr>
            <a:spLocks noChangeArrowheads="1"/>
          </p:cNvSpPr>
          <p:nvPr/>
        </p:nvSpPr>
        <p:spPr bwMode="auto">
          <a:xfrm>
            <a:off x="2803525" y="4057650"/>
            <a:ext cx="29718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70000"/>
              </a:lnSpc>
              <a:spcBef>
                <a:spcPct val="50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</a:rPr>
              <a:t>AX</a:t>
            </a:r>
            <a:r>
              <a:rPr lang="en-US" altLang="zh-CN" sz="3200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  <a:sym typeface="Symbol" pitchFamily="18" charset="2"/>
              </a:rPr>
              <a:t> </a:t>
            </a:r>
            <a:r>
              <a:rPr lang="zh-CN" altLang="en-US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</a:rPr>
              <a:t>A||</a:t>
            </a:r>
            <a:r>
              <a:rPr lang="zh-CN" altLang="en-US" sz="3200" baseline="-2500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</a:rPr>
              <a:t>X</a:t>
            </a:r>
            <a:r>
              <a:rPr lang="en-US" altLang="zh-CN" sz="3200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3200">
                <a:latin typeface="Times New Roman" pitchFamily="18" charset="0"/>
              </a:rPr>
              <a:t>||</a:t>
            </a:r>
          </a:p>
        </p:txBody>
      </p:sp>
      <p:sp>
        <p:nvSpPr>
          <p:cNvPr id="555024" name="AutoShape 16"/>
          <p:cNvSpPr>
            <a:spLocks noChangeArrowheads="1"/>
          </p:cNvSpPr>
          <p:nvPr/>
        </p:nvSpPr>
        <p:spPr bwMode="auto">
          <a:xfrm>
            <a:off x="2270125" y="4057650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5025" name="AutoShape 17"/>
          <p:cNvSpPr>
            <a:spLocks noChangeArrowheads="1"/>
          </p:cNvSpPr>
          <p:nvPr/>
        </p:nvSpPr>
        <p:spPr bwMode="auto">
          <a:xfrm>
            <a:off x="6003925" y="4210050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5026" name="Rectangle 18"/>
          <p:cNvSpPr>
            <a:spLocks noChangeArrowheads="1"/>
          </p:cNvSpPr>
          <p:nvPr/>
        </p:nvSpPr>
        <p:spPr bwMode="auto">
          <a:xfrm>
            <a:off x="6842125" y="4087813"/>
            <a:ext cx="1600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latin typeface="Times New Roman" pitchFamily="18" charset="0"/>
                <a:sym typeface="Symbol" pitchFamily="18" charset="2"/>
              </a:rPr>
              <a:t>|</a:t>
            </a:r>
            <a:r>
              <a:rPr lang="en-US" altLang="zh-CN" sz="3200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lang="zh-CN" altLang="en-US" sz="3200">
                <a:latin typeface="Times New Roman" pitchFamily="18" charset="0"/>
              </a:rPr>
              <a:t>|</a:t>
            </a:r>
            <a:r>
              <a:rPr lang="en-US" altLang="zh-CN" sz="3200" baseline="-2500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>
                <a:latin typeface="Times New Roman" pitchFamily="18" charset="0"/>
                <a:sym typeface="Symbol" pitchFamily="18" charset="2"/>
              </a:rPr>
              <a:t></a:t>
            </a:r>
            <a:r>
              <a:rPr lang="zh-CN" altLang="en-US" sz="3200">
                <a:latin typeface="Times New Roman" pitchFamily="18" charset="0"/>
              </a:rPr>
              <a:t>||</a:t>
            </a:r>
            <a:r>
              <a:rPr lang="en-US" altLang="zh-CN" sz="3200">
                <a:latin typeface="Times New Roman" pitchFamily="18" charset="0"/>
              </a:rPr>
              <a:t>A||</a:t>
            </a:r>
            <a:endParaRPr lang="zh-CN" altLang="en-US" sz="3200">
              <a:latin typeface="Times New Roman" pitchFamily="18" charset="0"/>
            </a:endParaRPr>
          </a:p>
        </p:txBody>
      </p:sp>
      <p:sp>
        <p:nvSpPr>
          <p:cNvPr id="555028" name="AutoShape 20"/>
          <p:cNvSpPr>
            <a:spLocks noChangeArrowheads="1"/>
          </p:cNvSpPr>
          <p:nvPr/>
        </p:nvSpPr>
        <p:spPr bwMode="auto">
          <a:xfrm>
            <a:off x="6003925" y="4972050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4572000" y="1357313"/>
          <a:ext cx="20510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3" name="Equation" r:id="rId9" imgW="761669" imgH="228501" progId="Equation.3">
                  <p:embed/>
                </p:oleObj>
              </mc:Choice>
              <mc:Fallback>
                <p:oleObj name="Equation" r:id="rId9" imgW="761669" imgH="228501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357313"/>
                        <a:ext cx="20510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3" name="矩形 22"/>
          <p:cNvSpPr>
            <a:spLocks noChangeArrowheads="1"/>
          </p:cNvSpPr>
          <p:nvPr/>
        </p:nvSpPr>
        <p:spPr bwMode="auto">
          <a:xfrm>
            <a:off x="357188" y="928688"/>
            <a:ext cx="8358187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649288" lvl="1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因为矩阵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的任一特征值</a:t>
            </a:r>
            <a:r>
              <a:rPr lang="zh-CN" altLang="en-US" sz="3200">
                <a:latin typeface="Times New Roman" pitchFamily="18" charset="0"/>
                <a:ea typeface="黑体" pitchFamily="49" charset="-122"/>
                <a:sym typeface="Symbol" pitchFamily="18" charset="2"/>
              </a:rPr>
              <a:t>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  <a:sym typeface="Symbol" pitchFamily="18" charset="2"/>
              </a:rPr>
              <a:t>i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与其对应的特征向量</a:t>
            </a:r>
            <a:r>
              <a:rPr lang="en-US" altLang="zh-CN" sz="3200">
                <a:latin typeface="Times New Roman" pitchFamily="18" charset="0"/>
                <a:ea typeface="黑体" pitchFamily="49" charset="-122"/>
                <a:sym typeface="Symbol" pitchFamily="18" charset="2"/>
              </a:rPr>
              <a:t>X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  <a:sym typeface="Symbol" pitchFamily="18" charset="2"/>
              </a:rPr>
              <a:t>i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有关系式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5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5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55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"/>
                                        <p:tgtEl>
                                          <p:spTgt spid="55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625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3" grpId="0" autoUpdateAnimBg="0"/>
      <p:bldP spid="555015" grpId="0" animBg="1"/>
      <p:bldP spid="555017" grpId="0" autoUpdateAnimBg="0"/>
      <p:bldP spid="555018" grpId="0" animBg="1"/>
      <p:bldP spid="555019" grpId="0" autoUpdateAnimBg="0"/>
      <p:bldP spid="555020" grpId="0" animBg="1"/>
      <p:bldP spid="555021" grpId="0" autoUpdateAnimBg="0"/>
      <p:bldP spid="555023" grpId="0" autoUpdateAnimBg="0"/>
      <p:bldP spid="555024" grpId="0" animBg="1"/>
      <p:bldP spid="555025" grpId="0" animBg="1"/>
      <p:bldP spid="555026" grpId="0" autoUpdateAnimBg="0"/>
      <p:bldP spid="5550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F3531DB-53A8-44F8-BE6B-AE07ED0373E6}" type="slidenum">
              <a:rPr lang="zh-CN" altLang="en-US" b="0"/>
              <a:pPr/>
              <a:t>21</a:t>
            </a:fld>
            <a:endParaRPr lang="en-US" altLang="zh-CN" b="0"/>
          </a:p>
        </p:txBody>
      </p:sp>
      <p:sp>
        <p:nvSpPr>
          <p:cNvPr id="5017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4C27C756-CF9F-453A-988F-7B19870C8730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(4)谱半径定义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38150"/>
          </a:xfrm>
        </p:spPr>
        <p:txBody>
          <a:bodyPr/>
          <a:lstStyle/>
          <a:p>
            <a:r>
              <a:rPr lang="zh-CN" altLang="en-US" sz="3200" smtClean="0"/>
              <a:t>定理4.4  如果</a:t>
            </a:r>
            <a:r>
              <a:rPr lang="en-US" altLang="zh-CN" sz="3200" smtClean="0"/>
              <a:t>A</a:t>
            </a:r>
            <a:r>
              <a:rPr lang="en-US" altLang="zh-CN" sz="3200" smtClean="0">
                <a:sym typeface="Symbol" pitchFamily="18" charset="2"/>
              </a:rPr>
              <a:t>R</a:t>
            </a:r>
            <a:r>
              <a:rPr lang="en-US" altLang="zh-CN" sz="3200" baseline="30000" smtClean="0">
                <a:sym typeface="Symbol" pitchFamily="18" charset="2"/>
              </a:rPr>
              <a:t>n*n</a:t>
            </a:r>
            <a:r>
              <a:rPr lang="en-US" altLang="zh-CN" sz="3200" smtClean="0">
                <a:sym typeface="Symbol" pitchFamily="18" charset="2"/>
              </a:rPr>
              <a:t>，</a:t>
            </a:r>
            <a:r>
              <a:rPr lang="zh-CN" altLang="en-US" sz="3200" smtClean="0">
                <a:sym typeface="Symbol" pitchFamily="18" charset="2"/>
              </a:rPr>
              <a:t>则</a:t>
            </a:r>
            <a:endParaRPr lang="zh-CN" altLang="en-US" sz="3200" smtClean="0"/>
          </a:p>
        </p:txBody>
      </p:sp>
      <p:graphicFrame>
        <p:nvGraphicFramePr>
          <p:cNvPr id="556036" name="Object 4"/>
          <p:cNvGraphicFramePr>
            <a:graphicFrameLocks noChangeAspect="1"/>
          </p:cNvGraphicFramePr>
          <p:nvPr/>
        </p:nvGraphicFramePr>
        <p:xfrm>
          <a:off x="1219200" y="1520825"/>
          <a:ext cx="50292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4" name="Equation" r:id="rId4" imgW="2183452" imgH="266584" progId="Equation.3">
                  <p:embed/>
                </p:oleObj>
              </mc:Choice>
              <mc:Fallback>
                <p:oleObj name="Equation" r:id="rId4" imgW="2183452" imgH="26658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520825"/>
                        <a:ext cx="50292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6037" name="Rectangle 5"/>
          <p:cNvSpPr>
            <a:spLocks noChangeArrowheads="1"/>
          </p:cNvSpPr>
          <p:nvPr/>
        </p:nvSpPr>
        <p:spPr bwMode="auto">
          <a:xfrm>
            <a:off x="533400" y="2801938"/>
            <a:ext cx="8142288" cy="238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7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证明：2）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为对称矩阵,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A’=A,A’A=A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2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,</a:t>
            </a:r>
          </a:p>
          <a:p>
            <a:pPr marL="258763" indent="-258763" algn="l" defTabSz="814388">
              <a:lnSpc>
                <a:spcPct val="7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		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设</a:t>
            </a:r>
            <a:r>
              <a:rPr lang="zh-CN" altLang="en-US" sz="32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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为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特征值,因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AX=</a:t>
            </a:r>
            <a:r>
              <a:rPr lang="zh-CN" altLang="en-US" sz="32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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X,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于是有</a:t>
            </a:r>
          </a:p>
          <a:p>
            <a:pPr marL="258763" indent="-258763" algn="l" defTabSz="814388">
              <a:lnSpc>
                <a:spcPct val="7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             A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2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X =A(AX)  =A(</a:t>
            </a:r>
            <a:r>
              <a:rPr lang="zh-CN" altLang="en-US" sz="32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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X)=</a:t>
            </a:r>
            <a:r>
              <a:rPr lang="zh-CN" altLang="en-US" sz="32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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(AX)=</a:t>
            </a:r>
            <a:r>
              <a:rPr lang="zh-CN" altLang="en-US" sz="32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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2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X,</a:t>
            </a:r>
          </a:p>
          <a:p>
            <a:pPr marL="258763" indent="-258763" algn="l" defTabSz="814388">
              <a:lnSpc>
                <a:spcPct val="7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    所以</a:t>
            </a:r>
            <a:r>
              <a:rPr lang="zh-CN" altLang="en-US" sz="32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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2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是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2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的特征值。</a:t>
            </a:r>
          </a:p>
          <a:p>
            <a:pPr marL="258763" indent="-258763" algn="l" defTabSz="814388">
              <a:lnSpc>
                <a:spcPct val="7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		记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的特征值为</a:t>
            </a:r>
            <a:r>
              <a:rPr lang="zh-CN" altLang="en-US" sz="32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</a:t>
            </a:r>
            <a:r>
              <a:rPr lang="zh-CN" altLang="en-US" sz="3200" baseline="-25000">
                <a:latin typeface="Times New Roman" pitchFamily="18" charset="0"/>
                <a:ea typeface="黑体" pitchFamily="49" charset="-122"/>
                <a:sym typeface="Symbol" pitchFamily="18" charset="2"/>
              </a:rPr>
              <a:t>1</a:t>
            </a:r>
            <a:r>
              <a:rPr lang="zh-CN" altLang="en-US" sz="3200">
                <a:latin typeface="Times New Roman" pitchFamily="18" charset="0"/>
                <a:ea typeface="黑体" pitchFamily="49" charset="-122"/>
                <a:sym typeface="Symbol" pitchFamily="18" charset="2"/>
              </a:rPr>
              <a:t>, </a:t>
            </a:r>
            <a:r>
              <a:rPr lang="zh-CN" altLang="en-US" sz="32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</a:t>
            </a:r>
            <a:r>
              <a:rPr lang="zh-CN" altLang="en-US" sz="3200" baseline="-25000">
                <a:latin typeface="Times New Roman" pitchFamily="18" charset="0"/>
                <a:ea typeface="黑体" pitchFamily="49" charset="-122"/>
                <a:sym typeface="Symbol" pitchFamily="18" charset="2"/>
              </a:rPr>
              <a:t>2</a:t>
            </a:r>
            <a:r>
              <a:rPr lang="zh-CN" altLang="en-US" sz="3200">
                <a:latin typeface="Times New Roman" pitchFamily="18" charset="0"/>
                <a:ea typeface="黑体" pitchFamily="49" charset="-122"/>
                <a:sym typeface="Symbol" pitchFamily="18" charset="2"/>
              </a:rPr>
              <a:t>,…,</a:t>
            </a:r>
            <a:r>
              <a:rPr lang="zh-CN" altLang="en-US" sz="32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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  <a:sym typeface="Symbol" pitchFamily="18" charset="2"/>
              </a:rPr>
              <a:t>n</a:t>
            </a:r>
            <a:r>
              <a:rPr lang="en-US" altLang="zh-CN" sz="3200">
                <a:latin typeface="Times New Roman" pitchFamily="18" charset="0"/>
                <a:ea typeface="黑体" pitchFamily="49" charset="-122"/>
                <a:sym typeface="Symbol" pitchFamily="18" charset="2"/>
              </a:rPr>
              <a:t>,</a:t>
            </a:r>
            <a:endParaRPr lang="zh-CN" altLang="en-US" sz="3200">
              <a:latin typeface="Times New Roman" pitchFamily="18" charset="0"/>
              <a:ea typeface="黑体" pitchFamily="49" charset="-122"/>
            </a:endParaRPr>
          </a:p>
        </p:txBody>
      </p:sp>
      <p:graphicFrame>
        <p:nvGraphicFramePr>
          <p:cNvPr id="556038" name="Object 6"/>
          <p:cNvGraphicFramePr>
            <a:graphicFrameLocks noChangeAspect="1"/>
          </p:cNvGraphicFramePr>
          <p:nvPr/>
        </p:nvGraphicFramePr>
        <p:xfrm>
          <a:off x="1219200" y="2159000"/>
          <a:ext cx="6248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5" name="Equation" r:id="rId6" imgW="2373870" imgH="215806" progId="Equation.3">
                  <p:embed/>
                </p:oleObj>
              </mc:Choice>
              <mc:Fallback>
                <p:oleObj name="Equation" r:id="rId6" imgW="2373870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159000"/>
                        <a:ext cx="62484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39" name="Object 7"/>
          <p:cNvGraphicFramePr>
            <a:graphicFrameLocks noChangeAspect="1"/>
          </p:cNvGraphicFramePr>
          <p:nvPr/>
        </p:nvGraphicFramePr>
        <p:xfrm>
          <a:off x="1752600" y="5181600"/>
          <a:ext cx="546893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6" name="Equation" r:id="rId8" imgW="2171700" imgH="292100" progId="Equation.3">
                  <p:embed/>
                </p:oleObj>
              </mc:Choice>
              <mc:Fallback>
                <p:oleObj name="Equation" r:id="rId8" imgW="2171700" imgH="292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181600"/>
                        <a:ext cx="5468938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6040" name="Rectangle 8"/>
          <p:cNvSpPr>
            <a:spLocks noChangeArrowheads="1"/>
          </p:cNvSpPr>
          <p:nvPr/>
        </p:nvSpPr>
        <p:spPr bwMode="auto">
          <a:xfrm>
            <a:off x="6477000" y="1295400"/>
            <a:ext cx="26670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itchFamily="18" charset="0"/>
              </a:rPr>
              <a:t>||</a:t>
            </a:r>
            <a:r>
              <a:rPr lang="en-US" altLang="zh-CN" sz="2800">
                <a:solidFill>
                  <a:srgbClr val="FF0000"/>
                </a:solidFill>
                <a:latin typeface="Times New Roman" pitchFamily="18" charset="0"/>
              </a:rPr>
              <a:t>A||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zh-CN" altLang="en-US" sz="2800">
                <a:solidFill>
                  <a:srgbClr val="FF0000"/>
                </a:solidFill>
                <a:latin typeface="Times New Roman" pitchFamily="18" charset="0"/>
              </a:rPr>
              <a:t>为</a:t>
            </a:r>
            <a:r>
              <a:rPr lang="zh-CN" altLang="en-US" sz="2800" u="sng">
                <a:solidFill>
                  <a:srgbClr val="FF0000"/>
                </a:solidFill>
                <a:latin typeface="Times New Roman" pitchFamily="18" charset="0"/>
              </a:rPr>
              <a:t>谱范数</a:t>
            </a:r>
            <a:endParaRPr lang="zh-CN" altLang="en-US" sz="2800">
              <a:solidFill>
                <a:srgbClr val="FF0000"/>
              </a:solidFill>
              <a:latin typeface="Times New Roman" pitchFamily="18" charset="0"/>
            </a:endParaRPr>
          </a:p>
        </p:txBody>
      </p:sp>
      <p:graphicFrame>
        <p:nvGraphicFramePr>
          <p:cNvPr id="556041" name="Object 9"/>
          <p:cNvGraphicFramePr>
            <a:graphicFrameLocks noChangeAspect="1"/>
          </p:cNvGraphicFramePr>
          <p:nvPr/>
        </p:nvGraphicFramePr>
        <p:xfrm>
          <a:off x="2719388" y="5773738"/>
          <a:ext cx="5053012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7" name="Equation" r:id="rId10" imgW="2005729" imgH="355446" progId="Equation.3">
                  <p:embed/>
                </p:oleObj>
              </mc:Choice>
              <mc:Fallback>
                <p:oleObj name="Equation" r:id="rId10" imgW="2005729" imgH="35544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9388" y="5773738"/>
                        <a:ext cx="5053012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5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55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6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6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6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56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37" grpId="0" autoUpdateAnimBg="0"/>
      <p:bldP spid="55604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CC93F484-BE32-400F-B62E-B8BBE5284E43}" type="slidenum">
              <a:rPr lang="zh-CN" altLang="en-US" b="0"/>
              <a:pPr/>
              <a:t>22</a:t>
            </a:fld>
            <a:endParaRPr lang="en-US" altLang="zh-CN" b="0"/>
          </a:p>
        </p:txBody>
      </p:sp>
      <p:sp>
        <p:nvSpPr>
          <p:cNvPr id="5120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4AF95E4-AB62-44E9-991D-C7F267D7B5C6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65125"/>
            <a:ext cx="8142288" cy="549275"/>
          </a:xfrm>
        </p:spPr>
        <p:txBody>
          <a:bodyPr/>
          <a:lstStyle/>
          <a:p>
            <a:pPr>
              <a:defRPr/>
            </a:pPr>
            <a:r>
              <a:rPr lang="zh-CN" altLang="en-US" sz="4000" smtClean="0"/>
              <a:t>(4)谱半径定义</a:t>
            </a: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876300"/>
          </a:xfrm>
        </p:spPr>
        <p:txBody>
          <a:bodyPr/>
          <a:lstStyle/>
          <a:p>
            <a:r>
              <a:rPr lang="zh-CN" altLang="en-US" sz="3200" smtClean="0"/>
              <a:t>定理4.5 设</a:t>
            </a:r>
            <a:r>
              <a:rPr lang="en-US" altLang="zh-CN" sz="3200" smtClean="0"/>
              <a:t>A</a:t>
            </a:r>
            <a:r>
              <a:rPr lang="zh-CN" altLang="en-US" sz="3200" smtClean="0"/>
              <a:t>是任意</a:t>
            </a:r>
            <a:r>
              <a:rPr lang="en-US" altLang="zh-CN" sz="3200" smtClean="0"/>
              <a:t>n</a:t>
            </a:r>
            <a:r>
              <a:rPr lang="zh-CN" altLang="en-US" sz="3200" smtClean="0"/>
              <a:t>阶方阵，由</a:t>
            </a:r>
            <a:r>
              <a:rPr lang="en-US" altLang="zh-CN" sz="3200" smtClean="0"/>
              <a:t>A</a:t>
            </a:r>
            <a:r>
              <a:rPr lang="zh-CN" altLang="en-US" sz="3200" smtClean="0"/>
              <a:t>的各次幂所组成的矩阵序列</a:t>
            </a:r>
          </a:p>
        </p:txBody>
      </p:sp>
      <p:graphicFrame>
        <p:nvGraphicFramePr>
          <p:cNvPr id="51206" name="Object 7"/>
          <p:cNvGraphicFramePr>
            <a:graphicFrameLocks noChangeAspect="1"/>
          </p:cNvGraphicFramePr>
          <p:nvPr/>
        </p:nvGraphicFramePr>
        <p:xfrm>
          <a:off x="2722563" y="2259013"/>
          <a:ext cx="28717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8" name="Equation" r:id="rId3" imgW="1066800" imgH="228600" progId="Equation.3">
                  <p:embed/>
                </p:oleObj>
              </mc:Choice>
              <mc:Fallback>
                <p:oleObj name="Equation" r:id="rId3" imgW="10668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563" y="2259013"/>
                        <a:ext cx="2871787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7" name="Rectangle 8"/>
          <p:cNvSpPr>
            <a:spLocks noChangeArrowheads="1"/>
          </p:cNvSpPr>
          <p:nvPr/>
        </p:nvSpPr>
        <p:spPr bwMode="auto">
          <a:xfrm>
            <a:off x="533400" y="2971800"/>
            <a:ext cx="81422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	收敛于零，即</a:t>
            </a:r>
          </a:p>
        </p:txBody>
      </p:sp>
      <p:graphicFrame>
        <p:nvGraphicFramePr>
          <p:cNvPr id="51208" name="Object 9"/>
          <p:cNvGraphicFramePr>
            <a:graphicFrameLocks noChangeAspect="1"/>
          </p:cNvGraphicFramePr>
          <p:nvPr/>
        </p:nvGraphicFramePr>
        <p:xfrm>
          <a:off x="3127375" y="3348038"/>
          <a:ext cx="194945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9" name="Equation" r:id="rId5" imgW="723586" imgH="291973" progId="Equation.3">
                  <p:embed/>
                </p:oleObj>
              </mc:Choice>
              <mc:Fallback>
                <p:oleObj name="Equation" r:id="rId5" imgW="723586" imgH="29197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3348038"/>
                        <a:ext cx="194945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Rectangle 10"/>
          <p:cNvSpPr>
            <a:spLocks noChangeArrowheads="1"/>
          </p:cNvSpPr>
          <p:nvPr/>
        </p:nvSpPr>
        <p:spPr bwMode="auto">
          <a:xfrm>
            <a:off x="533400" y="4210050"/>
            <a:ext cx="81422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	的必要充分条件是</a:t>
            </a:r>
          </a:p>
        </p:txBody>
      </p:sp>
      <p:graphicFrame>
        <p:nvGraphicFramePr>
          <p:cNvPr id="51210" name="Object 11"/>
          <p:cNvGraphicFramePr>
            <a:graphicFrameLocks noChangeAspect="1"/>
          </p:cNvGraphicFramePr>
          <p:nvPr/>
        </p:nvGraphicFramePr>
        <p:xfrm>
          <a:off x="3370263" y="4849813"/>
          <a:ext cx="1608137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0" name="Equation" r:id="rId7" imgW="596641" imgH="203112" progId="Equation.3">
                  <p:embed/>
                </p:oleObj>
              </mc:Choice>
              <mc:Fallback>
                <p:oleObj name="Equation" r:id="rId7" imgW="596641" imgH="20311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263" y="4849813"/>
                        <a:ext cx="1608137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36BA541-716A-40A7-83D8-2D39960EE549}" type="slidenum">
              <a:rPr lang="zh-CN" altLang="en-US" b="0"/>
              <a:pPr/>
              <a:t>23</a:t>
            </a:fld>
            <a:endParaRPr lang="en-US" altLang="zh-CN" b="0"/>
          </a:p>
        </p:txBody>
      </p:sp>
      <p:sp>
        <p:nvSpPr>
          <p:cNvPr id="52227" name="日期占位符 3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4C3E9AA-FF6B-4AF8-B228-E8544A2421EC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grpSp>
        <p:nvGrpSpPr>
          <p:cNvPr id="52228" name="Group 2"/>
          <p:cNvGrpSpPr>
            <a:grpSpLocks/>
          </p:cNvGrpSpPr>
          <p:nvPr/>
        </p:nvGrpSpPr>
        <p:grpSpPr bwMode="auto">
          <a:xfrm>
            <a:off x="555625" y="2036763"/>
            <a:ext cx="7945438" cy="2608262"/>
            <a:chOff x="350" y="1283"/>
            <a:chExt cx="5005" cy="1643"/>
          </a:xfrm>
        </p:grpSpPr>
        <p:sp>
          <p:nvSpPr>
            <p:cNvPr id="52230" name="Rectangle 3"/>
            <p:cNvSpPr>
              <a:spLocks noChangeArrowheads="1"/>
            </p:cNvSpPr>
            <p:nvPr/>
          </p:nvSpPr>
          <p:spPr bwMode="auto">
            <a:xfrm>
              <a:off x="483" y="1325"/>
              <a:ext cx="4780" cy="1564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31" name="Rectangle 4"/>
            <p:cNvSpPr>
              <a:spLocks noChangeArrowheads="1"/>
            </p:cNvSpPr>
            <p:nvPr/>
          </p:nvSpPr>
          <p:spPr bwMode="auto">
            <a:xfrm>
              <a:off x="362" y="1283"/>
              <a:ext cx="125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2" name="Rectangle 5"/>
            <p:cNvSpPr>
              <a:spLocks noChangeArrowheads="1"/>
            </p:cNvSpPr>
            <p:nvPr/>
          </p:nvSpPr>
          <p:spPr bwMode="auto">
            <a:xfrm>
              <a:off x="5218" y="1283"/>
              <a:ext cx="133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3" name="AutoShape 6"/>
            <p:cNvSpPr>
              <a:spLocks noChangeArrowheads="1"/>
            </p:cNvSpPr>
            <p:nvPr/>
          </p:nvSpPr>
          <p:spPr bwMode="auto">
            <a:xfrm>
              <a:off x="377" y="1283"/>
              <a:ext cx="4974" cy="98"/>
            </a:xfrm>
            <a:custGeom>
              <a:avLst/>
              <a:gdLst>
                <a:gd name="T0" fmla="*/ 1132 w 21600"/>
                <a:gd name="T1" fmla="*/ 0 h 21600"/>
                <a:gd name="T2" fmla="*/ 573 w 21600"/>
                <a:gd name="T3" fmla="*/ 0 h 21600"/>
                <a:gd name="T4" fmla="*/ 14 w 21600"/>
                <a:gd name="T5" fmla="*/ 0 h 21600"/>
                <a:gd name="T6" fmla="*/ 57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54 w 21600"/>
                <a:gd name="T13" fmla="*/ 1984 h 21600"/>
                <a:gd name="T14" fmla="*/ 19546 w 21600"/>
                <a:gd name="T15" fmla="*/ 19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12" y="21600"/>
                  </a:lnTo>
                  <a:lnTo>
                    <a:pt x="2108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4" name="AutoShape 7"/>
            <p:cNvSpPr>
              <a:spLocks noChangeArrowheads="1"/>
            </p:cNvSpPr>
            <p:nvPr/>
          </p:nvSpPr>
          <p:spPr bwMode="auto">
            <a:xfrm flipV="1">
              <a:off x="350" y="2828"/>
              <a:ext cx="5005" cy="98"/>
            </a:xfrm>
            <a:custGeom>
              <a:avLst/>
              <a:gdLst>
                <a:gd name="T0" fmla="*/ 1143 w 21600"/>
                <a:gd name="T1" fmla="*/ 0 h 21600"/>
                <a:gd name="T2" fmla="*/ 580 w 21600"/>
                <a:gd name="T3" fmla="*/ 0 h 21600"/>
                <a:gd name="T4" fmla="*/ 16 w 21600"/>
                <a:gd name="T5" fmla="*/ 0 h 21600"/>
                <a:gd name="T6" fmla="*/ 58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106 w 21600"/>
                <a:gd name="T13" fmla="*/ 2204 h 21600"/>
                <a:gd name="T14" fmla="*/ 19494 w 21600"/>
                <a:gd name="T15" fmla="*/ 19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12" y="21600"/>
                  </a:lnTo>
                  <a:lnTo>
                    <a:pt x="2098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5" name="Rectangle 8"/>
            <p:cNvSpPr>
              <a:spLocks noChangeArrowheads="1"/>
            </p:cNvSpPr>
            <p:nvPr/>
          </p:nvSpPr>
          <p:spPr bwMode="auto">
            <a:xfrm>
              <a:off x="480" y="1380"/>
              <a:ext cx="4738" cy="14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354281"/>
              </a:solidFill>
              <a:miter lim="800000"/>
              <a:headEnd/>
              <a:tailEnd/>
            </a:ln>
            <a:effectLst>
              <a:prstShdw prst="shdw17" dist="17961" dir="2700000">
                <a:srgbClr val="20284D"/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92201" name="Rectangle 9"/>
          <p:cNvSpPr>
            <a:spLocks noChangeArrowheads="1"/>
          </p:cNvSpPr>
          <p:nvPr/>
        </p:nvSpPr>
        <p:spPr bwMode="auto">
          <a:xfrm>
            <a:off x="609600" y="2497138"/>
            <a:ext cx="7585075" cy="9318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rgbClr val="354281"/>
            </a:outerShdw>
          </a:effectLst>
        </p:spPr>
        <p:txBody>
          <a:bodyPr lIns="0" tIns="0" rIns="0" bIns="0">
            <a:spAutoFit/>
          </a:bodyPr>
          <a:lstStyle/>
          <a:p>
            <a:pPr marL="290513" indent="-290513" defTabSz="915988">
              <a:lnSpc>
                <a:spcPct val="8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7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§2  简单迭代法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304800"/>
            <a:ext cx="8142288" cy="6096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简单迭代法</a:t>
            </a:r>
            <a:endParaRPr lang="zh-CN" altLang="en-US" dirty="0"/>
          </a:p>
        </p:txBody>
      </p:sp>
      <p:sp>
        <p:nvSpPr>
          <p:cNvPr id="53251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86D4917-DE1B-4A23-96FE-4FAB2D5769AB}" type="slidenum">
              <a:rPr lang="zh-CN" altLang="en-US" b="0"/>
              <a:pPr/>
              <a:t>24</a:t>
            </a:fld>
            <a:endParaRPr lang="en-US" altLang="zh-CN" b="0"/>
          </a:p>
        </p:txBody>
      </p:sp>
      <p:sp>
        <p:nvSpPr>
          <p:cNvPr id="53252" name="日期占位符 3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97E5237-A703-4C19-AAB5-9D1EA43C5861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grpSp>
        <p:nvGrpSpPr>
          <p:cNvPr id="203" name="Group 3"/>
          <p:cNvGrpSpPr>
            <a:grpSpLocks/>
          </p:cNvGrpSpPr>
          <p:nvPr/>
        </p:nvGrpSpPr>
        <p:grpSpPr bwMode="auto">
          <a:xfrm>
            <a:off x="395288" y="1125538"/>
            <a:ext cx="1143000" cy="1160462"/>
            <a:chOff x="384" y="1968"/>
            <a:chExt cx="720" cy="637"/>
          </a:xfrm>
        </p:grpSpPr>
        <p:pic>
          <p:nvPicPr>
            <p:cNvPr id="53317" name="Picture 4" descr="LIGHT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1968"/>
              <a:ext cx="381" cy="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318" name="Text Box 5"/>
            <p:cNvSpPr txBox="1">
              <a:spLocks noChangeArrowheads="1"/>
            </p:cNvSpPr>
            <p:nvPr/>
          </p:nvSpPr>
          <p:spPr bwMode="auto">
            <a:xfrm>
              <a:off x="768" y="2064"/>
              <a:ext cx="336" cy="4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rgbClr val="0000FF"/>
                  </a:solidFill>
                  <a:latin typeface="Times New Roman" pitchFamily="18" charset="0"/>
                  <a:ea typeface="楷体_GB2312" pitchFamily="1" charset="-122"/>
                </a:rPr>
                <a:t>思路</a:t>
              </a:r>
            </a:p>
          </p:txBody>
        </p:sp>
      </p:grpSp>
      <p:grpSp>
        <p:nvGrpSpPr>
          <p:cNvPr id="206" name="Group 6"/>
          <p:cNvGrpSpPr>
            <a:grpSpLocks/>
          </p:cNvGrpSpPr>
          <p:nvPr/>
        </p:nvGrpSpPr>
        <p:grpSpPr bwMode="auto">
          <a:xfrm>
            <a:off x="1763713" y="1412875"/>
            <a:ext cx="7086600" cy="1382713"/>
            <a:chOff x="1104" y="1584"/>
            <a:chExt cx="4464" cy="871"/>
          </a:xfrm>
        </p:grpSpPr>
        <p:graphicFrame>
          <p:nvGraphicFramePr>
            <p:cNvPr id="53310" name="Object 7"/>
            <p:cNvGraphicFramePr>
              <a:graphicFrameLocks noChangeAspect="1"/>
            </p:cNvGraphicFramePr>
            <p:nvPr/>
          </p:nvGraphicFramePr>
          <p:xfrm>
            <a:off x="1398" y="1644"/>
            <a:ext cx="544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14" name="Equation" r:id="rId6" imgW="469696" imgH="203112" progId="Equation.DSMT4">
                    <p:embed/>
                  </p:oleObj>
                </mc:Choice>
                <mc:Fallback>
                  <p:oleObj name="Equation" r:id="rId6" imgW="469696" imgH="203112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8" y="1644"/>
                          <a:ext cx="544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311" name="Group 8"/>
            <p:cNvGrpSpPr>
              <a:grpSpLocks/>
            </p:cNvGrpSpPr>
            <p:nvPr/>
          </p:nvGrpSpPr>
          <p:grpSpPr bwMode="auto">
            <a:xfrm>
              <a:off x="1104" y="1584"/>
              <a:ext cx="4464" cy="871"/>
              <a:chOff x="1104" y="1584"/>
              <a:chExt cx="4464" cy="871"/>
            </a:xfrm>
          </p:grpSpPr>
          <p:sp>
            <p:nvSpPr>
              <p:cNvPr id="209" name="Text Box 9"/>
              <p:cNvSpPr txBox="1">
                <a:spLocks noChangeArrowheads="1"/>
              </p:cNvSpPr>
              <p:nvPr/>
            </p:nvSpPr>
            <p:spPr bwMode="auto">
              <a:xfrm>
                <a:off x="1104" y="1590"/>
                <a:ext cx="4464" cy="8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800" kern="0" dirty="0">
                    <a:solidFill>
                      <a:sysClr val="windowText" lastClr="000000"/>
                    </a:solidFill>
                    <a:latin typeface="Times New Roman" pitchFamily="18" charset="0"/>
                    <a:ea typeface="楷体_GB2312" pitchFamily="1" charset="-122"/>
                  </a:rPr>
                  <a:t>将  </a:t>
                </a:r>
                <a:r>
                  <a:rPr kumimoji="1" lang="zh-CN" altLang="en-US" sz="2800" kern="0" dirty="0" smtClean="0">
                    <a:solidFill>
                      <a:sysClr val="windowText" lastClr="000000"/>
                    </a:solidFill>
                    <a:latin typeface="Times New Roman" pitchFamily="18" charset="0"/>
                    <a:ea typeface="楷体_GB2312" pitchFamily="1" charset="-122"/>
                  </a:rPr>
                  <a:t>         </a:t>
                </a:r>
                <a:r>
                  <a:rPr kumimoji="1" lang="zh-CN" altLang="en-US" sz="2800" kern="0" dirty="0">
                    <a:solidFill>
                      <a:sysClr val="windowText" lastClr="000000"/>
                    </a:solidFill>
                    <a:latin typeface="Times New Roman" pitchFamily="18" charset="0"/>
                    <a:ea typeface="楷体_GB2312" pitchFamily="1" charset="-122"/>
                  </a:rPr>
                  <a:t>改写为 等价形式                             ，建立迭代 　                     。从初值       出发，得到序列            。</a:t>
                </a:r>
                <a:endParaRPr kumimoji="1" lang="zh-CN" altLang="en-US" sz="2800" kern="0" dirty="0">
                  <a:solidFill>
                    <a:sysClr val="windowText" lastClr="000000"/>
                  </a:solidFill>
                  <a:latin typeface="Times New Roman" pitchFamily="18" charset="0"/>
                </a:endParaRPr>
              </a:p>
            </p:txBody>
          </p:sp>
          <p:graphicFrame>
            <p:nvGraphicFramePr>
              <p:cNvPr id="53313" name="Object 10"/>
              <p:cNvGraphicFramePr>
                <a:graphicFrameLocks noChangeAspect="1"/>
              </p:cNvGraphicFramePr>
              <p:nvPr/>
            </p:nvGraphicFramePr>
            <p:xfrm>
              <a:off x="3792" y="1584"/>
              <a:ext cx="1079" cy="3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415" name="Equation" r:id="rId8" imgW="710891" imgH="203112" progId="Equation.DSMT4">
                      <p:embed/>
                    </p:oleObj>
                  </mc:Choice>
                  <mc:Fallback>
                    <p:oleObj name="Equation" r:id="rId8" imgW="710891" imgH="203112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1584"/>
                            <a:ext cx="1079" cy="3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314" name="Object 11"/>
              <p:cNvGraphicFramePr>
                <a:graphicFrameLocks noChangeAspect="1"/>
              </p:cNvGraphicFramePr>
              <p:nvPr/>
            </p:nvGraphicFramePr>
            <p:xfrm>
              <a:off x="2160" y="1824"/>
              <a:ext cx="1176" cy="3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416" name="Equation" r:id="rId10" imgW="888614" imgH="241195" progId="Equation.DSMT4">
                      <p:embed/>
                    </p:oleObj>
                  </mc:Choice>
                  <mc:Fallback>
                    <p:oleObj name="Equation" r:id="rId10" imgW="888614" imgH="241195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0" y="1824"/>
                            <a:ext cx="1176" cy="3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315" name="Object 12"/>
              <p:cNvGraphicFramePr>
                <a:graphicFrameLocks noChangeAspect="1"/>
              </p:cNvGraphicFramePr>
              <p:nvPr/>
            </p:nvGraphicFramePr>
            <p:xfrm>
              <a:off x="4464" y="1824"/>
              <a:ext cx="256" cy="3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417" name="Equation" r:id="rId12" imgW="165028" imgH="228501" progId="Equation.DSMT4">
                      <p:embed/>
                    </p:oleObj>
                  </mc:Choice>
                  <mc:Fallback>
                    <p:oleObj name="Equation" r:id="rId12" imgW="165028" imgH="228501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1824"/>
                            <a:ext cx="256" cy="3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316" name="Object 13"/>
              <p:cNvGraphicFramePr>
                <a:graphicFrameLocks noChangeAspect="1"/>
              </p:cNvGraphicFramePr>
              <p:nvPr/>
            </p:nvGraphicFramePr>
            <p:xfrm>
              <a:off x="2064" y="2160"/>
              <a:ext cx="589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418" name="Equation" r:id="rId14" imgW="304668" imgH="228501" progId="Equation.DSMT4">
                      <p:embed/>
                    </p:oleObj>
                  </mc:Choice>
                  <mc:Fallback>
                    <p:oleObj name="Equation" r:id="rId14" imgW="304668" imgH="228501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4" y="2160"/>
                            <a:ext cx="589" cy="2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14" name="Group 14"/>
          <p:cNvGrpSpPr>
            <a:grpSpLocks/>
          </p:cNvGrpSpPr>
          <p:nvPr/>
        </p:nvGrpSpPr>
        <p:grpSpPr bwMode="auto">
          <a:xfrm>
            <a:off x="323850" y="3068638"/>
            <a:ext cx="1981200" cy="1295400"/>
            <a:chOff x="528" y="3024"/>
            <a:chExt cx="1248" cy="816"/>
          </a:xfrm>
        </p:grpSpPr>
        <p:grpSp>
          <p:nvGrpSpPr>
            <p:cNvPr id="53257" name="Group 15"/>
            <p:cNvGrpSpPr>
              <a:grpSpLocks/>
            </p:cNvGrpSpPr>
            <p:nvPr/>
          </p:nvGrpSpPr>
          <p:grpSpPr bwMode="auto">
            <a:xfrm flipH="1">
              <a:off x="528" y="3024"/>
              <a:ext cx="576" cy="816"/>
              <a:chOff x="448" y="2989"/>
              <a:chExt cx="818" cy="1133"/>
            </a:xfrm>
          </p:grpSpPr>
          <p:grpSp>
            <p:nvGrpSpPr>
              <p:cNvPr id="53259" name="Group 16"/>
              <p:cNvGrpSpPr>
                <a:grpSpLocks/>
              </p:cNvGrpSpPr>
              <p:nvPr/>
            </p:nvGrpSpPr>
            <p:grpSpPr bwMode="auto">
              <a:xfrm>
                <a:off x="448" y="2989"/>
                <a:ext cx="694" cy="689"/>
                <a:chOff x="448" y="2989"/>
                <a:chExt cx="694" cy="689"/>
              </a:xfrm>
            </p:grpSpPr>
            <p:grpSp>
              <p:nvGrpSpPr>
                <p:cNvPr id="53296" name="Group 17"/>
                <p:cNvGrpSpPr>
                  <a:grpSpLocks/>
                </p:cNvGrpSpPr>
                <p:nvPr/>
              </p:nvGrpSpPr>
              <p:grpSpPr bwMode="auto">
                <a:xfrm>
                  <a:off x="461" y="2998"/>
                  <a:ext cx="681" cy="679"/>
                  <a:chOff x="461" y="2998"/>
                  <a:chExt cx="681" cy="679"/>
                </a:xfrm>
              </p:grpSpPr>
              <p:grpSp>
                <p:nvGrpSpPr>
                  <p:cNvPr id="53302" name="Group 18"/>
                  <p:cNvGrpSpPr>
                    <a:grpSpLocks/>
                  </p:cNvGrpSpPr>
                  <p:nvPr/>
                </p:nvGrpSpPr>
                <p:grpSpPr bwMode="auto">
                  <a:xfrm>
                    <a:off x="461" y="2998"/>
                    <a:ext cx="681" cy="679"/>
                    <a:chOff x="461" y="2998"/>
                    <a:chExt cx="681" cy="679"/>
                  </a:xfrm>
                </p:grpSpPr>
                <p:sp>
                  <p:nvSpPr>
                    <p:cNvPr id="266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461" y="2997"/>
                      <a:ext cx="578" cy="394"/>
                    </a:xfrm>
                    <a:custGeom>
                      <a:avLst/>
                      <a:gdLst>
                        <a:gd name="T0" fmla="*/ 24 w 1155"/>
                        <a:gd name="T1" fmla="*/ 788 h 788"/>
                        <a:gd name="T2" fmla="*/ 7 w 1155"/>
                        <a:gd name="T3" fmla="*/ 695 h 788"/>
                        <a:gd name="T4" fmla="*/ 0 w 1155"/>
                        <a:gd name="T5" fmla="*/ 605 h 788"/>
                        <a:gd name="T6" fmla="*/ 3 w 1155"/>
                        <a:gd name="T7" fmla="*/ 543 h 788"/>
                        <a:gd name="T8" fmla="*/ 14 w 1155"/>
                        <a:gd name="T9" fmla="*/ 487 h 788"/>
                        <a:gd name="T10" fmla="*/ 31 w 1155"/>
                        <a:gd name="T11" fmla="*/ 425 h 788"/>
                        <a:gd name="T12" fmla="*/ 58 w 1155"/>
                        <a:gd name="T13" fmla="*/ 362 h 788"/>
                        <a:gd name="T14" fmla="*/ 93 w 1155"/>
                        <a:gd name="T15" fmla="*/ 297 h 788"/>
                        <a:gd name="T16" fmla="*/ 128 w 1155"/>
                        <a:gd name="T17" fmla="*/ 245 h 788"/>
                        <a:gd name="T18" fmla="*/ 169 w 1155"/>
                        <a:gd name="T19" fmla="*/ 193 h 788"/>
                        <a:gd name="T20" fmla="*/ 217 w 1155"/>
                        <a:gd name="T21" fmla="*/ 148 h 788"/>
                        <a:gd name="T22" fmla="*/ 266 w 1155"/>
                        <a:gd name="T23" fmla="*/ 110 h 788"/>
                        <a:gd name="T24" fmla="*/ 318 w 1155"/>
                        <a:gd name="T25" fmla="*/ 79 h 788"/>
                        <a:gd name="T26" fmla="*/ 381 w 1155"/>
                        <a:gd name="T27" fmla="*/ 52 h 788"/>
                        <a:gd name="T28" fmla="*/ 454 w 1155"/>
                        <a:gd name="T29" fmla="*/ 27 h 788"/>
                        <a:gd name="T30" fmla="*/ 516 w 1155"/>
                        <a:gd name="T31" fmla="*/ 10 h 788"/>
                        <a:gd name="T32" fmla="*/ 592 w 1155"/>
                        <a:gd name="T33" fmla="*/ 0 h 788"/>
                        <a:gd name="T34" fmla="*/ 689 w 1155"/>
                        <a:gd name="T35" fmla="*/ 0 h 788"/>
                        <a:gd name="T36" fmla="*/ 761 w 1155"/>
                        <a:gd name="T37" fmla="*/ 14 h 788"/>
                        <a:gd name="T38" fmla="*/ 848 w 1155"/>
                        <a:gd name="T39" fmla="*/ 34 h 788"/>
                        <a:gd name="T40" fmla="*/ 934 w 1155"/>
                        <a:gd name="T41" fmla="*/ 72 h 788"/>
                        <a:gd name="T42" fmla="*/ 1010 w 1155"/>
                        <a:gd name="T43" fmla="*/ 117 h 788"/>
                        <a:gd name="T44" fmla="*/ 1062 w 1155"/>
                        <a:gd name="T45" fmla="*/ 162 h 788"/>
                        <a:gd name="T46" fmla="*/ 1114 w 1155"/>
                        <a:gd name="T47" fmla="*/ 214 h 788"/>
                        <a:gd name="T48" fmla="*/ 1155 w 1155"/>
                        <a:gd name="T49" fmla="*/ 266 h 788"/>
                        <a:gd name="T50" fmla="*/ 1045 w 1155"/>
                        <a:gd name="T51" fmla="*/ 183 h 788"/>
                        <a:gd name="T52" fmla="*/ 986 w 1155"/>
                        <a:gd name="T53" fmla="*/ 148 h 788"/>
                        <a:gd name="T54" fmla="*/ 924 w 1155"/>
                        <a:gd name="T55" fmla="*/ 124 h 788"/>
                        <a:gd name="T56" fmla="*/ 844 w 1155"/>
                        <a:gd name="T57" fmla="*/ 100 h 788"/>
                        <a:gd name="T58" fmla="*/ 768 w 1155"/>
                        <a:gd name="T59" fmla="*/ 90 h 788"/>
                        <a:gd name="T60" fmla="*/ 685 w 1155"/>
                        <a:gd name="T61" fmla="*/ 86 h 788"/>
                        <a:gd name="T62" fmla="*/ 623 w 1155"/>
                        <a:gd name="T63" fmla="*/ 90 h 788"/>
                        <a:gd name="T64" fmla="*/ 557 w 1155"/>
                        <a:gd name="T65" fmla="*/ 100 h 788"/>
                        <a:gd name="T66" fmla="*/ 492 w 1155"/>
                        <a:gd name="T67" fmla="*/ 117 h 788"/>
                        <a:gd name="T68" fmla="*/ 429 w 1155"/>
                        <a:gd name="T69" fmla="*/ 138 h 788"/>
                        <a:gd name="T70" fmla="*/ 360 w 1155"/>
                        <a:gd name="T71" fmla="*/ 172 h 788"/>
                        <a:gd name="T72" fmla="*/ 307 w 1155"/>
                        <a:gd name="T73" fmla="*/ 204 h 788"/>
                        <a:gd name="T74" fmla="*/ 262 w 1155"/>
                        <a:gd name="T75" fmla="*/ 242 h 788"/>
                        <a:gd name="T76" fmla="*/ 211 w 1155"/>
                        <a:gd name="T77" fmla="*/ 283 h 788"/>
                        <a:gd name="T78" fmla="*/ 169 w 1155"/>
                        <a:gd name="T79" fmla="*/ 328 h 788"/>
                        <a:gd name="T80" fmla="*/ 128 w 1155"/>
                        <a:gd name="T81" fmla="*/ 390 h 788"/>
                        <a:gd name="T82" fmla="*/ 90 w 1155"/>
                        <a:gd name="T83" fmla="*/ 456 h 788"/>
                        <a:gd name="T84" fmla="*/ 65 w 1155"/>
                        <a:gd name="T85" fmla="*/ 518 h 788"/>
                        <a:gd name="T86" fmla="*/ 45 w 1155"/>
                        <a:gd name="T87" fmla="*/ 592 h 788"/>
                        <a:gd name="T88" fmla="*/ 31 w 1155"/>
                        <a:gd name="T89" fmla="*/ 681 h 788"/>
                        <a:gd name="T90" fmla="*/ 24 w 1155"/>
                        <a:gd name="T91" fmla="*/ 788 h 78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</a:cxnLst>
                      <a:rect l="0" t="0" r="r" b="b"/>
                      <a:pathLst>
                        <a:path w="1155" h="788">
                          <a:moveTo>
                            <a:pt x="24" y="788"/>
                          </a:moveTo>
                          <a:lnTo>
                            <a:pt x="7" y="695"/>
                          </a:lnTo>
                          <a:lnTo>
                            <a:pt x="0" y="605"/>
                          </a:lnTo>
                          <a:lnTo>
                            <a:pt x="3" y="543"/>
                          </a:lnTo>
                          <a:lnTo>
                            <a:pt x="14" y="487"/>
                          </a:lnTo>
                          <a:lnTo>
                            <a:pt x="31" y="425"/>
                          </a:lnTo>
                          <a:lnTo>
                            <a:pt x="58" y="362"/>
                          </a:lnTo>
                          <a:lnTo>
                            <a:pt x="93" y="297"/>
                          </a:lnTo>
                          <a:lnTo>
                            <a:pt x="128" y="245"/>
                          </a:lnTo>
                          <a:lnTo>
                            <a:pt x="169" y="193"/>
                          </a:lnTo>
                          <a:lnTo>
                            <a:pt x="217" y="148"/>
                          </a:lnTo>
                          <a:lnTo>
                            <a:pt x="266" y="110"/>
                          </a:lnTo>
                          <a:lnTo>
                            <a:pt x="318" y="79"/>
                          </a:lnTo>
                          <a:lnTo>
                            <a:pt x="381" y="52"/>
                          </a:lnTo>
                          <a:lnTo>
                            <a:pt x="454" y="27"/>
                          </a:lnTo>
                          <a:lnTo>
                            <a:pt x="516" y="10"/>
                          </a:lnTo>
                          <a:lnTo>
                            <a:pt x="592" y="0"/>
                          </a:lnTo>
                          <a:lnTo>
                            <a:pt x="689" y="0"/>
                          </a:lnTo>
                          <a:lnTo>
                            <a:pt x="761" y="14"/>
                          </a:lnTo>
                          <a:lnTo>
                            <a:pt x="848" y="34"/>
                          </a:lnTo>
                          <a:lnTo>
                            <a:pt x="934" y="72"/>
                          </a:lnTo>
                          <a:lnTo>
                            <a:pt x="1010" y="117"/>
                          </a:lnTo>
                          <a:lnTo>
                            <a:pt x="1062" y="162"/>
                          </a:lnTo>
                          <a:lnTo>
                            <a:pt x="1114" y="214"/>
                          </a:lnTo>
                          <a:lnTo>
                            <a:pt x="1155" y="266"/>
                          </a:lnTo>
                          <a:lnTo>
                            <a:pt x="1045" y="183"/>
                          </a:lnTo>
                          <a:lnTo>
                            <a:pt x="986" y="148"/>
                          </a:lnTo>
                          <a:lnTo>
                            <a:pt x="924" y="124"/>
                          </a:lnTo>
                          <a:lnTo>
                            <a:pt x="844" y="100"/>
                          </a:lnTo>
                          <a:lnTo>
                            <a:pt x="768" y="90"/>
                          </a:lnTo>
                          <a:lnTo>
                            <a:pt x="685" y="86"/>
                          </a:lnTo>
                          <a:lnTo>
                            <a:pt x="623" y="90"/>
                          </a:lnTo>
                          <a:lnTo>
                            <a:pt x="557" y="100"/>
                          </a:lnTo>
                          <a:lnTo>
                            <a:pt x="492" y="117"/>
                          </a:lnTo>
                          <a:lnTo>
                            <a:pt x="429" y="138"/>
                          </a:lnTo>
                          <a:lnTo>
                            <a:pt x="360" y="172"/>
                          </a:lnTo>
                          <a:lnTo>
                            <a:pt x="307" y="204"/>
                          </a:lnTo>
                          <a:lnTo>
                            <a:pt x="262" y="242"/>
                          </a:lnTo>
                          <a:lnTo>
                            <a:pt x="211" y="283"/>
                          </a:lnTo>
                          <a:lnTo>
                            <a:pt x="169" y="328"/>
                          </a:lnTo>
                          <a:lnTo>
                            <a:pt x="128" y="390"/>
                          </a:lnTo>
                          <a:lnTo>
                            <a:pt x="90" y="456"/>
                          </a:lnTo>
                          <a:lnTo>
                            <a:pt x="65" y="518"/>
                          </a:lnTo>
                          <a:lnTo>
                            <a:pt x="45" y="592"/>
                          </a:lnTo>
                          <a:lnTo>
                            <a:pt x="31" y="681"/>
                          </a:lnTo>
                          <a:lnTo>
                            <a:pt x="24" y="78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267" name="Freeform 20"/>
                    <p:cNvSpPr>
                      <a:spLocks/>
                    </p:cNvSpPr>
                    <p:nvPr/>
                  </p:nvSpPr>
                  <p:spPr bwMode="auto">
                    <a:xfrm>
                      <a:off x="505" y="3192"/>
                      <a:ext cx="638" cy="485"/>
                    </a:xfrm>
                    <a:custGeom>
                      <a:avLst/>
                      <a:gdLst>
                        <a:gd name="T0" fmla="*/ 0 w 1274"/>
                        <a:gd name="T1" fmla="*/ 588 h 968"/>
                        <a:gd name="T2" fmla="*/ 73 w 1274"/>
                        <a:gd name="T3" fmla="*/ 671 h 968"/>
                        <a:gd name="T4" fmla="*/ 152 w 1274"/>
                        <a:gd name="T5" fmla="*/ 744 h 968"/>
                        <a:gd name="T6" fmla="*/ 225 w 1274"/>
                        <a:gd name="T7" fmla="*/ 785 h 968"/>
                        <a:gd name="T8" fmla="*/ 330 w 1274"/>
                        <a:gd name="T9" fmla="*/ 830 h 968"/>
                        <a:gd name="T10" fmla="*/ 413 w 1274"/>
                        <a:gd name="T11" fmla="*/ 854 h 968"/>
                        <a:gd name="T12" fmla="*/ 489 w 1274"/>
                        <a:gd name="T13" fmla="*/ 865 h 968"/>
                        <a:gd name="T14" fmla="*/ 578 w 1274"/>
                        <a:gd name="T15" fmla="*/ 865 h 968"/>
                        <a:gd name="T16" fmla="*/ 644 w 1274"/>
                        <a:gd name="T17" fmla="*/ 858 h 968"/>
                        <a:gd name="T18" fmla="*/ 724 w 1274"/>
                        <a:gd name="T19" fmla="*/ 844 h 968"/>
                        <a:gd name="T20" fmla="*/ 803 w 1274"/>
                        <a:gd name="T21" fmla="*/ 820 h 968"/>
                        <a:gd name="T22" fmla="*/ 869 w 1274"/>
                        <a:gd name="T23" fmla="*/ 785 h 968"/>
                        <a:gd name="T24" fmla="*/ 931 w 1274"/>
                        <a:gd name="T25" fmla="*/ 747 h 968"/>
                        <a:gd name="T26" fmla="*/ 986 w 1274"/>
                        <a:gd name="T27" fmla="*/ 709 h 968"/>
                        <a:gd name="T28" fmla="*/ 1041 w 1274"/>
                        <a:gd name="T29" fmla="*/ 654 h 968"/>
                        <a:gd name="T30" fmla="*/ 1097 w 1274"/>
                        <a:gd name="T31" fmla="*/ 592 h 968"/>
                        <a:gd name="T32" fmla="*/ 1139 w 1274"/>
                        <a:gd name="T33" fmla="*/ 533 h 968"/>
                        <a:gd name="T34" fmla="*/ 1164 w 1274"/>
                        <a:gd name="T35" fmla="*/ 474 h 968"/>
                        <a:gd name="T36" fmla="*/ 1195 w 1274"/>
                        <a:gd name="T37" fmla="*/ 381 h 968"/>
                        <a:gd name="T38" fmla="*/ 1215 w 1274"/>
                        <a:gd name="T39" fmla="*/ 284 h 968"/>
                        <a:gd name="T40" fmla="*/ 1219 w 1274"/>
                        <a:gd name="T41" fmla="*/ 198 h 968"/>
                        <a:gd name="T42" fmla="*/ 1205 w 1274"/>
                        <a:gd name="T43" fmla="*/ 104 h 968"/>
                        <a:gd name="T44" fmla="*/ 1174 w 1274"/>
                        <a:gd name="T45" fmla="*/ 0 h 968"/>
                        <a:gd name="T46" fmla="*/ 1205 w 1274"/>
                        <a:gd name="T47" fmla="*/ 55 h 968"/>
                        <a:gd name="T48" fmla="*/ 1240 w 1274"/>
                        <a:gd name="T49" fmla="*/ 135 h 968"/>
                        <a:gd name="T50" fmla="*/ 1257 w 1274"/>
                        <a:gd name="T51" fmla="*/ 208 h 968"/>
                        <a:gd name="T52" fmla="*/ 1274 w 1274"/>
                        <a:gd name="T53" fmla="*/ 278 h 968"/>
                        <a:gd name="T54" fmla="*/ 1271 w 1274"/>
                        <a:gd name="T55" fmla="*/ 336 h 968"/>
                        <a:gd name="T56" fmla="*/ 1267 w 1274"/>
                        <a:gd name="T57" fmla="*/ 416 h 968"/>
                        <a:gd name="T58" fmla="*/ 1226 w 1274"/>
                        <a:gd name="T59" fmla="*/ 568 h 968"/>
                        <a:gd name="T60" fmla="*/ 1184 w 1274"/>
                        <a:gd name="T61" fmla="*/ 651 h 968"/>
                        <a:gd name="T62" fmla="*/ 1132 w 1274"/>
                        <a:gd name="T63" fmla="*/ 723 h 968"/>
                        <a:gd name="T64" fmla="*/ 1076 w 1274"/>
                        <a:gd name="T65" fmla="*/ 785 h 968"/>
                        <a:gd name="T66" fmla="*/ 1021 w 1274"/>
                        <a:gd name="T67" fmla="*/ 830 h 968"/>
                        <a:gd name="T68" fmla="*/ 945 w 1274"/>
                        <a:gd name="T69" fmla="*/ 882 h 968"/>
                        <a:gd name="T70" fmla="*/ 869 w 1274"/>
                        <a:gd name="T71" fmla="*/ 917 h 968"/>
                        <a:gd name="T72" fmla="*/ 796 w 1274"/>
                        <a:gd name="T73" fmla="*/ 941 h 968"/>
                        <a:gd name="T74" fmla="*/ 703 w 1274"/>
                        <a:gd name="T75" fmla="*/ 965 h 968"/>
                        <a:gd name="T76" fmla="*/ 634 w 1274"/>
                        <a:gd name="T77" fmla="*/ 968 h 968"/>
                        <a:gd name="T78" fmla="*/ 558 w 1274"/>
                        <a:gd name="T79" fmla="*/ 968 h 968"/>
                        <a:gd name="T80" fmla="*/ 482 w 1274"/>
                        <a:gd name="T81" fmla="*/ 955 h 968"/>
                        <a:gd name="T82" fmla="*/ 399 w 1274"/>
                        <a:gd name="T83" fmla="*/ 937 h 968"/>
                        <a:gd name="T84" fmla="*/ 343 w 1274"/>
                        <a:gd name="T85" fmla="*/ 917 h 968"/>
                        <a:gd name="T86" fmla="*/ 270 w 1274"/>
                        <a:gd name="T87" fmla="*/ 879 h 968"/>
                        <a:gd name="T88" fmla="*/ 207 w 1274"/>
                        <a:gd name="T89" fmla="*/ 844 h 968"/>
                        <a:gd name="T90" fmla="*/ 149 w 1274"/>
                        <a:gd name="T91" fmla="*/ 796 h 968"/>
                        <a:gd name="T92" fmla="*/ 87 w 1274"/>
                        <a:gd name="T93" fmla="*/ 730 h 968"/>
                        <a:gd name="T94" fmla="*/ 28 w 1274"/>
                        <a:gd name="T95" fmla="*/ 647 h 968"/>
                        <a:gd name="T96" fmla="*/ 0 w 1274"/>
                        <a:gd name="T97" fmla="*/ 588 h 9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</a:cxnLst>
                      <a:rect l="0" t="0" r="r" b="b"/>
                      <a:pathLst>
                        <a:path w="1274" h="968">
                          <a:moveTo>
                            <a:pt x="0" y="588"/>
                          </a:moveTo>
                          <a:lnTo>
                            <a:pt x="73" y="671"/>
                          </a:lnTo>
                          <a:lnTo>
                            <a:pt x="152" y="744"/>
                          </a:lnTo>
                          <a:lnTo>
                            <a:pt x="225" y="785"/>
                          </a:lnTo>
                          <a:lnTo>
                            <a:pt x="330" y="830"/>
                          </a:lnTo>
                          <a:lnTo>
                            <a:pt x="413" y="854"/>
                          </a:lnTo>
                          <a:lnTo>
                            <a:pt x="489" y="865"/>
                          </a:lnTo>
                          <a:lnTo>
                            <a:pt x="578" y="865"/>
                          </a:lnTo>
                          <a:lnTo>
                            <a:pt x="644" y="858"/>
                          </a:lnTo>
                          <a:lnTo>
                            <a:pt x="724" y="844"/>
                          </a:lnTo>
                          <a:lnTo>
                            <a:pt x="803" y="820"/>
                          </a:lnTo>
                          <a:lnTo>
                            <a:pt x="869" y="785"/>
                          </a:lnTo>
                          <a:lnTo>
                            <a:pt x="931" y="747"/>
                          </a:lnTo>
                          <a:lnTo>
                            <a:pt x="986" y="709"/>
                          </a:lnTo>
                          <a:lnTo>
                            <a:pt x="1041" y="654"/>
                          </a:lnTo>
                          <a:lnTo>
                            <a:pt x="1097" y="592"/>
                          </a:lnTo>
                          <a:lnTo>
                            <a:pt x="1139" y="533"/>
                          </a:lnTo>
                          <a:lnTo>
                            <a:pt x="1164" y="474"/>
                          </a:lnTo>
                          <a:lnTo>
                            <a:pt x="1195" y="381"/>
                          </a:lnTo>
                          <a:lnTo>
                            <a:pt x="1215" y="284"/>
                          </a:lnTo>
                          <a:lnTo>
                            <a:pt x="1219" y="198"/>
                          </a:lnTo>
                          <a:lnTo>
                            <a:pt x="1205" y="104"/>
                          </a:lnTo>
                          <a:lnTo>
                            <a:pt x="1174" y="0"/>
                          </a:lnTo>
                          <a:lnTo>
                            <a:pt x="1205" y="55"/>
                          </a:lnTo>
                          <a:lnTo>
                            <a:pt x="1240" y="135"/>
                          </a:lnTo>
                          <a:lnTo>
                            <a:pt x="1257" y="208"/>
                          </a:lnTo>
                          <a:lnTo>
                            <a:pt x="1274" y="278"/>
                          </a:lnTo>
                          <a:lnTo>
                            <a:pt x="1271" y="336"/>
                          </a:lnTo>
                          <a:lnTo>
                            <a:pt x="1267" y="416"/>
                          </a:lnTo>
                          <a:lnTo>
                            <a:pt x="1226" y="568"/>
                          </a:lnTo>
                          <a:lnTo>
                            <a:pt x="1184" y="651"/>
                          </a:lnTo>
                          <a:lnTo>
                            <a:pt x="1132" y="723"/>
                          </a:lnTo>
                          <a:lnTo>
                            <a:pt x="1076" y="785"/>
                          </a:lnTo>
                          <a:lnTo>
                            <a:pt x="1021" y="830"/>
                          </a:lnTo>
                          <a:lnTo>
                            <a:pt x="945" y="882"/>
                          </a:lnTo>
                          <a:lnTo>
                            <a:pt x="869" y="917"/>
                          </a:lnTo>
                          <a:lnTo>
                            <a:pt x="796" y="941"/>
                          </a:lnTo>
                          <a:lnTo>
                            <a:pt x="703" y="965"/>
                          </a:lnTo>
                          <a:lnTo>
                            <a:pt x="634" y="968"/>
                          </a:lnTo>
                          <a:lnTo>
                            <a:pt x="558" y="968"/>
                          </a:lnTo>
                          <a:lnTo>
                            <a:pt x="482" y="955"/>
                          </a:lnTo>
                          <a:lnTo>
                            <a:pt x="399" y="937"/>
                          </a:lnTo>
                          <a:lnTo>
                            <a:pt x="343" y="917"/>
                          </a:lnTo>
                          <a:lnTo>
                            <a:pt x="270" y="879"/>
                          </a:lnTo>
                          <a:lnTo>
                            <a:pt x="207" y="844"/>
                          </a:lnTo>
                          <a:lnTo>
                            <a:pt x="149" y="796"/>
                          </a:lnTo>
                          <a:lnTo>
                            <a:pt x="87" y="730"/>
                          </a:lnTo>
                          <a:lnTo>
                            <a:pt x="28" y="647"/>
                          </a:lnTo>
                          <a:lnTo>
                            <a:pt x="0" y="58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53303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465" y="3007"/>
                    <a:ext cx="675" cy="641"/>
                    <a:chOff x="465" y="3007"/>
                    <a:chExt cx="675" cy="641"/>
                  </a:xfrm>
                </p:grpSpPr>
                <p:sp>
                  <p:nvSpPr>
                    <p:cNvPr id="262" name="Freeform 22"/>
                    <p:cNvSpPr>
                      <a:spLocks/>
                    </p:cNvSpPr>
                    <p:nvPr/>
                  </p:nvSpPr>
                  <p:spPr bwMode="auto">
                    <a:xfrm>
                      <a:off x="503" y="3487"/>
                      <a:ext cx="166" cy="160"/>
                    </a:xfrm>
                    <a:custGeom>
                      <a:avLst/>
                      <a:gdLst>
                        <a:gd name="T0" fmla="*/ 0 w 330"/>
                        <a:gd name="T1" fmla="*/ 0 h 320"/>
                        <a:gd name="T2" fmla="*/ 34 w 330"/>
                        <a:gd name="T3" fmla="*/ 64 h 320"/>
                        <a:gd name="T4" fmla="*/ 68 w 330"/>
                        <a:gd name="T5" fmla="*/ 114 h 320"/>
                        <a:gd name="T6" fmla="*/ 104 w 330"/>
                        <a:gd name="T7" fmla="*/ 159 h 320"/>
                        <a:gd name="T8" fmla="*/ 159 w 330"/>
                        <a:gd name="T9" fmla="*/ 213 h 320"/>
                        <a:gd name="T10" fmla="*/ 200 w 330"/>
                        <a:gd name="T11" fmla="*/ 247 h 320"/>
                        <a:gd name="T12" fmla="*/ 253 w 330"/>
                        <a:gd name="T13" fmla="*/ 281 h 320"/>
                        <a:gd name="T14" fmla="*/ 330 w 330"/>
                        <a:gd name="T15" fmla="*/ 320 h 320"/>
                        <a:gd name="T16" fmla="*/ 244 w 330"/>
                        <a:gd name="T17" fmla="*/ 202 h 320"/>
                        <a:gd name="T18" fmla="*/ 196 w 330"/>
                        <a:gd name="T19" fmla="*/ 175 h 320"/>
                        <a:gd name="T20" fmla="*/ 161 w 330"/>
                        <a:gd name="T21" fmla="*/ 150 h 320"/>
                        <a:gd name="T22" fmla="*/ 110 w 330"/>
                        <a:gd name="T23" fmla="*/ 116 h 320"/>
                        <a:gd name="T24" fmla="*/ 71 w 330"/>
                        <a:gd name="T25" fmla="*/ 79 h 320"/>
                        <a:gd name="T26" fmla="*/ 40 w 330"/>
                        <a:gd name="T27" fmla="*/ 48 h 320"/>
                        <a:gd name="T28" fmla="*/ 0 w 330"/>
                        <a:gd name="T29" fmla="*/ 0 h 32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330" h="320">
                          <a:moveTo>
                            <a:pt x="0" y="0"/>
                          </a:moveTo>
                          <a:lnTo>
                            <a:pt x="34" y="64"/>
                          </a:lnTo>
                          <a:lnTo>
                            <a:pt x="68" y="114"/>
                          </a:lnTo>
                          <a:lnTo>
                            <a:pt x="104" y="159"/>
                          </a:lnTo>
                          <a:lnTo>
                            <a:pt x="159" y="213"/>
                          </a:lnTo>
                          <a:lnTo>
                            <a:pt x="200" y="247"/>
                          </a:lnTo>
                          <a:lnTo>
                            <a:pt x="253" y="281"/>
                          </a:lnTo>
                          <a:lnTo>
                            <a:pt x="330" y="320"/>
                          </a:lnTo>
                          <a:lnTo>
                            <a:pt x="244" y="202"/>
                          </a:lnTo>
                          <a:lnTo>
                            <a:pt x="196" y="175"/>
                          </a:lnTo>
                          <a:lnTo>
                            <a:pt x="161" y="150"/>
                          </a:lnTo>
                          <a:lnTo>
                            <a:pt x="110" y="116"/>
                          </a:lnTo>
                          <a:lnTo>
                            <a:pt x="71" y="79"/>
                          </a:lnTo>
                          <a:lnTo>
                            <a:pt x="40" y="4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263" name="Freeform 23"/>
                    <p:cNvSpPr>
                      <a:spLocks/>
                    </p:cNvSpPr>
                    <p:nvPr/>
                  </p:nvSpPr>
                  <p:spPr bwMode="auto">
                    <a:xfrm>
                      <a:off x="1081" y="3189"/>
                      <a:ext cx="60" cy="314"/>
                    </a:xfrm>
                    <a:custGeom>
                      <a:avLst/>
                      <a:gdLst>
                        <a:gd name="T0" fmla="*/ 22 w 119"/>
                        <a:gd name="T1" fmla="*/ 0 h 629"/>
                        <a:gd name="T2" fmla="*/ 45 w 119"/>
                        <a:gd name="T3" fmla="*/ 43 h 629"/>
                        <a:gd name="T4" fmla="*/ 60 w 119"/>
                        <a:gd name="T5" fmla="*/ 80 h 629"/>
                        <a:gd name="T6" fmla="*/ 76 w 119"/>
                        <a:gd name="T7" fmla="*/ 118 h 629"/>
                        <a:gd name="T8" fmla="*/ 88 w 119"/>
                        <a:gd name="T9" fmla="*/ 154 h 629"/>
                        <a:gd name="T10" fmla="*/ 97 w 119"/>
                        <a:gd name="T11" fmla="*/ 189 h 629"/>
                        <a:gd name="T12" fmla="*/ 114 w 119"/>
                        <a:gd name="T13" fmla="*/ 250 h 629"/>
                        <a:gd name="T14" fmla="*/ 119 w 119"/>
                        <a:gd name="T15" fmla="*/ 310 h 629"/>
                        <a:gd name="T16" fmla="*/ 115 w 119"/>
                        <a:gd name="T17" fmla="*/ 402 h 629"/>
                        <a:gd name="T18" fmla="*/ 107 w 119"/>
                        <a:gd name="T19" fmla="*/ 464 h 629"/>
                        <a:gd name="T20" fmla="*/ 95 w 119"/>
                        <a:gd name="T21" fmla="*/ 515 h 629"/>
                        <a:gd name="T22" fmla="*/ 75 w 119"/>
                        <a:gd name="T23" fmla="*/ 568 h 629"/>
                        <a:gd name="T24" fmla="*/ 49 w 119"/>
                        <a:gd name="T25" fmla="*/ 629 h 629"/>
                        <a:gd name="T26" fmla="*/ 0 w 119"/>
                        <a:gd name="T27" fmla="*/ 510 h 629"/>
                        <a:gd name="T28" fmla="*/ 22 w 119"/>
                        <a:gd name="T29" fmla="*/ 458 h 629"/>
                        <a:gd name="T30" fmla="*/ 32 w 119"/>
                        <a:gd name="T31" fmla="*/ 431 h 629"/>
                        <a:gd name="T32" fmla="*/ 45 w 119"/>
                        <a:gd name="T33" fmla="*/ 395 h 629"/>
                        <a:gd name="T34" fmla="*/ 53 w 119"/>
                        <a:gd name="T35" fmla="*/ 358 h 629"/>
                        <a:gd name="T36" fmla="*/ 60 w 119"/>
                        <a:gd name="T37" fmla="*/ 302 h 629"/>
                        <a:gd name="T38" fmla="*/ 64 w 119"/>
                        <a:gd name="T39" fmla="*/ 255 h 629"/>
                        <a:gd name="T40" fmla="*/ 64 w 119"/>
                        <a:gd name="T41" fmla="*/ 184 h 629"/>
                        <a:gd name="T42" fmla="*/ 53 w 119"/>
                        <a:gd name="T43" fmla="*/ 121 h 629"/>
                        <a:gd name="T44" fmla="*/ 42 w 119"/>
                        <a:gd name="T45" fmla="*/ 69 h 629"/>
                        <a:gd name="T46" fmla="*/ 35 w 119"/>
                        <a:gd name="T47" fmla="*/ 42 h 629"/>
                        <a:gd name="T48" fmla="*/ 22 w 119"/>
                        <a:gd name="T49" fmla="*/ 0 h 6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</a:cxnLst>
                      <a:rect l="0" t="0" r="r" b="b"/>
                      <a:pathLst>
                        <a:path w="119" h="629">
                          <a:moveTo>
                            <a:pt x="22" y="0"/>
                          </a:moveTo>
                          <a:lnTo>
                            <a:pt x="45" y="43"/>
                          </a:lnTo>
                          <a:lnTo>
                            <a:pt x="60" y="80"/>
                          </a:lnTo>
                          <a:lnTo>
                            <a:pt x="76" y="118"/>
                          </a:lnTo>
                          <a:lnTo>
                            <a:pt x="88" y="154"/>
                          </a:lnTo>
                          <a:lnTo>
                            <a:pt x="97" y="189"/>
                          </a:lnTo>
                          <a:lnTo>
                            <a:pt x="114" y="250"/>
                          </a:lnTo>
                          <a:lnTo>
                            <a:pt x="119" y="310"/>
                          </a:lnTo>
                          <a:lnTo>
                            <a:pt x="115" y="402"/>
                          </a:lnTo>
                          <a:lnTo>
                            <a:pt x="107" y="464"/>
                          </a:lnTo>
                          <a:lnTo>
                            <a:pt x="95" y="515"/>
                          </a:lnTo>
                          <a:lnTo>
                            <a:pt x="75" y="568"/>
                          </a:lnTo>
                          <a:lnTo>
                            <a:pt x="49" y="629"/>
                          </a:lnTo>
                          <a:lnTo>
                            <a:pt x="0" y="510"/>
                          </a:lnTo>
                          <a:lnTo>
                            <a:pt x="22" y="458"/>
                          </a:lnTo>
                          <a:lnTo>
                            <a:pt x="32" y="431"/>
                          </a:lnTo>
                          <a:lnTo>
                            <a:pt x="45" y="395"/>
                          </a:lnTo>
                          <a:lnTo>
                            <a:pt x="53" y="358"/>
                          </a:lnTo>
                          <a:lnTo>
                            <a:pt x="60" y="302"/>
                          </a:lnTo>
                          <a:lnTo>
                            <a:pt x="64" y="255"/>
                          </a:lnTo>
                          <a:lnTo>
                            <a:pt x="64" y="184"/>
                          </a:lnTo>
                          <a:lnTo>
                            <a:pt x="53" y="121"/>
                          </a:lnTo>
                          <a:lnTo>
                            <a:pt x="42" y="69"/>
                          </a:lnTo>
                          <a:lnTo>
                            <a:pt x="35" y="42"/>
                          </a:lnTo>
                          <a:lnTo>
                            <a:pt x="22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264" name="Freeform 24"/>
                    <p:cNvSpPr>
                      <a:spLocks/>
                    </p:cNvSpPr>
                    <p:nvPr/>
                  </p:nvSpPr>
                  <p:spPr bwMode="auto">
                    <a:xfrm>
                      <a:off x="772" y="3006"/>
                      <a:ext cx="236" cy="94"/>
                    </a:xfrm>
                    <a:custGeom>
                      <a:avLst/>
                      <a:gdLst>
                        <a:gd name="T0" fmla="*/ 0 w 470"/>
                        <a:gd name="T1" fmla="*/ 0 h 190"/>
                        <a:gd name="T2" fmla="*/ 36 w 470"/>
                        <a:gd name="T3" fmla="*/ 69 h 190"/>
                        <a:gd name="T4" fmla="*/ 91 w 470"/>
                        <a:gd name="T5" fmla="*/ 66 h 190"/>
                        <a:gd name="T6" fmla="*/ 142 w 470"/>
                        <a:gd name="T7" fmla="*/ 69 h 190"/>
                        <a:gd name="T8" fmla="*/ 189 w 470"/>
                        <a:gd name="T9" fmla="*/ 76 h 190"/>
                        <a:gd name="T10" fmla="*/ 233 w 470"/>
                        <a:gd name="T11" fmla="*/ 84 h 190"/>
                        <a:gd name="T12" fmla="*/ 277 w 470"/>
                        <a:gd name="T13" fmla="*/ 96 h 190"/>
                        <a:gd name="T14" fmla="*/ 307 w 470"/>
                        <a:gd name="T15" fmla="*/ 105 h 190"/>
                        <a:gd name="T16" fmla="*/ 346 w 470"/>
                        <a:gd name="T17" fmla="*/ 121 h 190"/>
                        <a:gd name="T18" fmla="*/ 391 w 470"/>
                        <a:gd name="T19" fmla="*/ 143 h 190"/>
                        <a:gd name="T20" fmla="*/ 470 w 470"/>
                        <a:gd name="T21" fmla="*/ 190 h 190"/>
                        <a:gd name="T22" fmla="*/ 424 w 470"/>
                        <a:gd name="T23" fmla="*/ 142 h 190"/>
                        <a:gd name="T24" fmla="*/ 392 w 470"/>
                        <a:gd name="T25" fmla="*/ 118 h 190"/>
                        <a:gd name="T26" fmla="*/ 349 w 470"/>
                        <a:gd name="T27" fmla="*/ 90 h 190"/>
                        <a:gd name="T28" fmla="*/ 323 w 470"/>
                        <a:gd name="T29" fmla="*/ 74 h 190"/>
                        <a:gd name="T30" fmla="*/ 264 w 470"/>
                        <a:gd name="T31" fmla="*/ 46 h 190"/>
                        <a:gd name="T32" fmla="*/ 226 w 470"/>
                        <a:gd name="T33" fmla="*/ 32 h 190"/>
                        <a:gd name="T34" fmla="*/ 195 w 470"/>
                        <a:gd name="T35" fmla="*/ 22 h 190"/>
                        <a:gd name="T36" fmla="*/ 166 w 470"/>
                        <a:gd name="T37" fmla="*/ 15 h 190"/>
                        <a:gd name="T38" fmla="*/ 121 w 470"/>
                        <a:gd name="T39" fmla="*/ 7 h 190"/>
                        <a:gd name="T40" fmla="*/ 74 w 470"/>
                        <a:gd name="T41" fmla="*/ 1 h 190"/>
                        <a:gd name="T42" fmla="*/ 21 w 470"/>
                        <a:gd name="T43" fmla="*/ 0 h 190"/>
                        <a:gd name="T44" fmla="*/ 0 w 470"/>
                        <a:gd name="T45" fmla="*/ 0 h 19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470" h="190">
                          <a:moveTo>
                            <a:pt x="0" y="0"/>
                          </a:moveTo>
                          <a:lnTo>
                            <a:pt x="36" y="69"/>
                          </a:lnTo>
                          <a:lnTo>
                            <a:pt x="91" y="66"/>
                          </a:lnTo>
                          <a:lnTo>
                            <a:pt x="142" y="69"/>
                          </a:lnTo>
                          <a:lnTo>
                            <a:pt x="189" y="76"/>
                          </a:lnTo>
                          <a:lnTo>
                            <a:pt x="233" y="84"/>
                          </a:lnTo>
                          <a:lnTo>
                            <a:pt x="277" y="96"/>
                          </a:lnTo>
                          <a:lnTo>
                            <a:pt x="307" y="105"/>
                          </a:lnTo>
                          <a:lnTo>
                            <a:pt x="346" y="121"/>
                          </a:lnTo>
                          <a:lnTo>
                            <a:pt x="391" y="143"/>
                          </a:lnTo>
                          <a:lnTo>
                            <a:pt x="470" y="190"/>
                          </a:lnTo>
                          <a:lnTo>
                            <a:pt x="424" y="142"/>
                          </a:lnTo>
                          <a:lnTo>
                            <a:pt x="392" y="118"/>
                          </a:lnTo>
                          <a:lnTo>
                            <a:pt x="349" y="90"/>
                          </a:lnTo>
                          <a:lnTo>
                            <a:pt x="323" y="74"/>
                          </a:lnTo>
                          <a:lnTo>
                            <a:pt x="264" y="46"/>
                          </a:lnTo>
                          <a:lnTo>
                            <a:pt x="226" y="32"/>
                          </a:lnTo>
                          <a:lnTo>
                            <a:pt x="195" y="22"/>
                          </a:lnTo>
                          <a:lnTo>
                            <a:pt x="166" y="15"/>
                          </a:lnTo>
                          <a:lnTo>
                            <a:pt x="121" y="7"/>
                          </a:lnTo>
                          <a:lnTo>
                            <a:pt x="74" y="1"/>
                          </a:lnTo>
                          <a:lnTo>
                            <a:pt x="21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265" name="Freeform 25"/>
                    <p:cNvSpPr>
                      <a:spLocks/>
                    </p:cNvSpPr>
                    <p:nvPr/>
                  </p:nvSpPr>
                  <p:spPr bwMode="auto">
                    <a:xfrm>
                      <a:off x="465" y="3140"/>
                      <a:ext cx="75" cy="222"/>
                    </a:xfrm>
                    <a:custGeom>
                      <a:avLst/>
                      <a:gdLst>
                        <a:gd name="T0" fmla="*/ 0 w 150"/>
                        <a:gd name="T1" fmla="*/ 342 h 446"/>
                        <a:gd name="T2" fmla="*/ 3 w 150"/>
                        <a:gd name="T3" fmla="*/ 308 h 446"/>
                        <a:gd name="T4" fmla="*/ 6 w 150"/>
                        <a:gd name="T5" fmla="*/ 270 h 446"/>
                        <a:gd name="T6" fmla="*/ 16 w 150"/>
                        <a:gd name="T7" fmla="*/ 209 h 446"/>
                        <a:gd name="T8" fmla="*/ 27 w 150"/>
                        <a:gd name="T9" fmla="*/ 160 h 446"/>
                        <a:gd name="T10" fmla="*/ 44 w 150"/>
                        <a:gd name="T11" fmla="*/ 117 h 446"/>
                        <a:gd name="T12" fmla="*/ 64 w 150"/>
                        <a:gd name="T13" fmla="*/ 72 h 446"/>
                        <a:gd name="T14" fmla="*/ 83 w 150"/>
                        <a:gd name="T15" fmla="*/ 37 h 446"/>
                        <a:gd name="T16" fmla="*/ 106 w 150"/>
                        <a:gd name="T17" fmla="*/ 0 h 446"/>
                        <a:gd name="T18" fmla="*/ 150 w 150"/>
                        <a:gd name="T19" fmla="*/ 58 h 446"/>
                        <a:gd name="T20" fmla="*/ 124 w 150"/>
                        <a:gd name="T21" fmla="*/ 92 h 446"/>
                        <a:gd name="T22" fmla="*/ 106 w 150"/>
                        <a:gd name="T23" fmla="*/ 124 h 446"/>
                        <a:gd name="T24" fmla="*/ 91 w 150"/>
                        <a:gd name="T25" fmla="*/ 152 h 446"/>
                        <a:gd name="T26" fmla="*/ 69 w 150"/>
                        <a:gd name="T27" fmla="*/ 193 h 446"/>
                        <a:gd name="T28" fmla="*/ 55 w 150"/>
                        <a:gd name="T29" fmla="*/ 228 h 446"/>
                        <a:gd name="T30" fmla="*/ 47 w 150"/>
                        <a:gd name="T31" fmla="*/ 263 h 446"/>
                        <a:gd name="T32" fmla="*/ 37 w 150"/>
                        <a:gd name="T33" fmla="*/ 297 h 446"/>
                        <a:gd name="T34" fmla="*/ 30 w 150"/>
                        <a:gd name="T35" fmla="*/ 335 h 446"/>
                        <a:gd name="T36" fmla="*/ 24 w 150"/>
                        <a:gd name="T37" fmla="*/ 381 h 446"/>
                        <a:gd name="T38" fmla="*/ 19 w 150"/>
                        <a:gd name="T39" fmla="*/ 427 h 446"/>
                        <a:gd name="T40" fmla="*/ 11 w 150"/>
                        <a:gd name="T41" fmla="*/ 446 h 446"/>
                        <a:gd name="T42" fmla="*/ 0 w 150"/>
                        <a:gd name="T43" fmla="*/ 342 h 44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150" h="446">
                          <a:moveTo>
                            <a:pt x="0" y="342"/>
                          </a:moveTo>
                          <a:lnTo>
                            <a:pt x="3" y="308"/>
                          </a:lnTo>
                          <a:lnTo>
                            <a:pt x="6" y="270"/>
                          </a:lnTo>
                          <a:lnTo>
                            <a:pt x="16" y="209"/>
                          </a:lnTo>
                          <a:lnTo>
                            <a:pt x="27" y="160"/>
                          </a:lnTo>
                          <a:lnTo>
                            <a:pt x="44" y="117"/>
                          </a:lnTo>
                          <a:lnTo>
                            <a:pt x="64" y="72"/>
                          </a:lnTo>
                          <a:lnTo>
                            <a:pt x="83" y="37"/>
                          </a:lnTo>
                          <a:lnTo>
                            <a:pt x="106" y="0"/>
                          </a:lnTo>
                          <a:lnTo>
                            <a:pt x="150" y="58"/>
                          </a:lnTo>
                          <a:lnTo>
                            <a:pt x="124" y="92"/>
                          </a:lnTo>
                          <a:lnTo>
                            <a:pt x="106" y="124"/>
                          </a:lnTo>
                          <a:lnTo>
                            <a:pt x="91" y="152"/>
                          </a:lnTo>
                          <a:lnTo>
                            <a:pt x="69" y="193"/>
                          </a:lnTo>
                          <a:lnTo>
                            <a:pt x="55" y="228"/>
                          </a:lnTo>
                          <a:lnTo>
                            <a:pt x="47" y="263"/>
                          </a:lnTo>
                          <a:lnTo>
                            <a:pt x="37" y="297"/>
                          </a:lnTo>
                          <a:lnTo>
                            <a:pt x="30" y="335"/>
                          </a:lnTo>
                          <a:lnTo>
                            <a:pt x="24" y="381"/>
                          </a:lnTo>
                          <a:lnTo>
                            <a:pt x="19" y="427"/>
                          </a:lnTo>
                          <a:lnTo>
                            <a:pt x="11" y="446"/>
                          </a:lnTo>
                          <a:lnTo>
                            <a:pt x="0" y="342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255" name="Oval 26"/>
                <p:cNvSpPr>
                  <a:spLocks noChangeArrowheads="1"/>
                </p:cNvSpPr>
                <p:nvPr/>
              </p:nvSpPr>
              <p:spPr bwMode="auto">
                <a:xfrm>
                  <a:off x="476" y="3040"/>
                  <a:ext cx="666" cy="637"/>
                </a:xfrm>
                <a:prstGeom prst="ellipse">
                  <a:avLst/>
                </a:prstGeom>
                <a:noFill/>
                <a:ln w="1428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800" b="0" kern="0">
                    <a:solidFill>
                      <a:sysClr val="windowText" lastClr="000000"/>
                    </a:solidFill>
                  </a:endParaRPr>
                </a:p>
              </p:txBody>
            </p:sp>
            <p:grpSp>
              <p:nvGrpSpPr>
                <p:cNvPr id="53298" name="Group 27"/>
                <p:cNvGrpSpPr>
                  <a:grpSpLocks/>
                </p:cNvGrpSpPr>
                <p:nvPr/>
              </p:nvGrpSpPr>
              <p:grpSpPr bwMode="auto">
                <a:xfrm>
                  <a:off x="448" y="2989"/>
                  <a:ext cx="666" cy="638"/>
                  <a:chOff x="448" y="2989"/>
                  <a:chExt cx="666" cy="638"/>
                </a:xfrm>
              </p:grpSpPr>
              <p:sp>
                <p:nvSpPr>
                  <p:cNvPr id="257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457" y="2997"/>
                    <a:ext cx="649" cy="622"/>
                  </a:xfrm>
                  <a:prstGeom prst="ellipse">
                    <a:avLst/>
                  </a:prstGeom>
                  <a:noFill/>
                  <a:ln w="36513">
                    <a:solidFill>
                      <a:srgbClr val="9F9F9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58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448" y="2989"/>
                    <a:ext cx="666" cy="637"/>
                  </a:xfrm>
                  <a:prstGeom prst="ellipse">
                    <a:avLst/>
                  </a:prstGeom>
                  <a:noFill/>
                  <a:ln w="1428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59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466" y="3007"/>
                    <a:ext cx="629" cy="603"/>
                  </a:xfrm>
                  <a:prstGeom prst="ellips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</p:grpSp>
          <p:grpSp>
            <p:nvGrpSpPr>
              <p:cNvPr id="53260" name="Group 31"/>
              <p:cNvGrpSpPr>
                <a:grpSpLocks/>
              </p:cNvGrpSpPr>
              <p:nvPr/>
            </p:nvGrpSpPr>
            <p:grpSpPr bwMode="auto">
              <a:xfrm>
                <a:off x="925" y="3589"/>
                <a:ext cx="341" cy="533"/>
                <a:chOff x="925" y="3589"/>
                <a:chExt cx="341" cy="533"/>
              </a:xfrm>
            </p:grpSpPr>
            <p:sp>
              <p:nvSpPr>
                <p:cNvPr id="219" name="Freeform 32"/>
                <p:cNvSpPr>
                  <a:spLocks/>
                </p:cNvSpPr>
                <p:nvPr/>
              </p:nvSpPr>
              <p:spPr bwMode="auto">
                <a:xfrm>
                  <a:off x="928" y="3617"/>
                  <a:ext cx="325" cy="465"/>
                </a:xfrm>
                <a:custGeom>
                  <a:avLst/>
                  <a:gdLst>
                    <a:gd name="T0" fmla="*/ 0 w 649"/>
                    <a:gd name="T1" fmla="*/ 69 h 930"/>
                    <a:gd name="T2" fmla="*/ 461 w 649"/>
                    <a:gd name="T3" fmla="*/ 930 h 930"/>
                    <a:gd name="T4" fmla="*/ 649 w 649"/>
                    <a:gd name="T5" fmla="*/ 834 h 930"/>
                    <a:gd name="T6" fmla="*/ 186 w 649"/>
                    <a:gd name="T7" fmla="*/ 0 h 930"/>
                    <a:gd name="T8" fmla="*/ 0 w 649"/>
                    <a:gd name="T9" fmla="*/ 69 h 9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9" h="930">
                      <a:moveTo>
                        <a:pt x="0" y="69"/>
                      </a:moveTo>
                      <a:lnTo>
                        <a:pt x="461" y="930"/>
                      </a:lnTo>
                      <a:lnTo>
                        <a:pt x="649" y="834"/>
                      </a:lnTo>
                      <a:lnTo>
                        <a:pt x="186" y="0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800" b="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20" name="Arc 33"/>
                <p:cNvSpPr>
                  <a:spLocks/>
                </p:cNvSpPr>
                <p:nvPr/>
              </p:nvSpPr>
              <p:spPr bwMode="auto">
                <a:xfrm>
                  <a:off x="927" y="3589"/>
                  <a:ext cx="98" cy="60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811 w 42151"/>
                    <a:gd name="T1" fmla="*/ 27464 h 27464"/>
                    <a:gd name="T2" fmla="*/ 42151 w 42151"/>
                    <a:gd name="T3" fmla="*/ 14950 h 27464"/>
                    <a:gd name="T4" fmla="*/ 21600 w 42151"/>
                    <a:gd name="T5" fmla="*/ 21600 h 274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151" h="27464" fill="none" extrusionOk="0">
                      <a:moveTo>
                        <a:pt x="811" y="27463"/>
                      </a:moveTo>
                      <a:cubicBezTo>
                        <a:pt x="272" y="25555"/>
                        <a:pt x="0" y="23582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967" y="-1"/>
                        <a:pt x="39266" y="6037"/>
                        <a:pt x="42150" y="14950"/>
                      </a:cubicBezTo>
                    </a:path>
                    <a:path w="42151" h="27464" stroke="0" extrusionOk="0">
                      <a:moveTo>
                        <a:pt x="811" y="27463"/>
                      </a:moveTo>
                      <a:cubicBezTo>
                        <a:pt x="272" y="25555"/>
                        <a:pt x="0" y="23582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967" y="-1"/>
                        <a:pt x="39266" y="6037"/>
                        <a:pt x="42150" y="1495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800" b="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21" name="Arc 34"/>
                <p:cNvSpPr>
                  <a:spLocks/>
                </p:cNvSpPr>
                <p:nvPr/>
              </p:nvSpPr>
              <p:spPr bwMode="auto">
                <a:xfrm>
                  <a:off x="928" y="3596"/>
                  <a:ext cx="99" cy="58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157 w 42111"/>
                    <a:gd name="T1" fmla="*/ 24200 h 24200"/>
                    <a:gd name="T2" fmla="*/ 42111 w 42111"/>
                    <a:gd name="T3" fmla="*/ 14829 h 24200"/>
                    <a:gd name="T4" fmla="*/ 21600 w 42111"/>
                    <a:gd name="T5" fmla="*/ 21600 h 24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111" h="24200" fill="none" extrusionOk="0">
                      <a:moveTo>
                        <a:pt x="157" y="24199"/>
                      </a:moveTo>
                      <a:cubicBezTo>
                        <a:pt x="52" y="23337"/>
                        <a:pt x="0" y="2246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920" y="-1"/>
                        <a:pt x="39189" y="5978"/>
                        <a:pt x="42111" y="14828"/>
                      </a:cubicBezTo>
                    </a:path>
                    <a:path w="42111" h="24200" stroke="0" extrusionOk="0">
                      <a:moveTo>
                        <a:pt x="157" y="24199"/>
                      </a:moveTo>
                      <a:cubicBezTo>
                        <a:pt x="52" y="23337"/>
                        <a:pt x="0" y="2246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920" y="-1"/>
                        <a:pt x="39189" y="5978"/>
                        <a:pt x="42111" y="1482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800" b="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22" name="Freeform 35"/>
                <p:cNvSpPr>
                  <a:spLocks/>
                </p:cNvSpPr>
                <p:nvPr/>
              </p:nvSpPr>
              <p:spPr bwMode="auto">
                <a:xfrm>
                  <a:off x="925" y="3597"/>
                  <a:ext cx="62" cy="118"/>
                </a:xfrm>
                <a:custGeom>
                  <a:avLst/>
                  <a:gdLst>
                    <a:gd name="T0" fmla="*/ 3 w 123"/>
                    <a:gd name="T1" fmla="*/ 111 h 239"/>
                    <a:gd name="T2" fmla="*/ 0 w 123"/>
                    <a:gd name="T3" fmla="*/ 95 h 239"/>
                    <a:gd name="T4" fmla="*/ 0 w 123"/>
                    <a:gd name="T5" fmla="*/ 80 h 239"/>
                    <a:gd name="T6" fmla="*/ 2 w 123"/>
                    <a:gd name="T7" fmla="*/ 67 h 239"/>
                    <a:gd name="T8" fmla="*/ 7 w 123"/>
                    <a:gd name="T9" fmla="*/ 49 h 239"/>
                    <a:gd name="T10" fmla="*/ 14 w 123"/>
                    <a:gd name="T11" fmla="*/ 34 h 239"/>
                    <a:gd name="T12" fmla="*/ 24 w 123"/>
                    <a:gd name="T13" fmla="*/ 20 h 239"/>
                    <a:gd name="T14" fmla="*/ 36 w 123"/>
                    <a:gd name="T15" fmla="*/ 8 h 239"/>
                    <a:gd name="T16" fmla="*/ 47 w 123"/>
                    <a:gd name="T17" fmla="*/ 0 h 239"/>
                    <a:gd name="T18" fmla="*/ 123 w 123"/>
                    <a:gd name="T19" fmla="*/ 129 h 239"/>
                    <a:gd name="T20" fmla="*/ 109 w 123"/>
                    <a:gd name="T21" fmla="*/ 137 h 239"/>
                    <a:gd name="T22" fmla="*/ 100 w 123"/>
                    <a:gd name="T23" fmla="*/ 146 h 239"/>
                    <a:gd name="T24" fmla="*/ 91 w 123"/>
                    <a:gd name="T25" fmla="*/ 156 h 239"/>
                    <a:gd name="T26" fmla="*/ 84 w 123"/>
                    <a:gd name="T27" fmla="*/ 167 h 239"/>
                    <a:gd name="T28" fmla="*/ 76 w 123"/>
                    <a:gd name="T29" fmla="*/ 188 h 239"/>
                    <a:gd name="T30" fmla="*/ 71 w 123"/>
                    <a:gd name="T31" fmla="*/ 216 h 239"/>
                    <a:gd name="T32" fmla="*/ 71 w 123"/>
                    <a:gd name="T33" fmla="*/ 239 h 239"/>
                    <a:gd name="T34" fmla="*/ 3 w 123"/>
                    <a:gd name="T35" fmla="*/ 111 h 2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23" h="239">
                      <a:moveTo>
                        <a:pt x="3" y="111"/>
                      </a:moveTo>
                      <a:lnTo>
                        <a:pt x="0" y="95"/>
                      </a:lnTo>
                      <a:lnTo>
                        <a:pt x="0" y="80"/>
                      </a:lnTo>
                      <a:lnTo>
                        <a:pt x="2" y="67"/>
                      </a:lnTo>
                      <a:lnTo>
                        <a:pt x="7" y="49"/>
                      </a:lnTo>
                      <a:lnTo>
                        <a:pt x="14" y="34"/>
                      </a:lnTo>
                      <a:lnTo>
                        <a:pt x="24" y="20"/>
                      </a:lnTo>
                      <a:lnTo>
                        <a:pt x="36" y="8"/>
                      </a:lnTo>
                      <a:lnTo>
                        <a:pt x="47" y="0"/>
                      </a:lnTo>
                      <a:lnTo>
                        <a:pt x="123" y="129"/>
                      </a:lnTo>
                      <a:lnTo>
                        <a:pt x="109" y="137"/>
                      </a:lnTo>
                      <a:lnTo>
                        <a:pt x="100" y="146"/>
                      </a:lnTo>
                      <a:lnTo>
                        <a:pt x="91" y="156"/>
                      </a:lnTo>
                      <a:lnTo>
                        <a:pt x="84" y="167"/>
                      </a:lnTo>
                      <a:lnTo>
                        <a:pt x="76" y="188"/>
                      </a:lnTo>
                      <a:lnTo>
                        <a:pt x="71" y="216"/>
                      </a:lnTo>
                      <a:lnTo>
                        <a:pt x="71" y="239"/>
                      </a:lnTo>
                      <a:lnTo>
                        <a:pt x="3" y="11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800" b="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23" name="Arc 36"/>
                <p:cNvSpPr>
                  <a:spLocks/>
                </p:cNvSpPr>
                <p:nvPr/>
              </p:nvSpPr>
              <p:spPr bwMode="auto">
                <a:xfrm>
                  <a:off x="925" y="3593"/>
                  <a:ext cx="51" cy="57"/>
                </a:xfrm>
                <a:custGeom>
                  <a:avLst/>
                  <a:gdLst>
                    <a:gd name="G0" fmla="+- 21600 0 0"/>
                    <a:gd name="G1" fmla="+- 20159 0 0"/>
                    <a:gd name="G2" fmla="+- 21600 0 0"/>
                    <a:gd name="T0" fmla="*/ 725 w 21600"/>
                    <a:gd name="T1" fmla="*/ 25707 h 25707"/>
                    <a:gd name="T2" fmla="*/ 13843 w 21600"/>
                    <a:gd name="T3" fmla="*/ 0 h 25707"/>
                    <a:gd name="T4" fmla="*/ 21600 w 21600"/>
                    <a:gd name="T5" fmla="*/ 20159 h 257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5707" fill="none" extrusionOk="0">
                      <a:moveTo>
                        <a:pt x="724" y="25707"/>
                      </a:moveTo>
                      <a:cubicBezTo>
                        <a:pt x="243" y="23896"/>
                        <a:pt x="0" y="22031"/>
                        <a:pt x="0" y="20159"/>
                      </a:cubicBezTo>
                      <a:cubicBezTo>
                        <a:pt x="-1" y="11222"/>
                        <a:pt x="5502" y="3209"/>
                        <a:pt x="13842" y="-1"/>
                      </a:cubicBezTo>
                    </a:path>
                    <a:path w="21600" h="25707" stroke="0" extrusionOk="0">
                      <a:moveTo>
                        <a:pt x="724" y="25707"/>
                      </a:moveTo>
                      <a:cubicBezTo>
                        <a:pt x="243" y="23896"/>
                        <a:pt x="0" y="22031"/>
                        <a:pt x="0" y="20159"/>
                      </a:cubicBezTo>
                      <a:cubicBezTo>
                        <a:pt x="-1" y="11222"/>
                        <a:pt x="5502" y="3209"/>
                        <a:pt x="13842" y="-1"/>
                      </a:cubicBezTo>
                      <a:lnTo>
                        <a:pt x="21600" y="20159"/>
                      </a:lnTo>
                      <a:close/>
                    </a:path>
                  </a:pathLst>
                </a:cu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800" b="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24" name="Arc 37"/>
                <p:cNvSpPr>
                  <a:spLocks/>
                </p:cNvSpPr>
                <p:nvPr/>
              </p:nvSpPr>
              <p:spPr bwMode="auto">
                <a:xfrm>
                  <a:off x="962" y="3654"/>
                  <a:ext cx="99" cy="58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697 w 42323"/>
                    <a:gd name="T1" fmla="*/ 27042 h 27042"/>
                    <a:gd name="T2" fmla="*/ 42323 w 42323"/>
                    <a:gd name="T3" fmla="*/ 15506 h 27042"/>
                    <a:gd name="T4" fmla="*/ 21600 w 42323"/>
                    <a:gd name="T5" fmla="*/ 21600 h 270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323" h="27042" fill="none" extrusionOk="0">
                      <a:moveTo>
                        <a:pt x="696" y="27042"/>
                      </a:moveTo>
                      <a:cubicBezTo>
                        <a:pt x="234" y="25265"/>
                        <a:pt x="0" y="234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182" y="-1"/>
                        <a:pt x="39619" y="6313"/>
                        <a:pt x="42322" y="15506"/>
                      </a:cubicBezTo>
                    </a:path>
                    <a:path w="42323" h="27042" stroke="0" extrusionOk="0">
                      <a:moveTo>
                        <a:pt x="696" y="27042"/>
                      </a:moveTo>
                      <a:cubicBezTo>
                        <a:pt x="234" y="25265"/>
                        <a:pt x="0" y="234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182" y="-1"/>
                        <a:pt x="39619" y="6313"/>
                        <a:pt x="42322" y="15506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800" b="0" kern="0">
                    <a:solidFill>
                      <a:sysClr val="windowText" lastClr="000000"/>
                    </a:solidFill>
                  </a:endParaRPr>
                </a:p>
              </p:txBody>
            </p:sp>
            <p:grpSp>
              <p:nvGrpSpPr>
                <p:cNvPr id="53267" name="Group 38"/>
                <p:cNvGrpSpPr>
                  <a:grpSpLocks/>
                </p:cNvGrpSpPr>
                <p:nvPr/>
              </p:nvGrpSpPr>
              <p:grpSpPr bwMode="auto">
                <a:xfrm>
                  <a:off x="965" y="3664"/>
                  <a:ext cx="105" cy="68"/>
                  <a:chOff x="965" y="3664"/>
                  <a:chExt cx="105" cy="68"/>
                </a:xfrm>
              </p:grpSpPr>
              <p:grpSp>
                <p:nvGrpSpPr>
                  <p:cNvPr id="53291" name="Group 39"/>
                  <p:cNvGrpSpPr>
                    <a:grpSpLocks/>
                  </p:cNvGrpSpPr>
                  <p:nvPr/>
                </p:nvGrpSpPr>
                <p:grpSpPr bwMode="auto">
                  <a:xfrm>
                    <a:off x="965" y="3664"/>
                    <a:ext cx="100" cy="58"/>
                    <a:chOff x="965" y="3664"/>
                    <a:chExt cx="100" cy="58"/>
                  </a:xfrm>
                </p:grpSpPr>
                <p:sp>
                  <p:nvSpPr>
                    <p:cNvPr id="251" name="Arc 40"/>
                    <p:cNvSpPr>
                      <a:spLocks/>
                    </p:cNvSpPr>
                    <p:nvPr/>
                  </p:nvSpPr>
                  <p:spPr bwMode="auto">
                    <a:xfrm>
                      <a:off x="965" y="3664"/>
                      <a:ext cx="99" cy="58"/>
                    </a:xfrm>
                    <a:custGeom>
                      <a:avLst/>
                      <a:gdLst>
                        <a:gd name="G0" fmla="+- 21600 0 0"/>
                        <a:gd name="G1" fmla="+- 21600 0 0"/>
                        <a:gd name="G2" fmla="+- 21600 0 0"/>
                        <a:gd name="T0" fmla="*/ 602 w 42574"/>
                        <a:gd name="T1" fmla="*/ 26665 h 26665"/>
                        <a:gd name="T2" fmla="*/ 42574 w 42574"/>
                        <a:gd name="T3" fmla="*/ 16436 h 26665"/>
                        <a:gd name="T4" fmla="*/ 21600 w 42574"/>
                        <a:gd name="T5" fmla="*/ 21600 h 2666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2574" h="26665" fill="none" extrusionOk="0">
                          <a:moveTo>
                            <a:pt x="602" y="26664"/>
                          </a:moveTo>
                          <a:cubicBezTo>
                            <a:pt x="202" y="25006"/>
                            <a:pt x="0" y="2330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540" y="-1"/>
                            <a:pt x="40197" y="6784"/>
                            <a:pt x="42573" y="16436"/>
                          </a:cubicBezTo>
                        </a:path>
                        <a:path w="42574" h="26665" stroke="0" extrusionOk="0">
                          <a:moveTo>
                            <a:pt x="602" y="26664"/>
                          </a:moveTo>
                          <a:cubicBezTo>
                            <a:pt x="202" y="25006"/>
                            <a:pt x="0" y="2330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540" y="-1"/>
                            <a:pt x="40197" y="6784"/>
                            <a:pt x="42573" y="16436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252" name="Arc 41"/>
                    <p:cNvSpPr>
                      <a:spLocks/>
                    </p:cNvSpPr>
                    <p:nvPr/>
                  </p:nvSpPr>
                  <p:spPr bwMode="auto">
                    <a:xfrm>
                      <a:off x="965" y="3669"/>
                      <a:ext cx="51" cy="53"/>
                    </a:xfrm>
                    <a:custGeom>
                      <a:avLst/>
                      <a:gdLst>
                        <a:gd name="G0" fmla="+- 21600 0 0"/>
                        <a:gd name="G1" fmla="+- 18968 0 0"/>
                        <a:gd name="G2" fmla="+- 21600 0 0"/>
                        <a:gd name="T0" fmla="*/ 602 w 21600"/>
                        <a:gd name="T1" fmla="*/ 24033 h 24033"/>
                        <a:gd name="T2" fmla="*/ 11266 w 21600"/>
                        <a:gd name="T3" fmla="*/ 0 h 24033"/>
                        <a:gd name="T4" fmla="*/ 21600 w 21600"/>
                        <a:gd name="T5" fmla="*/ 18968 h 240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4033" fill="none" extrusionOk="0">
                          <a:moveTo>
                            <a:pt x="602" y="24032"/>
                          </a:moveTo>
                          <a:cubicBezTo>
                            <a:pt x="202" y="22374"/>
                            <a:pt x="0" y="20674"/>
                            <a:pt x="0" y="18968"/>
                          </a:cubicBezTo>
                          <a:cubicBezTo>
                            <a:pt x="-1" y="11059"/>
                            <a:pt x="4321" y="3783"/>
                            <a:pt x="11266" y="0"/>
                          </a:cubicBezTo>
                        </a:path>
                        <a:path w="21600" h="24033" stroke="0" extrusionOk="0">
                          <a:moveTo>
                            <a:pt x="602" y="24032"/>
                          </a:moveTo>
                          <a:cubicBezTo>
                            <a:pt x="202" y="22374"/>
                            <a:pt x="0" y="20674"/>
                            <a:pt x="0" y="18968"/>
                          </a:cubicBezTo>
                          <a:cubicBezTo>
                            <a:pt x="-1" y="11059"/>
                            <a:pt x="4321" y="3783"/>
                            <a:pt x="11266" y="0"/>
                          </a:cubicBezTo>
                          <a:lnTo>
                            <a:pt x="21600" y="18968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253" name="Arc 42"/>
                    <p:cNvSpPr>
                      <a:spLocks/>
                    </p:cNvSpPr>
                    <p:nvPr/>
                  </p:nvSpPr>
                  <p:spPr bwMode="auto">
                    <a:xfrm>
                      <a:off x="966" y="3664"/>
                      <a:ext cx="98" cy="58"/>
                    </a:xfrm>
                    <a:custGeom>
                      <a:avLst/>
                      <a:gdLst>
                        <a:gd name="G0" fmla="+- 21600 0 0"/>
                        <a:gd name="G1" fmla="+- 21600 0 0"/>
                        <a:gd name="G2" fmla="+- 21600 0 0"/>
                        <a:gd name="T0" fmla="*/ 491 w 42323"/>
                        <a:gd name="T1" fmla="*/ 26180 h 26180"/>
                        <a:gd name="T2" fmla="*/ 42323 w 42323"/>
                        <a:gd name="T3" fmla="*/ 15506 h 26180"/>
                        <a:gd name="T4" fmla="*/ 21600 w 42323"/>
                        <a:gd name="T5" fmla="*/ 21600 h 2618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2323" h="26180" fill="none" extrusionOk="0">
                          <a:moveTo>
                            <a:pt x="491" y="26179"/>
                          </a:moveTo>
                          <a:cubicBezTo>
                            <a:pt x="164" y="24675"/>
                            <a:pt x="0" y="2313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182" y="-1"/>
                            <a:pt x="39619" y="6313"/>
                            <a:pt x="42322" y="15506"/>
                          </a:cubicBezTo>
                        </a:path>
                        <a:path w="42323" h="26180" stroke="0" extrusionOk="0">
                          <a:moveTo>
                            <a:pt x="491" y="26179"/>
                          </a:moveTo>
                          <a:cubicBezTo>
                            <a:pt x="164" y="24675"/>
                            <a:pt x="0" y="2313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182" y="-1"/>
                            <a:pt x="39619" y="6313"/>
                            <a:pt x="42322" y="15506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w="793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p:grpSp>
              <p:sp>
                <p:nvSpPr>
                  <p:cNvPr id="250" name="Arc 43"/>
                  <p:cNvSpPr>
                    <a:spLocks/>
                  </p:cNvSpPr>
                  <p:nvPr/>
                </p:nvSpPr>
                <p:spPr bwMode="auto">
                  <a:xfrm>
                    <a:off x="971" y="3674"/>
                    <a:ext cx="99" cy="58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491 w 42357"/>
                      <a:gd name="T1" fmla="*/ 26180 h 26180"/>
                      <a:gd name="T2" fmla="*/ 42357 w 42357"/>
                      <a:gd name="T3" fmla="*/ 15623 h 26180"/>
                      <a:gd name="T4" fmla="*/ 21600 w 42357"/>
                      <a:gd name="T5" fmla="*/ 21600 h 261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2357" h="26180" fill="none" extrusionOk="0">
                        <a:moveTo>
                          <a:pt x="491" y="26179"/>
                        </a:moveTo>
                        <a:cubicBezTo>
                          <a:pt x="164" y="24675"/>
                          <a:pt x="0" y="2313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227" y="-1"/>
                          <a:pt x="39692" y="6371"/>
                          <a:pt x="42356" y="15623"/>
                        </a:cubicBezTo>
                      </a:path>
                      <a:path w="42357" h="26180" stroke="0" extrusionOk="0">
                        <a:moveTo>
                          <a:pt x="491" y="26179"/>
                        </a:moveTo>
                        <a:cubicBezTo>
                          <a:pt x="164" y="24675"/>
                          <a:pt x="0" y="2313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227" y="-1"/>
                          <a:pt x="39692" y="6371"/>
                          <a:pt x="42356" y="1562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7F3F00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53268" name="Group 44"/>
                <p:cNvGrpSpPr>
                  <a:grpSpLocks/>
                </p:cNvGrpSpPr>
                <p:nvPr/>
              </p:nvGrpSpPr>
              <p:grpSpPr bwMode="auto">
                <a:xfrm>
                  <a:off x="975" y="3683"/>
                  <a:ext cx="105" cy="68"/>
                  <a:chOff x="975" y="3683"/>
                  <a:chExt cx="105" cy="68"/>
                </a:xfrm>
              </p:grpSpPr>
              <p:grpSp>
                <p:nvGrpSpPr>
                  <p:cNvPr id="53286" name="Group 45"/>
                  <p:cNvGrpSpPr>
                    <a:grpSpLocks/>
                  </p:cNvGrpSpPr>
                  <p:nvPr/>
                </p:nvGrpSpPr>
                <p:grpSpPr bwMode="auto">
                  <a:xfrm>
                    <a:off x="975" y="3683"/>
                    <a:ext cx="100" cy="58"/>
                    <a:chOff x="975" y="3683"/>
                    <a:chExt cx="100" cy="58"/>
                  </a:xfrm>
                </p:grpSpPr>
                <p:sp>
                  <p:nvSpPr>
                    <p:cNvPr id="246" name="Arc 46"/>
                    <p:cNvSpPr>
                      <a:spLocks/>
                    </p:cNvSpPr>
                    <p:nvPr/>
                  </p:nvSpPr>
                  <p:spPr bwMode="auto">
                    <a:xfrm>
                      <a:off x="975" y="3685"/>
                      <a:ext cx="99" cy="57"/>
                    </a:xfrm>
                    <a:custGeom>
                      <a:avLst/>
                      <a:gdLst>
                        <a:gd name="G0" fmla="+- 21600 0 0"/>
                        <a:gd name="G1" fmla="+- 21600 0 0"/>
                        <a:gd name="G2" fmla="+- 21600 0 0"/>
                        <a:gd name="T0" fmla="*/ 501 w 42574"/>
                        <a:gd name="T1" fmla="*/ 26227 h 26227"/>
                        <a:gd name="T2" fmla="*/ 42574 w 42574"/>
                        <a:gd name="T3" fmla="*/ 16436 h 26227"/>
                        <a:gd name="T4" fmla="*/ 21600 w 42574"/>
                        <a:gd name="T5" fmla="*/ 21600 h 2622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2574" h="26227" fill="none" extrusionOk="0">
                          <a:moveTo>
                            <a:pt x="501" y="26226"/>
                          </a:moveTo>
                          <a:cubicBezTo>
                            <a:pt x="168" y="24707"/>
                            <a:pt x="0" y="23155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540" y="-1"/>
                            <a:pt x="40197" y="6784"/>
                            <a:pt x="42573" y="16436"/>
                          </a:cubicBezTo>
                        </a:path>
                        <a:path w="42574" h="26227" stroke="0" extrusionOk="0">
                          <a:moveTo>
                            <a:pt x="501" y="26226"/>
                          </a:moveTo>
                          <a:cubicBezTo>
                            <a:pt x="168" y="24707"/>
                            <a:pt x="0" y="23155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540" y="-1"/>
                            <a:pt x="40197" y="6784"/>
                            <a:pt x="42573" y="16436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247" name="Arc 47"/>
                    <p:cNvSpPr>
                      <a:spLocks/>
                    </p:cNvSpPr>
                    <p:nvPr/>
                  </p:nvSpPr>
                  <p:spPr bwMode="auto">
                    <a:xfrm>
                      <a:off x="975" y="3690"/>
                      <a:ext cx="51" cy="51"/>
                    </a:xfrm>
                    <a:custGeom>
                      <a:avLst/>
                      <a:gdLst>
                        <a:gd name="G0" fmla="+- 21600 0 0"/>
                        <a:gd name="G1" fmla="+- 18968 0 0"/>
                        <a:gd name="G2" fmla="+- 21600 0 0"/>
                        <a:gd name="T0" fmla="*/ 501 w 21600"/>
                        <a:gd name="T1" fmla="*/ 23595 h 23595"/>
                        <a:gd name="T2" fmla="*/ 11266 w 21600"/>
                        <a:gd name="T3" fmla="*/ 0 h 23595"/>
                        <a:gd name="T4" fmla="*/ 21600 w 21600"/>
                        <a:gd name="T5" fmla="*/ 18968 h 2359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3595" fill="none" extrusionOk="0">
                          <a:moveTo>
                            <a:pt x="501" y="23594"/>
                          </a:moveTo>
                          <a:cubicBezTo>
                            <a:pt x="168" y="22075"/>
                            <a:pt x="0" y="20523"/>
                            <a:pt x="0" y="18968"/>
                          </a:cubicBezTo>
                          <a:cubicBezTo>
                            <a:pt x="-1" y="11059"/>
                            <a:pt x="4321" y="3783"/>
                            <a:pt x="11266" y="0"/>
                          </a:cubicBezTo>
                        </a:path>
                        <a:path w="21600" h="23595" stroke="0" extrusionOk="0">
                          <a:moveTo>
                            <a:pt x="501" y="23594"/>
                          </a:moveTo>
                          <a:cubicBezTo>
                            <a:pt x="168" y="22075"/>
                            <a:pt x="0" y="20523"/>
                            <a:pt x="0" y="18968"/>
                          </a:cubicBezTo>
                          <a:cubicBezTo>
                            <a:pt x="-1" y="11059"/>
                            <a:pt x="4321" y="3783"/>
                            <a:pt x="11266" y="0"/>
                          </a:cubicBezTo>
                          <a:lnTo>
                            <a:pt x="21600" y="18968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248" name="Arc 48"/>
                    <p:cNvSpPr>
                      <a:spLocks/>
                    </p:cNvSpPr>
                    <p:nvPr/>
                  </p:nvSpPr>
                  <p:spPr bwMode="auto">
                    <a:xfrm>
                      <a:off x="975" y="3683"/>
                      <a:ext cx="99" cy="58"/>
                    </a:xfrm>
                    <a:custGeom>
                      <a:avLst/>
                      <a:gdLst>
                        <a:gd name="G0" fmla="+- 21600 0 0"/>
                        <a:gd name="G1" fmla="+- 21600 0 0"/>
                        <a:gd name="G2" fmla="+- 21600 0 0"/>
                        <a:gd name="T0" fmla="*/ 501 w 42462"/>
                        <a:gd name="T1" fmla="*/ 26223 h 26223"/>
                        <a:gd name="T2" fmla="*/ 42462 w 42462"/>
                        <a:gd name="T3" fmla="*/ 16000 h 26223"/>
                        <a:gd name="T4" fmla="*/ 21600 w 42462"/>
                        <a:gd name="T5" fmla="*/ 21600 h 262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2462" h="26223" fill="none" extrusionOk="0">
                          <a:moveTo>
                            <a:pt x="500" y="26223"/>
                          </a:moveTo>
                          <a:cubicBezTo>
                            <a:pt x="167" y="24704"/>
                            <a:pt x="0" y="23154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372" y="-1"/>
                            <a:pt x="39927" y="6561"/>
                            <a:pt x="42461" y="16000"/>
                          </a:cubicBezTo>
                        </a:path>
                        <a:path w="42462" h="26223" stroke="0" extrusionOk="0">
                          <a:moveTo>
                            <a:pt x="500" y="26223"/>
                          </a:moveTo>
                          <a:cubicBezTo>
                            <a:pt x="167" y="24704"/>
                            <a:pt x="0" y="23154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372" y="-1"/>
                            <a:pt x="39927" y="6561"/>
                            <a:pt x="42461" y="16000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w="793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p:grpSp>
              <p:sp>
                <p:nvSpPr>
                  <p:cNvPr id="245" name="Arc 49"/>
                  <p:cNvSpPr>
                    <a:spLocks/>
                  </p:cNvSpPr>
                  <p:nvPr/>
                </p:nvSpPr>
                <p:spPr bwMode="auto">
                  <a:xfrm>
                    <a:off x="981" y="3694"/>
                    <a:ext cx="99" cy="57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400 w 42446"/>
                      <a:gd name="T1" fmla="*/ 25740 h 25740"/>
                      <a:gd name="T2" fmla="*/ 42446 w 42446"/>
                      <a:gd name="T3" fmla="*/ 15942 h 25740"/>
                      <a:gd name="T4" fmla="*/ 21600 w 42446"/>
                      <a:gd name="T5" fmla="*/ 21600 h 257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2446" h="25740" fill="none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50" y="-1"/>
                          <a:pt x="39891" y="6532"/>
                          <a:pt x="42445" y="15942"/>
                        </a:cubicBezTo>
                      </a:path>
                      <a:path w="42446" h="25740" stroke="0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50" y="-1"/>
                          <a:pt x="39891" y="6532"/>
                          <a:pt x="42445" y="15942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7F3F00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53269" name="Group 50"/>
                <p:cNvGrpSpPr>
                  <a:grpSpLocks/>
                </p:cNvGrpSpPr>
                <p:nvPr/>
              </p:nvGrpSpPr>
              <p:grpSpPr bwMode="auto">
                <a:xfrm>
                  <a:off x="985" y="3702"/>
                  <a:ext cx="100" cy="56"/>
                  <a:chOff x="985" y="3702"/>
                  <a:chExt cx="100" cy="56"/>
                </a:xfrm>
              </p:grpSpPr>
              <p:sp>
                <p:nvSpPr>
                  <p:cNvPr id="242" name="Arc 51"/>
                  <p:cNvSpPr>
                    <a:spLocks/>
                  </p:cNvSpPr>
                  <p:nvPr/>
                </p:nvSpPr>
                <p:spPr bwMode="auto">
                  <a:xfrm>
                    <a:off x="985" y="3701"/>
                    <a:ext cx="101" cy="57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409 w 42699"/>
                      <a:gd name="T1" fmla="*/ 25782 h 25782"/>
                      <a:gd name="T2" fmla="*/ 42699 w 42699"/>
                      <a:gd name="T3" fmla="*/ 16973 h 25782"/>
                      <a:gd name="T4" fmla="*/ 21600 w 42699"/>
                      <a:gd name="T5" fmla="*/ 21600 h 2578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2699" h="25782" fill="none" extrusionOk="0">
                        <a:moveTo>
                          <a:pt x="408" y="25782"/>
                        </a:moveTo>
                        <a:cubicBezTo>
                          <a:pt x="136" y="24404"/>
                          <a:pt x="0" y="2300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46" y="-1"/>
                          <a:pt x="40525" y="7062"/>
                          <a:pt x="42698" y="16973"/>
                        </a:cubicBezTo>
                      </a:path>
                      <a:path w="42699" h="25782" stroke="0" extrusionOk="0">
                        <a:moveTo>
                          <a:pt x="408" y="25782"/>
                        </a:moveTo>
                        <a:cubicBezTo>
                          <a:pt x="136" y="24404"/>
                          <a:pt x="0" y="2300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46" y="-1"/>
                          <a:pt x="40525" y="7062"/>
                          <a:pt x="42698" y="1697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43" name="Arc 52"/>
                  <p:cNvSpPr>
                    <a:spLocks/>
                  </p:cNvSpPr>
                  <p:nvPr/>
                </p:nvSpPr>
                <p:spPr bwMode="auto">
                  <a:xfrm>
                    <a:off x="985" y="3707"/>
                    <a:ext cx="51" cy="51"/>
                  </a:xfrm>
                  <a:custGeom>
                    <a:avLst/>
                    <a:gdLst>
                      <a:gd name="G0" fmla="+- 21600 0 0"/>
                      <a:gd name="G1" fmla="+- 18968 0 0"/>
                      <a:gd name="G2" fmla="+- 21600 0 0"/>
                      <a:gd name="T0" fmla="*/ 409 w 21600"/>
                      <a:gd name="T1" fmla="*/ 23150 h 23150"/>
                      <a:gd name="T2" fmla="*/ 11266 w 21600"/>
                      <a:gd name="T3" fmla="*/ 0 h 23150"/>
                      <a:gd name="T4" fmla="*/ 21600 w 21600"/>
                      <a:gd name="T5" fmla="*/ 18968 h 231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3150" fill="none" extrusionOk="0">
                        <a:moveTo>
                          <a:pt x="408" y="23150"/>
                        </a:moveTo>
                        <a:cubicBezTo>
                          <a:pt x="136" y="21772"/>
                          <a:pt x="0" y="20371"/>
                          <a:pt x="0" y="18968"/>
                        </a:cubicBezTo>
                        <a:cubicBezTo>
                          <a:pt x="-1" y="11059"/>
                          <a:pt x="4321" y="3783"/>
                          <a:pt x="11266" y="0"/>
                        </a:cubicBezTo>
                      </a:path>
                      <a:path w="21600" h="23150" stroke="0" extrusionOk="0">
                        <a:moveTo>
                          <a:pt x="408" y="23150"/>
                        </a:moveTo>
                        <a:cubicBezTo>
                          <a:pt x="136" y="21772"/>
                          <a:pt x="0" y="20371"/>
                          <a:pt x="0" y="18968"/>
                        </a:cubicBezTo>
                        <a:cubicBezTo>
                          <a:pt x="-1" y="11059"/>
                          <a:pt x="4321" y="3783"/>
                          <a:pt x="11266" y="0"/>
                        </a:cubicBezTo>
                        <a:lnTo>
                          <a:pt x="21600" y="18968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53270" name="Group 53"/>
                <p:cNvGrpSpPr>
                  <a:grpSpLocks/>
                </p:cNvGrpSpPr>
                <p:nvPr/>
              </p:nvGrpSpPr>
              <p:grpSpPr bwMode="auto">
                <a:xfrm>
                  <a:off x="986" y="3702"/>
                  <a:ext cx="105" cy="67"/>
                  <a:chOff x="986" y="3702"/>
                  <a:chExt cx="105" cy="67"/>
                </a:xfrm>
              </p:grpSpPr>
              <p:sp>
                <p:nvSpPr>
                  <p:cNvPr id="240" name="Arc 54"/>
                  <p:cNvSpPr>
                    <a:spLocks/>
                  </p:cNvSpPr>
                  <p:nvPr/>
                </p:nvSpPr>
                <p:spPr bwMode="auto">
                  <a:xfrm>
                    <a:off x="986" y="3701"/>
                    <a:ext cx="99" cy="58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400 w 42475"/>
                      <a:gd name="T1" fmla="*/ 25740 h 25740"/>
                      <a:gd name="T2" fmla="*/ 42475 w 42475"/>
                      <a:gd name="T3" fmla="*/ 16052 h 25740"/>
                      <a:gd name="T4" fmla="*/ 21600 w 42475"/>
                      <a:gd name="T5" fmla="*/ 21600 h 257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2475" h="25740" fill="none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92" y="-1"/>
                          <a:pt x="39960" y="6587"/>
                          <a:pt x="42475" y="16051"/>
                        </a:cubicBezTo>
                      </a:path>
                      <a:path w="42475" h="25740" stroke="0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92" y="-1"/>
                          <a:pt x="39960" y="6587"/>
                          <a:pt x="42475" y="1605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41" name="Arc 55"/>
                  <p:cNvSpPr>
                    <a:spLocks/>
                  </p:cNvSpPr>
                  <p:nvPr/>
                </p:nvSpPr>
                <p:spPr bwMode="auto">
                  <a:xfrm>
                    <a:off x="992" y="3711"/>
                    <a:ext cx="99" cy="58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400 w 42586"/>
                      <a:gd name="T1" fmla="*/ 25740 h 25740"/>
                      <a:gd name="T2" fmla="*/ 42586 w 42586"/>
                      <a:gd name="T3" fmla="*/ 16487 h 25740"/>
                      <a:gd name="T4" fmla="*/ 21600 w 42586"/>
                      <a:gd name="T5" fmla="*/ 21600 h 257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2586" h="25740" fill="none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9" y="-1"/>
                          <a:pt x="40228" y="6810"/>
                          <a:pt x="42586" y="16486"/>
                        </a:cubicBezTo>
                      </a:path>
                      <a:path w="42586" h="25740" stroke="0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9" y="-1"/>
                          <a:pt x="40228" y="6810"/>
                          <a:pt x="42586" y="16486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7F3F00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53271" name="Group 56"/>
                <p:cNvGrpSpPr>
                  <a:grpSpLocks/>
                </p:cNvGrpSpPr>
                <p:nvPr/>
              </p:nvGrpSpPr>
              <p:grpSpPr bwMode="auto">
                <a:xfrm>
                  <a:off x="928" y="3618"/>
                  <a:ext cx="326" cy="467"/>
                  <a:chOff x="928" y="3618"/>
                  <a:chExt cx="326" cy="467"/>
                </a:xfrm>
              </p:grpSpPr>
              <p:sp>
                <p:nvSpPr>
                  <p:cNvPr id="238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1023" y="3618"/>
                    <a:ext cx="231" cy="415"/>
                  </a:xfrm>
                  <a:prstGeom prst="lin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39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928" y="3651"/>
                    <a:ext cx="233" cy="433"/>
                  </a:xfrm>
                  <a:prstGeom prst="lin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53272" name="Group 59"/>
                <p:cNvGrpSpPr>
                  <a:grpSpLocks/>
                </p:cNvGrpSpPr>
                <p:nvPr/>
              </p:nvGrpSpPr>
              <p:grpSpPr bwMode="auto">
                <a:xfrm>
                  <a:off x="996" y="3720"/>
                  <a:ext cx="104" cy="67"/>
                  <a:chOff x="996" y="3720"/>
                  <a:chExt cx="104" cy="67"/>
                </a:xfrm>
              </p:grpSpPr>
              <p:grpSp>
                <p:nvGrpSpPr>
                  <p:cNvPr id="53275" name="Group 60"/>
                  <p:cNvGrpSpPr>
                    <a:grpSpLocks/>
                  </p:cNvGrpSpPr>
                  <p:nvPr/>
                </p:nvGrpSpPr>
                <p:grpSpPr bwMode="auto">
                  <a:xfrm>
                    <a:off x="996" y="3720"/>
                    <a:ext cx="100" cy="56"/>
                    <a:chOff x="996" y="3720"/>
                    <a:chExt cx="100" cy="56"/>
                  </a:xfrm>
                </p:grpSpPr>
                <p:sp>
                  <p:nvSpPr>
                    <p:cNvPr id="236" name="Arc 61"/>
                    <p:cNvSpPr>
                      <a:spLocks/>
                    </p:cNvSpPr>
                    <p:nvPr/>
                  </p:nvSpPr>
                  <p:spPr bwMode="auto">
                    <a:xfrm>
                      <a:off x="996" y="3719"/>
                      <a:ext cx="99" cy="57"/>
                    </a:xfrm>
                    <a:custGeom>
                      <a:avLst/>
                      <a:gdLst>
                        <a:gd name="G0" fmla="+- 21600 0 0"/>
                        <a:gd name="G1" fmla="+- 21600 0 0"/>
                        <a:gd name="G2" fmla="+- 21600 0 0"/>
                        <a:gd name="T0" fmla="*/ 318 w 42689"/>
                        <a:gd name="T1" fmla="*/ 25294 h 25294"/>
                        <a:gd name="T2" fmla="*/ 42689 w 42689"/>
                        <a:gd name="T3" fmla="*/ 16929 h 25294"/>
                        <a:gd name="T4" fmla="*/ 21600 w 42689"/>
                        <a:gd name="T5" fmla="*/ 21600 h 252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2689" h="25294" fill="none" extrusionOk="0">
                          <a:moveTo>
                            <a:pt x="318" y="25293"/>
                          </a:moveTo>
                          <a:cubicBezTo>
                            <a:pt x="106" y="24074"/>
                            <a:pt x="0" y="2283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729" y="-1"/>
                            <a:pt x="40498" y="7039"/>
                            <a:pt x="42688" y="16929"/>
                          </a:cubicBezTo>
                        </a:path>
                        <a:path w="42689" h="25294" stroke="0" extrusionOk="0">
                          <a:moveTo>
                            <a:pt x="318" y="25293"/>
                          </a:moveTo>
                          <a:cubicBezTo>
                            <a:pt x="106" y="24074"/>
                            <a:pt x="0" y="2283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729" y="-1"/>
                            <a:pt x="40498" y="7039"/>
                            <a:pt x="42688" y="16929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237" name="Arc 62"/>
                    <p:cNvSpPr>
                      <a:spLocks/>
                    </p:cNvSpPr>
                    <p:nvPr/>
                  </p:nvSpPr>
                  <p:spPr bwMode="auto">
                    <a:xfrm>
                      <a:off x="996" y="3726"/>
                      <a:ext cx="51" cy="50"/>
                    </a:xfrm>
                    <a:custGeom>
                      <a:avLst/>
                      <a:gdLst>
                        <a:gd name="G0" fmla="+- 21600 0 0"/>
                        <a:gd name="G1" fmla="+- 18737 0 0"/>
                        <a:gd name="G2" fmla="+- 21600 0 0"/>
                        <a:gd name="T0" fmla="*/ 318 w 21600"/>
                        <a:gd name="T1" fmla="*/ 22431 h 22431"/>
                        <a:gd name="T2" fmla="*/ 10854 w 21600"/>
                        <a:gd name="T3" fmla="*/ 0 h 22431"/>
                        <a:gd name="T4" fmla="*/ 21600 w 21600"/>
                        <a:gd name="T5" fmla="*/ 18737 h 224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2431" fill="none" extrusionOk="0">
                          <a:moveTo>
                            <a:pt x="318" y="22430"/>
                          </a:moveTo>
                          <a:cubicBezTo>
                            <a:pt x="106" y="21211"/>
                            <a:pt x="0" y="19975"/>
                            <a:pt x="0" y="18737"/>
                          </a:cubicBezTo>
                          <a:cubicBezTo>
                            <a:pt x="-1" y="10997"/>
                            <a:pt x="4140" y="3850"/>
                            <a:pt x="10853" y="-1"/>
                          </a:cubicBezTo>
                        </a:path>
                        <a:path w="21600" h="22431" stroke="0" extrusionOk="0">
                          <a:moveTo>
                            <a:pt x="318" y="22430"/>
                          </a:moveTo>
                          <a:cubicBezTo>
                            <a:pt x="106" y="21211"/>
                            <a:pt x="0" y="19975"/>
                            <a:pt x="0" y="18737"/>
                          </a:cubicBezTo>
                          <a:cubicBezTo>
                            <a:pt x="-1" y="10997"/>
                            <a:pt x="4140" y="3850"/>
                            <a:pt x="10853" y="-1"/>
                          </a:cubicBezTo>
                          <a:lnTo>
                            <a:pt x="21600" y="18737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 sz="1800" b="0" kern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p:grpSp>
              <p:sp>
                <p:nvSpPr>
                  <p:cNvPr id="234" name="Arc 63"/>
                  <p:cNvSpPr>
                    <a:spLocks/>
                  </p:cNvSpPr>
                  <p:nvPr/>
                </p:nvSpPr>
                <p:spPr bwMode="auto">
                  <a:xfrm>
                    <a:off x="996" y="3719"/>
                    <a:ext cx="101" cy="58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408 w 42574"/>
                      <a:gd name="T1" fmla="*/ 25779 h 25779"/>
                      <a:gd name="T2" fmla="*/ 42574 w 42574"/>
                      <a:gd name="T3" fmla="*/ 16439 h 25779"/>
                      <a:gd name="T4" fmla="*/ 21600 w 42574"/>
                      <a:gd name="T5" fmla="*/ 21600 h 257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2574" h="25779" fill="none" extrusionOk="0">
                        <a:moveTo>
                          <a:pt x="408" y="25778"/>
                        </a:moveTo>
                        <a:cubicBezTo>
                          <a:pt x="136" y="24402"/>
                          <a:pt x="0" y="230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41" y="-1"/>
                          <a:pt x="40198" y="6785"/>
                          <a:pt x="42574" y="16438"/>
                        </a:cubicBezTo>
                      </a:path>
                      <a:path w="42574" h="25779" stroke="0" extrusionOk="0">
                        <a:moveTo>
                          <a:pt x="408" y="25778"/>
                        </a:moveTo>
                        <a:cubicBezTo>
                          <a:pt x="136" y="24402"/>
                          <a:pt x="0" y="230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41" y="-1"/>
                          <a:pt x="40198" y="6785"/>
                          <a:pt x="42574" y="1643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35" name="Arc 64"/>
                  <p:cNvSpPr>
                    <a:spLocks/>
                  </p:cNvSpPr>
                  <p:nvPr/>
                </p:nvSpPr>
                <p:spPr bwMode="auto">
                  <a:xfrm>
                    <a:off x="1002" y="3729"/>
                    <a:ext cx="98" cy="58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602 w 42461"/>
                      <a:gd name="T1" fmla="*/ 26665 h 26665"/>
                      <a:gd name="T2" fmla="*/ 42461 w 42461"/>
                      <a:gd name="T3" fmla="*/ 15997 h 26665"/>
                      <a:gd name="T4" fmla="*/ 21600 w 42461"/>
                      <a:gd name="T5" fmla="*/ 21600 h 266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2461" h="26665" fill="none" extrusionOk="0">
                        <a:moveTo>
                          <a:pt x="602" y="26664"/>
                        </a:moveTo>
                        <a:cubicBezTo>
                          <a:pt x="202" y="25006"/>
                          <a:pt x="0" y="2330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71" y="-1"/>
                          <a:pt x="39925" y="6560"/>
                          <a:pt x="42460" y="15997"/>
                        </a:cubicBezTo>
                      </a:path>
                      <a:path w="42461" h="26665" stroke="0" extrusionOk="0">
                        <a:moveTo>
                          <a:pt x="602" y="26664"/>
                        </a:moveTo>
                        <a:cubicBezTo>
                          <a:pt x="202" y="25006"/>
                          <a:pt x="0" y="2330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71" y="-1"/>
                          <a:pt x="39925" y="6560"/>
                          <a:pt x="42460" y="15997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231" name="Freeform 65"/>
                <p:cNvSpPr>
                  <a:spLocks/>
                </p:cNvSpPr>
                <p:nvPr/>
              </p:nvSpPr>
              <p:spPr bwMode="auto">
                <a:xfrm>
                  <a:off x="999" y="3730"/>
                  <a:ext cx="200" cy="344"/>
                </a:xfrm>
                <a:custGeom>
                  <a:avLst/>
                  <a:gdLst>
                    <a:gd name="T0" fmla="*/ 51 w 401"/>
                    <a:gd name="T1" fmla="*/ 0 h 687"/>
                    <a:gd name="T2" fmla="*/ 36 w 401"/>
                    <a:gd name="T3" fmla="*/ 9 h 687"/>
                    <a:gd name="T4" fmla="*/ 25 w 401"/>
                    <a:gd name="T5" fmla="*/ 18 h 687"/>
                    <a:gd name="T6" fmla="*/ 14 w 401"/>
                    <a:gd name="T7" fmla="*/ 30 h 687"/>
                    <a:gd name="T8" fmla="*/ 10 w 401"/>
                    <a:gd name="T9" fmla="*/ 41 h 687"/>
                    <a:gd name="T10" fmla="*/ 5 w 401"/>
                    <a:gd name="T11" fmla="*/ 54 h 687"/>
                    <a:gd name="T12" fmla="*/ 2 w 401"/>
                    <a:gd name="T13" fmla="*/ 66 h 687"/>
                    <a:gd name="T14" fmla="*/ 0 w 401"/>
                    <a:gd name="T15" fmla="*/ 81 h 687"/>
                    <a:gd name="T16" fmla="*/ 0 w 401"/>
                    <a:gd name="T17" fmla="*/ 99 h 687"/>
                    <a:gd name="T18" fmla="*/ 311 w 401"/>
                    <a:gd name="T19" fmla="*/ 687 h 687"/>
                    <a:gd name="T20" fmla="*/ 401 w 401"/>
                    <a:gd name="T21" fmla="*/ 625 h 687"/>
                    <a:gd name="T22" fmla="*/ 51 w 401"/>
                    <a:gd name="T23" fmla="*/ 0 h 6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01" h="687">
                      <a:moveTo>
                        <a:pt x="51" y="0"/>
                      </a:moveTo>
                      <a:lnTo>
                        <a:pt x="36" y="9"/>
                      </a:lnTo>
                      <a:lnTo>
                        <a:pt x="25" y="18"/>
                      </a:lnTo>
                      <a:lnTo>
                        <a:pt x="14" y="30"/>
                      </a:lnTo>
                      <a:lnTo>
                        <a:pt x="10" y="41"/>
                      </a:lnTo>
                      <a:lnTo>
                        <a:pt x="5" y="54"/>
                      </a:lnTo>
                      <a:lnTo>
                        <a:pt x="2" y="66"/>
                      </a:lnTo>
                      <a:lnTo>
                        <a:pt x="0" y="81"/>
                      </a:lnTo>
                      <a:lnTo>
                        <a:pt x="0" y="99"/>
                      </a:lnTo>
                      <a:lnTo>
                        <a:pt x="311" y="687"/>
                      </a:lnTo>
                      <a:lnTo>
                        <a:pt x="401" y="625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800" b="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32" name="Oval 66"/>
                <p:cNvSpPr>
                  <a:spLocks noChangeArrowheads="1"/>
                </p:cNvSpPr>
                <p:nvPr/>
              </p:nvSpPr>
              <p:spPr bwMode="auto">
                <a:xfrm>
                  <a:off x="1157" y="4016"/>
                  <a:ext cx="109" cy="106"/>
                </a:xfrm>
                <a:prstGeom prst="ellipse">
                  <a:avLst/>
                </a:prstGeom>
                <a:solidFill>
                  <a:srgbClr val="7F5F3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800" b="0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</p:grpSp>
        <p:sp>
          <p:nvSpPr>
            <p:cNvPr id="216" name="Text Box 67"/>
            <p:cNvSpPr txBox="1">
              <a:spLocks noChangeArrowheads="1"/>
            </p:cNvSpPr>
            <p:nvPr/>
          </p:nvSpPr>
          <p:spPr bwMode="auto">
            <a:xfrm>
              <a:off x="624" y="3120"/>
              <a:ext cx="11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zh-CN" altLang="en-US" sz="2800" kern="0" dirty="0">
                  <a:solidFill>
                    <a:srgbClr val="0000FF"/>
                  </a:solidFill>
                  <a:latin typeface="Times New Roman" pitchFamily="18" charset="0"/>
                  <a:ea typeface="楷体_GB2312" pitchFamily="1" charset="-122"/>
                </a:rPr>
                <a:t>研究内容：</a:t>
              </a:r>
            </a:p>
          </p:txBody>
        </p:sp>
      </p:grpSp>
      <p:sp>
        <p:nvSpPr>
          <p:cNvPr id="268" name="Text Box 68"/>
          <p:cNvSpPr txBox="1">
            <a:spLocks noChangeArrowheads="1"/>
          </p:cNvSpPr>
          <p:nvPr/>
        </p:nvSpPr>
        <p:spPr bwMode="auto">
          <a:xfrm>
            <a:off x="1258888" y="4005263"/>
            <a:ext cx="71628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kumimoji="1" lang="en-US" altLang="zh-CN" sz="2800" kern="0" dirty="0">
                <a:solidFill>
                  <a:srgbClr val="3399FF"/>
                </a:solidFill>
                <a:latin typeface="Times New Roman" pitchFamily="18" charset="0"/>
                <a:ea typeface="楷体_GB2312" pitchFamily="1" charset="-122"/>
                <a:sym typeface="Wingdings" pitchFamily="2" charset="2"/>
              </a:rPr>
              <a:t></a:t>
            </a:r>
            <a:r>
              <a:rPr kumimoji="1" lang="en-US" altLang="zh-CN" sz="2800" kern="0" dirty="0">
                <a:solidFill>
                  <a:sysClr val="windowText" lastClr="000000"/>
                </a:solidFill>
                <a:latin typeface="Times New Roman" pitchFamily="18" charset="0"/>
                <a:ea typeface="楷体_GB2312" pitchFamily="1" charset="-122"/>
                <a:sym typeface="Wingdings" pitchFamily="2" charset="2"/>
              </a:rPr>
              <a:t> </a:t>
            </a:r>
            <a:r>
              <a:rPr kumimoji="1" lang="zh-CN" altLang="en-US" sz="2800" kern="0" dirty="0">
                <a:solidFill>
                  <a:sysClr val="windowText" lastClr="000000"/>
                </a:solidFill>
                <a:latin typeface="Times New Roman" pitchFamily="18" charset="0"/>
                <a:ea typeface="楷体_GB2312" pitchFamily="1" charset="-122"/>
              </a:rPr>
              <a:t>如何建立迭代格式？　        </a:t>
            </a:r>
            <a:r>
              <a:rPr kumimoji="1" lang="zh-CN" altLang="en-US" sz="2800" kern="0" dirty="0">
                <a:solidFill>
                  <a:srgbClr val="3399FF"/>
                </a:solidFill>
                <a:latin typeface="Times New Roman" pitchFamily="18" charset="0"/>
                <a:ea typeface="楷体_GB2312" pitchFamily="1" charset="-122"/>
                <a:sym typeface="Wingdings" pitchFamily="2" charset="2"/>
              </a:rPr>
              <a:t></a:t>
            </a:r>
            <a:r>
              <a:rPr kumimoji="1" lang="zh-CN" altLang="en-US" sz="2800" kern="0" dirty="0">
                <a:solidFill>
                  <a:sysClr val="windowText" lastClr="000000"/>
                </a:solidFill>
                <a:latin typeface="Times New Roman" pitchFamily="18" charset="0"/>
                <a:ea typeface="楷体_GB2312" pitchFamily="1" charset="-122"/>
                <a:sym typeface="Wingdings" pitchFamily="2" charset="2"/>
              </a:rPr>
              <a:t> </a:t>
            </a:r>
            <a:r>
              <a:rPr kumimoji="1" lang="zh-CN" altLang="en-US" sz="2800" kern="0" dirty="0">
                <a:solidFill>
                  <a:sysClr val="windowText" lastClr="000000"/>
                </a:solidFill>
                <a:latin typeface="Times New Roman" pitchFamily="18" charset="0"/>
                <a:ea typeface="楷体_GB2312" pitchFamily="1" charset="-122"/>
              </a:rPr>
              <a:t>收敛速度？</a:t>
            </a:r>
          </a:p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kumimoji="1" lang="zh-CN" altLang="en-US" sz="2800" kern="0" dirty="0">
                <a:solidFill>
                  <a:srgbClr val="3399FF"/>
                </a:solidFill>
                <a:latin typeface="Times New Roman" pitchFamily="18" charset="0"/>
                <a:ea typeface="楷体_GB2312" pitchFamily="1" charset="-122"/>
                <a:sym typeface="Wingdings" pitchFamily="2" charset="2"/>
              </a:rPr>
              <a:t></a:t>
            </a:r>
            <a:r>
              <a:rPr kumimoji="1" lang="zh-CN" altLang="en-US" sz="2800" kern="0" dirty="0">
                <a:solidFill>
                  <a:sysClr val="windowText" lastClr="000000"/>
                </a:solidFill>
                <a:latin typeface="Times New Roman" pitchFamily="18" charset="0"/>
                <a:ea typeface="楷体_GB2312" pitchFamily="1" charset="-122"/>
                <a:sym typeface="Wingdings" pitchFamily="2" charset="2"/>
              </a:rPr>
              <a:t>  </a:t>
            </a:r>
            <a:r>
              <a:rPr kumimoji="1" lang="zh-CN" altLang="en-US" sz="2800" kern="0" dirty="0">
                <a:solidFill>
                  <a:sysClr val="windowText" lastClr="000000"/>
                </a:solidFill>
                <a:latin typeface="Times New Roman" pitchFamily="18" charset="0"/>
                <a:ea typeface="楷体_GB2312" pitchFamily="1" charset="-122"/>
              </a:rPr>
              <a:t>向量序列的收敛条件？      </a:t>
            </a:r>
            <a:r>
              <a:rPr kumimoji="1" lang="zh-CN" altLang="en-US" sz="2800" kern="0" dirty="0">
                <a:solidFill>
                  <a:srgbClr val="3399FF"/>
                </a:solidFill>
                <a:latin typeface="Times New Roman" pitchFamily="18" charset="0"/>
                <a:ea typeface="楷体_GB2312" pitchFamily="1" charset="-122"/>
                <a:sym typeface="Wingdings" pitchFamily="2" charset="2"/>
              </a:rPr>
              <a:t></a:t>
            </a:r>
            <a:r>
              <a:rPr kumimoji="1" lang="zh-CN" altLang="en-US" sz="2800" kern="0" dirty="0">
                <a:solidFill>
                  <a:sysClr val="windowText" lastClr="000000"/>
                </a:solidFill>
                <a:latin typeface="Times New Roman" pitchFamily="18" charset="0"/>
                <a:ea typeface="楷体_GB2312" pitchFamily="1" charset="-122"/>
                <a:sym typeface="Wingdings" pitchFamily="2" charset="2"/>
              </a:rPr>
              <a:t>  </a:t>
            </a:r>
            <a:r>
              <a:rPr kumimoji="1" lang="zh-CN" altLang="en-US" sz="2800" kern="0" dirty="0">
                <a:solidFill>
                  <a:sysClr val="windowText" lastClr="000000"/>
                </a:solidFill>
                <a:latin typeface="Times New Roman" pitchFamily="18" charset="0"/>
                <a:ea typeface="楷体_GB2312" pitchFamily="1" charset="-122"/>
              </a:rPr>
              <a:t>误差估计？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62219CE-755C-423E-B206-F812F0B2D1CD}" type="slidenum">
              <a:rPr lang="zh-CN" altLang="en-US" b="0"/>
              <a:pPr/>
              <a:t>25</a:t>
            </a:fld>
            <a:endParaRPr lang="en-US" altLang="zh-CN" b="0"/>
          </a:p>
        </p:txBody>
      </p:sp>
      <p:sp>
        <p:nvSpPr>
          <p:cNvPr id="5427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79835D5-12E1-4801-ADAF-B5AA5E834EC8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433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dirty="0" smtClean="0"/>
              <a:t>§2 简单迭代法</a:t>
            </a:r>
          </a:p>
        </p:txBody>
      </p:sp>
      <p:sp>
        <p:nvSpPr>
          <p:cNvPr id="5427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1447800"/>
            <a:ext cx="7086600" cy="1654175"/>
          </a:xfrm>
        </p:spPr>
        <p:txBody>
          <a:bodyPr/>
          <a:lstStyle/>
          <a:p>
            <a:r>
              <a:rPr lang="zh-CN" altLang="en-US" sz="3200" smtClean="0">
                <a:latin typeface="宋体" pitchFamily="2" charset="-122"/>
              </a:rPr>
              <a:t>线性方程组</a:t>
            </a:r>
            <a:r>
              <a:rPr lang="en-US" altLang="zh-CN" sz="3200" smtClean="0">
                <a:latin typeface="宋体" pitchFamily="2" charset="-122"/>
              </a:rPr>
              <a:t>AX=</a:t>
            </a:r>
            <a:r>
              <a:rPr lang="en-US" altLang="zh-CN" sz="3200" smtClean="0"/>
              <a:t>B</a:t>
            </a:r>
          </a:p>
          <a:p>
            <a:r>
              <a:rPr lang="zh-CN" altLang="en-US" sz="3200" smtClean="0">
                <a:latin typeface="宋体" pitchFamily="2" charset="-122"/>
              </a:rPr>
              <a:t>将其变形为等价的方程组</a:t>
            </a:r>
            <a:r>
              <a:rPr lang="zh-CN" altLang="en-US" sz="3200" smtClean="0"/>
              <a:t> </a:t>
            </a:r>
            <a:r>
              <a:rPr lang="en-US" altLang="zh-CN" sz="3200" smtClean="0">
                <a:latin typeface="宋体" pitchFamily="2" charset="-122"/>
              </a:rPr>
              <a:t>X=MX+N,</a:t>
            </a:r>
          </a:p>
          <a:p>
            <a:r>
              <a:rPr lang="zh-CN" altLang="en-US" sz="3200" smtClean="0">
                <a:latin typeface="宋体" pitchFamily="2" charset="-122"/>
              </a:rPr>
              <a:t>建立迭代格式:</a:t>
            </a:r>
            <a:endParaRPr lang="zh-CN" altLang="en-US" sz="3200" smtClean="0"/>
          </a:p>
        </p:txBody>
      </p:sp>
      <p:sp>
        <p:nvSpPr>
          <p:cNvPr id="443398" name="Rectangle 1030"/>
          <p:cNvSpPr>
            <a:spLocks noChangeArrowheads="1"/>
          </p:cNvSpPr>
          <p:nvPr/>
        </p:nvSpPr>
        <p:spPr bwMode="auto">
          <a:xfrm>
            <a:off x="838200" y="3829050"/>
            <a:ext cx="7467600" cy="234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 选取初始向量, 由</a:t>
            </a:r>
            <a:r>
              <a:rPr lang="en-US" altLang="zh-CN" sz="3600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600" baseline="30000" dirty="0">
                <a:latin typeface="Times New Roman" pitchFamily="18" charset="0"/>
                <a:ea typeface="黑体" pitchFamily="49" charset="-122"/>
              </a:rPr>
              <a:t>(k)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计算出</a:t>
            </a:r>
            <a:r>
              <a:rPr lang="en-US" altLang="zh-CN" sz="3600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600" baseline="30000" dirty="0">
                <a:latin typeface="Times New Roman" pitchFamily="18" charset="0"/>
                <a:ea typeface="黑体" pitchFamily="49" charset="-122"/>
              </a:rPr>
              <a:t>(k+1)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, </a:t>
            </a:r>
          </a:p>
          <a:p>
            <a:pPr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 得到向量序列{</a:t>
            </a:r>
            <a:r>
              <a:rPr lang="en-US" altLang="zh-CN" sz="3600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600" baseline="30000" dirty="0">
                <a:latin typeface="Times New Roman" pitchFamily="18" charset="0"/>
                <a:ea typeface="黑体" pitchFamily="49" charset="-122"/>
              </a:rPr>
              <a:t>(n)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}，使其收敛于某一极限向量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30000" dirty="0">
                <a:latin typeface="Times New Roman" pitchFamily="18" charset="0"/>
                <a:ea typeface="黑体" pitchFamily="49" charset="-122"/>
              </a:rPr>
              <a:t>*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, </a:t>
            </a:r>
          </a:p>
          <a:p>
            <a:pPr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 X</a:t>
            </a:r>
            <a:r>
              <a:rPr lang="en-US" altLang="zh-CN" sz="3200" baseline="30000" dirty="0">
                <a:latin typeface="Times New Roman" pitchFamily="18" charset="0"/>
                <a:ea typeface="黑体" pitchFamily="49" charset="-122"/>
              </a:rPr>
              <a:t>*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是线性方程组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AX=B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的解 </a:t>
            </a:r>
          </a:p>
        </p:txBody>
      </p:sp>
      <p:graphicFrame>
        <p:nvGraphicFramePr>
          <p:cNvPr id="54279" name="Object 1032"/>
          <p:cNvGraphicFramePr>
            <a:graphicFrameLocks noChangeAspect="1"/>
          </p:cNvGraphicFramePr>
          <p:nvPr/>
        </p:nvGraphicFramePr>
        <p:xfrm>
          <a:off x="2411413" y="3243263"/>
          <a:ext cx="34544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9" name="公式" r:id="rId4" imgW="1282700" imgH="190500" progId="Equation.3">
                  <p:embed/>
                </p:oleObj>
              </mc:Choice>
              <mc:Fallback>
                <p:oleObj name="公式" r:id="rId4" imgW="1282700" imgH="19050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243263"/>
                        <a:ext cx="3454400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087BF154-85BB-4C08-BB7B-A1D163C1D025}" type="slidenum">
              <a:rPr lang="zh-CN" altLang="en-US" b="0"/>
              <a:pPr/>
              <a:t>26</a:t>
            </a:fld>
            <a:endParaRPr lang="en-US" altLang="zh-CN" b="0"/>
          </a:p>
        </p:txBody>
      </p:sp>
      <p:sp>
        <p:nvSpPr>
          <p:cNvPr id="5632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D79997D-8583-451E-BA00-C3332A6AA732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§2.1 迭代格式</a:t>
            </a: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38150"/>
          </a:xfrm>
        </p:spPr>
        <p:txBody>
          <a:bodyPr/>
          <a:lstStyle/>
          <a:p>
            <a:r>
              <a:rPr lang="zh-CN" altLang="en-US" sz="3200" smtClean="0"/>
              <a:t>2.1.1 迭代格式1</a:t>
            </a:r>
          </a:p>
        </p:txBody>
      </p:sp>
      <p:sp>
        <p:nvSpPr>
          <p:cNvPr id="453636" name="Rectangle 4"/>
          <p:cNvSpPr>
            <a:spLocks noChangeArrowheads="1"/>
          </p:cNvSpPr>
          <p:nvPr/>
        </p:nvSpPr>
        <p:spPr bwMode="auto">
          <a:xfrm>
            <a:off x="1295400" y="1600200"/>
            <a:ext cx="12747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latin typeface="Times New Roman" pitchFamily="18" charset="0"/>
              </a:rPr>
              <a:t>AX=B</a:t>
            </a:r>
            <a:endParaRPr lang="zh-CN" altLang="en-US" sz="3200">
              <a:latin typeface="Times New Roman" pitchFamily="18" charset="0"/>
            </a:endParaRPr>
          </a:p>
        </p:txBody>
      </p:sp>
      <p:sp>
        <p:nvSpPr>
          <p:cNvPr id="453637" name="Rectangle 5"/>
          <p:cNvSpPr>
            <a:spLocks noChangeArrowheads="1"/>
          </p:cNvSpPr>
          <p:nvPr/>
        </p:nvSpPr>
        <p:spPr bwMode="auto">
          <a:xfrm>
            <a:off x="1147763" y="2590800"/>
            <a:ext cx="1612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latin typeface="Times New Roman" pitchFamily="18" charset="0"/>
              </a:rPr>
              <a:t>0=</a:t>
            </a:r>
            <a:r>
              <a:rPr lang="en-US" altLang="zh-CN" sz="3200">
                <a:latin typeface="Times New Roman" pitchFamily="18" charset="0"/>
              </a:rPr>
              <a:t>B-AX</a:t>
            </a:r>
            <a:endParaRPr lang="zh-CN" altLang="en-US" sz="3200">
              <a:latin typeface="Times New Roman" pitchFamily="18" charset="0"/>
            </a:endParaRPr>
          </a:p>
        </p:txBody>
      </p:sp>
      <p:sp>
        <p:nvSpPr>
          <p:cNvPr id="453638" name="Rectangle 6"/>
          <p:cNvSpPr>
            <a:spLocks noChangeArrowheads="1"/>
          </p:cNvSpPr>
          <p:nvPr/>
        </p:nvSpPr>
        <p:spPr bwMode="auto">
          <a:xfrm>
            <a:off x="1066800" y="3733800"/>
            <a:ext cx="22288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latin typeface="Times New Roman" pitchFamily="18" charset="0"/>
              </a:rPr>
              <a:t>X=B-AX+X</a:t>
            </a:r>
            <a:endParaRPr lang="zh-CN" altLang="en-US" sz="3200">
              <a:latin typeface="Times New Roman" pitchFamily="18" charset="0"/>
            </a:endParaRPr>
          </a:p>
        </p:txBody>
      </p:sp>
      <p:sp>
        <p:nvSpPr>
          <p:cNvPr id="453639" name="AutoShape 7"/>
          <p:cNvSpPr>
            <a:spLocks noChangeArrowheads="1"/>
          </p:cNvSpPr>
          <p:nvPr/>
        </p:nvSpPr>
        <p:spPr bwMode="auto">
          <a:xfrm>
            <a:off x="1757363" y="4267200"/>
            <a:ext cx="533400" cy="533400"/>
          </a:xfrm>
          <a:prstGeom prst="downArrow">
            <a:avLst>
              <a:gd name="adj1" fmla="val 50000"/>
              <a:gd name="adj2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3640" name="Rectangle 8"/>
          <p:cNvSpPr>
            <a:spLocks noChangeArrowheads="1"/>
          </p:cNvSpPr>
          <p:nvPr/>
        </p:nvSpPr>
        <p:spPr bwMode="auto">
          <a:xfrm>
            <a:off x="917575" y="4724400"/>
            <a:ext cx="23637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latin typeface="Times New Roman" pitchFamily="18" charset="0"/>
              </a:rPr>
              <a:t>X=(I-A)X+B</a:t>
            </a:r>
            <a:endParaRPr lang="zh-CN" altLang="en-US" sz="3200">
              <a:latin typeface="Times New Roman" pitchFamily="18" charset="0"/>
            </a:endParaRPr>
          </a:p>
        </p:txBody>
      </p:sp>
      <p:sp>
        <p:nvSpPr>
          <p:cNvPr id="453641" name="AutoShape 9"/>
          <p:cNvSpPr>
            <a:spLocks noChangeArrowheads="1"/>
          </p:cNvSpPr>
          <p:nvPr/>
        </p:nvSpPr>
        <p:spPr bwMode="auto">
          <a:xfrm>
            <a:off x="1830388" y="5334000"/>
            <a:ext cx="533400" cy="533400"/>
          </a:xfrm>
          <a:prstGeom prst="downArrow">
            <a:avLst>
              <a:gd name="adj1" fmla="val 50000"/>
              <a:gd name="adj2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3642" name="Rectangle 10"/>
          <p:cNvSpPr>
            <a:spLocks noChangeArrowheads="1"/>
          </p:cNvSpPr>
          <p:nvPr/>
        </p:nvSpPr>
        <p:spPr bwMode="auto">
          <a:xfrm>
            <a:off x="381000" y="5897563"/>
            <a:ext cx="34337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latin typeface="Times New Roman" pitchFamily="18" charset="0"/>
              </a:rPr>
              <a:t>X</a:t>
            </a:r>
            <a:r>
              <a:rPr lang="en-US" altLang="zh-CN" sz="3200" baseline="30000">
                <a:latin typeface="Times New Roman" pitchFamily="18" charset="0"/>
              </a:rPr>
              <a:t>(k+1) </a:t>
            </a:r>
            <a:r>
              <a:rPr lang="en-US" altLang="zh-CN" sz="3200">
                <a:latin typeface="Times New Roman" pitchFamily="18" charset="0"/>
              </a:rPr>
              <a:t>=(I-A)X</a:t>
            </a:r>
            <a:r>
              <a:rPr lang="en-US" altLang="zh-CN" sz="3200" baseline="30000">
                <a:latin typeface="Times New Roman" pitchFamily="18" charset="0"/>
              </a:rPr>
              <a:t>(k) </a:t>
            </a:r>
            <a:r>
              <a:rPr lang="en-US" altLang="zh-CN" sz="3200">
                <a:latin typeface="Times New Roman" pitchFamily="18" charset="0"/>
              </a:rPr>
              <a:t>+B</a:t>
            </a:r>
            <a:endParaRPr lang="zh-CN" altLang="en-US" sz="3200">
              <a:latin typeface="Times New Roman" pitchFamily="18" charset="0"/>
            </a:endParaRPr>
          </a:p>
        </p:txBody>
      </p:sp>
      <p:graphicFrame>
        <p:nvGraphicFramePr>
          <p:cNvPr id="453643" name="Object 11"/>
          <p:cNvGraphicFramePr>
            <a:graphicFrameLocks noChangeAspect="1"/>
          </p:cNvGraphicFramePr>
          <p:nvPr/>
        </p:nvGraphicFramePr>
        <p:xfrm>
          <a:off x="3429000" y="2590800"/>
          <a:ext cx="5486400" cy="24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6" name="Equation" r:id="rId4" imgW="2159000" imgH="939800" progId="Equation.3">
                  <p:embed/>
                </p:oleObj>
              </mc:Choice>
              <mc:Fallback>
                <p:oleObj name="Equation" r:id="rId4" imgW="2159000" imgH="939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590800"/>
                        <a:ext cx="5486400" cy="241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3644" name="AutoShape 12"/>
          <p:cNvSpPr>
            <a:spLocks noChangeArrowheads="1"/>
          </p:cNvSpPr>
          <p:nvPr/>
        </p:nvSpPr>
        <p:spPr bwMode="auto">
          <a:xfrm>
            <a:off x="1752600" y="2133600"/>
            <a:ext cx="533400" cy="533400"/>
          </a:xfrm>
          <a:prstGeom prst="downArrow">
            <a:avLst>
              <a:gd name="adj1" fmla="val 50000"/>
              <a:gd name="adj2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3645" name="AutoShape 13"/>
          <p:cNvSpPr>
            <a:spLocks noChangeArrowheads="1"/>
          </p:cNvSpPr>
          <p:nvPr/>
        </p:nvSpPr>
        <p:spPr bwMode="auto">
          <a:xfrm>
            <a:off x="1752600" y="3200400"/>
            <a:ext cx="533400" cy="533400"/>
          </a:xfrm>
          <a:prstGeom prst="downArrow">
            <a:avLst>
              <a:gd name="adj1" fmla="val 50000"/>
              <a:gd name="adj2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3646" name="Rectangle 14"/>
          <p:cNvSpPr>
            <a:spLocks noChangeArrowheads="1"/>
          </p:cNvSpPr>
          <p:nvPr/>
        </p:nvSpPr>
        <p:spPr bwMode="auto">
          <a:xfrm>
            <a:off x="6781800" y="5105400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0000FF"/>
                </a:solidFill>
                <a:latin typeface="Times New Roman" pitchFamily="18" charset="0"/>
              </a:rPr>
              <a:t>迭代矩阵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3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5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53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53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53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5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53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53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53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53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53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36" grpId="0" autoUpdateAnimBg="0"/>
      <p:bldP spid="453637" grpId="0" autoUpdateAnimBg="0"/>
      <p:bldP spid="453638" grpId="0" autoUpdateAnimBg="0"/>
      <p:bldP spid="453639" grpId="0" animBg="1"/>
      <p:bldP spid="453640" grpId="0" autoUpdateAnimBg="0"/>
      <p:bldP spid="453641" grpId="0" animBg="1"/>
      <p:bldP spid="453642" grpId="0" autoUpdateAnimBg="0"/>
      <p:bldP spid="453644" grpId="0" animBg="1"/>
      <p:bldP spid="453645" grpId="0" animBg="1"/>
      <p:bldP spid="45364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9F83FFF-001F-4469-9E79-8DD97182A92B}" type="slidenum">
              <a:rPr lang="zh-CN" altLang="en-US" b="0"/>
              <a:pPr/>
              <a:t>27</a:t>
            </a:fld>
            <a:endParaRPr lang="en-US" altLang="zh-CN" b="0"/>
          </a:p>
        </p:txBody>
      </p:sp>
      <p:sp>
        <p:nvSpPr>
          <p:cNvPr id="5734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7558D3E-FFC5-46FD-A3A4-C3E7029359E6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71463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§2.1 迭代格式</a:t>
            </a:r>
          </a:p>
        </p:txBody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16025"/>
            <a:ext cx="8142288" cy="438150"/>
          </a:xfrm>
        </p:spPr>
        <p:txBody>
          <a:bodyPr/>
          <a:lstStyle/>
          <a:p>
            <a:r>
              <a:rPr lang="zh-CN" altLang="en-US" sz="3200" smtClean="0"/>
              <a:t>或写成</a:t>
            </a:r>
          </a:p>
        </p:txBody>
      </p:sp>
      <p:graphicFrame>
        <p:nvGraphicFramePr>
          <p:cNvPr id="57350" name="Object 7"/>
          <p:cNvGraphicFramePr>
            <a:graphicFrameLocks noChangeAspect="1"/>
          </p:cNvGraphicFramePr>
          <p:nvPr/>
        </p:nvGraphicFramePr>
        <p:xfrm>
          <a:off x="1447800" y="1828800"/>
          <a:ext cx="50958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1" name="Equation" r:id="rId4" imgW="1892300" imgH="444500" progId="Equation.3">
                  <p:embed/>
                </p:oleObj>
              </mc:Choice>
              <mc:Fallback>
                <p:oleObj name="Equation" r:id="rId4" imgW="18923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828800"/>
                        <a:ext cx="509587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Rectangle 10"/>
          <p:cNvSpPr>
            <a:spLocks noChangeArrowheads="1"/>
          </p:cNvSpPr>
          <p:nvPr/>
        </p:nvSpPr>
        <p:spPr bwMode="auto">
          <a:xfrm>
            <a:off x="163513" y="2743200"/>
            <a:ext cx="8142287" cy="153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649288" lvl="1" indent="-261938" algn="l" defTabSz="814388">
              <a:lnSpc>
                <a:spcPct val="14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 dirty="0">
                <a:latin typeface="Times New Roman" pitchFamily="18" charset="0"/>
              </a:rPr>
              <a:t>	       其中</a:t>
            </a:r>
            <a:r>
              <a:rPr lang="en-US" altLang="zh-CN" sz="3200" dirty="0" err="1">
                <a:latin typeface="Times New Roman" pitchFamily="18" charset="0"/>
              </a:rPr>
              <a:t>C</a:t>
            </a:r>
            <a:r>
              <a:rPr lang="en-US" altLang="zh-CN" sz="3200" i="1" baseline="-25000" dirty="0" err="1">
                <a:latin typeface="Times New Roman" pitchFamily="18" charset="0"/>
              </a:rPr>
              <a:t>ij</a:t>
            </a:r>
            <a:r>
              <a:rPr lang="en-US" altLang="zh-CN" sz="3200" baseline="-25000" dirty="0">
                <a:latin typeface="Times New Roman" pitchFamily="18" charset="0"/>
              </a:rPr>
              <a:t> </a:t>
            </a:r>
            <a:r>
              <a:rPr lang="en-US" altLang="zh-CN" sz="3200" dirty="0">
                <a:latin typeface="Times New Roman" pitchFamily="18" charset="0"/>
              </a:rPr>
              <a:t>=</a:t>
            </a:r>
            <a:r>
              <a:rPr lang="en-US" altLang="zh-CN" sz="3200" baseline="-25000" dirty="0">
                <a:latin typeface="Times New Roman" pitchFamily="18" charset="0"/>
              </a:rPr>
              <a:t> </a:t>
            </a:r>
            <a:r>
              <a:rPr lang="en-US" altLang="zh-CN" sz="3200" dirty="0">
                <a:latin typeface="Times New Roman" pitchFamily="18" charset="0"/>
              </a:rPr>
              <a:t>-</a:t>
            </a:r>
            <a:r>
              <a:rPr lang="en-US" altLang="zh-CN" sz="3200" i="1" dirty="0" err="1">
                <a:latin typeface="Times New Roman" pitchFamily="18" charset="0"/>
              </a:rPr>
              <a:t>a</a:t>
            </a:r>
            <a:r>
              <a:rPr lang="en-US" altLang="zh-CN" sz="3200" i="1" baseline="-25000" dirty="0" err="1">
                <a:latin typeface="Times New Roman" pitchFamily="18" charset="0"/>
              </a:rPr>
              <a:t>ij</a:t>
            </a:r>
            <a:r>
              <a:rPr lang="en-US" altLang="zh-CN" sz="3200" i="1" baseline="-25000" dirty="0">
                <a:latin typeface="Times New Roman" pitchFamily="18" charset="0"/>
              </a:rPr>
              <a:t> </a:t>
            </a:r>
            <a:r>
              <a:rPr lang="en-US" altLang="zh-CN" sz="3200" dirty="0">
                <a:latin typeface="Times New Roman" pitchFamily="18" charset="0"/>
              </a:rPr>
              <a:t>( </a:t>
            </a:r>
            <a:r>
              <a:rPr lang="en-US" altLang="zh-CN" sz="3200" i="1" dirty="0">
                <a:latin typeface="Times New Roman" pitchFamily="18" charset="0"/>
              </a:rPr>
              <a:t>i </a:t>
            </a:r>
            <a:r>
              <a:rPr lang="en-US" altLang="zh-CN" sz="3200" dirty="0">
                <a:latin typeface="Times New Roman" pitchFamily="18" charset="0"/>
                <a:sym typeface="Symbol" pitchFamily="18" charset="2"/>
              </a:rPr>
              <a:t></a:t>
            </a:r>
            <a:r>
              <a:rPr lang="en-US" altLang="zh-CN" sz="3200" i="1" dirty="0">
                <a:latin typeface="Times New Roman" pitchFamily="18" charset="0"/>
                <a:sym typeface="Symbol" pitchFamily="18" charset="2"/>
              </a:rPr>
              <a:t>j </a:t>
            </a:r>
            <a:r>
              <a:rPr lang="en-US" altLang="zh-CN" sz="3200" dirty="0">
                <a:latin typeface="Times New Roman" pitchFamily="18" charset="0"/>
              </a:rPr>
              <a:t>), </a:t>
            </a:r>
            <a:r>
              <a:rPr lang="en-US" altLang="zh-CN" sz="3200" dirty="0" err="1">
                <a:latin typeface="Times New Roman" pitchFamily="18" charset="0"/>
              </a:rPr>
              <a:t>C</a:t>
            </a:r>
            <a:r>
              <a:rPr lang="en-US" altLang="zh-CN" sz="3200" i="1" baseline="-25000" dirty="0" err="1">
                <a:latin typeface="Times New Roman" pitchFamily="18" charset="0"/>
              </a:rPr>
              <a:t>ii</a:t>
            </a:r>
            <a:r>
              <a:rPr lang="en-US" altLang="zh-CN" sz="3200" i="1" baseline="-25000" dirty="0">
                <a:latin typeface="Times New Roman" pitchFamily="18" charset="0"/>
              </a:rPr>
              <a:t> </a:t>
            </a:r>
            <a:r>
              <a:rPr lang="en-US" altLang="zh-CN" sz="3200" dirty="0">
                <a:latin typeface="Times New Roman" pitchFamily="18" charset="0"/>
              </a:rPr>
              <a:t>=1-</a:t>
            </a:r>
            <a:r>
              <a:rPr lang="en-US" altLang="zh-CN" sz="3200" i="1" dirty="0">
                <a:latin typeface="Times New Roman" pitchFamily="18" charset="0"/>
              </a:rPr>
              <a:t>a</a:t>
            </a:r>
            <a:r>
              <a:rPr lang="en-US" altLang="zh-CN" sz="3200" i="1" baseline="-25000" dirty="0">
                <a:latin typeface="Times New Roman" pitchFamily="18" charset="0"/>
              </a:rPr>
              <a:t>ii </a:t>
            </a:r>
            <a:r>
              <a:rPr lang="en-US" altLang="zh-CN" sz="3200" dirty="0">
                <a:latin typeface="Times New Roman" pitchFamily="18" charset="0"/>
              </a:rPr>
              <a:t>( </a:t>
            </a:r>
            <a:r>
              <a:rPr lang="en-US" altLang="zh-CN" sz="3200" i="1" dirty="0">
                <a:latin typeface="Times New Roman" pitchFamily="18" charset="0"/>
              </a:rPr>
              <a:t>i</a:t>
            </a:r>
            <a:r>
              <a:rPr lang="en-US" altLang="zh-CN" sz="3200" dirty="0"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 sz="3200" i="1" dirty="0">
                <a:latin typeface="Times New Roman" pitchFamily="18" charset="0"/>
                <a:sym typeface="Symbol" pitchFamily="18" charset="2"/>
              </a:rPr>
              <a:t>j </a:t>
            </a:r>
            <a:r>
              <a:rPr lang="en-US" altLang="zh-CN" sz="3200" dirty="0">
                <a:latin typeface="Times New Roman" pitchFamily="18" charset="0"/>
              </a:rPr>
              <a:t>)。</a:t>
            </a:r>
          </a:p>
          <a:p>
            <a:pPr marL="649288" lvl="1" indent="-261938" algn="l" defTabSz="814388">
              <a:lnSpc>
                <a:spcPct val="14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 dirty="0">
                <a:latin typeface="Times New Roman" pitchFamily="18" charset="0"/>
              </a:rPr>
              <a:t>相应的迭代公式为 </a:t>
            </a:r>
            <a:r>
              <a:rPr lang="en-US" altLang="zh-CN" sz="3200" dirty="0">
                <a:latin typeface="Times New Roman" pitchFamily="18" charset="0"/>
              </a:rPr>
              <a:t>X</a:t>
            </a:r>
            <a:r>
              <a:rPr lang="en-US" altLang="zh-CN" sz="3200" baseline="30000" dirty="0">
                <a:latin typeface="Times New Roman" pitchFamily="18" charset="0"/>
              </a:rPr>
              <a:t>( </a:t>
            </a:r>
            <a:r>
              <a:rPr lang="en-US" altLang="zh-CN" sz="3200" i="1" baseline="30000" dirty="0">
                <a:latin typeface="Times New Roman" pitchFamily="18" charset="0"/>
              </a:rPr>
              <a:t>k</a:t>
            </a:r>
            <a:r>
              <a:rPr lang="en-US" altLang="zh-CN" sz="3200" baseline="30000" dirty="0">
                <a:latin typeface="Times New Roman" pitchFamily="18" charset="0"/>
              </a:rPr>
              <a:t>+1 ) </a:t>
            </a:r>
            <a:r>
              <a:rPr lang="en-US" altLang="zh-CN" sz="3200" dirty="0">
                <a:latin typeface="Times New Roman" pitchFamily="18" charset="0"/>
              </a:rPr>
              <a:t>= CX</a:t>
            </a:r>
            <a:r>
              <a:rPr lang="en-US" altLang="zh-CN" sz="3200" baseline="30000" dirty="0">
                <a:latin typeface="Times New Roman" pitchFamily="18" charset="0"/>
              </a:rPr>
              <a:t>( </a:t>
            </a:r>
            <a:r>
              <a:rPr lang="en-US" altLang="zh-CN" sz="3200" i="1" baseline="30000" dirty="0">
                <a:latin typeface="Times New Roman" pitchFamily="18" charset="0"/>
              </a:rPr>
              <a:t>k </a:t>
            </a:r>
            <a:r>
              <a:rPr lang="en-US" altLang="zh-CN" sz="3200" baseline="30000" dirty="0">
                <a:latin typeface="Times New Roman" pitchFamily="18" charset="0"/>
              </a:rPr>
              <a:t>) </a:t>
            </a:r>
            <a:r>
              <a:rPr lang="en-US" altLang="zh-CN" sz="3200" dirty="0">
                <a:latin typeface="Times New Roman" pitchFamily="18" charset="0"/>
              </a:rPr>
              <a:t>+ B</a:t>
            </a:r>
          </a:p>
        </p:txBody>
      </p:sp>
      <p:graphicFrame>
        <p:nvGraphicFramePr>
          <p:cNvPr id="57352" name="Object 11"/>
          <p:cNvGraphicFramePr>
            <a:graphicFrameLocks noChangeAspect="1"/>
          </p:cNvGraphicFramePr>
          <p:nvPr/>
        </p:nvGraphicFramePr>
        <p:xfrm>
          <a:off x="1905000" y="4495800"/>
          <a:ext cx="6400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2" name="Equation" r:id="rId6" imgW="2260600" imgH="444500" progId="Equation.3">
                  <p:embed/>
                </p:oleObj>
              </mc:Choice>
              <mc:Fallback>
                <p:oleObj name="Equation" r:id="rId6" imgW="2260600" imgH="444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495800"/>
                        <a:ext cx="6400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A8DB804-455F-455C-B160-7DA40A80D7EA}" type="slidenum">
              <a:rPr lang="zh-CN" altLang="en-US" b="0"/>
              <a:pPr/>
              <a:t>28</a:t>
            </a:fld>
            <a:endParaRPr lang="en-US" altLang="zh-CN" b="0"/>
          </a:p>
        </p:txBody>
      </p:sp>
      <p:sp>
        <p:nvSpPr>
          <p:cNvPr id="5837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A15924E-1480-4B08-BB31-A493944A3D68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§2  简单迭代法</a:t>
            </a:r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384175"/>
          </a:xfrm>
        </p:spPr>
        <p:txBody>
          <a:bodyPr/>
          <a:lstStyle/>
          <a:p>
            <a:r>
              <a:rPr lang="zh-CN" altLang="en-US" smtClean="0"/>
              <a:t>§2.1.2 迭代格式2</a:t>
            </a:r>
          </a:p>
        </p:txBody>
      </p:sp>
      <p:graphicFrame>
        <p:nvGraphicFramePr>
          <p:cNvPr id="6103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40646"/>
              </p:ext>
            </p:extLst>
          </p:nvPr>
        </p:nvGraphicFramePr>
        <p:xfrm>
          <a:off x="1919467" y="3530600"/>
          <a:ext cx="541655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26" name="Equation" r:id="rId3" imgW="2463800" imgH="431800" progId="Equation.3">
                  <p:embed/>
                </p:oleObj>
              </mc:Choice>
              <mc:Fallback>
                <p:oleObj name="Equation" r:id="rId3" imgW="2463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467" y="3530600"/>
                        <a:ext cx="541655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03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798462"/>
              </p:ext>
            </p:extLst>
          </p:nvPr>
        </p:nvGraphicFramePr>
        <p:xfrm>
          <a:off x="2774072" y="1628800"/>
          <a:ext cx="372903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27" name="Equation" r:id="rId5" imgW="1806012" imgH="220914" progId="Equation.3">
                  <p:embed/>
                </p:oleObj>
              </mc:Choice>
              <mc:Fallback>
                <p:oleObj name="Equation" r:id="rId5" imgW="1806012" imgH="22091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072" y="1628800"/>
                        <a:ext cx="372903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03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445090"/>
              </p:ext>
            </p:extLst>
          </p:nvPr>
        </p:nvGraphicFramePr>
        <p:xfrm>
          <a:off x="2774072" y="2200300"/>
          <a:ext cx="379888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28" name="Equation" r:id="rId7" imgW="1920251" imgH="220914" progId="Equation.3">
                  <p:embed/>
                </p:oleObj>
              </mc:Choice>
              <mc:Fallback>
                <p:oleObj name="Equation" r:id="rId7" imgW="1920251" imgH="22091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072" y="2200300"/>
                        <a:ext cx="379888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03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695574"/>
              </p:ext>
            </p:extLst>
          </p:nvPr>
        </p:nvGraphicFramePr>
        <p:xfrm>
          <a:off x="1835329" y="4391025"/>
          <a:ext cx="5570538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29" name="Equation" r:id="rId9" imgW="2603500" imgH="444500" progId="Equation.3">
                  <p:embed/>
                </p:oleObj>
              </mc:Choice>
              <mc:Fallback>
                <p:oleObj name="Equation" r:id="rId9" imgW="26035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329" y="4391025"/>
                        <a:ext cx="5570538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03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181858"/>
              </p:ext>
            </p:extLst>
          </p:nvPr>
        </p:nvGraphicFramePr>
        <p:xfrm>
          <a:off x="2774072" y="2736875"/>
          <a:ext cx="37290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30" name="Equation" r:id="rId11" imgW="1950701" imgH="220914" progId="Equation.3">
                  <p:embed/>
                </p:oleObj>
              </mc:Choice>
              <mc:Fallback>
                <p:oleObj name="Equation" r:id="rId11" imgW="1950701" imgH="22091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072" y="2736875"/>
                        <a:ext cx="372903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03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176990"/>
              </p:ext>
            </p:extLst>
          </p:nvPr>
        </p:nvGraphicFramePr>
        <p:xfrm>
          <a:off x="1919467" y="5359400"/>
          <a:ext cx="548640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31" name="Equation" r:id="rId13" imgW="2844800" imgH="444500" progId="Equation.3">
                  <p:embed/>
                </p:oleObj>
              </mc:Choice>
              <mc:Fallback>
                <p:oleObj name="Equation" r:id="rId13" imgW="2844800" imgH="444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467" y="5359400"/>
                        <a:ext cx="5486400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0314" name="Rectangle 10"/>
          <p:cNvSpPr>
            <a:spLocks noChangeArrowheads="1"/>
          </p:cNvSpPr>
          <p:nvPr/>
        </p:nvSpPr>
        <p:spPr bwMode="auto">
          <a:xfrm>
            <a:off x="2060754" y="3683000"/>
            <a:ext cx="6826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(k+1)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0315" name="Rectangle 11"/>
          <p:cNvSpPr>
            <a:spLocks noChangeArrowheads="1"/>
          </p:cNvSpPr>
          <p:nvPr/>
        </p:nvSpPr>
        <p:spPr bwMode="auto">
          <a:xfrm>
            <a:off x="1989317" y="4597400"/>
            <a:ext cx="6826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(k+1)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0316" name="Rectangle 12"/>
          <p:cNvSpPr>
            <a:spLocks noChangeArrowheads="1"/>
          </p:cNvSpPr>
          <p:nvPr/>
        </p:nvSpPr>
        <p:spPr bwMode="auto">
          <a:xfrm>
            <a:off x="1989317" y="5511800"/>
            <a:ext cx="6826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(k+1)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0317" name="Rectangle 13"/>
          <p:cNvSpPr>
            <a:spLocks noChangeArrowheads="1"/>
          </p:cNvSpPr>
          <p:nvPr/>
        </p:nvSpPr>
        <p:spPr bwMode="auto">
          <a:xfrm>
            <a:off x="3395842" y="3683000"/>
            <a:ext cx="444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0318" name="Rectangle 14"/>
          <p:cNvSpPr>
            <a:spLocks noChangeArrowheads="1"/>
          </p:cNvSpPr>
          <p:nvPr/>
        </p:nvSpPr>
        <p:spPr bwMode="auto">
          <a:xfrm>
            <a:off x="4592817" y="3683000"/>
            <a:ext cx="44291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0319" name="Rectangle 15"/>
          <p:cNvSpPr>
            <a:spLocks noChangeArrowheads="1"/>
          </p:cNvSpPr>
          <p:nvPr/>
        </p:nvSpPr>
        <p:spPr bwMode="auto">
          <a:xfrm>
            <a:off x="6280329" y="3683000"/>
            <a:ext cx="444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0320" name="Rectangle 16"/>
          <p:cNvSpPr>
            <a:spLocks noChangeArrowheads="1"/>
          </p:cNvSpPr>
          <p:nvPr/>
        </p:nvSpPr>
        <p:spPr bwMode="auto">
          <a:xfrm>
            <a:off x="3445054" y="4597400"/>
            <a:ext cx="444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0321" name="Rectangle 17"/>
          <p:cNvSpPr>
            <a:spLocks noChangeArrowheads="1"/>
          </p:cNvSpPr>
          <p:nvPr/>
        </p:nvSpPr>
        <p:spPr bwMode="auto">
          <a:xfrm>
            <a:off x="4570592" y="4597400"/>
            <a:ext cx="44291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0322" name="Rectangle 18"/>
          <p:cNvSpPr>
            <a:spLocks noChangeArrowheads="1"/>
          </p:cNvSpPr>
          <p:nvPr/>
        </p:nvSpPr>
        <p:spPr bwMode="auto">
          <a:xfrm>
            <a:off x="6280329" y="4597400"/>
            <a:ext cx="444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0323" name="Rectangle 19"/>
          <p:cNvSpPr>
            <a:spLocks noChangeArrowheads="1"/>
          </p:cNvSpPr>
          <p:nvPr/>
        </p:nvSpPr>
        <p:spPr bwMode="auto">
          <a:xfrm>
            <a:off x="3325992" y="5511800"/>
            <a:ext cx="444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0324" name="Rectangle 20"/>
          <p:cNvSpPr>
            <a:spLocks noChangeArrowheads="1"/>
          </p:cNvSpPr>
          <p:nvPr/>
        </p:nvSpPr>
        <p:spPr bwMode="auto">
          <a:xfrm>
            <a:off x="4451529" y="5511800"/>
            <a:ext cx="444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0325" name="Rectangle 21"/>
          <p:cNvSpPr>
            <a:spLocks noChangeArrowheads="1"/>
          </p:cNvSpPr>
          <p:nvPr/>
        </p:nvSpPr>
        <p:spPr bwMode="auto">
          <a:xfrm>
            <a:off x="6210479" y="5435600"/>
            <a:ext cx="4429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0326" name="Rectangle 22"/>
          <p:cNvSpPr>
            <a:spLocks noChangeArrowheads="1"/>
          </p:cNvSpPr>
          <p:nvPr/>
        </p:nvSpPr>
        <p:spPr bwMode="auto">
          <a:xfrm>
            <a:off x="0" y="2852936"/>
            <a:ext cx="2428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u="sng" dirty="0">
                <a:solidFill>
                  <a:srgbClr val="FF3300"/>
                </a:solidFill>
                <a:latin typeface="Times New Roman" pitchFamily="18" charset="0"/>
              </a:rPr>
              <a:t>雅克比迭代法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1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10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1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1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1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0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0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0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0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0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0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1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10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0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10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1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1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1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1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1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300"/>
                                        <p:tgtEl>
                                          <p:spTgt spid="61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14" grpId="0" autoUpdateAnimBg="0"/>
      <p:bldP spid="610315" grpId="0" autoUpdateAnimBg="0"/>
      <p:bldP spid="610316" grpId="0" autoUpdateAnimBg="0"/>
      <p:bldP spid="610317" grpId="0" autoUpdateAnimBg="0"/>
      <p:bldP spid="610318" grpId="0" autoUpdateAnimBg="0"/>
      <p:bldP spid="610319" grpId="0" autoUpdateAnimBg="0"/>
      <p:bldP spid="610320" grpId="0" autoUpdateAnimBg="0"/>
      <p:bldP spid="610321" grpId="0" autoUpdateAnimBg="0"/>
      <p:bldP spid="610322" grpId="0" autoUpdateAnimBg="0"/>
      <p:bldP spid="610323" grpId="0" autoUpdateAnimBg="0"/>
      <p:bldP spid="610324" grpId="0" autoUpdateAnimBg="0"/>
      <p:bldP spid="610325" grpId="0" autoUpdateAnimBg="0"/>
      <p:bldP spid="61032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305002"/>
            <a:ext cx="8142288" cy="609398"/>
          </a:xfrm>
        </p:spPr>
        <p:txBody>
          <a:bodyPr/>
          <a:lstStyle/>
          <a:p>
            <a:r>
              <a:rPr lang="zh-CN" altLang="en-US" dirty="0"/>
              <a:t>§2  简单迭代法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0075" y="1143000"/>
            <a:ext cx="8142288" cy="926407"/>
          </a:xfrm>
        </p:spPr>
        <p:txBody>
          <a:bodyPr/>
          <a:lstStyle/>
          <a:p>
            <a:r>
              <a:rPr lang="zh-CN" altLang="en-US" u="sng" dirty="0">
                <a:solidFill>
                  <a:srgbClr val="FF3300"/>
                </a:solidFill>
                <a:latin typeface="Times New Roman" pitchFamily="18" charset="0"/>
              </a:rPr>
              <a:t>雅克比</a:t>
            </a:r>
            <a:r>
              <a:rPr lang="zh-CN" altLang="en-US" u="sng" dirty="0" smtClean="0">
                <a:solidFill>
                  <a:srgbClr val="FF3300"/>
                </a:solidFill>
                <a:latin typeface="Times New Roman" pitchFamily="18" charset="0"/>
              </a:rPr>
              <a:t>迭代法</a:t>
            </a:r>
            <a:r>
              <a:rPr lang="zh-CN" altLang="en-US" dirty="0"/>
              <a:t>迭代公式</a:t>
            </a:r>
            <a:endParaRPr lang="zh-CN" altLang="en-US" u="sng" dirty="0">
              <a:solidFill>
                <a:srgbClr val="FF3300"/>
              </a:solidFill>
              <a:latin typeface="Times New Roman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521CD-799B-4BD7-8BE6-514407F02234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2B285DF6-8668-450F-A83D-47C0455A9450}" type="datetime1">
              <a:rPr lang="zh-CN" altLang="en-US" smtClean="0"/>
              <a:pPr>
                <a:defRPr/>
              </a:pPr>
              <a:t>2024/10/13</a:t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621454"/>
              </p:ext>
            </p:extLst>
          </p:nvPr>
        </p:nvGraphicFramePr>
        <p:xfrm>
          <a:off x="1076265" y="1484784"/>
          <a:ext cx="6808103" cy="2366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40" name="公式" r:id="rId3" imgW="3327120" imgH="1168200" progId="Equation.3">
                  <p:embed/>
                </p:oleObj>
              </mc:Choice>
              <mc:Fallback>
                <p:oleObj name="公式" r:id="rId3" imgW="3327120" imgH="1168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265" y="1484784"/>
                        <a:ext cx="6808103" cy="23668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2560607" y="3829758"/>
            <a:ext cx="27350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30000" dirty="0">
                <a:latin typeface="Times New Roman" pitchFamily="18" charset="0"/>
                <a:ea typeface="黑体" pitchFamily="49" charset="-122"/>
              </a:rPr>
              <a:t>(k+1)</a:t>
            </a:r>
            <a:r>
              <a:rPr lang="en-US" altLang="zh-CN" sz="2800" dirty="0">
                <a:latin typeface="Times New Roman" pitchFamily="18" charset="0"/>
                <a:ea typeface="黑体" pitchFamily="49" charset="-122"/>
              </a:rPr>
              <a:t> =MX</a:t>
            </a:r>
            <a:r>
              <a:rPr lang="en-US" altLang="zh-CN" sz="2800" baseline="30000" dirty="0">
                <a:latin typeface="Times New Roman" pitchFamily="18" charset="0"/>
                <a:ea typeface="黑体" pitchFamily="49" charset="-122"/>
              </a:rPr>
              <a:t>(k)</a:t>
            </a:r>
            <a:r>
              <a:rPr lang="en-US" altLang="zh-CN" sz="2800" dirty="0">
                <a:latin typeface="Times New Roman" pitchFamily="18" charset="0"/>
                <a:ea typeface="黑体" pitchFamily="49" charset="-122"/>
              </a:rPr>
              <a:t>+N 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323528" y="3829758"/>
            <a:ext cx="2249655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8763" lvl="0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黑体"/>
              </a:rPr>
              <a:t>用</a:t>
            </a:r>
            <a:r>
              <a:rPr lang="zh-CN" altLang="en-US" sz="2800" kern="0" dirty="0" smtClean="0">
                <a:solidFill>
                  <a:srgbClr val="000000"/>
                </a:solidFill>
                <a:latin typeface="Times New Roman"/>
                <a:ea typeface="黑体"/>
              </a:rPr>
              <a:t>矩阵表示</a:t>
            </a:r>
            <a:endParaRPr lang="zh-CN" altLang="en-US" sz="2800" u="sng" kern="0" dirty="0">
              <a:solidFill>
                <a:srgbClr val="FF3300"/>
              </a:solidFill>
              <a:latin typeface="Times New Roman" pitchFamily="18" charset="0"/>
              <a:ea typeface="黑体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183935"/>
              </p:ext>
            </p:extLst>
          </p:nvPr>
        </p:nvGraphicFramePr>
        <p:xfrm>
          <a:off x="4788024" y="3861048"/>
          <a:ext cx="3879478" cy="2848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41" name="公式" r:id="rId5" imgW="2171520" imgH="1447560" progId="Equation.3">
                  <p:embed/>
                </p:oleObj>
              </mc:Choice>
              <mc:Fallback>
                <p:oleObj name="公式" r:id="rId5" imgW="2171520" imgH="144756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3861048"/>
                        <a:ext cx="3879478" cy="2848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4"/>
          <p:cNvSpPr>
            <a:spLocks noChangeArrowheads="1"/>
          </p:cNvSpPr>
          <p:nvPr/>
        </p:nvSpPr>
        <p:spPr bwMode="auto">
          <a:xfrm>
            <a:off x="3092397" y="6165304"/>
            <a:ext cx="300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迭代矩阵</a:t>
            </a:r>
          </a:p>
        </p:txBody>
      </p:sp>
      <p:sp>
        <p:nvSpPr>
          <p:cNvPr id="13" name="AutoShape 25"/>
          <p:cNvSpPr>
            <a:spLocks noChangeArrowheads="1"/>
          </p:cNvSpPr>
          <p:nvPr/>
        </p:nvSpPr>
        <p:spPr bwMode="auto">
          <a:xfrm>
            <a:off x="72410" y="4304227"/>
            <a:ext cx="4067542" cy="1861077"/>
          </a:xfrm>
          <a:prstGeom prst="wedgeRectCallout">
            <a:avLst>
              <a:gd name="adj1" fmla="val 30792"/>
              <a:gd name="adj2" fmla="val 49417"/>
            </a:avLst>
          </a:prstGeom>
          <a:solidFill>
            <a:srgbClr val="FFFF99"/>
          </a:solidFill>
          <a:ln w="38100">
            <a:solidFill>
              <a:srgbClr val="FF3300"/>
            </a:solidFill>
            <a:miter lim="800000"/>
            <a:headEnd/>
            <a:tailEnd/>
          </a:ln>
        </p:spPr>
        <p:txBody>
          <a:bodyPr anchor="ctr"/>
          <a:lstStyle/>
          <a:p>
            <a:pPr algn="l" eaLnBrk="1" hangingPunct="1">
              <a:lnSpc>
                <a:spcPct val="70000"/>
              </a:lnSpc>
              <a:spcBef>
                <a:spcPct val="20000"/>
              </a:spcBef>
              <a:spcAft>
                <a:spcPct val="10000"/>
              </a:spcAft>
            </a:pPr>
            <a:r>
              <a:rPr kumimoji="1" lang="zh-CN" altLang="en-US" sz="2400">
                <a:latin typeface="黑体" pitchFamily="49" charset="-122"/>
                <a:ea typeface="黑体" pitchFamily="49" charset="-122"/>
              </a:rPr>
              <a:t>迭代矩阵的特点：</a:t>
            </a:r>
          </a:p>
          <a:p>
            <a:pPr algn="l" eaLnBrk="1" hangingPunct="1">
              <a:lnSpc>
                <a:spcPct val="7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zh-CN" altLang="en-US" sz="2400">
                <a:latin typeface="黑体" pitchFamily="49" charset="-122"/>
                <a:ea typeface="黑体" pitchFamily="49" charset="-122"/>
              </a:rPr>
              <a:t>对角线上的元素全部为0；</a:t>
            </a:r>
          </a:p>
          <a:p>
            <a:pPr algn="l" eaLnBrk="1" hangingPunct="1">
              <a:lnSpc>
                <a:spcPct val="8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zh-CN" altLang="en-US" sz="2400">
                <a:latin typeface="黑体" pitchFamily="49" charset="-122"/>
                <a:ea typeface="黑体" pitchFamily="49" charset="-122"/>
              </a:rPr>
              <a:t>其它元素为原系数矩阵的元素除以所在行对角线上的元素，然后在前面加负号</a:t>
            </a:r>
            <a:r>
              <a:rPr lang="zh-CN" altLang="en-US" sz="2400">
                <a:latin typeface="Times New Roman" pitchFamily="18" charset="0"/>
                <a:ea typeface="楷体_GB2312" pitchFamily="1" charset="-122"/>
              </a:rPr>
              <a:t>。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01253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A65E52EC-72C0-4BFB-B4DE-A70C4504038C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84880" y="1607742"/>
            <a:ext cx="38481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400" dirty="0" smtClean="0"/>
              <a:t>设</a:t>
            </a:r>
            <a:r>
              <a:rPr lang="en-US" altLang="zh-CN" sz="2400" i="1" dirty="0"/>
              <a:t>D</a:t>
            </a:r>
            <a:r>
              <a:rPr lang="zh-CN" altLang="en-US" sz="2400" dirty="0"/>
              <a:t>为由</a:t>
            </a:r>
            <a:r>
              <a:rPr lang="en-US" altLang="zh-CN" sz="2400" i="1" dirty="0"/>
              <a:t>A</a:t>
            </a:r>
            <a:r>
              <a:rPr lang="zh-CN" altLang="zh-CN" sz="2400" dirty="0"/>
              <a:t>的对角线元素构成的对角矩阵</a:t>
            </a:r>
            <a:endParaRPr lang="zh-CN" altLang="en-US" sz="2400" dirty="0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6533723" y="4509120"/>
            <a:ext cx="2600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CC"/>
                </a:solidFill>
              </a:rPr>
              <a:t>Jacobi</a:t>
            </a:r>
            <a:r>
              <a:rPr lang="zh-CN" altLang="en-US" dirty="0">
                <a:solidFill>
                  <a:srgbClr val="0000CC"/>
                </a:solidFill>
              </a:rPr>
              <a:t>迭代公式</a:t>
            </a:r>
          </a:p>
        </p:txBody>
      </p:sp>
      <p:graphicFrame>
        <p:nvGraphicFramePr>
          <p:cNvPr id="143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332850"/>
              </p:ext>
            </p:extLst>
          </p:nvPr>
        </p:nvGraphicFramePr>
        <p:xfrm>
          <a:off x="599986" y="3284984"/>
          <a:ext cx="726598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75" name="公式" r:id="rId3" imgW="3035160" imgH="457200" progId="Equation.3">
                  <p:embed/>
                </p:oleObj>
              </mc:Choice>
              <mc:Fallback>
                <p:oleObj name="公式" r:id="rId3" imgW="30351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986" y="3284984"/>
                        <a:ext cx="7265988" cy="1095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601137"/>
              </p:ext>
            </p:extLst>
          </p:nvPr>
        </p:nvGraphicFramePr>
        <p:xfrm>
          <a:off x="570379" y="4509120"/>
          <a:ext cx="5882290" cy="60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76" name="公式" r:id="rId5" imgW="2209680" imgH="228600" progId="Equation.3">
                  <p:embed/>
                </p:oleObj>
              </mc:Choice>
              <mc:Fallback>
                <p:oleObj name="公式" r:id="rId5" imgW="22096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79" y="4509120"/>
                        <a:ext cx="5882290" cy="607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755576" y="5307370"/>
            <a:ext cx="17812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66"/>
                </a:solidFill>
                <a:sym typeface="Wingdings 2" pitchFamily="18" charset="2"/>
              </a:rPr>
              <a:t> </a:t>
            </a:r>
            <a:r>
              <a:rPr lang="zh-CN" altLang="en-US" sz="2400" dirty="0"/>
              <a:t>迭代矩阵</a:t>
            </a:r>
          </a:p>
        </p:txBody>
      </p:sp>
      <p:graphicFrame>
        <p:nvGraphicFramePr>
          <p:cNvPr id="143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3979"/>
              </p:ext>
            </p:extLst>
          </p:nvPr>
        </p:nvGraphicFramePr>
        <p:xfrm>
          <a:off x="3002711" y="5307370"/>
          <a:ext cx="28035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77" name="Equation" r:id="rId7" imgW="2108160" imgH="380880" progId="Equation.3">
                  <p:embed/>
                </p:oleObj>
              </mc:Choice>
              <mc:Fallback>
                <p:oleObj name="Equation" r:id="rId7" imgW="210816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2711" y="5307370"/>
                        <a:ext cx="2803525" cy="50641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9525">
                        <a:solidFill>
                          <a:srgbClr val="FF006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标题 1"/>
          <p:cNvSpPr txBox="1">
            <a:spLocks/>
          </p:cNvSpPr>
          <p:nvPr/>
        </p:nvSpPr>
        <p:spPr>
          <a:xfrm>
            <a:off x="600075" y="305002"/>
            <a:ext cx="8142288" cy="609398"/>
          </a:xfrm>
          <a:prstGeom prst="rect">
            <a:avLst/>
          </a:prstGeom>
        </p:spPr>
        <p:txBody>
          <a:bodyPr/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5pPr>
            <a:lvl6pPr marL="457200"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6pPr>
            <a:lvl7pPr marL="914400"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7pPr>
            <a:lvl8pPr marL="1371600"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8pPr>
            <a:lvl9pPr marL="1828800"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dirty="0" smtClean="0"/>
              <a:t>§2  简单迭代法</a:t>
            </a:r>
            <a:endParaRPr lang="zh-CN" altLang="en-US" dirty="0"/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600075" y="1143000"/>
            <a:ext cx="8142288" cy="926407"/>
          </a:xfrm>
          <a:prstGeom prst="rect">
            <a:avLst/>
          </a:prstGeom>
        </p:spPr>
        <p:txBody>
          <a:bodyPr/>
          <a:lstStyle>
            <a:lvl1pPr marL="258763" indent="-258763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9288" indent="-261938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7113" indent="-249238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-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416050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8049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2621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7193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1765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6337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u="sng" dirty="0" smtClean="0">
                <a:solidFill>
                  <a:srgbClr val="FF3300"/>
                </a:solidFill>
                <a:latin typeface="Times New Roman" pitchFamily="18" charset="0"/>
              </a:rPr>
              <a:t>雅克比迭代法</a:t>
            </a:r>
            <a:r>
              <a:rPr lang="zh-CN" altLang="en-US" dirty="0" smtClean="0"/>
              <a:t>迭代矩阵</a:t>
            </a:r>
            <a:endParaRPr lang="zh-CN" altLang="en-US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037578"/>
              </p:ext>
            </p:extLst>
          </p:nvPr>
        </p:nvGraphicFramePr>
        <p:xfrm>
          <a:off x="5076056" y="1175400"/>
          <a:ext cx="2884487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78" name="Equation" r:id="rId9" imgW="2667600" imgH="1537200" progId="Equation.3">
                  <p:embed/>
                </p:oleObj>
              </mc:Choice>
              <mc:Fallback>
                <p:oleObj name="Equation" r:id="rId9" imgW="2667600" imgH="153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1175400"/>
                        <a:ext cx="2884487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650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 autoUpdateAnimBg="0" advAuto="0"/>
      <p:bldP spid="14345" grpId="0" build="p" autoUpdateAnimBg="0" advAuto="0"/>
      <p:bldP spid="14349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4D88DCE-A06D-4132-888A-06DD485ADEEA}" type="slidenum">
              <a:rPr lang="zh-CN" altLang="en-US" b="0"/>
              <a:pPr/>
              <a:t>31</a:t>
            </a:fld>
            <a:endParaRPr lang="en-US" altLang="zh-CN" b="0"/>
          </a:p>
        </p:txBody>
      </p:sp>
      <p:sp>
        <p:nvSpPr>
          <p:cNvPr id="6246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F0AE6D6-55CC-4D0D-90DB-D53874EA2047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49603"/>
            <a:ext cx="8142288" cy="664797"/>
          </a:xfrm>
        </p:spPr>
        <p:txBody>
          <a:bodyPr/>
          <a:lstStyle/>
          <a:p>
            <a:r>
              <a:rPr lang="zh-CN" altLang="en-US" sz="4800" dirty="0"/>
              <a:t>§2  简单迭代法</a:t>
            </a: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7858125" cy="3746500"/>
          </a:xfrm>
        </p:spPr>
        <p:txBody>
          <a:bodyPr/>
          <a:lstStyle/>
          <a:p>
            <a:r>
              <a:rPr lang="zh-CN" altLang="en-US" sz="3200" smtClean="0"/>
              <a:t>对于上述建立的迭代公式，</a:t>
            </a:r>
          </a:p>
          <a:p>
            <a:r>
              <a:rPr lang="zh-CN" altLang="en-US" sz="3200" smtClean="0"/>
              <a:t>任取一组初值</a:t>
            </a:r>
            <a:r>
              <a:rPr lang="en-US" altLang="zh-CN" sz="3200" smtClean="0"/>
              <a:t>X</a:t>
            </a:r>
            <a:r>
              <a:rPr lang="en-US" altLang="zh-CN" sz="3200" baseline="30000" smtClean="0"/>
              <a:t>(0)</a:t>
            </a:r>
            <a:r>
              <a:rPr lang="zh-CN" altLang="en-US" sz="3200" smtClean="0"/>
              <a:t>=(</a:t>
            </a:r>
            <a:r>
              <a:rPr lang="en-US" altLang="zh-CN" sz="3200" smtClean="0"/>
              <a:t>x</a:t>
            </a:r>
            <a:r>
              <a:rPr lang="en-US" altLang="zh-CN" sz="3200" baseline="-25000" smtClean="0"/>
              <a:t>1</a:t>
            </a:r>
            <a:r>
              <a:rPr lang="en-US" altLang="zh-CN" sz="3200" baseline="30000" smtClean="0"/>
              <a:t>(0)</a:t>
            </a:r>
            <a:r>
              <a:rPr lang="zh-CN" altLang="en-US" sz="3200" smtClean="0"/>
              <a:t>, </a:t>
            </a:r>
            <a:r>
              <a:rPr lang="en-US" altLang="zh-CN" sz="3200" smtClean="0"/>
              <a:t>x</a:t>
            </a:r>
            <a:r>
              <a:rPr lang="en-US" altLang="zh-CN" sz="3200" baseline="-25000" smtClean="0"/>
              <a:t>2</a:t>
            </a:r>
            <a:r>
              <a:rPr lang="en-US" altLang="zh-CN" sz="3200" baseline="30000" smtClean="0"/>
              <a:t>(0)</a:t>
            </a:r>
            <a:r>
              <a:rPr lang="zh-CN" altLang="en-US" sz="3200" smtClean="0"/>
              <a:t>,…, </a:t>
            </a:r>
            <a:r>
              <a:rPr lang="en-US" altLang="zh-CN" sz="3200" smtClean="0"/>
              <a:t>x</a:t>
            </a:r>
            <a:r>
              <a:rPr lang="en-US" altLang="zh-CN" sz="3200" baseline="-25000" smtClean="0"/>
              <a:t>n</a:t>
            </a:r>
            <a:r>
              <a:rPr lang="en-US" altLang="zh-CN" sz="3200" baseline="30000" smtClean="0"/>
              <a:t>(0)</a:t>
            </a:r>
            <a:r>
              <a:rPr lang="zh-CN" altLang="en-US" sz="3200" smtClean="0"/>
              <a:t>)作为</a:t>
            </a:r>
            <a:r>
              <a:rPr lang="zh-CN" altLang="en-US" sz="3200" smtClean="0">
                <a:sym typeface="Symbol" pitchFamily="18" charset="2"/>
              </a:rPr>
              <a:t>=(</a:t>
            </a:r>
            <a:r>
              <a:rPr lang="zh-CN" altLang="en-US" sz="3200" baseline="-25000" smtClean="0">
                <a:sym typeface="Symbol" pitchFamily="18" charset="2"/>
              </a:rPr>
              <a:t>1</a:t>
            </a:r>
            <a:r>
              <a:rPr lang="zh-CN" altLang="en-US" sz="3200" smtClean="0">
                <a:sym typeface="Symbol" pitchFamily="18" charset="2"/>
              </a:rPr>
              <a:t>, </a:t>
            </a:r>
            <a:r>
              <a:rPr lang="zh-CN" altLang="en-US" sz="3200" baseline="-25000" smtClean="0">
                <a:sym typeface="Symbol" pitchFamily="18" charset="2"/>
              </a:rPr>
              <a:t>2</a:t>
            </a:r>
            <a:r>
              <a:rPr lang="zh-CN" altLang="en-US" sz="3200" smtClean="0">
                <a:sym typeface="Symbol" pitchFamily="18" charset="2"/>
              </a:rPr>
              <a:t>,…, </a:t>
            </a:r>
            <a:r>
              <a:rPr lang="en-US" altLang="zh-CN" sz="3200" baseline="-25000" smtClean="0">
                <a:sym typeface="Symbol" pitchFamily="18" charset="2"/>
              </a:rPr>
              <a:t>n</a:t>
            </a:r>
            <a:r>
              <a:rPr lang="en-US" altLang="zh-CN" sz="3200" smtClean="0">
                <a:sym typeface="Symbol" pitchFamily="18" charset="2"/>
              </a:rPr>
              <a:t>)</a:t>
            </a:r>
            <a:r>
              <a:rPr lang="zh-CN" altLang="en-US" sz="3200" smtClean="0">
                <a:sym typeface="Symbol" pitchFamily="18" charset="2"/>
              </a:rPr>
              <a:t>的零次近似值，按迭代公式进行迭代计算，</a:t>
            </a:r>
          </a:p>
          <a:p>
            <a:r>
              <a:rPr lang="zh-CN" altLang="en-US" sz="3200" smtClean="0">
                <a:sym typeface="Symbol" pitchFamily="18" charset="2"/>
              </a:rPr>
              <a:t>如果迭代序列</a:t>
            </a:r>
            <a:r>
              <a:rPr lang="en-US" altLang="zh-CN" sz="3200" smtClean="0"/>
              <a:t>X</a:t>
            </a:r>
            <a:r>
              <a:rPr lang="en-US" altLang="zh-CN" sz="3200" baseline="30000" smtClean="0"/>
              <a:t>(k+1)</a:t>
            </a:r>
            <a:r>
              <a:rPr lang="zh-CN" altLang="en-US" sz="3200" smtClean="0"/>
              <a:t>有极限存在，则此极限为线性方程组的根。</a:t>
            </a:r>
          </a:p>
          <a:p>
            <a:pPr>
              <a:buFont typeface="Wingdings" pitchFamily="2" charset="2"/>
              <a:buNone/>
            </a:pPr>
            <a:r>
              <a:rPr lang="zh-CN" altLang="en-US" sz="3200" smtClean="0"/>
              <a:t>称这种解法为</a:t>
            </a:r>
            <a:r>
              <a:rPr lang="zh-CN" altLang="en-US" sz="3200" smtClean="0">
                <a:solidFill>
                  <a:srgbClr val="FF0000"/>
                </a:solidFill>
              </a:rPr>
              <a:t>简单迭代法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25ABF63A-5694-4023-93E8-A6598364BA82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753820" y="1293336"/>
            <a:ext cx="6269986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  <a:defRPr sz="3200">
                <a:latin typeface="+mn-lt"/>
                <a:ea typeface="+mn-ea"/>
              </a:defRPr>
            </a:lvl1pPr>
            <a:lvl2pPr marL="649288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–"/>
              <a:defRPr sz="2800">
                <a:latin typeface="+mn-lt"/>
                <a:ea typeface="+mn-ea"/>
              </a:defRPr>
            </a:lvl2pPr>
            <a:lvl3pPr marL="1027113" indent="-2492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-"/>
              <a:defRPr sz="2400">
                <a:latin typeface="+mn-lt"/>
                <a:ea typeface="+mn-ea"/>
              </a:defRPr>
            </a:lvl3pPr>
            <a:lvl4pPr marL="1416050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2400">
                <a:latin typeface="+mn-lt"/>
                <a:ea typeface="+mn-ea"/>
              </a:defRPr>
            </a:lvl4pPr>
            <a:lvl5pPr marL="1804988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2400">
                <a:latin typeface="+mn-lt"/>
                <a:ea typeface="+mn-ea"/>
              </a:defRPr>
            </a:lvl5pPr>
            <a:lvl6pPr marL="22621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>
                <a:latin typeface="+mn-lt"/>
                <a:ea typeface="+mn-ea"/>
              </a:defRPr>
            </a:lvl6pPr>
            <a:lvl7pPr marL="27193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>
                <a:latin typeface="+mn-lt"/>
                <a:ea typeface="+mn-ea"/>
              </a:defRPr>
            </a:lvl7pPr>
            <a:lvl8pPr marL="31765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>
                <a:latin typeface="+mn-lt"/>
                <a:ea typeface="+mn-ea"/>
              </a:defRPr>
            </a:lvl8pPr>
            <a:lvl9pPr marL="36337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>
                <a:latin typeface="+mn-lt"/>
                <a:ea typeface="+mn-ea"/>
              </a:defRPr>
            </a:lvl9pPr>
          </a:lstStyle>
          <a:p>
            <a:r>
              <a:rPr lang="zh-CN" altLang="en-US" dirty="0" smtClean="0"/>
              <a:t>实际</a:t>
            </a:r>
            <a:r>
              <a:rPr lang="zh-CN" altLang="en-US" dirty="0"/>
              <a:t>计算时，迭代法中止条件</a:t>
            </a: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721259"/>
              </p:ext>
            </p:extLst>
          </p:nvPr>
        </p:nvGraphicFramePr>
        <p:xfrm>
          <a:off x="1371600" y="1981200"/>
          <a:ext cx="666115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1" name="Microsoft Equation 3.0" r:id="rId3" imgW="5003640" imgH="609480" progId="Equation.3">
                  <p:embed/>
                </p:oleObj>
              </mc:Choice>
              <mc:Fallback>
                <p:oleObj name="Microsoft Equation 3.0" r:id="rId3" imgW="500364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981200"/>
                        <a:ext cx="666115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794318" y="3274696"/>
            <a:ext cx="41184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ym typeface="Symbol" pitchFamily="18" charset="2"/>
              </a:rPr>
              <a:t>其中</a:t>
            </a:r>
            <a:r>
              <a:rPr lang="zh-CN" altLang="en-US" sz="2800" i="1" dirty="0">
                <a:sym typeface="Symbol" pitchFamily="18" charset="2"/>
              </a:rPr>
              <a:t></a:t>
            </a:r>
            <a:r>
              <a:rPr lang="zh-CN" altLang="en-US" sz="2800" dirty="0">
                <a:sym typeface="Symbol" pitchFamily="18" charset="2"/>
              </a:rPr>
              <a:t> 为给定的要求精度</a:t>
            </a:r>
            <a:r>
              <a:rPr lang="en-US" altLang="zh-CN" dirty="0">
                <a:sym typeface="Symbol" pitchFamily="18" charset="2"/>
              </a:rPr>
              <a:t>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09294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64A3448B-7022-4BEC-A808-028BA17689B5}" type="slidenum">
              <a:rPr lang="en-US" altLang="zh-CN">
                <a:solidFill>
                  <a:srgbClr val="000000"/>
                </a:solidFill>
              </a:rPr>
              <a:pPr/>
              <a:t>33</a:t>
            </a:fld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963305"/>
              </p:ext>
            </p:extLst>
          </p:nvPr>
        </p:nvGraphicFramePr>
        <p:xfrm>
          <a:off x="2267744" y="1772816"/>
          <a:ext cx="34798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04" name="Equation" r:id="rId3" imgW="3479760" imgH="1562040" progId="Equation.3">
                  <p:embed/>
                </p:oleObj>
              </mc:Choice>
              <mc:Fallback>
                <p:oleObj name="Equation" r:id="rId3" imgW="3479760" imgH="1562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1772816"/>
                        <a:ext cx="34798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836712" y="3547746"/>
            <a:ext cx="5540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smtClean="0">
                <a:solidFill>
                  <a:srgbClr val="FF0066"/>
                </a:solidFill>
                <a:ea typeface="楷体_GB2312" pitchFamily="49" charset="-122"/>
              </a:rPr>
              <a:t>解    </a:t>
            </a:r>
            <a:r>
              <a:rPr kumimoji="1" lang="zh-CN" altLang="en-US" sz="2800" b="1" smtClean="0">
                <a:solidFill>
                  <a:srgbClr val="000000"/>
                </a:solidFill>
                <a:ea typeface="楷体_GB2312" pitchFamily="49" charset="-122"/>
              </a:rPr>
              <a:t>将方程组改写成如下等价形式</a:t>
            </a:r>
          </a:p>
        </p:txBody>
      </p:sp>
      <p:graphicFrame>
        <p:nvGraphicFramePr>
          <p:cNvPr id="15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654939"/>
              </p:ext>
            </p:extLst>
          </p:nvPr>
        </p:nvGraphicFramePr>
        <p:xfrm>
          <a:off x="1687612" y="4409758"/>
          <a:ext cx="48641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05" name="Equation" r:id="rId5" imgW="4863960" imgH="1562040" progId="Equation.3">
                  <p:embed/>
                </p:oleObj>
              </mc:Choice>
              <mc:Fallback>
                <p:oleObj name="Equation" r:id="rId5" imgW="4863960" imgH="1562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612" y="4409758"/>
                        <a:ext cx="48641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00075" y="1143000"/>
            <a:ext cx="8142288" cy="438150"/>
          </a:xfrm>
          <a:prstGeom prst="rect">
            <a:avLst/>
          </a:prstGeom>
        </p:spPr>
        <p:txBody>
          <a:bodyPr/>
          <a:lstStyle>
            <a:lvl1pPr marL="258763" indent="-258763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9288" indent="-261938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7113" indent="-249238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-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416050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8049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2621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7193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1765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6337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3200" dirty="0" smtClean="0"/>
              <a:t>例 用雅克比迭代法解下列线性方程组</a:t>
            </a:r>
          </a:p>
        </p:txBody>
      </p:sp>
      <p:sp>
        <p:nvSpPr>
          <p:cNvPr id="2" name="爆炸形 1 1"/>
          <p:cNvSpPr/>
          <p:nvPr/>
        </p:nvSpPr>
        <p:spPr bwMode="auto">
          <a:xfrm>
            <a:off x="6377087" y="1581150"/>
            <a:ext cx="2766913" cy="2485708"/>
          </a:xfrm>
          <a:prstGeom prst="irregularSeal1">
            <a:avLst/>
          </a:prstGeom>
          <a:solidFill>
            <a:srgbClr val="FFFF00"/>
          </a:solidFill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注意：与书上例题</a:t>
            </a:r>
            <a:endParaRPr kumimoji="0" lang="en-US" altLang="zh-CN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部分数字有差异</a:t>
            </a:r>
            <a:endParaRPr kumimoji="0" lang="en-US" altLang="zh-CN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9755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BE4D22A9-01BE-48ED-A6CB-EC3A5EC9D2F7}" type="slidenum">
              <a:rPr lang="en-US" altLang="zh-CN">
                <a:solidFill>
                  <a:srgbClr val="000000"/>
                </a:solidFill>
              </a:rPr>
              <a:pPr/>
              <a:t>34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500062" y="1037680"/>
            <a:ext cx="4029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ea typeface="楷体_GB2312" pitchFamily="49" charset="-122"/>
              </a:rPr>
              <a:t>Jacobi</a:t>
            </a:r>
            <a:r>
              <a:rPr kumimoji="1" lang="zh-CN" altLang="zh-CN" sz="2800" b="1" dirty="0" smtClean="0">
                <a:solidFill>
                  <a:srgbClr val="000000"/>
                </a:solidFill>
                <a:ea typeface="楷体_GB2312" pitchFamily="49" charset="-122"/>
              </a:rPr>
              <a:t>迭代法计算公式为</a:t>
            </a:r>
            <a:endParaRPr kumimoji="1" lang="zh-CN" altLang="en-US" sz="2800" b="1" dirty="0" smtClean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552964"/>
              </p:ext>
            </p:extLst>
          </p:nvPr>
        </p:nvGraphicFramePr>
        <p:xfrm>
          <a:off x="2339752" y="1505585"/>
          <a:ext cx="5741987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55" name="Equation" r:id="rId3" imgW="5740200" imgH="1752480" progId="Equation.3">
                  <p:embed/>
                </p:oleObj>
              </mc:Choice>
              <mc:Fallback>
                <p:oleObj name="Equation" r:id="rId3" imgW="5740200" imgH="1752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505585"/>
                        <a:ext cx="5741987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473359" y="3258185"/>
            <a:ext cx="49968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ea typeface="楷体_GB2312" pitchFamily="49" charset="-122"/>
              </a:rPr>
              <a:t>假设初始向量取  </a:t>
            </a:r>
            <a:r>
              <a:rPr kumimoji="1" lang="en-US" altLang="zh-CN" sz="2800" b="1" i="1" dirty="0" smtClean="0">
                <a:solidFill>
                  <a:srgbClr val="000000"/>
                </a:solidFill>
                <a:ea typeface="楷体_GB2312" pitchFamily="49" charset="-122"/>
              </a:rPr>
              <a:t>x</a:t>
            </a:r>
            <a:r>
              <a:rPr kumimoji="1" lang="en-US" altLang="zh-CN" sz="2800" b="1" baseline="30000" dirty="0" smtClean="0">
                <a:solidFill>
                  <a:srgbClr val="000000"/>
                </a:solidFill>
                <a:ea typeface="楷体_GB2312" pitchFamily="49" charset="-122"/>
              </a:rPr>
              <a:t>(0)</a:t>
            </a:r>
            <a:r>
              <a:rPr kumimoji="1" lang="en-US" altLang="zh-CN" sz="2800" b="1" dirty="0" smtClean="0">
                <a:solidFill>
                  <a:srgbClr val="000000"/>
                </a:solidFill>
                <a:ea typeface="楷体_GB2312" pitchFamily="49" charset="-122"/>
              </a:rPr>
              <a:t>=(0, 0, 0)</a:t>
            </a:r>
            <a:r>
              <a:rPr kumimoji="1" lang="en-US" altLang="zh-CN" sz="2800" b="1" baseline="30000" dirty="0" smtClean="0">
                <a:solidFill>
                  <a:srgbClr val="000000"/>
                </a:solidFill>
                <a:ea typeface="楷体_GB2312" pitchFamily="49" charset="-122"/>
              </a:rPr>
              <a:t>T</a:t>
            </a:r>
            <a:endParaRPr kumimoji="1" lang="en-US" altLang="zh-CN" sz="2800" b="1" dirty="0" smtClean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520700" y="3778250"/>
            <a:ext cx="1970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smtClean="0">
                <a:solidFill>
                  <a:srgbClr val="000000"/>
                </a:solidFill>
                <a:ea typeface="楷体_GB2312" pitchFamily="49" charset="-122"/>
              </a:rPr>
              <a:t>第一次迭代</a:t>
            </a:r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2590800" y="3873500"/>
          <a:ext cx="2997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56" name="Equation" r:id="rId5" imgW="2997000" imgH="469800" progId="Equation.3">
                  <p:embed/>
                </p:oleObj>
              </mc:Choice>
              <mc:Fallback>
                <p:oleObj name="Equation" r:id="rId5" imgW="29970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873500"/>
                        <a:ext cx="2997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520700" y="5105400"/>
            <a:ext cx="1970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smtClean="0">
                <a:solidFill>
                  <a:srgbClr val="000000"/>
                </a:solidFill>
                <a:ea typeface="楷体_GB2312" pitchFamily="49" charset="-122"/>
              </a:rPr>
              <a:t>第二次迭代</a:t>
            </a:r>
          </a:p>
        </p:txBody>
      </p:sp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2895600" y="4495800"/>
          <a:ext cx="5410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57" name="Equation" r:id="rId7" imgW="5410080" imgH="469800" progId="Equation.3">
                  <p:embed/>
                </p:oleObj>
              </mc:Choice>
              <mc:Fallback>
                <p:oleObj name="Equation" r:id="rId7" imgW="54100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5410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/>
        </p:nvGraphicFramePr>
        <p:xfrm>
          <a:off x="2895600" y="5181600"/>
          <a:ext cx="5410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58" name="Equation" r:id="rId9" imgW="5410080" imgH="469800" progId="Equation.3">
                  <p:embed/>
                </p:oleObj>
              </mc:Choice>
              <mc:Fallback>
                <p:oleObj name="Equation" r:id="rId9" imgW="54100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181600"/>
                        <a:ext cx="5410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2895600" y="5867400"/>
          <a:ext cx="5589588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59" name="Equation" r:id="rId11" imgW="5587920" imgH="482400" progId="Equation.3">
                  <p:embed/>
                </p:oleObj>
              </mc:Choice>
              <mc:Fallback>
                <p:oleObj name="Equation" r:id="rId11" imgW="55879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867400"/>
                        <a:ext cx="5589588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AutoShape 11"/>
          <p:cNvSpPr>
            <a:spLocks/>
          </p:cNvSpPr>
          <p:nvPr/>
        </p:nvSpPr>
        <p:spPr bwMode="auto">
          <a:xfrm>
            <a:off x="2514600" y="4672013"/>
            <a:ext cx="381000" cy="15240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 smtClean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778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 autoUpdateAnimBg="0"/>
      <p:bldP spid="16389" grpId="0" build="p" autoUpdateAnimBg="0"/>
      <p:bldP spid="16391" grpId="0" build="p" autoUpdateAnimBg="0"/>
      <p:bldP spid="1639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56C7FF-3E0D-40E0-98A9-E24278C890D6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E2BCA87-DCD1-4462-8F66-CBFC4C0AF78A}" type="datetime1">
              <a:rPr lang="zh-CN" altLang="en-US" smtClean="0"/>
              <a:pPr>
                <a:defRPr/>
              </a:pPr>
              <a:t>2024/10/13</a:t>
            </a:fld>
            <a:endParaRPr lang="en-US" altLang="zh-CN"/>
          </a:p>
        </p:txBody>
      </p:sp>
      <p:pic>
        <p:nvPicPr>
          <p:cNvPr id="2007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9" y="980728"/>
            <a:ext cx="9023882" cy="5445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8289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4C0A7A0C-A155-4757-A116-CD370644A51D}" type="slidenum">
              <a:rPr lang="zh-CN" altLang="en-US" b="0"/>
              <a:pPr/>
              <a:t>36</a:t>
            </a:fld>
            <a:endParaRPr lang="en-US" altLang="zh-CN" b="0"/>
          </a:p>
        </p:txBody>
      </p:sp>
      <p:sp>
        <p:nvSpPr>
          <p:cNvPr id="6656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F1F2BC5-B1A6-437A-996E-64528666CB8E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§2.2 简单迭代法的收敛条件</a:t>
            </a: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876300"/>
          </a:xfrm>
        </p:spPr>
        <p:txBody>
          <a:bodyPr/>
          <a:lstStyle/>
          <a:p>
            <a:r>
              <a:rPr lang="zh-CN" altLang="en-US" sz="3200" dirty="0" smtClean="0"/>
              <a:t>为叙述方便，把</a:t>
            </a:r>
            <a:r>
              <a:rPr lang="en-US" altLang="zh-CN" sz="3200" dirty="0" smtClean="0"/>
              <a:t>AX=B</a:t>
            </a:r>
            <a:r>
              <a:rPr lang="zh-CN" altLang="en-US" sz="3200" dirty="0" smtClean="0"/>
              <a:t>改写后的变形等价方程组统一表为</a:t>
            </a:r>
            <a:r>
              <a:rPr lang="en-US" altLang="zh-CN" sz="3200" dirty="0" smtClean="0"/>
              <a:t>X=MX+N，</a:t>
            </a:r>
            <a:r>
              <a:rPr lang="zh-CN" altLang="en-US" sz="3200" dirty="0" smtClean="0"/>
              <a:t>或</a:t>
            </a:r>
          </a:p>
        </p:txBody>
      </p:sp>
      <p:graphicFrame>
        <p:nvGraphicFramePr>
          <p:cNvPr id="581637" name="Object 5"/>
          <p:cNvGraphicFramePr>
            <a:graphicFrameLocks noChangeAspect="1"/>
          </p:cNvGraphicFramePr>
          <p:nvPr/>
        </p:nvGraphicFramePr>
        <p:xfrm>
          <a:off x="685800" y="1981200"/>
          <a:ext cx="82423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2" name="Equation" r:id="rId3" imgW="3060700" imgH="444500" progId="Equation.3">
                  <p:embed/>
                </p:oleObj>
              </mc:Choice>
              <mc:Fallback>
                <p:oleObj name="Equation" r:id="rId3" imgW="30607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81200"/>
                        <a:ext cx="82423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1638" name="Rectangle 6"/>
          <p:cNvSpPr>
            <a:spLocks noChangeArrowheads="1"/>
          </p:cNvSpPr>
          <p:nvPr/>
        </p:nvSpPr>
        <p:spPr bwMode="auto">
          <a:xfrm>
            <a:off x="609600" y="3330575"/>
            <a:ext cx="8142288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定理4.6   对任何初始向量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30000" dirty="0">
                <a:latin typeface="Times New Roman" pitchFamily="18" charset="0"/>
                <a:ea typeface="黑体" pitchFamily="49" charset="-122"/>
              </a:rPr>
              <a:t>(0)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和常数项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N，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由迭代公式</a:t>
            </a: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		 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30000" dirty="0">
                <a:latin typeface="Times New Roman" pitchFamily="18" charset="0"/>
                <a:ea typeface="黑体" pitchFamily="49" charset="-122"/>
              </a:rPr>
              <a:t>(k+1)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 =MX</a:t>
            </a:r>
            <a:r>
              <a:rPr lang="en-US" altLang="zh-CN" sz="3200" baseline="30000" dirty="0">
                <a:latin typeface="Times New Roman" pitchFamily="18" charset="0"/>
                <a:ea typeface="黑体" pitchFamily="49" charset="-122"/>
              </a:rPr>
              <a:t>(k)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+N   (k=0,1,2,…)</a:t>
            </a: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	产生的向量序列{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30000" dirty="0">
                <a:latin typeface="Times New Roman" pitchFamily="18" charset="0"/>
                <a:ea typeface="黑体" pitchFamily="49" charset="-122"/>
              </a:rPr>
              <a:t>(k)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}收敛的必要充分条件是</a:t>
            </a:r>
          </a:p>
        </p:txBody>
      </p:sp>
      <p:graphicFrame>
        <p:nvGraphicFramePr>
          <p:cNvPr id="581639" name="Object 7"/>
          <p:cNvGraphicFramePr>
            <a:graphicFrameLocks noChangeAspect="1"/>
          </p:cNvGraphicFramePr>
          <p:nvPr/>
        </p:nvGraphicFramePr>
        <p:xfrm>
          <a:off x="1447800" y="5464175"/>
          <a:ext cx="61595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3" name="Equation" r:id="rId5" imgW="2286000" imgH="215900" progId="Equation.3">
                  <p:embed/>
                </p:oleObj>
              </mc:Choice>
              <mc:Fallback>
                <p:oleObj name="Equation" r:id="rId5" imgW="22860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464175"/>
                        <a:ext cx="61595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1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1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8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3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7AB14B7-219A-40C3-9178-5D8F1E6CB42F}" type="slidenum">
              <a:rPr lang="zh-CN" altLang="en-US" b="0"/>
              <a:pPr/>
              <a:t>37</a:t>
            </a:fld>
            <a:endParaRPr lang="en-US" altLang="zh-CN" b="0"/>
          </a:p>
        </p:txBody>
      </p:sp>
      <p:sp>
        <p:nvSpPr>
          <p:cNvPr id="6758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404BED1-6A9B-4C49-BDB7-FD56973671D4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82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§2.2 简单迭代法的收敛条件</a:t>
            </a:r>
          </a:p>
        </p:txBody>
      </p:sp>
      <p:sp>
        <p:nvSpPr>
          <p:cNvPr id="675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543925" cy="4086225"/>
          </a:xfrm>
        </p:spPr>
        <p:txBody>
          <a:bodyPr/>
          <a:lstStyle/>
          <a:p>
            <a:r>
              <a:rPr lang="zh-CN" altLang="en-US" sz="3200" smtClean="0"/>
              <a:t>证明：先证必要性，</a:t>
            </a:r>
          </a:p>
          <a:p>
            <a:pPr>
              <a:buFont typeface="Wingdings" pitchFamily="2" charset="2"/>
              <a:buNone/>
            </a:pPr>
            <a:r>
              <a:rPr lang="zh-CN" altLang="en-US" sz="3200" smtClean="0"/>
              <a:t>设序列{</a:t>
            </a:r>
            <a:r>
              <a:rPr lang="en-US" altLang="zh-CN" sz="3200" smtClean="0"/>
              <a:t>X</a:t>
            </a:r>
            <a:r>
              <a:rPr lang="en-US" altLang="zh-CN" sz="3200" baseline="30000" smtClean="0"/>
              <a:t>(k)</a:t>
            </a:r>
            <a:r>
              <a:rPr lang="zh-CN" altLang="en-US" sz="3200" smtClean="0"/>
              <a:t>}收敛于</a:t>
            </a:r>
            <a:r>
              <a:rPr lang="zh-CN" altLang="en-US" sz="3200" smtClean="0">
                <a:sym typeface="Symbol" pitchFamily="18" charset="2"/>
              </a:rPr>
              <a:t>，则有</a:t>
            </a:r>
            <a:r>
              <a:rPr lang="en-US" altLang="zh-CN" sz="3200" smtClean="0"/>
              <a:t> =M</a:t>
            </a:r>
            <a:r>
              <a:rPr lang="zh-CN" altLang="en-US" sz="3200" smtClean="0">
                <a:sym typeface="Symbol" pitchFamily="18" charset="2"/>
              </a:rPr>
              <a:t></a:t>
            </a:r>
            <a:r>
              <a:rPr lang="en-US" altLang="zh-CN" sz="3200" smtClean="0"/>
              <a:t> +N</a:t>
            </a:r>
          </a:p>
          <a:p>
            <a:pPr>
              <a:buFont typeface="Wingdings" pitchFamily="2" charset="2"/>
              <a:buNone/>
            </a:pPr>
            <a:r>
              <a:rPr lang="zh-CN" altLang="en-US" sz="3200" smtClean="0"/>
              <a:t>第</a:t>
            </a:r>
            <a:r>
              <a:rPr lang="en-US" altLang="zh-CN" sz="3200" smtClean="0"/>
              <a:t>k</a:t>
            </a:r>
            <a:r>
              <a:rPr lang="zh-CN" altLang="en-US" sz="3200" smtClean="0"/>
              <a:t>次迭代的近似值和精确解之差为</a:t>
            </a:r>
          </a:p>
          <a:p>
            <a:pPr>
              <a:buFont typeface="Wingdings" pitchFamily="2" charset="2"/>
              <a:buNone/>
            </a:pPr>
            <a:r>
              <a:rPr lang="zh-CN" altLang="en-US" sz="3200" smtClean="0"/>
              <a:t>		 </a:t>
            </a:r>
            <a:r>
              <a:rPr lang="en-US" altLang="zh-CN" sz="3200" smtClean="0"/>
              <a:t>X</a:t>
            </a:r>
            <a:r>
              <a:rPr lang="en-US" altLang="zh-CN" sz="3200" baseline="30000" smtClean="0"/>
              <a:t>(k+1) </a:t>
            </a:r>
            <a:r>
              <a:rPr lang="zh-CN" altLang="en-US" sz="3200" smtClean="0"/>
              <a:t>- </a:t>
            </a:r>
            <a:r>
              <a:rPr lang="zh-CN" altLang="en-US" sz="3200" smtClean="0">
                <a:sym typeface="Symbol" pitchFamily="18" charset="2"/>
              </a:rPr>
              <a:t></a:t>
            </a:r>
            <a:r>
              <a:rPr lang="en-US" altLang="zh-CN" sz="3200" smtClean="0"/>
              <a:t>= MX</a:t>
            </a:r>
            <a:r>
              <a:rPr lang="en-US" altLang="zh-CN" sz="3200" baseline="30000" smtClean="0"/>
              <a:t>(k) </a:t>
            </a:r>
            <a:r>
              <a:rPr lang="zh-CN" altLang="en-US" sz="3200" smtClean="0"/>
              <a:t>- </a:t>
            </a:r>
            <a:r>
              <a:rPr lang="en-US" altLang="zh-CN" sz="3200" smtClean="0"/>
              <a:t>M</a:t>
            </a:r>
            <a:r>
              <a:rPr lang="zh-CN" altLang="en-US" sz="3200" smtClean="0">
                <a:sym typeface="Symbol" pitchFamily="18" charset="2"/>
              </a:rPr>
              <a:t>= </a:t>
            </a:r>
            <a:r>
              <a:rPr lang="en-US" altLang="zh-CN" sz="3200" smtClean="0"/>
              <a:t>M(X</a:t>
            </a:r>
            <a:r>
              <a:rPr lang="en-US" altLang="zh-CN" sz="3200" baseline="30000" smtClean="0"/>
              <a:t>(k) </a:t>
            </a:r>
            <a:r>
              <a:rPr lang="zh-CN" altLang="en-US" sz="3200" smtClean="0"/>
              <a:t>- </a:t>
            </a:r>
            <a:r>
              <a:rPr lang="zh-CN" altLang="en-US" sz="3200" smtClean="0">
                <a:sym typeface="Symbol" pitchFamily="18" charset="2"/>
              </a:rPr>
              <a:t>)</a:t>
            </a:r>
          </a:p>
          <a:p>
            <a:pPr>
              <a:buFont typeface="Wingdings" pitchFamily="2" charset="2"/>
              <a:buNone/>
            </a:pPr>
            <a:r>
              <a:rPr lang="zh-CN" altLang="en-US" sz="3200" smtClean="0"/>
              <a:t>反复使用上式得</a:t>
            </a:r>
          </a:p>
          <a:p>
            <a:pPr>
              <a:buFont typeface="Wingdings" pitchFamily="2" charset="2"/>
              <a:buNone/>
            </a:pPr>
            <a:r>
              <a:rPr lang="en-US" altLang="zh-CN" sz="3200" smtClean="0"/>
              <a:t>X</a:t>
            </a:r>
            <a:r>
              <a:rPr lang="en-US" altLang="zh-CN" sz="3200" baseline="30000" smtClean="0"/>
              <a:t>(k+1)</a:t>
            </a:r>
            <a:r>
              <a:rPr lang="zh-CN" altLang="en-US" sz="3200" smtClean="0"/>
              <a:t>-</a:t>
            </a:r>
            <a:r>
              <a:rPr lang="zh-CN" altLang="en-US" sz="3200" smtClean="0">
                <a:sym typeface="Symbol" pitchFamily="18" charset="2"/>
              </a:rPr>
              <a:t></a:t>
            </a:r>
            <a:r>
              <a:rPr lang="en-US" altLang="zh-CN" sz="3200" smtClean="0"/>
              <a:t>=M(X</a:t>
            </a:r>
            <a:r>
              <a:rPr lang="en-US" altLang="zh-CN" sz="3200" baseline="30000" smtClean="0"/>
              <a:t>(k)</a:t>
            </a:r>
            <a:r>
              <a:rPr lang="zh-CN" altLang="en-US" sz="3200" smtClean="0"/>
              <a:t>-</a:t>
            </a:r>
            <a:r>
              <a:rPr lang="zh-CN" altLang="en-US" sz="3200" smtClean="0">
                <a:sym typeface="Symbol" pitchFamily="18" charset="2"/>
              </a:rPr>
              <a:t>)</a:t>
            </a:r>
            <a:r>
              <a:rPr lang="en-US" altLang="zh-CN" sz="3200" smtClean="0"/>
              <a:t>=M</a:t>
            </a:r>
            <a:r>
              <a:rPr lang="en-US" altLang="zh-CN" sz="3200" baseline="30000" smtClean="0"/>
              <a:t>2</a:t>
            </a:r>
            <a:r>
              <a:rPr lang="en-US" altLang="zh-CN" sz="3200" smtClean="0"/>
              <a:t>(X</a:t>
            </a:r>
            <a:r>
              <a:rPr lang="en-US" altLang="zh-CN" sz="3200" baseline="30000" smtClean="0"/>
              <a:t>(k-1)</a:t>
            </a:r>
            <a:r>
              <a:rPr lang="zh-CN" altLang="en-US" sz="3200" smtClean="0"/>
              <a:t>-</a:t>
            </a:r>
            <a:r>
              <a:rPr lang="zh-CN" altLang="en-US" sz="3200" smtClean="0">
                <a:sym typeface="Symbol" pitchFamily="18" charset="2"/>
              </a:rPr>
              <a:t>)=…= </a:t>
            </a:r>
            <a:r>
              <a:rPr lang="en-US" altLang="zh-CN" sz="3200" smtClean="0"/>
              <a:t>M</a:t>
            </a:r>
            <a:r>
              <a:rPr lang="en-US" altLang="zh-CN" sz="3200" baseline="30000" smtClean="0"/>
              <a:t>k</a:t>
            </a:r>
            <a:r>
              <a:rPr lang="en-US" altLang="zh-CN" sz="3200" smtClean="0"/>
              <a:t>(X</a:t>
            </a:r>
            <a:r>
              <a:rPr lang="en-US" altLang="zh-CN" sz="3200" baseline="30000" smtClean="0"/>
              <a:t>(0)</a:t>
            </a:r>
            <a:r>
              <a:rPr lang="zh-CN" altLang="en-US" sz="3200" smtClean="0"/>
              <a:t>-</a:t>
            </a:r>
            <a:r>
              <a:rPr lang="zh-CN" altLang="en-US" sz="3200" smtClean="0">
                <a:sym typeface="Symbol" pitchFamily="18" charset="2"/>
              </a:rPr>
              <a:t>)</a:t>
            </a:r>
          </a:p>
          <a:p>
            <a:pPr>
              <a:buFont typeface="Wingdings" pitchFamily="2" charset="2"/>
              <a:buNone/>
            </a:pPr>
            <a:r>
              <a:rPr lang="zh-CN" altLang="en-US" sz="3200" smtClean="0">
                <a:sym typeface="Symbol" pitchFamily="18" charset="2"/>
              </a:rPr>
              <a:t>对于任意初始向量</a:t>
            </a:r>
            <a:r>
              <a:rPr lang="en-US" altLang="zh-CN" sz="3200" smtClean="0"/>
              <a:t>(X</a:t>
            </a:r>
            <a:r>
              <a:rPr lang="en-US" altLang="zh-CN" sz="3200" baseline="30000" smtClean="0"/>
              <a:t>(0)</a:t>
            </a:r>
            <a:r>
              <a:rPr lang="zh-CN" altLang="en-US" sz="3200" smtClean="0"/>
              <a:t>-</a:t>
            </a:r>
            <a:r>
              <a:rPr lang="zh-CN" altLang="en-US" sz="3200" smtClean="0">
                <a:sym typeface="Symbol" pitchFamily="18" charset="2"/>
              </a:rPr>
              <a:t>)，为使</a:t>
            </a:r>
            <a:endParaRPr lang="zh-CN" altLang="en-US" smtClean="0"/>
          </a:p>
        </p:txBody>
      </p:sp>
      <p:graphicFrame>
        <p:nvGraphicFramePr>
          <p:cNvPr id="582660" name="Object 4"/>
          <p:cNvGraphicFramePr>
            <a:graphicFrameLocks noChangeAspect="1"/>
          </p:cNvGraphicFramePr>
          <p:nvPr/>
        </p:nvGraphicFramePr>
        <p:xfrm>
          <a:off x="1514475" y="5257800"/>
          <a:ext cx="6629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1" name="Equation" r:id="rId3" imgW="2362200" imgH="292100" progId="Equation.3">
                  <p:embed/>
                </p:oleObj>
              </mc:Choice>
              <mc:Fallback>
                <p:oleObj name="Equation" r:id="rId3" imgW="2362200" imgH="292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475" y="5257800"/>
                        <a:ext cx="6629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61" name="Rectangle 5"/>
          <p:cNvSpPr>
            <a:spLocks noChangeArrowheads="1"/>
          </p:cNvSpPr>
          <p:nvPr/>
        </p:nvSpPr>
        <p:spPr bwMode="auto">
          <a:xfrm>
            <a:off x="1438275" y="5943600"/>
            <a:ext cx="44529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3200">
                <a:latin typeface="Times New Roman" pitchFamily="18" charset="0"/>
              </a:rPr>
              <a:t>由定理4.5即知</a:t>
            </a:r>
            <a:r>
              <a:rPr lang="zh-CN" altLang="en-US" sz="3200">
                <a:latin typeface="Times New Roman" pitchFamily="18" charset="0"/>
                <a:sym typeface="Symbol" pitchFamily="18" charset="2"/>
              </a:rPr>
              <a:t>(</a:t>
            </a:r>
            <a:r>
              <a:rPr lang="en-US" altLang="zh-CN" sz="3200">
                <a:latin typeface="Times New Roman" pitchFamily="18" charset="0"/>
                <a:sym typeface="Symbol" pitchFamily="18" charset="2"/>
              </a:rPr>
              <a:t>M)&lt;1。</a:t>
            </a:r>
            <a:endParaRPr lang="zh-CN" altLang="en-US" sz="320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61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B0E73D6-659C-4F19-9711-93E1290CDAF4}" type="slidenum">
              <a:rPr lang="zh-CN" altLang="en-US" b="0"/>
              <a:pPr/>
              <a:t>38</a:t>
            </a:fld>
            <a:endParaRPr lang="en-US" altLang="zh-CN" b="0"/>
          </a:p>
        </p:txBody>
      </p:sp>
      <p:sp>
        <p:nvSpPr>
          <p:cNvPr id="6861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1ED08E9-35E8-4BEF-8F38-E7E6A67377E7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83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§2.2 简单迭代法的收敛条件</a:t>
            </a:r>
          </a:p>
        </p:txBody>
      </p:sp>
      <p:sp>
        <p:nvSpPr>
          <p:cNvPr id="686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543925" cy="2897188"/>
          </a:xfrm>
        </p:spPr>
        <p:txBody>
          <a:bodyPr/>
          <a:lstStyle/>
          <a:p>
            <a:pPr>
              <a:lnSpc>
                <a:spcPct val="70000"/>
              </a:lnSpc>
            </a:pPr>
            <a:r>
              <a:rPr lang="zh-CN" altLang="en-US" sz="3200" smtClean="0">
                <a:sym typeface="Symbol" pitchFamily="18" charset="2"/>
              </a:rPr>
              <a:t>再证充分性，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sz="3200" smtClean="0">
                <a:sym typeface="Symbol" pitchFamily="18" charset="2"/>
              </a:rPr>
              <a:t>   若(</a:t>
            </a:r>
            <a:r>
              <a:rPr lang="en-US" altLang="zh-CN" sz="3200" smtClean="0">
                <a:sym typeface="Symbol" pitchFamily="18" charset="2"/>
              </a:rPr>
              <a:t>M)&lt;1</a:t>
            </a:r>
            <a:r>
              <a:rPr lang="zh-CN" altLang="en-US" sz="3200" smtClean="0">
                <a:sym typeface="Symbol" pitchFamily="18" charset="2"/>
              </a:rPr>
              <a:t>满足，则特征值||&lt;1，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sz="3200" smtClean="0">
                <a:sym typeface="Symbol" pitchFamily="18" charset="2"/>
              </a:rPr>
              <a:t>   |</a:t>
            </a:r>
            <a:r>
              <a:rPr lang="en-US" altLang="zh-CN" sz="3200" smtClean="0">
                <a:sym typeface="Symbol" pitchFamily="18" charset="2"/>
              </a:rPr>
              <a:t>I-M|0</a:t>
            </a:r>
            <a:r>
              <a:rPr lang="zh-CN" altLang="en-US" sz="3200" smtClean="0">
                <a:sym typeface="Symbol" pitchFamily="18" charset="2"/>
              </a:rPr>
              <a:t>，方程组(</a:t>
            </a:r>
            <a:r>
              <a:rPr lang="en-US" altLang="zh-CN" sz="3200" smtClean="0">
                <a:sym typeface="Symbol" pitchFamily="18" charset="2"/>
              </a:rPr>
              <a:t>I-M)X=N</a:t>
            </a:r>
            <a:r>
              <a:rPr lang="zh-CN" altLang="en-US" sz="3200" smtClean="0">
                <a:sym typeface="Symbol" pitchFamily="18" charset="2"/>
              </a:rPr>
              <a:t>有唯一解,设为,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sz="3200" smtClean="0">
                <a:sym typeface="Symbol" pitchFamily="18" charset="2"/>
              </a:rPr>
              <a:t>   有 </a:t>
            </a:r>
            <a:r>
              <a:rPr lang="en-US" altLang="zh-CN" sz="3200" smtClean="0"/>
              <a:t>X</a:t>
            </a:r>
            <a:r>
              <a:rPr lang="en-US" altLang="zh-CN" sz="3200" baseline="30000" smtClean="0"/>
              <a:t>(k+1) </a:t>
            </a:r>
            <a:r>
              <a:rPr lang="zh-CN" altLang="en-US" sz="3200" smtClean="0"/>
              <a:t>- </a:t>
            </a:r>
            <a:r>
              <a:rPr lang="zh-CN" altLang="en-US" sz="3200" smtClean="0">
                <a:sym typeface="Symbol" pitchFamily="18" charset="2"/>
              </a:rPr>
              <a:t></a:t>
            </a:r>
            <a:r>
              <a:rPr lang="en-US" altLang="zh-CN" sz="3200" smtClean="0"/>
              <a:t>= MX</a:t>
            </a:r>
            <a:r>
              <a:rPr lang="en-US" altLang="zh-CN" sz="3200" baseline="30000" smtClean="0"/>
              <a:t>(k) </a:t>
            </a:r>
            <a:r>
              <a:rPr lang="zh-CN" altLang="en-US" sz="3200" smtClean="0"/>
              <a:t>- </a:t>
            </a:r>
            <a:r>
              <a:rPr lang="en-US" altLang="zh-CN" sz="3200" smtClean="0"/>
              <a:t>M</a:t>
            </a:r>
            <a:r>
              <a:rPr lang="zh-CN" altLang="en-US" sz="3200" smtClean="0">
                <a:sym typeface="Symbol" pitchFamily="18" charset="2"/>
              </a:rPr>
              <a:t>= </a:t>
            </a:r>
            <a:r>
              <a:rPr lang="en-US" altLang="zh-CN" sz="3200" smtClean="0"/>
              <a:t>M(X</a:t>
            </a:r>
            <a:r>
              <a:rPr lang="en-US" altLang="zh-CN" sz="3200" baseline="30000" smtClean="0"/>
              <a:t>(k) </a:t>
            </a:r>
            <a:r>
              <a:rPr lang="zh-CN" altLang="en-US" sz="3200" smtClean="0"/>
              <a:t>- </a:t>
            </a:r>
            <a:r>
              <a:rPr lang="zh-CN" altLang="en-US" sz="3200" smtClean="0">
                <a:sym typeface="Symbol" pitchFamily="18" charset="2"/>
              </a:rPr>
              <a:t>) 成立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3200" smtClean="0"/>
              <a:t>	</a:t>
            </a:r>
            <a:r>
              <a:rPr lang="zh-CN" altLang="en-US" sz="3200" smtClean="0"/>
              <a:t>同样</a:t>
            </a:r>
            <a:r>
              <a:rPr lang="en-US" altLang="zh-CN" smtClean="0"/>
              <a:t>X</a:t>
            </a:r>
            <a:r>
              <a:rPr lang="en-US" altLang="zh-CN" baseline="30000" smtClean="0"/>
              <a:t>(k+1)</a:t>
            </a:r>
            <a:r>
              <a:rPr lang="zh-CN" altLang="en-US" smtClean="0"/>
              <a:t>-</a:t>
            </a:r>
            <a:r>
              <a:rPr lang="zh-CN" altLang="en-US" smtClean="0">
                <a:sym typeface="Symbol" pitchFamily="18" charset="2"/>
              </a:rPr>
              <a:t></a:t>
            </a:r>
            <a:r>
              <a:rPr lang="en-US" altLang="zh-CN" smtClean="0"/>
              <a:t>=M(X</a:t>
            </a:r>
            <a:r>
              <a:rPr lang="en-US" altLang="zh-CN" baseline="30000" smtClean="0"/>
              <a:t>(k)</a:t>
            </a:r>
            <a:r>
              <a:rPr lang="zh-CN" altLang="en-US" smtClean="0"/>
              <a:t>-</a:t>
            </a:r>
            <a:r>
              <a:rPr lang="zh-CN" altLang="en-US" smtClean="0">
                <a:sym typeface="Symbol" pitchFamily="18" charset="2"/>
              </a:rPr>
              <a:t>)</a:t>
            </a:r>
            <a:r>
              <a:rPr lang="en-US" altLang="zh-CN" smtClean="0"/>
              <a:t>=M</a:t>
            </a:r>
            <a:r>
              <a:rPr lang="en-US" altLang="zh-CN" baseline="30000" smtClean="0"/>
              <a:t>2</a:t>
            </a:r>
            <a:r>
              <a:rPr lang="en-US" altLang="zh-CN" smtClean="0"/>
              <a:t>(X</a:t>
            </a:r>
            <a:r>
              <a:rPr lang="en-US" altLang="zh-CN" baseline="30000" smtClean="0"/>
              <a:t>(k-1)</a:t>
            </a:r>
            <a:r>
              <a:rPr lang="zh-CN" altLang="en-US" smtClean="0"/>
              <a:t>-</a:t>
            </a:r>
            <a:r>
              <a:rPr lang="zh-CN" altLang="en-US" smtClean="0">
                <a:sym typeface="Symbol" pitchFamily="18" charset="2"/>
              </a:rPr>
              <a:t>)=…= </a:t>
            </a:r>
            <a:r>
              <a:rPr lang="en-US" altLang="zh-CN" smtClean="0"/>
              <a:t>M</a:t>
            </a:r>
            <a:r>
              <a:rPr lang="en-US" altLang="zh-CN" baseline="30000" smtClean="0"/>
              <a:t>k</a:t>
            </a:r>
            <a:r>
              <a:rPr lang="en-US" altLang="zh-CN" smtClean="0"/>
              <a:t>(X</a:t>
            </a:r>
            <a:r>
              <a:rPr lang="en-US" altLang="zh-CN" baseline="30000" smtClean="0"/>
              <a:t>(0)</a:t>
            </a:r>
            <a:r>
              <a:rPr lang="zh-CN" altLang="en-US" smtClean="0"/>
              <a:t>-</a:t>
            </a:r>
            <a:r>
              <a:rPr lang="zh-CN" altLang="en-US" smtClean="0">
                <a:sym typeface="Symbol" pitchFamily="18" charset="2"/>
              </a:rPr>
              <a:t>)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sz="3200" smtClean="0">
                <a:sym typeface="Symbol" pitchFamily="18" charset="2"/>
              </a:rPr>
              <a:t>   因(</a:t>
            </a:r>
            <a:r>
              <a:rPr lang="en-US" altLang="zh-CN" sz="3200" smtClean="0">
                <a:sym typeface="Symbol" pitchFamily="18" charset="2"/>
              </a:rPr>
              <a:t>M)&lt;1，</a:t>
            </a:r>
            <a:endParaRPr lang="zh-CN" altLang="en-US" sz="3200" smtClean="0">
              <a:sym typeface="Symbol" pitchFamily="18" charset="2"/>
            </a:endParaRPr>
          </a:p>
        </p:txBody>
      </p:sp>
      <p:graphicFrame>
        <p:nvGraphicFramePr>
          <p:cNvPr id="583684" name="Object 4"/>
          <p:cNvGraphicFramePr>
            <a:graphicFrameLocks noChangeAspect="1"/>
          </p:cNvGraphicFramePr>
          <p:nvPr/>
        </p:nvGraphicFramePr>
        <p:xfrm>
          <a:off x="5638800" y="3505200"/>
          <a:ext cx="2871788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5" name="Equation" r:id="rId4" imgW="1066800" imgH="292100" progId="Equation.3">
                  <p:embed/>
                </p:oleObj>
              </mc:Choice>
              <mc:Fallback>
                <p:oleObj name="Equation" r:id="rId4" imgW="1066800" imgH="292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505200"/>
                        <a:ext cx="2871788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685" name="Rectangle 5"/>
          <p:cNvSpPr>
            <a:spLocks noChangeArrowheads="1"/>
          </p:cNvSpPr>
          <p:nvPr/>
        </p:nvSpPr>
        <p:spPr bwMode="auto">
          <a:xfrm>
            <a:off x="609600" y="4319588"/>
            <a:ext cx="8534400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6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en-US" altLang="zh-CN" sz="3200">
                <a:latin typeface="Times New Roman" pitchFamily="18" charset="0"/>
              </a:rPr>
              <a:t>	</a:t>
            </a:r>
            <a:r>
              <a:rPr lang="zh-CN" altLang="en-US" sz="3200">
                <a:latin typeface="Times New Roman" pitchFamily="18" charset="0"/>
              </a:rPr>
              <a:t>即迭代过程收敛</a:t>
            </a:r>
            <a:r>
              <a:rPr lang="en-US" altLang="zh-CN" sz="3200">
                <a:latin typeface="Times New Roman" pitchFamily="18" charset="0"/>
                <a:sym typeface="Symbol" pitchFamily="18" charset="2"/>
              </a:rPr>
              <a:t>。（</a:t>
            </a:r>
            <a:r>
              <a:rPr lang="zh-CN" altLang="en-US" sz="3200">
                <a:latin typeface="Times New Roman" pitchFamily="18" charset="0"/>
                <a:sym typeface="Symbol" pitchFamily="18" charset="2"/>
              </a:rPr>
              <a:t>证毕）</a:t>
            </a:r>
          </a:p>
          <a:p>
            <a:pPr marL="258763" indent="-258763" algn="l" defTabSz="814388">
              <a:lnSpc>
                <a:spcPct val="6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sym typeface="Symbol" pitchFamily="18" charset="2"/>
              </a:rPr>
              <a:t>说明：</a:t>
            </a:r>
          </a:p>
          <a:p>
            <a:pPr marL="649288" lvl="1" indent="-261938" algn="l" defTabSz="814388">
              <a:lnSpc>
                <a:spcPct val="6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Symbol" pitchFamily="18" charset="2"/>
              <a:buChar char="-"/>
            </a:pPr>
            <a:r>
              <a:rPr lang="zh-CN" altLang="en-US" sz="3200">
                <a:latin typeface="Times New Roman" pitchFamily="18" charset="0"/>
                <a:sym typeface="Symbol" pitchFamily="18" charset="2"/>
              </a:rPr>
              <a:t>迭代的收敛性只与迭代矩阵的谱半径有关</a:t>
            </a:r>
          </a:p>
          <a:p>
            <a:pPr marL="649288" lvl="1" indent="-261938" algn="l" defTabSz="814388">
              <a:lnSpc>
                <a:spcPct val="6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Symbol" pitchFamily="18" charset="2"/>
              <a:buChar char="-"/>
            </a:pPr>
            <a:r>
              <a:rPr lang="zh-CN" altLang="en-US" sz="3200">
                <a:latin typeface="Times New Roman" pitchFamily="18" charset="0"/>
                <a:sym typeface="Symbol" pitchFamily="18" charset="2"/>
              </a:rPr>
              <a:t>迭代是否收敛与系数矩阵</a:t>
            </a:r>
            <a:r>
              <a:rPr lang="en-US" altLang="zh-CN" sz="3200">
                <a:latin typeface="Times New Roman" pitchFamily="18" charset="0"/>
                <a:sym typeface="Symbol" pitchFamily="18" charset="2"/>
              </a:rPr>
              <a:t>A</a:t>
            </a:r>
            <a:r>
              <a:rPr lang="zh-CN" altLang="en-US" sz="3200">
                <a:latin typeface="Times New Roman" pitchFamily="18" charset="0"/>
                <a:sym typeface="Symbol" pitchFamily="18" charset="2"/>
              </a:rPr>
              <a:t>及演变方式有关</a:t>
            </a:r>
          </a:p>
          <a:p>
            <a:pPr marL="649288" lvl="1" indent="-261938" algn="l" defTabSz="814388">
              <a:lnSpc>
                <a:spcPct val="6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Symbol" pitchFamily="18" charset="2"/>
              <a:buChar char="-"/>
            </a:pPr>
            <a:r>
              <a:rPr lang="zh-CN" altLang="en-US" sz="3200">
                <a:latin typeface="Times New Roman" pitchFamily="18" charset="0"/>
                <a:sym typeface="Symbol" pitchFamily="18" charset="2"/>
              </a:rPr>
              <a:t>与常数项和初始向量的选择无关。</a:t>
            </a:r>
          </a:p>
        </p:txBody>
      </p:sp>
      <p:graphicFrame>
        <p:nvGraphicFramePr>
          <p:cNvPr id="583686" name="Object 6"/>
          <p:cNvGraphicFramePr>
            <a:graphicFrameLocks noChangeAspect="1"/>
          </p:cNvGraphicFramePr>
          <p:nvPr/>
        </p:nvGraphicFramePr>
        <p:xfrm>
          <a:off x="3124200" y="3581400"/>
          <a:ext cx="22002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6" name="Equation" r:id="rId6" imgW="888614" imgH="291973" progId="Equation.3">
                  <p:embed/>
                </p:oleObj>
              </mc:Choice>
              <mc:Fallback>
                <p:oleObj name="Equation" r:id="rId6" imgW="888614" imgH="29197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81400"/>
                        <a:ext cx="2200275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583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583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583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583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5836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5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>
          <a:xfrm>
            <a:off x="395288" y="1844675"/>
            <a:ext cx="8142287" cy="1384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smtClean="0"/>
              <a:t>注：要检验一个矩阵的谱半径小于</a:t>
            </a:r>
            <a:r>
              <a:rPr lang="en-US" altLang="zh-CN" sz="3200" smtClean="0"/>
              <a:t>1</a:t>
            </a:r>
            <a:r>
              <a:rPr lang="zh-CN" altLang="en-US" sz="3200" smtClean="0"/>
              <a:t>比较困难，所以我们希望用别的办法判断收敛性。 </a:t>
            </a:r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895C2FA-EA81-439E-8EEF-79CC2131604E}" type="slidenum">
              <a:rPr lang="zh-CN" altLang="en-US" b="0"/>
              <a:pPr/>
              <a:t>39</a:t>
            </a:fld>
            <a:endParaRPr lang="en-US" altLang="zh-CN" b="0"/>
          </a:p>
        </p:txBody>
      </p:sp>
      <p:sp>
        <p:nvSpPr>
          <p:cNvPr id="6963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4B10A811-10D7-492F-92CE-EA6D9FF365D5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DFB0FDC-301F-4169-B1B9-805331465323}" type="slidenum">
              <a:rPr lang="zh-CN" altLang="en-US" b="0"/>
              <a:pPr/>
              <a:t>40</a:t>
            </a:fld>
            <a:endParaRPr lang="en-US" altLang="zh-CN" b="0"/>
          </a:p>
        </p:txBody>
      </p:sp>
      <p:sp>
        <p:nvSpPr>
          <p:cNvPr id="7065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B9FE1F06-996A-4B84-80EA-A01BB4A2B960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§2.2 简单迭代法的收敛条件</a:t>
            </a:r>
          </a:p>
        </p:txBody>
      </p:sp>
      <p:sp>
        <p:nvSpPr>
          <p:cNvPr id="706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38150"/>
          </a:xfrm>
        </p:spPr>
        <p:txBody>
          <a:bodyPr/>
          <a:lstStyle/>
          <a:p>
            <a:r>
              <a:rPr lang="zh-CN" altLang="en-US" sz="3200" smtClean="0"/>
              <a:t>简单迭代法的收敛条件</a:t>
            </a:r>
          </a:p>
        </p:txBody>
      </p:sp>
      <p:graphicFrame>
        <p:nvGraphicFramePr>
          <p:cNvPr id="467980" name="Object 12"/>
          <p:cNvGraphicFramePr>
            <a:graphicFrameLocks noChangeAspect="1"/>
          </p:cNvGraphicFramePr>
          <p:nvPr/>
        </p:nvGraphicFramePr>
        <p:xfrm>
          <a:off x="762000" y="2743200"/>
          <a:ext cx="4125913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2" name="Equation" r:id="rId4" imgW="1624895" imgH="444307" progId="Equation.3">
                  <p:embed/>
                </p:oleObj>
              </mc:Choice>
              <mc:Fallback>
                <p:oleObj name="Equation" r:id="rId4" imgW="1624895" imgH="444307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743200"/>
                        <a:ext cx="4125913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81" name="Object 13"/>
          <p:cNvGraphicFramePr>
            <a:graphicFrameLocks noChangeAspect="1"/>
          </p:cNvGraphicFramePr>
          <p:nvPr/>
        </p:nvGraphicFramePr>
        <p:xfrm>
          <a:off x="609600" y="3962400"/>
          <a:ext cx="8089900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3" name="Equation" r:id="rId6" imgW="3289300" imgH="685800" progId="Equation.3">
                  <p:embed/>
                </p:oleObj>
              </mc:Choice>
              <mc:Fallback>
                <p:oleObj name="Equation" r:id="rId6" imgW="3289300" imgH="685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962400"/>
                        <a:ext cx="8089900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82" name="Object 14"/>
          <p:cNvGraphicFramePr>
            <a:graphicFrameLocks noChangeAspect="1"/>
          </p:cNvGraphicFramePr>
          <p:nvPr/>
        </p:nvGraphicFramePr>
        <p:xfrm>
          <a:off x="609600" y="1709738"/>
          <a:ext cx="82423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4" name="Equation" r:id="rId8" imgW="3060700" imgH="444500" progId="Equation.3">
                  <p:embed/>
                </p:oleObj>
              </mc:Choice>
              <mc:Fallback>
                <p:oleObj name="Equation" r:id="rId8" imgW="3060700" imgH="4445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709738"/>
                        <a:ext cx="82423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83" name="Object 15"/>
          <p:cNvGraphicFramePr>
            <a:graphicFrameLocks noChangeAspect="1"/>
          </p:cNvGraphicFramePr>
          <p:nvPr/>
        </p:nvGraphicFramePr>
        <p:xfrm>
          <a:off x="5076825" y="957263"/>
          <a:ext cx="3762375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5" name="公式" r:id="rId10" imgW="1397000" imgH="457200" progId="Equation.3">
                  <p:embed/>
                </p:oleObj>
              </mc:Choice>
              <mc:Fallback>
                <p:oleObj name="公式" r:id="rId10" imgW="1397000" imgH="457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957263"/>
                        <a:ext cx="3762375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7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7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7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7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67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C0E7DEF0-906F-4BDC-8452-66CB864BD6BE}" type="slidenum">
              <a:rPr lang="zh-CN" altLang="en-US" b="0"/>
              <a:pPr/>
              <a:t>41</a:t>
            </a:fld>
            <a:endParaRPr lang="en-US" altLang="zh-CN" b="0"/>
          </a:p>
        </p:txBody>
      </p:sp>
      <p:sp>
        <p:nvSpPr>
          <p:cNvPr id="7168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B2F0FB8A-76CB-4F76-BAA9-46AB4E8944EF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§2.2 简单迭代法的收敛条件</a:t>
            </a:r>
          </a:p>
        </p:txBody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38150"/>
          </a:xfrm>
        </p:spPr>
        <p:txBody>
          <a:bodyPr/>
          <a:lstStyle/>
          <a:p>
            <a:r>
              <a:rPr lang="zh-CN" altLang="en-US" sz="3200" smtClean="0"/>
              <a:t>充分条件1</a:t>
            </a:r>
          </a:p>
        </p:txBody>
      </p:sp>
      <p:graphicFrame>
        <p:nvGraphicFramePr>
          <p:cNvPr id="71686" name="Object 4"/>
          <p:cNvGraphicFramePr>
            <a:graphicFrameLocks noChangeAspect="1"/>
          </p:cNvGraphicFramePr>
          <p:nvPr/>
        </p:nvGraphicFramePr>
        <p:xfrm>
          <a:off x="1317625" y="1600200"/>
          <a:ext cx="4873625" cy="344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4" name="Equation" r:id="rId3" imgW="1303059" imgH="906761" progId="Equation.3">
                  <p:embed/>
                </p:oleObj>
              </mc:Choice>
              <mc:Fallback>
                <p:oleObj name="Equation" r:id="rId3" imgW="1303059" imgH="90676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5" y="1600200"/>
                        <a:ext cx="4873625" cy="344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0021" name="AutoShape 5"/>
          <p:cNvSpPr>
            <a:spLocks noChangeArrowheads="1"/>
          </p:cNvSpPr>
          <p:nvPr/>
        </p:nvSpPr>
        <p:spPr bwMode="auto">
          <a:xfrm>
            <a:off x="1695450" y="1828800"/>
            <a:ext cx="4953000" cy="533400"/>
          </a:xfrm>
          <a:prstGeom prst="rightArrow">
            <a:avLst>
              <a:gd name="adj1" fmla="val 60713"/>
              <a:gd name="adj2" fmla="val 108333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0022" name="Rectangle 6"/>
          <p:cNvSpPr>
            <a:spLocks noChangeArrowheads="1"/>
          </p:cNvSpPr>
          <p:nvPr/>
        </p:nvSpPr>
        <p:spPr bwMode="auto">
          <a:xfrm>
            <a:off x="6705600" y="1676400"/>
            <a:ext cx="600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1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70023" name="AutoShape 7"/>
          <p:cNvSpPr>
            <a:spLocks noChangeArrowheads="1"/>
          </p:cNvSpPr>
          <p:nvPr/>
        </p:nvSpPr>
        <p:spPr bwMode="auto">
          <a:xfrm>
            <a:off x="1695450" y="2667000"/>
            <a:ext cx="4953000" cy="533400"/>
          </a:xfrm>
          <a:prstGeom prst="rightArrow">
            <a:avLst>
              <a:gd name="adj1" fmla="val 60713"/>
              <a:gd name="adj2" fmla="val 108333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0024" name="Rectangle 8"/>
          <p:cNvSpPr>
            <a:spLocks noChangeArrowheads="1"/>
          </p:cNvSpPr>
          <p:nvPr/>
        </p:nvSpPr>
        <p:spPr bwMode="auto">
          <a:xfrm>
            <a:off x="6705600" y="2514600"/>
            <a:ext cx="600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2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70025" name="AutoShape 9"/>
          <p:cNvSpPr>
            <a:spLocks noChangeArrowheads="1"/>
          </p:cNvSpPr>
          <p:nvPr/>
        </p:nvSpPr>
        <p:spPr bwMode="auto">
          <a:xfrm>
            <a:off x="1771650" y="4343400"/>
            <a:ext cx="4953000" cy="533400"/>
          </a:xfrm>
          <a:prstGeom prst="rightArrow">
            <a:avLst>
              <a:gd name="adj1" fmla="val 60713"/>
              <a:gd name="adj2" fmla="val 108333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0026" name="Rectangle 10"/>
          <p:cNvSpPr>
            <a:spLocks noChangeArrowheads="1"/>
          </p:cNvSpPr>
          <p:nvPr/>
        </p:nvSpPr>
        <p:spPr bwMode="auto">
          <a:xfrm>
            <a:off x="6773863" y="4191000"/>
            <a:ext cx="6175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n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70027" name="Rectangle 11"/>
          <p:cNvSpPr>
            <a:spLocks noChangeArrowheads="1"/>
          </p:cNvSpPr>
          <p:nvPr/>
        </p:nvSpPr>
        <p:spPr bwMode="auto">
          <a:xfrm>
            <a:off x="228600" y="5334000"/>
            <a:ext cx="3581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latin typeface="Times New Roman" pitchFamily="18" charset="0"/>
                <a:sym typeface="Symbol" pitchFamily="18" charset="2"/>
              </a:rPr>
              <a:t>||</a:t>
            </a:r>
            <a:r>
              <a:rPr lang="en-US" altLang="zh-CN" sz="2800">
                <a:latin typeface="Times New Roman" pitchFamily="18" charset="0"/>
                <a:sym typeface="Symbol" pitchFamily="18" charset="2"/>
              </a:rPr>
              <a:t>M||</a:t>
            </a:r>
            <a:r>
              <a:rPr lang="zh-CN" altLang="en-US" sz="2800" baseline="-25000">
                <a:latin typeface="Times New Roman" pitchFamily="18" charset="0"/>
                <a:sym typeface="Symbol" pitchFamily="18" charset="2"/>
              </a:rPr>
              <a:t></a:t>
            </a:r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=max</a:t>
            </a:r>
            <a:r>
              <a:rPr lang="en-US" altLang="zh-CN" sz="3600">
                <a:latin typeface="Times New Roman" pitchFamily="18" charset="0"/>
                <a:sym typeface="Symbol" pitchFamily="18" charset="2"/>
              </a:rPr>
              <a:t>{</a:t>
            </a:r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3600">
                <a:latin typeface="Times New Roman" pitchFamily="18" charset="0"/>
                <a:sym typeface="Symbol" pitchFamily="18" charset="2"/>
              </a:rPr>
              <a:t>}&lt;1</a:t>
            </a:r>
            <a:endParaRPr lang="zh-CN" altLang="en-US" sz="36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470028" name="Object 12"/>
          <p:cNvGraphicFramePr>
            <a:graphicFrameLocks noChangeAspect="1"/>
          </p:cNvGraphicFramePr>
          <p:nvPr/>
        </p:nvGraphicFramePr>
        <p:xfrm>
          <a:off x="4114800" y="5105400"/>
          <a:ext cx="477996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5" name="Equation" r:id="rId5" imgW="1943100" imgH="444500" progId="Equation.3">
                  <p:embed/>
                </p:oleObj>
              </mc:Choice>
              <mc:Fallback>
                <p:oleObj name="Equation" r:id="rId5" imgW="1943100" imgH="4445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105400"/>
                        <a:ext cx="477996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0029" name="Rectangle 13"/>
          <p:cNvSpPr>
            <a:spLocks noChangeArrowheads="1"/>
          </p:cNvSpPr>
          <p:nvPr/>
        </p:nvSpPr>
        <p:spPr bwMode="auto">
          <a:xfrm>
            <a:off x="5486400" y="1219200"/>
            <a:ext cx="5095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600">
                <a:latin typeface="Times New Roman" pitchFamily="18" charset="0"/>
                <a:sym typeface="Symbol" pitchFamily="18" charset="2"/>
              </a:rPr>
              <a:t></a:t>
            </a:r>
            <a:endParaRPr lang="zh-CN" altLang="en-US" sz="3600" baseline="-2500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0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0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7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70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0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0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0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21" grpId="0" animBg="1"/>
      <p:bldP spid="470022" grpId="0" autoUpdateAnimBg="0"/>
      <p:bldP spid="470023" grpId="0" animBg="1"/>
      <p:bldP spid="470024" grpId="0" autoUpdateAnimBg="0"/>
      <p:bldP spid="470025" grpId="0" animBg="1"/>
      <p:bldP spid="470026" grpId="0" autoUpdateAnimBg="0"/>
      <p:bldP spid="470027" grpId="0" autoUpdateAnimBg="0"/>
      <p:bldP spid="470029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FA805F0-EE33-4179-A929-11B0857322C3}" type="slidenum">
              <a:rPr lang="zh-CN" altLang="en-US" b="0"/>
              <a:pPr/>
              <a:t>42</a:t>
            </a:fld>
            <a:endParaRPr lang="en-US" altLang="zh-CN" b="0"/>
          </a:p>
        </p:txBody>
      </p:sp>
      <p:sp>
        <p:nvSpPr>
          <p:cNvPr id="7270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06A0E4B6-CF29-4D77-9742-F772E484EFED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§2.2 简单迭代法的收敛条件</a:t>
            </a:r>
          </a:p>
        </p:txBody>
      </p:sp>
      <p:sp>
        <p:nvSpPr>
          <p:cNvPr id="727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38150"/>
          </a:xfrm>
        </p:spPr>
        <p:txBody>
          <a:bodyPr/>
          <a:lstStyle/>
          <a:p>
            <a:r>
              <a:rPr lang="zh-CN" altLang="en-US" sz="3200" smtClean="0"/>
              <a:t>充分条件2</a:t>
            </a:r>
          </a:p>
        </p:txBody>
      </p:sp>
      <p:graphicFrame>
        <p:nvGraphicFramePr>
          <p:cNvPr id="72710" name="Object 4"/>
          <p:cNvGraphicFramePr>
            <a:graphicFrameLocks noChangeAspect="1"/>
          </p:cNvGraphicFramePr>
          <p:nvPr/>
        </p:nvGraphicFramePr>
        <p:xfrm>
          <a:off x="877888" y="1600200"/>
          <a:ext cx="4873625" cy="344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8" name="Equation" r:id="rId3" imgW="1303059" imgH="906761" progId="Equation.3">
                  <p:embed/>
                </p:oleObj>
              </mc:Choice>
              <mc:Fallback>
                <p:oleObj name="Equation" r:id="rId3" imgW="1303059" imgH="90676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1600200"/>
                        <a:ext cx="4873625" cy="344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45" name="AutoShape 5"/>
          <p:cNvSpPr>
            <a:spLocks noChangeArrowheads="1"/>
          </p:cNvSpPr>
          <p:nvPr/>
        </p:nvSpPr>
        <p:spPr bwMode="auto">
          <a:xfrm rot="5400000">
            <a:off x="-381000" y="3429000"/>
            <a:ext cx="3733800" cy="533400"/>
          </a:xfrm>
          <a:prstGeom prst="rightArrow">
            <a:avLst>
              <a:gd name="adj1" fmla="val 60713"/>
              <a:gd name="adj2" fmla="val 81667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046" name="Rectangle 6"/>
          <p:cNvSpPr>
            <a:spLocks noChangeArrowheads="1"/>
          </p:cNvSpPr>
          <p:nvPr/>
        </p:nvSpPr>
        <p:spPr bwMode="auto">
          <a:xfrm>
            <a:off x="1289050" y="5378450"/>
            <a:ext cx="539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1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71047" name="Rectangle 7"/>
          <p:cNvSpPr>
            <a:spLocks noChangeArrowheads="1"/>
          </p:cNvSpPr>
          <p:nvPr/>
        </p:nvSpPr>
        <p:spPr bwMode="auto">
          <a:xfrm>
            <a:off x="533400" y="4419600"/>
            <a:ext cx="5095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latin typeface="Times New Roman" pitchFamily="18" charset="0"/>
                <a:sym typeface="Symbol" pitchFamily="18" charset="2"/>
              </a:rPr>
              <a:t></a:t>
            </a:r>
            <a:endParaRPr lang="zh-CN" altLang="en-US" sz="3600" baseline="-2500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471048" name="AutoShape 8"/>
          <p:cNvSpPr>
            <a:spLocks noChangeArrowheads="1"/>
          </p:cNvSpPr>
          <p:nvPr/>
        </p:nvSpPr>
        <p:spPr bwMode="auto">
          <a:xfrm rot="5400000">
            <a:off x="914400" y="3429000"/>
            <a:ext cx="3733800" cy="533400"/>
          </a:xfrm>
          <a:prstGeom prst="rightArrow">
            <a:avLst>
              <a:gd name="adj1" fmla="val 60713"/>
              <a:gd name="adj2" fmla="val 81667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049" name="Rectangle 9"/>
          <p:cNvSpPr>
            <a:spLocks noChangeArrowheads="1"/>
          </p:cNvSpPr>
          <p:nvPr/>
        </p:nvSpPr>
        <p:spPr bwMode="auto">
          <a:xfrm>
            <a:off x="2544763" y="5341938"/>
            <a:ext cx="539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2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71050" name="AutoShape 10"/>
          <p:cNvSpPr>
            <a:spLocks noChangeArrowheads="1"/>
          </p:cNvSpPr>
          <p:nvPr/>
        </p:nvSpPr>
        <p:spPr bwMode="auto">
          <a:xfrm rot="5400000">
            <a:off x="3124200" y="3429000"/>
            <a:ext cx="3733800" cy="533400"/>
          </a:xfrm>
          <a:prstGeom prst="rightArrow">
            <a:avLst>
              <a:gd name="adj1" fmla="val 60713"/>
              <a:gd name="adj2" fmla="val 81667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051" name="Rectangle 11"/>
          <p:cNvSpPr>
            <a:spLocks noChangeArrowheads="1"/>
          </p:cNvSpPr>
          <p:nvPr/>
        </p:nvSpPr>
        <p:spPr bwMode="auto">
          <a:xfrm>
            <a:off x="4754563" y="5386388"/>
            <a:ext cx="5572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n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71052" name="Rectangle 12"/>
          <p:cNvSpPr>
            <a:spLocks noChangeArrowheads="1"/>
          </p:cNvSpPr>
          <p:nvPr/>
        </p:nvSpPr>
        <p:spPr bwMode="auto">
          <a:xfrm>
            <a:off x="5499100" y="2514600"/>
            <a:ext cx="3644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latin typeface="Times New Roman" pitchFamily="18" charset="0"/>
                <a:sym typeface="Symbol" pitchFamily="18" charset="2"/>
              </a:rPr>
              <a:t>||</a:t>
            </a:r>
            <a:r>
              <a:rPr lang="en-US" altLang="zh-CN" sz="2800">
                <a:latin typeface="Times New Roman" pitchFamily="18" charset="0"/>
                <a:sym typeface="Symbol" pitchFamily="18" charset="2"/>
              </a:rPr>
              <a:t>M||</a:t>
            </a:r>
            <a:r>
              <a:rPr lang="zh-CN" altLang="en-US" sz="2800" baseline="-25000"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= max</a:t>
            </a:r>
            <a:r>
              <a:rPr lang="en-US" altLang="zh-CN" sz="3600">
                <a:latin typeface="Times New Roman" pitchFamily="18" charset="0"/>
                <a:sym typeface="Symbol" pitchFamily="18" charset="2"/>
              </a:rPr>
              <a:t>{</a:t>
            </a:r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3600">
                <a:latin typeface="Times New Roman" pitchFamily="18" charset="0"/>
                <a:sym typeface="Symbol" pitchFamily="18" charset="2"/>
              </a:rPr>
              <a:t>}&lt;1</a:t>
            </a:r>
            <a:endParaRPr lang="zh-CN" altLang="en-US" sz="36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72719" name="Object 13"/>
          <p:cNvGraphicFramePr>
            <a:graphicFrameLocks noChangeAspect="1"/>
          </p:cNvGraphicFramePr>
          <p:nvPr/>
        </p:nvGraphicFramePr>
        <p:xfrm>
          <a:off x="6019800" y="1143000"/>
          <a:ext cx="24384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9" name="Equation" r:id="rId5" imgW="837836" imgH="215806" progId="Equation.3">
                  <p:embed/>
                </p:oleObj>
              </mc:Choice>
              <mc:Fallback>
                <p:oleObj name="Equation" r:id="rId5" imgW="837836" imgH="21580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143000"/>
                        <a:ext cx="24384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0" name="Object 14"/>
          <p:cNvGraphicFramePr>
            <a:graphicFrameLocks noChangeAspect="1"/>
          </p:cNvGraphicFramePr>
          <p:nvPr/>
        </p:nvGraphicFramePr>
        <p:xfrm>
          <a:off x="3276600" y="5845175"/>
          <a:ext cx="52514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80" name="Equation" r:id="rId7" imgW="2159000" imgH="419100" progId="Equation.3">
                  <p:embed/>
                </p:oleObj>
              </mc:Choice>
              <mc:Fallback>
                <p:oleObj name="Equation" r:id="rId7" imgW="2159000" imgH="419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845175"/>
                        <a:ext cx="525145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7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7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45" grpId="0" animBg="1"/>
      <p:bldP spid="471046" grpId="0" autoUpdateAnimBg="0"/>
      <p:bldP spid="471047" grpId="0" autoUpdateAnimBg="0"/>
      <p:bldP spid="471048" grpId="0" animBg="1"/>
      <p:bldP spid="471049" grpId="0" autoUpdateAnimBg="0"/>
      <p:bldP spid="471050" grpId="0" animBg="1"/>
      <p:bldP spid="471051" grpId="0" autoUpdateAnimBg="0"/>
      <p:bldP spid="471052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ED1742B-FAEC-49BE-B319-4D57BA753DBD}" type="slidenum">
              <a:rPr lang="zh-CN" altLang="en-US" b="0"/>
              <a:pPr/>
              <a:t>43</a:t>
            </a:fld>
            <a:endParaRPr lang="en-US" altLang="zh-CN" b="0"/>
          </a:p>
        </p:txBody>
      </p:sp>
      <p:sp>
        <p:nvSpPr>
          <p:cNvPr id="7373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B6655DC-0CD8-4D14-A100-C53DD8B6853B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§2.2 简单迭代法的收敛条件</a:t>
            </a:r>
          </a:p>
        </p:txBody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38150"/>
          </a:xfrm>
        </p:spPr>
        <p:txBody>
          <a:bodyPr/>
          <a:lstStyle/>
          <a:p>
            <a:r>
              <a:rPr lang="zh-CN" altLang="en-US" sz="3200" smtClean="0"/>
              <a:t>充分条件3</a:t>
            </a:r>
          </a:p>
        </p:txBody>
      </p:sp>
      <p:graphicFrame>
        <p:nvGraphicFramePr>
          <p:cNvPr id="73734" name="Object 4"/>
          <p:cNvGraphicFramePr>
            <a:graphicFrameLocks noChangeAspect="1"/>
          </p:cNvGraphicFramePr>
          <p:nvPr/>
        </p:nvGraphicFramePr>
        <p:xfrm>
          <a:off x="877888" y="1600200"/>
          <a:ext cx="4873625" cy="344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5" name="Equation" r:id="rId4" imgW="1303059" imgH="906761" progId="Equation.3">
                  <p:embed/>
                </p:oleObj>
              </mc:Choice>
              <mc:Fallback>
                <p:oleObj name="Equation" r:id="rId4" imgW="1303059" imgH="90676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1600200"/>
                        <a:ext cx="4873625" cy="344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69" name="Freeform 5"/>
          <p:cNvSpPr>
            <a:spLocks/>
          </p:cNvSpPr>
          <p:nvPr/>
        </p:nvSpPr>
        <p:spPr bwMode="auto">
          <a:xfrm>
            <a:off x="1485900" y="1930400"/>
            <a:ext cx="3695700" cy="3022600"/>
          </a:xfrm>
          <a:custGeom>
            <a:avLst/>
            <a:gdLst>
              <a:gd name="T0" fmla="*/ 114300 w 2328"/>
              <a:gd name="T1" fmla="*/ 203200 h 1904"/>
              <a:gd name="T2" fmla="*/ 1028700 w 2328"/>
              <a:gd name="T3" fmla="*/ 127000 h 1904"/>
              <a:gd name="T4" fmla="*/ 1028700 w 2328"/>
              <a:gd name="T5" fmla="*/ 279400 h 1904"/>
              <a:gd name="T6" fmla="*/ 266700 w 2328"/>
              <a:gd name="T7" fmla="*/ 812800 h 1904"/>
              <a:gd name="T8" fmla="*/ 114300 w 2328"/>
              <a:gd name="T9" fmla="*/ 1193800 h 1904"/>
              <a:gd name="T10" fmla="*/ 38100 w 2328"/>
              <a:gd name="T11" fmla="*/ 1498600 h 1904"/>
              <a:gd name="T12" fmla="*/ 114300 w 2328"/>
              <a:gd name="T13" fmla="*/ 1955800 h 1904"/>
              <a:gd name="T14" fmla="*/ 723900 w 2328"/>
              <a:gd name="T15" fmla="*/ 1651000 h 1904"/>
              <a:gd name="T16" fmla="*/ 1181100 w 2328"/>
              <a:gd name="T17" fmla="*/ 1270000 h 1904"/>
              <a:gd name="T18" fmla="*/ 1562100 w 2328"/>
              <a:gd name="T19" fmla="*/ 889000 h 1904"/>
              <a:gd name="T20" fmla="*/ 2476500 w 2328"/>
              <a:gd name="T21" fmla="*/ 127000 h 1904"/>
              <a:gd name="T22" fmla="*/ 2857500 w 2328"/>
              <a:gd name="T23" fmla="*/ 127000 h 1904"/>
              <a:gd name="T24" fmla="*/ 2705100 w 2328"/>
              <a:gd name="T25" fmla="*/ 660400 h 1904"/>
              <a:gd name="T26" fmla="*/ 2400300 w 2328"/>
              <a:gd name="T27" fmla="*/ 1117600 h 1904"/>
              <a:gd name="T28" fmla="*/ 1866900 w 2328"/>
              <a:gd name="T29" fmla="*/ 1422400 h 1904"/>
              <a:gd name="T30" fmla="*/ 419100 w 2328"/>
              <a:gd name="T31" fmla="*/ 2336800 h 1904"/>
              <a:gd name="T32" fmla="*/ 342900 w 2328"/>
              <a:gd name="T33" fmla="*/ 2870200 h 1904"/>
              <a:gd name="T34" fmla="*/ 1333500 w 2328"/>
              <a:gd name="T35" fmla="*/ 2870200 h 1904"/>
              <a:gd name="T36" fmla="*/ 1866900 w 2328"/>
              <a:gd name="T37" fmla="*/ 2413000 h 1904"/>
              <a:gd name="T38" fmla="*/ 3390900 w 2328"/>
              <a:gd name="T39" fmla="*/ 889000 h 1904"/>
              <a:gd name="T40" fmla="*/ 3695700 w 2328"/>
              <a:gd name="T41" fmla="*/ 1193800 h 1904"/>
              <a:gd name="T42" fmla="*/ 3390900 w 2328"/>
              <a:gd name="T43" fmla="*/ 1727200 h 1904"/>
              <a:gd name="T44" fmla="*/ 2324100 w 2328"/>
              <a:gd name="T45" fmla="*/ 2717800 h 1904"/>
              <a:gd name="T46" fmla="*/ 2628900 w 2328"/>
              <a:gd name="T47" fmla="*/ 3022600 h 1904"/>
              <a:gd name="T48" fmla="*/ 3619500 w 2328"/>
              <a:gd name="T49" fmla="*/ 2717800 h 190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2328"/>
              <a:gd name="T76" fmla="*/ 0 h 1904"/>
              <a:gd name="T77" fmla="*/ 2328 w 2328"/>
              <a:gd name="T78" fmla="*/ 1904 h 1904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2328" h="1904">
                <a:moveTo>
                  <a:pt x="72" y="128"/>
                </a:moveTo>
                <a:cubicBezTo>
                  <a:pt x="312" y="100"/>
                  <a:pt x="552" y="72"/>
                  <a:pt x="648" y="80"/>
                </a:cubicBezTo>
                <a:cubicBezTo>
                  <a:pt x="744" y="88"/>
                  <a:pt x="728" y="104"/>
                  <a:pt x="648" y="176"/>
                </a:cubicBezTo>
                <a:cubicBezTo>
                  <a:pt x="568" y="248"/>
                  <a:pt x="264" y="416"/>
                  <a:pt x="168" y="512"/>
                </a:cubicBezTo>
                <a:cubicBezTo>
                  <a:pt x="72" y="608"/>
                  <a:pt x="96" y="680"/>
                  <a:pt x="72" y="752"/>
                </a:cubicBezTo>
                <a:cubicBezTo>
                  <a:pt x="48" y="824"/>
                  <a:pt x="24" y="864"/>
                  <a:pt x="24" y="944"/>
                </a:cubicBezTo>
                <a:cubicBezTo>
                  <a:pt x="24" y="1024"/>
                  <a:pt x="0" y="1216"/>
                  <a:pt x="72" y="1232"/>
                </a:cubicBezTo>
                <a:cubicBezTo>
                  <a:pt x="144" y="1248"/>
                  <a:pt x="344" y="1112"/>
                  <a:pt x="456" y="1040"/>
                </a:cubicBezTo>
                <a:cubicBezTo>
                  <a:pt x="568" y="968"/>
                  <a:pt x="656" y="880"/>
                  <a:pt x="744" y="800"/>
                </a:cubicBezTo>
                <a:cubicBezTo>
                  <a:pt x="832" y="720"/>
                  <a:pt x="848" y="680"/>
                  <a:pt x="984" y="560"/>
                </a:cubicBezTo>
                <a:cubicBezTo>
                  <a:pt x="1120" y="440"/>
                  <a:pt x="1424" y="160"/>
                  <a:pt x="1560" y="80"/>
                </a:cubicBezTo>
                <a:cubicBezTo>
                  <a:pt x="1696" y="0"/>
                  <a:pt x="1776" y="24"/>
                  <a:pt x="1800" y="80"/>
                </a:cubicBezTo>
                <a:cubicBezTo>
                  <a:pt x="1824" y="136"/>
                  <a:pt x="1752" y="312"/>
                  <a:pt x="1704" y="416"/>
                </a:cubicBezTo>
                <a:cubicBezTo>
                  <a:pt x="1656" y="520"/>
                  <a:pt x="1600" y="624"/>
                  <a:pt x="1512" y="704"/>
                </a:cubicBezTo>
                <a:cubicBezTo>
                  <a:pt x="1424" y="784"/>
                  <a:pt x="1384" y="768"/>
                  <a:pt x="1176" y="896"/>
                </a:cubicBezTo>
                <a:cubicBezTo>
                  <a:pt x="968" y="1024"/>
                  <a:pt x="424" y="1320"/>
                  <a:pt x="264" y="1472"/>
                </a:cubicBezTo>
                <a:cubicBezTo>
                  <a:pt x="104" y="1624"/>
                  <a:pt x="120" y="1752"/>
                  <a:pt x="216" y="1808"/>
                </a:cubicBezTo>
                <a:cubicBezTo>
                  <a:pt x="312" y="1864"/>
                  <a:pt x="680" y="1856"/>
                  <a:pt x="840" y="1808"/>
                </a:cubicBezTo>
                <a:cubicBezTo>
                  <a:pt x="1000" y="1760"/>
                  <a:pt x="960" y="1728"/>
                  <a:pt x="1176" y="1520"/>
                </a:cubicBezTo>
                <a:cubicBezTo>
                  <a:pt x="1392" y="1312"/>
                  <a:pt x="1944" y="688"/>
                  <a:pt x="2136" y="560"/>
                </a:cubicBezTo>
                <a:cubicBezTo>
                  <a:pt x="2328" y="432"/>
                  <a:pt x="2328" y="664"/>
                  <a:pt x="2328" y="752"/>
                </a:cubicBezTo>
                <a:cubicBezTo>
                  <a:pt x="2328" y="840"/>
                  <a:pt x="2280" y="928"/>
                  <a:pt x="2136" y="1088"/>
                </a:cubicBezTo>
                <a:cubicBezTo>
                  <a:pt x="1992" y="1248"/>
                  <a:pt x="1544" y="1576"/>
                  <a:pt x="1464" y="1712"/>
                </a:cubicBezTo>
                <a:cubicBezTo>
                  <a:pt x="1384" y="1848"/>
                  <a:pt x="1520" y="1904"/>
                  <a:pt x="1656" y="1904"/>
                </a:cubicBezTo>
                <a:cubicBezTo>
                  <a:pt x="1792" y="1904"/>
                  <a:pt x="2176" y="1744"/>
                  <a:pt x="2280" y="1712"/>
                </a:cubicBezTo>
              </a:path>
            </a:pathLst>
          </a:cu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2070" name="Object 6"/>
          <p:cNvGraphicFramePr>
            <a:graphicFrameLocks noChangeAspect="1"/>
          </p:cNvGraphicFramePr>
          <p:nvPr/>
        </p:nvGraphicFramePr>
        <p:xfrm>
          <a:off x="5824538" y="2590800"/>
          <a:ext cx="3436937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6" name="Equation" r:id="rId6" imgW="1117115" imgH="495085" progId="Equation.3">
                  <p:embed/>
                </p:oleObj>
              </mc:Choice>
              <mc:Fallback>
                <p:oleObj name="Equation" r:id="rId6" imgW="1117115" imgH="49508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2590800"/>
                        <a:ext cx="3436937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1" name="Object 7"/>
          <p:cNvGraphicFramePr>
            <a:graphicFrameLocks noChangeAspect="1"/>
          </p:cNvGraphicFramePr>
          <p:nvPr/>
        </p:nvGraphicFramePr>
        <p:xfrm>
          <a:off x="6248400" y="1524000"/>
          <a:ext cx="21986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7" name="Equation" r:id="rId8" imgW="888614" imgH="215806" progId="Equation.3">
                  <p:embed/>
                </p:oleObj>
              </mc:Choice>
              <mc:Fallback>
                <p:oleObj name="Equation" r:id="rId8" imgW="888614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524000"/>
                        <a:ext cx="219868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2" name="Object 8"/>
          <p:cNvGraphicFramePr>
            <a:graphicFrameLocks noChangeAspect="1"/>
          </p:cNvGraphicFramePr>
          <p:nvPr/>
        </p:nvGraphicFramePr>
        <p:xfrm>
          <a:off x="2743200" y="5257800"/>
          <a:ext cx="579120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8" name="Equation" r:id="rId10" imgW="2184400" imgH="444500" progId="Equation.3">
                  <p:embed/>
                </p:oleObj>
              </mc:Choice>
              <mc:Fallback>
                <p:oleObj name="Equation" r:id="rId10" imgW="2184400" imgH="444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257800"/>
                        <a:ext cx="5791200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41822A2-086A-4CA5-B087-20101A599B0C}" type="slidenum">
              <a:rPr lang="zh-CN" altLang="en-US" b="0"/>
              <a:pPr/>
              <a:t>44</a:t>
            </a:fld>
            <a:endParaRPr lang="en-US" altLang="zh-CN" b="0"/>
          </a:p>
        </p:txBody>
      </p:sp>
      <p:sp>
        <p:nvSpPr>
          <p:cNvPr id="74755" name="日期占位符 5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08CD4CEC-32EA-45BD-BE56-801C9E2293DB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27720" name="Rectangle 8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§2.2 简单迭代法的收敛条件</a:t>
            </a:r>
          </a:p>
        </p:txBody>
      </p:sp>
      <p:sp>
        <p:nvSpPr>
          <p:cNvPr id="7475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0075" y="1143000"/>
            <a:ext cx="7859713" cy="3964162"/>
          </a:xfrm>
        </p:spPr>
        <p:txBody>
          <a:bodyPr/>
          <a:lstStyle/>
          <a:p>
            <a:pPr marL="476250" indent="-476250"/>
            <a:r>
              <a:rPr lang="zh-CN" altLang="en-US" sz="3200" dirty="0" smtClean="0"/>
              <a:t>在线性方程组的情况下，由式</a:t>
            </a:r>
          </a:p>
          <a:p>
            <a:pPr marL="476250" indent="-476250"/>
            <a:endParaRPr lang="zh-CN" altLang="en-US" sz="3200" dirty="0" smtClean="0"/>
          </a:p>
          <a:p>
            <a:pPr marL="476250" indent="-476250"/>
            <a:endParaRPr lang="zh-CN" altLang="en-US" sz="3200" dirty="0" smtClean="0"/>
          </a:p>
          <a:p>
            <a:pPr marL="476250" indent="-476250">
              <a:buFont typeface="Wingdings" pitchFamily="2" charset="2"/>
              <a:buNone/>
            </a:pPr>
            <a:r>
              <a:rPr lang="zh-CN" altLang="en-US" sz="3200" dirty="0" smtClean="0"/>
              <a:t>	知</a:t>
            </a:r>
            <a:r>
              <a:rPr lang="en-US" altLang="zh-CN" sz="3200" i="1" dirty="0" err="1" smtClean="0"/>
              <a:t>m</a:t>
            </a:r>
            <a:r>
              <a:rPr lang="en-US" altLang="zh-CN" sz="3200" i="1" baseline="-25000" dirty="0" err="1" smtClean="0"/>
              <a:t>ij</a:t>
            </a:r>
            <a:r>
              <a:rPr lang="zh-CN" altLang="en-US" sz="3200" dirty="0" smtClean="0"/>
              <a:t>在任意初值下都为常数</a:t>
            </a:r>
            <a:r>
              <a:rPr lang="en-US" altLang="zh-CN" sz="3200" dirty="0" smtClean="0"/>
              <a:t>,</a:t>
            </a:r>
          </a:p>
          <a:p>
            <a:pPr marL="476250" indent="-476250"/>
            <a:r>
              <a:rPr lang="zh-CN" altLang="en-US" sz="3200" dirty="0" smtClean="0"/>
              <a:t>因此上述三个充分条件都属大范围收敛充分条件</a:t>
            </a:r>
          </a:p>
          <a:p>
            <a:pPr marL="390525" lvl="1" indent="0">
              <a:buNone/>
            </a:pPr>
            <a:r>
              <a:rPr lang="zh-CN" altLang="en-US" sz="3200" dirty="0" smtClean="0">
                <a:solidFill>
                  <a:srgbClr val="FF0000"/>
                </a:solidFill>
              </a:rPr>
              <a:t>即收敛性与初值的选取无关</a:t>
            </a:r>
          </a:p>
        </p:txBody>
      </p:sp>
      <p:graphicFrame>
        <p:nvGraphicFramePr>
          <p:cNvPr id="74758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1908175" y="1773238"/>
          <a:ext cx="4645025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8" name="Equation" r:id="rId3" imgW="1752600" imgH="444500" progId="Equation.3">
                  <p:embed/>
                </p:oleObj>
              </mc:Choice>
              <mc:Fallback>
                <p:oleObj name="Equation" r:id="rId3" imgW="17526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773238"/>
                        <a:ext cx="4645025" cy="113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BFB01328-6243-473A-9ABA-3B90B011D1C9}" type="slidenum">
              <a:rPr lang="zh-CN" altLang="en-US" b="0"/>
              <a:pPr/>
              <a:t>45</a:t>
            </a:fld>
            <a:endParaRPr lang="en-US" altLang="zh-CN" b="0"/>
          </a:p>
        </p:txBody>
      </p:sp>
      <p:sp>
        <p:nvSpPr>
          <p:cNvPr id="7577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8CF8519-FFB7-46A5-AF72-5E880FAEBF87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11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§2.2 简单迭代法的收敛条件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16859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三个充分条件可以用下述定理描述</a:t>
            </a:r>
          </a:p>
          <a:p>
            <a:r>
              <a:rPr lang="zh-CN" altLang="en-US" dirty="0" smtClean="0"/>
              <a:t>定理4.7   若迭代矩阵</a:t>
            </a:r>
            <a:r>
              <a:rPr lang="en-US" altLang="zh-CN" dirty="0" smtClean="0"/>
              <a:t>M</a:t>
            </a:r>
            <a:r>
              <a:rPr lang="zh-CN" altLang="en-US" dirty="0" smtClean="0"/>
              <a:t>的范数||</a:t>
            </a:r>
            <a:r>
              <a:rPr lang="en-US" altLang="zh-CN" dirty="0" smtClean="0"/>
              <a:t>M||=q&lt;1，</a:t>
            </a:r>
            <a:r>
              <a:rPr lang="zh-CN" altLang="en-US" dirty="0" smtClean="0"/>
              <a:t>则简单迭代法收敛，且迭代序列{</a:t>
            </a:r>
            <a:r>
              <a:rPr lang="en-US" altLang="zh-CN" dirty="0" smtClean="0"/>
              <a:t>X</a:t>
            </a:r>
            <a:r>
              <a:rPr lang="en-US" altLang="zh-CN" baseline="30000" dirty="0" smtClean="0"/>
              <a:t>(k)</a:t>
            </a:r>
            <a:r>
              <a:rPr lang="zh-CN" altLang="en-US" dirty="0" smtClean="0"/>
              <a:t>}的第</a:t>
            </a:r>
            <a:r>
              <a:rPr lang="en-US" altLang="zh-CN" dirty="0" smtClean="0"/>
              <a:t>k</a:t>
            </a:r>
            <a:r>
              <a:rPr lang="zh-CN" altLang="en-US" dirty="0" smtClean="0"/>
              <a:t>次迭代的近似值和精确解</a:t>
            </a:r>
            <a:r>
              <a:rPr lang="zh-CN" altLang="en-US" dirty="0" smtClean="0">
                <a:sym typeface="Symbol" pitchFamily="18" charset="2"/>
              </a:rPr>
              <a:t>的误差有估计式</a:t>
            </a:r>
            <a:endParaRPr lang="zh-CN" altLang="en-US" dirty="0" smtClean="0"/>
          </a:p>
        </p:txBody>
      </p:sp>
      <p:graphicFrame>
        <p:nvGraphicFramePr>
          <p:cNvPr id="7578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356164"/>
              </p:ext>
            </p:extLst>
          </p:nvPr>
        </p:nvGraphicFramePr>
        <p:xfrm>
          <a:off x="971600" y="2740025"/>
          <a:ext cx="5472112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65" name="Equation" r:id="rId5" imgW="2070100" imgH="444500" progId="Equation.3">
                  <p:embed/>
                </p:oleObj>
              </mc:Choice>
              <mc:Fallback>
                <p:oleObj name="Equation" r:id="rId5" imgW="20701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740025"/>
                        <a:ext cx="5472112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1333" name="Object 5"/>
          <p:cNvGraphicFramePr>
            <a:graphicFrameLocks noChangeAspect="1"/>
          </p:cNvGraphicFramePr>
          <p:nvPr/>
        </p:nvGraphicFramePr>
        <p:xfrm>
          <a:off x="1331913" y="4581525"/>
          <a:ext cx="656907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66" name="Equation" r:id="rId7" imgW="2438400" imgH="419100" progId="Equation.3">
                  <p:embed/>
                </p:oleObj>
              </mc:Choice>
              <mc:Fallback>
                <p:oleObj name="Equation" r:id="rId7" imgW="24384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581525"/>
                        <a:ext cx="6569075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1334" name="Object 6"/>
          <p:cNvGraphicFramePr>
            <a:graphicFrameLocks noChangeAspect="1"/>
          </p:cNvGraphicFramePr>
          <p:nvPr/>
        </p:nvGraphicFramePr>
        <p:xfrm>
          <a:off x="468313" y="5545138"/>
          <a:ext cx="478948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67" name="Equation" r:id="rId9" imgW="1767789" imgH="411379" progId="Equation.3">
                  <p:embed/>
                </p:oleObj>
              </mc:Choice>
              <mc:Fallback>
                <p:oleObj name="Equation" r:id="rId9" imgW="1767789" imgH="41137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545138"/>
                        <a:ext cx="478948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1335" name="Object 7"/>
          <p:cNvGraphicFramePr>
            <a:graphicFrameLocks noChangeAspect="1"/>
          </p:cNvGraphicFramePr>
          <p:nvPr/>
        </p:nvGraphicFramePr>
        <p:xfrm>
          <a:off x="7793038" y="4791075"/>
          <a:ext cx="6508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68" name="Equation" r:id="rId11" imgW="236252" imgH="160017" progId="Equation.3">
                  <p:embed/>
                </p:oleObj>
              </mc:Choice>
              <mc:Fallback>
                <p:oleObj name="Equation" r:id="rId11" imgW="236252" imgH="16001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3038" y="4791075"/>
                        <a:ext cx="6508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1336" name="Rectangle 8"/>
          <p:cNvSpPr>
            <a:spLocks noChangeArrowheads="1"/>
          </p:cNvSpPr>
          <p:nvPr/>
        </p:nvSpPr>
        <p:spPr bwMode="auto">
          <a:xfrm>
            <a:off x="539750" y="3860800"/>
            <a:ext cx="814228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定理4.8   若||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M||&lt;1，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则迭代序列{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30000">
                <a:latin typeface="Times New Roman" pitchFamily="18" charset="0"/>
                <a:ea typeface="黑体" pitchFamily="49" charset="-122"/>
              </a:rPr>
              <a:t>(k)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}的第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k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次迭代的近似值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30000">
                <a:latin typeface="Times New Roman" pitchFamily="18" charset="0"/>
                <a:ea typeface="黑体" pitchFamily="49" charset="-122"/>
              </a:rPr>
              <a:t>(k)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和精确解</a:t>
            </a:r>
            <a:r>
              <a:rPr lang="zh-CN" altLang="en-US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的误差有估计式</a:t>
            </a:r>
            <a:endParaRPr lang="zh-CN" altLang="en-US" sz="280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1" name="AutoShape 22"/>
          <p:cNvSpPr>
            <a:spLocks noChangeArrowheads="1"/>
          </p:cNvSpPr>
          <p:nvPr/>
        </p:nvSpPr>
        <p:spPr bwMode="auto">
          <a:xfrm>
            <a:off x="6588224" y="2420938"/>
            <a:ext cx="2448272" cy="1152078"/>
          </a:xfrm>
          <a:prstGeom prst="wedgeEllipseCallout">
            <a:avLst>
              <a:gd name="adj1" fmla="val -56574"/>
              <a:gd name="adj2" fmla="val 27008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kumimoji="1" lang="zh-CN" altLang="en-US" sz="2400" dirty="0">
                <a:latin typeface="Times New Roman" pitchFamily="18" charset="0"/>
                <a:ea typeface="楷体_GB2312" pitchFamily="1" charset="-122"/>
              </a:rPr>
              <a:t>误差表达式及收敛速度</a:t>
            </a:r>
            <a:endParaRPr kumimoji="1" lang="zh-CN" altLang="en-US" dirty="0"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2" name="AutoShape 23"/>
          <p:cNvSpPr>
            <a:spLocks noChangeArrowheads="1"/>
          </p:cNvSpPr>
          <p:nvPr/>
        </p:nvSpPr>
        <p:spPr bwMode="auto">
          <a:xfrm>
            <a:off x="5338763" y="5516563"/>
            <a:ext cx="3810000" cy="838200"/>
          </a:xfrm>
          <a:prstGeom prst="wedgeEllipseCallout">
            <a:avLst>
              <a:gd name="adj1" fmla="val -26843"/>
              <a:gd name="adj2" fmla="val -79204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kumimoji="1" lang="zh-CN" altLang="en-US" sz="2800">
                <a:latin typeface="Times New Roman" pitchFamily="18" charset="0"/>
                <a:ea typeface="楷体_GB2312" pitchFamily="1" charset="-122"/>
              </a:rPr>
              <a:t>停机准则。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611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611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3825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1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1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1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1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336" grpId="0" autoUpdateAnimBg="0"/>
      <p:bldP spid="11" grpId="0" animBg="1" autoUpdateAnimBg="0"/>
      <p:bldP spid="12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B16EE5B-14AD-454E-ABB9-2E303B11E34C}" type="slidenum">
              <a:rPr lang="zh-CN" altLang="en-US" b="0"/>
              <a:pPr/>
              <a:t>46</a:t>
            </a:fld>
            <a:endParaRPr lang="en-US" altLang="zh-CN" b="0"/>
          </a:p>
        </p:txBody>
      </p:sp>
      <p:sp>
        <p:nvSpPr>
          <p:cNvPr id="7680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CF221788-0B07-44E8-B2E5-FF13B41A055F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§2.2 简单迭代法的收敛条件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876300"/>
          </a:xfrm>
        </p:spPr>
        <p:txBody>
          <a:bodyPr/>
          <a:lstStyle/>
          <a:p>
            <a:r>
              <a:rPr lang="zh-CN" altLang="en-US" sz="3200" smtClean="0">
                <a:sym typeface="Symbol" pitchFamily="18" charset="2"/>
              </a:rPr>
              <a:t>定理4.9   若系数矩阵</a:t>
            </a:r>
            <a:r>
              <a:rPr lang="en-US" altLang="zh-CN" sz="3200" smtClean="0">
                <a:sym typeface="Symbol" pitchFamily="18" charset="2"/>
              </a:rPr>
              <a:t>A</a:t>
            </a:r>
            <a:r>
              <a:rPr lang="zh-CN" altLang="en-US" sz="3200" smtClean="0">
                <a:sym typeface="Symbol" pitchFamily="18" charset="2"/>
              </a:rPr>
              <a:t>不可约且具有对角占优，则雅可比迭代法必定收敛。</a:t>
            </a:r>
          </a:p>
        </p:txBody>
      </p:sp>
      <p:graphicFrame>
        <p:nvGraphicFramePr>
          <p:cNvPr id="479236" name="Object 4"/>
          <p:cNvGraphicFramePr>
            <a:graphicFrameLocks noChangeAspect="1"/>
          </p:cNvGraphicFramePr>
          <p:nvPr/>
        </p:nvGraphicFramePr>
        <p:xfrm>
          <a:off x="3200400" y="4343400"/>
          <a:ext cx="1762125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68" name="Equation" r:id="rId4" imgW="736600" imgH="482600" progId="Equation.3">
                  <p:embed/>
                </p:oleObj>
              </mc:Choice>
              <mc:Fallback>
                <p:oleObj name="Equation" r:id="rId4" imgW="7366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1762125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37" name="Rectangle 5"/>
          <p:cNvSpPr>
            <a:spLocks noChangeArrowheads="1"/>
          </p:cNvSpPr>
          <p:nvPr/>
        </p:nvSpPr>
        <p:spPr bwMode="auto">
          <a:xfrm>
            <a:off x="544513" y="3467100"/>
            <a:ext cx="814228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定义4.6   若矩阵</a:t>
            </a:r>
            <a:r>
              <a:rPr lang="en-US" altLang="zh-CN" sz="3200">
                <a:latin typeface="黑体" pitchFamily="49" charset="-122"/>
                <a:ea typeface="黑体" pitchFamily="49" charset="-122"/>
              </a:rPr>
              <a:t>A</a:t>
            </a:r>
            <a:r>
              <a:rPr lang="zh-CN" altLang="en-US" sz="3200">
                <a:latin typeface="黑体" pitchFamily="49" charset="-122"/>
                <a:ea typeface="黑体" pitchFamily="49" charset="-122"/>
              </a:rPr>
              <a:t>不能通过行的次序的调换和</a:t>
            </a:r>
            <a:r>
              <a:rPr lang="zh-CN" altLang="en-US"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相应列</a:t>
            </a:r>
            <a:r>
              <a:rPr lang="zh-CN" altLang="en-US" sz="3200">
                <a:latin typeface="黑体" pitchFamily="49" charset="-122"/>
                <a:ea typeface="黑体" pitchFamily="49" charset="-122"/>
              </a:rPr>
              <a:t>的次序的调换成为</a:t>
            </a:r>
          </a:p>
        </p:txBody>
      </p:sp>
      <p:graphicFrame>
        <p:nvGraphicFramePr>
          <p:cNvPr id="479239" name="Object 7"/>
          <p:cNvGraphicFramePr>
            <a:graphicFrameLocks noChangeAspect="1"/>
          </p:cNvGraphicFramePr>
          <p:nvPr/>
        </p:nvGraphicFramePr>
        <p:xfrm>
          <a:off x="698500" y="2122488"/>
          <a:ext cx="4102100" cy="12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69" name="Equation" r:id="rId6" imgW="1714500" imgH="533400" progId="Equation.3">
                  <p:embed/>
                </p:oleObj>
              </mc:Choice>
              <mc:Fallback>
                <p:oleObj name="Equation" r:id="rId6" imgW="1714500" imgH="533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2122488"/>
                        <a:ext cx="4102100" cy="1230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40" name="Object 8"/>
          <p:cNvGraphicFramePr>
            <a:graphicFrameLocks noChangeAspect="1"/>
          </p:cNvGraphicFramePr>
          <p:nvPr/>
        </p:nvGraphicFramePr>
        <p:xfrm>
          <a:off x="5105400" y="2093913"/>
          <a:ext cx="3646488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0" name="Equation" r:id="rId8" imgW="1523339" imgH="545863" progId="Equation.3">
                  <p:embed/>
                </p:oleObj>
              </mc:Choice>
              <mc:Fallback>
                <p:oleObj name="Equation" r:id="rId8" imgW="1523339" imgH="54586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093913"/>
                        <a:ext cx="3646488" cy="125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41" name="Rectangle 9"/>
          <p:cNvSpPr>
            <a:spLocks noChangeArrowheads="1"/>
          </p:cNvSpPr>
          <p:nvPr/>
        </p:nvSpPr>
        <p:spPr bwMode="auto">
          <a:xfrm>
            <a:off x="762000" y="5410200"/>
            <a:ext cx="79248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其中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11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，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22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为方阵，则称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为</a:t>
            </a:r>
            <a:r>
              <a:rPr lang="zh-CN" altLang="en-US" sz="3200" u="sng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不可约矩阵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;否则称为</a:t>
            </a:r>
            <a:r>
              <a:rPr lang="zh-CN" altLang="en-US" sz="3200" u="sng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可约矩阵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479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7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7" grpId="0" build="p" autoUpdateAnimBg="0"/>
      <p:bldP spid="479241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4F367A7-3F27-4628-A8E8-B9423CF9895C}" type="slidenum">
              <a:rPr lang="zh-CN" altLang="en-US" b="0"/>
              <a:pPr/>
              <a:t>47</a:t>
            </a:fld>
            <a:endParaRPr lang="en-US" altLang="zh-CN" b="0"/>
          </a:p>
        </p:txBody>
      </p:sp>
      <p:sp>
        <p:nvSpPr>
          <p:cNvPr id="7782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B0DCBD6-4B7C-405B-BEFD-18999470DE59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§2.2 简单迭代法的收敛条件</a:t>
            </a:r>
          </a:p>
        </p:txBody>
      </p:sp>
      <p:sp>
        <p:nvSpPr>
          <p:cNvPr id="778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38150"/>
          </a:xfrm>
        </p:spPr>
        <p:txBody>
          <a:bodyPr/>
          <a:lstStyle/>
          <a:p>
            <a:r>
              <a:rPr lang="zh-CN" altLang="en-US" sz="3200" smtClean="0"/>
              <a:t>定义 若矩阵</a:t>
            </a:r>
            <a:r>
              <a:rPr lang="en-US" altLang="zh-CN" sz="3200" smtClean="0"/>
              <a:t>A</a:t>
            </a:r>
            <a:r>
              <a:rPr lang="zh-CN" altLang="en-US" sz="3200" smtClean="0"/>
              <a:t>的对角线元素满足</a:t>
            </a:r>
          </a:p>
        </p:txBody>
      </p:sp>
      <p:graphicFrame>
        <p:nvGraphicFramePr>
          <p:cNvPr id="77830" name="Object 4"/>
          <p:cNvGraphicFramePr>
            <a:graphicFrameLocks noChangeAspect="1"/>
          </p:cNvGraphicFramePr>
          <p:nvPr/>
        </p:nvGraphicFramePr>
        <p:xfrm>
          <a:off x="1676400" y="1676400"/>
          <a:ext cx="3949700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3" name="Equation" r:id="rId4" imgW="1651000" imgH="533400" progId="Equation.3">
                  <p:embed/>
                </p:oleObj>
              </mc:Choice>
              <mc:Fallback>
                <p:oleObj name="Equation" r:id="rId4" imgW="1651000" imgH="533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76400"/>
                        <a:ext cx="3949700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1" name="Rectangle 5"/>
          <p:cNvSpPr>
            <a:spLocks noChangeArrowheads="1"/>
          </p:cNvSpPr>
          <p:nvPr/>
        </p:nvSpPr>
        <p:spPr bwMode="auto">
          <a:xfrm>
            <a:off x="544513" y="2895600"/>
            <a:ext cx="814228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	且至少有一个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i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值，使上式中有严格不等号成立，则称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具有</a:t>
            </a:r>
            <a:r>
              <a:rPr lang="zh-CN" altLang="en-US" sz="3200" u="sng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对角占优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。</a:t>
            </a:r>
          </a:p>
        </p:txBody>
      </p:sp>
      <p:graphicFrame>
        <p:nvGraphicFramePr>
          <p:cNvPr id="408584" name="Object 8"/>
          <p:cNvGraphicFramePr>
            <a:graphicFrameLocks noChangeAspect="1"/>
          </p:cNvGraphicFramePr>
          <p:nvPr/>
        </p:nvGraphicFramePr>
        <p:xfrm>
          <a:off x="609600" y="3810000"/>
          <a:ext cx="2895600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4" name="Equation" r:id="rId6" imgW="1054100" imgH="482600" progId="Equation.3">
                  <p:embed/>
                </p:oleObj>
              </mc:Choice>
              <mc:Fallback>
                <p:oleObj name="Equation" r:id="rId6" imgW="1054100" imgH="482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10000"/>
                        <a:ext cx="2895600" cy="126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85" name="AutoShape 9"/>
          <p:cNvSpPr>
            <a:spLocks noChangeArrowheads="1"/>
          </p:cNvSpPr>
          <p:nvPr/>
        </p:nvSpPr>
        <p:spPr bwMode="auto">
          <a:xfrm>
            <a:off x="4191000" y="4191000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8586" name="Object 10"/>
          <p:cNvGraphicFramePr>
            <a:graphicFrameLocks noChangeAspect="1"/>
          </p:cNvGraphicFramePr>
          <p:nvPr/>
        </p:nvGraphicFramePr>
        <p:xfrm>
          <a:off x="5448300" y="3810000"/>
          <a:ext cx="2513013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5" name="Equation" r:id="rId8" imgW="914400" imgH="482600" progId="Equation.3">
                  <p:embed/>
                </p:oleObj>
              </mc:Choice>
              <mc:Fallback>
                <p:oleObj name="Equation" r:id="rId8" imgW="914400" imgH="482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810000"/>
                        <a:ext cx="2513013" cy="126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7" name="Object 11"/>
          <p:cNvGraphicFramePr>
            <a:graphicFrameLocks noChangeAspect="1"/>
          </p:cNvGraphicFramePr>
          <p:nvPr/>
        </p:nvGraphicFramePr>
        <p:xfrm>
          <a:off x="685800" y="5135563"/>
          <a:ext cx="2895600" cy="126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" name="Equation" r:id="rId10" imgW="1054100" imgH="482600" progId="Equation.3">
                  <p:embed/>
                </p:oleObj>
              </mc:Choice>
              <mc:Fallback>
                <p:oleObj name="Equation" r:id="rId10" imgW="1054100" imgH="482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135563"/>
                        <a:ext cx="2895600" cy="1265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88" name="AutoShape 12"/>
          <p:cNvSpPr>
            <a:spLocks noChangeArrowheads="1"/>
          </p:cNvSpPr>
          <p:nvPr/>
        </p:nvSpPr>
        <p:spPr bwMode="auto">
          <a:xfrm>
            <a:off x="4191000" y="5516563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8589" name="Object 13"/>
          <p:cNvGraphicFramePr>
            <a:graphicFrameLocks noChangeAspect="1"/>
          </p:cNvGraphicFramePr>
          <p:nvPr/>
        </p:nvGraphicFramePr>
        <p:xfrm>
          <a:off x="5468938" y="5135563"/>
          <a:ext cx="3141662" cy="126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7" name="Equation" r:id="rId12" imgW="1143000" imgH="482600" progId="Equation.3">
                  <p:embed/>
                </p:oleObj>
              </mc:Choice>
              <mc:Fallback>
                <p:oleObj name="Equation" r:id="rId12" imgW="1143000" imgH="482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938" y="5135563"/>
                        <a:ext cx="3141662" cy="1265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0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0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85" grpId="0" animBg="1"/>
      <p:bldP spid="40858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8CF6F1A-C317-4794-9707-6D69AA6ABEE0}" type="slidenum">
              <a:rPr lang="zh-CN" altLang="en-US" b="0"/>
              <a:pPr/>
              <a:t>48</a:t>
            </a:fld>
            <a:endParaRPr lang="en-US" altLang="zh-CN" b="0"/>
          </a:p>
        </p:txBody>
      </p:sp>
      <p:sp>
        <p:nvSpPr>
          <p:cNvPr id="78851" name="日期占位符 3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C462DADC-4201-4818-B031-3EA0E211CD4F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grpSp>
        <p:nvGrpSpPr>
          <p:cNvPr id="78852" name="Group 2"/>
          <p:cNvGrpSpPr>
            <a:grpSpLocks/>
          </p:cNvGrpSpPr>
          <p:nvPr/>
        </p:nvGrpSpPr>
        <p:grpSpPr bwMode="auto">
          <a:xfrm>
            <a:off x="555625" y="2036763"/>
            <a:ext cx="7945438" cy="2608262"/>
            <a:chOff x="350" y="1283"/>
            <a:chExt cx="5005" cy="1643"/>
          </a:xfrm>
        </p:grpSpPr>
        <p:sp>
          <p:nvSpPr>
            <p:cNvPr id="78854" name="Rectangle 3"/>
            <p:cNvSpPr>
              <a:spLocks noChangeArrowheads="1"/>
            </p:cNvSpPr>
            <p:nvPr/>
          </p:nvSpPr>
          <p:spPr bwMode="auto">
            <a:xfrm>
              <a:off x="483" y="1325"/>
              <a:ext cx="4780" cy="1564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8855" name="Rectangle 4"/>
            <p:cNvSpPr>
              <a:spLocks noChangeArrowheads="1"/>
            </p:cNvSpPr>
            <p:nvPr/>
          </p:nvSpPr>
          <p:spPr bwMode="auto">
            <a:xfrm>
              <a:off x="362" y="1283"/>
              <a:ext cx="125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56" name="Rectangle 5"/>
            <p:cNvSpPr>
              <a:spLocks noChangeArrowheads="1"/>
            </p:cNvSpPr>
            <p:nvPr/>
          </p:nvSpPr>
          <p:spPr bwMode="auto">
            <a:xfrm>
              <a:off x="5218" y="1283"/>
              <a:ext cx="133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57" name="AutoShape 6"/>
            <p:cNvSpPr>
              <a:spLocks noChangeArrowheads="1"/>
            </p:cNvSpPr>
            <p:nvPr/>
          </p:nvSpPr>
          <p:spPr bwMode="auto">
            <a:xfrm>
              <a:off x="377" y="1283"/>
              <a:ext cx="4974" cy="98"/>
            </a:xfrm>
            <a:custGeom>
              <a:avLst/>
              <a:gdLst>
                <a:gd name="T0" fmla="*/ 1132 w 21600"/>
                <a:gd name="T1" fmla="*/ 0 h 21600"/>
                <a:gd name="T2" fmla="*/ 573 w 21600"/>
                <a:gd name="T3" fmla="*/ 0 h 21600"/>
                <a:gd name="T4" fmla="*/ 14 w 21600"/>
                <a:gd name="T5" fmla="*/ 0 h 21600"/>
                <a:gd name="T6" fmla="*/ 57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54 w 21600"/>
                <a:gd name="T13" fmla="*/ 1984 h 21600"/>
                <a:gd name="T14" fmla="*/ 19546 w 21600"/>
                <a:gd name="T15" fmla="*/ 19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12" y="21600"/>
                  </a:lnTo>
                  <a:lnTo>
                    <a:pt x="2108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58" name="AutoShape 7"/>
            <p:cNvSpPr>
              <a:spLocks noChangeArrowheads="1"/>
            </p:cNvSpPr>
            <p:nvPr/>
          </p:nvSpPr>
          <p:spPr bwMode="auto">
            <a:xfrm flipV="1">
              <a:off x="350" y="2828"/>
              <a:ext cx="5005" cy="98"/>
            </a:xfrm>
            <a:custGeom>
              <a:avLst/>
              <a:gdLst>
                <a:gd name="T0" fmla="*/ 1143 w 21600"/>
                <a:gd name="T1" fmla="*/ 0 h 21600"/>
                <a:gd name="T2" fmla="*/ 580 w 21600"/>
                <a:gd name="T3" fmla="*/ 0 h 21600"/>
                <a:gd name="T4" fmla="*/ 16 w 21600"/>
                <a:gd name="T5" fmla="*/ 0 h 21600"/>
                <a:gd name="T6" fmla="*/ 58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106 w 21600"/>
                <a:gd name="T13" fmla="*/ 2204 h 21600"/>
                <a:gd name="T14" fmla="*/ 19494 w 21600"/>
                <a:gd name="T15" fmla="*/ 19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12" y="21600"/>
                  </a:lnTo>
                  <a:lnTo>
                    <a:pt x="2098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59" name="Rectangle 8"/>
            <p:cNvSpPr>
              <a:spLocks noChangeArrowheads="1"/>
            </p:cNvSpPr>
            <p:nvPr/>
          </p:nvSpPr>
          <p:spPr bwMode="auto">
            <a:xfrm>
              <a:off x="480" y="1380"/>
              <a:ext cx="4738" cy="14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354281"/>
              </a:solidFill>
              <a:miter lim="800000"/>
              <a:headEnd/>
              <a:tailEnd/>
            </a:ln>
            <a:effectLst>
              <a:prstShdw prst="shdw17" dist="17961" dir="2700000">
                <a:srgbClr val="20284D"/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0633" name="Rectangle 9"/>
          <p:cNvSpPr>
            <a:spLocks noChangeArrowheads="1"/>
          </p:cNvSpPr>
          <p:nvPr/>
        </p:nvSpPr>
        <p:spPr bwMode="auto">
          <a:xfrm>
            <a:off x="609600" y="2438400"/>
            <a:ext cx="7585075" cy="9318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rgbClr val="354281"/>
            </a:outerShdw>
          </a:effectLst>
        </p:spPr>
        <p:txBody>
          <a:bodyPr lIns="0" tIns="0" rIns="0" bIns="0">
            <a:spAutoFit/>
          </a:bodyPr>
          <a:lstStyle/>
          <a:p>
            <a:pPr marL="290513" indent="-290513" defTabSz="915988">
              <a:lnSpc>
                <a:spcPct val="8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7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§3  赛德尔迭代法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0B6EF78-9597-4247-878E-6B866531B8B7}" type="slidenum">
              <a:rPr lang="zh-CN" altLang="en-US" b="0"/>
              <a:pPr/>
              <a:t>49</a:t>
            </a:fld>
            <a:endParaRPr lang="en-US" altLang="zh-CN" b="0"/>
          </a:p>
        </p:txBody>
      </p:sp>
      <p:sp>
        <p:nvSpPr>
          <p:cNvPr id="7987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CA7E91DC-9336-46AB-90EA-0447D8926742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89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§3.1 迭代格式</a:t>
            </a:r>
          </a:p>
        </p:txBody>
      </p:sp>
      <p:graphicFrame>
        <p:nvGraphicFramePr>
          <p:cNvPr id="79877" name="Object 4"/>
          <p:cNvGraphicFramePr>
            <a:graphicFrameLocks noChangeAspect="1"/>
          </p:cNvGraphicFramePr>
          <p:nvPr/>
        </p:nvGraphicFramePr>
        <p:xfrm>
          <a:off x="1143000" y="1524000"/>
          <a:ext cx="5181600" cy="141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0" name="Equation" r:id="rId3" imgW="1493529" imgH="434269" progId="Equation.3">
                  <p:embed/>
                </p:oleObj>
              </mc:Choice>
              <mc:Fallback>
                <p:oleObj name="Equation" r:id="rId3" imgW="1493529" imgH="43426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524000"/>
                        <a:ext cx="5181600" cy="141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9829" name="Object 5"/>
          <p:cNvGraphicFramePr>
            <a:graphicFrameLocks noChangeAspect="1"/>
          </p:cNvGraphicFramePr>
          <p:nvPr/>
        </p:nvGraphicFramePr>
        <p:xfrm>
          <a:off x="792163" y="3124200"/>
          <a:ext cx="786765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1" name="Equation" r:id="rId5" imgW="2501900" imgH="685800" progId="Equation.3">
                  <p:embed/>
                </p:oleObj>
              </mc:Choice>
              <mc:Fallback>
                <p:oleObj name="Equation" r:id="rId5" imgW="2501900" imgH="685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3124200"/>
                        <a:ext cx="786765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9830" name="Rectangle 6"/>
          <p:cNvSpPr>
            <a:spLocks noChangeArrowheads="1"/>
          </p:cNvSpPr>
          <p:nvPr/>
        </p:nvSpPr>
        <p:spPr bwMode="auto">
          <a:xfrm>
            <a:off x="3886200" y="3276600"/>
            <a:ext cx="1219200" cy="1066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9831" name="Rectangle 7"/>
          <p:cNvSpPr>
            <a:spLocks noChangeArrowheads="1"/>
          </p:cNvSpPr>
          <p:nvPr/>
        </p:nvSpPr>
        <p:spPr bwMode="auto">
          <a:xfrm>
            <a:off x="6705600" y="3276600"/>
            <a:ext cx="914400" cy="1066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9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528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89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9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9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9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6" presetID="23" presetClass="entr" presetSubtype="528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89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9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89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9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30" grpId="0" animBg="1"/>
      <p:bldP spid="5898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0DE55793-CDB1-486A-B0F6-F42CDF4199F6}" type="slidenum">
              <a:rPr lang="zh-CN" altLang="en-US" b="0"/>
              <a:pPr/>
              <a:t>50</a:t>
            </a:fld>
            <a:endParaRPr lang="en-US" altLang="zh-CN" b="0"/>
          </a:p>
        </p:txBody>
      </p:sp>
      <p:sp>
        <p:nvSpPr>
          <p:cNvPr id="8089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3F45993-269C-4DF6-B509-9F24BD81D7FF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154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§3.1 迭代格式</a:t>
            </a:r>
          </a:p>
        </p:txBody>
      </p:sp>
      <p:sp>
        <p:nvSpPr>
          <p:cNvPr id="809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876300"/>
          </a:xfrm>
        </p:spPr>
        <p:txBody>
          <a:bodyPr/>
          <a:lstStyle/>
          <a:p>
            <a:r>
              <a:rPr lang="zh-CN" altLang="en-US" sz="3200" u="sng" smtClean="0">
                <a:solidFill>
                  <a:srgbClr val="FF3300"/>
                </a:solidFill>
              </a:rPr>
              <a:t>高斯-赛德尔迭代法</a:t>
            </a:r>
            <a:r>
              <a:rPr lang="zh-CN" altLang="en-US" sz="3200" smtClean="0"/>
              <a:t>：如果采用迭代格式2变形</a:t>
            </a:r>
            <a:r>
              <a:rPr lang="en-US" altLang="zh-CN" sz="3200" smtClean="0"/>
              <a:t>AX=B，</a:t>
            </a:r>
            <a:r>
              <a:rPr lang="zh-CN" altLang="en-US" sz="3200" smtClean="0"/>
              <a:t>其对应的赛德尔迭代公式为</a:t>
            </a:r>
          </a:p>
        </p:txBody>
      </p:sp>
      <p:graphicFrame>
        <p:nvGraphicFramePr>
          <p:cNvPr id="80902" name="Object 4"/>
          <p:cNvGraphicFramePr>
            <a:graphicFrameLocks noChangeAspect="1"/>
          </p:cNvGraphicFramePr>
          <p:nvPr/>
        </p:nvGraphicFramePr>
        <p:xfrm>
          <a:off x="1630363" y="3582988"/>
          <a:ext cx="5830887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4" name="Equation" r:id="rId3" imgW="2463800" imgH="431800" progId="Equation.3">
                  <p:embed/>
                </p:oleObj>
              </mc:Choice>
              <mc:Fallback>
                <p:oleObj name="Equation" r:id="rId3" imgW="2463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3582988"/>
                        <a:ext cx="5830887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3" name="Object 5"/>
          <p:cNvGraphicFramePr>
            <a:graphicFrameLocks noChangeAspect="1"/>
          </p:cNvGraphicFramePr>
          <p:nvPr/>
        </p:nvGraphicFramePr>
        <p:xfrm>
          <a:off x="2403475" y="1939925"/>
          <a:ext cx="37274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5" name="Equation" r:id="rId5" imgW="1806012" imgH="220914" progId="Equation.3">
                  <p:embed/>
                </p:oleObj>
              </mc:Choice>
              <mc:Fallback>
                <p:oleObj name="Equation" r:id="rId5" imgW="1806012" imgH="22091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75" y="1939925"/>
                        <a:ext cx="372745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4" name="Object 6"/>
          <p:cNvGraphicFramePr>
            <a:graphicFrameLocks noChangeAspect="1"/>
          </p:cNvGraphicFramePr>
          <p:nvPr/>
        </p:nvGraphicFramePr>
        <p:xfrm>
          <a:off x="2403475" y="2511425"/>
          <a:ext cx="37988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6" name="Equation" r:id="rId7" imgW="1920251" imgH="220914" progId="Equation.3">
                  <p:embed/>
                </p:oleObj>
              </mc:Choice>
              <mc:Fallback>
                <p:oleObj name="Equation" r:id="rId7" imgW="1920251" imgH="22091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75" y="2511425"/>
                        <a:ext cx="379888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5" name="Object 7"/>
          <p:cNvGraphicFramePr>
            <a:graphicFrameLocks noChangeAspect="1"/>
          </p:cNvGraphicFramePr>
          <p:nvPr/>
        </p:nvGraphicFramePr>
        <p:xfrm>
          <a:off x="1546225" y="4578350"/>
          <a:ext cx="59975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7" name="Equation" r:id="rId9" imgW="2603500" imgH="444500" progId="Equation.3">
                  <p:embed/>
                </p:oleObj>
              </mc:Choice>
              <mc:Fallback>
                <p:oleObj name="Equation" r:id="rId9" imgW="26035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4578350"/>
                        <a:ext cx="599757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6" name="Object 8"/>
          <p:cNvGraphicFramePr>
            <a:graphicFrameLocks noChangeAspect="1"/>
          </p:cNvGraphicFramePr>
          <p:nvPr/>
        </p:nvGraphicFramePr>
        <p:xfrm>
          <a:off x="2403475" y="3048000"/>
          <a:ext cx="37274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8" name="Equation" r:id="rId11" imgW="1950701" imgH="220914" progId="Equation.3">
                  <p:embed/>
                </p:oleObj>
              </mc:Choice>
              <mc:Fallback>
                <p:oleObj name="Equation" r:id="rId11" imgW="1950701" imgH="22091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75" y="3048000"/>
                        <a:ext cx="37274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7" name="Object 9"/>
          <p:cNvGraphicFramePr>
            <a:graphicFrameLocks noChangeAspect="1"/>
          </p:cNvGraphicFramePr>
          <p:nvPr/>
        </p:nvGraphicFramePr>
        <p:xfrm>
          <a:off x="1630363" y="5549900"/>
          <a:ext cx="5907087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9" name="Equation" r:id="rId13" imgW="2844800" imgH="444500" progId="Equation.3">
                  <p:embed/>
                </p:oleObj>
              </mc:Choice>
              <mc:Fallback>
                <p:oleObj name="Equation" r:id="rId13" imgW="2844800" imgH="444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5549900"/>
                        <a:ext cx="5907087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34" name="Rectangle 10"/>
          <p:cNvSpPr>
            <a:spLocks noChangeArrowheads="1"/>
          </p:cNvSpPr>
          <p:nvPr/>
        </p:nvSpPr>
        <p:spPr bwMode="auto">
          <a:xfrm>
            <a:off x="1741488" y="3810000"/>
            <a:ext cx="7397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(k+1)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5435" name="Rectangle 11"/>
          <p:cNvSpPr>
            <a:spLocks noChangeArrowheads="1"/>
          </p:cNvSpPr>
          <p:nvPr/>
        </p:nvSpPr>
        <p:spPr bwMode="auto">
          <a:xfrm>
            <a:off x="1671638" y="4724400"/>
            <a:ext cx="7397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(k+1)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5436" name="Rectangle 12"/>
          <p:cNvSpPr>
            <a:spLocks noChangeArrowheads="1"/>
          </p:cNvSpPr>
          <p:nvPr/>
        </p:nvSpPr>
        <p:spPr bwMode="auto">
          <a:xfrm>
            <a:off x="1671638" y="5638800"/>
            <a:ext cx="7397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(k+1)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5437" name="Rectangle 13"/>
          <p:cNvSpPr>
            <a:spLocks noChangeArrowheads="1"/>
          </p:cNvSpPr>
          <p:nvPr/>
        </p:nvSpPr>
        <p:spPr bwMode="auto">
          <a:xfrm>
            <a:off x="3228975" y="3810000"/>
            <a:ext cx="4810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5438" name="Rectangle 14"/>
          <p:cNvSpPr>
            <a:spLocks noChangeArrowheads="1"/>
          </p:cNvSpPr>
          <p:nvPr/>
        </p:nvSpPr>
        <p:spPr bwMode="auto">
          <a:xfrm>
            <a:off x="4473575" y="3810000"/>
            <a:ext cx="4810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5439" name="Rectangle 15"/>
          <p:cNvSpPr>
            <a:spLocks noChangeArrowheads="1"/>
          </p:cNvSpPr>
          <p:nvPr/>
        </p:nvSpPr>
        <p:spPr bwMode="auto">
          <a:xfrm>
            <a:off x="6302375" y="3810000"/>
            <a:ext cx="4810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5440" name="Rectangle 16"/>
          <p:cNvSpPr>
            <a:spLocks noChangeArrowheads="1"/>
          </p:cNvSpPr>
          <p:nvPr/>
        </p:nvSpPr>
        <p:spPr bwMode="auto">
          <a:xfrm>
            <a:off x="3149600" y="4724400"/>
            <a:ext cx="7397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(k+1)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5441" name="Rectangle 17"/>
          <p:cNvSpPr>
            <a:spLocks noChangeArrowheads="1"/>
          </p:cNvSpPr>
          <p:nvPr/>
        </p:nvSpPr>
        <p:spPr bwMode="auto">
          <a:xfrm>
            <a:off x="4543425" y="4800600"/>
            <a:ext cx="4810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5442" name="Rectangle 18"/>
          <p:cNvSpPr>
            <a:spLocks noChangeArrowheads="1"/>
          </p:cNvSpPr>
          <p:nvPr/>
        </p:nvSpPr>
        <p:spPr bwMode="auto">
          <a:xfrm>
            <a:off x="6372225" y="4800600"/>
            <a:ext cx="4810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5443" name="Rectangle 19"/>
          <p:cNvSpPr>
            <a:spLocks noChangeArrowheads="1"/>
          </p:cNvSpPr>
          <p:nvPr/>
        </p:nvSpPr>
        <p:spPr bwMode="auto">
          <a:xfrm>
            <a:off x="3030538" y="5715000"/>
            <a:ext cx="7397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(k+1)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5444" name="Rectangle 20"/>
          <p:cNvSpPr>
            <a:spLocks noChangeArrowheads="1"/>
          </p:cNvSpPr>
          <p:nvPr/>
        </p:nvSpPr>
        <p:spPr bwMode="auto">
          <a:xfrm>
            <a:off x="4203700" y="5791200"/>
            <a:ext cx="7397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(k+1)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615445" name="Rectangle 21"/>
          <p:cNvSpPr>
            <a:spLocks noChangeArrowheads="1"/>
          </p:cNvSpPr>
          <p:nvPr/>
        </p:nvSpPr>
        <p:spPr bwMode="auto">
          <a:xfrm>
            <a:off x="6054725" y="5715000"/>
            <a:ext cx="7397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(k+1)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5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5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5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15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5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5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15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1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1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1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434" grpId="0" autoUpdateAnimBg="0"/>
      <p:bldP spid="615435" grpId="0" autoUpdateAnimBg="0"/>
      <p:bldP spid="615436" grpId="0" autoUpdateAnimBg="0"/>
      <p:bldP spid="615437" grpId="0" autoUpdateAnimBg="0"/>
      <p:bldP spid="615438" grpId="0" autoUpdateAnimBg="0"/>
      <p:bldP spid="615439" grpId="0" autoUpdateAnimBg="0"/>
      <p:bldP spid="615440" grpId="0" autoUpdateAnimBg="0"/>
      <p:bldP spid="615441" grpId="0" autoUpdateAnimBg="0"/>
      <p:bldP spid="615442" grpId="0" autoUpdateAnimBg="0"/>
      <p:bldP spid="615443" grpId="0" autoUpdateAnimBg="0"/>
      <p:bldP spid="615444" grpId="0" autoUpdateAnimBg="0"/>
      <p:bldP spid="615445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53C847DD-2A04-4F9C-84A3-CC14148A4E4D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752975" y="1196752"/>
            <a:ext cx="6101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66"/>
                </a:solidFill>
              </a:rPr>
              <a:t>例</a:t>
            </a:r>
            <a:r>
              <a:rPr lang="zh-CN" altLang="en-US" sz="2400" dirty="0"/>
              <a:t>   用</a:t>
            </a:r>
            <a:r>
              <a:rPr lang="en-US" altLang="zh-CN" sz="2400" dirty="0"/>
              <a:t>Gauss-Seidel</a:t>
            </a:r>
            <a:r>
              <a:rPr lang="zh-CN" altLang="zh-CN" sz="2400" dirty="0"/>
              <a:t>迭代法求解线性方程组</a:t>
            </a:r>
            <a:endParaRPr lang="zh-CN" altLang="en-US" sz="2400" dirty="0"/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884399"/>
              </p:ext>
            </p:extLst>
          </p:nvPr>
        </p:nvGraphicFramePr>
        <p:xfrm>
          <a:off x="1981200" y="1776189"/>
          <a:ext cx="34798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50" name="Equation" r:id="rId3" imgW="3479760" imgH="1562040" progId="Equation.3">
                  <p:embed/>
                </p:oleObj>
              </mc:Choice>
              <mc:Fallback>
                <p:oleObj name="Equation" r:id="rId3" imgW="3479760" imgH="1562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76189"/>
                        <a:ext cx="34798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797508" y="3581177"/>
            <a:ext cx="47708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66"/>
                </a:solidFill>
              </a:rPr>
              <a:t>解   </a:t>
            </a:r>
            <a:r>
              <a:rPr lang="zh-CN" altLang="en-US" sz="2400"/>
              <a:t>将方程组改写成如下等价形式</a:t>
            </a:r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892767"/>
              </p:ext>
            </p:extLst>
          </p:nvPr>
        </p:nvGraphicFramePr>
        <p:xfrm>
          <a:off x="1371600" y="4443189"/>
          <a:ext cx="48641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51" name="Equation" r:id="rId5" imgW="4863960" imgH="1562040" progId="Equation.3">
                  <p:embed/>
                </p:oleObj>
              </mc:Choice>
              <mc:Fallback>
                <p:oleObj name="Equation" r:id="rId5" imgW="4863960" imgH="1562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43189"/>
                        <a:ext cx="48641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644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AC80A1F4-BE2B-483D-AEF6-63EFFD34984E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622888" y="1082040"/>
            <a:ext cx="46089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Gauss-Seidel</a:t>
            </a:r>
            <a:r>
              <a:rPr lang="zh-CN" altLang="zh-CN" sz="2400"/>
              <a:t>迭代法计算公式为</a:t>
            </a:r>
            <a:endParaRPr lang="zh-CN" altLang="en-US" sz="2400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555894"/>
              </p:ext>
            </p:extLst>
          </p:nvPr>
        </p:nvGraphicFramePr>
        <p:xfrm>
          <a:off x="1619672" y="1601153"/>
          <a:ext cx="6211888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90" name="Equation" r:id="rId3" imgW="6210000" imgH="1752480" progId="Equation.3">
                  <p:embed/>
                </p:oleObj>
              </mc:Choice>
              <mc:Fallback>
                <p:oleObj name="Equation" r:id="rId3" imgW="6210000" imgH="1752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601153"/>
                        <a:ext cx="6211888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486487" y="3380424"/>
            <a:ext cx="42848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/>
              <a:t>假设初始向量取 </a:t>
            </a:r>
            <a:r>
              <a:rPr lang="en-US" altLang="zh-CN" sz="2400" i="1" dirty="0"/>
              <a:t>x</a:t>
            </a:r>
            <a:r>
              <a:rPr lang="en-US" altLang="zh-CN" sz="2400" baseline="30000" dirty="0"/>
              <a:t>(0)</a:t>
            </a:r>
            <a:r>
              <a:rPr lang="en-US" altLang="zh-CN" sz="2400" dirty="0"/>
              <a:t>=(0, 0, 0)</a:t>
            </a:r>
            <a:r>
              <a:rPr lang="en-US" altLang="zh-CN" sz="2400" baseline="30000" dirty="0"/>
              <a:t>T</a:t>
            </a:r>
            <a:r>
              <a:rPr lang="en-US" altLang="zh-CN" sz="2400" dirty="0"/>
              <a:t>.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457200" y="4738688"/>
            <a:ext cx="1970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第一次迭代</a:t>
            </a:r>
          </a:p>
        </p:txBody>
      </p:sp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2819400" y="4114800"/>
          <a:ext cx="1371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91" name="Equation" r:id="rId5" imgW="1371600" imgH="469800" progId="Equation.3">
                  <p:embed/>
                </p:oleObj>
              </mc:Choice>
              <mc:Fallback>
                <p:oleObj name="Equation" r:id="rId5" imgW="13716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114800"/>
                        <a:ext cx="1371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2819400" y="4800600"/>
          <a:ext cx="3873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92" name="Equation" r:id="rId7" imgW="3873240" imgH="469800" progId="Equation.3">
                  <p:embed/>
                </p:oleObj>
              </mc:Choice>
              <mc:Fallback>
                <p:oleObj name="Equation" r:id="rId7" imgW="38732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800600"/>
                        <a:ext cx="3873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2819400" y="5562600"/>
          <a:ext cx="5945188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93" name="Equation" r:id="rId9" imgW="5943600" imgH="482400" progId="Equation.3">
                  <p:embed/>
                </p:oleObj>
              </mc:Choice>
              <mc:Fallback>
                <p:oleObj name="Equation" r:id="rId9" imgW="59436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562600"/>
                        <a:ext cx="5945188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AutoShape 9"/>
          <p:cNvSpPr>
            <a:spLocks/>
          </p:cNvSpPr>
          <p:nvPr/>
        </p:nvSpPr>
        <p:spPr bwMode="auto">
          <a:xfrm>
            <a:off x="2438400" y="4343400"/>
            <a:ext cx="381000" cy="15240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750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 autoUpdateAnimBg="0"/>
      <p:bldP spid="25605" grpId="0" build="p" autoUpdateAnimBg="0"/>
      <p:bldP spid="2560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52672" y="6262696"/>
            <a:ext cx="1905000" cy="457200"/>
          </a:xfrm>
          <a:prstGeom prst="rect">
            <a:avLst/>
          </a:prstGeom>
        </p:spPr>
        <p:txBody>
          <a:bodyPr/>
          <a:lstStyle/>
          <a:p>
            <a:fld id="{6DBD95B4-68E9-40FB-9578-170F7BBCCF08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15724" y="1023119"/>
            <a:ext cx="17315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/>
              <a:t>第二次迭代</a:t>
            </a:r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03944"/>
              </p:ext>
            </p:extLst>
          </p:nvPr>
        </p:nvGraphicFramePr>
        <p:xfrm>
          <a:off x="1172006" y="1352183"/>
          <a:ext cx="66309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07" name="Equation" r:id="rId3" imgW="6629400" imgH="469800" progId="Equation.3">
                  <p:embed/>
                </p:oleObj>
              </mc:Choice>
              <mc:Fallback>
                <p:oleObj name="Equation" r:id="rId3" imgW="66294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006" y="1352183"/>
                        <a:ext cx="66309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AutoShape 7"/>
          <p:cNvSpPr>
            <a:spLocks/>
          </p:cNvSpPr>
          <p:nvPr/>
        </p:nvSpPr>
        <p:spPr bwMode="auto">
          <a:xfrm>
            <a:off x="791006" y="1593483"/>
            <a:ext cx="381000" cy="15240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98049"/>
              </p:ext>
            </p:extLst>
          </p:nvPr>
        </p:nvGraphicFramePr>
        <p:xfrm>
          <a:off x="1172006" y="2114183"/>
          <a:ext cx="71516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08" name="Equation" r:id="rId5" imgW="7149960" imgH="469800" progId="Equation.3">
                  <p:embed/>
                </p:oleObj>
              </mc:Choice>
              <mc:Fallback>
                <p:oleObj name="Equation" r:id="rId5" imgW="71499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006" y="2114183"/>
                        <a:ext cx="71516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589929"/>
              </p:ext>
            </p:extLst>
          </p:nvPr>
        </p:nvGraphicFramePr>
        <p:xfrm>
          <a:off x="1172006" y="2812683"/>
          <a:ext cx="7342188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09" name="Equation" r:id="rId7" imgW="7340400" imgH="482400" progId="Equation.3">
                  <p:embed/>
                </p:oleObj>
              </mc:Choice>
              <mc:Fallback>
                <p:oleObj name="Equation" r:id="rId7" imgW="73404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006" y="2812683"/>
                        <a:ext cx="7342188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9685" name="Picture 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50417"/>
            <a:ext cx="7308304" cy="3332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303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build="p" autoUpdateAnimBg="0"/>
      <p:bldP spid="2663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305002"/>
            <a:ext cx="8142288" cy="609398"/>
          </a:xfrm>
        </p:spPr>
        <p:txBody>
          <a:bodyPr/>
          <a:lstStyle/>
          <a:p>
            <a:r>
              <a:rPr lang="zh-CN" altLang="en-US" dirty="0" smtClean="0"/>
              <a:t>引用记号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521CD-799B-4BD7-8BE6-514407F02234}" type="slidenum">
              <a:rPr lang="zh-CN" altLang="en-US" smtClean="0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2B285DF6-8668-450F-A83D-47C0455A9450}" type="datetime1">
              <a:rPr lang="zh-CN" altLang="en-US" smtClean="0"/>
              <a:pPr>
                <a:defRPr/>
              </a:pPr>
              <a:t>2024/10/13</a:t>
            </a:fld>
            <a:endParaRPr lang="en-US" altLang="zh-CN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00075" y="1143000"/>
            <a:ext cx="8142288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58763" indent="-258763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9288" indent="-261938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7113" indent="-249238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-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416050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8049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2621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7193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1765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6337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3200" dirty="0" smtClean="0"/>
              <a:t>为叙述方便，把</a:t>
            </a:r>
            <a:r>
              <a:rPr lang="en-US" altLang="zh-CN" sz="3200" dirty="0" smtClean="0"/>
              <a:t>AX=B</a:t>
            </a:r>
            <a:r>
              <a:rPr lang="zh-CN" altLang="en-US" sz="3200" dirty="0" smtClean="0"/>
              <a:t>改写后的变形等价方程组统一表为</a:t>
            </a:r>
            <a:r>
              <a:rPr lang="en-US" altLang="zh-CN" sz="3200" dirty="0" smtClean="0"/>
              <a:t>X=MX+N，</a:t>
            </a:r>
            <a:r>
              <a:rPr lang="zh-CN" altLang="en-US" sz="3200" dirty="0" smtClean="0"/>
              <a:t>或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685800" y="1981200"/>
          <a:ext cx="82423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49" name="Equation" r:id="rId3" imgW="3060700" imgH="444500" progId="Equation.3">
                  <p:embed/>
                </p:oleObj>
              </mc:Choice>
              <mc:Fallback>
                <p:oleObj name="Equation" r:id="rId3" imgW="30607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81200"/>
                        <a:ext cx="82423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465087"/>
              </p:ext>
            </p:extLst>
          </p:nvPr>
        </p:nvGraphicFramePr>
        <p:xfrm>
          <a:off x="3059832" y="2996952"/>
          <a:ext cx="5181600" cy="141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50" name="Equation" r:id="rId5" imgW="1493529" imgH="434269" progId="Equation.3">
                  <p:embed/>
                </p:oleObj>
              </mc:Choice>
              <mc:Fallback>
                <p:oleObj name="Equation" r:id="rId5" imgW="1493529" imgH="4342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2996952"/>
                        <a:ext cx="5181600" cy="141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43659"/>
              </p:ext>
            </p:extLst>
          </p:nvPr>
        </p:nvGraphicFramePr>
        <p:xfrm>
          <a:off x="907465" y="4532312"/>
          <a:ext cx="786765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51" name="Equation" r:id="rId7" imgW="2501900" imgH="685800" progId="Equation.3">
                  <p:embed/>
                </p:oleObj>
              </mc:Choice>
              <mc:Fallback>
                <p:oleObj name="Equation" r:id="rId7" imgW="25019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465" y="4532312"/>
                        <a:ext cx="786765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001502" y="4684712"/>
            <a:ext cx="1219200" cy="1066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6820902" y="4684712"/>
            <a:ext cx="914400" cy="1066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22"/>
          <p:cNvSpPr>
            <a:spLocks noChangeArrowheads="1"/>
          </p:cNvSpPr>
          <p:nvPr/>
        </p:nvSpPr>
        <p:spPr bwMode="auto">
          <a:xfrm>
            <a:off x="323528" y="3354328"/>
            <a:ext cx="265649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u="sng" dirty="0">
                <a:solidFill>
                  <a:srgbClr val="0033CC"/>
                </a:solidFill>
                <a:latin typeface="Times New Roman" pitchFamily="18" charset="0"/>
              </a:rPr>
              <a:t>雅克比迭代法</a:t>
            </a:r>
          </a:p>
        </p:txBody>
      </p:sp>
      <p:sp>
        <p:nvSpPr>
          <p:cNvPr id="13" name="Rectangle 22"/>
          <p:cNvSpPr>
            <a:spLocks noChangeArrowheads="1"/>
          </p:cNvSpPr>
          <p:nvPr/>
        </p:nvSpPr>
        <p:spPr bwMode="auto">
          <a:xfrm>
            <a:off x="323528" y="4107120"/>
            <a:ext cx="26564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u="sng" dirty="0">
                <a:latin typeface="Times New Roman" pitchFamily="18" charset="0"/>
              </a:rPr>
              <a:t>赛德尔</a:t>
            </a:r>
            <a:r>
              <a:rPr lang="zh-CN" altLang="en-US" sz="3200" u="sng" dirty="0" smtClean="0">
                <a:latin typeface="Times New Roman" pitchFamily="18" charset="0"/>
              </a:rPr>
              <a:t>迭代法</a:t>
            </a:r>
            <a:endParaRPr lang="zh-CN" altLang="en-US" sz="3200" u="sng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12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528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3" presetClass="entr" presetSubtype="528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9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7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utoUpdateAnimBg="0"/>
      <p:bldP spid="13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6FDED53-CE2C-4576-8F61-7B619EFC0ABB}" type="slidenum">
              <a:rPr lang="zh-CN" altLang="en-US" b="0"/>
              <a:pPr/>
              <a:t>55</a:t>
            </a:fld>
            <a:endParaRPr lang="en-US" altLang="zh-CN" b="0"/>
          </a:p>
        </p:txBody>
      </p:sp>
      <p:sp>
        <p:nvSpPr>
          <p:cNvPr id="8601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3B06AFA-C56C-4ADC-A61E-57C4CF7C06B6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3.2.2  充分条件1</a:t>
            </a:r>
          </a:p>
        </p:txBody>
      </p:sp>
      <p:graphicFrame>
        <p:nvGraphicFramePr>
          <p:cNvPr id="486403" name="Object 3"/>
          <p:cNvGraphicFramePr>
            <a:graphicFrameLocks noChangeAspect="1"/>
          </p:cNvGraphicFramePr>
          <p:nvPr/>
        </p:nvGraphicFramePr>
        <p:xfrm>
          <a:off x="1295400" y="1938338"/>
          <a:ext cx="5638800" cy="431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0" name="Equation" r:id="rId4" imgW="1683999" imgH="1135449" progId="Equation.3">
                  <p:embed/>
                </p:oleObj>
              </mc:Choice>
              <mc:Fallback>
                <p:oleObj name="Equation" r:id="rId4" imgW="1683999" imgH="113544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38338"/>
                        <a:ext cx="5638800" cy="431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2" name="Rectangle 4"/>
          <p:cNvSpPr>
            <a:spLocks noChangeArrowheads="1"/>
          </p:cNvSpPr>
          <p:nvPr/>
        </p:nvSpPr>
        <p:spPr bwMode="auto">
          <a:xfrm>
            <a:off x="152400" y="1066800"/>
            <a:ext cx="2501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sym typeface="Symbol" pitchFamily="18" charset="2"/>
              </a:rPr>
              <a:t>||</a:t>
            </a:r>
            <a:r>
              <a:rPr lang="en-US" altLang="zh-CN" sz="3200">
                <a:solidFill>
                  <a:srgbClr val="FF0000"/>
                </a:solidFill>
                <a:sym typeface="Symbol" pitchFamily="18" charset="2"/>
              </a:rPr>
              <a:t>M||</a:t>
            </a:r>
            <a:r>
              <a:rPr lang="zh-CN" altLang="en-US" sz="3200">
                <a:solidFill>
                  <a:srgbClr val="FF0000"/>
                </a:solidFill>
                <a:sym typeface="Symbol" pitchFamily="18" charset="2"/>
              </a:rPr>
              <a:t>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&lt;1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86023" name="Object 5"/>
          <p:cNvGraphicFramePr>
            <a:graphicFrameLocks noChangeAspect="1"/>
          </p:cNvGraphicFramePr>
          <p:nvPr/>
        </p:nvGraphicFramePr>
        <p:xfrm>
          <a:off x="2743200" y="838200"/>
          <a:ext cx="6096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1" name="Equation" r:id="rId6" imgW="2400300" imgH="444500" progId="Equation.3">
                  <p:embed/>
                </p:oleObj>
              </mc:Choice>
              <mc:Fallback>
                <p:oleObj name="Equation" r:id="rId6" imgW="24003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838200"/>
                        <a:ext cx="60960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06" name="AutoShape 6"/>
          <p:cNvSpPr>
            <a:spLocks noChangeArrowheads="1"/>
          </p:cNvSpPr>
          <p:nvPr/>
        </p:nvSpPr>
        <p:spPr bwMode="auto">
          <a:xfrm>
            <a:off x="1524000" y="2165350"/>
            <a:ext cx="5791200" cy="533400"/>
          </a:xfrm>
          <a:prstGeom prst="rightArrow">
            <a:avLst>
              <a:gd name="adj1" fmla="val 60713"/>
              <a:gd name="adj2" fmla="val 59513"/>
            </a:avLst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6407" name="Rectangle 7"/>
          <p:cNvSpPr>
            <a:spLocks noChangeArrowheads="1"/>
          </p:cNvSpPr>
          <p:nvPr/>
        </p:nvSpPr>
        <p:spPr bwMode="auto">
          <a:xfrm>
            <a:off x="6553200" y="1676400"/>
            <a:ext cx="5095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latin typeface="Times New Roman" pitchFamily="18" charset="0"/>
                <a:sym typeface="Symbol" pitchFamily="18" charset="2"/>
              </a:rPr>
              <a:t></a:t>
            </a:r>
            <a:endParaRPr lang="zh-CN" altLang="en-US" sz="3600" baseline="-2500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486408" name="AutoShape 8"/>
          <p:cNvSpPr>
            <a:spLocks noChangeArrowheads="1"/>
          </p:cNvSpPr>
          <p:nvPr/>
        </p:nvSpPr>
        <p:spPr bwMode="auto">
          <a:xfrm rot="10800000">
            <a:off x="838200" y="3048000"/>
            <a:ext cx="1395413" cy="533400"/>
          </a:xfrm>
          <a:prstGeom prst="rightArrow">
            <a:avLst>
              <a:gd name="adj1" fmla="val 60120"/>
              <a:gd name="adj2" fmla="val 43759"/>
            </a:avLst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6409" name="Rectangle 9"/>
          <p:cNvSpPr>
            <a:spLocks noChangeArrowheads="1"/>
          </p:cNvSpPr>
          <p:nvPr/>
        </p:nvSpPr>
        <p:spPr bwMode="auto">
          <a:xfrm>
            <a:off x="7239000" y="2057400"/>
            <a:ext cx="600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1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6410" name="Rectangle 10"/>
          <p:cNvSpPr>
            <a:spLocks noChangeArrowheads="1"/>
          </p:cNvSpPr>
          <p:nvPr/>
        </p:nvSpPr>
        <p:spPr bwMode="auto">
          <a:xfrm>
            <a:off x="195263" y="2940050"/>
            <a:ext cx="514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r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2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6411" name="AutoShape 11"/>
          <p:cNvSpPr>
            <a:spLocks noChangeArrowheads="1"/>
          </p:cNvSpPr>
          <p:nvPr/>
        </p:nvSpPr>
        <p:spPr bwMode="auto">
          <a:xfrm rot="10800000">
            <a:off x="814388" y="3886200"/>
            <a:ext cx="2614612" cy="533400"/>
          </a:xfrm>
          <a:prstGeom prst="rightArrow">
            <a:avLst>
              <a:gd name="adj1" fmla="val 60713"/>
              <a:gd name="adj2" fmla="val 57187"/>
            </a:avLst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6412" name="Rectangle 12"/>
          <p:cNvSpPr>
            <a:spLocks noChangeArrowheads="1"/>
          </p:cNvSpPr>
          <p:nvPr/>
        </p:nvSpPr>
        <p:spPr bwMode="auto">
          <a:xfrm>
            <a:off x="171450" y="3810000"/>
            <a:ext cx="514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r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3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6413" name="AutoShape 13"/>
          <p:cNvSpPr>
            <a:spLocks noChangeArrowheads="1"/>
          </p:cNvSpPr>
          <p:nvPr/>
        </p:nvSpPr>
        <p:spPr bwMode="auto">
          <a:xfrm>
            <a:off x="3657600" y="3894138"/>
            <a:ext cx="3733800" cy="533400"/>
          </a:xfrm>
          <a:prstGeom prst="rightArrow">
            <a:avLst>
              <a:gd name="adj1" fmla="val 60713"/>
              <a:gd name="adj2" fmla="val 70843"/>
            </a:avLst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6414" name="Rectangle 14"/>
          <p:cNvSpPr>
            <a:spLocks noChangeArrowheads="1"/>
          </p:cNvSpPr>
          <p:nvPr/>
        </p:nvSpPr>
        <p:spPr bwMode="auto">
          <a:xfrm>
            <a:off x="7315200" y="2895600"/>
            <a:ext cx="600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2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6415" name="Rectangle 15"/>
          <p:cNvSpPr>
            <a:spLocks noChangeArrowheads="1"/>
          </p:cNvSpPr>
          <p:nvPr/>
        </p:nvSpPr>
        <p:spPr bwMode="auto">
          <a:xfrm>
            <a:off x="-76200" y="2057400"/>
            <a:ext cx="10033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r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=0</a:t>
            </a:r>
            <a:endParaRPr lang="zh-CN" altLang="en-US" sz="3600" i="1">
              <a:latin typeface="Times New Roman" pitchFamily="18" charset="0"/>
            </a:endParaRPr>
          </a:p>
        </p:txBody>
      </p:sp>
      <p:sp>
        <p:nvSpPr>
          <p:cNvPr id="486416" name="AutoShape 16"/>
          <p:cNvSpPr>
            <a:spLocks noChangeArrowheads="1"/>
          </p:cNvSpPr>
          <p:nvPr/>
        </p:nvSpPr>
        <p:spPr bwMode="auto">
          <a:xfrm rot="10800000">
            <a:off x="914400" y="2133600"/>
            <a:ext cx="457200" cy="533400"/>
          </a:xfrm>
          <a:prstGeom prst="rightArrow">
            <a:avLst>
              <a:gd name="adj1" fmla="val 60120"/>
              <a:gd name="adj2" fmla="val 38542"/>
            </a:avLst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6417" name="AutoShape 17"/>
          <p:cNvSpPr>
            <a:spLocks noChangeArrowheads="1"/>
          </p:cNvSpPr>
          <p:nvPr/>
        </p:nvSpPr>
        <p:spPr bwMode="auto">
          <a:xfrm>
            <a:off x="2590800" y="3048000"/>
            <a:ext cx="4800600" cy="533400"/>
          </a:xfrm>
          <a:prstGeom prst="rightArrow">
            <a:avLst>
              <a:gd name="adj1" fmla="val 50000"/>
              <a:gd name="adj2" fmla="val 73500"/>
            </a:avLst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6418" name="Rectangle 18"/>
          <p:cNvSpPr>
            <a:spLocks noChangeArrowheads="1"/>
          </p:cNvSpPr>
          <p:nvPr/>
        </p:nvSpPr>
        <p:spPr bwMode="auto">
          <a:xfrm>
            <a:off x="7305675" y="3733800"/>
            <a:ext cx="600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3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6419" name="AutoShape 19"/>
          <p:cNvSpPr>
            <a:spLocks noChangeArrowheads="1"/>
          </p:cNvSpPr>
          <p:nvPr/>
        </p:nvSpPr>
        <p:spPr bwMode="auto">
          <a:xfrm rot="10800000">
            <a:off x="795338" y="5607050"/>
            <a:ext cx="5148262" cy="533400"/>
          </a:xfrm>
          <a:prstGeom prst="rightArrow">
            <a:avLst>
              <a:gd name="adj1" fmla="val 60120"/>
              <a:gd name="adj2" fmla="val 67875"/>
            </a:avLst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6420" name="Rectangle 20"/>
          <p:cNvSpPr>
            <a:spLocks noChangeArrowheads="1"/>
          </p:cNvSpPr>
          <p:nvPr/>
        </p:nvSpPr>
        <p:spPr bwMode="auto">
          <a:xfrm>
            <a:off x="144463" y="5530850"/>
            <a:ext cx="5318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r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n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6421" name="AutoShape 21"/>
          <p:cNvSpPr>
            <a:spLocks noChangeArrowheads="1"/>
          </p:cNvSpPr>
          <p:nvPr/>
        </p:nvSpPr>
        <p:spPr bwMode="auto">
          <a:xfrm>
            <a:off x="6172200" y="5562600"/>
            <a:ext cx="1143000" cy="533400"/>
          </a:xfrm>
          <a:prstGeom prst="rightArrow">
            <a:avLst>
              <a:gd name="adj1" fmla="val 50000"/>
              <a:gd name="adj2" fmla="val 53869"/>
            </a:avLst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6422" name="Rectangle 22"/>
          <p:cNvSpPr>
            <a:spLocks noChangeArrowheads="1"/>
          </p:cNvSpPr>
          <p:nvPr/>
        </p:nvSpPr>
        <p:spPr bwMode="auto">
          <a:xfrm>
            <a:off x="7239000" y="5402263"/>
            <a:ext cx="6175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n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graphicFrame>
        <p:nvGraphicFramePr>
          <p:cNvPr id="486423" name="Object 23"/>
          <p:cNvGraphicFramePr>
            <a:graphicFrameLocks noChangeAspect="1"/>
          </p:cNvGraphicFramePr>
          <p:nvPr/>
        </p:nvGraphicFramePr>
        <p:xfrm>
          <a:off x="8077200" y="1905000"/>
          <a:ext cx="966788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2" name="Equation" r:id="rId8" imgW="380835" imgH="431613" progId="Equation.3">
                  <p:embed/>
                </p:oleObj>
              </mc:Choice>
              <mc:Fallback>
                <p:oleObj name="Equation" r:id="rId8" imgW="380835" imgH="43161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1905000"/>
                        <a:ext cx="966788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24" name="Object 24"/>
          <p:cNvGraphicFramePr>
            <a:graphicFrameLocks noChangeAspect="1"/>
          </p:cNvGraphicFramePr>
          <p:nvPr/>
        </p:nvGraphicFramePr>
        <p:xfrm>
          <a:off x="8137525" y="2819400"/>
          <a:ext cx="998538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3" name="Equation" r:id="rId10" imgW="393529" imgH="431613" progId="Equation.3">
                  <p:embed/>
                </p:oleObj>
              </mc:Choice>
              <mc:Fallback>
                <p:oleObj name="Equation" r:id="rId10" imgW="393529" imgH="431613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7525" y="2819400"/>
                        <a:ext cx="998538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25" name="Object 25"/>
          <p:cNvGraphicFramePr>
            <a:graphicFrameLocks noChangeAspect="1"/>
          </p:cNvGraphicFramePr>
          <p:nvPr/>
        </p:nvGraphicFramePr>
        <p:xfrm>
          <a:off x="8121650" y="5213350"/>
          <a:ext cx="998538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4" name="Equation" r:id="rId12" imgW="393529" imgH="431613" progId="Equation.3">
                  <p:embed/>
                </p:oleObj>
              </mc:Choice>
              <mc:Fallback>
                <p:oleObj name="Equation" r:id="rId12" imgW="393529" imgH="43161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1650" y="5213350"/>
                        <a:ext cx="998538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26" name="Rectangle 26"/>
          <p:cNvSpPr>
            <a:spLocks noChangeArrowheads="1"/>
          </p:cNvSpPr>
          <p:nvPr/>
        </p:nvSpPr>
        <p:spPr bwMode="auto">
          <a:xfrm>
            <a:off x="8001000" y="1828800"/>
            <a:ext cx="990600" cy="4495800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8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8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8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48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8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8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8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48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8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8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8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86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86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6" grpId="0" animBg="1"/>
      <p:bldP spid="486407" grpId="0" autoUpdateAnimBg="0"/>
      <p:bldP spid="486408" grpId="0" animBg="1"/>
      <p:bldP spid="486409" grpId="0" autoUpdateAnimBg="0"/>
      <p:bldP spid="486410" grpId="0" autoUpdateAnimBg="0"/>
      <p:bldP spid="486411" grpId="0" animBg="1"/>
      <p:bldP spid="486412" grpId="0" autoUpdateAnimBg="0"/>
      <p:bldP spid="486413" grpId="0" animBg="1"/>
      <p:bldP spid="486414" grpId="0" autoUpdateAnimBg="0"/>
      <p:bldP spid="486415" grpId="0" autoUpdateAnimBg="0"/>
      <p:bldP spid="486416" grpId="0" animBg="1"/>
      <p:bldP spid="486417" grpId="0" animBg="1"/>
      <p:bldP spid="486418" grpId="0" autoUpdateAnimBg="0"/>
      <p:bldP spid="486419" grpId="0" animBg="1"/>
      <p:bldP spid="486420" grpId="0" autoUpdateAnimBg="0"/>
      <p:bldP spid="486421" grpId="0" animBg="1"/>
      <p:bldP spid="486422" grpId="0" autoUpdateAnimBg="0"/>
      <p:bldP spid="48642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4FDD370A-D0CA-4744-ABA2-ACF1FA31FE06}" type="slidenum">
              <a:rPr lang="zh-CN" altLang="en-US" b="0"/>
              <a:pPr/>
              <a:t>56</a:t>
            </a:fld>
            <a:endParaRPr lang="en-US" altLang="zh-CN" b="0"/>
          </a:p>
        </p:txBody>
      </p:sp>
      <p:sp>
        <p:nvSpPr>
          <p:cNvPr id="8704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C2F90AD-2B86-4D23-9E4D-E20A5BE68E88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3.2.3  充分条件2</a:t>
            </a:r>
          </a:p>
        </p:txBody>
      </p:sp>
      <p:graphicFrame>
        <p:nvGraphicFramePr>
          <p:cNvPr id="487428" name="Object 4"/>
          <p:cNvGraphicFramePr>
            <a:graphicFrameLocks noChangeAspect="1"/>
          </p:cNvGraphicFramePr>
          <p:nvPr/>
        </p:nvGraphicFramePr>
        <p:xfrm>
          <a:off x="2590800" y="835025"/>
          <a:ext cx="650875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62" name="Equation" r:id="rId3" imgW="2997200" imgH="457200" progId="Equation.3">
                  <p:embed/>
                </p:oleObj>
              </mc:Choice>
              <mc:Fallback>
                <p:oleObj name="Equation" r:id="rId3" imgW="29972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835025"/>
                        <a:ext cx="6508750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29" name="Object 5"/>
          <p:cNvGraphicFramePr>
            <a:graphicFrameLocks noChangeAspect="1"/>
          </p:cNvGraphicFramePr>
          <p:nvPr/>
        </p:nvGraphicFramePr>
        <p:xfrm>
          <a:off x="914400" y="2374900"/>
          <a:ext cx="5791200" cy="354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63" name="Equation" r:id="rId5" imgW="1683999" imgH="1135449" progId="Equation.3">
                  <p:embed/>
                </p:oleObj>
              </mc:Choice>
              <mc:Fallback>
                <p:oleObj name="Equation" r:id="rId5" imgW="1683999" imgH="113544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74900"/>
                        <a:ext cx="5791200" cy="354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30" name="AutoShape 6"/>
          <p:cNvSpPr>
            <a:spLocks noChangeArrowheads="1"/>
          </p:cNvSpPr>
          <p:nvPr/>
        </p:nvSpPr>
        <p:spPr bwMode="auto">
          <a:xfrm rot="5400000">
            <a:off x="-82550" y="4302125"/>
            <a:ext cx="2832100" cy="685800"/>
          </a:xfrm>
          <a:prstGeom prst="rightArrow">
            <a:avLst>
              <a:gd name="adj1" fmla="val 60120"/>
              <a:gd name="adj2" fmla="val 34987"/>
            </a:avLst>
          </a:prstGeom>
          <a:noFill/>
          <a:ln w="349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31" name="Rectangle 7"/>
          <p:cNvSpPr>
            <a:spLocks noChangeArrowheads="1"/>
          </p:cNvSpPr>
          <p:nvPr/>
        </p:nvSpPr>
        <p:spPr bwMode="auto">
          <a:xfrm>
            <a:off x="557213" y="5000625"/>
            <a:ext cx="5095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latin typeface="Times New Roman" pitchFamily="18" charset="0"/>
                <a:sym typeface="Symbol" pitchFamily="18" charset="2"/>
              </a:rPr>
              <a:t></a:t>
            </a:r>
            <a:endParaRPr lang="zh-CN" altLang="en-US" sz="3600" baseline="-2500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487432" name="Rectangle 8"/>
          <p:cNvSpPr>
            <a:spLocks noChangeArrowheads="1"/>
          </p:cNvSpPr>
          <p:nvPr/>
        </p:nvSpPr>
        <p:spPr bwMode="auto">
          <a:xfrm>
            <a:off x="1057275" y="6096000"/>
            <a:ext cx="542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i="1">
                <a:latin typeface="Times New Roman" pitchFamily="18" charset="0"/>
                <a:sym typeface="Symbol" pitchFamily="18" charset="2"/>
              </a:rPr>
              <a:t>S</a:t>
            </a:r>
            <a:r>
              <a:rPr lang="en-US" altLang="zh-CN" sz="3200" i="1" baseline="-25000">
                <a:latin typeface="Times New Roman" pitchFamily="18" charset="0"/>
                <a:sym typeface="Symbol" pitchFamily="18" charset="2"/>
              </a:rPr>
              <a:t>1</a:t>
            </a:r>
            <a:endParaRPr lang="zh-CN" altLang="en-US" sz="3200" i="1" baseline="-25000">
              <a:latin typeface="Times New Roman" pitchFamily="18" charset="0"/>
            </a:endParaRPr>
          </a:p>
        </p:txBody>
      </p:sp>
      <p:sp>
        <p:nvSpPr>
          <p:cNvPr id="487433" name="Rectangle 9"/>
          <p:cNvSpPr>
            <a:spLocks noChangeArrowheads="1"/>
          </p:cNvSpPr>
          <p:nvPr/>
        </p:nvSpPr>
        <p:spPr bwMode="auto">
          <a:xfrm>
            <a:off x="1295400" y="1676400"/>
            <a:ext cx="46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1</a:t>
            </a:r>
            <a:endParaRPr lang="zh-CN" altLang="en-US" sz="3600" i="1">
              <a:latin typeface="Times New Roman" pitchFamily="18" charset="0"/>
            </a:endParaRPr>
          </a:p>
        </p:txBody>
      </p:sp>
      <p:sp>
        <p:nvSpPr>
          <p:cNvPr id="487434" name="AutoShape 10"/>
          <p:cNvSpPr>
            <a:spLocks noChangeArrowheads="1"/>
          </p:cNvSpPr>
          <p:nvPr/>
        </p:nvSpPr>
        <p:spPr bwMode="auto">
          <a:xfrm rot="-5400000">
            <a:off x="1020762" y="2239963"/>
            <a:ext cx="625475" cy="685800"/>
          </a:xfrm>
          <a:prstGeom prst="rightArrow">
            <a:avLst>
              <a:gd name="adj1" fmla="val 60120"/>
              <a:gd name="adj2" fmla="val 38542"/>
            </a:avLst>
          </a:prstGeom>
          <a:noFill/>
          <a:ln w="349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35" name="AutoShape 11"/>
          <p:cNvSpPr>
            <a:spLocks noChangeArrowheads="1"/>
          </p:cNvSpPr>
          <p:nvPr/>
        </p:nvSpPr>
        <p:spPr bwMode="auto">
          <a:xfrm rot="-5400000">
            <a:off x="2135187" y="2592388"/>
            <a:ext cx="1139825" cy="685800"/>
          </a:xfrm>
          <a:prstGeom prst="rightArrow">
            <a:avLst>
              <a:gd name="adj1" fmla="val 60120"/>
              <a:gd name="adj2" fmla="val 27801"/>
            </a:avLst>
          </a:prstGeom>
          <a:noFill/>
          <a:ln w="349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36" name="Rectangle 12"/>
          <p:cNvSpPr>
            <a:spLocks noChangeArrowheads="1"/>
          </p:cNvSpPr>
          <p:nvPr/>
        </p:nvSpPr>
        <p:spPr bwMode="auto">
          <a:xfrm>
            <a:off x="2498725" y="1720850"/>
            <a:ext cx="46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2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7437" name="Rectangle 13"/>
          <p:cNvSpPr>
            <a:spLocks noChangeArrowheads="1"/>
          </p:cNvSpPr>
          <p:nvPr/>
        </p:nvSpPr>
        <p:spPr bwMode="auto">
          <a:xfrm>
            <a:off x="2362200" y="6097588"/>
            <a:ext cx="5429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i="1">
                <a:latin typeface="Times New Roman" pitchFamily="18" charset="0"/>
                <a:sym typeface="Symbol" pitchFamily="18" charset="2"/>
              </a:rPr>
              <a:t>S</a:t>
            </a:r>
            <a:r>
              <a:rPr lang="en-US" altLang="zh-CN" sz="3200" i="1" baseline="-25000">
                <a:latin typeface="Times New Roman" pitchFamily="18" charset="0"/>
                <a:sym typeface="Symbol" pitchFamily="18" charset="2"/>
              </a:rPr>
              <a:t>2</a:t>
            </a:r>
            <a:endParaRPr lang="zh-CN" altLang="en-US" sz="3200" i="1" baseline="-25000">
              <a:latin typeface="Times New Roman" pitchFamily="18" charset="0"/>
            </a:endParaRPr>
          </a:p>
        </p:txBody>
      </p:sp>
      <p:sp>
        <p:nvSpPr>
          <p:cNvPr id="487438" name="AutoShape 14"/>
          <p:cNvSpPr>
            <a:spLocks noChangeArrowheads="1"/>
          </p:cNvSpPr>
          <p:nvPr/>
        </p:nvSpPr>
        <p:spPr bwMode="auto">
          <a:xfrm rot="5400000">
            <a:off x="1562893" y="4609307"/>
            <a:ext cx="2284413" cy="685800"/>
          </a:xfrm>
          <a:prstGeom prst="rightArrow">
            <a:avLst>
              <a:gd name="adj1" fmla="val 59528"/>
              <a:gd name="adj2" fmla="val 39571"/>
            </a:avLst>
          </a:prstGeom>
          <a:noFill/>
          <a:ln w="349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39" name="AutoShape 15"/>
          <p:cNvSpPr>
            <a:spLocks noChangeArrowheads="1"/>
          </p:cNvSpPr>
          <p:nvPr/>
        </p:nvSpPr>
        <p:spPr bwMode="auto">
          <a:xfrm rot="-5400000">
            <a:off x="2971800" y="2971800"/>
            <a:ext cx="1752600" cy="685800"/>
          </a:xfrm>
          <a:prstGeom prst="rightArrow">
            <a:avLst>
              <a:gd name="adj1" fmla="val 60713"/>
              <a:gd name="adj2" fmla="val 29815"/>
            </a:avLst>
          </a:prstGeom>
          <a:noFill/>
          <a:ln w="349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40" name="Rectangle 16"/>
          <p:cNvSpPr>
            <a:spLocks noChangeArrowheads="1"/>
          </p:cNvSpPr>
          <p:nvPr/>
        </p:nvSpPr>
        <p:spPr bwMode="auto">
          <a:xfrm>
            <a:off x="3641725" y="1720850"/>
            <a:ext cx="46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3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7441" name="AutoShape 17"/>
          <p:cNvSpPr>
            <a:spLocks noChangeArrowheads="1"/>
          </p:cNvSpPr>
          <p:nvPr/>
        </p:nvSpPr>
        <p:spPr bwMode="auto">
          <a:xfrm rot="5400000">
            <a:off x="3104356" y="4972844"/>
            <a:ext cx="1487488" cy="685800"/>
          </a:xfrm>
          <a:prstGeom prst="rightArrow">
            <a:avLst>
              <a:gd name="adj1" fmla="val 66074"/>
              <a:gd name="adj2" fmla="val 34543"/>
            </a:avLst>
          </a:prstGeom>
          <a:noFill/>
          <a:ln w="349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42" name="Rectangle 18"/>
          <p:cNvSpPr>
            <a:spLocks noChangeArrowheads="1"/>
          </p:cNvSpPr>
          <p:nvPr/>
        </p:nvSpPr>
        <p:spPr bwMode="auto">
          <a:xfrm>
            <a:off x="3533775" y="6126163"/>
            <a:ext cx="5429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i="1">
                <a:latin typeface="Times New Roman" pitchFamily="18" charset="0"/>
                <a:sym typeface="Symbol" pitchFamily="18" charset="2"/>
              </a:rPr>
              <a:t>S</a:t>
            </a:r>
            <a:r>
              <a:rPr lang="en-US" altLang="zh-CN" sz="3200" i="1" baseline="-25000">
                <a:latin typeface="Times New Roman" pitchFamily="18" charset="0"/>
                <a:sym typeface="Symbol" pitchFamily="18" charset="2"/>
              </a:rPr>
              <a:t>3</a:t>
            </a:r>
            <a:endParaRPr lang="zh-CN" altLang="en-US" sz="3200" i="1" baseline="-25000">
              <a:latin typeface="Times New Roman" pitchFamily="18" charset="0"/>
            </a:endParaRPr>
          </a:p>
        </p:txBody>
      </p:sp>
      <p:sp>
        <p:nvSpPr>
          <p:cNvPr id="487443" name="AutoShape 19"/>
          <p:cNvSpPr>
            <a:spLocks noChangeArrowheads="1"/>
          </p:cNvSpPr>
          <p:nvPr/>
        </p:nvSpPr>
        <p:spPr bwMode="auto">
          <a:xfrm rot="-5400000">
            <a:off x="4370387" y="3783013"/>
            <a:ext cx="3375025" cy="685800"/>
          </a:xfrm>
          <a:prstGeom prst="rightArrow">
            <a:avLst>
              <a:gd name="adj1" fmla="val 60120"/>
              <a:gd name="adj2" fmla="val 34609"/>
            </a:avLst>
          </a:prstGeom>
          <a:noFill/>
          <a:ln w="349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44" name="Rectangle 20"/>
          <p:cNvSpPr>
            <a:spLocks noChangeArrowheads="1"/>
          </p:cNvSpPr>
          <p:nvPr/>
        </p:nvSpPr>
        <p:spPr bwMode="auto">
          <a:xfrm>
            <a:off x="5902325" y="1752600"/>
            <a:ext cx="5318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n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7445" name="AutoShape 21"/>
          <p:cNvSpPr>
            <a:spLocks noChangeArrowheads="1"/>
          </p:cNvSpPr>
          <p:nvPr/>
        </p:nvSpPr>
        <p:spPr bwMode="auto">
          <a:xfrm rot="5400000">
            <a:off x="5951537" y="5799138"/>
            <a:ext cx="365125" cy="685800"/>
          </a:xfrm>
          <a:prstGeom prst="rightArrow">
            <a:avLst>
              <a:gd name="adj1" fmla="val 60120"/>
              <a:gd name="adj2" fmla="val 59380"/>
            </a:avLst>
          </a:prstGeom>
          <a:noFill/>
          <a:ln w="349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46" name="Rectangle 22"/>
          <p:cNvSpPr>
            <a:spLocks noChangeArrowheads="1"/>
          </p:cNvSpPr>
          <p:nvPr/>
        </p:nvSpPr>
        <p:spPr bwMode="auto">
          <a:xfrm>
            <a:off x="5821363" y="6126163"/>
            <a:ext cx="557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i="1">
                <a:latin typeface="Times New Roman" pitchFamily="18" charset="0"/>
                <a:sym typeface="Symbol" pitchFamily="18" charset="2"/>
              </a:rPr>
              <a:t>S</a:t>
            </a:r>
            <a:r>
              <a:rPr lang="en-US" altLang="zh-CN" sz="3200" i="1" baseline="-25000">
                <a:latin typeface="Times New Roman" pitchFamily="18" charset="0"/>
                <a:sym typeface="Symbol" pitchFamily="18" charset="2"/>
              </a:rPr>
              <a:t>n</a:t>
            </a:r>
            <a:endParaRPr lang="zh-CN" altLang="en-US" sz="3200" i="1" baseline="-25000">
              <a:latin typeface="Times New Roman" pitchFamily="18" charset="0"/>
            </a:endParaRPr>
          </a:p>
        </p:txBody>
      </p:sp>
      <p:graphicFrame>
        <p:nvGraphicFramePr>
          <p:cNvPr id="487447" name="Object 23"/>
          <p:cNvGraphicFramePr>
            <a:graphicFrameLocks noChangeAspect="1"/>
          </p:cNvGraphicFramePr>
          <p:nvPr/>
        </p:nvGraphicFramePr>
        <p:xfrm>
          <a:off x="6678613" y="3305175"/>
          <a:ext cx="162718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64" name="Equation" r:id="rId7" imgW="748975" imgH="291973" progId="Equation.3">
                  <p:embed/>
                </p:oleObj>
              </mc:Choice>
              <mc:Fallback>
                <p:oleObj name="Equation" r:id="rId7" imgW="748975" imgH="29197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8613" y="3305175"/>
                        <a:ext cx="1627187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48" name="Object 24"/>
          <p:cNvGraphicFramePr>
            <a:graphicFrameLocks noChangeAspect="1"/>
          </p:cNvGraphicFramePr>
          <p:nvPr/>
        </p:nvGraphicFramePr>
        <p:xfrm>
          <a:off x="6705600" y="3886200"/>
          <a:ext cx="2151063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65" name="Equation" r:id="rId9" imgW="990170" imgH="469696" progId="Equation.3">
                  <p:embed/>
                </p:oleObj>
              </mc:Choice>
              <mc:Fallback>
                <p:oleObj name="Equation" r:id="rId9" imgW="990170" imgH="469696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886200"/>
                        <a:ext cx="2151063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6" name="Object 25"/>
          <p:cNvGraphicFramePr>
            <a:graphicFrameLocks noChangeAspect="1"/>
          </p:cNvGraphicFramePr>
          <p:nvPr/>
        </p:nvGraphicFramePr>
        <p:xfrm>
          <a:off x="314325" y="1125538"/>
          <a:ext cx="1809750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66" name="公式" r:id="rId11" imgW="617193" imgH="205797" progId="Equation.3">
                  <p:embed/>
                </p:oleObj>
              </mc:Choice>
              <mc:Fallback>
                <p:oleObj name="公式" r:id="rId11" imgW="617193" imgH="205797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" y="1125538"/>
                        <a:ext cx="1809750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8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8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8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48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8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8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8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8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8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8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8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87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87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87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87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30" grpId="0" animBg="1"/>
      <p:bldP spid="487431" grpId="0" autoUpdateAnimBg="0"/>
      <p:bldP spid="487432" grpId="0" autoUpdateAnimBg="0"/>
      <p:bldP spid="487433" grpId="0" autoUpdateAnimBg="0"/>
      <p:bldP spid="487434" grpId="0" animBg="1"/>
      <p:bldP spid="487435" grpId="0" animBg="1"/>
      <p:bldP spid="487436" grpId="0" autoUpdateAnimBg="0"/>
      <p:bldP spid="487437" grpId="0" autoUpdateAnimBg="0"/>
      <p:bldP spid="487438" grpId="0" animBg="1"/>
      <p:bldP spid="487439" grpId="0" animBg="1"/>
      <p:bldP spid="487440" grpId="0" autoUpdateAnimBg="0"/>
      <p:bldP spid="487441" grpId="0" animBg="1"/>
      <p:bldP spid="487442" grpId="0" autoUpdateAnimBg="0"/>
      <p:bldP spid="487443" grpId="0" animBg="1"/>
      <p:bldP spid="487444" grpId="0" autoUpdateAnimBg="0"/>
      <p:bldP spid="487445" grpId="0" animBg="1"/>
      <p:bldP spid="487446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8CA5395-4515-4A7E-AB4D-D14D41E6A0B3}" type="slidenum">
              <a:rPr lang="zh-CN" altLang="en-US" b="0"/>
              <a:pPr/>
              <a:t>57</a:t>
            </a:fld>
            <a:endParaRPr lang="en-US" altLang="zh-CN" b="0"/>
          </a:p>
        </p:txBody>
      </p:sp>
      <p:sp>
        <p:nvSpPr>
          <p:cNvPr id="8806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59832E4-8669-4BC1-9CA3-104FF5084005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3.2.4  充分条件3</a:t>
            </a:r>
          </a:p>
        </p:txBody>
      </p:sp>
      <p:graphicFrame>
        <p:nvGraphicFramePr>
          <p:cNvPr id="488451" name="Object 3"/>
          <p:cNvGraphicFramePr>
            <a:graphicFrameLocks noChangeAspect="1"/>
          </p:cNvGraphicFramePr>
          <p:nvPr/>
        </p:nvGraphicFramePr>
        <p:xfrm>
          <a:off x="2757488" y="835025"/>
          <a:ext cx="6462712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09" name="Equation" r:id="rId4" imgW="3124200" imgH="457200" progId="Equation.3">
                  <p:embed/>
                </p:oleObj>
              </mc:Choice>
              <mc:Fallback>
                <p:oleObj name="Equation" r:id="rId4" imgW="31242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488" y="835025"/>
                        <a:ext cx="6462712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52" name="Object 4"/>
          <p:cNvGraphicFramePr>
            <a:graphicFrameLocks noChangeAspect="1"/>
          </p:cNvGraphicFramePr>
          <p:nvPr/>
        </p:nvGraphicFramePr>
        <p:xfrm>
          <a:off x="44450" y="2867025"/>
          <a:ext cx="4457700" cy="318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10" name="Equation" r:id="rId6" imgW="1722223" imgH="1272575" progId="Equation.3">
                  <p:embed/>
                </p:oleObj>
              </mc:Choice>
              <mc:Fallback>
                <p:oleObj name="Equation" r:id="rId6" imgW="1722223" imgH="127257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" y="2867025"/>
                        <a:ext cx="4457700" cy="318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8453" name="AutoShape 5"/>
          <p:cNvSpPr>
            <a:spLocks noChangeArrowheads="1"/>
          </p:cNvSpPr>
          <p:nvPr/>
        </p:nvSpPr>
        <p:spPr bwMode="auto">
          <a:xfrm rot="5400000">
            <a:off x="3467100" y="4799013"/>
            <a:ext cx="2438400" cy="381000"/>
          </a:xfrm>
          <a:prstGeom prst="rightArrow">
            <a:avLst>
              <a:gd name="adj1" fmla="val 60120"/>
              <a:gd name="adj2" fmla="val 54222"/>
            </a:avLst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54" name="Rectangle 6"/>
          <p:cNvSpPr>
            <a:spLocks noChangeArrowheads="1"/>
          </p:cNvSpPr>
          <p:nvPr/>
        </p:nvSpPr>
        <p:spPr bwMode="auto">
          <a:xfrm>
            <a:off x="4333875" y="6132513"/>
            <a:ext cx="5429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i="1">
                <a:latin typeface="Times New Roman" pitchFamily="18" charset="0"/>
                <a:sym typeface="Symbol" pitchFamily="18" charset="2"/>
              </a:rPr>
              <a:t>S</a:t>
            </a:r>
            <a:r>
              <a:rPr lang="en-US" altLang="zh-CN" sz="3200" i="1" baseline="-25000">
                <a:latin typeface="Times New Roman" pitchFamily="18" charset="0"/>
                <a:sym typeface="Symbol" pitchFamily="18" charset="2"/>
              </a:rPr>
              <a:t>1</a:t>
            </a:r>
            <a:endParaRPr lang="zh-CN" altLang="en-US" sz="3200" i="1" baseline="-25000">
              <a:latin typeface="Times New Roman" pitchFamily="18" charset="0"/>
            </a:endParaRPr>
          </a:p>
        </p:txBody>
      </p:sp>
      <p:sp>
        <p:nvSpPr>
          <p:cNvPr id="488455" name="Rectangle 7"/>
          <p:cNvSpPr>
            <a:spLocks noChangeArrowheads="1"/>
          </p:cNvSpPr>
          <p:nvPr/>
        </p:nvSpPr>
        <p:spPr bwMode="auto">
          <a:xfrm>
            <a:off x="4270375" y="2370138"/>
            <a:ext cx="46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1</a:t>
            </a:r>
            <a:endParaRPr lang="zh-CN" altLang="en-US" sz="3600" i="1">
              <a:latin typeface="Times New Roman" pitchFamily="18" charset="0"/>
            </a:endParaRPr>
          </a:p>
        </p:txBody>
      </p:sp>
      <p:sp>
        <p:nvSpPr>
          <p:cNvPr id="488456" name="AutoShape 8"/>
          <p:cNvSpPr>
            <a:spLocks noChangeArrowheads="1"/>
          </p:cNvSpPr>
          <p:nvPr/>
        </p:nvSpPr>
        <p:spPr bwMode="auto">
          <a:xfrm rot="-5400000">
            <a:off x="4381500" y="3094038"/>
            <a:ext cx="609600" cy="381000"/>
          </a:xfrm>
          <a:prstGeom prst="rightArrow">
            <a:avLst>
              <a:gd name="adj1" fmla="val 60120"/>
              <a:gd name="adj2" fmla="val 61667"/>
            </a:avLst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57" name="AutoShape 9"/>
          <p:cNvSpPr>
            <a:spLocks noChangeArrowheads="1"/>
          </p:cNvSpPr>
          <p:nvPr/>
        </p:nvSpPr>
        <p:spPr bwMode="auto">
          <a:xfrm rot="-5400000">
            <a:off x="4478337" y="3371851"/>
            <a:ext cx="1298575" cy="412750"/>
          </a:xfrm>
          <a:prstGeom prst="rightArrow">
            <a:avLst>
              <a:gd name="adj1" fmla="val 60120"/>
              <a:gd name="adj2" fmla="val 52625"/>
            </a:avLst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58" name="Rectangle 10"/>
          <p:cNvSpPr>
            <a:spLocks noChangeArrowheads="1"/>
          </p:cNvSpPr>
          <p:nvPr/>
        </p:nvSpPr>
        <p:spPr bwMode="auto">
          <a:xfrm>
            <a:off x="4794250" y="2414588"/>
            <a:ext cx="46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2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8459" name="Rectangle 11"/>
          <p:cNvSpPr>
            <a:spLocks noChangeArrowheads="1"/>
          </p:cNvSpPr>
          <p:nvPr/>
        </p:nvSpPr>
        <p:spPr bwMode="auto">
          <a:xfrm>
            <a:off x="4867275" y="6134100"/>
            <a:ext cx="542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i="1">
                <a:latin typeface="Times New Roman" pitchFamily="18" charset="0"/>
                <a:sym typeface="Symbol" pitchFamily="18" charset="2"/>
              </a:rPr>
              <a:t>S</a:t>
            </a:r>
            <a:r>
              <a:rPr lang="en-US" altLang="zh-CN" sz="3200" i="1" baseline="-25000">
                <a:latin typeface="Times New Roman" pitchFamily="18" charset="0"/>
                <a:sym typeface="Symbol" pitchFamily="18" charset="2"/>
              </a:rPr>
              <a:t>2</a:t>
            </a:r>
            <a:endParaRPr lang="zh-CN" altLang="en-US" sz="3200" i="1" baseline="-25000">
              <a:latin typeface="Times New Roman" pitchFamily="18" charset="0"/>
            </a:endParaRPr>
          </a:p>
        </p:txBody>
      </p:sp>
      <p:sp>
        <p:nvSpPr>
          <p:cNvPr id="488460" name="AutoShape 12"/>
          <p:cNvSpPr>
            <a:spLocks noChangeArrowheads="1"/>
          </p:cNvSpPr>
          <p:nvPr/>
        </p:nvSpPr>
        <p:spPr bwMode="auto">
          <a:xfrm rot="5400000">
            <a:off x="4251325" y="5049838"/>
            <a:ext cx="1752600" cy="412750"/>
          </a:xfrm>
          <a:prstGeom prst="rightArrow">
            <a:avLst>
              <a:gd name="adj1" fmla="val 59528"/>
              <a:gd name="adj2" fmla="val 50443"/>
            </a:avLst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61" name="AutoShape 13"/>
          <p:cNvSpPr>
            <a:spLocks noChangeArrowheads="1"/>
          </p:cNvSpPr>
          <p:nvPr/>
        </p:nvSpPr>
        <p:spPr bwMode="auto">
          <a:xfrm rot="-5400000">
            <a:off x="4710113" y="3651250"/>
            <a:ext cx="1905000" cy="409575"/>
          </a:xfrm>
          <a:prstGeom prst="rightArrow">
            <a:avLst>
              <a:gd name="adj1" fmla="val 60713"/>
              <a:gd name="adj2" fmla="val 54264"/>
            </a:avLst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62" name="Rectangle 14"/>
          <p:cNvSpPr>
            <a:spLocks noChangeArrowheads="1"/>
          </p:cNvSpPr>
          <p:nvPr/>
        </p:nvSpPr>
        <p:spPr bwMode="auto">
          <a:xfrm>
            <a:off x="5330825" y="2414588"/>
            <a:ext cx="46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3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8463" name="AutoShape 15"/>
          <p:cNvSpPr>
            <a:spLocks noChangeArrowheads="1"/>
          </p:cNvSpPr>
          <p:nvPr/>
        </p:nvSpPr>
        <p:spPr bwMode="auto">
          <a:xfrm rot="5400000">
            <a:off x="5076825" y="5341938"/>
            <a:ext cx="1171575" cy="409575"/>
          </a:xfrm>
          <a:prstGeom prst="rightArrow">
            <a:avLst>
              <a:gd name="adj1" fmla="val 66074"/>
              <a:gd name="adj2" fmla="val 45556"/>
            </a:avLst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64" name="Rectangle 16"/>
          <p:cNvSpPr>
            <a:spLocks noChangeArrowheads="1"/>
          </p:cNvSpPr>
          <p:nvPr/>
        </p:nvSpPr>
        <p:spPr bwMode="auto">
          <a:xfrm>
            <a:off x="5410200" y="6162675"/>
            <a:ext cx="542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i="1">
                <a:latin typeface="Times New Roman" pitchFamily="18" charset="0"/>
                <a:sym typeface="Symbol" pitchFamily="18" charset="2"/>
              </a:rPr>
              <a:t>S</a:t>
            </a:r>
            <a:r>
              <a:rPr lang="en-US" altLang="zh-CN" sz="3200" i="1" baseline="-25000">
                <a:latin typeface="Times New Roman" pitchFamily="18" charset="0"/>
                <a:sym typeface="Symbol" pitchFamily="18" charset="2"/>
              </a:rPr>
              <a:t>3</a:t>
            </a:r>
            <a:endParaRPr lang="zh-CN" altLang="en-US" sz="3200" i="1" baseline="-25000">
              <a:latin typeface="Times New Roman" pitchFamily="18" charset="0"/>
            </a:endParaRPr>
          </a:p>
        </p:txBody>
      </p:sp>
      <p:sp>
        <p:nvSpPr>
          <p:cNvPr id="488465" name="AutoShape 17"/>
          <p:cNvSpPr>
            <a:spLocks noChangeArrowheads="1"/>
          </p:cNvSpPr>
          <p:nvPr/>
        </p:nvSpPr>
        <p:spPr bwMode="auto">
          <a:xfrm rot="-5400000">
            <a:off x="5067300" y="4313238"/>
            <a:ext cx="2971800" cy="304800"/>
          </a:xfrm>
          <a:prstGeom prst="rightArrow">
            <a:avLst>
              <a:gd name="adj1" fmla="val 60120"/>
              <a:gd name="adj2" fmla="val 68566"/>
            </a:avLst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66" name="Rectangle 18"/>
          <p:cNvSpPr>
            <a:spLocks noChangeArrowheads="1"/>
          </p:cNvSpPr>
          <p:nvPr/>
        </p:nvSpPr>
        <p:spPr bwMode="auto">
          <a:xfrm>
            <a:off x="6324600" y="2446338"/>
            <a:ext cx="5318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t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n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8467" name="AutoShape 19"/>
          <p:cNvSpPr>
            <a:spLocks noChangeArrowheads="1"/>
          </p:cNvSpPr>
          <p:nvPr/>
        </p:nvSpPr>
        <p:spPr bwMode="auto">
          <a:xfrm rot="5400000">
            <a:off x="6453187" y="6003926"/>
            <a:ext cx="276225" cy="381000"/>
          </a:xfrm>
          <a:prstGeom prst="rightArrow">
            <a:avLst>
              <a:gd name="adj1" fmla="val 60120"/>
              <a:gd name="adj2" fmla="val 59380"/>
            </a:avLst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68" name="Rectangle 20"/>
          <p:cNvSpPr>
            <a:spLocks noChangeArrowheads="1"/>
          </p:cNvSpPr>
          <p:nvPr/>
        </p:nvSpPr>
        <p:spPr bwMode="auto">
          <a:xfrm>
            <a:off x="6376988" y="6162675"/>
            <a:ext cx="5572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i="1">
                <a:latin typeface="Times New Roman" pitchFamily="18" charset="0"/>
                <a:sym typeface="Symbol" pitchFamily="18" charset="2"/>
              </a:rPr>
              <a:t>S</a:t>
            </a:r>
            <a:r>
              <a:rPr lang="en-US" altLang="zh-CN" sz="3200" i="1" baseline="-25000">
                <a:latin typeface="Times New Roman" pitchFamily="18" charset="0"/>
                <a:sym typeface="Symbol" pitchFamily="18" charset="2"/>
              </a:rPr>
              <a:t>n</a:t>
            </a:r>
            <a:endParaRPr lang="zh-CN" altLang="en-US" sz="3200" i="1" baseline="-25000">
              <a:latin typeface="Times New Roman" pitchFamily="18" charset="0"/>
            </a:endParaRPr>
          </a:p>
        </p:txBody>
      </p:sp>
      <p:graphicFrame>
        <p:nvGraphicFramePr>
          <p:cNvPr id="488469" name="Object 21"/>
          <p:cNvGraphicFramePr>
            <a:graphicFrameLocks noChangeAspect="1"/>
          </p:cNvGraphicFramePr>
          <p:nvPr/>
        </p:nvGraphicFramePr>
        <p:xfrm>
          <a:off x="0" y="1557338"/>
          <a:ext cx="2700338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11" name="公式" r:id="rId8" imgW="777214" imgH="487608" progId="Equation.3">
                  <p:embed/>
                </p:oleObj>
              </mc:Choice>
              <mc:Fallback>
                <p:oleObj name="公式" r:id="rId8" imgW="777214" imgH="487608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57338"/>
                        <a:ext cx="2700338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8470" name="Line 22"/>
          <p:cNvSpPr>
            <a:spLocks noChangeShapeType="1"/>
          </p:cNvSpPr>
          <p:nvPr/>
        </p:nvSpPr>
        <p:spPr bwMode="auto">
          <a:xfrm>
            <a:off x="3962400" y="3617913"/>
            <a:ext cx="91440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71" name="Line 23"/>
          <p:cNvSpPr>
            <a:spLocks noChangeShapeType="1"/>
          </p:cNvSpPr>
          <p:nvPr/>
        </p:nvSpPr>
        <p:spPr bwMode="auto">
          <a:xfrm>
            <a:off x="4038600" y="4303713"/>
            <a:ext cx="121920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72" name="Line 24"/>
          <p:cNvSpPr>
            <a:spLocks noChangeShapeType="1"/>
          </p:cNvSpPr>
          <p:nvPr/>
        </p:nvSpPr>
        <p:spPr bwMode="auto">
          <a:xfrm>
            <a:off x="3962400" y="4913313"/>
            <a:ext cx="182880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73" name="Line 25"/>
          <p:cNvSpPr>
            <a:spLocks noChangeShapeType="1"/>
          </p:cNvSpPr>
          <p:nvPr/>
        </p:nvSpPr>
        <p:spPr bwMode="auto">
          <a:xfrm>
            <a:off x="3886200" y="5980113"/>
            <a:ext cx="304800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88474" name="Object 26"/>
          <p:cNvGraphicFramePr>
            <a:graphicFrameLocks noChangeAspect="1"/>
          </p:cNvGraphicFramePr>
          <p:nvPr/>
        </p:nvGraphicFramePr>
        <p:xfrm>
          <a:off x="6983413" y="3541713"/>
          <a:ext cx="162718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12" name="Equation" r:id="rId10" imgW="748975" imgH="291973" progId="Equation.3">
                  <p:embed/>
                </p:oleObj>
              </mc:Choice>
              <mc:Fallback>
                <p:oleObj name="Equation" r:id="rId10" imgW="748975" imgH="291973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13" y="3541713"/>
                        <a:ext cx="1627187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8475" name="Object 27"/>
          <p:cNvGraphicFramePr>
            <a:graphicFrameLocks noChangeAspect="1"/>
          </p:cNvGraphicFramePr>
          <p:nvPr/>
        </p:nvGraphicFramePr>
        <p:xfrm>
          <a:off x="6916738" y="4303713"/>
          <a:ext cx="2151062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13" name="Equation" r:id="rId12" imgW="990170" imgH="469696" progId="Equation.3">
                  <p:embed/>
                </p:oleObj>
              </mc:Choice>
              <mc:Fallback>
                <p:oleObj name="Equation" r:id="rId12" imgW="990170" imgH="469696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738" y="4303713"/>
                        <a:ext cx="2151062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4" name="Object 28"/>
          <p:cNvGraphicFramePr>
            <a:graphicFrameLocks noChangeAspect="1"/>
          </p:cNvGraphicFramePr>
          <p:nvPr/>
        </p:nvGraphicFramePr>
        <p:xfrm>
          <a:off x="196850" y="908050"/>
          <a:ext cx="1919288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14" name="公式" r:id="rId14" imgW="655416" imgH="205797" progId="Equation.3">
                  <p:embed/>
                </p:oleObj>
              </mc:Choice>
              <mc:Fallback>
                <p:oleObj name="公式" r:id="rId14" imgW="655416" imgH="205797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" y="908050"/>
                        <a:ext cx="1919288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8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8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48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48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88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88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48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1" dur="500"/>
                                        <p:tgtEl>
                                          <p:spTgt spid="48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8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88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88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6" dur="500"/>
                                        <p:tgtEl>
                                          <p:spTgt spid="48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8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5" dur="500"/>
                                        <p:tgtEl>
                                          <p:spTgt spid="48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8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88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88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0" dur="500"/>
                                        <p:tgtEl>
                                          <p:spTgt spid="48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8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9" dur="500"/>
                                        <p:tgtEl>
                                          <p:spTgt spid="48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8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8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8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3" grpId="0" animBg="1"/>
      <p:bldP spid="488454" grpId="0" autoUpdateAnimBg="0"/>
      <p:bldP spid="488455" grpId="0" autoUpdateAnimBg="0"/>
      <p:bldP spid="488456" grpId="0" animBg="1"/>
      <p:bldP spid="488457" grpId="0" animBg="1"/>
      <p:bldP spid="488458" grpId="0" autoUpdateAnimBg="0"/>
      <p:bldP spid="488459" grpId="0" autoUpdateAnimBg="0"/>
      <p:bldP spid="488460" grpId="0" animBg="1"/>
      <p:bldP spid="488461" grpId="0" animBg="1"/>
      <p:bldP spid="488462" grpId="0" autoUpdateAnimBg="0"/>
      <p:bldP spid="488463" grpId="0" animBg="1"/>
      <p:bldP spid="488464" grpId="0" autoUpdateAnimBg="0"/>
      <p:bldP spid="488465" grpId="0" animBg="1"/>
      <p:bldP spid="488466" grpId="0" autoUpdateAnimBg="0"/>
      <p:bldP spid="488467" grpId="0" animBg="1"/>
      <p:bldP spid="488468" grpId="0" autoUpdateAnimBg="0"/>
      <p:bldP spid="488470" grpId="0" animBg="1"/>
      <p:bldP spid="488471" grpId="0" animBg="1"/>
      <p:bldP spid="488472" grpId="0" animBg="1"/>
      <p:bldP spid="48847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45F6D28C-AE97-4169-B8AB-79DE36DCAFD9}" type="slidenum">
              <a:rPr lang="zh-CN" altLang="en-US" b="0"/>
              <a:pPr/>
              <a:t>58</a:t>
            </a:fld>
            <a:endParaRPr lang="en-US" altLang="zh-CN" b="0"/>
          </a:p>
        </p:txBody>
      </p:sp>
      <p:sp>
        <p:nvSpPr>
          <p:cNvPr id="8909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C2E47AF-5ECA-4931-9ADF-66D0FEB5D3DE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§3.2 赛德尔迭代法的收敛条件</a:t>
            </a:r>
          </a:p>
        </p:txBody>
      </p:sp>
      <p:graphicFrame>
        <p:nvGraphicFramePr>
          <p:cNvPr id="89093" name="Object 3"/>
          <p:cNvGraphicFramePr>
            <a:graphicFrameLocks noChangeAspect="1"/>
          </p:cNvGraphicFramePr>
          <p:nvPr/>
        </p:nvGraphicFramePr>
        <p:xfrm>
          <a:off x="2079625" y="1143000"/>
          <a:ext cx="266541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4" name="Equation" r:id="rId3" imgW="891453" imgH="167575" progId="Equation.DSMT4">
                  <p:embed/>
                </p:oleObj>
              </mc:Choice>
              <mc:Fallback>
                <p:oleObj name="Equation" r:id="rId3" imgW="891453" imgH="16757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1143000"/>
                        <a:ext cx="266541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7ED2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452" name="Object 4"/>
          <p:cNvGraphicFramePr>
            <a:graphicFrameLocks noChangeAspect="1"/>
          </p:cNvGraphicFramePr>
          <p:nvPr/>
        </p:nvGraphicFramePr>
        <p:xfrm>
          <a:off x="4716463" y="1143000"/>
          <a:ext cx="4427537" cy="313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5" name="Equation" r:id="rId5" imgW="1806012" imgH="1417259" progId="Equation.3">
                  <p:embed/>
                </p:oleObj>
              </mc:Choice>
              <mc:Fallback>
                <p:oleObj name="Equation" r:id="rId5" imgW="1806012" imgH="141725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143000"/>
                        <a:ext cx="4427537" cy="313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5" name="Object 5"/>
          <p:cNvGraphicFramePr>
            <a:graphicFrameLocks noChangeAspect="1"/>
          </p:cNvGraphicFramePr>
          <p:nvPr/>
        </p:nvGraphicFramePr>
        <p:xfrm>
          <a:off x="703263" y="4419600"/>
          <a:ext cx="2884487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6" name="Equation" r:id="rId7" imgW="1607768" imgH="929651" progId="Equation.3">
                  <p:embed/>
                </p:oleObj>
              </mc:Choice>
              <mc:Fallback>
                <p:oleObj name="Equation" r:id="rId7" imgW="1607768" imgH="92965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3" y="4419600"/>
                        <a:ext cx="2884487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6" name="Object 6"/>
          <p:cNvGraphicFramePr>
            <a:graphicFrameLocks noChangeAspect="1"/>
          </p:cNvGraphicFramePr>
          <p:nvPr/>
        </p:nvGraphicFramePr>
        <p:xfrm>
          <a:off x="492125" y="1524000"/>
          <a:ext cx="3587750" cy="268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7" name="Equation" r:id="rId9" imgW="1920251" imgH="1158339" progId="Equation.3">
                  <p:embed/>
                </p:oleObj>
              </mc:Choice>
              <mc:Fallback>
                <p:oleObj name="Equation" r:id="rId9" imgW="1920251" imgH="115833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" y="1524000"/>
                        <a:ext cx="3587750" cy="268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7" name="Object 8"/>
          <p:cNvGraphicFramePr>
            <a:graphicFrameLocks noChangeAspect="1"/>
          </p:cNvGraphicFramePr>
          <p:nvPr/>
        </p:nvGraphicFramePr>
        <p:xfrm>
          <a:off x="3708400" y="4292600"/>
          <a:ext cx="3600450" cy="232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8" name="公式" r:id="rId11" imgW="1790700" imgH="1155700" progId="Equation.3">
                  <p:embed/>
                </p:oleObj>
              </mc:Choice>
              <mc:Fallback>
                <p:oleObj name="公式" r:id="rId11" imgW="1790700" imgH="1155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292600"/>
                        <a:ext cx="3600450" cy="232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6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6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362E774-DBD0-4EF6-86E8-FCEF5D6DB4CC}" type="slidenum">
              <a:rPr lang="zh-CN" altLang="en-US" b="0"/>
              <a:pPr/>
              <a:t>59</a:t>
            </a:fld>
            <a:endParaRPr lang="en-US" altLang="zh-CN" b="0"/>
          </a:p>
        </p:txBody>
      </p:sp>
      <p:sp>
        <p:nvSpPr>
          <p:cNvPr id="9011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FD6826E-44D2-44D2-8AD2-0436EF201EB9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§3.2 赛德尔迭代法的收敛条件</a:t>
            </a:r>
          </a:p>
        </p:txBody>
      </p:sp>
      <p:graphicFrame>
        <p:nvGraphicFramePr>
          <p:cNvPr id="90117" name="Object 3"/>
          <p:cNvGraphicFramePr>
            <a:graphicFrameLocks noChangeAspect="1"/>
          </p:cNvGraphicFramePr>
          <p:nvPr/>
        </p:nvGraphicFramePr>
        <p:xfrm>
          <a:off x="1195388" y="762000"/>
          <a:ext cx="6634162" cy="177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13" name="Equation" r:id="rId3" imgW="2755900" imgH="711200" progId="Equation.DSMT4">
                  <p:embed/>
                </p:oleObj>
              </mc:Choice>
              <mc:Fallback>
                <p:oleObj name="Equation" r:id="rId3" imgW="27559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388" y="762000"/>
                        <a:ext cx="6634162" cy="177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8" name="Object 4"/>
          <p:cNvGraphicFramePr>
            <a:graphicFrameLocks noChangeAspect="1"/>
          </p:cNvGraphicFramePr>
          <p:nvPr/>
        </p:nvGraphicFramePr>
        <p:xfrm>
          <a:off x="6037263" y="2209800"/>
          <a:ext cx="3106737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14" name="Equation" r:id="rId5" imgW="1806012" imgH="1417259" progId="Equation.3">
                  <p:embed/>
                </p:oleObj>
              </mc:Choice>
              <mc:Fallback>
                <p:oleObj name="Equation" r:id="rId5" imgW="1806012" imgH="14172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7263" y="2209800"/>
                        <a:ext cx="3106737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9" name="Object 5"/>
          <p:cNvGraphicFramePr>
            <a:graphicFrameLocks noChangeAspect="1"/>
          </p:cNvGraphicFramePr>
          <p:nvPr/>
        </p:nvGraphicFramePr>
        <p:xfrm>
          <a:off x="0" y="2438400"/>
          <a:ext cx="3095625" cy="257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15" name="Equation" r:id="rId7" imgW="1920251" imgH="1158339" progId="Equation.3">
                  <p:embed/>
                </p:oleObj>
              </mc:Choice>
              <mc:Fallback>
                <p:oleObj name="Equation" r:id="rId7" imgW="1920251" imgH="11583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438400"/>
                        <a:ext cx="3095625" cy="257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479" name="Object 7"/>
          <p:cNvGraphicFramePr>
            <a:graphicFrameLocks noChangeAspect="1"/>
          </p:cNvGraphicFramePr>
          <p:nvPr/>
        </p:nvGraphicFramePr>
        <p:xfrm>
          <a:off x="3132138" y="4419600"/>
          <a:ext cx="5678487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16" name="Equation" r:id="rId9" imgW="2126054" imgH="929651" progId="Equation.DSMT4">
                  <p:embed/>
                </p:oleObj>
              </mc:Choice>
              <mc:Fallback>
                <p:oleObj name="Equation" r:id="rId9" imgW="2126054" imgH="92965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419600"/>
                        <a:ext cx="5678487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1" name="Object 8"/>
          <p:cNvGraphicFramePr>
            <a:graphicFrameLocks noChangeAspect="1"/>
          </p:cNvGraphicFramePr>
          <p:nvPr/>
        </p:nvGraphicFramePr>
        <p:xfrm>
          <a:off x="3132138" y="2492375"/>
          <a:ext cx="3024187" cy="232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17" name="公式" r:id="rId11" imgW="1790700" imgH="1155700" progId="Equation.3">
                  <p:embed/>
                </p:oleObj>
              </mc:Choice>
              <mc:Fallback>
                <p:oleObj name="公式" r:id="rId11" imgW="1790700" imgH="1155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492375"/>
                        <a:ext cx="3024187" cy="232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049652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7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4AC3E092-FCE8-4F38-9B15-D63ACBDD15ED}" type="slidenum">
              <a:rPr lang="zh-CN" altLang="en-US" b="0"/>
              <a:pPr/>
              <a:t>60</a:t>
            </a:fld>
            <a:endParaRPr lang="en-US" altLang="zh-CN" b="0"/>
          </a:p>
        </p:txBody>
      </p:sp>
      <p:sp>
        <p:nvSpPr>
          <p:cNvPr id="9216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D5C3072-FEFF-4E19-9B03-9ABA378BE794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921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75207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3200" dirty="0" smtClean="0"/>
              <a:t>X</a:t>
            </a:r>
            <a:r>
              <a:rPr lang="en-US" altLang="zh-CN" sz="3200" baseline="30000" dirty="0" smtClean="0"/>
              <a:t>(k+1)</a:t>
            </a:r>
            <a:r>
              <a:rPr lang="zh-CN" altLang="en-US" sz="3200" dirty="0" smtClean="0"/>
              <a:t>=-</a:t>
            </a:r>
            <a:r>
              <a:rPr lang="en-US" altLang="zh-CN" sz="3200" dirty="0" smtClean="0"/>
              <a:t>D</a:t>
            </a:r>
            <a:r>
              <a:rPr lang="en-US" altLang="zh-CN" sz="3200" baseline="30000" dirty="0" smtClean="0"/>
              <a:t>-1</a:t>
            </a:r>
            <a:r>
              <a:rPr lang="en-US" altLang="zh-CN" sz="3200" dirty="0" smtClean="0"/>
              <a:t>LX</a:t>
            </a:r>
            <a:r>
              <a:rPr lang="en-US" altLang="zh-CN" sz="3200" baseline="30000" dirty="0" smtClean="0"/>
              <a:t>(k+1)</a:t>
            </a:r>
            <a:r>
              <a:rPr lang="zh-CN" altLang="en-US" sz="3200" dirty="0" smtClean="0"/>
              <a:t>-</a:t>
            </a:r>
            <a:r>
              <a:rPr lang="en-US" altLang="zh-CN" sz="3200" dirty="0" smtClean="0"/>
              <a:t>D</a:t>
            </a:r>
            <a:r>
              <a:rPr lang="en-US" altLang="zh-CN" sz="3200" baseline="30000" dirty="0" smtClean="0"/>
              <a:t>-1</a:t>
            </a:r>
            <a:r>
              <a:rPr lang="en-US" altLang="zh-CN" sz="3200" dirty="0" smtClean="0"/>
              <a:t>UX</a:t>
            </a:r>
            <a:r>
              <a:rPr lang="en-US" altLang="zh-CN" sz="3200" baseline="30000" dirty="0" smtClean="0"/>
              <a:t>(k)</a:t>
            </a:r>
            <a:r>
              <a:rPr lang="en-US" altLang="zh-CN" sz="3200" dirty="0" smtClean="0"/>
              <a:t> +D</a:t>
            </a:r>
            <a:r>
              <a:rPr lang="en-US" altLang="zh-CN" sz="3200" baseline="30000" dirty="0" smtClean="0"/>
              <a:t>-1</a:t>
            </a:r>
            <a:r>
              <a:rPr lang="en-US" altLang="zh-CN" sz="3200" dirty="0" smtClean="0"/>
              <a:t>B</a:t>
            </a:r>
            <a:endParaRPr lang="zh-CN" altLang="en-US" sz="3200" dirty="0" smtClean="0"/>
          </a:p>
          <a:p>
            <a:pPr>
              <a:buFont typeface="Wingdings" pitchFamily="2" charset="2"/>
              <a:buNone/>
            </a:pPr>
            <a:r>
              <a:rPr lang="zh-CN" altLang="en-US" sz="3200" dirty="0" smtClean="0">
                <a:solidFill>
                  <a:srgbClr val="0000FF"/>
                </a:solidFill>
              </a:rPr>
              <a:t>(</a:t>
            </a:r>
            <a:r>
              <a:rPr lang="en-US" altLang="zh-CN" sz="3200" dirty="0" smtClean="0">
                <a:solidFill>
                  <a:srgbClr val="0000FF"/>
                </a:solidFill>
              </a:rPr>
              <a:t>I+D</a:t>
            </a:r>
            <a:r>
              <a:rPr lang="en-US" altLang="zh-CN" sz="3200" baseline="30000" dirty="0" smtClean="0">
                <a:solidFill>
                  <a:srgbClr val="0000FF"/>
                </a:solidFill>
              </a:rPr>
              <a:t>-1</a:t>
            </a:r>
            <a:r>
              <a:rPr lang="en-US" altLang="zh-CN" sz="3200" dirty="0" smtClean="0">
                <a:solidFill>
                  <a:srgbClr val="0000FF"/>
                </a:solidFill>
              </a:rPr>
              <a:t>L)</a:t>
            </a:r>
            <a:r>
              <a:rPr lang="en-US" altLang="zh-CN" sz="3200" dirty="0" smtClean="0"/>
              <a:t>X</a:t>
            </a:r>
            <a:r>
              <a:rPr lang="en-US" altLang="zh-CN" sz="3200" baseline="30000" dirty="0" smtClean="0"/>
              <a:t>(k+1)</a:t>
            </a:r>
            <a:r>
              <a:rPr lang="en-US" altLang="zh-CN" sz="3200" dirty="0" smtClean="0"/>
              <a:t>= </a:t>
            </a:r>
            <a:r>
              <a:rPr lang="zh-CN" altLang="en-US" sz="3200" dirty="0" smtClean="0"/>
              <a:t>-</a:t>
            </a:r>
            <a:r>
              <a:rPr lang="en-US" altLang="zh-CN" sz="3200" dirty="0" smtClean="0"/>
              <a:t>D</a:t>
            </a:r>
            <a:r>
              <a:rPr lang="en-US" altLang="zh-CN" sz="3200" baseline="30000" dirty="0" smtClean="0"/>
              <a:t>-1</a:t>
            </a:r>
            <a:r>
              <a:rPr lang="en-US" altLang="zh-CN" sz="3200" dirty="0" smtClean="0"/>
              <a:t>UX</a:t>
            </a:r>
            <a:r>
              <a:rPr lang="en-US" altLang="zh-CN" sz="3200" baseline="30000" dirty="0" smtClean="0"/>
              <a:t>(k)</a:t>
            </a:r>
            <a:r>
              <a:rPr lang="en-US" altLang="zh-CN" sz="3200" dirty="0" smtClean="0"/>
              <a:t>+D</a:t>
            </a:r>
            <a:r>
              <a:rPr lang="en-US" altLang="zh-CN" sz="3200" baseline="30000" dirty="0" smtClean="0"/>
              <a:t>-1</a:t>
            </a:r>
            <a:r>
              <a:rPr lang="en-US" altLang="zh-CN" sz="3200" dirty="0" smtClean="0"/>
              <a:t>B</a:t>
            </a:r>
          </a:p>
          <a:p>
            <a:pPr>
              <a:buFont typeface="Wingdings" pitchFamily="2" charset="2"/>
              <a:buNone/>
            </a:pPr>
            <a:r>
              <a:rPr lang="zh-CN" altLang="en-US" sz="3200" dirty="0" smtClean="0">
                <a:latin typeface="宋体" pitchFamily="2" charset="-122"/>
              </a:rPr>
              <a:t>两边同乘以</a:t>
            </a:r>
            <a:r>
              <a:rPr lang="zh-CN" altLang="en-US" sz="3200" dirty="0" smtClean="0"/>
              <a:t>(</a:t>
            </a:r>
            <a:r>
              <a:rPr lang="en-US" altLang="zh-CN" sz="3200" dirty="0" smtClean="0"/>
              <a:t>I+D</a:t>
            </a:r>
            <a:r>
              <a:rPr lang="en-US" altLang="zh-CN" sz="3200" baseline="30000" dirty="0" smtClean="0"/>
              <a:t>-1</a:t>
            </a:r>
            <a:r>
              <a:rPr lang="en-US" altLang="zh-CN" sz="3200" dirty="0" smtClean="0"/>
              <a:t>L)</a:t>
            </a:r>
            <a:r>
              <a:rPr lang="en-US" altLang="zh-CN" sz="3200" baseline="30000" dirty="0" smtClean="0"/>
              <a:t>-1</a:t>
            </a:r>
            <a:endParaRPr lang="en-US" altLang="zh-CN" sz="3200" dirty="0" smtClean="0"/>
          </a:p>
          <a:p>
            <a:pPr>
              <a:buFont typeface="Wingdings" pitchFamily="2" charset="2"/>
              <a:buNone/>
            </a:pPr>
            <a:r>
              <a:rPr lang="en-US" altLang="zh-CN" sz="3200" dirty="0" smtClean="0"/>
              <a:t>X</a:t>
            </a:r>
            <a:r>
              <a:rPr lang="en-US" altLang="zh-CN" sz="3200" baseline="30000" dirty="0" smtClean="0"/>
              <a:t>(k+1)</a:t>
            </a:r>
            <a:r>
              <a:rPr lang="en-US" altLang="zh-CN" sz="3200" dirty="0" smtClean="0"/>
              <a:t>=-</a:t>
            </a:r>
            <a:r>
              <a:rPr lang="zh-CN" altLang="en-US" sz="3200" dirty="0" smtClean="0">
                <a:solidFill>
                  <a:srgbClr val="0000FF"/>
                </a:solidFill>
              </a:rPr>
              <a:t>(</a:t>
            </a:r>
            <a:r>
              <a:rPr lang="en-US" altLang="zh-CN" sz="3200" dirty="0" smtClean="0">
                <a:solidFill>
                  <a:srgbClr val="0000FF"/>
                </a:solidFill>
              </a:rPr>
              <a:t>I+D</a:t>
            </a:r>
            <a:r>
              <a:rPr lang="en-US" altLang="zh-CN" sz="3200" baseline="30000" dirty="0" smtClean="0">
                <a:solidFill>
                  <a:srgbClr val="0000FF"/>
                </a:solidFill>
              </a:rPr>
              <a:t>-1</a:t>
            </a:r>
            <a:r>
              <a:rPr lang="en-US" altLang="zh-CN" sz="3200" dirty="0" smtClean="0">
                <a:solidFill>
                  <a:srgbClr val="0000FF"/>
                </a:solidFill>
              </a:rPr>
              <a:t>L)</a:t>
            </a:r>
            <a:r>
              <a:rPr lang="en-US" altLang="zh-CN" sz="3200" baseline="30000" dirty="0" smtClean="0">
                <a:solidFill>
                  <a:srgbClr val="0000FF"/>
                </a:solidFill>
              </a:rPr>
              <a:t>-1</a:t>
            </a:r>
            <a:r>
              <a:rPr lang="en-US" altLang="zh-CN" sz="3200" baseline="30000" dirty="0" smtClean="0"/>
              <a:t> </a:t>
            </a:r>
            <a:r>
              <a:rPr lang="en-US" altLang="zh-CN" sz="3200" dirty="0" smtClean="0">
                <a:solidFill>
                  <a:srgbClr val="FF3300"/>
                </a:solidFill>
              </a:rPr>
              <a:t>D</a:t>
            </a:r>
            <a:r>
              <a:rPr lang="en-US" altLang="zh-CN" sz="3200" baseline="30000" dirty="0" smtClean="0">
                <a:solidFill>
                  <a:srgbClr val="FF3300"/>
                </a:solidFill>
              </a:rPr>
              <a:t>-1</a:t>
            </a:r>
            <a:r>
              <a:rPr lang="en-US" altLang="zh-CN" sz="3200" dirty="0" smtClean="0"/>
              <a:t>UX</a:t>
            </a:r>
            <a:r>
              <a:rPr lang="en-US" altLang="zh-CN" sz="3200" baseline="30000" dirty="0" smtClean="0"/>
              <a:t>(k)</a:t>
            </a:r>
            <a:r>
              <a:rPr lang="en-US" altLang="zh-CN" sz="3200" dirty="0" smtClean="0"/>
              <a:t>+ </a:t>
            </a:r>
            <a:r>
              <a:rPr lang="zh-CN" altLang="en-US" sz="3200" dirty="0" smtClean="0">
                <a:solidFill>
                  <a:srgbClr val="0000FF"/>
                </a:solidFill>
              </a:rPr>
              <a:t>(</a:t>
            </a:r>
            <a:r>
              <a:rPr lang="en-US" altLang="zh-CN" sz="3200" dirty="0" smtClean="0">
                <a:solidFill>
                  <a:srgbClr val="0000FF"/>
                </a:solidFill>
              </a:rPr>
              <a:t>I+D</a:t>
            </a:r>
            <a:r>
              <a:rPr lang="en-US" altLang="zh-CN" sz="3200" baseline="30000" dirty="0" smtClean="0">
                <a:solidFill>
                  <a:srgbClr val="0000FF"/>
                </a:solidFill>
              </a:rPr>
              <a:t>-1</a:t>
            </a:r>
            <a:r>
              <a:rPr lang="en-US" altLang="zh-CN" sz="3200" dirty="0" smtClean="0">
                <a:solidFill>
                  <a:srgbClr val="0000FF"/>
                </a:solidFill>
              </a:rPr>
              <a:t>L)</a:t>
            </a:r>
            <a:r>
              <a:rPr lang="en-US" altLang="zh-CN" sz="3200" baseline="30000" dirty="0" smtClean="0">
                <a:solidFill>
                  <a:srgbClr val="0000FF"/>
                </a:solidFill>
              </a:rPr>
              <a:t>-1</a:t>
            </a:r>
            <a:r>
              <a:rPr lang="en-US" altLang="zh-CN" sz="3200" baseline="30000" dirty="0" smtClean="0"/>
              <a:t> </a:t>
            </a:r>
            <a:r>
              <a:rPr lang="en-US" altLang="zh-CN" sz="3200" dirty="0" smtClean="0"/>
              <a:t>D</a:t>
            </a:r>
            <a:r>
              <a:rPr lang="en-US" altLang="zh-CN" sz="3200" baseline="30000" dirty="0" smtClean="0"/>
              <a:t>-1</a:t>
            </a:r>
            <a:r>
              <a:rPr lang="en-US" altLang="zh-CN" sz="3200" dirty="0" smtClean="0"/>
              <a:t>B</a:t>
            </a:r>
          </a:p>
          <a:p>
            <a:pPr>
              <a:buFont typeface="Wingdings" pitchFamily="2" charset="2"/>
              <a:buNone/>
            </a:pPr>
            <a:r>
              <a:rPr lang="en-US" altLang="zh-CN" sz="3200" dirty="0" smtClean="0"/>
              <a:t>         =</a:t>
            </a:r>
            <a:r>
              <a:rPr lang="en-US" altLang="zh-CN" sz="3200" dirty="0" smtClean="0">
                <a:solidFill>
                  <a:srgbClr val="FF3300"/>
                </a:solidFill>
              </a:rPr>
              <a:t>-[D </a:t>
            </a:r>
            <a:r>
              <a:rPr lang="zh-CN" altLang="en-US" sz="3200" dirty="0" smtClean="0">
                <a:solidFill>
                  <a:srgbClr val="FF3300"/>
                </a:solidFill>
              </a:rPr>
              <a:t>(</a:t>
            </a:r>
            <a:r>
              <a:rPr lang="en-US" altLang="zh-CN" sz="3200" dirty="0" smtClean="0">
                <a:solidFill>
                  <a:srgbClr val="FF3300"/>
                </a:solidFill>
              </a:rPr>
              <a:t>I+D</a:t>
            </a:r>
            <a:r>
              <a:rPr lang="en-US" altLang="zh-CN" sz="3200" baseline="30000" dirty="0" smtClean="0">
                <a:solidFill>
                  <a:srgbClr val="FF3300"/>
                </a:solidFill>
              </a:rPr>
              <a:t>-1</a:t>
            </a:r>
            <a:r>
              <a:rPr lang="en-US" altLang="zh-CN" sz="3200" dirty="0" smtClean="0">
                <a:solidFill>
                  <a:srgbClr val="FF3300"/>
                </a:solidFill>
              </a:rPr>
              <a:t>L)]</a:t>
            </a:r>
            <a:r>
              <a:rPr lang="en-US" altLang="zh-CN" sz="3200" baseline="30000" dirty="0" smtClean="0">
                <a:solidFill>
                  <a:srgbClr val="FF3300"/>
                </a:solidFill>
              </a:rPr>
              <a:t>-1</a:t>
            </a:r>
            <a:r>
              <a:rPr lang="en-US" altLang="zh-CN" sz="3200" dirty="0" smtClean="0"/>
              <a:t>UX</a:t>
            </a:r>
            <a:r>
              <a:rPr lang="en-US" altLang="zh-CN" sz="3200" baseline="30000" dirty="0" smtClean="0"/>
              <a:t>(k)</a:t>
            </a:r>
            <a:r>
              <a:rPr lang="en-US" altLang="zh-CN" sz="3200" dirty="0" smtClean="0"/>
              <a:t>+ </a:t>
            </a:r>
            <a:r>
              <a:rPr lang="en-US" altLang="zh-CN" sz="3200" dirty="0" smtClean="0">
                <a:ea typeface="楷体_GB2312" pitchFamily="1" charset="-122"/>
              </a:rPr>
              <a:t>[D (I+D</a:t>
            </a:r>
            <a:r>
              <a:rPr lang="en-US" altLang="zh-CN" sz="3200" baseline="30000" dirty="0" smtClean="0">
                <a:ea typeface="楷体_GB2312" pitchFamily="1" charset="-122"/>
              </a:rPr>
              <a:t>-1</a:t>
            </a:r>
            <a:r>
              <a:rPr lang="en-US" altLang="zh-CN" sz="3200" dirty="0" smtClean="0">
                <a:ea typeface="楷体_GB2312" pitchFamily="1" charset="-122"/>
              </a:rPr>
              <a:t>L)]</a:t>
            </a:r>
            <a:r>
              <a:rPr lang="en-US" altLang="zh-CN" sz="3200" baseline="30000" dirty="0" smtClean="0">
                <a:ea typeface="楷体_GB2312" pitchFamily="1" charset="-122"/>
              </a:rPr>
              <a:t>-1 </a:t>
            </a:r>
            <a:r>
              <a:rPr lang="en-US" altLang="zh-CN" sz="3200" dirty="0" smtClean="0"/>
              <a:t>B</a:t>
            </a:r>
          </a:p>
          <a:p>
            <a:pPr>
              <a:buFont typeface="Wingdings" pitchFamily="2" charset="2"/>
              <a:buNone/>
            </a:pPr>
            <a:r>
              <a:rPr lang="en-US" altLang="zh-CN" sz="3200" dirty="0" smtClean="0"/>
              <a:t>         =</a:t>
            </a:r>
            <a:r>
              <a:rPr lang="en-US" altLang="zh-CN" sz="3200" dirty="0" smtClean="0">
                <a:solidFill>
                  <a:srgbClr val="FF0000"/>
                </a:solidFill>
              </a:rPr>
              <a:t>-</a:t>
            </a:r>
            <a:r>
              <a:rPr lang="en-US" altLang="zh-CN" sz="3200" dirty="0" smtClean="0">
                <a:solidFill>
                  <a:srgbClr val="FF3300"/>
                </a:solidFill>
              </a:rPr>
              <a:t>(D+L)</a:t>
            </a:r>
            <a:r>
              <a:rPr lang="en-US" altLang="zh-CN" sz="3200" baseline="30000" dirty="0" smtClean="0">
                <a:solidFill>
                  <a:srgbClr val="FF3300"/>
                </a:solidFill>
              </a:rPr>
              <a:t>-1</a:t>
            </a:r>
            <a:r>
              <a:rPr lang="en-US" altLang="zh-CN" sz="3200" dirty="0" smtClean="0"/>
              <a:t>UX</a:t>
            </a:r>
            <a:r>
              <a:rPr lang="en-US" altLang="zh-CN" sz="3200" baseline="30000" dirty="0" smtClean="0"/>
              <a:t>(k)</a:t>
            </a:r>
            <a:r>
              <a:rPr lang="en-US" altLang="zh-CN" sz="3200" dirty="0" smtClean="0"/>
              <a:t>+(D+L)</a:t>
            </a:r>
            <a:r>
              <a:rPr lang="en-US" altLang="zh-CN" sz="3200" baseline="30000" dirty="0" smtClean="0"/>
              <a:t>-1</a:t>
            </a:r>
            <a:r>
              <a:rPr lang="en-US" altLang="zh-CN" sz="3200" dirty="0" smtClean="0"/>
              <a:t>B</a:t>
            </a:r>
          </a:p>
          <a:p>
            <a:pPr>
              <a:buFont typeface="Wingdings" pitchFamily="2" charset="2"/>
              <a:buNone/>
            </a:pPr>
            <a:r>
              <a:rPr lang="zh-CN" altLang="en-US" sz="3200" dirty="0" smtClean="0"/>
              <a:t>所以</a:t>
            </a:r>
            <a:r>
              <a:rPr lang="zh-CN" altLang="en-US" sz="3200" i="1" dirty="0" smtClean="0">
                <a:solidFill>
                  <a:srgbClr val="FF0000"/>
                </a:solidFill>
                <a:sym typeface="Symbol" pitchFamily="18" charset="2"/>
              </a:rPr>
              <a:t>高斯-</a:t>
            </a:r>
            <a:r>
              <a:rPr lang="zh-CN" altLang="en-US" sz="3200" i="1" dirty="0" smtClean="0">
                <a:solidFill>
                  <a:srgbClr val="FF0000"/>
                </a:solidFill>
              </a:rPr>
              <a:t>赛德尔迭代法的迭代矩阵为</a:t>
            </a:r>
          </a:p>
          <a:p>
            <a:pPr>
              <a:buFont typeface="Wingdings" pitchFamily="2" charset="2"/>
              <a:buNone/>
            </a:pPr>
            <a:r>
              <a:rPr lang="zh-CN" altLang="en-US" sz="3200" i="1" dirty="0" smtClean="0">
                <a:solidFill>
                  <a:srgbClr val="FF0000"/>
                </a:solidFill>
              </a:rPr>
              <a:t>			</a:t>
            </a:r>
            <a:r>
              <a:rPr lang="en-US" altLang="zh-CN" sz="3200" i="1" dirty="0" smtClean="0">
                <a:solidFill>
                  <a:srgbClr val="FF0000"/>
                </a:solidFill>
              </a:rPr>
              <a:t>G=-(D+L)</a:t>
            </a:r>
            <a:r>
              <a:rPr lang="en-US" altLang="zh-CN" sz="3200" i="1" baseline="30000" dirty="0" smtClean="0">
                <a:solidFill>
                  <a:srgbClr val="FF0000"/>
                </a:solidFill>
              </a:rPr>
              <a:t>-1</a:t>
            </a:r>
            <a:r>
              <a:rPr lang="en-US" altLang="zh-CN" sz="3200" i="1" dirty="0" smtClean="0">
                <a:solidFill>
                  <a:srgbClr val="FF0000"/>
                </a:solidFill>
              </a:rPr>
              <a:t>U</a:t>
            </a:r>
          </a:p>
        </p:txBody>
      </p:sp>
      <p:sp>
        <p:nvSpPr>
          <p:cNvPr id="620547" name="Rectangle 3"/>
          <p:cNvSpPr>
            <a:spLocks noChangeArrowheads="1"/>
          </p:cNvSpPr>
          <p:nvPr/>
        </p:nvSpPr>
        <p:spPr bwMode="auto">
          <a:xfrm>
            <a:off x="523875" y="311150"/>
            <a:ext cx="8543925" cy="603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lIns="0" tIns="0" rIns="0" bIns="0" anchor="b">
            <a:spAutoFit/>
          </a:bodyPr>
          <a:lstStyle/>
          <a:p>
            <a:pPr algn="l" defTabSz="814388">
              <a:lnSpc>
                <a:spcPct val="90000"/>
              </a:lnSpc>
              <a:defRPr/>
            </a:pPr>
            <a:r>
              <a:rPr lang="zh-CN" altLang="en-US" sz="4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§3.2 赛德尔迭代法的收敛条件</a:t>
            </a:r>
          </a:p>
        </p:txBody>
      </p:sp>
      <p:sp>
        <p:nvSpPr>
          <p:cNvPr id="620548" name="AutoShape 4"/>
          <p:cNvSpPr>
            <a:spLocks noChangeArrowheads="1"/>
          </p:cNvSpPr>
          <p:nvPr/>
        </p:nvSpPr>
        <p:spPr bwMode="auto">
          <a:xfrm>
            <a:off x="5940152" y="1052736"/>
            <a:ext cx="3816424" cy="1354138"/>
          </a:xfrm>
          <a:prstGeom prst="cloudCallout">
            <a:avLst>
              <a:gd name="adj1" fmla="val -30444"/>
              <a:gd name="adj2" fmla="val 99635"/>
            </a:avLst>
          </a:prstGeom>
          <a:solidFill>
            <a:srgbClr val="FFFF99"/>
          </a:solidFill>
          <a:ln w="38100">
            <a:solidFill>
              <a:srgbClr val="FF3300"/>
            </a:solidFill>
            <a:round/>
            <a:headEnd/>
            <a:tailEnd/>
          </a:ln>
        </p:spPr>
        <p:txBody>
          <a:bodyPr anchor="ctr"/>
          <a:lstStyle/>
          <a:p>
            <a:pPr eaLnBrk="1" hangingPunct="1"/>
            <a:r>
              <a:rPr kumimoji="1" lang="zh-CN" altLang="en-US" sz="3200" dirty="0">
                <a:latin typeface="Times New Roman" pitchFamily="18" charset="0"/>
                <a:ea typeface="楷体_GB2312" pitchFamily="1" charset="-122"/>
              </a:rPr>
              <a:t>(</a:t>
            </a:r>
            <a:r>
              <a:rPr kumimoji="1" lang="en-US" altLang="zh-CN" sz="3200" dirty="0">
                <a:latin typeface="Times New Roman" pitchFamily="18" charset="0"/>
                <a:ea typeface="楷体_GB2312" pitchFamily="1" charset="-122"/>
              </a:rPr>
              <a:t>AB</a:t>
            </a:r>
            <a:r>
              <a:rPr kumimoji="1" lang="en-US" altLang="zh-CN" sz="3200" baseline="30000" dirty="0">
                <a:latin typeface="Times New Roman" pitchFamily="18" charset="0"/>
                <a:ea typeface="楷体_GB2312" pitchFamily="1" charset="-122"/>
              </a:rPr>
              <a:t>)-1</a:t>
            </a:r>
            <a:r>
              <a:rPr kumimoji="1" lang="en-US" altLang="zh-CN" sz="3200" dirty="0">
                <a:latin typeface="Times New Roman" pitchFamily="18" charset="0"/>
                <a:ea typeface="楷体_GB2312" pitchFamily="1" charset="-122"/>
              </a:rPr>
              <a:t>=B</a:t>
            </a:r>
            <a:r>
              <a:rPr kumimoji="1" lang="en-US" altLang="zh-CN" sz="3200" baseline="30000" dirty="0">
                <a:latin typeface="Times New Roman" pitchFamily="18" charset="0"/>
                <a:ea typeface="楷体_GB2312" pitchFamily="1" charset="-122"/>
              </a:rPr>
              <a:t>-1</a:t>
            </a:r>
            <a:r>
              <a:rPr kumimoji="1" lang="en-US" altLang="zh-CN" sz="3200" dirty="0">
                <a:latin typeface="Times New Roman" pitchFamily="18" charset="0"/>
                <a:ea typeface="楷体_GB2312" pitchFamily="1" charset="-122"/>
              </a:rPr>
              <a:t>A</a:t>
            </a:r>
            <a:r>
              <a:rPr kumimoji="1" lang="en-US" altLang="zh-CN" sz="3200" baseline="30000" dirty="0">
                <a:latin typeface="Times New Roman" pitchFamily="18" charset="0"/>
                <a:ea typeface="楷体_GB2312" pitchFamily="1" charset="-122"/>
              </a:rPr>
              <a:t>-1</a:t>
            </a:r>
          </a:p>
          <a:p>
            <a:pPr algn="l" eaLnBrk="1" hangingPunct="1"/>
            <a:r>
              <a:rPr kumimoji="1" lang="en-US" altLang="zh-CN" sz="3200" dirty="0">
                <a:latin typeface="Times New Roman" pitchFamily="18" charset="0"/>
                <a:ea typeface="楷体_GB2312" pitchFamily="1" charset="-122"/>
              </a:rPr>
              <a:t>AA</a:t>
            </a:r>
            <a:r>
              <a:rPr kumimoji="1" lang="en-US" altLang="zh-CN" sz="3200" baseline="30000" dirty="0">
                <a:latin typeface="Times New Roman" pitchFamily="18" charset="0"/>
                <a:ea typeface="楷体_GB2312" pitchFamily="1" charset="-122"/>
              </a:rPr>
              <a:t>-1</a:t>
            </a:r>
            <a:r>
              <a:rPr kumimoji="1" lang="en-US" altLang="zh-CN" sz="3200" dirty="0">
                <a:latin typeface="Times New Roman" pitchFamily="18" charset="0"/>
                <a:ea typeface="楷体_GB2312" pitchFamily="1" charset="-122"/>
              </a:rPr>
              <a:t>=I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0137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2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2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2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21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CCF92B4-4BE8-44BE-89E3-9EA8B8E61566}" type="slidenum">
              <a:rPr lang="zh-CN" altLang="en-US" b="0"/>
              <a:pPr/>
              <a:t>61</a:t>
            </a:fld>
            <a:endParaRPr lang="en-US" altLang="zh-CN" b="0"/>
          </a:p>
        </p:txBody>
      </p:sp>
      <p:sp>
        <p:nvSpPr>
          <p:cNvPr id="8499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4ED058A-9BBA-459E-B743-F17EC24317AD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§3.2 赛德尔迭代法的收敛条件</a:t>
            </a:r>
          </a:p>
        </p:txBody>
      </p:sp>
      <p:sp>
        <p:nvSpPr>
          <p:cNvPr id="849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2289858"/>
          </a:xfrm>
        </p:spPr>
        <p:txBody>
          <a:bodyPr/>
          <a:lstStyle/>
          <a:p>
            <a:pPr>
              <a:buNone/>
            </a:pPr>
            <a:r>
              <a:rPr lang="zh-CN" altLang="en-US" sz="3200" i="1" dirty="0" smtClean="0">
                <a:solidFill>
                  <a:srgbClr val="FF0000"/>
                </a:solidFill>
                <a:sym typeface="Symbol" pitchFamily="18" charset="2"/>
              </a:rPr>
              <a:t>高斯-</a:t>
            </a:r>
            <a:r>
              <a:rPr lang="zh-CN" altLang="en-US" sz="3200" i="1" dirty="0" smtClean="0">
                <a:solidFill>
                  <a:srgbClr val="FF0000"/>
                </a:solidFill>
              </a:rPr>
              <a:t>赛德尔迭代法的迭代矩阵为</a:t>
            </a:r>
          </a:p>
          <a:p>
            <a:pPr>
              <a:buNone/>
            </a:pPr>
            <a:r>
              <a:rPr lang="zh-CN" altLang="en-US" sz="3200" i="1" dirty="0" smtClean="0">
                <a:solidFill>
                  <a:srgbClr val="FF0000"/>
                </a:solidFill>
              </a:rPr>
              <a:t>			</a:t>
            </a:r>
            <a:r>
              <a:rPr lang="en-US" altLang="zh-CN" sz="3200" i="1" dirty="0" smtClean="0">
                <a:solidFill>
                  <a:srgbClr val="FF0000"/>
                </a:solidFill>
              </a:rPr>
              <a:t>G= -(D+L)</a:t>
            </a:r>
            <a:r>
              <a:rPr lang="en-US" altLang="zh-CN" sz="3200" i="1" baseline="30000" dirty="0" smtClean="0">
                <a:solidFill>
                  <a:srgbClr val="FF0000"/>
                </a:solidFill>
              </a:rPr>
              <a:t>-1</a:t>
            </a:r>
            <a:r>
              <a:rPr lang="en-US" altLang="zh-CN" sz="3200" i="1" dirty="0" smtClean="0">
                <a:solidFill>
                  <a:srgbClr val="FF0000"/>
                </a:solidFill>
              </a:rPr>
              <a:t>U</a:t>
            </a:r>
          </a:p>
          <a:p>
            <a:r>
              <a:rPr lang="zh-CN" altLang="en-US" sz="3200" dirty="0" smtClean="0"/>
              <a:t>赛德尔迭代法的收敛的充分必要条件</a:t>
            </a:r>
            <a:endParaRPr lang="en-US" altLang="zh-CN" sz="3600" dirty="0" smtClean="0"/>
          </a:p>
          <a:p>
            <a:endParaRPr lang="zh-CN" altLang="en-US" sz="3200" dirty="0" smtClean="0"/>
          </a:p>
        </p:txBody>
      </p:sp>
      <p:graphicFrame>
        <p:nvGraphicFramePr>
          <p:cNvPr id="5959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053476"/>
              </p:ext>
            </p:extLst>
          </p:nvPr>
        </p:nvGraphicFramePr>
        <p:xfrm>
          <a:off x="2200275" y="3141663"/>
          <a:ext cx="41529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61" name="公式" r:id="rId4" imgW="1536480" imgH="241200" progId="Equation.3">
                  <p:embed/>
                </p:oleObj>
              </mc:Choice>
              <mc:Fallback>
                <p:oleObj name="公式" r:id="rId4" imgW="15364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3141663"/>
                        <a:ext cx="41529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749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5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5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A12B0CE-DE09-4412-95F0-8E30F12A90C7}" type="slidenum">
              <a:rPr lang="zh-CN" altLang="en-US" b="0"/>
              <a:pPr/>
              <a:t>62</a:t>
            </a:fld>
            <a:endParaRPr lang="en-US" altLang="zh-CN" b="0" dirty="0"/>
          </a:p>
        </p:txBody>
      </p:sp>
      <p:sp>
        <p:nvSpPr>
          <p:cNvPr id="9113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FEF2333D-C2D6-4496-98DE-0168069760BF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911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0074" y="1187450"/>
            <a:ext cx="8364413" cy="4850559"/>
          </a:xfrm>
        </p:spPr>
        <p:txBody>
          <a:bodyPr/>
          <a:lstStyle/>
          <a:p>
            <a:r>
              <a:rPr lang="zh-CN" altLang="en-US" sz="3200" dirty="0" smtClean="0"/>
              <a:t>定理4.10   若</a:t>
            </a:r>
            <a:r>
              <a:rPr lang="en-US" altLang="zh-CN" sz="3200" dirty="0" smtClean="0"/>
              <a:t>A</a:t>
            </a:r>
            <a:r>
              <a:rPr lang="zh-CN" altLang="en-US" sz="3200" dirty="0" smtClean="0"/>
              <a:t>为</a:t>
            </a:r>
            <a:r>
              <a:rPr lang="zh-CN" altLang="en-US" sz="3200" dirty="0" smtClean="0">
                <a:sym typeface="Symbol" pitchFamily="18" charset="2"/>
              </a:rPr>
              <a:t>不可约、对角占优矩阵，则</a:t>
            </a:r>
            <a:r>
              <a:rPr lang="zh-CN" altLang="en-US" sz="3200" dirty="0" smtClean="0"/>
              <a:t>高斯-赛德尔</a:t>
            </a:r>
            <a:r>
              <a:rPr lang="zh-CN" altLang="en-US" sz="3200" dirty="0" smtClean="0">
                <a:sym typeface="Symbol" pitchFamily="18" charset="2"/>
              </a:rPr>
              <a:t>迭代法必定收敛</a:t>
            </a:r>
          </a:p>
          <a:p>
            <a:r>
              <a:rPr lang="zh-CN" altLang="en-US" sz="3200" dirty="0" smtClean="0">
                <a:sym typeface="Symbol" pitchFamily="18" charset="2"/>
              </a:rPr>
              <a:t>证明：</a:t>
            </a:r>
            <a:endParaRPr lang="en-US" altLang="zh-CN" sz="3200" dirty="0" smtClean="0">
              <a:sym typeface="Symbol" pitchFamily="18" charset="2"/>
            </a:endParaRPr>
          </a:p>
          <a:p>
            <a:pPr marL="387350" lvl="1" indent="0">
              <a:buNone/>
            </a:pPr>
            <a:r>
              <a:rPr lang="en-US" altLang="zh-CN" sz="3200" dirty="0">
                <a:sym typeface="Symbol" pitchFamily="18" charset="2"/>
              </a:rPr>
              <a:t>	</a:t>
            </a:r>
            <a:r>
              <a:rPr lang="zh-CN" altLang="en-US" sz="3200" dirty="0" smtClean="0"/>
              <a:t>因为</a:t>
            </a:r>
            <a:r>
              <a:rPr lang="zh-CN" altLang="en-US" sz="3200" dirty="0" smtClean="0">
                <a:solidFill>
                  <a:srgbClr val="FF0000"/>
                </a:solidFill>
                <a:sym typeface="Symbol" pitchFamily="18" charset="2"/>
              </a:rPr>
              <a:t>高斯-</a:t>
            </a:r>
            <a:r>
              <a:rPr lang="zh-CN" altLang="en-US" sz="3200" dirty="0" smtClean="0">
                <a:solidFill>
                  <a:srgbClr val="FF0000"/>
                </a:solidFill>
              </a:rPr>
              <a:t>赛德尔迭代法的迭代矩阵为</a:t>
            </a:r>
          </a:p>
          <a:p>
            <a:pPr>
              <a:buNone/>
            </a:pPr>
            <a:r>
              <a:rPr lang="zh-CN" altLang="en-US" sz="3200" i="1" dirty="0" smtClean="0">
                <a:solidFill>
                  <a:srgbClr val="FF0000"/>
                </a:solidFill>
              </a:rPr>
              <a:t>			</a:t>
            </a:r>
            <a:r>
              <a:rPr lang="en-US" altLang="zh-CN" sz="3200" i="1" dirty="0" smtClean="0">
                <a:solidFill>
                  <a:srgbClr val="FF0000"/>
                </a:solidFill>
              </a:rPr>
              <a:t>G= -(D+L)</a:t>
            </a:r>
            <a:r>
              <a:rPr lang="en-US" altLang="zh-CN" sz="3200" i="1" baseline="30000" dirty="0" smtClean="0">
                <a:solidFill>
                  <a:srgbClr val="FF0000"/>
                </a:solidFill>
              </a:rPr>
              <a:t>-1</a:t>
            </a:r>
            <a:r>
              <a:rPr lang="en-US" altLang="zh-CN" sz="3200" i="1" dirty="0" smtClean="0">
                <a:solidFill>
                  <a:srgbClr val="FF0000"/>
                </a:solidFill>
              </a:rPr>
              <a:t>U</a:t>
            </a:r>
          </a:p>
          <a:p>
            <a:pPr>
              <a:buNone/>
            </a:pPr>
            <a:r>
              <a:rPr lang="zh-CN" altLang="en-US" sz="3200" dirty="0" smtClean="0"/>
              <a:t>	</a:t>
            </a:r>
            <a:r>
              <a:rPr lang="zh-CN" altLang="en-US" sz="3200" dirty="0" smtClean="0">
                <a:sym typeface="Symbol" pitchFamily="18" charset="2"/>
              </a:rPr>
              <a:t>要证明</a:t>
            </a:r>
            <a:r>
              <a:rPr lang="zh-CN" altLang="en-US" sz="3200" dirty="0" smtClean="0"/>
              <a:t>高斯-赛德尔迭代法收敛</a:t>
            </a:r>
            <a:r>
              <a:rPr lang="en-US" altLang="zh-CN" sz="3200" dirty="0" smtClean="0"/>
              <a:t>,</a:t>
            </a:r>
            <a:r>
              <a:rPr lang="zh-CN" altLang="en-US" sz="3200" dirty="0" smtClean="0"/>
              <a:t>根据定理4.6，只要证明</a:t>
            </a:r>
            <a:r>
              <a:rPr lang="zh-CN" altLang="en-US" sz="3200" dirty="0" smtClean="0">
                <a:sym typeface="Symbol" pitchFamily="18" charset="2"/>
              </a:rPr>
              <a:t>(</a:t>
            </a:r>
            <a:r>
              <a:rPr lang="en-US" altLang="zh-CN" sz="3200" dirty="0" smtClean="0">
                <a:sym typeface="Symbol" pitchFamily="18" charset="2"/>
              </a:rPr>
              <a:t>G)&lt;1</a:t>
            </a:r>
            <a:r>
              <a:rPr lang="zh-CN" altLang="en-US" sz="3200" dirty="0" smtClean="0">
                <a:sym typeface="Symbol" pitchFamily="18" charset="2"/>
              </a:rPr>
              <a:t>即可，</a:t>
            </a:r>
            <a:endParaRPr lang="en-US" altLang="zh-CN" sz="3200" dirty="0" smtClean="0">
              <a:sym typeface="Symbol" pitchFamily="18" charset="2"/>
            </a:endParaRPr>
          </a:p>
          <a:p>
            <a:pPr>
              <a:buNone/>
            </a:pPr>
            <a:r>
              <a:rPr lang="en-US" altLang="zh-CN" sz="3200" dirty="0">
                <a:sym typeface="Symbol" pitchFamily="18" charset="2"/>
              </a:rPr>
              <a:t>	</a:t>
            </a:r>
            <a:r>
              <a:rPr lang="en-US" altLang="zh-CN" sz="3200" dirty="0" smtClean="0">
                <a:sym typeface="Symbol" pitchFamily="18" charset="2"/>
              </a:rPr>
              <a:t>	</a:t>
            </a:r>
            <a:r>
              <a:rPr lang="zh-CN" altLang="en-US" sz="3200" dirty="0" smtClean="0"/>
              <a:t>下面用反证法推证定理</a:t>
            </a:r>
            <a:r>
              <a:rPr lang="en-US" altLang="zh-CN" sz="3200" dirty="0" smtClean="0"/>
              <a:t>,</a:t>
            </a:r>
            <a:r>
              <a:rPr lang="zh-CN" altLang="en-US" sz="3200" dirty="0" smtClean="0">
                <a:sym typeface="Symbol" pitchFamily="18" charset="2"/>
              </a:rPr>
              <a:t> 假设(</a:t>
            </a:r>
            <a:r>
              <a:rPr lang="en-US" altLang="zh-CN" sz="3200" dirty="0" smtClean="0">
                <a:sym typeface="Symbol" pitchFamily="18" charset="2"/>
              </a:rPr>
              <a:t>G) 1</a:t>
            </a:r>
            <a:r>
              <a:rPr lang="zh-CN" altLang="en-US" sz="3200" dirty="0" smtClean="0">
                <a:sym typeface="Symbol" pitchFamily="18" charset="2"/>
              </a:rPr>
              <a:t>、即</a:t>
            </a:r>
            <a:r>
              <a:rPr lang="en-US" altLang="zh-CN" sz="3200" dirty="0" smtClean="0">
                <a:sym typeface="Symbol" pitchFamily="18" charset="2"/>
              </a:rPr>
              <a:t> </a:t>
            </a:r>
            <a:r>
              <a:rPr lang="en-US" altLang="zh-CN" sz="3200" dirty="0" smtClean="0">
                <a:solidFill>
                  <a:srgbClr val="FF3300"/>
                </a:solidFill>
              </a:rPr>
              <a:t>G</a:t>
            </a:r>
            <a:r>
              <a:rPr lang="zh-CN" altLang="en-US" sz="3200" dirty="0" smtClean="0">
                <a:solidFill>
                  <a:srgbClr val="FF3300"/>
                </a:solidFill>
              </a:rPr>
              <a:t>的特征值有|</a:t>
            </a:r>
            <a:r>
              <a:rPr lang="zh-CN" altLang="en-US" sz="3200" dirty="0" smtClean="0">
                <a:solidFill>
                  <a:srgbClr val="FF3300"/>
                </a:solidFill>
                <a:sym typeface="Symbol" pitchFamily="18" charset="2"/>
              </a:rPr>
              <a:t></a:t>
            </a:r>
            <a:r>
              <a:rPr lang="zh-CN" altLang="en-US" sz="3200" dirty="0" smtClean="0">
                <a:solidFill>
                  <a:srgbClr val="FF3300"/>
                </a:solidFill>
              </a:rPr>
              <a:t>|</a:t>
            </a:r>
            <a:r>
              <a:rPr lang="zh-CN" altLang="en-US" sz="3200" dirty="0" smtClean="0">
                <a:solidFill>
                  <a:srgbClr val="FF3300"/>
                </a:solidFill>
                <a:sym typeface="Symbol" pitchFamily="18" charset="2"/>
              </a:rPr>
              <a:t>1 </a:t>
            </a:r>
            <a:r>
              <a:rPr lang="zh-CN" altLang="en-US" sz="3200" dirty="0" smtClean="0"/>
              <a:t>。</a:t>
            </a:r>
            <a:endParaRPr lang="zh-CN" altLang="en-US" sz="3200" dirty="0" smtClean="0">
              <a:sym typeface="Symbol" pitchFamily="18" charset="2"/>
            </a:endParaRPr>
          </a:p>
        </p:txBody>
      </p:sp>
      <p:sp>
        <p:nvSpPr>
          <p:cNvPr id="618499" name="Rectangle 3"/>
          <p:cNvSpPr>
            <a:spLocks noChangeArrowheads="1"/>
          </p:cNvSpPr>
          <p:nvPr/>
        </p:nvSpPr>
        <p:spPr bwMode="auto">
          <a:xfrm>
            <a:off x="600075" y="311150"/>
            <a:ext cx="8543925" cy="603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lIns="0" tIns="0" rIns="0" bIns="0" anchor="b">
            <a:spAutoFit/>
          </a:bodyPr>
          <a:lstStyle/>
          <a:p>
            <a:pPr algn="l" defTabSz="814388">
              <a:lnSpc>
                <a:spcPct val="90000"/>
              </a:lnSpc>
              <a:defRPr/>
            </a:pPr>
            <a:r>
              <a:rPr lang="zh-CN" altLang="en-US" sz="4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§3.2 赛德尔迭代法的收敛条件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C78202E8-8B3C-4201-951F-A0A24ACC239B}" type="slidenum">
              <a:rPr lang="zh-CN" altLang="en-US" b="0"/>
              <a:pPr/>
              <a:t>63</a:t>
            </a:fld>
            <a:endParaRPr lang="en-US" altLang="zh-CN" b="0"/>
          </a:p>
        </p:txBody>
      </p:sp>
      <p:sp>
        <p:nvSpPr>
          <p:cNvPr id="9318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BE3C5E5C-BAC5-4224-8C9F-4FD35269B07B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11150"/>
            <a:ext cx="8382000" cy="603250"/>
          </a:xfrm>
        </p:spPr>
        <p:txBody>
          <a:bodyPr/>
          <a:lstStyle/>
          <a:p>
            <a:pPr>
              <a:defRPr/>
            </a:pPr>
            <a:r>
              <a:rPr lang="zh-CN" altLang="en-US" smtClean="0"/>
              <a:t>§3.2 赛德尔迭代法的收敛条件</a:t>
            </a:r>
          </a:p>
        </p:txBody>
      </p:sp>
      <p:sp>
        <p:nvSpPr>
          <p:cNvPr id="931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106618"/>
            <a:ext cx="8142288" cy="5490734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3200" dirty="0" smtClean="0">
                <a:solidFill>
                  <a:srgbClr val="FF3300"/>
                </a:solidFill>
              </a:rPr>
              <a:t>假设</a:t>
            </a:r>
            <a:r>
              <a:rPr lang="en-US" altLang="zh-CN" sz="3200" dirty="0" smtClean="0">
                <a:solidFill>
                  <a:srgbClr val="FF3300"/>
                </a:solidFill>
              </a:rPr>
              <a:t>G</a:t>
            </a:r>
            <a:r>
              <a:rPr lang="zh-CN" altLang="en-US" sz="3200" dirty="0" smtClean="0">
                <a:solidFill>
                  <a:srgbClr val="FF3300"/>
                </a:solidFill>
              </a:rPr>
              <a:t>的特征值有|</a:t>
            </a:r>
            <a:r>
              <a:rPr lang="zh-CN" altLang="en-US" sz="3200" dirty="0" smtClean="0">
                <a:solidFill>
                  <a:srgbClr val="FF3300"/>
                </a:solidFill>
                <a:sym typeface="Symbol" pitchFamily="18" charset="2"/>
              </a:rPr>
              <a:t></a:t>
            </a:r>
            <a:r>
              <a:rPr lang="zh-CN" altLang="en-US" sz="3200" dirty="0" smtClean="0">
                <a:solidFill>
                  <a:srgbClr val="FF3300"/>
                </a:solidFill>
              </a:rPr>
              <a:t>|</a:t>
            </a:r>
            <a:r>
              <a:rPr lang="zh-CN" altLang="en-US" sz="3200" dirty="0" smtClean="0">
                <a:solidFill>
                  <a:srgbClr val="FF3300"/>
                </a:solidFill>
                <a:sym typeface="Symbol" pitchFamily="18" charset="2"/>
              </a:rPr>
              <a:t>1</a:t>
            </a:r>
            <a:r>
              <a:rPr lang="zh-CN" altLang="en-US" sz="3200" dirty="0" smtClean="0">
                <a:sym typeface="Symbol" pitchFamily="18" charset="2"/>
              </a:rPr>
              <a:t>，</a:t>
            </a:r>
            <a:endParaRPr lang="en-US" altLang="zh-CN" sz="3200" dirty="0" smtClean="0">
              <a:sym typeface="Symbol" pitchFamily="18" charset="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3200" dirty="0" smtClean="0">
                <a:sym typeface="Symbol" pitchFamily="18" charset="2"/>
              </a:rPr>
              <a:t>满足以下特征方程      </a:t>
            </a:r>
            <a:r>
              <a:rPr lang="en-US" altLang="zh-CN" sz="3200" dirty="0" smtClean="0">
                <a:sym typeface="Symbol" pitchFamily="18" charset="2"/>
              </a:rPr>
              <a:t>| </a:t>
            </a:r>
            <a:r>
              <a:rPr lang="zh-CN" altLang="en-US" sz="3200" dirty="0" smtClean="0">
                <a:sym typeface="Symbol" pitchFamily="18" charset="2"/>
              </a:rPr>
              <a:t></a:t>
            </a:r>
            <a:r>
              <a:rPr lang="en-US" altLang="zh-CN" sz="3200" dirty="0" smtClean="0">
                <a:sym typeface="Symbol" pitchFamily="18" charset="2"/>
              </a:rPr>
              <a:t>I-G|=0     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3200" dirty="0" smtClean="0"/>
              <a:t>因为迭代矩阵</a:t>
            </a:r>
            <a:r>
              <a:rPr lang="en-US" altLang="zh-CN" sz="3200" dirty="0" smtClean="0">
                <a:solidFill>
                  <a:srgbClr val="0000FF"/>
                </a:solidFill>
              </a:rPr>
              <a:t>G= - (D+L)</a:t>
            </a:r>
            <a:r>
              <a:rPr lang="en-US" altLang="zh-CN" sz="3200" baseline="30000" dirty="0" smtClean="0">
                <a:solidFill>
                  <a:srgbClr val="0000FF"/>
                </a:solidFill>
              </a:rPr>
              <a:t>-1</a:t>
            </a:r>
            <a:r>
              <a:rPr lang="en-US" altLang="zh-CN" sz="3200" dirty="0" smtClean="0">
                <a:solidFill>
                  <a:srgbClr val="0000FF"/>
                </a:solidFill>
              </a:rPr>
              <a:t>U</a:t>
            </a:r>
            <a:endParaRPr lang="en-US" altLang="zh-CN" sz="3200" dirty="0" smtClean="0">
              <a:solidFill>
                <a:srgbClr val="0000FF"/>
              </a:solidFill>
              <a:sym typeface="Symbol" pitchFamily="18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3200" dirty="0" smtClean="0">
                <a:sym typeface="Symbol" pitchFamily="18" charset="2"/>
              </a:rPr>
              <a:t>所以     </a:t>
            </a:r>
            <a:r>
              <a:rPr lang="en-US" altLang="zh-CN" sz="3200" dirty="0" smtClean="0">
                <a:sym typeface="Symbol" pitchFamily="18" charset="2"/>
              </a:rPr>
              <a:t>|</a:t>
            </a:r>
            <a:r>
              <a:rPr lang="zh-CN" altLang="en-US" sz="3200" dirty="0" smtClean="0">
                <a:sym typeface="Symbol" pitchFamily="18" charset="2"/>
              </a:rPr>
              <a:t></a:t>
            </a:r>
            <a:r>
              <a:rPr lang="en-US" altLang="zh-CN" sz="3200" dirty="0" smtClean="0">
                <a:sym typeface="Symbol" pitchFamily="18" charset="2"/>
              </a:rPr>
              <a:t>I+</a:t>
            </a:r>
            <a:r>
              <a:rPr lang="en-US" altLang="zh-CN" sz="3200" dirty="0" smtClean="0">
                <a:solidFill>
                  <a:srgbClr val="0000FF"/>
                </a:solidFill>
              </a:rPr>
              <a:t>(D+L)</a:t>
            </a:r>
            <a:r>
              <a:rPr lang="en-US" altLang="zh-CN" sz="3200" baseline="30000" dirty="0" smtClean="0">
                <a:solidFill>
                  <a:srgbClr val="0000FF"/>
                </a:solidFill>
              </a:rPr>
              <a:t>-1</a:t>
            </a:r>
            <a:r>
              <a:rPr lang="en-US" altLang="zh-CN" sz="3200" dirty="0" smtClean="0"/>
              <a:t>U</a:t>
            </a:r>
            <a:r>
              <a:rPr lang="en-US" altLang="zh-CN" sz="3200" dirty="0" smtClean="0">
                <a:sym typeface="Symbol" pitchFamily="18" charset="2"/>
              </a:rPr>
              <a:t>|=0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3200" dirty="0" smtClean="0">
                <a:sym typeface="Symbol" pitchFamily="18" charset="2"/>
              </a:rPr>
              <a:t>             </a:t>
            </a:r>
            <a:r>
              <a:rPr lang="en-US" altLang="zh-CN" sz="3200" dirty="0" smtClean="0">
                <a:solidFill>
                  <a:srgbClr val="FF3300"/>
                </a:solidFill>
                <a:sym typeface="Symbol" pitchFamily="18" charset="2"/>
              </a:rPr>
              <a:t>|</a:t>
            </a:r>
            <a:r>
              <a:rPr lang="en-US" altLang="zh-CN" sz="3200" dirty="0" smtClean="0"/>
              <a:t>(D+L)</a:t>
            </a:r>
            <a:r>
              <a:rPr lang="en-US" altLang="zh-CN" sz="3200" baseline="30000" dirty="0" smtClean="0"/>
              <a:t>-1 </a:t>
            </a:r>
            <a:r>
              <a:rPr lang="zh-CN" altLang="en-US" sz="3200" dirty="0" smtClean="0">
                <a:sym typeface="Symbol" pitchFamily="18" charset="2"/>
              </a:rPr>
              <a:t>[</a:t>
            </a:r>
            <a:r>
              <a:rPr lang="en-US" altLang="zh-CN" sz="3200" baseline="30000" dirty="0" smtClean="0"/>
              <a:t> </a:t>
            </a:r>
            <a:r>
              <a:rPr lang="zh-CN" altLang="en-US" sz="3200" dirty="0" smtClean="0">
                <a:sym typeface="Symbol" pitchFamily="18" charset="2"/>
              </a:rPr>
              <a:t></a:t>
            </a:r>
            <a:r>
              <a:rPr lang="en-US" altLang="zh-CN" sz="3200" dirty="0" smtClean="0"/>
              <a:t>(D+L)</a:t>
            </a:r>
            <a:r>
              <a:rPr lang="en-US" altLang="zh-CN" sz="3200" dirty="0" smtClean="0">
                <a:sym typeface="Symbol" pitchFamily="18" charset="2"/>
              </a:rPr>
              <a:t>+</a:t>
            </a:r>
            <a:r>
              <a:rPr lang="en-US" altLang="zh-CN" sz="3200" dirty="0" smtClean="0"/>
              <a:t>U ]</a:t>
            </a:r>
            <a:r>
              <a:rPr lang="en-US" altLang="zh-CN" sz="3200" dirty="0" smtClean="0">
                <a:solidFill>
                  <a:srgbClr val="FF0000"/>
                </a:solidFill>
                <a:sym typeface="Symbol" pitchFamily="18" charset="2"/>
              </a:rPr>
              <a:t>|</a:t>
            </a:r>
            <a:r>
              <a:rPr lang="en-US" altLang="zh-CN" sz="3200" dirty="0" smtClean="0">
                <a:sym typeface="Symbol" pitchFamily="18" charset="2"/>
              </a:rPr>
              <a:t>=0</a:t>
            </a:r>
            <a:endParaRPr lang="zh-CN" altLang="en-US" sz="3200" dirty="0" smtClean="0">
              <a:sym typeface="Symbol" pitchFamily="18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3200" dirty="0" smtClean="0">
                <a:sym typeface="Symbol" pitchFamily="18" charset="2"/>
              </a:rPr>
              <a:t>             </a:t>
            </a:r>
            <a:r>
              <a:rPr lang="en-US" altLang="zh-CN" sz="3200" dirty="0" smtClean="0">
                <a:solidFill>
                  <a:srgbClr val="FF3300"/>
                </a:solidFill>
                <a:sym typeface="Symbol" pitchFamily="18" charset="2"/>
              </a:rPr>
              <a:t>|</a:t>
            </a:r>
            <a:r>
              <a:rPr lang="en-US" altLang="zh-CN" sz="3200" dirty="0" smtClean="0"/>
              <a:t>(D+L)</a:t>
            </a:r>
            <a:r>
              <a:rPr lang="en-US" altLang="zh-CN" sz="3200" baseline="30000" dirty="0" smtClean="0"/>
              <a:t>-1 </a:t>
            </a:r>
            <a:r>
              <a:rPr lang="en-US" altLang="zh-CN" sz="3200" dirty="0" smtClean="0">
                <a:solidFill>
                  <a:srgbClr val="FF3300"/>
                </a:solidFill>
                <a:sym typeface="Symbol" pitchFamily="18" charset="2"/>
              </a:rPr>
              <a:t>|</a:t>
            </a:r>
            <a:r>
              <a:rPr lang="en-US" altLang="zh-CN" sz="3200" baseline="30000" dirty="0" smtClean="0">
                <a:solidFill>
                  <a:srgbClr val="FF3300"/>
                </a:solidFill>
              </a:rPr>
              <a:t> </a:t>
            </a:r>
            <a:r>
              <a:rPr lang="en-US" altLang="zh-CN" sz="3200" dirty="0" smtClean="0">
                <a:solidFill>
                  <a:srgbClr val="FF3300"/>
                </a:solidFill>
                <a:sym typeface="Symbol" pitchFamily="18" charset="2"/>
              </a:rPr>
              <a:t>|</a:t>
            </a:r>
            <a:r>
              <a:rPr lang="en-US" altLang="zh-CN" sz="3200" baseline="30000" dirty="0" smtClean="0"/>
              <a:t> </a:t>
            </a:r>
            <a:r>
              <a:rPr lang="zh-CN" altLang="en-US" sz="3200" dirty="0" smtClean="0">
                <a:sym typeface="Symbol" pitchFamily="18" charset="2"/>
              </a:rPr>
              <a:t></a:t>
            </a:r>
            <a:r>
              <a:rPr lang="en-US" altLang="zh-CN" sz="3200" dirty="0" smtClean="0"/>
              <a:t>(D+L)</a:t>
            </a:r>
            <a:r>
              <a:rPr lang="en-US" altLang="zh-CN" sz="3200" dirty="0" smtClean="0">
                <a:sym typeface="Symbol" pitchFamily="18" charset="2"/>
              </a:rPr>
              <a:t>+</a:t>
            </a:r>
            <a:r>
              <a:rPr lang="en-US" altLang="zh-CN" sz="3200" dirty="0" smtClean="0"/>
              <a:t>U</a:t>
            </a:r>
            <a:r>
              <a:rPr lang="en-US" altLang="zh-CN" sz="3200" dirty="0" smtClean="0">
                <a:solidFill>
                  <a:srgbClr val="FF3300"/>
                </a:solidFill>
                <a:sym typeface="Symbol" pitchFamily="18" charset="2"/>
              </a:rPr>
              <a:t>|</a:t>
            </a:r>
            <a:r>
              <a:rPr lang="en-US" altLang="zh-CN" sz="3200" dirty="0" smtClean="0">
                <a:sym typeface="Symbol" pitchFamily="18" charset="2"/>
              </a:rPr>
              <a:t>=0</a:t>
            </a:r>
            <a:endParaRPr lang="zh-CN" altLang="en-US" sz="3200" dirty="0" smtClean="0">
              <a:sym typeface="Symbol" pitchFamily="18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3200" dirty="0" smtClean="0">
                <a:sym typeface="Symbol" pitchFamily="18" charset="2"/>
              </a:rPr>
              <a:t>因</a:t>
            </a:r>
            <a:r>
              <a:rPr lang="en-US" altLang="zh-CN" sz="3200" dirty="0" smtClean="0">
                <a:sym typeface="Symbol" pitchFamily="18" charset="2"/>
              </a:rPr>
              <a:t>A</a:t>
            </a:r>
            <a:r>
              <a:rPr lang="zh-CN" altLang="en-US" sz="3200" dirty="0" smtClean="0">
                <a:sym typeface="Symbol" pitchFamily="18" charset="2"/>
              </a:rPr>
              <a:t>不可约且对角占优，所以</a:t>
            </a:r>
            <a:r>
              <a:rPr lang="en-US" altLang="zh-CN" sz="3200" dirty="0" smtClean="0">
                <a:sym typeface="Symbol" pitchFamily="18" charset="2"/>
              </a:rPr>
              <a:t>a</a:t>
            </a:r>
            <a:r>
              <a:rPr lang="en-US" altLang="zh-CN" sz="3200" baseline="-25000" dirty="0" smtClean="0">
                <a:sym typeface="Symbol" pitchFamily="18" charset="2"/>
              </a:rPr>
              <a:t>ii</a:t>
            </a:r>
            <a:r>
              <a:rPr lang="en-US" altLang="zh-CN" sz="3200" dirty="0" smtClean="0">
                <a:sym typeface="Symbol" pitchFamily="18" charset="2"/>
              </a:rPr>
              <a:t>0(i=1,2, …,n),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3200" dirty="0" smtClean="0">
                <a:sym typeface="Symbol" pitchFamily="18" charset="2"/>
              </a:rPr>
              <a:t>因此有</a:t>
            </a:r>
            <a:r>
              <a:rPr lang="en-US" altLang="zh-CN" sz="3200" dirty="0" smtClean="0">
                <a:sym typeface="Symbol" pitchFamily="18" charset="2"/>
              </a:rPr>
              <a:t>|</a:t>
            </a:r>
            <a:r>
              <a:rPr lang="en-US" altLang="zh-CN" sz="3200" dirty="0" smtClean="0"/>
              <a:t>(D+L)</a:t>
            </a:r>
            <a:r>
              <a:rPr lang="en-US" altLang="zh-CN" sz="3200" baseline="30000" dirty="0" smtClean="0"/>
              <a:t>-1 </a:t>
            </a:r>
            <a:r>
              <a:rPr lang="en-US" altLang="zh-CN" sz="3200" dirty="0" smtClean="0">
                <a:sym typeface="Symbol" pitchFamily="18" charset="2"/>
              </a:rPr>
              <a:t>|</a:t>
            </a:r>
            <a:r>
              <a:rPr lang="en-US" altLang="zh-CN" sz="3200" baseline="30000" dirty="0" smtClean="0"/>
              <a:t> </a:t>
            </a:r>
            <a:r>
              <a:rPr lang="en-US" altLang="zh-CN" sz="3200" dirty="0" smtClean="0">
                <a:sym typeface="Symbol" pitchFamily="18" charset="2"/>
              </a:rPr>
              <a:t>0,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3200" dirty="0" smtClean="0">
                <a:sym typeface="Symbol" pitchFamily="18" charset="2"/>
              </a:rPr>
              <a:t>那么由       </a:t>
            </a:r>
            <a:r>
              <a:rPr lang="en-US" altLang="zh-CN" sz="3200" dirty="0" smtClean="0">
                <a:solidFill>
                  <a:srgbClr val="FF3300"/>
                </a:solidFill>
                <a:sym typeface="Symbol" pitchFamily="18" charset="2"/>
              </a:rPr>
              <a:t>|</a:t>
            </a:r>
            <a:r>
              <a:rPr lang="en-US" altLang="zh-CN" sz="3200" dirty="0" smtClean="0"/>
              <a:t>(D+L)</a:t>
            </a:r>
            <a:r>
              <a:rPr lang="en-US" altLang="zh-CN" sz="3200" baseline="30000" dirty="0" smtClean="0"/>
              <a:t>-1 </a:t>
            </a:r>
            <a:r>
              <a:rPr lang="en-US" altLang="zh-CN" sz="3200" dirty="0" smtClean="0">
                <a:solidFill>
                  <a:srgbClr val="FF3300"/>
                </a:solidFill>
                <a:sym typeface="Symbol" pitchFamily="18" charset="2"/>
              </a:rPr>
              <a:t>|</a:t>
            </a:r>
            <a:r>
              <a:rPr lang="en-US" altLang="zh-CN" sz="3200" baseline="30000" dirty="0" smtClean="0">
                <a:solidFill>
                  <a:srgbClr val="FF3300"/>
                </a:solidFill>
              </a:rPr>
              <a:t> </a:t>
            </a:r>
            <a:r>
              <a:rPr lang="en-US" altLang="zh-CN" sz="3200" dirty="0" smtClean="0">
                <a:solidFill>
                  <a:srgbClr val="FF3300"/>
                </a:solidFill>
                <a:sym typeface="Symbol" pitchFamily="18" charset="2"/>
              </a:rPr>
              <a:t>|</a:t>
            </a:r>
            <a:r>
              <a:rPr lang="en-US" altLang="zh-CN" sz="3200" baseline="30000" dirty="0" smtClean="0"/>
              <a:t> </a:t>
            </a:r>
            <a:r>
              <a:rPr lang="zh-CN" altLang="en-US" sz="3200" dirty="0" smtClean="0">
                <a:sym typeface="Symbol" pitchFamily="18" charset="2"/>
              </a:rPr>
              <a:t></a:t>
            </a:r>
            <a:r>
              <a:rPr lang="en-US" altLang="zh-CN" sz="3200" dirty="0" smtClean="0"/>
              <a:t>(D+L)</a:t>
            </a:r>
            <a:r>
              <a:rPr lang="en-US" altLang="zh-CN" sz="3200" dirty="0" smtClean="0">
                <a:sym typeface="Symbol" pitchFamily="18" charset="2"/>
              </a:rPr>
              <a:t>+</a:t>
            </a:r>
            <a:r>
              <a:rPr lang="en-US" altLang="zh-CN" sz="3200" dirty="0" smtClean="0"/>
              <a:t>U</a:t>
            </a:r>
            <a:r>
              <a:rPr lang="en-US" altLang="zh-CN" sz="3200" dirty="0" smtClean="0">
                <a:solidFill>
                  <a:srgbClr val="FF3300"/>
                </a:solidFill>
                <a:sym typeface="Symbol" pitchFamily="18" charset="2"/>
              </a:rPr>
              <a:t>|</a:t>
            </a:r>
            <a:r>
              <a:rPr lang="en-US" altLang="zh-CN" sz="3200" dirty="0" smtClean="0">
                <a:sym typeface="Symbol" pitchFamily="18" charset="2"/>
              </a:rPr>
              <a:t>=0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3200" dirty="0" smtClean="0">
                <a:sym typeface="Symbol" pitchFamily="18" charset="2"/>
              </a:rPr>
              <a:t>       知</a:t>
            </a:r>
            <a:r>
              <a:rPr lang="zh-CN" altLang="en-US" sz="3200" dirty="0" smtClean="0">
                <a:solidFill>
                  <a:srgbClr val="FF3300"/>
                </a:solidFill>
                <a:sym typeface="Symbol" pitchFamily="18" charset="2"/>
              </a:rPr>
              <a:t> </a:t>
            </a:r>
            <a:r>
              <a:rPr lang="en-US" altLang="zh-CN" sz="3200" dirty="0">
                <a:solidFill>
                  <a:srgbClr val="FF3300"/>
                </a:solidFill>
              </a:rPr>
              <a:t>G</a:t>
            </a:r>
            <a:r>
              <a:rPr lang="zh-CN" altLang="en-US" sz="3200" dirty="0">
                <a:solidFill>
                  <a:srgbClr val="FF3300"/>
                </a:solidFill>
              </a:rPr>
              <a:t>的</a:t>
            </a:r>
            <a:r>
              <a:rPr lang="zh-CN" altLang="en-US" sz="3200" dirty="0" smtClean="0">
                <a:solidFill>
                  <a:srgbClr val="FF3300"/>
                </a:solidFill>
              </a:rPr>
              <a:t>特征值</a:t>
            </a:r>
            <a:r>
              <a:rPr lang="zh-CN" altLang="en-US" sz="3200" dirty="0" smtClean="0">
                <a:solidFill>
                  <a:srgbClr val="FF3300"/>
                </a:solidFill>
                <a:sym typeface="Symbol" pitchFamily="18" charset="2"/>
              </a:rPr>
              <a:t></a:t>
            </a:r>
            <a:r>
              <a:rPr lang="zh-CN" altLang="en-US" sz="3200" dirty="0" smtClean="0">
                <a:sym typeface="Symbol" pitchFamily="18" charset="2"/>
              </a:rPr>
              <a:t>满足</a:t>
            </a:r>
            <a:r>
              <a:rPr lang="zh-CN" altLang="en-US" sz="3200" dirty="0" smtClean="0">
                <a:solidFill>
                  <a:srgbClr val="FF3300"/>
                </a:solidFill>
              </a:rPr>
              <a:t> </a:t>
            </a:r>
            <a:r>
              <a:rPr lang="en-US" altLang="zh-CN" sz="3200" dirty="0" smtClean="0">
                <a:solidFill>
                  <a:srgbClr val="FF3300"/>
                </a:solidFill>
                <a:sym typeface="Symbol" pitchFamily="18" charset="2"/>
              </a:rPr>
              <a:t>|</a:t>
            </a:r>
            <a:r>
              <a:rPr lang="en-US" altLang="zh-CN" sz="3200" baseline="30000" dirty="0" smtClean="0">
                <a:solidFill>
                  <a:srgbClr val="FF3300"/>
                </a:solidFill>
              </a:rPr>
              <a:t> </a:t>
            </a:r>
            <a:r>
              <a:rPr lang="zh-CN" altLang="en-US" sz="3200" dirty="0" smtClean="0">
                <a:solidFill>
                  <a:srgbClr val="FF3300"/>
                </a:solidFill>
                <a:sym typeface="Symbol" pitchFamily="18" charset="2"/>
              </a:rPr>
              <a:t></a:t>
            </a:r>
            <a:r>
              <a:rPr lang="en-US" altLang="zh-CN" sz="3200" dirty="0" smtClean="0">
                <a:solidFill>
                  <a:srgbClr val="FF3300"/>
                </a:solidFill>
              </a:rPr>
              <a:t>(D+L)</a:t>
            </a:r>
            <a:r>
              <a:rPr lang="en-US" altLang="zh-CN" sz="3200" dirty="0" smtClean="0">
                <a:solidFill>
                  <a:srgbClr val="FF3300"/>
                </a:solidFill>
                <a:sym typeface="Symbol" pitchFamily="18" charset="2"/>
              </a:rPr>
              <a:t>+</a:t>
            </a:r>
            <a:r>
              <a:rPr lang="en-US" altLang="zh-CN" sz="3200" dirty="0" smtClean="0">
                <a:solidFill>
                  <a:srgbClr val="FF3300"/>
                </a:solidFill>
              </a:rPr>
              <a:t>U</a:t>
            </a:r>
            <a:r>
              <a:rPr lang="en-US" altLang="zh-CN" sz="3200" dirty="0" smtClean="0">
                <a:solidFill>
                  <a:srgbClr val="FF3300"/>
                </a:solidFill>
                <a:sym typeface="Symbol" pitchFamily="18" charset="2"/>
              </a:rPr>
              <a:t>|=0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3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3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3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3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3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31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31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1C613B9-7F8D-4D2E-9767-2E880EBF68E2}" type="slidenum">
              <a:rPr lang="zh-CN" altLang="en-US" b="0"/>
              <a:pPr/>
              <a:t>64</a:t>
            </a:fld>
            <a:endParaRPr lang="en-US" altLang="zh-CN" b="0"/>
          </a:p>
        </p:txBody>
      </p:sp>
      <p:sp>
        <p:nvSpPr>
          <p:cNvPr id="9421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222CF59-0B16-4A30-A033-1E3E33B8D792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11150"/>
            <a:ext cx="8382000" cy="603250"/>
          </a:xfrm>
        </p:spPr>
        <p:txBody>
          <a:bodyPr/>
          <a:lstStyle/>
          <a:p>
            <a:pPr>
              <a:defRPr/>
            </a:pPr>
            <a:r>
              <a:rPr lang="zh-CN" altLang="en-US" smtClean="0"/>
              <a:t>§3.2 赛德尔迭代法的收敛条件</a:t>
            </a:r>
          </a:p>
        </p:txBody>
      </p:sp>
      <p:sp>
        <p:nvSpPr>
          <p:cNvPr id="942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25" y="1700808"/>
            <a:ext cx="8142288" cy="34471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dirty="0" smtClean="0">
                <a:sym typeface="Symbol" pitchFamily="18" charset="2"/>
              </a:rPr>
              <a:t>因为</a:t>
            </a:r>
          </a:p>
        </p:txBody>
      </p:sp>
      <p:graphicFrame>
        <p:nvGraphicFramePr>
          <p:cNvPr id="623620" name="Object 4"/>
          <p:cNvGraphicFramePr>
            <a:graphicFrameLocks noChangeAspect="1"/>
          </p:cNvGraphicFramePr>
          <p:nvPr/>
        </p:nvGraphicFramePr>
        <p:xfrm>
          <a:off x="2771775" y="1108075"/>
          <a:ext cx="5838825" cy="216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78" name="Equation" r:id="rId4" imgW="2819400" imgH="939800" progId="Equation.3">
                  <p:embed/>
                </p:oleObj>
              </mc:Choice>
              <mc:Fallback>
                <p:oleObj name="Equation" r:id="rId4" imgW="2819400" imgH="93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108075"/>
                        <a:ext cx="5838825" cy="216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3621" name="Rectangle 5"/>
          <p:cNvSpPr>
            <a:spLocks noChangeArrowheads="1"/>
          </p:cNvSpPr>
          <p:nvPr/>
        </p:nvSpPr>
        <p:spPr bwMode="auto">
          <a:xfrm>
            <a:off x="323850" y="3195638"/>
            <a:ext cx="8437563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	由于矩阵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G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中的零元素的位置与矩阵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中零元素的位置全同，由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的不可约性可以推得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G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的不可约性；由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A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的对角占优得</a:t>
            </a:r>
          </a:p>
        </p:txBody>
      </p:sp>
      <p:sp>
        <p:nvSpPr>
          <p:cNvPr id="94216" name="Line 6"/>
          <p:cNvSpPr>
            <a:spLocks noChangeShapeType="1"/>
          </p:cNvSpPr>
          <p:nvPr/>
        </p:nvSpPr>
        <p:spPr bwMode="auto">
          <a:xfrm>
            <a:off x="1981200" y="3195638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23623" name="Object 7"/>
          <p:cNvGraphicFramePr>
            <a:graphicFrameLocks noChangeAspect="1"/>
          </p:cNvGraphicFramePr>
          <p:nvPr/>
        </p:nvGraphicFramePr>
        <p:xfrm>
          <a:off x="3419475" y="4003675"/>
          <a:ext cx="355441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79" name="Equation" r:id="rId6" imgW="1485255" imgH="444307" progId="Equation.3">
                  <p:embed/>
                </p:oleObj>
              </mc:Choice>
              <mc:Fallback>
                <p:oleObj name="Equation" r:id="rId6" imgW="1485255" imgH="44430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003675"/>
                        <a:ext cx="3554413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3624" name="Rectangle 8"/>
          <p:cNvSpPr>
            <a:spLocks noChangeArrowheads="1"/>
          </p:cNvSpPr>
          <p:nvPr/>
        </p:nvSpPr>
        <p:spPr bwMode="auto">
          <a:xfrm>
            <a:off x="317500" y="4816475"/>
            <a:ext cx="5473700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7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	两边同乘</a:t>
            </a:r>
            <a:r>
              <a:rPr lang="en-US" altLang="zh-CN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|</a:t>
            </a:r>
            <a:r>
              <a:rPr lang="en-US" altLang="zh-CN" sz="2800" baseline="30000"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|得，</a:t>
            </a:r>
          </a:p>
          <a:p>
            <a:pPr marL="258763" indent="-258763" algn="l" defTabSz="814388">
              <a:lnSpc>
                <a:spcPct val="7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（因为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|</a:t>
            </a:r>
            <a:r>
              <a:rPr lang="zh-CN" altLang="en-US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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| </a:t>
            </a:r>
            <a:r>
              <a:rPr lang="zh-CN" altLang="en-US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1）</a:t>
            </a:r>
          </a:p>
        </p:txBody>
      </p:sp>
      <p:graphicFrame>
        <p:nvGraphicFramePr>
          <p:cNvPr id="623625" name="Object 9"/>
          <p:cNvGraphicFramePr>
            <a:graphicFrameLocks noChangeAspect="1"/>
          </p:cNvGraphicFramePr>
          <p:nvPr/>
        </p:nvGraphicFramePr>
        <p:xfrm>
          <a:off x="2209800" y="5375275"/>
          <a:ext cx="6535738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80" name="Equation" r:id="rId8" imgW="3048000" imgH="444500" progId="Equation.3">
                  <p:embed/>
                </p:oleObj>
              </mc:Choice>
              <mc:Fallback>
                <p:oleObj name="Equation" r:id="rId8" imgW="3048000" imgH="444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375275"/>
                        <a:ext cx="6535738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0" name="Line 12"/>
          <p:cNvSpPr>
            <a:spLocks noChangeShapeType="1"/>
          </p:cNvSpPr>
          <p:nvPr/>
        </p:nvSpPr>
        <p:spPr bwMode="auto">
          <a:xfrm>
            <a:off x="5851525" y="36449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09245" y="1124744"/>
            <a:ext cx="5198859" cy="437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zh-CN" sz="2800" dirty="0" smtClean="0">
                <a:solidFill>
                  <a:srgbClr val="FF3300"/>
                </a:solidFill>
              </a:rPr>
              <a:t>G</a:t>
            </a:r>
            <a:r>
              <a:rPr lang="zh-CN" altLang="en-US" sz="2800" dirty="0">
                <a:solidFill>
                  <a:srgbClr val="FF3300"/>
                </a:solidFill>
              </a:rPr>
              <a:t>的特征值</a:t>
            </a:r>
            <a:r>
              <a:rPr lang="zh-CN" altLang="en-US" sz="2800" dirty="0">
                <a:solidFill>
                  <a:srgbClr val="FF3300"/>
                </a:solidFill>
                <a:sym typeface="Symbol" pitchFamily="18" charset="2"/>
              </a:rPr>
              <a:t></a:t>
            </a:r>
            <a:r>
              <a:rPr lang="zh-CN" altLang="en-US" sz="2800" dirty="0">
                <a:sym typeface="Symbol" pitchFamily="18" charset="2"/>
              </a:rPr>
              <a:t>满足</a:t>
            </a:r>
            <a:r>
              <a:rPr lang="zh-CN" altLang="en-US" sz="2800" dirty="0">
                <a:solidFill>
                  <a:srgbClr val="FF3300"/>
                </a:solidFill>
              </a:rPr>
              <a:t> </a:t>
            </a:r>
            <a:r>
              <a:rPr lang="en-US" altLang="zh-CN" sz="2800" dirty="0">
                <a:solidFill>
                  <a:srgbClr val="FF3300"/>
                </a:solidFill>
                <a:sym typeface="Symbol" pitchFamily="18" charset="2"/>
              </a:rPr>
              <a:t>|</a:t>
            </a:r>
            <a:r>
              <a:rPr lang="en-US" altLang="zh-CN" sz="2800" baseline="30000" dirty="0">
                <a:solidFill>
                  <a:srgbClr val="FF3300"/>
                </a:solidFill>
              </a:rPr>
              <a:t> </a:t>
            </a:r>
            <a:r>
              <a:rPr lang="zh-CN" altLang="en-US" sz="2800" dirty="0">
                <a:solidFill>
                  <a:srgbClr val="FF3300"/>
                </a:solidFill>
                <a:sym typeface="Symbol" pitchFamily="18" charset="2"/>
              </a:rPr>
              <a:t></a:t>
            </a:r>
            <a:r>
              <a:rPr lang="en-US" altLang="zh-CN" sz="2800" dirty="0">
                <a:solidFill>
                  <a:srgbClr val="FF3300"/>
                </a:solidFill>
              </a:rPr>
              <a:t>(D+L)</a:t>
            </a:r>
            <a:r>
              <a:rPr lang="en-US" altLang="zh-CN" sz="2800" dirty="0">
                <a:solidFill>
                  <a:srgbClr val="FF3300"/>
                </a:solidFill>
                <a:sym typeface="Symbol" pitchFamily="18" charset="2"/>
              </a:rPr>
              <a:t>+</a:t>
            </a:r>
            <a:r>
              <a:rPr lang="en-US" altLang="zh-CN" sz="2800" dirty="0">
                <a:solidFill>
                  <a:srgbClr val="FF3300"/>
                </a:solidFill>
              </a:rPr>
              <a:t>U</a:t>
            </a:r>
            <a:r>
              <a:rPr lang="en-US" altLang="zh-CN" sz="2800" dirty="0">
                <a:solidFill>
                  <a:srgbClr val="FF3300"/>
                </a:solidFill>
                <a:sym typeface="Symbol" pitchFamily="18" charset="2"/>
              </a:rPr>
              <a:t>|=0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3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3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2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623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6236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2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21" grpId="0" autoUpdateAnimBg="0"/>
      <p:bldP spid="623624" grpId="0" build="p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FF88968-0431-452C-9032-316AA80CC823}" type="slidenum">
              <a:rPr lang="zh-CN" altLang="en-US" b="0"/>
              <a:pPr/>
              <a:t>65</a:t>
            </a:fld>
            <a:endParaRPr lang="en-US" altLang="zh-CN" b="0"/>
          </a:p>
        </p:txBody>
      </p:sp>
      <p:sp>
        <p:nvSpPr>
          <p:cNvPr id="9523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0A1240C-2359-4518-A2FB-6BEF3CF02A3A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4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11150"/>
            <a:ext cx="8382000" cy="603250"/>
          </a:xfrm>
        </p:spPr>
        <p:txBody>
          <a:bodyPr/>
          <a:lstStyle/>
          <a:p>
            <a:pPr>
              <a:defRPr/>
            </a:pPr>
            <a:r>
              <a:rPr lang="zh-CN" altLang="en-US" smtClean="0"/>
              <a:t>§3.2 赛德尔迭代法的收敛条件</a:t>
            </a:r>
          </a:p>
        </p:txBody>
      </p:sp>
      <p:sp>
        <p:nvSpPr>
          <p:cNvPr id="95237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84132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dirty="0" smtClean="0"/>
              <a:t>所以</a:t>
            </a:r>
            <a:r>
              <a:rPr lang="en-US" altLang="zh-CN" dirty="0" smtClean="0"/>
              <a:t>G</a:t>
            </a:r>
            <a:r>
              <a:rPr lang="zh-CN" altLang="en-US" dirty="0" smtClean="0"/>
              <a:t>也是不可约性对角占优的矩阵。根据引理 </a:t>
            </a:r>
            <a:r>
              <a:rPr lang="zh-CN" altLang="en-US" dirty="0" smtClean="0">
                <a:solidFill>
                  <a:srgbClr val="0000FF"/>
                </a:solidFill>
              </a:rPr>
              <a:t>(</a:t>
            </a:r>
            <a:r>
              <a:rPr lang="en-US" altLang="zh-CN" dirty="0" smtClean="0">
                <a:solidFill>
                  <a:srgbClr val="0000FF"/>
                </a:solidFill>
              </a:rPr>
              <a:t>P97</a:t>
            </a:r>
            <a:r>
              <a:rPr lang="zh-CN" altLang="en-US" dirty="0" smtClean="0">
                <a:solidFill>
                  <a:srgbClr val="0000FF"/>
                </a:solidFill>
              </a:rPr>
              <a:t>若</a:t>
            </a:r>
            <a:r>
              <a:rPr lang="en-US" altLang="zh-CN" dirty="0" smtClean="0">
                <a:solidFill>
                  <a:srgbClr val="0000FF"/>
                </a:solidFill>
              </a:rPr>
              <a:t>A</a:t>
            </a:r>
            <a:r>
              <a:rPr lang="zh-CN" altLang="en-US" dirty="0" smtClean="0">
                <a:solidFill>
                  <a:srgbClr val="0000FF"/>
                </a:solidFill>
              </a:rPr>
              <a:t>不可约，且具有对角占优，则</a:t>
            </a:r>
            <a:r>
              <a:rPr lang="en-US" altLang="zh-CN" dirty="0" smtClean="0">
                <a:solidFill>
                  <a:srgbClr val="0000FF"/>
                </a:solidFill>
              </a:rPr>
              <a:t>A</a:t>
            </a:r>
            <a:r>
              <a:rPr lang="zh-CN" altLang="en-US" dirty="0" smtClean="0">
                <a:solidFill>
                  <a:srgbClr val="0000FF"/>
                </a:solidFill>
              </a:rPr>
              <a:t>为非奇异矩阵且</a:t>
            </a:r>
            <a:r>
              <a:rPr lang="en-US" altLang="zh-CN" sz="3200" dirty="0" smtClean="0">
                <a:solidFill>
                  <a:srgbClr val="0000FF"/>
                </a:solidFill>
                <a:sym typeface="Symbol" pitchFamily="18" charset="2"/>
              </a:rPr>
              <a:t>a</a:t>
            </a:r>
            <a:r>
              <a:rPr lang="en-US" altLang="zh-CN" sz="3200" baseline="-25000" dirty="0" smtClean="0">
                <a:solidFill>
                  <a:srgbClr val="0000FF"/>
                </a:solidFill>
                <a:sym typeface="Symbol" pitchFamily="18" charset="2"/>
              </a:rPr>
              <a:t>ii</a:t>
            </a:r>
            <a:r>
              <a:rPr lang="en-US" altLang="zh-CN" sz="3200" dirty="0" smtClean="0">
                <a:solidFill>
                  <a:srgbClr val="0000FF"/>
                </a:solidFill>
                <a:sym typeface="Symbol" pitchFamily="18" charset="2"/>
              </a:rPr>
              <a:t>0 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FF"/>
                </a:solidFill>
              </a:rPr>
              <a:t>   定义：若方阵</a:t>
            </a:r>
            <a:r>
              <a:rPr lang="en-US" altLang="zh-CN" dirty="0" smtClean="0">
                <a:solidFill>
                  <a:srgbClr val="0000FF"/>
                </a:solidFill>
              </a:rPr>
              <a:t>A</a:t>
            </a:r>
            <a:r>
              <a:rPr lang="zh-CN" altLang="en-US" dirty="0" smtClean="0">
                <a:solidFill>
                  <a:srgbClr val="0000FF"/>
                </a:solidFill>
              </a:rPr>
              <a:t>的行列式|</a:t>
            </a:r>
            <a:r>
              <a:rPr lang="en-US" altLang="zh-CN" dirty="0" smtClean="0">
                <a:solidFill>
                  <a:srgbClr val="0000FF"/>
                </a:solidFill>
              </a:rPr>
              <a:t>A|=0，</a:t>
            </a:r>
            <a:r>
              <a:rPr lang="zh-CN" altLang="en-US" dirty="0" smtClean="0">
                <a:solidFill>
                  <a:srgbClr val="0000FF"/>
                </a:solidFill>
              </a:rPr>
              <a:t>则称</a:t>
            </a:r>
            <a:r>
              <a:rPr lang="en-US" altLang="zh-CN" dirty="0" smtClean="0">
                <a:solidFill>
                  <a:srgbClr val="0000FF"/>
                </a:solidFill>
              </a:rPr>
              <a:t>A</a:t>
            </a:r>
            <a:r>
              <a:rPr lang="zh-CN" altLang="en-US" dirty="0" smtClean="0">
                <a:solidFill>
                  <a:srgbClr val="0000FF"/>
                </a:solidFill>
              </a:rPr>
              <a:t>为奇异矩阵,若|</a:t>
            </a:r>
            <a:r>
              <a:rPr lang="en-US" altLang="zh-CN" dirty="0" smtClean="0">
                <a:solidFill>
                  <a:srgbClr val="0000FF"/>
                </a:solidFill>
              </a:rPr>
              <a:t>A|≠0,</a:t>
            </a:r>
            <a:r>
              <a:rPr lang="zh-CN" altLang="en-US" dirty="0" smtClean="0">
                <a:solidFill>
                  <a:srgbClr val="0000FF"/>
                </a:solidFill>
              </a:rPr>
              <a:t>则称</a:t>
            </a:r>
            <a:r>
              <a:rPr lang="en-US" altLang="zh-CN" dirty="0" smtClean="0">
                <a:solidFill>
                  <a:srgbClr val="0000FF"/>
                </a:solidFill>
              </a:rPr>
              <a:t>A</a:t>
            </a:r>
            <a:r>
              <a:rPr lang="zh-CN" altLang="en-US" dirty="0" smtClean="0">
                <a:solidFill>
                  <a:srgbClr val="0000FF"/>
                </a:solidFill>
              </a:rPr>
              <a:t>为非奇异矩阵 </a:t>
            </a:r>
            <a:r>
              <a:rPr lang="en-US" altLang="zh-CN" dirty="0" smtClean="0">
                <a:solidFill>
                  <a:srgbClr val="0000FF"/>
                </a:solidFill>
              </a:rPr>
              <a:t>)</a:t>
            </a:r>
            <a:endParaRPr lang="zh-CN" altLang="en-US" dirty="0" smtClean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zh-CN" altLang="en-US" dirty="0" smtClean="0"/>
              <a:t>知  |</a:t>
            </a:r>
            <a:r>
              <a:rPr lang="en-US" altLang="zh-CN" dirty="0" smtClean="0"/>
              <a:t>G</a:t>
            </a:r>
            <a:r>
              <a:rPr lang="zh-CN" altLang="en-US" dirty="0" smtClean="0"/>
              <a:t>| </a:t>
            </a:r>
            <a:r>
              <a:rPr lang="en-US" altLang="zh-CN" dirty="0" smtClean="0">
                <a:sym typeface="Symbol" pitchFamily="18" charset="2"/>
              </a:rPr>
              <a:t>0，</a:t>
            </a:r>
            <a:r>
              <a:rPr lang="zh-CN" altLang="en-US" dirty="0" smtClean="0">
                <a:sym typeface="Symbol" pitchFamily="18" charset="2"/>
              </a:rPr>
              <a:t>与</a:t>
            </a:r>
            <a:r>
              <a:rPr lang="en-US" altLang="zh-CN" dirty="0">
                <a:solidFill>
                  <a:srgbClr val="FF33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|</a:t>
            </a:r>
            <a:r>
              <a:rPr lang="en-US" altLang="zh-CN" baseline="30000" dirty="0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dirty="0">
                <a:solidFill>
                  <a:srgbClr val="FF33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</a:t>
            </a:r>
            <a:r>
              <a:rPr lang="en-US" altLang="zh-CN" dirty="0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(D+L)</a:t>
            </a:r>
            <a:r>
              <a:rPr lang="en-US" altLang="zh-CN" dirty="0">
                <a:solidFill>
                  <a:srgbClr val="FF33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+</a:t>
            </a:r>
            <a:r>
              <a:rPr lang="en-US" altLang="zh-CN" dirty="0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U</a:t>
            </a:r>
            <a:r>
              <a:rPr lang="en-US" altLang="zh-CN" dirty="0">
                <a:solidFill>
                  <a:srgbClr val="FF33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|=</a:t>
            </a:r>
            <a:r>
              <a:rPr lang="en-US" altLang="zh-CN" dirty="0" smtClean="0">
                <a:solidFill>
                  <a:srgbClr val="FF33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0</a:t>
            </a:r>
            <a:r>
              <a:rPr lang="zh-CN" altLang="en-US" dirty="0" smtClean="0">
                <a:solidFill>
                  <a:srgbClr val="FF33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矛盾</a:t>
            </a:r>
            <a:endParaRPr lang="zh-CN" altLang="en-US" dirty="0">
              <a:latin typeface="Times New Roman" pitchFamily="18" charset="0"/>
              <a:ea typeface="黑体" pitchFamily="49" charset="-122"/>
              <a:sym typeface="Symbol" pitchFamily="18" charset="2"/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dirty="0" smtClean="0">
                <a:sym typeface="Symbol" pitchFamily="18" charset="2"/>
              </a:rPr>
              <a:t>即假设</a:t>
            </a:r>
            <a:r>
              <a:rPr lang="en-US" altLang="zh-CN" sz="3200" dirty="0" smtClean="0">
                <a:solidFill>
                  <a:srgbClr val="FF3300"/>
                </a:solidFill>
              </a:rPr>
              <a:t>G</a:t>
            </a:r>
            <a:r>
              <a:rPr lang="zh-CN" altLang="en-US" sz="3200" dirty="0" smtClean="0">
                <a:solidFill>
                  <a:srgbClr val="FF3300"/>
                </a:solidFill>
              </a:rPr>
              <a:t>的特征值有|</a:t>
            </a:r>
            <a:r>
              <a:rPr lang="zh-CN" altLang="en-US" sz="3200" dirty="0" smtClean="0">
                <a:solidFill>
                  <a:srgbClr val="FF3300"/>
                </a:solidFill>
                <a:sym typeface="Symbol" pitchFamily="18" charset="2"/>
              </a:rPr>
              <a:t></a:t>
            </a:r>
            <a:r>
              <a:rPr lang="zh-CN" altLang="en-US" sz="3200" dirty="0" smtClean="0">
                <a:solidFill>
                  <a:srgbClr val="FF3300"/>
                </a:solidFill>
              </a:rPr>
              <a:t>|</a:t>
            </a:r>
            <a:r>
              <a:rPr lang="zh-CN" altLang="en-US" sz="3200" dirty="0" smtClean="0">
                <a:solidFill>
                  <a:srgbClr val="FF3300"/>
                </a:solidFill>
                <a:sym typeface="Symbol" pitchFamily="18" charset="2"/>
              </a:rPr>
              <a:t>1</a:t>
            </a:r>
            <a:r>
              <a:rPr lang="zh-CN" altLang="en-US" dirty="0" smtClean="0">
                <a:sym typeface="Symbol" pitchFamily="18" charset="2"/>
              </a:rPr>
              <a:t>矛盾，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dirty="0" smtClean="0">
                <a:sym typeface="Symbol" pitchFamily="18" charset="2"/>
              </a:rPr>
              <a:t>		所以</a:t>
            </a:r>
            <a:r>
              <a:rPr lang="zh-CN" altLang="en-US" dirty="0" smtClean="0"/>
              <a:t>|</a:t>
            </a:r>
            <a:r>
              <a:rPr lang="zh-CN" altLang="en-US" dirty="0" smtClean="0">
                <a:sym typeface="Symbol" pitchFamily="18" charset="2"/>
              </a:rPr>
              <a:t></a:t>
            </a:r>
            <a:r>
              <a:rPr lang="zh-CN" altLang="en-US" dirty="0" smtClean="0"/>
              <a:t>|&lt;</a:t>
            </a:r>
            <a:r>
              <a:rPr lang="zh-CN" altLang="en-US" dirty="0" smtClean="0">
                <a:sym typeface="Symbol" pitchFamily="18" charset="2"/>
              </a:rPr>
              <a:t>1，即(</a:t>
            </a:r>
            <a:r>
              <a:rPr lang="en-US" altLang="zh-CN" dirty="0" smtClean="0">
                <a:sym typeface="Symbol" pitchFamily="18" charset="2"/>
              </a:rPr>
              <a:t>G)&lt;1。</a:t>
            </a:r>
            <a:r>
              <a:rPr lang="zh-CN" altLang="en-US" dirty="0" smtClean="0">
                <a:sym typeface="Symbol" pitchFamily="18" charset="2"/>
              </a:rPr>
              <a:t>定理得证</a:t>
            </a:r>
          </a:p>
          <a:p>
            <a:pPr>
              <a:lnSpc>
                <a:spcPct val="40000"/>
              </a:lnSpc>
            </a:pPr>
            <a:endParaRPr lang="zh-CN" altLang="en-US" dirty="0" smtClean="0"/>
          </a:p>
          <a:p>
            <a:pPr>
              <a:lnSpc>
                <a:spcPct val="40000"/>
              </a:lnSpc>
            </a:pPr>
            <a:endParaRPr lang="zh-CN" altLang="en-US" dirty="0" smtClean="0"/>
          </a:p>
        </p:txBody>
      </p:sp>
      <p:sp>
        <p:nvSpPr>
          <p:cNvPr id="95238" name="Line 12"/>
          <p:cNvSpPr>
            <a:spLocks noChangeShapeType="1"/>
          </p:cNvSpPr>
          <p:nvPr/>
        </p:nvSpPr>
        <p:spPr bwMode="auto">
          <a:xfrm>
            <a:off x="1331913" y="119697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9" name="Line 13"/>
          <p:cNvSpPr>
            <a:spLocks noChangeShapeType="1"/>
          </p:cNvSpPr>
          <p:nvPr/>
        </p:nvSpPr>
        <p:spPr bwMode="auto">
          <a:xfrm>
            <a:off x="1187450" y="3716338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0074" y="1143000"/>
            <a:ext cx="8436421" cy="2930033"/>
          </a:xfrm>
        </p:spPr>
        <p:txBody>
          <a:bodyPr/>
          <a:lstStyle/>
          <a:p>
            <a:r>
              <a:rPr lang="zh-CN" altLang="en-US" dirty="0" smtClean="0"/>
              <a:t>定理4.10   若</a:t>
            </a:r>
            <a:r>
              <a:rPr lang="en-US" altLang="zh-CN" dirty="0" smtClean="0"/>
              <a:t>A</a:t>
            </a:r>
            <a:r>
              <a:rPr lang="zh-CN" altLang="en-US" dirty="0" smtClean="0"/>
              <a:t>为</a:t>
            </a:r>
            <a:r>
              <a:rPr lang="zh-CN" altLang="en-US" dirty="0" smtClean="0">
                <a:sym typeface="Symbol" pitchFamily="18" charset="2"/>
              </a:rPr>
              <a:t>不可约、对角占优矩阵，则</a:t>
            </a:r>
            <a:r>
              <a:rPr lang="zh-CN" altLang="en-US" dirty="0" smtClean="0"/>
              <a:t>高斯-赛德尔</a:t>
            </a:r>
            <a:r>
              <a:rPr lang="zh-CN" altLang="en-US" dirty="0" smtClean="0">
                <a:sym typeface="Symbol" pitchFamily="18" charset="2"/>
              </a:rPr>
              <a:t>迭代法必定收敛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定理4.11   若</a:t>
            </a:r>
            <a:r>
              <a:rPr lang="en-US" altLang="zh-CN" dirty="0" smtClean="0"/>
              <a:t>A</a:t>
            </a:r>
            <a:r>
              <a:rPr lang="zh-CN" altLang="en-US" dirty="0" smtClean="0"/>
              <a:t>对称正定</a:t>
            </a:r>
            <a:r>
              <a:rPr lang="zh-CN" altLang="en-US" dirty="0" smtClean="0">
                <a:sym typeface="Symbol" pitchFamily="18" charset="2"/>
              </a:rPr>
              <a:t>，则</a:t>
            </a:r>
            <a:r>
              <a:rPr lang="zh-CN" altLang="en-US" dirty="0" smtClean="0"/>
              <a:t>高斯-赛德尔</a:t>
            </a:r>
            <a:r>
              <a:rPr lang="zh-CN" altLang="en-US" dirty="0" smtClean="0">
                <a:sym typeface="Symbol" pitchFamily="18" charset="2"/>
              </a:rPr>
              <a:t>迭代法收敛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521CD-799B-4BD7-8BE6-514407F02234}" type="slidenum">
              <a:rPr lang="zh-CN" altLang="en-US" smtClean="0"/>
              <a:pPr>
                <a:defRPr/>
              </a:pPr>
              <a:t>66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2B285DF6-8668-450F-A83D-47C0455A9450}" type="datetime1">
              <a:rPr lang="zh-CN" altLang="en-US" smtClean="0"/>
              <a:pPr>
                <a:defRPr/>
              </a:pPr>
              <a:t>2024/10/13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321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20C5EFE-F682-4966-9719-D59C54F55495}" type="slidenum">
              <a:rPr lang="zh-CN" altLang="en-US" b="0"/>
              <a:pPr/>
              <a:t>67</a:t>
            </a:fld>
            <a:endParaRPr lang="en-US" altLang="zh-CN" b="0"/>
          </a:p>
        </p:txBody>
      </p:sp>
      <p:sp>
        <p:nvSpPr>
          <p:cNvPr id="9625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4624F59B-4C74-4795-BA46-89445DAA8BF8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 smtClean="0"/>
          </a:p>
        </p:txBody>
      </p:sp>
      <p:sp>
        <p:nvSpPr>
          <p:cNvPr id="645124" name="Rectangle 4"/>
          <p:cNvSpPr>
            <a:spLocks noChangeArrowheads="1"/>
          </p:cNvSpPr>
          <p:nvPr/>
        </p:nvSpPr>
        <p:spPr bwMode="auto">
          <a:xfrm>
            <a:off x="5280025" y="2286000"/>
            <a:ext cx="3048000" cy="457200"/>
          </a:xfrm>
          <a:prstGeom prst="rect">
            <a:avLst/>
          </a:prstGeom>
          <a:solidFill>
            <a:srgbClr val="CCFFCC"/>
          </a:solidFill>
          <a:ln w="38100">
            <a:solidFill>
              <a:srgbClr val="CCFFCC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25" name="Rectangle 5"/>
          <p:cNvSpPr>
            <a:spLocks noChangeArrowheads="1"/>
          </p:cNvSpPr>
          <p:nvPr/>
        </p:nvSpPr>
        <p:spPr bwMode="auto">
          <a:xfrm>
            <a:off x="5280025" y="1295400"/>
            <a:ext cx="3048000" cy="457200"/>
          </a:xfrm>
          <a:prstGeom prst="rect">
            <a:avLst/>
          </a:prstGeom>
          <a:solidFill>
            <a:srgbClr val="CCFFCC"/>
          </a:solidFill>
          <a:ln w="38100">
            <a:solidFill>
              <a:srgbClr val="CCFFCC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26" name="Rectangle 6"/>
          <p:cNvSpPr>
            <a:spLocks noChangeArrowheads="1"/>
          </p:cNvSpPr>
          <p:nvPr/>
        </p:nvSpPr>
        <p:spPr bwMode="auto">
          <a:xfrm>
            <a:off x="6727825" y="1676400"/>
            <a:ext cx="838200" cy="609600"/>
          </a:xfrm>
          <a:prstGeom prst="rect">
            <a:avLst/>
          </a:prstGeom>
          <a:solidFill>
            <a:srgbClr val="FFFF99"/>
          </a:solidFill>
          <a:ln w="38100">
            <a:solidFill>
              <a:srgbClr val="FF33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27" name="Rectangle 7"/>
          <p:cNvSpPr>
            <a:spLocks noChangeArrowheads="1"/>
          </p:cNvSpPr>
          <p:nvPr/>
        </p:nvSpPr>
        <p:spPr bwMode="auto">
          <a:xfrm>
            <a:off x="5051425" y="2819400"/>
            <a:ext cx="838200" cy="609600"/>
          </a:xfrm>
          <a:prstGeom prst="rect">
            <a:avLst/>
          </a:prstGeom>
          <a:solidFill>
            <a:srgbClr val="FFFF99"/>
          </a:solidFill>
          <a:ln w="38100">
            <a:solidFill>
              <a:srgbClr val="FF33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6265" name="Object 8"/>
          <p:cNvGraphicFramePr>
            <a:graphicFrameLocks noChangeAspect="1"/>
          </p:cNvGraphicFramePr>
          <p:nvPr/>
        </p:nvGraphicFramePr>
        <p:xfrm>
          <a:off x="250825" y="1096963"/>
          <a:ext cx="44196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6" name="Equation" r:id="rId3" imgW="1841500" imgH="939800" progId="Equation.3">
                  <p:embed/>
                </p:oleObj>
              </mc:Choice>
              <mc:Fallback>
                <p:oleObj name="Equation" r:id="rId3" imgW="1841500" imgH="93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096963"/>
                        <a:ext cx="44196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6" name="Object 9"/>
          <p:cNvGraphicFramePr>
            <a:graphicFrameLocks noChangeAspect="1"/>
          </p:cNvGraphicFramePr>
          <p:nvPr/>
        </p:nvGraphicFramePr>
        <p:xfrm>
          <a:off x="5203825" y="1201738"/>
          <a:ext cx="3200400" cy="215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7" name="Equation" r:id="rId5" imgW="1333500" imgH="914400" progId="Equation.3">
                  <p:embed/>
                </p:oleObj>
              </mc:Choice>
              <mc:Fallback>
                <p:oleObj name="Equation" r:id="rId5" imgW="1333500" imgH="914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1201738"/>
                        <a:ext cx="3200400" cy="215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30" name="Object 10"/>
          <p:cNvGraphicFramePr>
            <a:graphicFrameLocks noChangeAspect="1"/>
          </p:cNvGraphicFramePr>
          <p:nvPr/>
        </p:nvGraphicFramePr>
        <p:xfrm>
          <a:off x="403225" y="3657600"/>
          <a:ext cx="44196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8" name="Equation" r:id="rId7" imgW="1841500" imgH="939800" progId="Equation.3">
                  <p:embed/>
                </p:oleObj>
              </mc:Choice>
              <mc:Fallback>
                <p:oleObj name="Equation" r:id="rId7" imgW="1841500" imgH="93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3657600"/>
                        <a:ext cx="44196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31" name="Object 11"/>
          <p:cNvGraphicFramePr>
            <a:graphicFrameLocks noChangeAspect="1"/>
          </p:cNvGraphicFramePr>
          <p:nvPr/>
        </p:nvGraphicFramePr>
        <p:xfrm>
          <a:off x="631825" y="4267200"/>
          <a:ext cx="27130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9" name="Equation" r:id="rId9" imgW="1130300" imgH="228600" progId="Equation.3">
                  <p:embed/>
                </p:oleObj>
              </mc:Choice>
              <mc:Fallback>
                <p:oleObj name="Equation" r:id="rId9" imgW="11303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25" y="4267200"/>
                        <a:ext cx="27130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32" name="AutoShape 12"/>
          <p:cNvSpPr>
            <a:spLocks noChangeArrowheads="1"/>
          </p:cNvSpPr>
          <p:nvPr/>
        </p:nvSpPr>
        <p:spPr bwMode="auto">
          <a:xfrm flipV="1">
            <a:off x="8404225" y="1295400"/>
            <a:ext cx="533400" cy="838200"/>
          </a:xfrm>
          <a:prstGeom prst="curvedLeftArrow">
            <a:avLst>
              <a:gd name="adj1" fmla="val 31429"/>
              <a:gd name="adj2" fmla="val 62857"/>
              <a:gd name="adj3" fmla="val 33333"/>
            </a:avLst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24" grpId="0" animBg="1"/>
      <p:bldP spid="645125" grpId="0" animBg="1"/>
      <p:bldP spid="645126" grpId="0" animBg="1"/>
      <p:bldP spid="645127" grpId="0" animBg="1"/>
      <p:bldP spid="64513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125E348-DD1D-424A-A99F-266DC757E76F}" type="slidenum">
              <a:rPr lang="zh-CN" altLang="en-US" b="0"/>
              <a:pPr/>
              <a:t>68</a:t>
            </a:fld>
            <a:endParaRPr lang="en-US" altLang="zh-CN" b="0"/>
          </a:p>
        </p:txBody>
      </p:sp>
      <p:sp>
        <p:nvSpPr>
          <p:cNvPr id="9728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AB36A115-AB85-49A8-959B-7C7C8021A10D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 smtClean="0"/>
          </a:p>
        </p:txBody>
      </p:sp>
      <p:sp>
        <p:nvSpPr>
          <p:cNvPr id="97285" name="Rectangle 4"/>
          <p:cNvSpPr>
            <a:spLocks noChangeArrowheads="1"/>
          </p:cNvSpPr>
          <p:nvPr/>
        </p:nvSpPr>
        <p:spPr bwMode="auto">
          <a:xfrm>
            <a:off x="685800" y="2151063"/>
            <a:ext cx="3048000" cy="457200"/>
          </a:xfrm>
          <a:prstGeom prst="rect">
            <a:avLst/>
          </a:prstGeom>
          <a:solidFill>
            <a:srgbClr val="CCFFCC"/>
          </a:solidFill>
          <a:ln w="38100">
            <a:solidFill>
              <a:srgbClr val="CCFFCC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7286" name="Object 5"/>
          <p:cNvGraphicFramePr>
            <a:graphicFrameLocks noChangeAspect="1"/>
          </p:cNvGraphicFramePr>
          <p:nvPr/>
        </p:nvGraphicFramePr>
        <p:xfrm>
          <a:off x="609600" y="1066800"/>
          <a:ext cx="3200400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08" name="Equation" r:id="rId3" imgW="1333500" imgH="914400" progId="Equation.3">
                  <p:embed/>
                </p:oleObj>
              </mc:Choice>
              <mc:Fallback>
                <p:oleObj name="Equation" r:id="rId3" imgW="1333500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066800"/>
                        <a:ext cx="3200400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50" name="Object 6"/>
          <p:cNvGraphicFramePr>
            <a:graphicFrameLocks noChangeAspect="1"/>
          </p:cNvGraphicFramePr>
          <p:nvPr/>
        </p:nvGraphicFramePr>
        <p:xfrm>
          <a:off x="685800" y="2133600"/>
          <a:ext cx="3048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09" name="Equation" r:id="rId5" imgW="1079032" imgH="215806" progId="Equation.3">
                  <p:embed/>
                </p:oleObj>
              </mc:Choice>
              <mc:Fallback>
                <p:oleObj name="Equation" r:id="rId5" imgW="1079032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133600"/>
                        <a:ext cx="3048000" cy="5080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51" name="Object 7"/>
          <p:cNvGraphicFramePr>
            <a:graphicFrameLocks noChangeAspect="1"/>
          </p:cNvGraphicFramePr>
          <p:nvPr/>
        </p:nvGraphicFramePr>
        <p:xfrm>
          <a:off x="762000" y="3200400"/>
          <a:ext cx="2971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10" name="Equation" r:id="rId7" imgW="1079032" imgH="215806" progId="Equation.3">
                  <p:embed/>
                </p:oleObj>
              </mc:Choice>
              <mc:Fallback>
                <p:oleObj name="Equation" r:id="rId7" imgW="1079032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00400"/>
                        <a:ext cx="2971800" cy="5080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52" name="Object 8"/>
          <p:cNvGraphicFramePr>
            <a:graphicFrameLocks noChangeAspect="1"/>
          </p:cNvGraphicFramePr>
          <p:nvPr/>
        </p:nvGraphicFramePr>
        <p:xfrm>
          <a:off x="5334000" y="2209800"/>
          <a:ext cx="28336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11" name="Equation" r:id="rId9" imgW="990170" imgH="215806" progId="Equation.3">
                  <p:embed/>
                </p:oleObj>
              </mc:Choice>
              <mc:Fallback>
                <p:oleObj name="Equation" r:id="rId9" imgW="990170" imgH="21580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209800"/>
                        <a:ext cx="2833688" cy="5080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153" name="AutoShape 9"/>
          <p:cNvSpPr>
            <a:spLocks noChangeArrowheads="1"/>
          </p:cNvSpPr>
          <p:nvPr/>
        </p:nvSpPr>
        <p:spPr bwMode="auto">
          <a:xfrm>
            <a:off x="3810000" y="2209800"/>
            <a:ext cx="533400" cy="838200"/>
          </a:xfrm>
          <a:prstGeom prst="curvedLeftArrow">
            <a:avLst>
              <a:gd name="adj1" fmla="val 31429"/>
              <a:gd name="adj2" fmla="val 62857"/>
              <a:gd name="adj3" fmla="val 33333"/>
            </a:avLst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6154" name="AutoShape 10"/>
          <p:cNvSpPr>
            <a:spLocks noChangeArrowheads="1"/>
          </p:cNvSpPr>
          <p:nvPr/>
        </p:nvSpPr>
        <p:spPr bwMode="auto">
          <a:xfrm>
            <a:off x="4648200" y="1295400"/>
            <a:ext cx="533400" cy="2438400"/>
          </a:xfrm>
          <a:prstGeom prst="curvedLeftArrow">
            <a:avLst>
              <a:gd name="adj1" fmla="val 46476"/>
              <a:gd name="adj2" fmla="val 125037"/>
              <a:gd name="adj3" fmla="val 33333"/>
            </a:avLst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46155" name="Object 11"/>
          <p:cNvGraphicFramePr>
            <a:graphicFrameLocks noChangeAspect="1"/>
          </p:cNvGraphicFramePr>
          <p:nvPr/>
        </p:nvGraphicFramePr>
        <p:xfrm>
          <a:off x="685800" y="4038600"/>
          <a:ext cx="3200400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12" name="Equation" r:id="rId11" imgW="1333500" imgH="914400" progId="Equation.3">
                  <p:embed/>
                </p:oleObj>
              </mc:Choice>
              <mc:Fallback>
                <p:oleObj name="Equation" r:id="rId11" imgW="1333500" imgH="914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038600"/>
                        <a:ext cx="3200400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56" name="Object 12"/>
          <p:cNvGraphicFramePr>
            <a:graphicFrameLocks noChangeAspect="1"/>
          </p:cNvGraphicFramePr>
          <p:nvPr/>
        </p:nvGraphicFramePr>
        <p:xfrm>
          <a:off x="5105400" y="3962400"/>
          <a:ext cx="3200400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13" name="Equation" r:id="rId12" imgW="1333500" imgH="914400" progId="Equation.3">
                  <p:embed/>
                </p:oleObj>
              </mc:Choice>
              <mc:Fallback>
                <p:oleObj name="Equation" r:id="rId12" imgW="1333500" imgH="914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962400"/>
                        <a:ext cx="3200400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53" grpId="0" animBg="1"/>
      <p:bldP spid="64615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304800"/>
            <a:ext cx="8142288" cy="6096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注意的问题</a:t>
            </a:r>
            <a:endParaRPr lang="zh-CN" altLang="en-US" dirty="0"/>
          </a:p>
        </p:txBody>
      </p:sp>
      <p:sp>
        <p:nvSpPr>
          <p:cNvPr id="98307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B4605D1-3335-40F6-AFFF-1BD0601503D2}" type="slidenum">
              <a:rPr lang="zh-CN" altLang="en-US" b="0"/>
              <a:pPr/>
              <a:t>69</a:t>
            </a:fld>
            <a:endParaRPr lang="en-US" altLang="zh-CN" b="0"/>
          </a:p>
        </p:txBody>
      </p:sp>
      <p:sp>
        <p:nvSpPr>
          <p:cNvPr id="98308" name="日期占位符 5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4DC194C-EC38-4917-AD71-B3FA04F3351E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3395663"/>
            <a:ext cx="8075613" cy="774700"/>
          </a:xfrm>
        </p:spPr>
        <p:txBody>
          <a:bodyPr/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mtClean="0">
                <a:ea typeface="楷体_GB2312" pitchFamily="1" charset="-122"/>
              </a:rPr>
              <a:t>（</a:t>
            </a:r>
            <a:r>
              <a:rPr lang="en-US" altLang="zh-CN" smtClean="0">
                <a:ea typeface="楷体_GB2312" pitchFamily="1" charset="-122"/>
              </a:rPr>
              <a:t>2</a:t>
            </a:r>
            <a:r>
              <a:rPr lang="zh-CN" altLang="en-US" smtClean="0">
                <a:ea typeface="楷体_GB2312" pitchFamily="1" charset="-122"/>
              </a:rPr>
              <a:t>）</a:t>
            </a:r>
            <a:r>
              <a:rPr lang="en-US" altLang="zh-CN" smtClean="0">
                <a:ea typeface="楷体_GB2312" pitchFamily="1" charset="-122"/>
              </a:rPr>
              <a:t>Jacobi</a:t>
            </a:r>
            <a:r>
              <a:rPr lang="zh-CN" altLang="en-US" smtClean="0">
                <a:ea typeface="楷体_GB2312" pitchFamily="1" charset="-122"/>
              </a:rPr>
              <a:t>迭代法和</a:t>
            </a:r>
            <a:r>
              <a:rPr lang="en-US" altLang="zh-CN" smtClean="0">
                <a:ea typeface="楷体_GB2312" pitchFamily="1" charset="-122"/>
              </a:rPr>
              <a:t>Gauss-Seidel</a:t>
            </a:r>
            <a:r>
              <a:rPr lang="zh-CN" altLang="en-US" smtClean="0">
                <a:ea typeface="楷体_GB2312" pitchFamily="1" charset="-122"/>
              </a:rPr>
              <a:t>迭代法的收敛            性没有必然的联系：</a:t>
            </a:r>
            <a:endParaRPr lang="zh-CN" altLang="en-US" smtClean="0">
              <a:latin typeface="System" charset="-122"/>
              <a:ea typeface="System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19138" y="4221163"/>
            <a:ext cx="8245475" cy="1303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2800">
                <a:latin typeface="Times New Roman" pitchFamily="18" charset="0"/>
                <a:ea typeface="楷体_GB2312" pitchFamily="1" charset="-122"/>
              </a:rPr>
              <a:t>即当</a:t>
            </a:r>
            <a:r>
              <a:rPr kumimoji="1" lang="en-US" altLang="zh-CN" sz="2800">
                <a:latin typeface="Times New Roman" pitchFamily="18" charset="0"/>
                <a:ea typeface="楷体_GB2312" pitchFamily="1" charset="-122"/>
              </a:rPr>
              <a:t>Gauss-Seidel</a:t>
            </a:r>
            <a:r>
              <a:rPr kumimoji="1" lang="zh-CN" altLang="en-US" sz="2800">
                <a:latin typeface="Times New Roman" pitchFamily="18" charset="0"/>
                <a:ea typeface="楷体_GB2312" pitchFamily="1" charset="-122"/>
              </a:rPr>
              <a:t>法收敛时，</a:t>
            </a:r>
            <a:r>
              <a:rPr kumimoji="1" lang="en-US" altLang="zh-CN" sz="2800">
                <a:latin typeface="Times New Roman" pitchFamily="18" charset="0"/>
                <a:ea typeface="楷体_GB2312" pitchFamily="1" charset="-122"/>
              </a:rPr>
              <a:t>Jacobi</a:t>
            </a:r>
            <a:r>
              <a:rPr kumimoji="1" lang="zh-CN" altLang="en-US" sz="2800">
                <a:latin typeface="Times New Roman" pitchFamily="18" charset="0"/>
                <a:ea typeface="楷体_GB2312" pitchFamily="1" charset="-122"/>
              </a:rPr>
              <a:t>法可能不收敛；</a:t>
            </a:r>
          </a:p>
          <a:p>
            <a:pPr algn="l">
              <a:lnSpc>
                <a:spcPct val="150000"/>
              </a:lnSpc>
            </a:pPr>
            <a:r>
              <a:rPr kumimoji="1" lang="zh-CN" altLang="en-US" sz="2800">
                <a:latin typeface="Times New Roman" pitchFamily="18" charset="0"/>
                <a:ea typeface="楷体_GB2312" pitchFamily="1" charset="-122"/>
              </a:rPr>
              <a:t>而</a:t>
            </a:r>
            <a:r>
              <a:rPr kumimoji="1" lang="en-US" altLang="zh-CN" sz="2800">
                <a:latin typeface="Times New Roman" pitchFamily="18" charset="0"/>
                <a:ea typeface="楷体_GB2312" pitchFamily="1" charset="-122"/>
              </a:rPr>
              <a:t>Jacobi</a:t>
            </a:r>
            <a:r>
              <a:rPr kumimoji="1" lang="zh-CN" altLang="en-US" sz="2800">
                <a:latin typeface="Times New Roman" pitchFamily="18" charset="0"/>
                <a:ea typeface="楷体_GB2312" pitchFamily="1" charset="-122"/>
              </a:rPr>
              <a:t>法收敛时， </a:t>
            </a:r>
            <a:r>
              <a:rPr kumimoji="1" lang="en-US" altLang="zh-CN" sz="2800">
                <a:latin typeface="Times New Roman" pitchFamily="18" charset="0"/>
                <a:ea typeface="楷体_GB2312" pitchFamily="1" charset="-122"/>
              </a:rPr>
              <a:t>Gauss-Seidel</a:t>
            </a:r>
            <a:r>
              <a:rPr kumimoji="1" lang="zh-CN" altLang="en-US" sz="2800">
                <a:latin typeface="Times New Roman" pitchFamily="18" charset="0"/>
                <a:ea typeface="楷体_GB2312" pitchFamily="1" charset="-122"/>
              </a:rPr>
              <a:t>法也可能不收敛。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57200" y="1093788"/>
            <a:ext cx="764381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2800" dirty="0">
                <a:latin typeface="Times New Roman" pitchFamily="18" charset="0"/>
                <a:ea typeface="楷体_GB2312" pitchFamily="1" charset="-122"/>
              </a:rPr>
              <a:t>（</a:t>
            </a:r>
            <a:r>
              <a:rPr kumimoji="1" lang="en-US" altLang="zh-CN" sz="2800" dirty="0">
                <a:latin typeface="Times New Roman" pitchFamily="18" charset="0"/>
                <a:ea typeface="楷体_GB2312" pitchFamily="1" charset="-122"/>
              </a:rPr>
              <a:t>1</a:t>
            </a:r>
            <a:r>
              <a:rPr kumimoji="1" lang="zh-CN" altLang="en-US" sz="2800" dirty="0">
                <a:latin typeface="Times New Roman" pitchFamily="18" charset="0"/>
                <a:ea typeface="楷体_GB2312" pitchFamily="1" charset="-122"/>
              </a:rPr>
              <a:t>）</a:t>
            </a:r>
            <a:r>
              <a:rPr kumimoji="1" lang="en-US" altLang="zh-CN" sz="2800" dirty="0">
                <a:latin typeface="Times New Roman" pitchFamily="18" charset="0"/>
                <a:ea typeface="楷体_GB2312" pitchFamily="1" charset="-122"/>
              </a:rPr>
              <a:t>Jacobi</a:t>
            </a:r>
            <a:r>
              <a:rPr kumimoji="1" lang="zh-CN" altLang="en-US" sz="2800" dirty="0">
                <a:latin typeface="Times New Roman" pitchFamily="18" charset="0"/>
                <a:ea typeface="楷体_GB2312" pitchFamily="1" charset="-122"/>
              </a:rPr>
              <a:t>迭代法和</a:t>
            </a:r>
            <a:r>
              <a:rPr kumimoji="1" lang="en-US" altLang="zh-CN" sz="2800" dirty="0">
                <a:latin typeface="Times New Roman" pitchFamily="18" charset="0"/>
                <a:ea typeface="楷体_GB2312" pitchFamily="1" charset="-122"/>
              </a:rPr>
              <a:t>Gauss-Seidel</a:t>
            </a:r>
            <a:r>
              <a:rPr kumimoji="1" lang="zh-CN" altLang="en-US" sz="2800" dirty="0">
                <a:latin typeface="Times New Roman" pitchFamily="18" charset="0"/>
                <a:ea typeface="楷体_GB2312" pitchFamily="1" charset="-122"/>
              </a:rPr>
              <a:t>迭代法的迭代</a:t>
            </a:r>
          </a:p>
          <a:p>
            <a:pPr algn="l">
              <a:lnSpc>
                <a:spcPct val="150000"/>
              </a:lnSpc>
            </a:pPr>
            <a:r>
              <a:rPr kumimoji="1" lang="zh-CN" altLang="en-US" sz="2800" dirty="0">
                <a:latin typeface="Times New Roman" pitchFamily="18" charset="0"/>
                <a:ea typeface="楷体_GB2312" pitchFamily="1" charset="-122"/>
              </a:rPr>
              <a:t>          矩阵不同</a:t>
            </a:r>
            <a:r>
              <a:rPr kumimoji="1" lang="zh-CN" altLang="en-US" sz="2800" dirty="0" smtClean="0">
                <a:latin typeface="Times New Roman" pitchFamily="18" charset="0"/>
                <a:ea typeface="楷体_GB2312" pitchFamily="1" charset="-122"/>
              </a:rPr>
              <a:t>：</a:t>
            </a:r>
            <a:r>
              <a:rPr kumimoji="1" lang="zh-CN" altLang="en-US" sz="2800" dirty="0" smtClean="0">
                <a:latin typeface="Times New Roman" pitchFamily="18" charset="0"/>
                <a:ea typeface="楷体_GB2312" pitchFamily="1" charset="-122"/>
                <a:hlinkClick r:id="rId2" action="ppaction://hlinksldjump"/>
              </a:rPr>
              <a:t>雅克比迭代法</a:t>
            </a:r>
            <a:endParaRPr kumimoji="1" lang="zh-CN" altLang="en-US" sz="2800" dirty="0">
              <a:latin typeface="Times New Roman" pitchFamily="18" charset="0"/>
              <a:ea typeface="楷体_GB2312" pitchFamily="1" charset="-122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979613" y="2565400"/>
            <a:ext cx="649408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/>
            <a:r>
              <a:rPr kumimoji="1" lang="en-US" altLang="zh-CN" sz="3200" dirty="0" smtClean="0">
                <a:latin typeface="Times New Roman" pitchFamily="18" charset="0"/>
              </a:rPr>
              <a:t>M</a:t>
            </a:r>
            <a:r>
              <a:rPr kumimoji="1" lang="en-US" altLang="zh-CN" sz="3200" baseline="-25000" dirty="0" smtClean="0">
                <a:latin typeface="Times New Roman" pitchFamily="18" charset="0"/>
              </a:rPr>
              <a:t>J</a:t>
            </a:r>
            <a:r>
              <a:rPr kumimoji="1" lang="en-US" altLang="zh-CN" sz="3200" dirty="0" smtClean="0">
                <a:latin typeface="Times New Roman" pitchFamily="18" charset="0"/>
              </a:rPr>
              <a:t> =D</a:t>
            </a:r>
            <a:r>
              <a:rPr kumimoji="1" lang="en-US" altLang="zh-CN" sz="3200" baseline="30000" dirty="0" smtClean="0">
                <a:latin typeface="Times New Roman" pitchFamily="18" charset="0"/>
              </a:rPr>
              <a:t>-1</a:t>
            </a:r>
            <a:r>
              <a:rPr kumimoji="1" lang="en-US" altLang="zh-CN" sz="3200" dirty="0" smtClean="0">
                <a:latin typeface="Times New Roman" pitchFamily="18" charset="0"/>
              </a:rPr>
              <a:t>(L+U</a:t>
            </a:r>
            <a:r>
              <a:rPr kumimoji="1" lang="en-US" altLang="zh-CN" sz="3200" dirty="0">
                <a:latin typeface="Times New Roman" pitchFamily="18" charset="0"/>
              </a:rPr>
              <a:t>), </a:t>
            </a:r>
            <a:r>
              <a:rPr kumimoji="1" lang="en-US" altLang="zh-CN" sz="3200" dirty="0" smtClean="0">
                <a:latin typeface="Times New Roman" pitchFamily="18" charset="0"/>
              </a:rPr>
              <a:t>      M </a:t>
            </a:r>
            <a:r>
              <a:rPr kumimoji="1" lang="en-US" altLang="zh-CN" sz="3200" baseline="-25000" dirty="0">
                <a:latin typeface="Times New Roman" pitchFamily="18" charset="0"/>
              </a:rPr>
              <a:t>G-S</a:t>
            </a:r>
            <a:r>
              <a:rPr kumimoji="1" lang="en-US" altLang="zh-CN" sz="3200" dirty="0">
                <a:latin typeface="Times New Roman" pitchFamily="18" charset="0"/>
              </a:rPr>
              <a:t> = </a:t>
            </a:r>
            <a:r>
              <a:rPr kumimoji="1" lang="en-US" altLang="zh-CN" sz="3200" dirty="0" smtClean="0">
                <a:latin typeface="Times New Roman" pitchFamily="18" charset="0"/>
              </a:rPr>
              <a:t>-(</a:t>
            </a:r>
            <a:r>
              <a:rPr kumimoji="1" lang="en-US" altLang="zh-CN" sz="3200" dirty="0">
                <a:latin typeface="Times New Roman" pitchFamily="18" charset="0"/>
              </a:rPr>
              <a:t>D-L)</a:t>
            </a:r>
            <a:r>
              <a:rPr kumimoji="1" lang="en-US" altLang="zh-CN" sz="3200" baseline="30000" dirty="0">
                <a:latin typeface="Times New Roman" pitchFamily="18" charset="0"/>
              </a:rPr>
              <a:t>-1</a:t>
            </a:r>
            <a:r>
              <a:rPr kumimoji="1" lang="en-US" altLang="zh-CN" sz="3200" dirty="0">
                <a:latin typeface="Times New Roman" pitchFamily="18" charset="0"/>
              </a:rPr>
              <a:t>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8" grpId="0" autoUpdateAnimBg="0"/>
      <p:bldP spid="9" grpId="0" autoUpdateAnimBg="0"/>
      <p:bldP spid="10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9331" name="文本占位符 2"/>
          <p:cNvSpPr>
            <a:spLocks noGrp="1"/>
          </p:cNvSpPr>
          <p:nvPr>
            <p:ph type="body" sz="half" idx="1"/>
          </p:nvPr>
        </p:nvSpPr>
        <p:spPr>
          <a:xfrm>
            <a:off x="600075" y="1143000"/>
            <a:ext cx="8004175" cy="394335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mtClean="0">
                <a:sym typeface="Symbol" pitchFamily="18" charset="2"/>
              </a:rPr>
              <a:t>定理4.9   若系数矩阵</a:t>
            </a:r>
            <a:r>
              <a:rPr lang="en-US" altLang="zh-CN" smtClean="0">
                <a:sym typeface="Symbol" pitchFamily="18" charset="2"/>
              </a:rPr>
              <a:t>A</a:t>
            </a:r>
            <a:r>
              <a:rPr lang="zh-CN" altLang="en-US" smtClean="0">
                <a:sym typeface="Symbol" pitchFamily="18" charset="2"/>
              </a:rPr>
              <a:t>不可约且具有对角占优，则雅可比迭代法必定收敛</a:t>
            </a:r>
          </a:p>
          <a:p>
            <a:pPr>
              <a:lnSpc>
                <a:spcPct val="120000"/>
              </a:lnSpc>
            </a:pPr>
            <a:r>
              <a:rPr lang="zh-CN" altLang="en-US" smtClean="0"/>
              <a:t>定理4.10   若</a:t>
            </a:r>
            <a:r>
              <a:rPr lang="zh-CN" altLang="en-US" smtClean="0">
                <a:sym typeface="Symbol" pitchFamily="18" charset="2"/>
              </a:rPr>
              <a:t>系数矩阵</a:t>
            </a:r>
            <a:r>
              <a:rPr lang="en-US" altLang="zh-CN" smtClean="0">
                <a:sym typeface="Symbol" pitchFamily="18" charset="2"/>
              </a:rPr>
              <a:t>A</a:t>
            </a:r>
            <a:r>
              <a:rPr lang="zh-CN" altLang="en-US" smtClean="0">
                <a:sym typeface="Symbol" pitchFamily="18" charset="2"/>
              </a:rPr>
              <a:t>不可约且具有对角占优，则</a:t>
            </a:r>
            <a:r>
              <a:rPr lang="zh-CN" altLang="en-US" smtClean="0"/>
              <a:t>高斯-赛德尔</a:t>
            </a:r>
            <a:r>
              <a:rPr lang="zh-CN" altLang="en-US" smtClean="0">
                <a:sym typeface="Symbol" pitchFamily="18" charset="2"/>
              </a:rPr>
              <a:t>迭代法必定收敛</a:t>
            </a:r>
          </a:p>
          <a:p>
            <a:pPr>
              <a:lnSpc>
                <a:spcPct val="120000"/>
              </a:lnSpc>
            </a:pPr>
            <a:r>
              <a:rPr lang="zh-CN" altLang="en-US" smtClean="0"/>
              <a:t>定理4.11   若</a:t>
            </a:r>
            <a:r>
              <a:rPr lang="en-US" altLang="zh-CN" smtClean="0"/>
              <a:t>A</a:t>
            </a:r>
            <a:r>
              <a:rPr lang="zh-CN" altLang="en-US" smtClean="0"/>
              <a:t>对称正定</a:t>
            </a:r>
            <a:r>
              <a:rPr lang="zh-CN" altLang="en-US" smtClean="0">
                <a:sym typeface="Symbol" pitchFamily="18" charset="2"/>
              </a:rPr>
              <a:t>，则</a:t>
            </a:r>
            <a:r>
              <a:rPr lang="zh-CN" altLang="en-US" smtClean="0"/>
              <a:t>高斯-赛德尔</a:t>
            </a:r>
            <a:r>
              <a:rPr lang="zh-CN" altLang="en-US" smtClean="0">
                <a:sym typeface="Symbol" pitchFamily="18" charset="2"/>
              </a:rPr>
              <a:t>迭代法收敛</a:t>
            </a:r>
          </a:p>
          <a:p>
            <a:endParaRPr lang="zh-CN" altLang="en-US" smtClean="0"/>
          </a:p>
        </p:txBody>
      </p:sp>
      <p:sp>
        <p:nvSpPr>
          <p:cNvPr id="99332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AA6DDB6-2DE4-4914-B08D-45352F56C8E8}" type="slidenum">
              <a:rPr lang="zh-CN" altLang="en-US" b="0"/>
              <a:pPr/>
              <a:t>70</a:t>
            </a:fld>
            <a:endParaRPr lang="en-US" altLang="zh-CN" b="0"/>
          </a:p>
        </p:txBody>
      </p:sp>
      <p:sp>
        <p:nvSpPr>
          <p:cNvPr id="99333" name="日期占位符 5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CF9C0452-4F0A-41D8-8DC1-A9E79D14C5B2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0355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4FADC2E5-668F-4995-B3DD-DEEF28FBD913}" type="slidenum">
              <a:rPr lang="zh-CN" altLang="en-US" b="0"/>
              <a:pPr/>
              <a:t>71</a:t>
            </a:fld>
            <a:endParaRPr lang="en-US" altLang="zh-CN" b="0"/>
          </a:p>
        </p:txBody>
      </p:sp>
      <p:sp>
        <p:nvSpPr>
          <p:cNvPr id="100356" name="日期占位符 5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F4B3C7D-A0D5-48B8-9E87-03ED95009DE1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850" y="1166813"/>
            <a:ext cx="856863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楷体_GB2312" pitchFamily="1" charset="-122"/>
                <a:ea typeface="楷体_GB2312" pitchFamily="1" charset="-122"/>
              </a:rPr>
              <a:t>（</a:t>
            </a:r>
            <a:r>
              <a:rPr kumimoji="1" lang="en-US" altLang="zh-CN" sz="2800" dirty="0">
                <a:latin typeface="楷体_GB2312" pitchFamily="1" charset="-122"/>
                <a:ea typeface="楷体_GB2312" pitchFamily="1" charset="-122"/>
              </a:rPr>
              <a:t>3</a:t>
            </a:r>
            <a:r>
              <a:rPr kumimoji="1" lang="zh-CN" altLang="en-US" sz="2800" dirty="0">
                <a:latin typeface="楷体_GB2312" pitchFamily="1" charset="-122"/>
                <a:ea typeface="楷体_GB2312" pitchFamily="1" charset="-122"/>
              </a:rPr>
              <a:t>）</a:t>
            </a:r>
            <a:r>
              <a:rPr kumimoji="1" lang="en-US" altLang="zh-CN" sz="2800" dirty="0">
                <a:latin typeface="楷体_GB2312" pitchFamily="1" charset="-122"/>
                <a:ea typeface="楷体_GB2312" pitchFamily="1" charset="-122"/>
              </a:rPr>
              <a:t>Jacobi</a:t>
            </a:r>
            <a:r>
              <a:rPr kumimoji="1" lang="zh-CN" altLang="en-US" sz="2800" dirty="0">
                <a:latin typeface="楷体_GB2312" pitchFamily="1" charset="-122"/>
                <a:ea typeface="楷体_GB2312" pitchFamily="1" charset="-122"/>
              </a:rPr>
              <a:t>迭代和</a:t>
            </a:r>
            <a:r>
              <a:rPr kumimoji="1" lang="en-US" altLang="zh-CN" sz="2800" dirty="0">
                <a:latin typeface="楷体_GB2312" pitchFamily="1" charset="-122"/>
                <a:ea typeface="楷体_GB2312" pitchFamily="1" charset="-122"/>
              </a:rPr>
              <a:t>Gauss-Seidel</a:t>
            </a:r>
            <a:r>
              <a:rPr kumimoji="1" lang="zh-CN" altLang="en-US" sz="2800" dirty="0">
                <a:latin typeface="楷体_GB2312" pitchFamily="1" charset="-122"/>
                <a:ea typeface="楷体_GB2312" pitchFamily="1" charset="-122"/>
              </a:rPr>
              <a:t>迭代的特征方程：</a:t>
            </a: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842539"/>
              </p:ext>
            </p:extLst>
          </p:nvPr>
        </p:nvGraphicFramePr>
        <p:xfrm>
          <a:off x="539750" y="1844824"/>
          <a:ext cx="4157663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45" name="Equation" r:id="rId4" imgW="1612900" imgH="241300" progId="Equation.DSMT4">
                  <p:embed/>
                </p:oleObj>
              </mc:Choice>
              <mc:Fallback>
                <p:oleObj name="Equation" r:id="rId4" imgW="16129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844824"/>
                        <a:ext cx="4157663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79512" y="2535238"/>
            <a:ext cx="28803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latin typeface="楷体_GB2312" pitchFamily="1" charset="-122"/>
                <a:ea typeface="楷体_GB2312" pitchFamily="1" charset="-122"/>
              </a:rPr>
              <a:t>Jacobi</a:t>
            </a:r>
            <a:r>
              <a:rPr kumimoji="1" lang="zh-CN" altLang="en-US" sz="2800" dirty="0" smtClean="0">
                <a:latin typeface="楷体_GB2312" pitchFamily="1" charset="-122"/>
                <a:ea typeface="楷体_GB2312" pitchFamily="1" charset="-122"/>
              </a:rPr>
              <a:t>迭代矩阵</a:t>
            </a:r>
            <a:endParaRPr kumimoji="1" lang="zh-CN" altLang="en-US" sz="2800" dirty="0"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068252"/>
              </p:ext>
            </p:extLst>
          </p:nvPr>
        </p:nvGraphicFramePr>
        <p:xfrm>
          <a:off x="1763713" y="4443327"/>
          <a:ext cx="4608487" cy="2305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46" name="Equation" r:id="rId6" imgW="1879600" imgH="939800" progId="Equation.DSMT4">
                  <p:embed/>
                </p:oleObj>
              </mc:Choice>
              <mc:Fallback>
                <p:oleObj name="Equation" r:id="rId6" imgW="1879600" imgH="939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443327"/>
                        <a:ext cx="4608487" cy="2305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31369"/>
              </p:ext>
            </p:extLst>
          </p:nvPr>
        </p:nvGraphicFramePr>
        <p:xfrm>
          <a:off x="3347864" y="3120013"/>
          <a:ext cx="360045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47" name="Equation" r:id="rId8" imgW="1435100" imgH="279400" progId="Equation.DSMT4">
                  <p:embed/>
                </p:oleObj>
              </mc:Choice>
              <mc:Fallback>
                <p:oleObj name="Equation" r:id="rId8" imgW="1435100" imgH="279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3120013"/>
                        <a:ext cx="3600450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932342"/>
              </p:ext>
            </p:extLst>
          </p:nvPr>
        </p:nvGraphicFramePr>
        <p:xfrm>
          <a:off x="1786558" y="3737332"/>
          <a:ext cx="3122612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48" name="Equation" r:id="rId10" imgW="1244600" imgH="254000" progId="Equation.DSMT4">
                  <p:embed/>
                </p:oleObj>
              </mc:Choice>
              <mc:Fallback>
                <p:oleObj name="Equation" r:id="rId10" imgW="1244600" imgH="254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6558" y="3737332"/>
                        <a:ext cx="3122612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059832" y="2535238"/>
            <a:ext cx="25042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/>
            <a:r>
              <a:rPr kumimoji="1" lang="en-US" altLang="zh-CN" sz="3200" dirty="0" smtClean="0">
                <a:latin typeface="Times New Roman" pitchFamily="18" charset="0"/>
              </a:rPr>
              <a:t>D</a:t>
            </a:r>
            <a:r>
              <a:rPr kumimoji="1" lang="en-US" altLang="zh-CN" sz="3200" baseline="30000" dirty="0" smtClean="0">
                <a:latin typeface="Times New Roman" pitchFamily="18" charset="0"/>
              </a:rPr>
              <a:t>-1</a:t>
            </a:r>
            <a:r>
              <a:rPr kumimoji="1" lang="en-US" altLang="zh-CN" sz="3200" dirty="0" smtClean="0">
                <a:latin typeface="Times New Roman" pitchFamily="18" charset="0"/>
              </a:rPr>
              <a:t>(L+U</a:t>
            </a:r>
            <a:r>
              <a:rPr kumimoji="1" lang="en-US" altLang="zh-CN" sz="3200" dirty="0">
                <a:latin typeface="Times New Roman" pitchFamily="18" charset="0"/>
              </a:rPr>
              <a:t>), </a:t>
            </a:r>
            <a:r>
              <a:rPr kumimoji="1" lang="en-US" altLang="zh-CN" sz="3200" dirty="0" smtClean="0">
                <a:latin typeface="Times New Roman" pitchFamily="18" charset="0"/>
              </a:rPr>
              <a:t>     </a:t>
            </a:r>
            <a:endParaRPr kumimoji="1" lang="en-US" altLang="zh-CN" sz="3200" dirty="0">
              <a:latin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75656" y="3212976"/>
            <a:ext cx="1872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 smtClean="0">
                <a:solidFill>
                  <a:srgbClr val="000000"/>
                </a:solidFill>
                <a:latin typeface="楷体_GB2312" pitchFamily="1" charset="-122"/>
                <a:ea typeface="楷体_GB2312" pitchFamily="1" charset="-122"/>
              </a:rPr>
              <a:t>特征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1" charset="-122"/>
                <a:ea typeface="楷体_GB2312" pitchFamily="1" charset="-122"/>
              </a:rPr>
              <a:t>方程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4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1379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686837F-964F-4BA4-ACD3-CD0295026785}" type="slidenum">
              <a:rPr lang="zh-CN" altLang="en-US" b="0"/>
              <a:pPr/>
              <a:t>72</a:t>
            </a:fld>
            <a:endParaRPr lang="en-US" altLang="zh-CN" b="0"/>
          </a:p>
        </p:txBody>
      </p:sp>
      <p:sp>
        <p:nvSpPr>
          <p:cNvPr id="101380" name="日期占位符 5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AD90C2F7-0C94-4FBF-9EF5-46D50F8B116E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96925" y="1270000"/>
            <a:ext cx="3240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latin typeface="楷体_GB2312" pitchFamily="1" charset="-122"/>
                <a:ea typeface="楷体_GB2312" pitchFamily="1" charset="-122"/>
              </a:rPr>
              <a:t>Gauss-Seidel</a:t>
            </a:r>
            <a:r>
              <a:rPr kumimoji="1" lang="zh-CN" altLang="en-US" sz="2800">
                <a:latin typeface="楷体_GB2312" pitchFamily="1" charset="-122"/>
                <a:ea typeface="楷体_GB2312" pitchFamily="1" charset="-122"/>
              </a:rPr>
              <a:t>迭代</a:t>
            </a: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3525838" y="2133600"/>
          <a:ext cx="3760787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49" name="Equation" r:id="rId3" imgW="1498600" imgH="279400" progId="Equation.DSMT4">
                  <p:embed/>
                </p:oleObj>
              </mc:Choice>
              <mc:Fallback>
                <p:oleObj name="Equation" r:id="rId3" imgW="1498600" imgH="279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8" y="2133600"/>
                        <a:ext cx="3760787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1301750" y="3862388"/>
          <a:ext cx="4276725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50" name="Equation" r:id="rId5" imgW="1892300" imgH="939800" progId="Equation.DSMT4">
                  <p:embed/>
                </p:oleObj>
              </mc:Choice>
              <mc:Fallback>
                <p:oleObj name="Equation" r:id="rId5" imgW="1892300" imgH="939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3862388"/>
                        <a:ext cx="4276725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1230313" y="3070225"/>
          <a:ext cx="340995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51" name="Equation" r:id="rId7" imgW="1358310" imgH="253890" progId="Equation.DSMT4">
                  <p:embed/>
                </p:oleObj>
              </mc:Choice>
              <mc:Fallback>
                <p:oleObj name="Equation" r:id="rId7" imgW="1358310" imgH="25389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13" y="3070225"/>
                        <a:ext cx="340995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1475656" y="2132856"/>
            <a:ext cx="1872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 smtClean="0">
                <a:solidFill>
                  <a:srgbClr val="000000"/>
                </a:solidFill>
                <a:latin typeface="楷体_GB2312" pitchFamily="1" charset="-122"/>
                <a:ea typeface="楷体_GB2312" pitchFamily="1" charset="-122"/>
              </a:rPr>
              <a:t>特征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1" charset="-122"/>
                <a:ea typeface="楷体_GB2312" pitchFamily="1" charset="-122"/>
              </a:rPr>
              <a:t>方程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1BBDD53B-78D5-4E54-A4B3-FABF04C5F71B}" type="slidenum">
              <a:rPr lang="zh-CN" altLang="en-US" b="0"/>
              <a:pPr/>
              <a:t>73</a:t>
            </a:fld>
            <a:endParaRPr lang="en-US" altLang="zh-CN" b="0"/>
          </a:p>
        </p:txBody>
      </p:sp>
      <p:sp>
        <p:nvSpPr>
          <p:cNvPr id="102403" name="日期占位符 6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47309A95-0059-4919-8268-9BC80382AC26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§3.2 赛德尔迭代法的收敛条件</a:t>
            </a:r>
          </a:p>
        </p:txBody>
      </p:sp>
      <p:sp>
        <p:nvSpPr>
          <p:cNvPr id="10240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0075" y="1125538"/>
            <a:ext cx="5772150" cy="768350"/>
          </a:xfrm>
        </p:spPr>
        <p:txBody>
          <a:bodyPr/>
          <a:lstStyle/>
          <a:p>
            <a:r>
              <a:rPr lang="zh-CN" altLang="en-US" smtClean="0"/>
              <a:t>例</a:t>
            </a:r>
            <a:r>
              <a:rPr lang="en-US" altLang="zh-CN" smtClean="0"/>
              <a:t>4.3</a:t>
            </a:r>
            <a:r>
              <a:rPr lang="zh-CN" altLang="en-US" smtClean="0"/>
              <a:t>讨论求解下列线性方程组</a:t>
            </a:r>
            <a:r>
              <a:rPr lang="en-US" altLang="zh-CN" smtClean="0"/>
              <a:t>AX=B</a:t>
            </a:r>
            <a:r>
              <a:rPr lang="zh-CN" altLang="en-US" smtClean="0"/>
              <a:t>迭代法的收敛性</a:t>
            </a:r>
          </a:p>
        </p:txBody>
      </p:sp>
      <p:graphicFrame>
        <p:nvGraphicFramePr>
          <p:cNvPr id="10240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476375" y="1916113"/>
          <a:ext cx="2663825" cy="144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1" name="Equation" r:id="rId3" imgW="1308100" imgH="711200" progId="Equation.DSMT4">
                  <p:embed/>
                </p:oleObj>
              </mc:Choice>
              <mc:Fallback>
                <p:oleObj name="Equation" r:id="rId3" imgW="1308100" imgH="71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916113"/>
                        <a:ext cx="2663825" cy="144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7957" name="Rectangle 5"/>
          <p:cNvSpPr>
            <a:spLocks noChangeArrowheads="1"/>
          </p:cNvSpPr>
          <p:nvPr/>
        </p:nvSpPr>
        <p:spPr bwMode="auto">
          <a:xfrm>
            <a:off x="611188" y="3860800"/>
            <a:ext cx="56165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ea typeface="黑体" pitchFamily="49" charset="-122"/>
              </a:rPr>
              <a:t>解：当采用雅可比迭代法时，其迭代矩阵的特征方程为</a:t>
            </a:r>
            <a:r>
              <a:rPr lang="en-US" altLang="zh-CN" sz="2800">
                <a:ea typeface="黑体" pitchFamily="49" charset="-122"/>
              </a:rPr>
              <a:t>|M- </a:t>
            </a:r>
            <a:r>
              <a:rPr lang="el-GR" altLang="zh-CN" sz="2800">
                <a:latin typeface="Times New Roman" pitchFamily="18" charset="0"/>
                <a:ea typeface="黑体" pitchFamily="49" charset="-122"/>
              </a:rPr>
              <a:t>λ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I</a:t>
            </a:r>
            <a:r>
              <a:rPr lang="en-US" altLang="zh-CN" sz="2800">
                <a:ea typeface="黑体" pitchFamily="49" charset="-122"/>
              </a:rPr>
              <a:t>|</a:t>
            </a:r>
            <a:r>
              <a:rPr lang="zh-CN" altLang="en-US" sz="2800">
                <a:ea typeface="黑体" pitchFamily="49" charset="-122"/>
              </a:rPr>
              <a:t>，即</a:t>
            </a:r>
          </a:p>
        </p:txBody>
      </p:sp>
      <p:graphicFrame>
        <p:nvGraphicFramePr>
          <p:cNvPr id="102408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300788" y="3932238"/>
          <a:ext cx="2590800" cy="157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2" name="Equation" r:id="rId5" imgW="1168400" imgH="711200" progId="Equation.3">
                  <p:embed/>
                </p:oleObj>
              </mc:Choice>
              <mc:Fallback>
                <p:oleObj name="Equation" r:id="rId5" imgW="11684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932238"/>
                        <a:ext cx="2590800" cy="157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7959" name="Rectangle 7"/>
          <p:cNvSpPr>
            <a:spLocks noChangeArrowheads="1"/>
          </p:cNvSpPr>
          <p:nvPr/>
        </p:nvSpPr>
        <p:spPr bwMode="auto">
          <a:xfrm>
            <a:off x="395288" y="5589588"/>
            <a:ext cx="76200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2800">
                <a:latin typeface="宋体" pitchFamily="2" charset="-122"/>
                <a:ea typeface="黑体" pitchFamily="49" charset="-122"/>
              </a:rPr>
              <a:t>  解得</a:t>
            </a:r>
            <a:r>
              <a:rPr lang="zh-CN" altLang="en-US" sz="2800">
                <a:latin typeface="宋体" pitchFamily="2" charset="-122"/>
                <a:ea typeface="黑体" pitchFamily="49" charset="-122"/>
                <a:sym typeface="Symbol" pitchFamily="18" charset="2"/>
              </a:rPr>
              <a:t></a:t>
            </a:r>
            <a:r>
              <a:rPr lang="en-US" altLang="zh-CN" sz="2800" baseline="-25000">
                <a:latin typeface="宋体" pitchFamily="2" charset="-122"/>
                <a:ea typeface="黑体" pitchFamily="49" charset="-122"/>
                <a:sym typeface="Symbol" pitchFamily="18" charset="2"/>
              </a:rPr>
              <a:t>1</a:t>
            </a:r>
            <a:r>
              <a:rPr lang="en-US" altLang="zh-CN" sz="2800">
                <a:latin typeface="宋体" pitchFamily="2" charset="-122"/>
                <a:ea typeface="黑体" pitchFamily="49" charset="-122"/>
                <a:sym typeface="Symbol" pitchFamily="18" charset="2"/>
              </a:rPr>
              <a:t>=</a:t>
            </a:r>
            <a:r>
              <a:rPr lang="en-US" altLang="zh-CN" sz="2800" baseline="-25000">
                <a:latin typeface="宋体" pitchFamily="2" charset="-122"/>
                <a:ea typeface="黑体" pitchFamily="49" charset="-122"/>
                <a:sym typeface="Symbol" pitchFamily="18" charset="2"/>
              </a:rPr>
              <a:t>2</a:t>
            </a:r>
            <a:r>
              <a:rPr lang="en-US" altLang="zh-CN" sz="2800">
                <a:latin typeface="宋体" pitchFamily="2" charset="-122"/>
                <a:ea typeface="黑体" pitchFamily="49" charset="-122"/>
                <a:sym typeface="Symbol" pitchFamily="18" charset="2"/>
              </a:rPr>
              <a:t>=</a:t>
            </a:r>
            <a:r>
              <a:rPr lang="en-US" altLang="zh-CN" sz="2800" baseline="-25000">
                <a:latin typeface="宋体" pitchFamily="2" charset="-122"/>
                <a:ea typeface="黑体" pitchFamily="49" charset="-122"/>
                <a:sym typeface="Symbol" pitchFamily="18" charset="2"/>
              </a:rPr>
              <a:t>3</a:t>
            </a:r>
            <a:r>
              <a:rPr lang="en-US" altLang="zh-CN" sz="2800">
                <a:latin typeface="宋体" pitchFamily="2" charset="-122"/>
                <a:ea typeface="黑体" pitchFamily="49" charset="-122"/>
                <a:sym typeface="Symbol" pitchFamily="18" charset="2"/>
              </a:rPr>
              <a:t>=0</a:t>
            </a:r>
            <a:r>
              <a:rPr lang="zh-CN" altLang="en-US" sz="2800">
                <a:latin typeface="宋体" pitchFamily="2" charset="-122"/>
                <a:ea typeface="黑体" pitchFamily="49" charset="-122"/>
                <a:sym typeface="Symbol" pitchFamily="18" charset="2"/>
              </a:rPr>
              <a:t>，</a:t>
            </a:r>
            <a:r>
              <a:rPr lang="zh-CN" altLang="en-US" sz="2800">
                <a:latin typeface="宋体" pitchFamily="2" charset="-122"/>
                <a:ea typeface="黑体" pitchFamily="49" charset="-122"/>
              </a:rPr>
              <a:t>雅可比迭代法收敛</a:t>
            </a:r>
            <a:r>
              <a:rPr lang="en-US" altLang="zh-CN" sz="2800">
                <a:latin typeface="宋体" pitchFamily="2" charset="-122"/>
                <a:ea typeface="黑体" pitchFamily="49" charset="-122"/>
              </a:rPr>
              <a:t>.</a:t>
            </a:r>
          </a:p>
        </p:txBody>
      </p:sp>
      <p:graphicFrame>
        <p:nvGraphicFramePr>
          <p:cNvPr id="6379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406248"/>
              </p:ext>
            </p:extLst>
          </p:nvPr>
        </p:nvGraphicFramePr>
        <p:xfrm>
          <a:off x="4899150" y="845264"/>
          <a:ext cx="4244850" cy="303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3" name="公式" r:id="rId7" imgW="2298600" imgH="1447560" progId="Equation.3">
                  <p:embed/>
                </p:oleObj>
              </mc:Choice>
              <mc:Fallback>
                <p:oleObj name="公式" r:id="rId7" imgW="2298600" imgH="14475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9150" y="845264"/>
                        <a:ext cx="4244850" cy="303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7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7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637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7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7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957" grpId="0"/>
      <p:bldP spid="63795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B2E80DA0-29D9-4081-8AC0-6ACD7DCCCBF0}" type="slidenum">
              <a:rPr lang="zh-CN" altLang="en-US" b="0"/>
              <a:pPr/>
              <a:t>74</a:t>
            </a:fld>
            <a:endParaRPr lang="en-US" altLang="zh-CN" b="0"/>
          </a:p>
        </p:txBody>
      </p:sp>
      <p:sp>
        <p:nvSpPr>
          <p:cNvPr id="103427" name="日期占位符 5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B7EB840-7AF3-4792-8CCB-9A4183BDF91B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63488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§3.2 赛德尔迭代法的收敛条件</a:t>
            </a:r>
          </a:p>
        </p:txBody>
      </p:sp>
      <p:sp>
        <p:nvSpPr>
          <p:cNvPr id="10342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0075" y="1143000"/>
            <a:ext cx="7859713" cy="768350"/>
          </a:xfrm>
        </p:spPr>
        <p:txBody>
          <a:bodyPr/>
          <a:lstStyle/>
          <a:p>
            <a:r>
              <a:rPr kumimoji="1" lang="zh-CN" altLang="en-US" smtClean="0"/>
              <a:t>当采用高斯</a:t>
            </a:r>
            <a:r>
              <a:rPr kumimoji="1" lang="en-US" altLang="zh-CN" smtClean="0"/>
              <a:t>-</a:t>
            </a:r>
            <a:r>
              <a:rPr kumimoji="1" lang="zh-CN" altLang="en-US" smtClean="0"/>
              <a:t>赛德尔迭代法时，其迭代矩阵的特征方程为</a:t>
            </a:r>
            <a:r>
              <a:rPr kumimoji="1" lang="en-US" altLang="zh-CN" smtClean="0"/>
              <a:t>:</a:t>
            </a:r>
            <a:endParaRPr kumimoji="1" lang="zh-CN" altLang="en-US" smtClean="0"/>
          </a:p>
        </p:txBody>
      </p:sp>
      <p:graphicFrame>
        <p:nvGraphicFramePr>
          <p:cNvPr id="634885" name="Object 5"/>
          <p:cNvGraphicFramePr>
            <a:graphicFrameLocks noChangeAspect="1"/>
          </p:cNvGraphicFramePr>
          <p:nvPr/>
        </p:nvGraphicFramePr>
        <p:xfrm>
          <a:off x="3635375" y="1844675"/>
          <a:ext cx="3252788" cy="163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0" name="Equation" r:id="rId3" imgW="1358310" imgH="710891" progId="Equation.3">
                  <p:embed/>
                </p:oleObj>
              </mc:Choice>
              <mc:Fallback>
                <p:oleObj name="Equation" r:id="rId3" imgW="1358310" imgH="71089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844675"/>
                        <a:ext cx="3252788" cy="163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886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69745768"/>
              </p:ext>
            </p:extLst>
          </p:nvPr>
        </p:nvGraphicFramePr>
        <p:xfrm>
          <a:off x="684213" y="3573463"/>
          <a:ext cx="8208267" cy="20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1" name="Equation" r:id="rId5" imgW="2717800" imgH="723900" progId="Equation.DSMT4">
                  <p:embed/>
                </p:oleObj>
              </mc:Choice>
              <mc:Fallback>
                <p:oleObj name="Equation" r:id="rId5" imgW="2717800" imgH="723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573463"/>
                        <a:ext cx="8208267" cy="201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2" name="Object 11"/>
          <p:cNvGraphicFramePr>
            <a:graphicFrameLocks noChangeAspect="1"/>
          </p:cNvGraphicFramePr>
          <p:nvPr/>
        </p:nvGraphicFramePr>
        <p:xfrm>
          <a:off x="250825" y="1916113"/>
          <a:ext cx="2663825" cy="144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2" name="Equation" r:id="rId7" imgW="1308100" imgH="711200" progId="Equation.DSMT4">
                  <p:embed/>
                </p:oleObj>
              </mc:Choice>
              <mc:Fallback>
                <p:oleObj name="Equation" r:id="rId7" imgW="1308100" imgH="71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916113"/>
                        <a:ext cx="2663825" cy="144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11560" y="404664"/>
            <a:ext cx="3758952" cy="968152"/>
          </a:xfrm>
        </p:spPr>
        <p:txBody>
          <a:bodyPr/>
          <a:lstStyle/>
          <a:p>
            <a:pPr eaLnBrk="1" hangingPunct="1"/>
            <a:r>
              <a:rPr lang="zh-CN" altLang="en-US" sz="3200" b="1" dirty="0" smtClean="0">
                <a:solidFill>
                  <a:schemeClr val="tx1"/>
                </a:solidFill>
                <a:ea typeface="楷体_GB2312" pitchFamily="1" charset="-122"/>
              </a:rPr>
              <a:t>考虑：收敛性</a:t>
            </a:r>
            <a:br>
              <a:rPr lang="zh-CN" altLang="en-US" sz="3200" b="1" dirty="0" smtClean="0">
                <a:solidFill>
                  <a:schemeClr val="tx1"/>
                </a:solidFill>
                <a:ea typeface="楷体_GB2312" pitchFamily="1" charset="-122"/>
              </a:rPr>
            </a:br>
            <a:endParaRPr lang="zh-CN" altLang="en-US" sz="3200" b="1" dirty="0" smtClean="0">
              <a:solidFill>
                <a:schemeClr val="tx1"/>
              </a:solidFill>
              <a:ea typeface="楷体_GB2312" pitchFamily="1" charset="-122"/>
            </a:endParaRPr>
          </a:p>
        </p:txBody>
      </p:sp>
      <p:graphicFrame>
        <p:nvGraphicFramePr>
          <p:cNvPr id="76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854662"/>
              </p:ext>
            </p:extLst>
          </p:nvPr>
        </p:nvGraphicFramePr>
        <p:xfrm>
          <a:off x="4139952" y="404664"/>
          <a:ext cx="2730500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1" name="Equation" r:id="rId3" imgW="1143000" imgH="711200" progId="Equation.DSMT4">
                  <p:embed/>
                </p:oleObj>
              </mc:Choice>
              <mc:Fallback>
                <p:oleObj name="Equation" r:id="rId3" imgW="11430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404664"/>
                        <a:ext cx="2730500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1403648" y="5373216"/>
            <a:ext cx="550984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kumimoji="1" lang="zh-CN" altLang="en-US" sz="2800" dirty="0" smtClean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所以，用</a:t>
            </a:r>
            <a:r>
              <a:rPr kumimoji="1" lang="en-US" altLang="zh-CN" sz="28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Jacobi</a:t>
            </a:r>
            <a:r>
              <a:rPr kumimoji="1" lang="zh-CN" altLang="en-US" sz="28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迭代法求解收敛，</a:t>
            </a:r>
          </a:p>
          <a:p>
            <a:pPr algn="l" eaLnBrk="1" hangingPunct="1"/>
            <a:r>
              <a:rPr kumimoji="1" lang="zh-CN" altLang="en-US" sz="28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但用 </a:t>
            </a:r>
            <a:r>
              <a:rPr kumimoji="1" lang="en-US" altLang="zh-CN" sz="28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Gauss-Seidel</a:t>
            </a:r>
            <a:r>
              <a:rPr kumimoji="1" lang="zh-CN" altLang="en-US" sz="28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法不收敛。</a:t>
            </a:r>
          </a:p>
        </p:txBody>
      </p:sp>
      <p:graphicFrame>
        <p:nvGraphicFramePr>
          <p:cNvPr id="768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075477"/>
              </p:ext>
            </p:extLst>
          </p:nvPr>
        </p:nvGraphicFramePr>
        <p:xfrm>
          <a:off x="1475656" y="2204864"/>
          <a:ext cx="51816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2" name="Equation" r:id="rId5" imgW="2590800" imgH="711200" progId="Equation.DSMT4">
                  <p:embed/>
                </p:oleObj>
              </mc:Choice>
              <mc:Fallback>
                <p:oleObj name="Equation" r:id="rId5" imgW="2590800" imgH="71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204864"/>
                        <a:ext cx="5181600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8" name="Text Box 8"/>
          <p:cNvSpPr txBox="1">
            <a:spLocks noChangeArrowheads="1"/>
          </p:cNvSpPr>
          <p:nvPr/>
        </p:nvSpPr>
        <p:spPr bwMode="auto">
          <a:xfrm>
            <a:off x="539552" y="3906580"/>
            <a:ext cx="8079656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5000"/>
              </a:lnSpc>
            </a:pPr>
            <a:r>
              <a:rPr kumimoji="1" lang="en-US" altLang="zh-CN" sz="2800" dirty="0" smtClean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Jacobi</a:t>
            </a:r>
            <a:r>
              <a:rPr kumimoji="1" lang="zh-CN" altLang="en-US" sz="2800" dirty="0" smtClean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迭代矩阵</a:t>
            </a:r>
            <a:r>
              <a:rPr kumimoji="1" lang="zh-CN" altLang="en-US" sz="2800" dirty="0" smtClean="0">
                <a:solidFill>
                  <a:srgbClr val="FF3300"/>
                </a:solidFill>
                <a:latin typeface="Times New Roman" pitchFamily="18" charset="0"/>
                <a:ea typeface="楷体_GB2312" pitchFamily="1" charset="-122"/>
              </a:rPr>
              <a:t>的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itchFamily="18" charset="0"/>
                <a:ea typeface="楷体_GB2312" pitchFamily="1" charset="-122"/>
              </a:rPr>
              <a:t>特征值</a:t>
            </a:r>
            <a:r>
              <a:rPr kumimoji="1" lang="zh-CN" altLang="en-US" sz="2800" dirty="0" smtClean="0">
                <a:solidFill>
                  <a:srgbClr val="FF3300"/>
                </a:solidFill>
                <a:latin typeface="Times New Roman" pitchFamily="18" charset="0"/>
                <a:ea typeface="楷体_GB2312" pitchFamily="1" charset="-122"/>
              </a:rPr>
              <a:t>为   </a:t>
            </a:r>
            <a:r>
              <a:rPr kumimoji="1" lang="en-US" altLang="zh-CN" sz="2800" dirty="0" smtClean="0">
                <a:solidFill>
                  <a:srgbClr val="FF3300"/>
                </a:solidFill>
                <a:latin typeface="Times New Roman" pitchFamily="18" charset="0"/>
              </a:rPr>
              <a:t>0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itchFamily="18" charset="0"/>
              </a:rPr>
              <a:t>，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itchFamily="18" charset="0"/>
              </a:rPr>
              <a:t>0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itchFamily="18" charset="0"/>
              </a:rPr>
              <a:t>，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itchFamily="18" charset="0"/>
              </a:rPr>
              <a:t>0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itchFamily="18" charset="0"/>
              </a:rPr>
              <a:t>，</a:t>
            </a:r>
          </a:p>
          <a:p>
            <a:pPr algn="l" eaLnBrk="1" hangingPunct="1">
              <a:lnSpc>
                <a:spcPct val="125000"/>
              </a:lnSpc>
            </a:pPr>
            <a:r>
              <a:rPr kumimoji="1" lang="en-US" altLang="zh-CN" sz="2800" dirty="0" smtClean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Gauss-Seidel</a:t>
            </a:r>
            <a:r>
              <a:rPr kumimoji="1" lang="zh-CN" altLang="en-US" sz="2800" dirty="0" smtClean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法</a:t>
            </a:r>
            <a:r>
              <a:rPr kumimoji="1" lang="zh-CN" altLang="en-US" sz="28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迭代矩阵</a:t>
            </a:r>
            <a:r>
              <a:rPr kumimoji="1" lang="zh-CN" altLang="en-US" sz="2800" dirty="0" smtClean="0">
                <a:solidFill>
                  <a:srgbClr val="FF3300"/>
                </a:solidFill>
                <a:latin typeface="Times New Roman" pitchFamily="18" charset="0"/>
                <a:ea typeface="楷体_GB2312" pitchFamily="1" charset="-122"/>
              </a:rPr>
              <a:t>的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itchFamily="18" charset="0"/>
                <a:ea typeface="楷体_GB2312" pitchFamily="1" charset="-122"/>
              </a:rPr>
              <a:t>特征值</a:t>
            </a:r>
            <a:r>
              <a:rPr kumimoji="1" lang="zh-CN" altLang="en-US" sz="2800" dirty="0" smtClean="0">
                <a:solidFill>
                  <a:srgbClr val="FF3300"/>
                </a:solidFill>
                <a:latin typeface="Times New Roman" pitchFamily="18" charset="0"/>
                <a:ea typeface="楷体_GB2312" pitchFamily="1" charset="-122"/>
              </a:rPr>
              <a:t>为</a:t>
            </a:r>
            <a:r>
              <a:rPr kumimoji="1" lang="zh-CN" altLang="en-US" sz="2800" dirty="0" smtClean="0">
                <a:solidFill>
                  <a:srgbClr val="FF3300"/>
                </a:solidFill>
                <a:latin typeface="Times New Roman" pitchFamily="18" charset="0"/>
              </a:rPr>
              <a:t>  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itchFamily="18" charset="0"/>
              </a:rPr>
              <a:t>0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itchFamily="18" charset="0"/>
              </a:rPr>
              <a:t>，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itchFamily="18" charset="0"/>
              </a:rPr>
              <a:t>2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itchFamily="18" charset="0"/>
              </a:rPr>
              <a:t>，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itchFamily="18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6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6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6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6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6" grpId="0" autoUpdateAnimBg="0"/>
      <p:bldP spid="76808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6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221311"/>
              </p:ext>
            </p:extLst>
          </p:nvPr>
        </p:nvGraphicFramePr>
        <p:xfrm>
          <a:off x="2123728" y="800100"/>
          <a:ext cx="3455988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19" name="Equation" r:id="rId3" imgW="1574800" imgH="939800" progId="Equation.DSMT4">
                  <p:embed/>
                </p:oleObj>
              </mc:Choice>
              <mc:Fallback>
                <p:oleObj name="Equation" r:id="rId3" imgW="1574800" imgH="939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800100"/>
                        <a:ext cx="3455988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3" name="Rectangle 5"/>
          <p:cNvSpPr>
            <a:spLocks noChangeArrowheads="1"/>
          </p:cNvSpPr>
          <p:nvPr/>
        </p:nvSpPr>
        <p:spPr bwMode="auto">
          <a:xfrm>
            <a:off x="611188" y="2932430"/>
            <a:ext cx="3554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dirty="0">
                <a:solidFill>
                  <a:srgbClr val="0033CC"/>
                </a:solidFill>
                <a:ea typeface="楷体_GB2312" pitchFamily="1" charset="-122"/>
              </a:rPr>
              <a:t>线性方程组的系数矩阵为</a:t>
            </a:r>
          </a:p>
        </p:txBody>
      </p:sp>
      <p:graphicFrame>
        <p:nvGraphicFramePr>
          <p:cNvPr id="114694" name="Object 6"/>
          <p:cNvGraphicFramePr>
            <a:graphicFrameLocks noChangeAspect="1"/>
          </p:cNvGraphicFramePr>
          <p:nvPr/>
        </p:nvGraphicFramePr>
        <p:xfrm>
          <a:off x="2843213" y="3357563"/>
          <a:ext cx="2879725" cy="176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20" name="Equation" r:id="rId5" imgW="1498600" imgH="914400" progId="Equation.DSMT4">
                  <p:embed/>
                </p:oleObj>
              </mc:Choice>
              <mc:Fallback>
                <p:oleObj name="Equation" r:id="rId5" imgW="1498600" imgH="914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357563"/>
                        <a:ext cx="2879725" cy="176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5" name="Rectangle 7"/>
          <p:cNvSpPr>
            <a:spLocks noChangeArrowheads="1"/>
          </p:cNvSpPr>
          <p:nvPr/>
        </p:nvSpPr>
        <p:spPr bwMode="auto">
          <a:xfrm>
            <a:off x="468313" y="5445125"/>
            <a:ext cx="79819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solidFill>
                  <a:srgbClr val="0033CC"/>
                </a:solidFill>
                <a:ea typeface="楷体_GB2312" pitchFamily="1" charset="-122"/>
              </a:rPr>
              <a:t>是严格对角占优的，所以</a:t>
            </a:r>
            <a:r>
              <a:rPr lang="en-US" altLang="zh-CN" sz="2400">
                <a:solidFill>
                  <a:srgbClr val="0033CC"/>
                </a:solidFill>
                <a:ea typeface="楷体_GB2312" pitchFamily="1" charset="-122"/>
              </a:rPr>
              <a:t>Jacobi</a:t>
            </a:r>
            <a:r>
              <a:rPr lang="zh-CN" altLang="en-US" sz="2400">
                <a:solidFill>
                  <a:srgbClr val="0033CC"/>
                </a:solidFill>
                <a:ea typeface="楷体_GB2312" pitchFamily="1" charset="-122"/>
              </a:rPr>
              <a:t>和</a:t>
            </a:r>
            <a:r>
              <a:rPr lang="en-US" altLang="zh-CN" sz="2400">
                <a:solidFill>
                  <a:srgbClr val="0033CC"/>
                </a:solidFill>
                <a:ea typeface="楷体_GB2312" pitchFamily="1" charset="-122"/>
              </a:rPr>
              <a:t>Gauss-Seidel</a:t>
            </a:r>
            <a:r>
              <a:rPr lang="zh-CN" altLang="en-US" sz="2400">
                <a:solidFill>
                  <a:srgbClr val="0033CC"/>
                </a:solidFill>
                <a:ea typeface="楷体_GB2312" pitchFamily="1" charset="-122"/>
              </a:rPr>
              <a:t>迭代格式</a:t>
            </a:r>
          </a:p>
          <a:p>
            <a:pPr algn="l" eaLnBrk="1" hangingPunct="1"/>
            <a:r>
              <a:rPr lang="zh-CN" altLang="en-US" sz="2400">
                <a:solidFill>
                  <a:srgbClr val="0033CC"/>
                </a:solidFill>
                <a:ea typeface="楷体_GB2312" pitchFamily="1" charset="-122"/>
              </a:rPr>
              <a:t>均收敛。</a:t>
            </a:r>
          </a:p>
        </p:txBody>
      </p:sp>
      <p:sp>
        <p:nvSpPr>
          <p:cNvPr id="105478" name="Rectangle 2"/>
          <p:cNvSpPr txBox="1">
            <a:spLocks noRot="1" noChangeArrowheads="1"/>
          </p:cNvSpPr>
          <p:nvPr/>
        </p:nvSpPr>
        <p:spPr bwMode="auto">
          <a:xfrm>
            <a:off x="381000" y="228600"/>
            <a:ext cx="40782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3200" dirty="0" smtClean="0">
                <a:ea typeface="楷体_GB2312" pitchFamily="1" charset="-122"/>
              </a:rPr>
              <a:t>举例，判断收敛性</a:t>
            </a:r>
            <a:endParaRPr lang="zh-CN" altLang="en-US" sz="3200" dirty="0"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A201936-146B-4ABF-AEB3-72B0C391CB46}" type="slidenum">
              <a:rPr lang="zh-CN" altLang="en-US" b="0"/>
              <a:pPr/>
              <a:t>77</a:t>
            </a:fld>
            <a:endParaRPr lang="en-US" altLang="zh-CN" b="0"/>
          </a:p>
        </p:txBody>
      </p:sp>
      <p:sp>
        <p:nvSpPr>
          <p:cNvPr id="106499" name="日期占位符 3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D56F8F7-89F1-4345-B38C-F6E9787FD160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grpSp>
        <p:nvGrpSpPr>
          <p:cNvPr id="106500" name="Group 2"/>
          <p:cNvGrpSpPr>
            <a:grpSpLocks/>
          </p:cNvGrpSpPr>
          <p:nvPr/>
        </p:nvGrpSpPr>
        <p:grpSpPr bwMode="auto">
          <a:xfrm>
            <a:off x="555625" y="2036763"/>
            <a:ext cx="7945438" cy="2608262"/>
            <a:chOff x="350" y="1283"/>
            <a:chExt cx="5005" cy="1643"/>
          </a:xfrm>
        </p:grpSpPr>
        <p:sp>
          <p:nvSpPr>
            <p:cNvPr id="106502" name="Rectangle 3"/>
            <p:cNvSpPr>
              <a:spLocks noChangeArrowheads="1"/>
            </p:cNvSpPr>
            <p:nvPr/>
          </p:nvSpPr>
          <p:spPr bwMode="auto">
            <a:xfrm>
              <a:off x="483" y="1325"/>
              <a:ext cx="4780" cy="1564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6503" name="Rectangle 4"/>
            <p:cNvSpPr>
              <a:spLocks noChangeArrowheads="1"/>
            </p:cNvSpPr>
            <p:nvPr/>
          </p:nvSpPr>
          <p:spPr bwMode="auto">
            <a:xfrm>
              <a:off x="362" y="1283"/>
              <a:ext cx="125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04" name="Rectangle 5"/>
            <p:cNvSpPr>
              <a:spLocks noChangeArrowheads="1"/>
            </p:cNvSpPr>
            <p:nvPr/>
          </p:nvSpPr>
          <p:spPr bwMode="auto">
            <a:xfrm>
              <a:off x="5218" y="1283"/>
              <a:ext cx="133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05" name="AutoShape 6"/>
            <p:cNvSpPr>
              <a:spLocks noChangeArrowheads="1"/>
            </p:cNvSpPr>
            <p:nvPr/>
          </p:nvSpPr>
          <p:spPr bwMode="auto">
            <a:xfrm>
              <a:off x="377" y="1283"/>
              <a:ext cx="4974" cy="98"/>
            </a:xfrm>
            <a:custGeom>
              <a:avLst/>
              <a:gdLst>
                <a:gd name="T0" fmla="*/ 1132 w 21600"/>
                <a:gd name="T1" fmla="*/ 0 h 21600"/>
                <a:gd name="T2" fmla="*/ 573 w 21600"/>
                <a:gd name="T3" fmla="*/ 0 h 21600"/>
                <a:gd name="T4" fmla="*/ 14 w 21600"/>
                <a:gd name="T5" fmla="*/ 0 h 21600"/>
                <a:gd name="T6" fmla="*/ 57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54 w 21600"/>
                <a:gd name="T13" fmla="*/ 1984 h 21600"/>
                <a:gd name="T14" fmla="*/ 19546 w 21600"/>
                <a:gd name="T15" fmla="*/ 19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12" y="21600"/>
                  </a:lnTo>
                  <a:lnTo>
                    <a:pt x="2108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06" name="AutoShape 7"/>
            <p:cNvSpPr>
              <a:spLocks noChangeArrowheads="1"/>
            </p:cNvSpPr>
            <p:nvPr/>
          </p:nvSpPr>
          <p:spPr bwMode="auto">
            <a:xfrm flipV="1">
              <a:off x="350" y="2828"/>
              <a:ext cx="5005" cy="98"/>
            </a:xfrm>
            <a:custGeom>
              <a:avLst/>
              <a:gdLst>
                <a:gd name="T0" fmla="*/ 1143 w 21600"/>
                <a:gd name="T1" fmla="*/ 0 h 21600"/>
                <a:gd name="T2" fmla="*/ 580 w 21600"/>
                <a:gd name="T3" fmla="*/ 0 h 21600"/>
                <a:gd name="T4" fmla="*/ 16 w 21600"/>
                <a:gd name="T5" fmla="*/ 0 h 21600"/>
                <a:gd name="T6" fmla="*/ 58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106 w 21600"/>
                <a:gd name="T13" fmla="*/ 2204 h 21600"/>
                <a:gd name="T14" fmla="*/ 19494 w 21600"/>
                <a:gd name="T15" fmla="*/ 19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12" y="21600"/>
                  </a:lnTo>
                  <a:lnTo>
                    <a:pt x="2098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07" name="Rectangle 8"/>
            <p:cNvSpPr>
              <a:spLocks noChangeArrowheads="1"/>
            </p:cNvSpPr>
            <p:nvPr/>
          </p:nvSpPr>
          <p:spPr bwMode="auto">
            <a:xfrm>
              <a:off x="480" y="1380"/>
              <a:ext cx="4738" cy="14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354281"/>
              </a:solidFill>
              <a:miter lim="800000"/>
              <a:headEnd/>
              <a:tailEnd/>
            </a:ln>
            <a:effectLst>
              <a:prstShdw prst="shdw17" dist="17961" dir="2700000">
                <a:srgbClr val="20284D"/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8041" name="Rectangle 9"/>
          <p:cNvSpPr>
            <a:spLocks noChangeArrowheads="1"/>
          </p:cNvSpPr>
          <p:nvPr/>
        </p:nvSpPr>
        <p:spPr bwMode="auto">
          <a:xfrm>
            <a:off x="609600" y="2438400"/>
            <a:ext cx="7585075" cy="9318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rgbClr val="354281"/>
            </a:outerShdw>
          </a:effectLst>
        </p:spPr>
        <p:txBody>
          <a:bodyPr lIns="0" tIns="0" rIns="0" bIns="0">
            <a:spAutoFit/>
          </a:bodyPr>
          <a:lstStyle/>
          <a:p>
            <a:pPr marL="290513" indent="-290513" defTabSz="915988">
              <a:lnSpc>
                <a:spcPct val="8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7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§4  松弛迭代法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D918E2E-5205-4537-B9BC-85C970C072A9}" type="slidenum">
              <a:rPr lang="zh-CN" altLang="en-US" b="0"/>
              <a:pPr/>
              <a:t>78</a:t>
            </a:fld>
            <a:endParaRPr lang="en-US" altLang="zh-CN" b="0"/>
          </a:p>
        </p:txBody>
      </p:sp>
      <p:sp>
        <p:nvSpPr>
          <p:cNvPr id="10752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F4B953E-9C6F-40FB-B4F5-3243AA83762C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§4 松弛迭代法</a:t>
            </a:r>
          </a:p>
        </p:txBody>
      </p:sp>
      <p:sp>
        <p:nvSpPr>
          <p:cNvPr id="495619" name="Rectangle 3"/>
          <p:cNvSpPr>
            <a:spLocks noChangeArrowheads="1"/>
          </p:cNvSpPr>
          <p:nvPr/>
        </p:nvSpPr>
        <p:spPr bwMode="auto">
          <a:xfrm>
            <a:off x="1735138" y="1535113"/>
            <a:ext cx="4968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</a:rPr>
              <a:t>b</a:t>
            </a:r>
            <a:r>
              <a:rPr lang="en-US" altLang="zh-CN" sz="3600" baseline="-25000">
                <a:latin typeface="Times New Roman" pitchFamily="18" charset="0"/>
              </a:rPr>
              <a:t>i</a:t>
            </a:r>
            <a:endParaRPr lang="zh-CN" altLang="en-US" sz="3600" baseline="-25000">
              <a:latin typeface="Times New Roman" pitchFamily="18" charset="0"/>
            </a:endParaRPr>
          </a:p>
        </p:txBody>
      </p:sp>
      <p:sp>
        <p:nvSpPr>
          <p:cNvPr id="495620" name="Rectangle 4"/>
          <p:cNvSpPr>
            <a:spLocks noChangeArrowheads="1"/>
          </p:cNvSpPr>
          <p:nvPr/>
        </p:nvSpPr>
        <p:spPr bwMode="auto">
          <a:xfrm>
            <a:off x="2328863" y="1524000"/>
            <a:ext cx="46815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latin typeface="Times New Roman" pitchFamily="18" charset="0"/>
              </a:rPr>
              <a:t>- (a</a:t>
            </a:r>
            <a:r>
              <a:rPr lang="en-US" altLang="zh-CN" sz="3600" baseline="-25000">
                <a:latin typeface="Times New Roman" pitchFamily="18" charset="0"/>
              </a:rPr>
              <a:t>i1</a:t>
            </a:r>
            <a:r>
              <a:rPr lang="en-US" altLang="zh-CN" sz="3600" i="1">
                <a:latin typeface="Times New Roman" pitchFamily="18" charset="0"/>
              </a:rPr>
              <a:t>x</a:t>
            </a:r>
            <a:r>
              <a:rPr lang="en-US" altLang="zh-CN" sz="3600" baseline="-25000">
                <a:latin typeface="Times New Roman" pitchFamily="18" charset="0"/>
              </a:rPr>
              <a:t>1</a:t>
            </a:r>
            <a:r>
              <a:rPr lang="en-US" altLang="zh-CN" sz="3600">
                <a:latin typeface="Times New Roman" pitchFamily="18" charset="0"/>
              </a:rPr>
              <a:t>+a</a:t>
            </a:r>
            <a:r>
              <a:rPr lang="en-US" altLang="zh-CN" sz="3600" baseline="-25000">
                <a:latin typeface="Times New Roman" pitchFamily="18" charset="0"/>
              </a:rPr>
              <a:t>i2</a:t>
            </a:r>
            <a:r>
              <a:rPr lang="en-US" altLang="zh-CN" sz="3600" i="1">
                <a:latin typeface="Times New Roman" pitchFamily="18" charset="0"/>
              </a:rPr>
              <a:t>x</a:t>
            </a:r>
            <a:r>
              <a:rPr lang="en-US" altLang="zh-CN" sz="3600" baseline="-25000">
                <a:latin typeface="Times New Roman" pitchFamily="18" charset="0"/>
              </a:rPr>
              <a:t>2</a:t>
            </a:r>
            <a:r>
              <a:rPr lang="en-US" altLang="zh-CN" sz="3600">
                <a:latin typeface="Times New Roman" pitchFamily="18" charset="0"/>
              </a:rPr>
              <a:t>+…+ a</a:t>
            </a:r>
            <a:r>
              <a:rPr lang="en-US" altLang="zh-CN" sz="3600" baseline="-25000">
                <a:latin typeface="Times New Roman" pitchFamily="18" charset="0"/>
              </a:rPr>
              <a:t>in</a:t>
            </a:r>
            <a:r>
              <a:rPr lang="en-US" altLang="zh-CN" sz="3600" i="1">
                <a:latin typeface="Times New Roman" pitchFamily="18" charset="0"/>
              </a:rPr>
              <a:t>x</a:t>
            </a:r>
            <a:r>
              <a:rPr lang="en-US" altLang="zh-CN" sz="3600" baseline="-25000">
                <a:latin typeface="Times New Roman" pitchFamily="18" charset="0"/>
              </a:rPr>
              <a:t>n</a:t>
            </a:r>
            <a:r>
              <a:rPr lang="en-US" altLang="zh-CN" sz="3600">
                <a:latin typeface="Times New Roman" pitchFamily="18" charset="0"/>
              </a:rPr>
              <a:t>)</a:t>
            </a:r>
            <a:endParaRPr lang="zh-CN" altLang="en-US" sz="3600">
              <a:latin typeface="Times New Roman" pitchFamily="18" charset="0"/>
            </a:endParaRPr>
          </a:p>
        </p:txBody>
      </p:sp>
      <p:sp>
        <p:nvSpPr>
          <p:cNvPr id="495621" name="Rectangle 5"/>
          <p:cNvSpPr>
            <a:spLocks noChangeArrowheads="1"/>
          </p:cNvSpPr>
          <p:nvPr/>
        </p:nvSpPr>
        <p:spPr bwMode="auto">
          <a:xfrm>
            <a:off x="1036638" y="1535113"/>
            <a:ext cx="782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</a:rPr>
              <a:t>r</a:t>
            </a:r>
            <a:r>
              <a:rPr lang="en-US" altLang="zh-CN" sz="3600" baseline="-25000">
                <a:latin typeface="Times New Roman" pitchFamily="18" charset="0"/>
              </a:rPr>
              <a:t>i </a:t>
            </a:r>
            <a:r>
              <a:rPr lang="en-US" altLang="zh-CN" sz="3600">
                <a:latin typeface="Times New Roman" pitchFamily="18" charset="0"/>
              </a:rPr>
              <a:t>=</a:t>
            </a:r>
            <a:endParaRPr lang="zh-CN" altLang="en-US" sz="3600">
              <a:latin typeface="Times New Roman" pitchFamily="18" charset="0"/>
            </a:endParaRPr>
          </a:p>
        </p:txBody>
      </p:sp>
      <p:sp>
        <p:nvSpPr>
          <p:cNvPr id="107528" name="Rectangle 6"/>
          <p:cNvSpPr>
            <a:spLocks noChangeArrowheads="1"/>
          </p:cNvSpPr>
          <p:nvPr/>
        </p:nvSpPr>
        <p:spPr bwMode="auto">
          <a:xfrm>
            <a:off x="993775" y="990600"/>
            <a:ext cx="47974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latin typeface="Times New Roman" pitchFamily="18" charset="0"/>
              </a:rPr>
              <a:t>a</a:t>
            </a:r>
            <a:r>
              <a:rPr lang="en-US" altLang="zh-CN" sz="3600" baseline="-25000">
                <a:latin typeface="Times New Roman" pitchFamily="18" charset="0"/>
              </a:rPr>
              <a:t>i1</a:t>
            </a:r>
            <a:r>
              <a:rPr lang="en-US" altLang="zh-CN" sz="3600" i="1">
                <a:latin typeface="Times New Roman" pitchFamily="18" charset="0"/>
              </a:rPr>
              <a:t>x</a:t>
            </a:r>
            <a:r>
              <a:rPr lang="en-US" altLang="zh-CN" sz="3600" baseline="-25000">
                <a:latin typeface="Times New Roman" pitchFamily="18" charset="0"/>
              </a:rPr>
              <a:t>1</a:t>
            </a:r>
            <a:r>
              <a:rPr lang="en-US" altLang="zh-CN" sz="3600">
                <a:latin typeface="Times New Roman" pitchFamily="18" charset="0"/>
              </a:rPr>
              <a:t>+a</a:t>
            </a:r>
            <a:r>
              <a:rPr lang="en-US" altLang="zh-CN" sz="3600" baseline="-25000">
                <a:latin typeface="Times New Roman" pitchFamily="18" charset="0"/>
              </a:rPr>
              <a:t>i2</a:t>
            </a:r>
            <a:r>
              <a:rPr lang="en-US" altLang="zh-CN" sz="3600" i="1">
                <a:latin typeface="Times New Roman" pitchFamily="18" charset="0"/>
              </a:rPr>
              <a:t>x</a:t>
            </a:r>
            <a:r>
              <a:rPr lang="en-US" altLang="zh-CN" sz="3600" baseline="-25000">
                <a:latin typeface="Times New Roman" pitchFamily="18" charset="0"/>
              </a:rPr>
              <a:t>2</a:t>
            </a:r>
            <a:r>
              <a:rPr lang="en-US" altLang="zh-CN" sz="3600">
                <a:latin typeface="Times New Roman" pitchFamily="18" charset="0"/>
              </a:rPr>
              <a:t>+…+ a</a:t>
            </a:r>
            <a:r>
              <a:rPr lang="en-US" altLang="zh-CN" sz="3600" baseline="-25000">
                <a:latin typeface="Times New Roman" pitchFamily="18" charset="0"/>
              </a:rPr>
              <a:t>in</a:t>
            </a:r>
            <a:r>
              <a:rPr lang="en-US" altLang="zh-CN" sz="3600" i="1">
                <a:latin typeface="Times New Roman" pitchFamily="18" charset="0"/>
              </a:rPr>
              <a:t>x</a:t>
            </a:r>
            <a:r>
              <a:rPr lang="en-US" altLang="zh-CN" sz="3600" baseline="-25000">
                <a:latin typeface="Times New Roman" pitchFamily="18" charset="0"/>
              </a:rPr>
              <a:t>n</a:t>
            </a:r>
            <a:r>
              <a:rPr lang="en-US" altLang="zh-CN" sz="3600">
                <a:latin typeface="Times New Roman" pitchFamily="18" charset="0"/>
              </a:rPr>
              <a:t>= </a:t>
            </a:r>
            <a:r>
              <a:rPr lang="en-US" altLang="zh-CN" sz="3600" i="1">
                <a:latin typeface="Times New Roman" pitchFamily="18" charset="0"/>
              </a:rPr>
              <a:t>b</a:t>
            </a:r>
            <a:r>
              <a:rPr lang="en-US" altLang="zh-CN" sz="3600" baseline="-25000">
                <a:latin typeface="Times New Roman" pitchFamily="18" charset="0"/>
              </a:rPr>
              <a:t>i</a:t>
            </a:r>
            <a:endParaRPr lang="zh-CN" altLang="en-US" sz="3600" baseline="-25000">
              <a:latin typeface="Times New Roman" pitchFamily="18" charset="0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85800" y="3886200"/>
            <a:ext cx="7086600" cy="2971800"/>
            <a:chOff x="432" y="2448"/>
            <a:chExt cx="4464" cy="1872"/>
          </a:xfrm>
        </p:grpSpPr>
        <p:sp>
          <p:nvSpPr>
            <p:cNvPr id="107532" name="AutoShape 7"/>
            <p:cNvSpPr>
              <a:spLocks noChangeArrowheads="1"/>
            </p:cNvSpPr>
            <p:nvPr/>
          </p:nvSpPr>
          <p:spPr bwMode="auto">
            <a:xfrm>
              <a:off x="2688" y="2448"/>
              <a:ext cx="480" cy="38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FFFF"/>
            </a:solid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7533" name="Object 8"/>
            <p:cNvGraphicFramePr>
              <a:graphicFrameLocks noChangeAspect="1"/>
            </p:cNvGraphicFramePr>
            <p:nvPr/>
          </p:nvGraphicFramePr>
          <p:xfrm>
            <a:off x="432" y="2736"/>
            <a:ext cx="4361" cy="7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75" name="Equation" r:id="rId4" imgW="2692400" imgH="431800" progId="Equation.3">
                    <p:embed/>
                  </p:oleObj>
                </mc:Choice>
                <mc:Fallback>
                  <p:oleObj name="Equation" r:id="rId4" imgW="2692400" imgH="4318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2736"/>
                          <a:ext cx="4361" cy="7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534" name="Object 9"/>
            <p:cNvGraphicFramePr>
              <a:graphicFrameLocks noChangeAspect="1"/>
            </p:cNvGraphicFramePr>
            <p:nvPr/>
          </p:nvGraphicFramePr>
          <p:xfrm>
            <a:off x="453" y="3541"/>
            <a:ext cx="4443" cy="7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76" name="Equation" r:id="rId6" imgW="2743200" imgH="431800" progId="Equation.3">
                    <p:embed/>
                  </p:oleObj>
                </mc:Choice>
                <mc:Fallback>
                  <p:oleObj name="Equation" r:id="rId6" imgW="2743200" imgH="4318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3541"/>
                          <a:ext cx="4443" cy="7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35" name="Rectangle 10"/>
            <p:cNvSpPr>
              <a:spLocks noChangeArrowheads="1"/>
            </p:cNvSpPr>
            <p:nvPr/>
          </p:nvSpPr>
          <p:spPr bwMode="auto">
            <a:xfrm>
              <a:off x="720" y="2784"/>
              <a:ext cx="624" cy="720"/>
            </a:xfrm>
            <a:prstGeom prst="rect">
              <a:avLst/>
            </a:prstGeom>
            <a:noFill/>
            <a:ln w="41275">
              <a:solidFill>
                <a:srgbClr val="FF33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36" name="Rectangle 11"/>
            <p:cNvSpPr>
              <a:spLocks noChangeArrowheads="1"/>
            </p:cNvSpPr>
            <p:nvPr/>
          </p:nvSpPr>
          <p:spPr bwMode="auto">
            <a:xfrm>
              <a:off x="1680" y="3552"/>
              <a:ext cx="624" cy="720"/>
            </a:xfrm>
            <a:prstGeom prst="rect">
              <a:avLst/>
            </a:prstGeom>
            <a:noFill/>
            <a:ln w="41275">
              <a:solidFill>
                <a:srgbClr val="FF33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95628" name="Rectangle 12"/>
          <p:cNvSpPr>
            <a:spLocks noChangeArrowheads="1"/>
          </p:cNvSpPr>
          <p:nvPr/>
        </p:nvSpPr>
        <p:spPr bwMode="auto">
          <a:xfrm>
            <a:off x="4038600" y="205740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28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i</a:t>
            </a:r>
            <a:r>
              <a:rPr lang="zh-CN" altLang="en-US" sz="28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个方程的残差(残余或余量)</a:t>
            </a:r>
          </a:p>
        </p:txBody>
      </p:sp>
      <p:sp>
        <p:nvSpPr>
          <p:cNvPr id="495629" name="Rectangle 13"/>
          <p:cNvSpPr>
            <a:spLocks noChangeArrowheads="1"/>
          </p:cNvSpPr>
          <p:nvPr/>
        </p:nvSpPr>
        <p:spPr bwMode="auto">
          <a:xfrm>
            <a:off x="457200" y="2586038"/>
            <a:ext cx="8382000" cy="165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85000"/>
              </a:lnSpc>
              <a:spcBef>
                <a:spcPct val="25000"/>
              </a:spcBef>
              <a:buSzPct val="100000"/>
              <a:buFontTx/>
              <a:buChar char="-"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方程被松弛了或被削弱了:把上式中的一个方程中的一个变量进行修改，使该方程的残差为零</a:t>
            </a:r>
          </a:p>
          <a:p>
            <a:pPr algn="l">
              <a:lnSpc>
                <a:spcPct val="85000"/>
              </a:lnSpc>
              <a:spcBef>
                <a:spcPct val="25000"/>
              </a:spcBef>
              <a:buSzPct val="100000"/>
              <a:buFontTx/>
              <a:buChar char="-"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一般对第</a:t>
            </a:r>
            <a:r>
              <a:rPr lang="en-US" altLang="zh-CN" sz="2800">
                <a:latin typeface="黑体" pitchFamily="49" charset="-122"/>
                <a:ea typeface="黑体" pitchFamily="49" charset="-122"/>
              </a:rPr>
              <a:t>i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个方程总是改变其第</a:t>
            </a:r>
            <a:r>
              <a:rPr lang="en-US" altLang="zh-CN" sz="2800">
                <a:latin typeface="黑体" pitchFamily="49" charset="-122"/>
                <a:ea typeface="黑体" pitchFamily="49" charset="-122"/>
              </a:rPr>
              <a:t>i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个变量</a:t>
            </a:r>
            <a:r>
              <a:rPr lang="en-US" altLang="zh-CN" sz="2800" i="1">
                <a:latin typeface="黑体" pitchFamily="49" charset="-122"/>
                <a:ea typeface="黑体" pitchFamily="49" charset="-122"/>
              </a:rPr>
              <a:t>x</a:t>
            </a:r>
            <a:r>
              <a:rPr lang="en-US" altLang="zh-CN" sz="2800" baseline="-25000">
                <a:latin typeface="黑体" pitchFamily="49" charset="-122"/>
                <a:ea typeface="黑体" pitchFamily="49" charset="-122"/>
              </a:rPr>
              <a:t>i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的数值，使该方程的残差为零。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5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5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5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5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9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9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19" grpId="0"/>
      <p:bldP spid="495620" grpId="0"/>
      <p:bldP spid="495621" grpId="0"/>
      <p:bldP spid="495628" grpId="0"/>
      <p:bldP spid="49562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A22A552-B34E-4B6A-97E7-D594CE9E8FB0}" type="slidenum">
              <a:rPr lang="zh-CN" altLang="en-US" b="0"/>
              <a:pPr/>
              <a:t>79</a:t>
            </a:fld>
            <a:endParaRPr lang="en-US" altLang="zh-CN" b="0"/>
          </a:p>
        </p:txBody>
      </p:sp>
      <p:sp>
        <p:nvSpPr>
          <p:cNvPr id="10854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BB08578-0589-466B-8349-2D57928A0079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4.1按|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i</a:t>
            </a:r>
            <a:r>
              <a:rPr lang="zh-CN" altLang="en-US" sz="4800" smtClean="0"/>
              <a:t>|最大实施松弛方法</a:t>
            </a:r>
          </a:p>
        </p:txBody>
      </p:sp>
      <p:sp>
        <p:nvSpPr>
          <p:cNvPr id="497667" name="Rectangle 3"/>
          <p:cNvSpPr>
            <a:spLocks noChangeArrowheads="1"/>
          </p:cNvSpPr>
          <p:nvPr/>
        </p:nvSpPr>
        <p:spPr bwMode="auto">
          <a:xfrm>
            <a:off x="685800" y="1143000"/>
            <a:ext cx="8142288" cy="104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修改第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s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个方程的第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s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个变量值</a:t>
            </a: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r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s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(0)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是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s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(0)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的修正量</a:t>
            </a:r>
          </a:p>
        </p:txBody>
      </p:sp>
      <p:graphicFrame>
        <p:nvGraphicFramePr>
          <p:cNvPr id="497668" name="Object 4"/>
          <p:cNvGraphicFramePr>
            <a:graphicFrameLocks noChangeAspect="1"/>
          </p:cNvGraphicFramePr>
          <p:nvPr/>
        </p:nvGraphicFramePr>
        <p:xfrm>
          <a:off x="1023938" y="2362200"/>
          <a:ext cx="7510462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95" name="Equation" r:id="rId4" imgW="2921000" imgH="431800" progId="Equation.3">
                  <p:embed/>
                </p:oleObj>
              </mc:Choice>
              <mc:Fallback>
                <p:oleObj name="Equation" r:id="rId4" imgW="29210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938" y="2362200"/>
                        <a:ext cx="7510462" cy="123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69" name="Text Box 5"/>
          <p:cNvSpPr txBox="1">
            <a:spLocks noChangeArrowheads="1"/>
          </p:cNvSpPr>
          <p:nvPr/>
        </p:nvSpPr>
        <p:spPr bwMode="auto">
          <a:xfrm>
            <a:off x="719138" y="2503488"/>
            <a:ext cx="990600" cy="150336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/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FF3300"/>
                </a:solidFill>
              </a:rPr>
              <a:t>减少</a:t>
            </a:r>
            <a:r>
              <a:rPr lang="en-US" altLang="zh-CN" sz="2800" i="1">
                <a:solidFill>
                  <a:srgbClr val="FF3300"/>
                </a:solidFill>
                <a:latin typeface="Times New Roman" pitchFamily="18" charset="0"/>
              </a:rPr>
              <a:t>r</a:t>
            </a:r>
            <a:r>
              <a:rPr lang="en-US" altLang="zh-CN" sz="2800" baseline="-25000">
                <a:solidFill>
                  <a:srgbClr val="FF3300"/>
                </a:solidFill>
                <a:latin typeface="Times New Roman" pitchFamily="18" charset="0"/>
              </a:rPr>
              <a:t>s</a:t>
            </a:r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(0)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497670" name="Text Box 6"/>
          <p:cNvSpPr txBox="1">
            <a:spLocks noChangeArrowheads="1"/>
          </p:cNvSpPr>
          <p:nvPr/>
        </p:nvSpPr>
        <p:spPr bwMode="auto">
          <a:xfrm>
            <a:off x="4529138" y="2546350"/>
            <a:ext cx="990600" cy="150336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/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FF3300"/>
                </a:solidFill>
              </a:rPr>
              <a:t>增加</a:t>
            </a:r>
            <a:r>
              <a:rPr lang="en-US" altLang="zh-CN" sz="2800" i="1">
                <a:solidFill>
                  <a:srgbClr val="FF3300"/>
                </a:solidFill>
                <a:latin typeface="Times New Roman" pitchFamily="18" charset="0"/>
              </a:rPr>
              <a:t>r</a:t>
            </a:r>
            <a:r>
              <a:rPr lang="en-US" altLang="zh-CN" sz="2800" baseline="-25000">
                <a:solidFill>
                  <a:srgbClr val="FF3300"/>
                </a:solidFill>
                <a:latin typeface="Times New Roman" pitchFamily="18" charset="0"/>
              </a:rPr>
              <a:t>s</a:t>
            </a:r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(0)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497671" name="Rectangle 7"/>
          <p:cNvSpPr>
            <a:spLocks noChangeArrowheads="1"/>
          </p:cNvSpPr>
          <p:nvPr/>
        </p:nvSpPr>
        <p:spPr bwMode="auto">
          <a:xfrm>
            <a:off x="538163" y="4191000"/>
            <a:ext cx="68691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其余方程的残差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r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i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(1)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= 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r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i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(0)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+ 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b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is 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r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s</a:t>
            </a:r>
            <a:r>
              <a:rPr lang="en-US" altLang="zh-CN" sz="3200" baseline="30000">
                <a:latin typeface="Times New Roman" pitchFamily="18" charset="0"/>
                <a:ea typeface="黑体" pitchFamily="49" charset="-122"/>
              </a:rPr>
              <a:t>(0)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i</a:t>
            </a:r>
            <a:r>
              <a:rPr lang="en-US" altLang="zh-CN" sz="3200">
                <a:latin typeface="Times New Roman" pitchFamily="18" charset="0"/>
                <a:ea typeface="黑体" pitchFamily="49" charset="-122"/>
                <a:sym typeface="Symbol" pitchFamily="18" charset="2"/>
              </a:rPr>
              <a:t>s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),</a:t>
            </a:r>
            <a:endParaRPr lang="zh-CN" altLang="en-US" sz="3200">
              <a:latin typeface="Times New Roman" pitchFamily="18" charset="0"/>
              <a:ea typeface="黑体" pitchFamily="49" charset="-122"/>
            </a:endParaRPr>
          </a:p>
        </p:txBody>
      </p:sp>
      <p:graphicFrame>
        <p:nvGraphicFramePr>
          <p:cNvPr id="497672" name="Object 8"/>
          <p:cNvGraphicFramePr>
            <a:graphicFrameLocks noChangeAspect="1"/>
          </p:cNvGraphicFramePr>
          <p:nvPr/>
        </p:nvGraphicFramePr>
        <p:xfrm>
          <a:off x="785813" y="4724400"/>
          <a:ext cx="7900987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96" name="Equation" r:id="rId6" imgW="3073400" imgH="431800" progId="Equation.3">
                  <p:embed/>
                </p:oleObj>
              </mc:Choice>
              <mc:Fallback>
                <p:oleObj name="Equation" r:id="rId6" imgW="30734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4724400"/>
                        <a:ext cx="7900987" cy="123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73" name="Text Box 9"/>
          <p:cNvSpPr txBox="1">
            <a:spLocks noChangeArrowheads="1"/>
          </p:cNvSpPr>
          <p:nvPr/>
        </p:nvSpPr>
        <p:spPr bwMode="auto">
          <a:xfrm>
            <a:off x="4876800" y="4833938"/>
            <a:ext cx="990600" cy="150336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/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FF3300"/>
                </a:solidFill>
              </a:rPr>
              <a:t>增加</a:t>
            </a:r>
            <a:r>
              <a:rPr lang="en-US" altLang="zh-CN" sz="2800" i="1">
                <a:solidFill>
                  <a:srgbClr val="FF3300"/>
                </a:solidFill>
                <a:latin typeface="Times New Roman" pitchFamily="18" charset="0"/>
              </a:rPr>
              <a:t>r</a:t>
            </a:r>
            <a:r>
              <a:rPr lang="en-US" altLang="zh-CN" sz="2800" baseline="-25000">
                <a:solidFill>
                  <a:srgbClr val="FF3300"/>
                </a:solidFill>
                <a:latin typeface="Times New Roman" pitchFamily="18" charset="0"/>
              </a:rPr>
              <a:t>s</a:t>
            </a:r>
            <a:r>
              <a:rPr lang="en-US" altLang="zh-CN" sz="2800" baseline="30000">
                <a:solidFill>
                  <a:srgbClr val="FF3300"/>
                </a:solidFill>
                <a:latin typeface="Times New Roman" pitchFamily="18" charset="0"/>
              </a:rPr>
              <a:t>(0)</a:t>
            </a:r>
            <a:endParaRPr lang="zh-CN" altLang="en-US" sz="2800" baseline="300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497674" name="Text Box 10"/>
          <p:cNvSpPr txBox="1">
            <a:spLocks noChangeArrowheads="1"/>
          </p:cNvSpPr>
          <p:nvPr/>
        </p:nvSpPr>
        <p:spPr bwMode="auto">
          <a:xfrm>
            <a:off x="3962400" y="4800600"/>
            <a:ext cx="838200" cy="153352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/>
          </a:p>
          <a:p>
            <a:pPr>
              <a:spcBef>
                <a:spcPct val="50000"/>
              </a:spcBef>
            </a:pPr>
            <a:endParaRPr lang="en-US" altLang="zh-CN" i="1">
              <a:solidFill>
                <a:srgbClr val="FF3300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800" i="1">
                <a:solidFill>
                  <a:srgbClr val="FF3300"/>
                </a:solidFill>
                <a:latin typeface="Times New Roman" pitchFamily="18" charset="0"/>
              </a:rPr>
              <a:t>b</a:t>
            </a:r>
            <a:r>
              <a:rPr lang="en-US" altLang="zh-CN" sz="2800" baseline="-25000">
                <a:solidFill>
                  <a:srgbClr val="FF3300"/>
                </a:solidFill>
                <a:latin typeface="Times New Roman" pitchFamily="18" charset="0"/>
              </a:rPr>
              <a:t>is</a:t>
            </a:r>
            <a:endParaRPr lang="zh-CN" altLang="en-US" sz="2800" baseline="-25000">
              <a:solidFill>
                <a:srgbClr val="FF33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497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497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9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9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7" grpId="0" build="p" autoUpdateAnimBg="0"/>
      <p:bldP spid="497669" grpId="0" animBg="1" autoUpdateAnimBg="0"/>
      <p:bldP spid="497670" grpId="0" animBg="1" autoUpdateAnimBg="0"/>
      <p:bldP spid="497671" grpId="0" autoUpdateAnimBg="0"/>
      <p:bldP spid="497673" grpId="0" animBg="1" autoUpdateAnimBg="0"/>
      <p:bldP spid="497674" grpId="0" animBg="1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A20F7B8E-36F2-4CF8-AE1C-56555E229346}" type="slidenum">
              <a:rPr lang="zh-CN" altLang="en-US" b="0"/>
              <a:pPr/>
              <a:t>80</a:t>
            </a:fld>
            <a:endParaRPr lang="en-US" altLang="zh-CN" b="0"/>
          </a:p>
        </p:txBody>
      </p:sp>
      <p:sp>
        <p:nvSpPr>
          <p:cNvPr id="10957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4F560FF3-6761-4E99-A793-CA3E54F193BF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4.1 按|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i</a:t>
            </a:r>
            <a:r>
              <a:rPr lang="zh-CN" altLang="en-US" sz="4800" smtClean="0"/>
              <a:t>|最大实施松弛方法</a:t>
            </a:r>
          </a:p>
        </p:txBody>
      </p:sp>
      <p:sp>
        <p:nvSpPr>
          <p:cNvPr id="1095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384175"/>
          </a:xfrm>
        </p:spPr>
        <p:txBody>
          <a:bodyPr/>
          <a:lstStyle/>
          <a:p>
            <a:r>
              <a:rPr lang="zh-CN" altLang="en-US" smtClean="0"/>
              <a:t>例题     用松弛法解线组</a:t>
            </a:r>
          </a:p>
        </p:txBody>
      </p:sp>
      <p:graphicFrame>
        <p:nvGraphicFramePr>
          <p:cNvPr id="499716" name="Object 4"/>
          <p:cNvGraphicFramePr>
            <a:graphicFrameLocks noChangeAspect="1"/>
          </p:cNvGraphicFramePr>
          <p:nvPr/>
        </p:nvGraphicFramePr>
        <p:xfrm>
          <a:off x="1524000" y="1524000"/>
          <a:ext cx="3581400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5" name="Equation" r:id="rId3" imgW="1435100" imgH="711200" progId="Equation.3">
                  <p:embed/>
                </p:oleObj>
              </mc:Choice>
              <mc:Fallback>
                <p:oleObj name="Equation" r:id="rId3" imgW="14351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524000"/>
                        <a:ext cx="3581400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17" name="Rectangle 5"/>
          <p:cNvSpPr>
            <a:spLocks noChangeArrowheads="1"/>
          </p:cNvSpPr>
          <p:nvPr/>
        </p:nvSpPr>
        <p:spPr bwMode="auto">
          <a:xfrm>
            <a:off x="620713" y="3197225"/>
            <a:ext cx="81422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解：将线组改写</a:t>
            </a:r>
          </a:p>
        </p:txBody>
      </p:sp>
      <p:graphicFrame>
        <p:nvGraphicFramePr>
          <p:cNvPr id="499718" name="Object 6"/>
          <p:cNvGraphicFramePr>
            <a:graphicFrameLocks noChangeAspect="1"/>
          </p:cNvGraphicFramePr>
          <p:nvPr/>
        </p:nvGraphicFramePr>
        <p:xfrm>
          <a:off x="1143000" y="3505200"/>
          <a:ext cx="6053138" cy="296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6" name="Equation" r:id="rId5" imgW="2425700" imgH="1270000" progId="Equation.3">
                  <p:embed/>
                </p:oleObj>
              </mc:Choice>
              <mc:Fallback>
                <p:oleObj name="Equation" r:id="rId5" imgW="2425700" imgH="1270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505200"/>
                        <a:ext cx="6053138" cy="296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9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7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2D8CD16-37BD-4A2D-B7B5-0B2C31D91C56}" type="slidenum">
              <a:rPr lang="zh-CN" altLang="en-US" b="0"/>
              <a:pPr/>
              <a:t>81</a:t>
            </a:fld>
            <a:endParaRPr lang="en-US" altLang="zh-CN" b="0"/>
          </a:p>
        </p:txBody>
      </p:sp>
      <p:sp>
        <p:nvSpPr>
          <p:cNvPr id="11059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50DC897-1328-4F91-9C53-B01A51030C44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 smtClean="0"/>
              <a:t>4.1按|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i</a:t>
            </a:r>
            <a:r>
              <a:rPr lang="zh-CN" altLang="en-US" sz="4800" smtClean="0"/>
              <a:t>|最大实施松弛方法</a:t>
            </a:r>
          </a:p>
        </p:txBody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68625"/>
            <a:ext cx="8142288" cy="35845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mtClean="0"/>
              <a:t>取零次近似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1</a:t>
            </a:r>
            <a:r>
              <a:rPr lang="en-US" altLang="zh-CN" baseline="30000" smtClean="0"/>
              <a:t>(0)</a:t>
            </a:r>
            <a:r>
              <a:rPr lang="zh-CN" altLang="en-US" smtClean="0"/>
              <a:t>=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2</a:t>
            </a:r>
            <a:r>
              <a:rPr lang="en-US" altLang="zh-CN" baseline="30000" smtClean="0"/>
              <a:t>(0)</a:t>
            </a:r>
            <a:r>
              <a:rPr lang="zh-CN" altLang="en-US" smtClean="0"/>
              <a:t> =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3</a:t>
            </a:r>
            <a:r>
              <a:rPr lang="en-US" altLang="zh-CN" baseline="30000" smtClean="0"/>
              <a:t>(0)</a:t>
            </a:r>
            <a:r>
              <a:rPr lang="zh-CN" altLang="en-US" smtClean="0"/>
              <a:t> =0</a:t>
            </a:r>
          </a:p>
          <a:p>
            <a:pPr>
              <a:buFont typeface="Wingdings" pitchFamily="2" charset="2"/>
              <a:buNone/>
            </a:pPr>
            <a:r>
              <a:rPr lang="zh-CN" altLang="en-US" smtClean="0"/>
              <a:t>代入上式得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1</a:t>
            </a:r>
            <a:r>
              <a:rPr lang="en-US" altLang="zh-CN" baseline="30000" smtClean="0"/>
              <a:t>(0)</a:t>
            </a:r>
            <a:r>
              <a:rPr lang="zh-CN" altLang="en-US" smtClean="0"/>
              <a:t>=0.60, 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2</a:t>
            </a:r>
            <a:r>
              <a:rPr lang="en-US" altLang="zh-CN" baseline="30000" smtClean="0"/>
              <a:t>(0)</a:t>
            </a:r>
            <a:r>
              <a:rPr lang="zh-CN" altLang="en-US" smtClean="0"/>
              <a:t>=0.70, 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3</a:t>
            </a:r>
            <a:r>
              <a:rPr lang="en-US" altLang="zh-CN" baseline="30000" smtClean="0"/>
              <a:t>(0)</a:t>
            </a:r>
            <a:r>
              <a:rPr lang="zh-CN" altLang="en-US" smtClean="0"/>
              <a:t>=0.80</a:t>
            </a:r>
          </a:p>
          <a:p>
            <a:pPr>
              <a:buFont typeface="Wingdings" pitchFamily="2" charset="2"/>
              <a:buNone/>
            </a:pPr>
            <a:r>
              <a:rPr lang="zh-CN" altLang="en-US" smtClean="0"/>
              <a:t>其中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3</a:t>
            </a:r>
            <a:r>
              <a:rPr lang="en-US" altLang="zh-CN" baseline="30000" smtClean="0"/>
              <a:t>(0)</a:t>
            </a:r>
            <a:r>
              <a:rPr lang="zh-CN" altLang="en-US" smtClean="0"/>
              <a:t>最大,计算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3</a:t>
            </a:r>
            <a:r>
              <a:rPr lang="zh-CN" altLang="en-US" smtClean="0"/>
              <a:t>的一次近似,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3</a:t>
            </a:r>
            <a:r>
              <a:rPr lang="en-US" altLang="zh-CN" baseline="30000" smtClean="0"/>
              <a:t>(1)</a:t>
            </a:r>
            <a:r>
              <a:rPr lang="zh-CN" altLang="en-US" smtClean="0"/>
              <a:t>=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3</a:t>
            </a:r>
            <a:r>
              <a:rPr lang="en-US" altLang="zh-CN" baseline="30000" smtClean="0"/>
              <a:t>(0)</a:t>
            </a:r>
            <a:r>
              <a:rPr lang="en-US" altLang="zh-CN" smtClean="0"/>
              <a:t>+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3</a:t>
            </a:r>
            <a:r>
              <a:rPr lang="en-US" altLang="zh-CN" baseline="30000" smtClean="0"/>
              <a:t>(0)</a:t>
            </a:r>
            <a:r>
              <a:rPr lang="en-US" altLang="zh-CN" smtClean="0"/>
              <a:t>=0.80</a:t>
            </a:r>
          </a:p>
          <a:p>
            <a:pPr>
              <a:buFont typeface="Wingdings" pitchFamily="2" charset="2"/>
              <a:buNone/>
            </a:pPr>
            <a:r>
              <a:rPr lang="zh-CN" altLang="en-US" smtClean="0"/>
              <a:t>这时残差的一次近似为</a:t>
            </a:r>
          </a:p>
          <a:p>
            <a:pPr>
              <a:buFont typeface="Wingdings" pitchFamily="2" charset="2"/>
              <a:buNone/>
            </a:pPr>
            <a:r>
              <a:rPr lang="en-US" altLang="zh-CN" smtClean="0"/>
              <a:t>              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1</a:t>
            </a:r>
            <a:r>
              <a:rPr lang="en-US" altLang="zh-CN" baseline="30000" smtClean="0"/>
              <a:t>(1) </a:t>
            </a:r>
            <a:r>
              <a:rPr lang="zh-CN" altLang="en-US" smtClean="0"/>
              <a:t>= 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1</a:t>
            </a:r>
            <a:r>
              <a:rPr lang="en-US" altLang="zh-CN" baseline="30000" smtClean="0"/>
              <a:t>(0) </a:t>
            </a:r>
            <a:r>
              <a:rPr lang="en-US" altLang="zh-CN" smtClean="0"/>
              <a:t>+0.2</a:t>
            </a:r>
            <a:r>
              <a:rPr lang="zh-CN" altLang="en-US" smtClean="0">
                <a:sym typeface="Symbol" pitchFamily="18" charset="2"/>
              </a:rPr>
              <a:t>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3</a:t>
            </a:r>
            <a:r>
              <a:rPr lang="en-US" altLang="zh-CN" baseline="30000" smtClean="0"/>
              <a:t>(0) </a:t>
            </a:r>
            <a:r>
              <a:rPr lang="zh-CN" altLang="en-US" smtClean="0"/>
              <a:t>=0.60+0.2*0.80=0.76</a:t>
            </a:r>
          </a:p>
          <a:p>
            <a:pPr>
              <a:buFont typeface="Wingdings" pitchFamily="2" charset="2"/>
              <a:buNone/>
            </a:pPr>
            <a:r>
              <a:rPr lang="en-US" altLang="zh-CN" smtClean="0"/>
              <a:t>              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2</a:t>
            </a:r>
            <a:r>
              <a:rPr lang="en-US" altLang="zh-CN" baseline="30000" smtClean="0"/>
              <a:t>(1) </a:t>
            </a:r>
            <a:r>
              <a:rPr lang="zh-CN" altLang="en-US" smtClean="0"/>
              <a:t>= 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2</a:t>
            </a:r>
            <a:r>
              <a:rPr lang="en-US" altLang="zh-CN" baseline="30000" smtClean="0"/>
              <a:t>(0) </a:t>
            </a:r>
            <a:r>
              <a:rPr lang="en-US" altLang="zh-CN" smtClean="0"/>
              <a:t>+0.2</a:t>
            </a:r>
            <a:r>
              <a:rPr lang="zh-CN" altLang="en-US" smtClean="0">
                <a:sym typeface="Symbol" pitchFamily="18" charset="2"/>
              </a:rPr>
              <a:t>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3</a:t>
            </a:r>
            <a:r>
              <a:rPr lang="en-US" altLang="zh-CN" baseline="30000" smtClean="0"/>
              <a:t>(0) </a:t>
            </a:r>
            <a:r>
              <a:rPr lang="zh-CN" altLang="en-US" smtClean="0"/>
              <a:t>=0.70+0.2*0.80=0.86</a:t>
            </a:r>
          </a:p>
          <a:p>
            <a:pPr>
              <a:buFont typeface="Wingdings" pitchFamily="2" charset="2"/>
              <a:buNone/>
            </a:pPr>
            <a:r>
              <a:rPr lang="zh-CN" altLang="en-US" smtClean="0"/>
              <a:t>              </a:t>
            </a:r>
            <a:r>
              <a:rPr lang="en-US" altLang="zh-CN" i="1" smtClean="0"/>
              <a:t>r</a:t>
            </a:r>
            <a:r>
              <a:rPr lang="en-US" altLang="zh-CN" baseline="-25000" smtClean="0"/>
              <a:t>3</a:t>
            </a:r>
            <a:r>
              <a:rPr lang="en-US" altLang="zh-CN" baseline="30000" smtClean="0"/>
              <a:t>(1) </a:t>
            </a:r>
            <a:r>
              <a:rPr lang="zh-CN" altLang="en-US" smtClean="0"/>
              <a:t>=0</a:t>
            </a:r>
          </a:p>
        </p:txBody>
      </p:sp>
      <p:graphicFrame>
        <p:nvGraphicFramePr>
          <p:cNvPr id="500740" name="Object 4"/>
          <p:cNvGraphicFramePr>
            <a:graphicFrameLocks noChangeAspect="1"/>
          </p:cNvGraphicFramePr>
          <p:nvPr/>
        </p:nvGraphicFramePr>
        <p:xfrm>
          <a:off x="762000" y="990600"/>
          <a:ext cx="65532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18" name="Equation" r:id="rId3" imgW="2463800" imgH="838200" progId="Equation.3">
                  <p:embed/>
                </p:oleObj>
              </mc:Choice>
              <mc:Fallback>
                <p:oleObj name="Equation" r:id="rId3" imgW="2463800" imgH="838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990600"/>
                        <a:ext cx="6553200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00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500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500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500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500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500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39" grpId="0" build="p" bldLvl="2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4A3B1C9-B2F9-471E-AC5A-84DA1D3F7D8C}" type="slidenum">
              <a:rPr lang="zh-CN" altLang="en-US" b="0"/>
              <a:pPr/>
              <a:t>82</a:t>
            </a:fld>
            <a:endParaRPr lang="en-US" altLang="zh-CN" b="0"/>
          </a:p>
        </p:txBody>
      </p:sp>
      <p:sp>
        <p:nvSpPr>
          <p:cNvPr id="11161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FF9A910-88F1-402C-8896-812F0E2E1869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graphicFrame>
        <p:nvGraphicFramePr>
          <p:cNvPr id="501762" name="Object 2"/>
          <p:cNvGraphicFramePr>
            <a:graphicFrameLocks noChangeAspect="1"/>
          </p:cNvGraphicFramePr>
          <p:nvPr/>
        </p:nvGraphicFramePr>
        <p:xfrm>
          <a:off x="609600" y="228600"/>
          <a:ext cx="5867400" cy="203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42" name="Equation" r:id="rId3" imgW="2453655" imgH="830532" progId="Equation.3">
                  <p:embed/>
                </p:oleObj>
              </mc:Choice>
              <mc:Fallback>
                <p:oleObj name="Equation" r:id="rId3" imgW="2453655" imgH="83053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8600"/>
                        <a:ext cx="5867400" cy="203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63" name="Group 3"/>
          <p:cNvGraphicFramePr>
            <a:graphicFrameLocks noGrp="1"/>
          </p:cNvGraphicFramePr>
          <p:nvPr/>
        </p:nvGraphicFramePr>
        <p:xfrm>
          <a:off x="381000" y="2286000"/>
          <a:ext cx="8534400" cy="4279896"/>
        </p:xfrm>
        <a:graphic>
          <a:graphicData uri="http://schemas.openxmlformats.org/drawingml/2006/table">
            <a:tbl>
              <a:tblPr/>
              <a:tblGrid>
                <a:gridCol w="1220788"/>
                <a:gridCol w="1217612"/>
                <a:gridCol w="1219200"/>
                <a:gridCol w="1219200"/>
                <a:gridCol w="1219200"/>
                <a:gridCol w="1217613"/>
                <a:gridCol w="1220787"/>
              </a:tblGrid>
              <a:tr h="475544">
                <a:tc rowSpan="2"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k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x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(0)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r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(k)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x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(0)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r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(k)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x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3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(0)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r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3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(k)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54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sym typeface="Symbol" pitchFamily="18" charset="2"/>
                        </a:rPr>
                        <a:t>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x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(k)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sym typeface="Symbol" pitchFamily="18" charset="2"/>
                        </a:rPr>
                        <a:t>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r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(k)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sym typeface="Symbol" pitchFamily="18" charset="2"/>
                        </a:rPr>
                        <a:t>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x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(k)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sym typeface="Symbol" pitchFamily="18" charset="2"/>
                        </a:rPr>
                        <a:t>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r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(k)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sym typeface="Symbol" pitchFamily="18" charset="2"/>
                        </a:rPr>
                        <a:t>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x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3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(k)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sym typeface="Symbol" pitchFamily="18" charset="2"/>
                        </a:rPr>
                        <a:t>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r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3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(k)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544">
                <a:tc rowSpan="2"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54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544">
                <a:tc rowSpan="2"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54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544"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544"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544"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27305F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01842" name="Rectangle 82"/>
          <p:cNvSpPr>
            <a:spLocks noChangeArrowheads="1"/>
          </p:cNvSpPr>
          <p:nvPr/>
        </p:nvSpPr>
        <p:spPr bwMode="auto">
          <a:xfrm>
            <a:off x="1771650" y="3225800"/>
            <a:ext cx="5251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0                          0                         0</a:t>
            </a:r>
          </a:p>
        </p:txBody>
      </p:sp>
      <p:sp>
        <p:nvSpPr>
          <p:cNvPr id="501843" name="Rectangle 83"/>
          <p:cNvSpPr>
            <a:spLocks noChangeArrowheads="1"/>
          </p:cNvSpPr>
          <p:nvPr/>
        </p:nvSpPr>
        <p:spPr bwMode="auto">
          <a:xfrm>
            <a:off x="2927350" y="3225800"/>
            <a:ext cx="5607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0.60                     0.70                   </a:t>
            </a:r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</a:rPr>
              <a:t>0.80</a:t>
            </a:r>
          </a:p>
        </p:txBody>
      </p:sp>
      <p:sp>
        <p:nvSpPr>
          <p:cNvPr id="501844" name="Rectangle 84"/>
          <p:cNvSpPr>
            <a:spLocks noChangeArrowheads="1"/>
          </p:cNvSpPr>
          <p:nvPr/>
        </p:nvSpPr>
        <p:spPr bwMode="auto">
          <a:xfrm>
            <a:off x="6508750" y="3671888"/>
            <a:ext cx="806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0.80</a:t>
            </a:r>
          </a:p>
        </p:txBody>
      </p:sp>
      <p:sp>
        <p:nvSpPr>
          <p:cNvPr id="501845" name="Rectangle 85"/>
          <p:cNvSpPr>
            <a:spLocks noChangeArrowheads="1"/>
          </p:cNvSpPr>
          <p:nvPr/>
        </p:nvSpPr>
        <p:spPr bwMode="auto">
          <a:xfrm>
            <a:off x="2895600" y="3657600"/>
            <a:ext cx="806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0.16</a:t>
            </a:r>
          </a:p>
        </p:txBody>
      </p:sp>
      <p:sp>
        <p:nvSpPr>
          <p:cNvPr id="501846" name="Rectangle 86"/>
          <p:cNvSpPr>
            <a:spLocks noChangeArrowheads="1"/>
          </p:cNvSpPr>
          <p:nvPr/>
        </p:nvSpPr>
        <p:spPr bwMode="auto">
          <a:xfrm>
            <a:off x="5441950" y="3671888"/>
            <a:ext cx="806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0.16</a:t>
            </a:r>
          </a:p>
        </p:txBody>
      </p:sp>
      <p:sp>
        <p:nvSpPr>
          <p:cNvPr id="501847" name="Rectangle 87"/>
          <p:cNvSpPr>
            <a:spLocks noChangeArrowheads="1"/>
          </p:cNvSpPr>
          <p:nvPr/>
        </p:nvSpPr>
        <p:spPr bwMode="auto">
          <a:xfrm>
            <a:off x="2895600" y="4191000"/>
            <a:ext cx="806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0.76</a:t>
            </a:r>
          </a:p>
        </p:txBody>
      </p:sp>
      <p:sp>
        <p:nvSpPr>
          <p:cNvPr id="501848" name="Rectangle 88"/>
          <p:cNvSpPr>
            <a:spLocks noChangeArrowheads="1"/>
          </p:cNvSpPr>
          <p:nvPr/>
        </p:nvSpPr>
        <p:spPr bwMode="auto">
          <a:xfrm>
            <a:off x="5441950" y="4129088"/>
            <a:ext cx="806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</a:rPr>
              <a:t>0.86</a:t>
            </a:r>
          </a:p>
        </p:txBody>
      </p:sp>
      <p:sp>
        <p:nvSpPr>
          <p:cNvPr id="501849" name="Rectangle 89"/>
          <p:cNvSpPr>
            <a:spLocks noChangeArrowheads="1"/>
          </p:cNvSpPr>
          <p:nvPr/>
        </p:nvSpPr>
        <p:spPr bwMode="auto">
          <a:xfrm>
            <a:off x="7994650" y="41910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</a:t>
            </a:r>
          </a:p>
        </p:txBody>
      </p:sp>
      <p:sp>
        <p:nvSpPr>
          <p:cNvPr id="501850" name="Rectangle 90"/>
          <p:cNvSpPr>
            <a:spLocks noChangeArrowheads="1"/>
          </p:cNvSpPr>
          <p:nvPr/>
        </p:nvSpPr>
        <p:spPr bwMode="auto">
          <a:xfrm>
            <a:off x="5427663" y="4662488"/>
            <a:ext cx="925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</a:rPr>
              <a:t>-0.86</a:t>
            </a:r>
          </a:p>
        </p:txBody>
      </p:sp>
      <p:sp>
        <p:nvSpPr>
          <p:cNvPr id="501851" name="Rectangle 91"/>
          <p:cNvSpPr>
            <a:spLocks noChangeArrowheads="1"/>
          </p:cNvSpPr>
          <p:nvPr/>
        </p:nvSpPr>
        <p:spPr bwMode="auto">
          <a:xfrm>
            <a:off x="4222750" y="4662488"/>
            <a:ext cx="806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0.86</a:t>
            </a:r>
          </a:p>
        </p:txBody>
      </p:sp>
      <p:sp>
        <p:nvSpPr>
          <p:cNvPr id="501852" name="Rectangle 92"/>
          <p:cNvSpPr>
            <a:spLocks noChangeArrowheads="1"/>
          </p:cNvSpPr>
          <p:nvPr/>
        </p:nvSpPr>
        <p:spPr bwMode="auto">
          <a:xfrm>
            <a:off x="2806700" y="4648200"/>
            <a:ext cx="984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0.172</a:t>
            </a:r>
          </a:p>
        </p:txBody>
      </p:sp>
      <p:sp>
        <p:nvSpPr>
          <p:cNvPr id="501853" name="Rectangle 93"/>
          <p:cNvSpPr>
            <a:spLocks noChangeArrowheads="1"/>
          </p:cNvSpPr>
          <p:nvPr/>
        </p:nvSpPr>
        <p:spPr bwMode="auto">
          <a:xfrm>
            <a:off x="7772400" y="4648200"/>
            <a:ext cx="984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0.086</a:t>
            </a:r>
          </a:p>
        </p:txBody>
      </p:sp>
      <p:sp>
        <p:nvSpPr>
          <p:cNvPr id="501854" name="Rectangle 94"/>
          <p:cNvSpPr>
            <a:spLocks noChangeArrowheads="1"/>
          </p:cNvSpPr>
          <p:nvPr/>
        </p:nvSpPr>
        <p:spPr bwMode="auto">
          <a:xfrm>
            <a:off x="2927350" y="5119688"/>
            <a:ext cx="806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</a:rPr>
              <a:t>0.93</a:t>
            </a:r>
          </a:p>
        </p:txBody>
      </p:sp>
      <p:sp>
        <p:nvSpPr>
          <p:cNvPr id="501855" name="Rectangle 95"/>
          <p:cNvSpPr>
            <a:spLocks noChangeArrowheads="1"/>
          </p:cNvSpPr>
          <p:nvPr/>
        </p:nvSpPr>
        <p:spPr bwMode="auto">
          <a:xfrm>
            <a:off x="5721350" y="51054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</a:t>
            </a:r>
          </a:p>
        </p:txBody>
      </p:sp>
      <p:sp>
        <p:nvSpPr>
          <p:cNvPr id="501856" name="Rectangle 96"/>
          <p:cNvSpPr>
            <a:spLocks noChangeArrowheads="1"/>
          </p:cNvSpPr>
          <p:nvPr/>
        </p:nvSpPr>
        <p:spPr bwMode="auto">
          <a:xfrm>
            <a:off x="7861300" y="5105400"/>
            <a:ext cx="806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0.09</a:t>
            </a:r>
          </a:p>
        </p:txBody>
      </p:sp>
      <p:sp>
        <p:nvSpPr>
          <p:cNvPr id="501857" name="Rectangle 97"/>
          <p:cNvSpPr>
            <a:spLocks noChangeArrowheads="1"/>
          </p:cNvSpPr>
          <p:nvPr/>
        </p:nvSpPr>
        <p:spPr bwMode="auto">
          <a:xfrm>
            <a:off x="2913063" y="5653088"/>
            <a:ext cx="925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</a:rPr>
              <a:t>-0.93</a:t>
            </a:r>
          </a:p>
        </p:txBody>
      </p:sp>
      <p:sp>
        <p:nvSpPr>
          <p:cNvPr id="501858" name="Rectangle 98"/>
          <p:cNvSpPr>
            <a:spLocks noChangeArrowheads="1"/>
          </p:cNvSpPr>
          <p:nvPr/>
        </p:nvSpPr>
        <p:spPr bwMode="auto">
          <a:xfrm>
            <a:off x="1708150" y="5653088"/>
            <a:ext cx="806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0.93</a:t>
            </a:r>
          </a:p>
        </p:txBody>
      </p:sp>
      <p:sp>
        <p:nvSpPr>
          <p:cNvPr id="501859" name="Rectangle 99"/>
          <p:cNvSpPr>
            <a:spLocks noChangeArrowheads="1"/>
          </p:cNvSpPr>
          <p:nvPr/>
        </p:nvSpPr>
        <p:spPr bwMode="auto">
          <a:xfrm>
            <a:off x="5518150" y="5576888"/>
            <a:ext cx="806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0.09</a:t>
            </a:r>
          </a:p>
        </p:txBody>
      </p:sp>
      <p:sp>
        <p:nvSpPr>
          <p:cNvPr id="501860" name="Rectangle 100"/>
          <p:cNvSpPr>
            <a:spLocks noChangeArrowheads="1"/>
          </p:cNvSpPr>
          <p:nvPr/>
        </p:nvSpPr>
        <p:spPr bwMode="auto">
          <a:xfrm>
            <a:off x="7880350" y="5562600"/>
            <a:ext cx="806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0.09</a:t>
            </a:r>
          </a:p>
        </p:txBody>
      </p:sp>
      <p:sp>
        <p:nvSpPr>
          <p:cNvPr id="501861" name="Rectangle 101"/>
          <p:cNvSpPr>
            <a:spLocks noChangeArrowheads="1"/>
          </p:cNvSpPr>
          <p:nvPr/>
        </p:nvSpPr>
        <p:spPr bwMode="auto">
          <a:xfrm>
            <a:off x="3225800" y="61102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</a:t>
            </a:r>
          </a:p>
        </p:txBody>
      </p:sp>
      <p:sp>
        <p:nvSpPr>
          <p:cNvPr id="501862" name="Rectangle 102"/>
          <p:cNvSpPr>
            <a:spLocks noChangeArrowheads="1"/>
          </p:cNvSpPr>
          <p:nvPr/>
        </p:nvSpPr>
        <p:spPr bwMode="auto">
          <a:xfrm>
            <a:off x="5486400" y="6034088"/>
            <a:ext cx="806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itchFamily="18" charset="0"/>
              </a:rPr>
              <a:t>0.09</a:t>
            </a:r>
          </a:p>
        </p:txBody>
      </p:sp>
      <p:sp>
        <p:nvSpPr>
          <p:cNvPr id="501863" name="Rectangle 103"/>
          <p:cNvSpPr>
            <a:spLocks noChangeArrowheads="1"/>
          </p:cNvSpPr>
          <p:nvPr/>
        </p:nvSpPr>
        <p:spPr bwMode="auto">
          <a:xfrm>
            <a:off x="7880350" y="6110288"/>
            <a:ext cx="806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</a:rPr>
              <a:t>0.18</a:t>
            </a:r>
          </a:p>
        </p:txBody>
      </p:sp>
      <p:sp>
        <p:nvSpPr>
          <p:cNvPr id="501864" name="Rectangle 104"/>
          <p:cNvSpPr>
            <a:spLocks noChangeArrowheads="1"/>
          </p:cNvSpPr>
          <p:nvPr/>
        </p:nvSpPr>
        <p:spPr bwMode="auto">
          <a:xfrm>
            <a:off x="7696200" y="3657600"/>
            <a:ext cx="92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</a:rPr>
              <a:t>-0.80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0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300"/>
                                        <p:tgtEl>
                                          <p:spTgt spid="50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300"/>
                                        <p:tgtEl>
                                          <p:spTgt spid="50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0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300"/>
                                        <p:tgtEl>
                                          <p:spTgt spid="50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300"/>
                                        <p:tgtEl>
                                          <p:spTgt spid="50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300"/>
                                        <p:tgtEl>
                                          <p:spTgt spid="50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300"/>
                                        <p:tgtEl>
                                          <p:spTgt spid="50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300"/>
                                        <p:tgtEl>
                                          <p:spTgt spid="50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300"/>
                                        <p:tgtEl>
                                          <p:spTgt spid="50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300"/>
                                        <p:tgtEl>
                                          <p:spTgt spid="50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300"/>
                                        <p:tgtEl>
                                          <p:spTgt spid="50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300"/>
                                        <p:tgtEl>
                                          <p:spTgt spid="50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300"/>
                                        <p:tgtEl>
                                          <p:spTgt spid="50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300"/>
                                        <p:tgtEl>
                                          <p:spTgt spid="50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300"/>
                                        <p:tgtEl>
                                          <p:spTgt spid="50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300"/>
                                        <p:tgtEl>
                                          <p:spTgt spid="50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300"/>
                                        <p:tgtEl>
                                          <p:spTgt spid="50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300"/>
                                        <p:tgtEl>
                                          <p:spTgt spid="50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300"/>
                                        <p:tgtEl>
                                          <p:spTgt spid="50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300"/>
                                        <p:tgtEl>
                                          <p:spTgt spid="50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300"/>
                                        <p:tgtEl>
                                          <p:spTgt spid="50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300"/>
                                        <p:tgtEl>
                                          <p:spTgt spid="50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300"/>
                                        <p:tgtEl>
                                          <p:spTgt spid="50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42" grpId="0" autoUpdateAnimBg="0"/>
      <p:bldP spid="501843" grpId="0" autoUpdateAnimBg="0"/>
      <p:bldP spid="501844" grpId="0" autoUpdateAnimBg="0"/>
      <p:bldP spid="501845" grpId="0" autoUpdateAnimBg="0"/>
      <p:bldP spid="501846" grpId="0" autoUpdateAnimBg="0"/>
      <p:bldP spid="501847" grpId="0" autoUpdateAnimBg="0"/>
      <p:bldP spid="501848" grpId="0" autoUpdateAnimBg="0"/>
      <p:bldP spid="501849" grpId="0" autoUpdateAnimBg="0"/>
      <p:bldP spid="501850" grpId="0" autoUpdateAnimBg="0"/>
      <p:bldP spid="501851" grpId="0" autoUpdateAnimBg="0"/>
      <p:bldP spid="501852" grpId="0" autoUpdateAnimBg="0"/>
      <p:bldP spid="501853" grpId="0" autoUpdateAnimBg="0"/>
      <p:bldP spid="501854" grpId="0" autoUpdateAnimBg="0"/>
      <p:bldP spid="501855" grpId="0" autoUpdateAnimBg="0"/>
      <p:bldP spid="501856" grpId="0" autoUpdateAnimBg="0"/>
      <p:bldP spid="501857" grpId="0" autoUpdateAnimBg="0"/>
      <p:bldP spid="501858" grpId="0" autoUpdateAnimBg="0"/>
      <p:bldP spid="501859" grpId="0" autoUpdateAnimBg="0"/>
      <p:bldP spid="501860" grpId="0" autoUpdateAnimBg="0"/>
      <p:bldP spid="501861" grpId="0" autoUpdateAnimBg="0"/>
      <p:bldP spid="501862" grpId="0" autoUpdateAnimBg="0"/>
      <p:bldP spid="501863" grpId="0" autoUpdateAnimBg="0"/>
      <p:bldP spid="501864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20DCC62-370E-4646-9706-5AEB6A25CA76}" type="slidenum">
              <a:rPr lang="zh-CN" altLang="en-US" b="0"/>
              <a:pPr/>
              <a:t>83</a:t>
            </a:fld>
            <a:endParaRPr lang="en-US" altLang="zh-CN" b="0"/>
          </a:p>
        </p:txBody>
      </p:sp>
      <p:sp>
        <p:nvSpPr>
          <p:cNvPr id="11264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F7E08CD0-2316-4F75-927F-E560CF3F5519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graphicFrame>
        <p:nvGraphicFramePr>
          <p:cNvPr id="625666" name="Object 2"/>
          <p:cNvGraphicFramePr>
            <a:graphicFrameLocks noChangeAspect="1"/>
          </p:cNvGraphicFramePr>
          <p:nvPr/>
        </p:nvGraphicFramePr>
        <p:xfrm>
          <a:off x="3235325" y="2362200"/>
          <a:ext cx="5897563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6" name="Equation" r:id="rId4" imgW="3187700" imgH="431800" progId="Equation.3">
                  <p:embed/>
                </p:oleObj>
              </mc:Choice>
              <mc:Fallback>
                <p:oleObj name="Equation" r:id="rId4" imgW="31877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5" y="2362200"/>
                        <a:ext cx="5897563" cy="10191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6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4.2逐次松弛法</a:t>
            </a:r>
          </a:p>
        </p:txBody>
      </p:sp>
      <p:sp>
        <p:nvSpPr>
          <p:cNvPr id="11264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52425" y="1143000"/>
            <a:ext cx="8721725" cy="4699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mtClean="0"/>
              <a:t>按方程次序实施松弛的方法——逐次松弛法</a:t>
            </a:r>
            <a:endParaRPr lang="zh-CN" altLang="en-US" smtClean="0">
              <a:sym typeface="Symbol" pitchFamily="18" charset="2"/>
            </a:endParaRPr>
          </a:p>
        </p:txBody>
      </p:sp>
      <p:graphicFrame>
        <p:nvGraphicFramePr>
          <p:cNvPr id="625669" name="Object 5"/>
          <p:cNvGraphicFramePr>
            <a:graphicFrameLocks noChangeAspect="1"/>
          </p:cNvGraphicFramePr>
          <p:nvPr/>
        </p:nvGraphicFramePr>
        <p:xfrm>
          <a:off x="211138" y="1524000"/>
          <a:ext cx="4922837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7" name="Equation" r:id="rId6" imgW="2692400" imgH="431800" progId="Equation.3">
                  <p:embed/>
                </p:oleObj>
              </mc:Choice>
              <mc:Fallback>
                <p:oleObj name="Equation" r:id="rId6" imgW="26924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8" y="1524000"/>
                        <a:ext cx="4922837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670" name="Object 6"/>
          <p:cNvGraphicFramePr>
            <a:graphicFrameLocks noChangeAspect="1"/>
          </p:cNvGraphicFramePr>
          <p:nvPr/>
        </p:nvGraphicFramePr>
        <p:xfrm>
          <a:off x="214313" y="3048000"/>
          <a:ext cx="520223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8" name="Equation" r:id="rId8" imgW="2959100" imgH="431800" progId="Equation.3">
                  <p:embed/>
                </p:oleObj>
              </mc:Choice>
              <mc:Fallback>
                <p:oleObj name="Equation" r:id="rId8" imgW="29591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3048000"/>
                        <a:ext cx="5202237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671" name="Object 7"/>
          <p:cNvGraphicFramePr>
            <a:graphicFrameLocks noChangeAspect="1"/>
          </p:cNvGraphicFramePr>
          <p:nvPr/>
        </p:nvGraphicFramePr>
        <p:xfrm>
          <a:off x="2733675" y="3810000"/>
          <a:ext cx="637381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9" name="Equation" r:id="rId10" imgW="3530600" imgH="431800" progId="Equation.3">
                  <p:embed/>
                </p:oleObj>
              </mc:Choice>
              <mc:Fallback>
                <p:oleObj name="Equation" r:id="rId10" imgW="35306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5" y="3810000"/>
                        <a:ext cx="6373813" cy="9620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672" name="Object 8"/>
          <p:cNvGraphicFramePr>
            <a:graphicFrameLocks noChangeAspect="1"/>
          </p:cNvGraphicFramePr>
          <p:nvPr/>
        </p:nvGraphicFramePr>
        <p:xfrm>
          <a:off x="3475038" y="5257800"/>
          <a:ext cx="55991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0" name="Equation" r:id="rId12" imgW="2806700" imgH="431800" progId="Equation.3">
                  <p:embed/>
                </p:oleObj>
              </mc:Choice>
              <mc:Fallback>
                <p:oleObj name="Equation" r:id="rId12" imgW="28067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038" y="5257800"/>
                        <a:ext cx="5599112" cy="9398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673" name="Object 9"/>
          <p:cNvGraphicFramePr>
            <a:graphicFrameLocks noChangeAspect="1"/>
          </p:cNvGraphicFramePr>
          <p:nvPr/>
        </p:nvGraphicFramePr>
        <p:xfrm>
          <a:off x="984250" y="5918200"/>
          <a:ext cx="5346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1" name="Equation" r:id="rId14" imgW="2679700" imgH="431800" progId="Equation.3">
                  <p:embed/>
                </p:oleObj>
              </mc:Choice>
              <mc:Fallback>
                <p:oleObj name="Equation" r:id="rId14" imgW="26797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5918200"/>
                        <a:ext cx="5346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674" name="Object 10"/>
          <p:cNvGraphicFramePr>
            <a:graphicFrameLocks noChangeAspect="1"/>
          </p:cNvGraphicFramePr>
          <p:nvPr/>
        </p:nvGraphicFramePr>
        <p:xfrm>
          <a:off x="211138" y="4572000"/>
          <a:ext cx="612298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2" name="Equation" r:id="rId16" imgW="3390900" imgH="431800" progId="Equation.3">
                  <p:embed/>
                </p:oleObj>
              </mc:Choice>
              <mc:Fallback>
                <p:oleObj name="Equation" r:id="rId16" imgW="3390900" imgH="431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8" y="4572000"/>
                        <a:ext cx="612298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5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5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25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25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25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25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8156E0F-BFE8-466E-8F47-1A127CBFBA21}" type="slidenum">
              <a:rPr lang="zh-CN" altLang="en-US" b="0"/>
              <a:pPr/>
              <a:t>84</a:t>
            </a:fld>
            <a:endParaRPr lang="en-US" altLang="zh-CN" b="0"/>
          </a:p>
        </p:txBody>
      </p:sp>
      <p:sp>
        <p:nvSpPr>
          <p:cNvPr id="11366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F601C0BA-4493-454C-B9AA-84CDFF6B847A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98450"/>
            <a:ext cx="8772525" cy="603250"/>
          </a:xfrm>
        </p:spPr>
        <p:txBody>
          <a:bodyPr/>
          <a:lstStyle/>
          <a:p>
            <a:pPr>
              <a:defRPr/>
            </a:pPr>
            <a:r>
              <a:rPr lang="zh-CN" altLang="en-US" smtClean="0"/>
              <a:t>4.2逐次松弛法</a:t>
            </a:r>
          </a:p>
        </p:txBody>
      </p:sp>
      <p:sp>
        <p:nvSpPr>
          <p:cNvPr id="1136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917575"/>
          </a:xfrm>
        </p:spPr>
        <p:txBody>
          <a:bodyPr/>
          <a:lstStyle/>
          <a:p>
            <a:r>
              <a:rPr lang="zh-CN" altLang="en-US" smtClean="0"/>
              <a:t>仿照上面依次推作，可得到</a:t>
            </a:r>
          </a:p>
          <a:p>
            <a:endParaRPr lang="zh-CN" altLang="en-US" smtClean="0"/>
          </a:p>
        </p:txBody>
      </p:sp>
      <p:graphicFrame>
        <p:nvGraphicFramePr>
          <p:cNvPr id="113670" name="Object 4"/>
          <p:cNvGraphicFramePr>
            <a:graphicFrameLocks noChangeAspect="1"/>
          </p:cNvGraphicFramePr>
          <p:nvPr/>
        </p:nvGraphicFramePr>
        <p:xfrm>
          <a:off x="304800" y="1520825"/>
          <a:ext cx="8534400" cy="335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92" name="Equation" r:id="rId4" imgW="3822700" imgH="1574800" progId="Equation.3">
                  <p:embed/>
                </p:oleObj>
              </mc:Choice>
              <mc:Fallback>
                <p:oleObj name="Equation" r:id="rId4" imgW="3822700" imgH="1574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520825"/>
                        <a:ext cx="8534400" cy="335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1" name="Rectangle 5"/>
          <p:cNvSpPr>
            <a:spLocks noChangeArrowheads="1"/>
          </p:cNvSpPr>
          <p:nvPr/>
        </p:nvSpPr>
        <p:spPr bwMode="auto">
          <a:xfrm>
            <a:off x="152400" y="4949825"/>
            <a:ext cx="8610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	称为逐次松弛法。</a:t>
            </a:r>
          </a:p>
        </p:txBody>
      </p:sp>
      <p:sp>
        <p:nvSpPr>
          <p:cNvPr id="435207" name="AutoShape 7"/>
          <p:cNvSpPr>
            <a:spLocks noChangeArrowheads="1"/>
          </p:cNvSpPr>
          <p:nvPr/>
        </p:nvSpPr>
        <p:spPr bwMode="auto">
          <a:xfrm>
            <a:off x="5410200" y="5257800"/>
            <a:ext cx="2971800" cy="1295400"/>
          </a:xfrm>
          <a:prstGeom prst="cloudCallout">
            <a:avLst>
              <a:gd name="adj1" fmla="val -37181"/>
              <a:gd name="adj2" fmla="val -94361"/>
            </a:avLst>
          </a:prstGeom>
          <a:solidFill>
            <a:srgbClr val="FFFF99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zh-CN" altLang="en-US" sz="2800">
                <a:latin typeface="黑体" pitchFamily="49" charset="-122"/>
                <a:ea typeface="黑体" pitchFamily="49" charset="-122"/>
              </a:rPr>
              <a:t>高斯-赛德尔迭代法</a:t>
            </a:r>
            <a:endParaRPr lang="en-US" altLang="zh-CN" sz="280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5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5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07" grpId="0" animBg="1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72FC12FE-FF66-4633-BFB8-5058433375A9}" type="slidenum">
              <a:rPr lang="zh-CN" altLang="en-US" b="0"/>
              <a:pPr/>
              <a:t>85</a:t>
            </a:fld>
            <a:endParaRPr lang="en-US" altLang="zh-CN" b="0"/>
          </a:p>
        </p:txBody>
      </p:sp>
      <p:sp>
        <p:nvSpPr>
          <p:cNvPr id="11469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7BB51E4-B174-4168-AA09-E7272C68195C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4.3 带有松弛因子的逐次松弛法</a:t>
            </a:r>
          </a:p>
        </p:txBody>
      </p:sp>
      <p:graphicFrame>
        <p:nvGraphicFramePr>
          <p:cNvPr id="503812" name="Object 4"/>
          <p:cNvGraphicFramePr>
            <a:graphicFrameLocks noChangeAspect="1"/>
          </p:cNvGraphicFramePr>
          <p:nvPr/>
        </p:nvGraphicFramePr>
        <p:xfrm>
          <a:off x="838200" y="981075"/>
          <a:ext cx="740568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1" name="Equation" r:id="rId4" imgW="3162300" imgH="431800" progId="Equation.3">
                  <p:embed/>
                </p:oleObj>
              </mc:Choice>
              <mc:Fallback>
                <p:oleObj name="Equation" r:id="rId4" imgW="31623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981075"/>
                        <a:ext cx="7405688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13" name="AutoShape 5"/>
          <p:cNvSpPr>
            <a:spLocks noChangeArrowheads="1"/>
          </p:cNvSpPr>
          <p:nvPr/>
        </p:nvSpPr>
        <p:spPr bwMode="auto">
          <a:xfrm>
            <a:off x="3810000" y="1724025"/>
            <a:ext cx="685800" cy="504825"/>
          </a:xfrm>
          <a:prstGeom prst="downArrow">
            <a:avLst>
              <a:gd name="adj1" fmla="val 50000"/>
              <a:gd name="adj2" fmla="val 43750"/>
            </a:avLst>
          </a:prstGeom>
          <a:solidFill>
            <a:srgbClr val="FFCC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3814" name="Object 6"/>
          <p:cNvGraphicFramePr>
            <a:graphicFrameLocks noChangeAspect="1"/>
          </p:cNvGraphicFramePr>
          <p:nvPr/>
        </p:nvGraphicFramePr>
        <p:xfrm>
          <a:off x="301625" y="2076450"/>
          <a:ext cx="861377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2" name="Equation" r:id="rId6" imgW="4064000" imgH="431800" progId="Equation.3">
                  <p:embed/>
                </p:oleObj>
              </mc:Choice>
              <mc:Fallback>
                <p:oleObj name="Equation" r:id="rId6" imgW="40640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" y="2076450"/>
                        <a:ext cx="8613775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15" name="Rectangle 7"/>
          <p:cNvSpPr>
            <a:spLocks noChangeArrowheads="1"/>
          </p:cNvSpPr>
          <p:nvPr/>
        </p:nvSpPr>
        <p:spPr bwMode="auto">
          <a:xfrm>
            <a:off x="1447800" y="2076450"/>
            <a:ext cx="685800" cy="914400"/>
          </a:xfrm>
          <a:prstGeom prst="rect">
            <a:avLst/>
          </a:prstGeom>
          <a:noFill/>
          <a:ln w="41275">
            <a:solidFill>
              <a:srgbClr val="FF33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816" name="Rectangle 8"/>
          <p:cNvSpPr>
            <a:spLocks noChangeArrowheads="1"/>
          </p:cNvSpPr>
          <p:nvPr/>
        </p:nvSpPr>
        <p:spPr bwMode="auto">
          <a:xfrm>
            <a:off x="2895600" y="2076450"/>
            <a:ext cx="990600" cy="914400"/>
          </a:xfrm>
          <a:prstGeom prst="rect">
            <a:avLst/>
          </a:prstGeom>
          <a:noFill/>
          <a:ln w="41275">
            <a:solidFill>
              <a:srgbClr val="FF33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3817" name="Object 9"/>
          <p:cNvGraphicFramePr>
            <a:graphicFrameLocks noChangeAspect="1"/>
          </p:cNvGraphicFramePr>
          <p:nvPr/>
        </p:nvGraphicFramePr>
        <p:xfrm>
          <a:off x="368300" y="3019425"/>
          <a:ext cx="86233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3" name="Equation" r:id="rId8" imgW="4216400" imgH="431800" progId="Equation.3">
                  <p:embed/>
                </p:oleObj>
              </mc:Choice>
              <mc:Fallback>
                <p:oleObj name="Equation" r:id="rId8" imgW="42164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3019425"/>
                        <a:ext cx="86233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18" name="AutoShape 10"/>
          <p:cNvSpPr>
            <a:spLocks noChangeArrowheads="1"/>
          </p:cNvSpPr>
          <p:nvPr/>
        </p:nvSpPr>
        <p:spPr bwMode="auto">
          <a:xfrm>
            <a:off x="3886200" y="3781425"/>
            <a:ext cx="685800" cy="428625"/>
          </a:xfrm>
          <a:prstGeom prst="downArrow">
            <a:avLst>
              <a:gd name="adj1" fmla="val 50000"/>
              <a:gd name="adj2" fmla="val 43750"/>
            </a:avLst>
          </a:prstGeom>
          <a:solidFill>
            <a:srgbClr val="FFCC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3819" name="Object 11"/>
          <p:cNvGraphicFramePr>
            <a:graphicFrameLocks noChangeAspect="1"/>
          </p:cNvGraphicFramePr>
          <p:nvPr/>
        </p:nvGraphicFramePr>
        <p:xfrm>
          <a:off x="301625" y="4057650"/>
          <a:ext cx="861377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4" name="Equation" r:id="rId10" imgW="4064000" imgH="431800" progId="Equation.3">
                  <p:embed/>
                </p:oleObj>
              </mc:Choice>
              <mc:Fallback>
                <p:oleObj name="Equation" r:id="rId10" imgW="4064000" imgH="431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" y="4057650"/>
                        <a:ext cx="8613775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20" name="Rectangle 12"/>
          <p:cNvSpPr>
            <a:spLocks noChangeArrowheads="1"/>
          </p:cNvSpPr>
          <p:nvPr/>
        </p:nvSpPr>
        <p:spPr bwMode="auto">
          <a:xfrm>
            <a:off x="2286000" y="4086225"/>
            <a:ext cx="533400" cy="533400"/>
          </a:xfrm>
          <a:prstGeom prst="rect">
            <a:avLst/>
          </a:prstGeom>
          <a:noFill/>
          <a:ln w="41275">
            <a:solidFill>
              <a:srgbClr val="FF33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3821" name="Object 13"/>
          <p:cNvGraphicFramePr>
            <a:graphicFrameLocks noChangeAspect="1"/>
          </p:cNvGraphicFramePr>
          <p:nvPr/>
        </p:nvGraphicFramePr>
        <p:xfrm>
          <a:off x="869950" y="4895850"/>
          <a:ext cx="7542213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5" name="Equation" r:id="rId12" imgW="3898900" imgH="431800" progId="Equation.3">
                  <p:embed/>
                </p:oleObj>
              </mc:Choice>
              <mc:Fallback>
                <p:oleObj name="Equation" r:id="rId12" imgW="3898900" imgH="431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4895850"/>
                        <a:ext cx="7542213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22" name="Rectangle 14"/>
          <p:cNvSpPr>
            <a:spLocks noChangeArrowheads="1"/>
          </p:cNvSpPr>
          <p:nvPr/>
        </p:nvSpPr>
        <p:spPr bwMode="auto">
          <a:xfrm>
            <a:off x="1905000" y="5076825"/>
            <a:ext cx="990600" cy="609600"/>
          </a:xfrm>
          <a:prstGeom prst="rect">
            <a:avLst/>
          </a:prstGeom>
          <a:noFill/>
          <a:ln w="38100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823" name="Rectangle 15"/>
          <p:cNvSpPr>
            <a:spLocks noChangeArrowheads="1"/>
          </p:cNvSpPr>
          <p:nvPr/>
        </p:nvSpPr>
        <p:spPr bwMode="auto">
          <a:xfrm>
            <a:off x="2895600" y="4238625"/>
            <a:ext cx="990600" cy="609600"/>
          </a:xfrm>
          <a:prstGeom prst="rect">
            <a:avLst/>
          </a:prstGeom>
          <a:noFill/>
          <a:ln w="38100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5" name="Rectangle 18"/>
          <p:cNvSpPr>
            <a:spLocks noChangeArrowheads="1"/>
          </p:cNvSpPr>
          <p:nvPr/>
        </p:nvSpPr>
        <p:spPr bwMode="auto">
          <a:xfrm>
            <a:off x="539750" y="5734050"/>
            <a:ext cx="86042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FF0000"/>
                </a:solidFill>
                <a:ea typeface="黑体" pitchFamily="49" charset="-122"/>
              </a:rPr>
              <a:t>它是高斯-赛德尔迭代法中新旧两个迭代值</a:t>
            </a:r>
            <a:r>
              <a:rPr lang="en-US" altLang="zh-CN" sz="2800" i="1">
                <a:solidFill>
                  <a:srgbClr val="FF0000"/>
                </a:solidFill>
                <a:ea typeface="黑体" pitchFamily="49" charset="-122"/>
              </a:rPr>
              <a:t>x</a:t>
            </a:r>
            <a:r>
              <a:rPr lang="en-US" altLang="zh-CN" sz="2800" baseline="-25000">
                <a:solidFill>
                  <a:srgbClr val="FF0000"/>
                </a:solidFill>
                <a:ea typeface="黑体" pitchFamily="49" charset="-122"/>
              </a:rPr>
              <a:t>i</a:t>
            </a:r>
            <a:r>
              <a:rPr lang="en-US" altLang="zh-CN" sz="2800" baseline="30000">
                <a:solidFill>
                  <a:srgbClr val="FF0000"/>
                </a:solidFill>
                <a:ea typeface="黑体" pitchFamily="49" charset="-122"/>
              </a:rPr>
              <a:t>(k+1)</a:t>
            </a:r>
            <a:r>
              <a:rPr lang="zh-CN" altLang="en-US" sz="2800">
                <a:solidFill>
                  <a:srgbClr val="FF0000"/>
                </a:solidFill>
                <a:ea typeface="黑体" pitchFamily="49" charset="-122"/>
              </a:rPr>
              <a:t>与</a:t>
            </a:r>
            <a:r>
              <a:rPr lang="en-US" altLang="zh-CN" sz="2800" i="1">
                <a:solidFill>
                  <a:srgbClr val="FF0000"/>
                </a:solidFill>
                <a:ea typeface="黑体" pitchFamily="49" charset="-122"/>
              </a:rPr>
              <a:t>x</a:t>
            </a:r>
            <a:r>
              <a:rPr lang="en-US" altLang="zh-CN" sz="2800" baseline="-25000">
                <a:solidFill>
                  <a:srgbClr val="FF0000"/>
                </a:solidFill>
                <a:ea typeface="黑体" pitchFamily="49" charset="-122"/>
              </a:rPr>
              <a:t>i</a:t>
            </a:r>
            <a:r>
              <a:rPr lang="en-US" altLang="zh-CN" sz="2800" baseline="30000">
                <a:solidFill>
                  <a:srgbClr val="FF0000"/>
                </a:solidFill>
                <a:ea typeface="黑体" pitchFamily="49" charset="-122"/>
              </a:rPr>
              <a:t>(k)</a:t>
            </a:r>
            <a:r>
              <a:rPr lang="zh-CN" altLang="en-US" sz="2800">
                <a:solidFill>
                  <a:srgbClr val="FF0000"/>
                </a:solidFill>
                <a:ea typeface="黑体" pitchFamily="49" charset="-122"/>
              </a:rPr>
              <a:t>按</a:t>
            </a:r>
            <a:r>
              <a:rPr lang="zh-CN" altLang="en-US" sz="280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</a:t>
            </a:r>
            <a:r>
              <a:rPr lang="zh-CN" altLang="en-US" sz="2800">
                <a:solidFill>
                  <a:srgbClr val="FF0000"/>
                </a:solidFill>
                <a:ea typeface="黑体" pitchFamily="49" charset="-122"/>
              </a:rPr>
              <a:t>与(1- </a:t>
            </a:r>
            <a:r>
              <a:rPr lang="zh-CN" altLang="en-US" sz="280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</a:t>
            </a:r>
            <a:r>
              <a:rPr lang="zh-CN" altLang="en-US" sz="2800">
                <a:solidFill>
                  <a:srgbClr val="FF0000"/>
                </a:solidFill>
                <a:ea typeface="黑体" pitchFamily="49" charset="-122"/>
              </a:rPr>
              <a:t>)加权的组合公式。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3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3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0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38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38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3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3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3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3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03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3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0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03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03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03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03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03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03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03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03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03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03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13" grpId="0" animBg="1"/>
      <p:bldP spid="503815" grpId="0" animBg="1"/>
      <p:bldP spid="503816" grpId="0" animBg="1"/>
      <p:bldP spid="503818" grpId="0" animBg="1"/>
      <p:bldP spid="503820" grpId="0" animBg="1"/>
      <p:bldP spid="503822" grpId="0" animBg="1"/>
      <p:bldP spid="50382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4843A526-31E9-4AE2-8E4D-3A5128C787FB}" type="slidenum">
              <a:rPr lang="zh-CN" altLang="en-US" b="0"/>
              <a:pPr/>
              <a:t>86</a:t>
            </a:fld>
            <a:endParaRPr lang="en-US" altLang="zh-CN" b="0"/>
          </a:p>
        </p:txBody>
      </p:sp>
      <p:sp>
        <p:nvSpPr>
          <p:cNvPr id="11571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FF913AEF-F01B-46E2-A4E5-552E58C3B13A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11150"/>
            <a:ext cx="8924925" cy="603250"/>
          </a:xfrm>
        </p:spPr>
        <p:txBody>
          <a:bodyPr/>
          <a:lstStyle/>
          <a:p>
            <a:pPr>
              <a:defRPr/>
            </a:pPr>
            <a:r>
              <a:rPr lang="zh-CN" altLang="en-US" smtClean="0"/>
              <a:t>4.3 带有松弛因子的逐次松弛法</a:t>
            </a:r>
          </a:p>
        </p:txBody>
      </p:sp>
      <p:sp>
        <p:nvSpPr>
          <p:cNvPr id="1157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066800"/>
            <a:ext cx="8142288" cy="384175"/>
          </a:xfrm>
        </p:spPr>
        <p:txBody>
          <a:bodyPr/>
          <a:lstStyle/>
          <a:p>
            <a:r>
              <a:rPr lang="zh-CN" altLang="en-US" dirty="0" smtClean="0"/>
              <a:t>例4.5   用松弛法解线性方程组</a:t>
            </a:r>
          </a:p>
        </p:txBody>
      </p:sp>
      <p:graphicFrame>
        <p:nvGraphicFramePr>
          <p:cNvPr id="512004" name="Object 4"/>
          <p:cNvGraphicFramePr>
            <a:graphicFrameLocks noChangeAspect="1"/>
          </p:cNvGraphicFramePr>
          <p:nvPr/>
        </p:nvGraphicFramePr>
        <p:xfrm>
          <a:off x="1603375" y="1295400"/>
          <a:ext cx="3349625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79" name="Equation" r:id="rId3" imgW="1371600" imgH="711200" progId="Equation.3">
                  <p:embed/>
                </p:oleObj>
              </mc:Choice>
              <mc:Fallback>
                <p:oleObj name="Equation" r:id="rId3" imgW="13716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5" y="1295400"/>
                        <a:ext cx="3349625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05" name="Rectangle 5"/>
          <p:cNvSpPr>
            <a:spLocks noChangeArrowheads="1"/>
          </p:cNvSpPr>
          <p:nvPr/>
        </p:nvSpPr>
        <p:spPr bwMode="auto">
          <a:xfrm>
            <a:off x="620713" y="2895600"/>
            <a:ext cx="81422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解：按照如下形式，建立迭代格式</a:t>
            </a:r>
          </a:p>
        </p:txBody>
      </p:sp>
      <p:graphicFrame>
        <p:nvGraphicFramePr>
          <p:cNvPr id="512008" name="Object 8"/>
          <p:cNvGraphicFramePr>
            <a:graphicFrameLocks noChangeAspect="1"/>
          </p:cNvGraphicFramePr>
          <p:nvPr/>
        </p:nvGraphicFramePr>
        <p:xfrm>
          <a:off x="1204913" y="3976688"/>
          <a:ext cx="7405687" cy="288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80" name="Equation" r:id="rId5" imgW="3124200" imgH="1270000" progId="Equation.3">
                  <p:embed/>
                </p:oleObj>
              </mc:Choice>
              <mc:Fallback>
                <p:oleObj name="Equation" r:id="rId5" imgW="3124200" imgH="1270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3976688"/>
                        <a:ext cx="7405687" cy="288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9" name="Object 9"/>
          <p:cNvGraphicFramePr>
            <a:graphicFrameLocks noChangeAspect="1"/>
          </p:cNvGraphicFramePr>
          <p:nvPr/>
        </p:nvGraphicFramePr>
        <p:xfrm>
          <a:off x="381000" y="3203575"/>
          <a:ext cx="861377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81" name="Equation" r:id="rId7" imgW="4053864" imgH="426711" progId="Equation.3">
                  <p:embed/>
                </p:oleObj>
              </mc:Choice>
              <mc:Fallback>
                <p:oleObj name="Equation" r:id="rId7" imgW="4053864" imgH="42671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203575"/>
                        <a:ext cx="8613775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1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05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2387039-4957-413A-91D1-0648CC31DA5D}" type="slidenum">
              <a:rPr lang="zh-CN" altLang="en-US" b="0"/>
              <a:pPr/>
              <a:t>87</a:t>
            </a:fld>
            <a:endParaRPr lang="en-US" altLang="zh-CN" b="0"/>
          </a:p>
        </p:txBody>
      </p:sp>
      <p:sp>
        <p:nvSpPr>
          <p:cNvPr id="11673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459FF837-94E3-4928-9EAF-898F45403B47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4.3 带有松弛因子的逐次松弛法</a:t>
            </a:r>
          </a:p>
        </p:txBody>
      </p:sp>
      <p:sp>
        <p:nvSpPr>
          <p:cNvPr id="1167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384175"/>
          </a:xfrm>
        </p:spPr>
        <p:txBody>
          <a:bodyPr/>
          <a:lstStyle/>
          <a:p>
            <a:r>
              <a:rPr lang="zh-CN" altLang="en-US" smtClean="0"/>
              <a:t>当</a:t>
            </a:r>
            <a:r>
              <a:rPr lang="zh-CN" altLang="en-US" smtClean="0">
                <a:sym typeface="Symbol" pitchFamily="18" charset="2"/>
              </a:rPr>
              <a:t>=1时，</a:t>
            </a:r>
            <a:endParaRPr lang="zh-CN" altLang="en-US" smtClean="0"/>
          </a:p>
        </p:txBody>
      </p:sp>
      <p:graphicFrame>
        <p:nvGraphicFramePr>
          <p:cNvPr id="513028" name="Object 4"/>
          <p:cNvGraphicFramePr>
            <a:graphicFrameLocks noChangeAspect="1"/>
          </p:cNvGraphicFramePr>
          <p:nvPr/>
        </p:nvGraphicFramePr>
        <p:xfrm>
          <a:off x="1246188" y="1524000"/>
          <a:ext cx="7135812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82" name="Equation" r:id="rId4" imgW="3098800" imgH="1270000" progId="Equation.3">
                  <p:embed/>
                </p:oleObj>
              </mc:Choice>
              <mc:Fallback>
                <p:oleObj name="Equation" r:id="rId4" imgW="3098800" imgH="1270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1524000"/>
                        <a:ext cx="7135812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29" name="Object 5"/>
          <p:cNvGraphicFramePr>
            <a:graphicFrameLocks noChangeAspect="1"/>
          </p:cNvGraphicFramePr>
          <p:nvPr/>
        </p:nvGraphicFramePr>
        <p:xfrm>
          <a:off x="1447800" y="4648200"/>
          <a:ext cx="5529263" cy="190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83" name="Equation" r:id="rId6" imgW="2413000" imgH="838200" progId="Equation.3">
                  <p:embed/>
                </p:oleObj>
              </mc:Choice>
              <mc:Fallback>
                <p:oleObj name="Equation" r:id="rId6" imgW="2413000" imgH="838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648200"/>
                        <a:ext cx="5529263" cy="190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EAD5807E-0CCC-4D89-A651-6547FD6954F5}" type="slidenum">
              <a:rPr lang="zh-CN" altLang="en-US" b="0"/>
              <a:pPr/>
              <a:t>88</a:t>
            </a:fld>
            <a:endParaRPr lang="en-US" altLang="zh-CN" b="0"/>
          </a:p>
        </p:txBody>
      </p:sp>
      <p:sp>
        <p:nvSpPr>
          <p:cNvPr id="11776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634B3E22-4356-48D1-B32D-3B446F781DE9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4.3 带有松弛因子的逐次松弛法</a:t>
            </a:r>
          </a:p>
        </p:txBody>
      </p:sp>
      <p:sp>
        <p:nvSpPr>
          <p:cNvPr id="1177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384175"/>
          </a:xfrm>
        </p:spPr>
        <p:txBody>
          <a:bodyPr/>
          <a:lstStyle/>
          <a:p>
            <a:r>
              <a:rPr lang="zh-CN" altLang="en-US" smtClean="0"/>
              <a:t>当</a:t>
            </a:r>
            <a:r>
              <a:rPr lang="zh-CN" altLang="en-US" smtClean="0">
                <a:sym typeface="Symbol" pitchFamily="18" charset="2"/>
              </a:rPr>
              <a:t>=1.25时，</a:t>
            </a:r>
            <a:endParaRPr lang="zh-CN" altLang="en-US" smtClean="0"/>
          </a:p>
        </p:txBody>
      </p:sp>
      <p:graphicFrame>
        <p:nvGraphicFramePr>
          <p:cNvPr id="514052" name="Object 4"/>
          <p:cNvGraphicFramePr>
            <a:graphicFrameLocks noChangeAspect="1"/>
          </p:cNvGraphicFramePr>
          <p:nvPr/>
        </p:nvGraphicFramePr>
        <p:xfrm>
          <a:off x="1066800" y="1524000"/>
          <a:ext cx="7192963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06" name="Equation" r:id="rId4" imgW="3276600" imgH="1270000" progId="Equation.3">
                  <p:embed/>
                </p:oleObj>
              </mc:Choice>
              <mc:Fallback>
                <p:oleObj name="Equation" r:id="rId4" imgW="3276600" imgH="1270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524000"/>
                        <a:ext cx="7192963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054" name="Object 6"/>
          <p:cNvGraphicFramePr>
            <a:graphicFrameLocks noChangeAspect="1"/>
          </p:cNvGraphicFramePr>
          <p:nvPr/>
        </p:nvGraphicFramePr>
        <p:xfrm>
          <a:off x="547688" y="4267200"/>
          <a:ext cx="8199437" cy="1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07" name="Equation" r:id="rId6" imgW="3556000" imgH="838200" progId="Equation.3">
                  <p:embed/>
                </p:oleObj>
              </mc:Choice>
              <mc:Fallback>
                <p:oleObj name="Equation" r:id="rId6" imgW="3556000" imgH="838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8" y="4267200"/>
                        <a:ext cx="8199437" cy="198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E0970DD-8ACD-43EA-9698-C62FBDBE3FC8}" type="slidenum">
              <a:rPr lang="zh-CN" altLang="en-US" b="0"/>
              <a:pPr/>
              <a:t>89</a:t>
            </a:fld>
            <a:endParaRPr lang="en-US" altLang="zh-CN" b="0"/>
          </a:p>
        </p:txBody>
      </p:sp>
      <p:sp>
        <p:nvSpPr>
          <p:cNvPr id="11878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9F3FF73-570C-4C79-AF73-FA6FDC4ED444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5438" y="311150"/>
            <a:ext cx="8742362" cy="603250"/>
          </a:xfrm>
        </p:spPr>
        <p:txBody>
          <a:bodyPr/>
          <a:lstStyle/>
          <a:p>
            <a:pPr>
              <a:defRPr/>
            </a:pPr>
            <a:r>
              <a:rPr lang="zh-CN" altLang="en-US" smtClean="0"/>
              <a:t>松弛法的收敛条件</a:t>
            </a:r>
          </a:p>
        </p:txBody>
      </p:sp>
      <p:sp>
        <p:nvSpPr>
          <p:cNvPr id="1187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4" y="1143000"/>
            <a:ext cx="8364413" cy="4886325"/>
          </a:xfrm>
        </p:spPr>
        <p:txBody>
          <a:bodyPr/>
          <a:lstStyle/>
          <a:p>
            <a:r>
              <a:rPr lang="zh-CN" altLang="en-US" dirty="0" smtClean="0"/>
              <a:t>松弛因子的含义</a:t>
            </a:r>
          </a:p>
          <a:p>
            <a:pPr lvl="1"/>
            <a:r>
              <a:rPr lang="zh-CN" altLang="en-US" dirty="0" smtClean="0">
                <a:sym typeface="Symbol" pitchFamily="18" charset="2"/>
              </a:rPr>
              <a:t>=1    </a:t>
            </a:r>
            <a:endParaRPr lang="zh-CN" altLang="en-US" dirty="0" smtClean="0"/>
          </a:p>
          <a:p>
            <a:pPr lvl="1"/>
            <a:r>
              <a:rPr lang="zh-CN" altLang="en-US" dirty="0" smtClean="0">
                <a:sym typeface="Symbol" pitchFamily="18" charset="2"/>
              </a:rPr>
              <a:t>&gt;1    </a:t>
            </a:r>
            <a:r>
              <a:rPr lang="zh-CN" altLang="en-US" dirty="0" smtClean="0">
                <a:solidFill>
                  <a:srgbClr val="0000FF"/>
                </a:solidFill>
                <a:sym typeface="Symbol" pitchFamily="18" charset="2"/>
              </a:rPr>
              <a:t>超松弛</a:t>
            </a:r>
            <a:endParaRPr lang="zh-CN" altLang="en-US" dirty="0" smtClean="0">
              <a:sym typeface="Symbol" pitchFamily="18" charset="2"/>
            </a:endParaRPr>
          </a:p>
          <a:p>
            <a:pPr lvl="1"/>
            <a:r>
              <a:rPr lang="zh-CN" altLang="en-US" dirty="0" smtClean="0">
                <a:sym typeface="Symbol" pitchFamily="18" charset="2"/>
              </a:rPr>
              <a:t>&lt;1    </a:t>
            </a:r>
            <a:r>
              <a:rPr lang="zh-CN" altLang="en-US" dirty="0" smtClean="0">
                <a:solidFill>
                  <a:srgbClr val="0000FF"/>
                </a:solidFill>
                <a:sym typeface="Symbol" pitchFamily="18" charset="2"/>
              </a:rPr>
              <a:t>低松弛</a:t>
            </a:r>
            <a:endParaRPr lang="zh-CN" altLang="en-US" dirty="0" smtClean="0">
              <a:sym typeface="Symbol" pitchFamily="18" charset="2"/>
            </a:endParaRPr>
          </a:p>
          <a:p>
            <a:r>
              <a:rPr lang="zh-CN" altLang="en-US" dirty="0" smtClean="0">
                <a:sym typeface="Symbol" pitchFamily="18" charset="2"/>
              </a:rPr>
              <a:t>相关定理</a:t>
            </a:r>
          </a:p>
          <a:p>
            <a:pPr lvl="1"/>
            <a:r>
              <a:rPr lang="zh-CN" altLang="en-US" dirty="0" smtClean="0">
                <a:sym typeface="Symbol" pitchFamily="18" charset="2"/>
              </a:rPr>
              <a:t>定理4.12  </a:t>
            </a:r>
            <a:r>
              <a:rPr lang="zh-CN" altLang="en-US" dirty="0" smtClean="0"/>
              <a:t>松弛法收敛的必要条件是0&lt; </a:t>
            </a:r>
            <a:r>
              <a:rPr lang="zh-CN" altLang="en-US" dirty="0" smtClean="0">
                <a:sym typeface="Symbol" pitchFamily="18" charset="2"/>
              </a:rPr>
              <a:t>&lt;2</a:t>
            </a:r>
          </a:p>
          <a:p>
            <a:pPr lvl="1"/>
            <a:r>
              <a:rPr lang="zh-CN" altLang="en-US" dirty="0" smtClean="0">
                <a:sym typeface="Symbol" pitchFamily="18" charset="2"/>
              </a:rPr>
              <a:t>定理4.13  若</a:t>
            </a:r>
            <a:r>
              <a:rPr lang="en-US" altLang="zh-CN" dirty="0" smtClean="0">
                <a:sym typeface="Symbol" pitchFamily="18" charset="2"/>
              </a:rPr>
              <a:t>A</a:t>
            </a:r>
            <a:r>
              <a:rPr lang="zh-CN" altLang="en-US" dirty="0" smtClean="0">
                <a:sym typeface="Symbol" pitchFamily="18" charset="2"/>
              </a:rPr>
              <a:t>为对称正定矩阵，则当</a:t>
            </a:r>
            <a:r>
              <a:rPr lang="zh-CN" altLang="en-US" dirty="0" smtClean="0"/>
              <a:t>0&lt; </a:t>
            </a:r>
            <a:r>
              <a:rPr lang="zh-CN" altLang="en-US" dirty="0" smtClean="0">
                <a:sym typeface="Symbol" pitchFamily="18" charset="2"/>
              </a:rPr>
              <a:t>&lt;2时，松弛法恒收敛</a:t>
            </a:r>
          </a:p>
          <a:p>
            <a:pPr lvl="1"/>
            <a:r>
              <a:rPr lang="zh-CN" altLang="en-US" dirty="0" smtClean="0">
                <a:sym typeface="Symbol" pitchFamily="18" charset="2"/>
              </a:rPr>
              <a:t>定理4.14  若</a:t>
            </a:r>
            <a:r>
              <a:rPr lang="en-US" altLang="zh-CN" dirty="0" smtClean="0">
                <a:sym typeface="Symbol" pitchFamily="18" charset="2"/>
              </a:rPr>
              <a:t>A</a:t>
            </a:r>
            <a:r>
              <a:rPr lang="zh-CN" altLang="en-US" dirty="0" smtClean="0">
                <a:sym typeface="Symbol" pitchFamily="18" charset="2"/>
              </a:rPr>
              <a:t>为不可约、对角占优矩阵，且松弛因子满足</a:t>
            </a:r>
            <a:r>
              <a:rPr lang="zh-CN" altLang="en-US" dirty="0" smtClean="0"/>
              <a:t>0&lt; </a:t>
            </a:r>
            <a:r>
              <a:rPr lang="zh-CN" altLang="en-US" dirty="0" smtClean="0">
                <a:sym typeface="Symbol" pitchFamily="18" charset="2"/>
              </a:rPr>
              <a:t>1时，则松弛法必定收敛</a:t>
            </a:r>
            <a:endParaRPr lang="en-US" altLang="zh-CN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22EA9450-8E32-4B6D-95D5-EF4F6A93E2AA}" type="slidenum">
              <a:rPr lang="zh-CN" altLang="en-US" b="0"/>
              <a:pPr/>
              <a:t>90</a:t>
            </a:fld>
            <a:endParaRPr lang="en-US" altLang="zh-CN" b="0"/>
          </a:p>
        </p:txBody>
      </p:sp>
      <p:sp>
        <p:nvSpPr>
          <p:cNvPr id="11981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A9D2DB41-5476-4019-8CC1-93B006336075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0" y="2420938"/>
            <a:ext cx="8675688" cy="3098800"/>
            <a:chOff x="0" y="1525"/>
            <a:chExt cx="5465" cy="1952"/>
          </a:xfrm>
        </p:grpSpPr>
        <p:graphicFrame>
          <p:nvGraphicFramePr>
            <p:cNvPr id="119817" name="Object 4"/>
            <p:cNvGraphicFramePr>
              <a:graphicFrameLocks noChangeAspect="1"/>
            </p:cNvGraphicFramePr>
            <p:nvPr/>
          </p:nvGraphicFramePr>
          <p:xfrm>
            <a:off x="657" y="1525"/>
            <a:ext cx="181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915" name="公式" r:id="rId3" imgW="1485900" imgH="228600" progId="Equation.3">
                    <p:embed/>
                  </p:oleObj>
                </mc:Choice>
                <mc:Fallback>
                  <p:oleObj name="公式" r:id="rId3" imgW="14859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525"/>
                          <a:ext cx="1814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9818" name="Object 7"/>
            <p:cNvGraphicFramePr>
              <a:graphicFrameLocks noChangeAspect="1"/>
            </p:cNvGraphicFramePr>
            <p:nvPr/>
          </p:nvGraphicFramePr>
          <p:xfrm>
            <a:off x="0" y="2432"/>
            <a:ext cx="5465" cy="10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916" name="位图图像" r:id="rId5" imgW="4133333" imgH="790476" progId="Paint.Picture">
                    <p:embed/>
                  </p:oleObj>
                </mc:Choice>
                <mc:Fallback>
                  <p:oleObj name="位图图像" r:id="rId5" imgW="4133333" imgH="790476" progId="Paint.Picture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432"/>
                          <a:ext cx="5465" cy="10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tx1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9819" name="Object 5"/>
            <p:cNvGraphicFramePr>
              <a:graphicFrameLocks noChangeAspect="1"/>
            </p:cNvGraphicFramePr>
            <p:nvPr/>
          </p:nvGraphicFramePr>
          <p:xfrm>
            <a:off x="884" y="2069"/>
            <a:ext cx="1452" cy="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917" name="公式" r:id="rId7" imgW="1079032" imgH="482391" progId="Equation.3">
                    <p:embed/>
                  </p:oleObj>
                </mc:Choice>
                <mc:Fallback>
                  <p:oleObj name="公式" r:id="rId7" imgW="1079032" imgH="482391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2069"/>
                          <a:ext cx="1452" cy="7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36937" name="Object 9"/>
          <p:cNvGraphicFramePr>
            <a:graphicFrameLocks noChangeAspect="1"/>
          </p:cNvGraphicFramePr>
          <p:nvPr/>
        </p:nvGraphicFramePr>
        <p:xfrm>
          <a:off x="0" y="5418138"/>
          <a:ext cx="914400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8" name="位图图像" r:id="rId9" imgW="4839375" imgH="609524" progId="Paint.Picture">
                  <p:embed/>
                </p:oleObj>
              </mc:Choice>
              <mc:Fallback>
                <p:oleObj name="位图图像" r:id="rId9" imgW="4839375" imgH="609524" progId="Paint.Picture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418138"/>
                        <a:ext cx="9144000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8" name="Object 10"/>
          <p:cNvGraphicFramePr>
            <a:graphicFrameLocks noChangeAspect="1"/>
          </p:cNvGraphicFramePr>
          <p:nvPr/>
        </p:nvGraphicFramePr>
        <p:xfrm>
          <a:off x="3960813" y="1074738"/>
          <a:ext cx="5219700" cy="336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9" name="位图图像" r:id="rId11" imgW="3666667" imgH="2362530" progId="Paint.Picture">
                  <p:embed/>
                </p:oleObj>
              </mc:Choice>
              <mc:Fallback>
                <p:oleObj name="位图图像" r:id="rId11" imgW="3666667" imgH="2362530" progId="Paint.Picture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1074738"/>
                        <a:ext cx="5219700" cy="336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松弛法的收敛条件</a:t>
            </a:r>
          </a:p>
        </p:txBody>
      </p:sp>
      <p:sp>
        <p:nvSpPr>
          <p:cNvPr id="1198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25538"/>
            <a:ext cx="4932363" cy="2238375"/>
          </a:xfrm>
        </p:spPr>
        <p:txBody>
          <a:bodyPr/>
          <a:lstStyle/>
          <a:p>
            <a:pPr>
              <a:lnSpc>
                <a:spcPct val="70000"/>
              </a:lnSpc>
            </a:pPr>
            <a:r>
              <a:rPr lang="zh-CN" altLang="en-US" smtClean="0"/>
              <a:t>定理</a:t>
            </a:r>
            <a:r>
              <a:rPr lang="en-US" altLang="zh-CN" smtClean="0"/>
              <a:t> </a:t>
            </a:r>
            <a:r>
              <a:rPr lang="zh-CN" altLang="en-US" smtClean="0"/>
              <a:t>　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smtClean="0"/>
              <a:t>   设</a:t>
            </a:r>
            <a:r>
              <a:rPr lang="en-US" altLang="zh-CN" smtClean="0"/>
              <a:t>A</a:t>
            </a:r>
            <a:r>
              <a:rPr lang="zh-CN" altLang="en-US" smtClean="0"/>
              <a:t>为</a:t>
            </a:r>
            <a:r>
              <a:rPr lang="en-US" altLang="zh-CN" smtClean="0">
                <a:sym typeface="Symbol" pitchFamily="18" charset="2"/>
              </a:rPr>
              <a:t>R</a:t>
            </a:r>
            <a:r>
              <a:rPr lang="en-US" altLang="zh-CN" i="1" baseline="30000" smtClean="0">
                <a:sym typeface="Symbol" pitchFamily="18" charset="2"/>
              </a:rPr>
              <a:t>n </a:t>
            </a:r>
            <a:r>
              <a:rPr lang="en-US" altLang="zh-CN" baseline="30000" smtClean="0">
                <a:sym typeface="Symbol" pitchFamily="18" charset="2"/>
              </a:rPr>
              <a:t>x</a:t>
            </a:r>
            <a:r>
              <a:rPr lang="en-US" altLang="zh-CN" i="1" baseline="30000" smtClean="0">
                <a:sym typeface="Symbol" pitchFamily="18" charset="2"/>
              </a:rPr>
              <a:t> n </a:t>
            </a:r>
            <a:r>
              <a:rPr lang="zh-CN" altLang="en-US" smtClean="0"/>
              <a:t>中对称正定的三对角矩阵，</a:t>
            </a:r>
            <a:r>
              <a:rPr lang="en-US" altLang="zh-CN" smtClean="0"/>
              <a:t>Bj</a:t>
            </a:r>
            <a:r>
              <a:rPr lang="zh-CN" altLang="en-US" smtClean="0"/>
              <a:t>是</a:t>
            </a:r>
            <a:r>
              <a:rPr lang="en-US" altLang="zh-CN" smtClean="0"/>
              <a:t>Jacobi</a:t>
            </a:r>
            <a:r>
              <a:rPr lang="zh-CN" altLang="en-US" smtClean="0"/>
              <a:t>迭代法的迭代矩阵，若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endParaRPr lang="zh-CN" altLang="en-US" smtClean="0"/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smtClean="0"/>
              <a:t>  则</a:t>
            </a:r>
            <a:r>
              <a:rPr lang="en-US" altLang="zh-CN" smtClean="0"/>
              <a:t>SOR</a:t>
            </a:r>
            <a:r>
              <a:rPr lang="zh-CN" altLang="en-US" smtClean="0"/>
              <a:t>法的最优松弛因子为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36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6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6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31ABBD76-D90B-46E1-BC39-8CDA0E45EFA3}" type="slidenum">
              <a:rPr lang="zh-CN" altLang="en-US" b="0"/>
              <a:pPr/>
              <a:t>91</a:t>
            </a:fld>
            <a:endParaRPr lang="en-US" altLang="zh-CN" b="0"/>
          </a:p>
        </p:txBody>
      </p:sp>
      <p:sp>
        <p:nvSpPr>
          <p:cNvPr id="120835" name="日期占位符 3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BB7EF5A-1418-4EE6-AE74-D772A63C3C29}" type="datetime1">
              <a:rPr lang="zh-CN" altLang="en-US" sz="1800" b="0"/>
              <a:pPr/>
              <a:t>2024/10/13</a:t>
            </a:fld>
            <a:endParaRPr lang="en-US" altLang="zh-CN" sz="1800" b="0"/>
          </a:p>
        </p:txBody>
      </p:sp>
      <p:grpSp>
        <p:nvGrpSpPr>
          <p:cNvPr id="120836" name="Group 2"/>
          <p:cNvGrpSpPr>
            <a:grpSpLocks/>
          </p:cNvGrpSpPr>
          <p:nvPr/>
        </p:nvGrpSpPr>
        <p:grpSpPr bwMode="auto">
          <a:xfrm>
            <a:off x="555625" y="2036763"/>
            <a:ext cx="7945438" cy="2608262"/>
            <a:chOff x="350" y="1283"/>
            <a:chExt cx="5005" cy="1643"/>
          </a:xfrm>
        </p:grpSpPr>
        <p:sp>
          <p:nvSpPr>
            <p:cNvPr id="120838" name="Rectangle 3"/>
            <p:cNvSpPr>
              <a:spLocks noChangeArrowheads="1"/>
            </p:cNvSpPr>
            <p:nvPr/>
          </p:nvSpPr>
          <p:spPr bwMode="auto">
            <a:xfrm>
              <a:off x="483" y="1325"/>
              <a:ext cx="4780" cy="1564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39" name="Rectangle 4"/>
            <p:cNvSpPr>
              <a:spLocks noChangeArrowheads="1"/>
            </p:cNvSpPr>
            <p:nvPr/>
          </p:nvSpPr>
          <p:spPr bwMode="auto">
            <a:xfrm>
              <a:off x="362" y="1283"/>
              <a:ext cx="125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40" name="Rectangle 5"/>
            <p:cNvSpPr>
              <a:spLocks noChangeArrowheads="1"/>
            </p:cNvSpPr>
            <p:nvPr/>
          </p:nvSpPr>
          <p:spPr bwMode="auto">
            <a:xfrm>
              <a:off x="5218" y="1283"/>
              <a:ext cx="133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41" name="AutoShape 6"/>
            <p:cNvSpPr>
              <a:spLocks noChangeArrowheads="1"/>
            </p:cNvSpPr>
            <p:nvPr/>
          </p:nvSpPr>
          <p:spPr bwMode="auto">
            <a:xfrm>
              <a:off x="377" y="1283"/>
              <a:ext cx="4974" cy="98"/>
            </a:xfrm>
            <a:custGeom>
              <a:avLst/>
              <a:gdLst>
                <a:gd name="T0" fmla="*/ 1132 w 21600"/>
                <a:gd name="T1" fmla="*/ 0 h 21600"/>
                <a:gd name="T2" fmla="*/ 573 w 21600"/>
                <a:gd name="T3" fmla="*/ 0 h 21600"/>
                <a:gd name="T4" fmla="*/ 14 w 21600"/>
                <a:gd name="T5" fmla="*/ 0 h 21600"/>
                <a:gd name="T6" fmla="*/ 57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54 w 21600"/>
                <a:gd name="T13" fmla="*/ 1984 h 21600"/>
                <a:gd name="T14" fmla="*/ 19546 w 21600"/>
                <a:gd name="T15" fmla="*/ 19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12" y="21600"/>
                  </a:lnTo>
                  <a:lnTo>
                    <a:pt x="2108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42" name="AutoShape 7"/>
            <p:cNvSpPr>
              <a:spLocks noChangeArrowheads="1"/>
            </p:cNvSpPr>
            <p:nvPr/>
          </p:nvSpPr>
          <p:spPr bwMode="auto">
            <a:xfrm flipV="1">
              <a:off x="350" y="2828"/>
              <a:ext cx="5005" cy="98"/>
            </a:xfrm>
            <a:custGeom>
              <a:avLst/>
              <a:gdLst>
                <a:gd name="T0" fmla="*/ 1143 w 21600"/>
                <a:gd name="T1" fmla="*/ 0 h 21600"/>
                <a:gd name="T2" fmla="*/ 580 w 21600"/>
                <a:gd name="T3" fmla="*/ 0 h 21600"/>
                <a:gd name="T4" fmla="*/ 16 w 21600"/>
                <a:gd name="T5" fmla="*/ 0 h 21600"/>
                <a:gd name="T6" fmla="*/ 58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106 w 21600"/>
                <a:gd name="T13" fmla="*/ 2204 h 21600"/>
                <a:gd name="T14" fmla="*/ 19494 w 21600"/>
                <a:gd name="T15" fmla="*/ 19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12" y="21600"/>
                  </a:lnTo>
                  <a:lnTo>
                    <a:pt x="2098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43" name="Rectangle 8"/>
            <p:cNvSpPr>
              <a:spLocks noChangeArrowheads="1"/>
            </p:cNvSpPr>
            <p:nvPr/>
          </p:nvSpPr>
          <p:spPr bwMode="auto">
            <a:xfrm>
              <a:off x="480" y="1380"/>
              <a:ext cx="4738" cy="14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354281"/>
              </a:solidFill>
              <a:miter lim="800000"/>
              <a:headEnd/>
              <a:tailEnd/>
            </a:ln>
            <a:effectLst>
              <a:prstShdw prst="shdw17" dist="17961" dir="2700000">
                <a:srgbClr val="20284D"/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05193" name="Rectangle 9"/>
          <p:cNvSpPr>
            <a:spLocks noChangeArrowheads="1"/>
          </p:cNvSpPr>
          <p:nvPr/>
        </p:nvSpPr>
        <p:spPr bwMode="auto">
          <a:xfrm>
            <a:off x="609600" y="2362200"/>
            <a:ext cx="7585075" cy="2063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rgbClr val="354281"/>
            </a:outerShdw>
          </a:effectLst>
        </p:spPr>
        <p:txBody>
          <a:bodyPr lIns="0" tIns="0" rIns="0" bIns="0">
            <a:spAutoFit/>
          </a:bodyPr>
          <a:lstStyle/>
          <a:p>
            <a:pPr marL="290513" indent="-290513" defTabSz="915988">
              <a:lnSpc>
                <a:spcPct val="8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本章作业</a:t>
            </a:r>
          </a:p>
          <a:p>
            <a:pPr marL="290513" indent="-290513" defTabSz="915988">
              <a:lnSpc>
                <a:spcPct val="8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4.1,   4.2, </a:t>
            </a:r>
            <a:r>
              <a:rPr lang="zh-CN" altLang="en-US" sz="6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zh-CN" alt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4.6</a:t>
            </a:r>
            <a:endParaRPr lang="zh-CN" altLang="en-US" sz="4800" i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orlan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7283CA"/>
      </a:accent1>
      <a:accent2>
        <a:srgbClr val="F3E685"/>
      </a:accent2>
      <a:accent3>
        <a:srgbClr val="FFFFFF"/>
      </a:accent3>
      <a:accent4>
        <a:srgbClr val="000000"/>
      </a:accent4>
      <a:accent5>
        <a:srgbClr val="BCC1E1"/>
      </a:accent5>
      <a:accent6>
        <a:srgbClr val="DCD078"/>
      </a:accent6>
      <a:hlink>
        <a:srgbClr val="499FBD"/>
      </a:hlink>
      <a:folHlink>
        <a:srgbClr val="B9555A"/>
      </a:folHlink>
    </a:clrScheme>
    <a:fontScheme name="Borland">
      <a:majorFont>
        <a:latin typeface="Arial"/>
        <a:ea typeface="宋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Borlan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land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6589</TotalTime>
  <Pages>26</Pages>
  <Words>4187</Words>
  <Application>Microsoft Office PowerPoint</Application>
  <PresentationFormat>信纸(8.5x11 英寸)</PresentationFormat>
  <Paragraphs>776</Paragraphs>
  <Slides>91</Slides>
  <Notes>46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91</vt:i4>
      </vt:variant>
    </vt:vector>
  </HeadingPairs>
  <TitlesOfParts>
    <vt:vector size="105" baseType="lpstr">
      <vt:lpstr>System</vt:lpstr>
      <vt:lpstr>黑体</vt:lpstr>
      <vt:lpstr>楷体_GB2312</vt:lpstr>
      <vt:lpstr>宋体</vt:lpstr>
      <vt:lpstr>Arial</vt:lpstr>
      <vt:lpstr>Symbol</vt:lpstr>
      <vt:lpstr>Times New Roman</vt:lpstr>
      <vt:lpstr>Wingdings</vt:lpstr>
      <vt:lpstr>Wingdings 2</vt:lpstr>
      <vt:lpstr>Borland</vt:lpstr>
      <vt:lpstr>公式</vt:lpstr>
      <vt:lpstr>Equation</vt:lpstr>
      <vt:lpstr>Microsoft Equation 3.0</vt:lpstr>
      <vt:lpstr>位图图像</vt:lpstr>
      <vt:lpstr>第四章  解线性方程组的迭代法</vt:lpstr>
      <vt:lpstr>PowerPoint 演示文稿</vt:lpstr>
      <vt:lpstr>PowerPoint 演示文稿</vt:lpstr>
      <vt:lpstr>(1) 向量范数定义</vt:lpstr>
      <vt:lpstr>(1) 向量范数定义</vt:lpstr>
      <vt:lpstr>(1) 向量范数定义</vt:lpstr>
      <vt:lpstr>(1) 向量范数定义</vt:lpstr>
      <vt:lpstr>1) 向量范数定义</vt:lpstr>
      <vt:lpstr>1) 向量范数定义</vt:lpstr>
      <vt:lpstr>范数函数的性质</vt:lpstr>
      <vt:lpstr>(2) 矩阵范数定义</vt:lpstr>
      <vt:lpstr>(2) 矩阵范数定义</vt:lpstr>
      <vt:lpstr>(2) 矩阵范数定义</vt:lpstr>
      <vt:lpstr>(2) 矩阵范数定义</vt:lpstr>
      <vt:lpstr>(2) 矩阵范数定义</vt:lpstr>
      <vt:lpstr>(2) 矩阵范数定义</vt:lpstr>
      <vt:lpstr>(3)向量、矩阵收敛问题</vt:lpstr>
      <vt:lpstr>(3)向量、矩阵收敛问题</vt:lpstr>
      <vt:lpstr>(4)谱半径定义</vt:lpstr>
      <vt:lpstr>(4)谱半径定义</vt:lpstr>
      <vt:lpstr>(4)谱半径定义</vt:lpstr>
      <vt:lpstr>(4)谱半径定义</vt:lpstr>
      <vt:lpstr>PowerPoint 演示文稿</vt:lpstr>
      <vt:lpstr>简单迭代法</vt:lpstr>
      <vt:lpstr>§2 简单迭代法</vt:lpstr>
      <vt:lpstr>§2.1 迭代格式</vt:lpstr>
      <vt:lpstr>§2.1 迭代格式</vt:lpstr>
      <vt:lpstr>§2  简单迭代法</vt:lpstr>
      <vt:lpstr>§2  简单迭代法</vt:lpstr>
      <vt:lpstr>PowerPoint 演示文稿</vt:lpstr>
      <vt:lpstr>§2  简单迭代法</vt:lpstr>
      <vt:lpstr>PowerPoint 演示文稿</vt:lpstr>
      <vt:lpstr>PowerPoint 演示文稿</vt:lpstr>
      <vt:lpstr>PowerPoint 演示文稿</vt:lpstr>
      <vt:lpstr>PowerPoint 演示文稿</vt:lpstr>
      <vt:lpstr>§2.2 简单迭代法的收敛条件</vt:lpstr>
      <vt:lpstr>§2.2 简单迭代法的收敛条件</vt:lpstr>
      <vt:lpstr>§2.2 简单迭代法的收敛条件</vt:lpstr>
      <vt:lpstr>PowerPoint 演示文稿</vt:lpstr>
      <vt:lpstr>§2.2 简单迭代法的收敛条件</vt:lpstr>
      <vt:lpstr>§2.2 简单迭代法的收敛条件</vt:lpstr>
      <vt:lpstr>§2.2 简单迭代法的收敛条件</vt:lpstr>
      <vt:lpstr>§2.2 简单迭代法的收敛条件</vt:lpstr>
      <vt:lpstr>§2.2 简单迭代法的收敛条件</vt:lpstr>
      <vt:lpstr>§2.2 简单迭代法的收敛条件</vt:lpstr>
      <vt:lpstr>§2.2 简单迭代法的收敛条件</vt:lpstr>
      <vt:lpstr>§2.2 简单迭代法的收敛条件</vt:lpstr>
      <vt:lpstr>PowerPoint 演示文稿</vt:lpstr>
      <vt:lpstr>§3.1 迭代格式</vt:lpstr>
      <vt:lpstr>§3.1 迭代格式</vt:lpstr>
      <vt:lpstr>PowerPoint 演示文稿</vt:lpstr>
      <vt:lpstr>PowerPoint 演示文稿</vt:lpstr>
      <vt:lpstr>PowerPoint 演示文稿</vt:lpstr>
      <vt:lpstr>引用记号</vt:lpstr>
      <vt:lpstr>3.2.2  充分条件1</vt:lpstr>
      <vt:lpstr>3.2.3  充分条件2</vt:lpstr>
      <vt:lpstr>3.2.4  充分条件3</vt:lpstr>
      <vt:lpstr>§3.2 赛德尔迭代法的收敛条件</vt:lpstr>
      <vt:lpstr>§3.2 赛德尔迭代法的收敛条件</vt:lpstr>
      <vt:lpstr>PowerPoint 演示文稿</vt:lpstr>
      <vt:lpstr>§3.2 赛德尔迭代法的收敛条件</vt:lpstr>
      <vt:lpstr>PowerPoint 演示文稿</vt:lpstr>
      <vt:lpstr>§3.2 赛德尔迭代法的收敛条件</vt:lpstr>
      <vt:lpstr>§3.2 赛德尔迭代法的收敛条件</vt:lpstr>
      <vt:lpstr>§3.2 赛德尔迭代法的收敛条件</vt:lpstr>
      <vt:lpstr>PowerPoint 演示文稿</vt:lpstr>
      <vt:lpstr>PowerPoint 演示文稿</vt:lpstr>
      <vt:lpstr>PowerPoint 演示文稿</vt:lpstr>
      <vt:lpstr>注意的问题</vt:lpstr>
      <vt:lpstr>PowerPoint 演示文稿</vt:lpstr>
      <vt:lpstr>PowerPoint 演示文稿</vt:lpstr>
      <vt:lpstr>PowerPoint 演示文稿</vt:lpstr>
      <vt:lpstr>§3.2 赛德尔迭代法的收敛条件</vt:lpstr>
      <vt:lpstr>§3.2 赛德尔迭代法的收敛条件</vt:lpstr>
      <vt:lpstr>考虑：收敛性 </vt:lpstr>
      <vt:lpstr>PowerPoint 演示文稿</vt:lpstr>
      <vt:lpstr>PowerPoint 演示文稿</vt:lpstr>
      <vt:lpstr>§4 松弛迭代法</vt:lpstr>
      <vt:lpstr>4.1按|ri|最大实施松弛方法</vt:lpstr>
      <vt:lpstr>4.1 按|ri|最大实施松弛方法</vt:lpstr>
      <vt:lpstr>4.1按|ri|最大实施松弛方法</vt:lpstr>
      <vt:lpstr>PowerPoint 演示文稿</vt:lpstr>
      <vt:lpstr>4.2逐次松弛法</vt:lpstr>
      <vt:lpstr>4.2逐次松弛法</vt:lpstr>
      <vt:lpstr>4.3 带有松弛因子的逐次松弛法</vt:lpstr>
      <vt:lpstr>4.3 带有松弛因子的逐次松弛法</vt:lpstr>
      <vt:lpstr>4.3 带有松弛因子的逐次松弛法</vt:lpstr>
      <vt:lpstr>4.3 带有松弛因子的逐次松弛法</vt:lpstr>
      <vt:lpstr>松弛法的收敛条件</vt:lpstr>
      <vt:lpstr>松弛法的收敛条件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解线性方程组的迭代法</dc:title>
  <dc:creator>sunxin</dc:creator>
  <cp:lastModifiedBy>apple</cp:lastModifiedBy>
  <cp:revision>1367</cp:revision>
  <cp:lastPrinted>1998-03-12T04:44:47Z</cp:lastPrinted>
  <dcterms:created xsi:type="dcterms:W3CDTF">2001-07-02T15:09:48Z</dcterms:created>
  <dcterms:modified xsi:type="dcterms:W3CDTF">2024-10-13T15:19:47Z</dcterms:modified>
</cp:coreProperties>
</file>