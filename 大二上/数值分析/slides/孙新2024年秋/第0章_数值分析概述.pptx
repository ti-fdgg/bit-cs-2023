
<file path=[Content_Types].xml><?xml version="1.0" encoding="utf-8"?>
<Types xmlns="http://schemas.openxmlformats.org/package/2006/content-types">
  <Default Extension="tmp" ContentType="image/png"/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5" r:id="rId2"/>
    <p:sldMasterId id="2147483739" r:id="rId3"/>
    <p:sldMasterId id="2147483779" r:id="rId4"/>
  </p:sldMasterIdLst>
  <p:notesMasterIdLst>
    <p:notesMasterId r:id="rId41"/>
  </p:notesMasterIdLst>
  <p:sldIdLst>
    <p:sldId id="2052" r:id="rId5"/>
    <p:sldId id="2018" r:id="rId6"/>
    <p:sldId id="2019" r:id="rId7"/>
    <p:sldId id="2020" r:id="rId8"/>
    <p:sldId id="2021" r:id="rId9"/>
    <p:sldId id="2053" r:id="rId10"/>
    <p:sldId id="2023" r:id="rId11"/>
    <p:sldId id="2054" r:id="rId12"/>
    <p:sldId id="2025" r:id="rId13"/>
    <p:sldId id="2026" r:id="rId14"/>
    <p:sldId id="2055" r:id="rId15"/>
    <p:sldId id="2056" r:id="rId16"/>
    <p:sldId id="2028" r:id="rId17"/>
    <p:sldId id="2029" r:id="rId18"/>
    <p:sldId id="2030" r:id="rId19"/>
    <p:sldId id="2031" r:id="rId20"/>
    <p:sldId id="2032" r:id="rId21"/>
    <p:sldId id="2033" r:id="rId22"/>
    <p:sldId id="2034" r:id="rId23"/>
    <p:sldId id="2035" r:id="rId24"/>
    <p:sldId id="2036" r:id="rId25"/>
    <p:sldId id="2037" r:id="rId26"/>
    <p:sldId id="2038" r:id="rId27"/>
    <p:sldId id="2039" r:id="rId28"/>
    <p:sldId id="2040" r:id="rId29"/>
    <p:sldId id="2041" r:id="rId30"/>
    <p:sldId id="2042" r:id="rId31"/>
    <p:sldId id="2043" r:id="rId32"/>
    <p:sldId id="2044" r:id="rId33"/>
    <p:sldId id="2045" r:id="rId34"/>
    <p:sldId id="2046" r:id="rId35"/>
    <p:sldId id="2047" r:id="rId36"/>
    <p:sldId id="2048" r:id="rId37"/>
    <p:sldId id="2049" r:id="rId38"/>
    <p:sldId id="2050" r:id="rId39"/>
    <p:sldId id="2051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CB64C"/>
    <a:srgbClr val="FF9933"/>
    <a:srgbClr val="FFCC00"/>
    <a:srgbClr val="CCFFCC"/>
    <a:srgbClr val="00FF00"/>
    <a:srgbClr val="FF9966"/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69" autoAdjust="0"/>
    <p:restoredTop sz="60048" autoAdjust="0"/>
  </p:normalViewPr>
  <p:slideViewPr>
    <p:cSldViewPr snapToGrid="0">
      <p:cViewPr varScale="1">
        <p:scale>
          <a:sx n="51" d="100"/>
          <a:sy n="51" d="100"/>
        </p:scale>
        <p:origin x="-2213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464D4-D5BB-4F0D-8E32-9142409BCE57}" type="datetimeFigureOut">
              <a:rPr lang="zh-TW" altLang="en-US" smtClean="0"/>
              <a:t>2024/9/11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4E6A9-403F-46BA-B5D7-D3E84626C54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58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F5DAF-6A0D-4EB6-BEE4-4A3D9B453FF2}" type="slidenum">
              <a:rPr lang="zh-TW" altLang="en-US" smtClean="0">
                <a:solidFill>
                  <a:prstClr val="black"/>
                </a:solidFill>
              </a:rPr>
              <a:pPr/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154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30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zh-CN" altLang="en-US"/>
              <a:t>Confidential, for review only</a:t>
            </a:r>
            <a:endParaRPr lang="en-US" altLang="en-US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14E962-8633-4E23-BFD5-FBB8E78F8184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578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8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988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30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zh-CN" altLang="en-US"/>
              <a:t>Confidential, for review only</a:t>
            </a:r>
            <a:endParaRPr lang="en-US" altLang="en-US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14E962-8633-4E23-BFD5-FBB8E78F8184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578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8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505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30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zh-CN" altLang="en-US"/>
              <a:t>Confidential, for review only</a:t>
            </a:r>
            <a:endParaRPr lang="en-US" altLang="en-US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14E962-8633-4E23-BFD5-FBB8E78F8184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578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8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4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30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zh-CN" altLang="en-US"/>
              <a:t>Confidential, for review only</a:t>
            </a:r>
            <a:endParaRPr lang="en-US" altLang="en-US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14E962-8633-4E23-BFD5-FBB8E78F8184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578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8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247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82151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30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zh-CN" altLang="en-US"/>
              <a:t>Confidential, for review only</a:t>
            </a:r>
            <a:endParaRPr lang="en-US" altLang="en-US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0F2F5D-943E-47E9-8CEA-192DCBBC9C47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561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1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1930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44E6A9-403F-46BA-B5D7-D3E84626C545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8723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30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zh-CN" altLang="en-US"/>
              <a:t>Confidential, for review only</a:t>
            </a:r>
            <a:endParaRPr lang="en-US" altLang="en-US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FD41E3-0033-44F6-A435-24B621972D68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583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316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30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zh-CN" altLang="en-US"/>
              <a:t>Confidential, for review only</a:t>
            </a:r>
            <a:endParaRPr lang="en-US" altLang="en-US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172D39-2A42-4BA5-9701-9B4CB53C4188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523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3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7068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30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zh-CN" altLang="en-US"/>
              <a:t>Confidential, for review only</a:t>
            </a:r>
            <a:endParaRPr lang="en-US" altLang="en-US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172D39-2A42-4BA5-9701-9B4CB53C4188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523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3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1256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30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zh-CN" altLang="en-US"/>
              <a:t>Confidential, for review only</a:t>
            </a:r>
            <a:endParaRPr lang="en-US" altLang="en-US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172D39-2A42-4BA5-9701-9B4CB53C4188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523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3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6785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30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zh-CN" altLang="en-US"/>
              <a:t>Confidential, for review only</a:t>
            </a:r>
            <a:endParaRPr lang="en-US" altLang="en-US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E9567B-B5B1-4501-A056-4205A731712F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68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1037661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30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zh-CN" altLang="en-US"/>
              <a:t>Confidential, for review only</a:t>
            </a:r>
            <a:endParaRPr lang="en-US" altLang="en-US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D36640-7585-445D-903E-339983058AF2}" type="slidenum">
              <a:rPr lang="zh-CN" altLang="en-US"/>
              <a:pPr/>
              <a:t>15</a:t>
            </a:fld>
            <a:endParaRPr lang="en-US" altLang="zh-CN"/>
          </a:p>
        </p:txBody>
      </p:sp>
      <p:sp>
        <p:nvSpPr>
          <p:cNvPr id="550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524000" y="685800"/>
            <a:ext cx="3429000" cy="25717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0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08588" y="685800"/>
            <a:ext cx="3859212" cy="25146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5494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30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zh-CN" altLang="en-US"/>
              <a:t>Confidential, for review only</a:t>
            </a:r>
            <a:endParaRPr lang="en-US" altLang="en-US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EA26EB-F499-4A6D-A8EE-4EE608487F09}" type="slidenum">
              <a:rPr lang="zh-CN" altLang="en-US"/>
              <a:pPr/>
              <a:t>16</a:t>
            </a:fld>
            <a:endParaRPr lang="en-US" altLang="zh-CN"/>
          </a:p>
        </p:txBody>
      </p:sp>
      <p:sp>
        <p:nvSpPr>
          <p:cNvPr id="552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524000" y="685800"/>
            <a:ext cx="3429000" cy="25717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08588" y="685800"/>
            <a:ext cx="3859212" cy="25146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3865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30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zh-CN" altLang="en-US"/>
              <a:t>Confidential, for review only</a:t>
            </a:r>
            <a:endParaRPr lang="en-US" altLang="en-US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6F1E27-F6BA-414E-A73A-6D17146A8778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555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524000" y="685800"/>
            <a:ext cx="3429000" cy="25717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50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08588" y="685800"/>
            <a:ext cx="3859212" cy="25146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6688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30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zh-CN" altLang="en-US"/>
              <a:t>Confidential, for review only</a:t>
            </a:r>
            <a:endParaRPr lang="en-US" altLang="en-US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23625C-B882-4525-A75A-579978A174B1}" type="slidenum">
              <a:rPr lang="zh-CN" altLang="en-US"/>
              <a:pPr/>
              <a:t>18</a:t>
            </a:fld>
            <a:endParaRPr lang="en-US" altLang="zh-CN"/>
          </a:p>
        </p:txBody>
      </p:sp>
      <p:sp>
        <p:nvSpPr>
          <p:cNvPr id="548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524000" y="685800"/>
            <a:ext cx="3429000" cy="25717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8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08588" y="685800"/>
            <a:ext cx="3859212" cy="25146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56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9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2966F891-39E4-4949-84B5-293BD1F65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56" y="1524000"/>
            <a:ext cx="4588085" cy="4684464"/>
          </a:xfrm>
          <a:prstGeom prst="rect">
            <a:avLst/>
          </a:prstGeom>
        </p:spPr>
      </p:pic>
      <p:sp>
        <p:nvSpPr>
          <p:cNvPr id="4" name="Rectangle 10"/>
          <p:cNvSpPr/>
          <p:nvPr/>
        </p:nvSpPr>
        <p:spPr>
          <a:xfrm>
            <a:off x="3028951" y="3657602"/>
            <a:ext cx="4978400" cy="1654481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 sz="1350">
              <a:solidFill>
                <a:srgbClr val="FFFFFF"/>
              </a:solidFill>
            </a:endParaRPr>
          </a:p>
        </p:txBody>
      </p:sp>
      <p:sp>
        <p:nvSpPr>
          <p:cNvPr id="5" name="Rectangle 11"/>
          <p:cNvSpPr/>
          <p:nvPr/>
        </p:nvSpPr>
        <p:spPr>
          <a:xfrm>
            <a:off x="228602" y="673897"/>
            <a:ext cx="4588085" cy="719623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 sz="2025">
              <a:solidFill>
                <a:srgbClr val="FFFFFF"/>
              </a:solidFill>
            </a:endParaRPr>
          </a:p>
        </p:txBody>
      </p:sp>
      <p:sp>
        <p:nvSpPr>
          <p:cNvPr id="6" name="Rectangle 14"/>
          <p:cNvSpPr/>
          <p:nvPr/>
        </p:nvSpPr>
        <p:spPr>
          <a:xfrm>
            <a:off x="3028950" y="3657602"/>
            <a:ext cx="228600" cy="1654481"/>
          </a:xfrm>
          <a:prstGeom prst="rect">
            <a:avLst/>
          </a:prstGeom>
          <a:solidFill>
            <a:srgbClr val="EB641B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 sz="1350">
              <a:solidFill>
                <a:srgbClr val="FFFFFF"/>
              </a:solidFill>
            </a:endParaRPr>
          </a:p>
        </p:txBody>
      </p:sp>
      <p:sp>
        <p:nvSpPr>
          <p:cNvPr id="7" name="Rectangle 15"/>
          <p:cNvSpPr/>
          <p:nvPr/>
        </p:nvSpPr>
        <p:spPr>
          <a:xfrm>
            <a:off x="269855" y="665099"/>
            <a:ext cx="140865" cy="73123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 sz="1350" dirty="0">
              <a:solidFill>
                <a:srgbClr val="FFFFFF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257552" y="3827594"/>
            <a:ext cx="4606925" cy="1280888"/>
          </a:xfrm>
        </p:spPr>
        <p:txBody>
          <a:bodyPr anchor="ctr"/>
          <a:lstStyle>
            <a:lvl1pPr algn="ctr">
              <a:defRPr sz="2100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22256" y="726666"/>
            <a:ext cx="4359238" cy="56873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chemeClr val="tx2"/>
                </a:solidFill>
                <a:latin typeface="+mn-lt"/>
                <a:ea typeface="+mn-ea"/>
                <a:cs typeface="+mj-cs"/>
              </a:defRPr>
            </a:lvl1pPr>
            <a:lvl2pPr marL="192881" indent="0" algn="ctr">
              <a:buNone/>
            </a:lvl2pPr>
            <a:lvl3pPr marL="385763" indent="0" algn="ctr">
              <a:buNone/>
            </a:lvl3pPr>
            <a:lvl4pPr marL="578644" indent="0" algn="ctr">
              <a:buNone/>
            </a:lvl4pPr>
            <a:lvl5pPr marL="771525" indent="0" algn="ctr">
              <a:buNone/>
            </a:lvl5pPr>
            <a:lvl6pPr marL="964406" indent="0" algn="ctr">
              <a:buNone/>
            </a:lvl6pPr>
            <a:lvl7pPr marL="1157288" indent="0" algn="ctr">
              <a:buNone/>
            </a:lvl7pPr>
            <a:lvl8pPr marL="1350169" indent="0" algn="ctr">
              <a:buNone/>
            </a:lvl8pPr>
            <a:lvl9pPr marL="154305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0"/>
          </p:nvPr>
        </p:nvSpPr>
        <p:spPr>
          <a:xfrm>
            <a:off x="3960019" y="5550204"/>
            <a:ext cx="3205166" cy="790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7793206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ub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22BBD6FA-A54A-485F-87D9-C9652F586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56" y="1524000"/>
            <a:ext cx="4588085" cy="4684464"/>
          </a:xfrm>
          <a:prstGeom prst="rect">
            <a:avLst/>
          </a:prstGeom>
        </p:spPr>
      </p:pic>
      <p:sp>
        <p:nvSpPr>
          <p:cNvPr id="16" name="Rectangle 10">
            <a:extLst>
              <a:ext uri="{FF2B5EF4-FFF2-40B4-BE49-F238E27FC236}">
                <a16:creationId xmlns:a16="http://schemas.microsoft.com/office/drawing/2014/main" xmlns="" id="{80B6937C-32A7-4CC7-BE4A-AB7A564C7186}"/>
              </a:ext>
            </a:extLst>
          </p:cNvPr>
          <p:cNvSpPr/>
          <p:nvPr/>
        </p:nvSpPr>
        <p:spPr>
          <a:xfrm>
            <a:off x="3028951" y="3657602"/>
            <a:ext cx="4978400" cy="1654481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 sz="1350">
              <a:solidFill>
                <a:srgbClr val="FFFFFF"/>
              </a:solidFill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xmlns="" id="{EDC16F34-8BA1-4A4E-B0D4-81397E1E7CD0}"/>
              </a:ext>
            </a:extLst>
          </p:cNvPr>
          <p:cNvSpPr/>
          <p:nvPr/>
        </p:nvSpPr>
        <p:spPr>
          <a:xfrm>
            <a:off x="3028950" y="3657602"/>
            <a:ext cx="228600" cy="1654481"/>
          </a:xfrm>
          <a:prstGeom prst="rect">
            <a:avLst/>
          </a:prstGeom>
          <a:solidFill>
            <a:srgbClr val="EB641B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 sz="1350">
              <a:solidFill>
                <a:srgbClr val="FFFFFF"/>
              </a:solidFill>
            </a:endParaRPr>
          </a:p>
        </p:txBody>
      </p:sp>
      <p:sp>
        <p:nvSpPr>
          <p:cNvPr id="18" name="Title 7">
            <a:extLst>
              <a:ext uri="{FF2B5EF4-FFF2-40B4-BE49-F238E27FC236}">
                <a16:creationId xmlns:a16="http://schemas.microsoft.com/office/drawing/2014/main" xmlns="" id="{66A552C8-61F4-43FC-A974-9DE54534B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7552" y="3827594"/>
            <a:ext cx="4606925" cy="1280888"/>
          </a:xfrm>
        </p:spPr>
        <p:txBody>
          <a:bodyPr anchor="ctr"/>
          <a:lstStyle>
            <a:lvl1pPr algn="ctr">
              <a:defRPr sz="2100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47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xmlns="" id="{45050A8B-65E7-4672-9976-F9678ACCF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b="1">
                <a:solidFill>
                  <a:schemeClr val="accent5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xmlns="" id="{B69B4C9B-667A-475B-923C-B441E63112E2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57200" y="990600"/>
            <a:ext cx="82296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spcBef>
                <a:spcPts val="0"/>
              </a:spcBef>
              <a:defRPr sz="21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05000" indent="-216000">
              <a:lnSpc>
                <a:spcPct val="120000"/>
              </a:lnSpc>
              <a:defRPr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675000" indent="-216000">
              <a:lnSpc>
                <a:spcPct val="120000"/>
              </a:lnSpc>
              <a:defRPr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40000" marR="0" indent="-216000" algn="l" defTabSz="685800" rtl="0" eaLnBrk="1" fontAlgn="base" latinLnBrk="0" hangingPunct="1">
              <a:lnSpc>
                <a:spcPct val="100000"/>
              </a:lnSpc>
              <a:spcBef>
                <a:spcPts val="169"/>
              </a:spcBef>
              <a:spcAft>
                <a:spcPct val="0"/>
              </a:spcAft>
              <a:buClr>
                <a:srgbClr val="CF5716"/>
              </a:buClr>
              <a:buSzPct val="70000"/>
              <a:buFont typeface="Wingdings" panose="05000000000000000000" pitchFamily="2" charset="2"/>
              <a:buChar char=""/>
              <a:tabLst/>
              <a:defRPr sz="1013" baseline="0">
                <a:latin typeface="+mn-lt"/>
              </a:defRPr>
            </a:lvl4pPr>
            <a:lvl5pPr>
              <a:defRPr sz="1163" baseline="0">
                <a:latin typeface="+mn-lt"/>
              </a:defRPr>
            </a:lvl5pPr>
            <a:lvl6pPr>
              <a:defRPr sz="1416"/>
            </a:lvl6pPr>
            <a:lvl7pPr indent="-21600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marL="694307" marR="0" lvl="6" indent="-96441" algn="l" defTabSz="685800" rtl="0" eaLnBrk="1" fontAlgn="base" latinLnBrk="0" hangingPunct="1">
              <a:lnSpc>
                <a:spcPct val="100000"/>
              </a:lnSpc>
              <a:spcBef>
                <a:spcPts val="169"/>
              </a:spcBef>
              <a:spcAft>
                <a:spcPct val="0"/>
              </a:spcAft>
              <a:buClr>
                <a:srgbClr val="CF5716"/>
              </a:buClr>
              <a:buSzPct val="70000"/>
              <a:buFont typeface="Wingdings" panose="05000000000000000000" pitchFamily="2" charset="2"/>
              <a:buChar char=""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A4A7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lvl="2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392278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s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7A3B309-5F91-4EC3-B303-AAA2C6672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73485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2">
            <a:extLst>
              <a:ext uri="{FF2B5EF4-FFF2-40B4-BE49-F238E27FC236}">
                <a16:creationId xmlns:a16="http://schemas.microsoft.com/office/drawing/2014/main" xmlns="" id="{82554C09-2158-4702-9B4A-E0C68913C689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57200" y="1066801"/>
            <a:ext cx="4114800" cy="518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aseline="0">
                <a:latin typeface="+mn-lt"/>
              </a:defRPr>
            </a:lvl1pPr>
            <a:lvl2pPr>
              <a:defRPr baseline="0">
                <a:latin typeface="+mn-lt"/>
              </a:defRPr>
            </a:lvl2pPr>
            <a:lvl3pPr>
              <a:defRPr baseline="0">
                <a:latin typeface="+mn-lt"/>
              </a:defRPr>
            </a:lvl3pPr>
            <a:lvl4pPr>
              <a:defRPr baseline="0">
                <a:latin typeface="+mn-lt"/>
              </a:defRPr>
            </a:lvl4pPr>
            <a:lvl5pPr>
              <a:defRPr baseline="0"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xmlns="" id="{6DDB8618-EAD8-4F6C-91B0-8D6B79685A8E}"/>
              </a:ext>
            </a:extLst>
          </p:cNvPr>
          <p:cNvSpPr>
            <a:spLocks noGrp="1"/>
          </p:cNvSpPr>
          <p:nvPr>
            <p:ph idx="10"/>
          </p:nvPr>
        </p:nvSpPr>
        <p:spPr bwMode="auto">
          <a:xfrm>
            <a:off x="4686300" y="1066800"/>
            <a:ext cx="4000500" cy="5181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63866493-C33C-47CF-99CE-6E19EE056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xmlns="" id="{8BBF6941-949E-4A04-9A27-6C5758225CF1}"/>
              </a:ext>
            </a:extLst>
          </p:cNvPr>
          <p:cNvCxnSpPr/>
          <p:nvPr/>
        </p:nvCxnSpPr>
        <p:spPr>
          <a:xfrm>
            <a:off x="4629150" y="1066800"/>
            <a:ext cx="0" cy="518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60831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Tex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2">
            <a:extLst>
              <a:ext uri="{FF2B5EF4-FFF2-40B4-BE49-F238E27FC236}">
                <a16:creationId xmlns:a16="http://schemas.microsoft.com/office/drawing/2014/main" xmlns="" id="{82554C09-2158-4702-9B4A-E0C68913C689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57201" y="990600"/>
            <a:ext cx="4414346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aseline="0">
                <a:latin typeface="+mn-lt"/>
              </a:defRPr>
            </a:lvl1pPr>
            <a:lvl2pPr>
              <a:defRPr baseline="0">
                <a:latin typeface="+mn-lt"/>
              </a:defRPr>
            </a:lvl2pPr>
            <a:lvl3pPr>
              <a:defRPr baseline="0">
                <a:latin typeface="+mn-lt"/>
              </a:defRPr>
            </a:lvl3pPr>
            <a:lvl4pPr>
              <a:defRPr baseline="0">
                <a:latin typeface="+mn-lt"/>
              </a:defRPr>
            </a:lvl4pPr>
            <a:lvl5pPr>
              <a:defRPr baseline="0"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63866493-C33C-47CF-99CE-6E19EE056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xmlns="" id="{F4E9E31A-5EEF-4165-B7AF-A4322917E67F}"/>
              </a:ext>
            </a:extLst>
          </p:cNvPr>
          <p:cNvCxnSpPr>
            <a:cxnSpLocks/>
          </p:cNvCxnSpPr>
          <p:nvPr/>
        </p:nvCxnSpPr>
        <p:spPr>
          <a:xfrm>
            <a:off x="4914900" y="1066800"/>
            <a:ext cx="0" cy="533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705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178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2E0B6702-5847-4051-BE41-FB9C649E0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56" y="1524000"/>
            <a:ext cx="4588085" cy="468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027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2966F891-39E4-4949-84B5-293BD1F65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56" y="1524000"/>
            <a:ext cx="4588085" cy="4684464"/>
          </a:xfrm>
          <a:prstGeom prst="rect">
            <a:avLst/>
          </a:prstGeom>
        </p:spPr>
      </p:pic>
      <p:sp>
        <p:nvSpPr>
          <p:cNvPr id="4" name="Rectangle 10"/>
          <p:cNvSpPr/>
          <p:nvPr/>
        </p:nvSpPr>
        <p:spPr>
          <a:xfrm>
            <a:off x="3028951" y="3657602"/>
            <a:ext cx="4978400" cy="1654481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 sz="1350">
              <a:solidFill>
                <a:srgbClr val="FFFFFF"/>
              </a:solidFill>
            </a:endParaRPr>
          </a:p>
        </p:txBody>
      </p:sp>
      <p:sp>
        <p:nvSpPr>
          <p:cNvPr id="5" name="Rectangle 11"/>
          <p:cNvSpPr/>
          <p:nvPr/>
        </p:nvSpPr>
        <p:spPr>
          <a:xfrm>
            <a:off x="228602" y="673897"/>
            <a:ext cx="4588085" cy="719623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 sz="2025">
              <a:solidFill>
                <a:srgbClr val="FFFFFF"/>
              </a:solidFill>
            </a:endParaRPr>
          </a:p>
        </p:txBody>
      </p:sp>
      <p:sp>
        <p:nvSpPr>
          <p:cNvPr id="6" name="Rectangle 14"/>
          <p:cNvSpPr/>
          <p:nvPr/>
        </p:nvSpPr>
        <p:spPr>
          <a:xfrm>
            <a:off x="3028950" y="3657602"/>
            <a:ext cx="228600" cy="1654481"/>
          </a:xfrm>
          <a:prstGeom prst="rect">
            <a:avLst/>
          </a:prstGeom>
          <a:solidFill>
            <a:srgbClr val="EB641B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 sz="1350">
              <a:solidFill>
                <a:srgbClr val="FFFFFF"/>
              </a:solidFill>
            </a:endParaRPr>
          </a:p>
        </p:txBody>
      </p:sp>
      <p:sp>
        <p:nvSpPr>
          <p:cNvPr id="7" name="Rectangle 15"/>
          <p:cNvSpPr/>
          <p:nvPr/>
        </p:nvSpPr>
        <p:spPr>
          <a:xfrm>
            <a:off x="269855" y="665099"/>
            <a:ext cx="140865" cy="73123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 sz="1350" dirty="0">
              <a:solidFill>
                <a:srgbClr val="FFFFFF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257552" y="3827594"/>
            <a:ext cx="4606925" cy="1280888"/>
          </a:xfrm>
        </p:spPr>
        <p:txBody>
          <a:bodyPr anchor="ctr"/>
          <a:lstStyle>
            <a:lvl1pPr algn="ctr">
              <a:defRPr sz="2100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22256" y="726666"/>
            <a:ext cx="4359238" cy="56873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chemeClr val="tx2"/>
                </a:solidFill>
                <a:latin typeface="+mn-lt"/>
                <a:ea typeface="+mn-ea"/>
                <a:cs typeface="+mj-cs"/>
              </a:defRPr>
            </a:lvl1pPr>
            <a:lvl2pPr marL="192881" indent="0" algn="ctr">
              <a:buNone/>
            </a:lvl2pPr>
            <a:lvl3pPr marL="385763" indent="0" algn="ctr">
              <a:buNone/>
            </a:lvl3pPr>
            <a:lvl4pPr marL="578644" indent="0" algn="ctr">
              <a:buNone/>
            </a:lvl4pPr>
            <a:lvl5pPr marL="771525" indent="0" algn="ctr">
              <a:buNone/>
            </a:lvl5pPr>
            <a:lvl6pPr marL="964406" indent="0" algn="ctr">
              <a:buNone/>
            </a:lvl6pPr>
            <a:lvl7pPr marL="1157288" indent="0" algn="ctr">
              <a:buNone/>
            </a:lvl7pPr>
            <a:lvl8pPr marL="1350169" indent="0" algn="ctr">
              <a:buNone/>
            </a:lvl8pPr>
            <a:lvl9pPr marL="154305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0"/>
          </p:nvPr>
        </p:nvSpPr>
        <p:spPr>
          <a:xfrm>
            <a:off x="3960019" y="5550204"/>
            <a:ext cx="3205166" cy="790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5951503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ub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22BBD6FA-A54A-485F-87D9-C9652F586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56" y="1524000"/>
            <a:ext cx="4588085" cy="4684464"/>
          </a:xfrm>
          <a:prstGeom prst="rect">
            <a:avLst/>
          </a:prstGeom>
        </p:spPr>
      </p:pic>
      <p:sp>
        <p:nvSpPr>
          <p:cNvPr id="16" name="Rectangle 10">
            <a:extLst>
              <a:ext uri="{FF2B5EF4-FFF2-40B4-BE49-F238E27FC236}">
                <a16:creationId xmlns:a16="http://schemas.microsoft.com/office/drawing/2014/main" xmlns="" id="{80B6937C-32A7-4CC7-BE4A-AB7A564C7186}"/>
              </a:ext>
            </a:extLst>
          </p:cNvPr>
          <p:cNvSpPr/>
          <p:nvPr/>
        </p:nvSpPr>
        <p:spPr>
          <a:xfrm>
            <a:off x="3028951" y="3657602"/>
            <a:ext cx="4978400" cy="1654481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 sz="1350">
              <a:solidFill>
                <a:srgbClr val="FFFFFF"/>
              </a:solidFill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xmlns="" id="{EDC16F34-8BA1-4A4E-B0D4-81397E1E7CD0}"/>
              </a:ext>
            </a:extLst>
          </p:cNvPr>
          <p:cNvSpPr/>
          <p:nvPr/>
        </p:nvSpPr>
        <p:spPr>
          <a:xfrm>
            <a:off x="3028950" y="3657602"/>
            <a:ext cx="228600" cy="1654481"/>
          </a:xfrm>
          <a:prstGeom prst="rect">
            <a:avLst/>
          </a:prstGeom>
          <a:solidFill>
            <a:srgbClr val="EB641B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 sz="1350">
              <a:solidFill>
                <a:srgbClr val="FFFFFF"/>
              </a:solidFill>
            </a:endParaRPr>
          </a:p>
        </p:txBody>
      </p:sp>
      <p:sp>
        <p:nvSpPr>
          <p:cNvPr id="18" name="Title 7">
            <a:extLst>
              <a:ext uri="{FF2B5EF4-FFF2-40B4-BE49-F238E27FC236}">
                <a16:creationId xmlns:a16="http://schemas.microsoft.com/office/drawing/2014/main" xmlns="" id="{66A552C8-61F4-43FC-A974-9DE54534B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7552" y="3827594"/>
            <a:ext cx="4606925" cy="1280888"/>
          </a:xfrm>
        </p:spPr>
        <p:txBody>
          <a:bodyPr anchor="ctr"/>
          <a:lstStyle>
            <a:lvl1pPr algn="ctr">
              <a:defRPr sz="2100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872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xmlns="" id="{45050A8B-65E7-4672-9976-F9678ACCF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xmlns="" id="{B69B4C9B-667A-475B-923C-B441E63112E2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57200" y="990600"/>
            <a:ext cx="82296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aseline="0">
                <a:latin typeface="+mn-lt"/>
              </a:defRPr>
            </a:lvl1pPr>
            <a:lvl2pPr>
              <a:defRPr baseline="0">
                <a:latin typeface="+mn-lt"/>
              </a:defRPr>
            </a:lvl2pPr>
            <a:lvl3pPr>
              <a:defRPr baseline="0">
                <a:latin typeface="+mn-lt"/>
              </a:defRPr>
            </a:lvl3pPr>
            <a:lvl4pPr>
              <a:defRPr baseline="0">
                <a:latin typeface="+mn-lt"/>
              </a:defRPr>
            </a:lvl4pPr>
            <a:lvl5pPr>
              <a:defRPr baseline="0">
                <a:latin typeface="+mn-lt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198543039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s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7A3B309-5F91-4EC3-B303-AAA2C6672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78388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2">
            <a:extLst>
              <a:ext uri="{FF2B5EF4-FFF2-40B4-BE49-F238E27FC236}">
                <a16:creationId xmlns:a16="http://schemas.microsoft.com/office/drawing/2014/main" xmlns="" id="{82554C09-2158-4702-9B4A-E0C68913C689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57200" y="1066801"/>
            <a:ext cx="4114800" cy="518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aseline="0">
                <a:latin typeface="+mn-lt"/>
              </a:defRPr>
            </a:lvl1pPr>
            <a:lvl2pPr>
              <a:defRPr baseline="0">
                <a:latin typeface="+mn-lt"/>
              </a:defRPr>
            </a:lvl2pPr>
            <a:lvl3pPr>
              <a:defRPr baseline="0">
                <a:latin typeface="+mn-lt"/>
              </a:defRPr>
            </a:lvl3pPr>
            <a:lvl4pPr>
              <a:defRPr baseline="0">
                <a:latin typeface="+mn-lt"/>
              </a:defRPr>
            </a:lvl4pPr>
            <a:lvl5pPr>
              <a:defRPr baseline="0"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xmlns="" id="{6DDB8618-EAD8-4F6C-91B0-8D6B79685A8E}"/>
              </a:ext>
            </a:extLst>
          </p:cNvPr>
          <p:cNvSpPr>
            <a:spLocks noGrp="1"/>
          </p:cNvSpPr>
          <p:nvPr>
            <p:ph idx="10"/>
          </p:nvPr>
        </p:nvSpPr>
        <p:spPr bwMode="auto">
          <a:xfrm>
            <a:off x="4686300" y="1066800"/>
            <a:ext cx="4000500" cy="5181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63866493-C33C-47CF-99CE-6E19EE056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xmlns="" id="{8BBF6941-949E-4A04-9A27-6C5758225CF1}"/>
              </a:ext>
            </a:extLst>
          </p:cNvPr>
          <p:cNvCxnSpPr/>
          <p:nvPr/>
        </p:nvCxnSpPr>
        <p:spPr>
          <a:xfrm>
            <a:off x="4629150" y="1066800"/>
            <a:ext cx="0" cy="518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9053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Tex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2">
            <a:extLst>
              <a:ext uri="{FF2B5EF4-FFF2-40B4-BE49-F238E27FC236}">
                <a16:creationId xmlns:a16="http://schemas.microsoft.com/office/drawing/2014/main" xmlns="" id="{82554C09-2158-4702-9B4A-E0C68913C689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57201" y="990600"/>
            <a:ext cx="4414346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aseline="0">
                <a:latin typeface="+mn-lt"/>
              </a:defRPr>
            </a:lvl1pPr>
            <a:lvl2pPr>
              <a:defRPr baseline="0">
                <a:latin typeface="+mn-lt"/>
              </a:defRPr>
            </a:lvl2pPr>
            <a:lvl3pPr>
              <a:defRPr baseline="0">
                <a:latin typeface="+mn-lt"/>
              </a:defRPr>
            </a:lvl3pPr>
            <a:lvl4pPr>
              <a:defRPr baseline="0">
                <a:latin typeface="+mn-lt"/>
              </a:defRPr>
            </a:lvl4pPr>
            <a:lvl5pPr>
              <a:defRPr baseline="0"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63866493-C33C-47CF-99CE-6E19EE056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xmlns="" id="{F4E9E31A-5EEF-4165-B7AF-A4322917E67F}"/>
              </a:ext>
            </a:extLst>
          </p:cNvPr>
          <p:cNvCxnSpPr>
            <a:cxnSpLocks/>
          </p:cNvCxnSpPr>
          <p:nvPr/>
        </p:nvCxnSpPr>
        <p:spPr>
          <a:xfrm>
            <a:off x="4914900" y="1066800"/>
            <a:ext cx="0" cy="533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7212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7935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2E0B6702-5847-4051-BE41-FB9C649E0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56" y="1524000"/>
            <a:ext cx="4588085" cy="468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774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3533" y="133076"/>
            <a:ext cx="5093768" cy="653579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xmlns="" id="{902F5BB1-3479-4B75-8121-C76027E92312}"/>
              </a:ext>
            </a:extLst>
          </p:cNvPr>
          <p:cNvSpPr/>
          <p:nvPr userDrawn="1"/>
        </p:nvSpPr>
        <p:spPr>
          <a:xfrm>
            <a:off x="-14228" y="1772782"/>
            <a:ext cx="2197526" cy="33039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38ABF151-FDDE-4498-994E-B5F9476EF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1907" y="3871615"/>
            <a:ext cx="5465336" cy="781876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endParaRPr lang="zh-CN" altLang="en-US" dirty="0"/>
          </a:p>
        </p:txBody>
      </p:sp>
      <p:sp>
        <p:nvSpPr>
          <p:cNvPr id="14" name="文本占位符 12">
            <a:extLst>
              <a:ext uri="{FF2B5EF4-FFF2-40B4-BE49-F238E27FC236}">
                <a16:creationId xmlns:a16="http://schemas.microsoft.com/office/drawing/2014/main" xmlns="" id="{8CC37306-857E-4BB2-87D4-C5C227822D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61907" y="5438458"/>
            <a:ext cx="5465336" cy="410333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>
            <a:extLst>
              <a:ext uri="{FF2B5EF4-FFF2-40B4-BE49-F238E27FC236}">
                <a16:creationId xmlns:a16="http://schemas.microsoft.com/office/drawing/2014/main" xmlns="" id="{F63B7C85-1073-4365-852C-DE0C04E61B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61907" y="4908371"/>
            <a:ext cx="5465336" cy="410335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E2FF2961-8E0B-4CFB-9897-39262A918722}"/>
              </a:ext>
            </a:extLst>
          </p:cNvPr>
          <p:cNvSpPr/>
          <p:nvPr userDrawn="1"/>
        </p:nvSpPr>
        <p:spPr>
          <a:xfrm>
            <a:off x="8629710" y="1772780"/>
            <a:ext cx="500062" cy="33039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xmlns="" id="{562B6659-3604-4A5D-84A6-6A47FE1698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1907" y="1772778"/>
            <a:ext cx="5465336" cy="20983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95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输入大标题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902F5BB1-3479-4B75-8121-C76027E92312}"/>
              </a:ext>
            </a:extLst>
          </p:cNvPr>
          <p:cNvSpPr/>
          <p:nvPr userDrawn="1"/>
        </p:nvSpPr>
        <p:spPr>
          <a:xfrm>
            <a:off x="2181769" y="1772778"/>
            <a:ext cx="283382" cy="33039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902F5BB1-3479-4B75-8121-C76027E92312}"/>
              </a:ext>
            </a:extLst>
          </p:cNvPr>
          <p:cNvSpPr/>
          <p:nvPr userDrawn="1"/>
        </p:nvSpPr>
        <p:spPr>
          <a:xfrm>
            <a:off x="8326778" y="1772778"/>
            <a:ext cx="302443" cy="33039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DF269877-3713-4708-B674-1A813AB36FFC}"/>
              </a:ext>
            </a:extLst>
          </p:cNvPr>
          <p:cNvSpPr txBox="1"/>
          <p:nvPr userDrawn="1"/>
        </p:nvSpPr>
        <p:spPr>
          <a:xfrm rot="16200000">
            <a:off x="7450826" y="3556789"/>
            <a:ext cx="3170099" cy="1962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/>
            <a:r>
              <a:rPr lang="en-US" altLang="zh-CN" sz="825" dirty="0">
                <a:solidFill>
                  <a:prstClr val="white">
                    <a:alpha val="5000"/>
                  </a:prstClr>
                </a:solidFill>
              </a:rPr>
              <a:t>BEIJING INSTITUTE OF TECHNOLOGY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458865" y="2031917"/>
            <a:ext cx="1299646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>
                <a:extLst>
                  <a:ext uri="{FF2B5EF4-FFF2-40B4-BE49-F238E27FC236}">
                    <a16:creationId xmlns:a16="http://schemas.microsoft.com/office/drawing/2014/main" xmlns="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33" name="Freeform 6">
                <a:extLst>
                  <a:ext uri="{FF2B5EF4-FFF2-40B4-BE49-F238E27FC236}">
                    <a16:creationId xmlns:a16="http://schemas.microsoft.com/office/drawing/2014/main" xmlns="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xmlns="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>
                  <a:extLst>
                    <a:ext uri="{FF2B5EF4-FFF2-40B4-BE49-F238E27FC236}">
                      <a16:creationId xmlns:a16="http://schemas.microsoft.com/office/drawing/2014/main" xmlns="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0" name="Freeform 8">
                  <a:extLst>
                    <a:ext uri="{FF2B5EF4-FFF2-40B4-BE49-F238E27FC236}">
                      <a16:creationId xmlns:a16="http://schemas.microsoft.com/office/drawing/2014/main" xmlns="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xmlns="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>
                  <a:extLst>
                    <a:ext uri="{FF2B5EF4-FFF2-40B4-BE49-F238E27FC236}">
                      <a16:creationId xmlns:a16="http://schemas.microsoft.com/office/drawing/2014/main" xmlns="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" name="Freeform 16">
                  <a:extLst>
                    <a:ext uri="{FF2B5EF4-FFF2-40B4-BE49-F238E27FC236}">
                      <a16:creationId xmlns:a16="http://schemas.microsoft.com/office/drawing/2014/main" xmlns="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8" name="Freeform 17">
                  <a:extLst>
                    <a:ext uri="{FF2B5EF4-FFF2-40B4-BE49-F238E27FC236}">
                      <a16:creationId xmlns:a16="http://schemas.microsoft.com/office/drawing/2014/main" xmlns="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xmlns="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>
                  <a:extLst>
                    <a:ext uri="{FF2B5EF4-FFF2-40B4-BE49-F238E27FC236}">
                      <a16:creationId xmlns:a16="http://schemas.microsoft.com/office/drawing/2014/main" xmlns="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1" name="Freeform 10">
                  <a:extLst>
                    <a:ext uri="{FF2B5EF4-FFF2-40B4-BE49-F238E27FC236}">
                      <a16:creationId xmlns:a16="http://schemas.microsoft.com/office/drawing/2014/main" xmlns="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xmlns="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>
                  <a:extLst>
                    <a:ext uri="{FF2B5EF4-FFF2-40B4-BE49-F238E27FC236}">
                      <a16:creationId xmlns:a16="http://schemas.microsoft.com/office/drawing/2014/main" xmlns="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9" name="Freeform 14">
                  <a:extLst>
                    <a:ext uri="{FF2B5EF4-FFF2-40B4-BE49-F238E27FC236}">
                      <a16:creationId xmlns:a16="http://schemas.microsoft.com/office/drawing/2014/main" xmlns="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xmlns="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>
                  <a:extLst>
                    <a:ext uri="{FF2B5EF4-FFF2-40B4-BE49-F238E27FC236}">
                      <a16:creationId xmlns:a16="http://schemas.microsoft.com/office/drawing/2014/main" xmlns="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6" name="Freeform 19">
                  <a:extLst>
                    <a:ext uri="{FF2B5EF4-FFF2-40B4-BE49-F238E27FC236}">
                      <a16:creationId xmlns:a16="http://schemas.microsoft.com/office/drawing/2014/main" xmlns="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7" name="Freeform 20">
                  <a:extLst>
                    <a:ext uri="{FF2B5EF4-FFF2-40B4-BE49-F238E27FC236}">
                      <a16:creationId xmlns:a16="http://schemas.microsoft.com/office/drawing/2014/main" xmlns="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>
                  <a:extLst>
                    <a:ext uri="{FF2B5EF4-FFF2-40B4-BE49-F238E27FC236}">
                      <a16:creationId xmlns:a16="http://schemas.microsoft.com/office/drawing/2014/main" xmlns="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4" name="Freeform 12">
                  <a:extLst>
                    <a:ext uri="{FF2B5EF4-FFF2-40B4-BE49-F238E27FC236}">
                      <a16:creationId xmlns:a16="http://schemas.microsoft.com/office/drawing/2014/main" xmlns="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</p:grpSp>
        </p:grpSp>
      </p:grp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056" y="515429"/>
            <a:ext cx="2294423" cy="50294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195999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8641908" y="1400598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033364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 preferRelativeResize="0"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569"/>
            <a:ext cx="4385733" cy="6857433"/>
          </a:xfrm>
          <a:prstGeom prst="rect">
            <a:avLst/>
          </a:prstGeom>
        </p:spPr>
      </p:pic>
      <p:sp>
        <p:nvSpPr>
          <p:cNvPr id="3" name="矩形 白1">
            <a:extLst>
              <a:ext uri="{FF2B5EF4-FFF2-40B4-BE49-F238E27FC236}">
                <a16:creationId xmlns:a16="http://schemas.microsoft.com/office/drawing/2014/main" xmlns="" id="{7A935A22-FEEB-4B78-9916-163644E822AB}"/>
              </a:ext>
            </a:extLst>
          </p:cNvPr>
          <p:cNvSpPr/>
          <p:nvPr userDrawn="1"/>
        </p:nvSpPr>
        <p:spPr>
          <a:xfrm rot="5400000">
            <a:off x="-873044" y="873614"/>
            <a:ext cx="6858002" cy="5111914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5805939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4395" y="0"/>
            <a:ext cx="5272947" cy="6765696"/>
          </a:xfrm>
          <a:prstGeom prst="rect">
            <a:avLst/>
          </a:prstGeom>
        </p:spPr>
      </p:pic>
      <p:sp>
        <p:nvSpPr>
          <p:cNvPr id="63" name="任意多边形: 形状 59">
            <a:extLst>
              <a:ext uri="{FF2B5EF4-FFF2-40B4-BE49-F238E27FC236}">
                <a16:creationId xmlns:a16="http://schemas.microsoft.com/office/drawing/2014/main" xmlns="" id="{AC1D2521-933E-409D-9088-BF7A7FA6A8E9}"/>
              </a:ext>
            </a:extLst>
          </p:cNvPr>
          <p:cNvSpPr/>
          <p:nvPr userDrawn="1"/>
        </p:nvSpPr>
        <p:spPr>
          <a:xfrm flipH="1">
            <a:off x="-1014413" y="-2"/>
            <a:ext cx="10158411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/>
            <a:endParaRPr lang="zh-CN" altLang="en-US" sz="1350">
              <a:solidFill>
                <a:prstClr val="white"/>
              </a:solidFill>
            </a:endParaRPr>
          </a:p>
        </p:txBody>
      </p:sp>
      <p:pic>
        <p:nvPicPr>
          <p:cNvPr id="64" name="图片 6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9752" y="245990"/>
            <a:ext cx="2024247" cy="565293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xmlns="" id="{180A68EB-E97F-4BBF-9D90-3F845C9BE11A}"/>
              </a:ext>
            </a:extLst>
          </p:cNvPr>
          <p:cNvSpPr/>
          <p:nvPr userDrawn="1"/>
        </p:nvSpPr>
        <p:spPr>
          <a:xfrm>
            <a:off x="0" y="6188080"/>
            <a:ext cx="9144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solidFill>
                <a:prstClr val="white"/>
              </a:solidFill>
            </a:endParaRPr>
          </a:p>
        </p:txBody>
      </p:sp>
      <p:grpSp>
        <p:nvGrpSpPr>
          <p:cNvPr id="66" name="组合 65"/>
          <p:cNvGrpSpPr/>
          <p:nvPr userDrawn="1"/>
        </p:nvGrpSpPr>
        <p:grpSpPr>
          <a:xfrm>
            <a:off x="449207" y="6400000"/>
            <a:ext cx="2267617" cy="290946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xmlns="" id="{2B6AF4F4-F405-428E-ACB6-6C287CCD9962}"/>
                </a:ext>
              </a:extLst>
            </p:cNvPr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1" name="Freeform 5">
                <a:extLst>
                  <a:ext uri="{FF2B5EF4-FFF2-40B4-BE49-F238E27FC236}">
                    <a16:creationId xmlns:a16="http://schemas.microsoft.com/office/drawing/2014/main" xmlns="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82" name="Freeform 6">
                <a:extLst>
                  <a:ext uri="{FF2B5EF4-FFF2-40B4-BE49-F238E27FC236}">
                    <a16:creationId xmlns:a16="http://schemas.microsoft.com/office/drawing/2014/main" xmlns="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xmlns="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88" name="Freeform 7">
                  <a:extLst>
                    <a:ext uri="{FF2B5EF4-FFF2-40B4-BE49-F238E27FC236}">
                      <a16:creationId xmlns:a16="http://schemas.microsoft.com/office/drawing/2014/main" xmlns="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9" name="Freeform 8">
                  <a:extLst>
                    <a:ext uri="{FF2B5EF4-FFF2-40B4-BE49-F238E27FC236}">
                      <a16:creationId xmlns:a16="http://schemas.microsoft.com/office/drawing/2014/main" xmlns="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84" name="组合 83">
                <a:extLst>
                  <a:ext uri="{FF2B5EF4-FFF2-40B4-BE49-F238E27FC236}">
                    <a16:creationId xmlns:a16="http://schemas.microsoft.com/office/drawing/2014/main" xmlns="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85" name="Freeform 15">
                  <a:extLst>
                    <a:ext uri="{FF2B5EF4-FFF2-40B4-BE49-F238E27FC236}">
                      <a16:creationId xmlns:a16="http://schemas.microsoft.com/office/drawing/2014/main" xmlns="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6" name="Freeform 16">
                  <a:extLst>
                    <a:ext uri="{FF2B5EF4-FFF2-40B4-BE49-F238E27FC236}">
                      <a16:creationId xmlns:a16="http://schemas.microsoft.com/office/drawing/2014/main" xmlns="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7" name="Freeform 17">
                  <a:extLst>
                    <a:ext uri="{FF2B5EF4-FFF2-40B4-BE49-F238E27FC236}">
                      <a16:creationId xmlns:a16="http://schemas.microsoft.com/office/drawing/2014/main" xmlns="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xmlns="" id="{E582171C-E91E-4DDB-B720-D9EDE8C54B5C}"/>
                </a:ext>
              </a:extLst>
            </p:cNvPr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xmlns="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79" name="Freeform 9">
                  <a:extLst>
                    <a:ext uri="{FF2B5EF4-FFF2-40B4-BE49-F238E27FC236}">
                      <a16:creationId xmlns:a16="http://schemas.microsoft.com/office/drawing/2014/main" xmlns="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0" name="Freeform 10">
                  <a:extLst>
                    <a:ext uri="{FF2B5EF4-FFF2-40B4-BE49-F238E27FC236}">
                      <a16:creationId xmlns:a16="http://schemas.microsoft.com/office/drawing/2014/main" xmlns="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70" name="组合 69">
                <a:extLst>
                  <a:ext uri="{FF2B5EF4-FFF2-40B4-BE49-F238E27FC236}">
                    <a16:creationId xmlns:a16="http://schemas.microsoft.com/office/drawing/2014/main" xmlns="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77" name="Freeform 13">
                  <a:extLst>
                    <a:ext uri="{FF2B5EF4-FFF2-40B4-BE49-F238E27FC236}">
                      <a16:creationId xmlns:a16="http://schemas.microsoft.com/office/drawing/2014/main" xmlns="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78" name="Freeform 14">
                  <a:extLst>
                    <a:ext uri="{FF2B5EF4-FFF2-40B4-BE49-F238E27FC236}">
                      <a16:creationId xmlns:a16="http://schemas.microsoft.com/office/drawing/2014/main" xmlns="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71" name="组合 70">
                <a:extLst>
                  <a:ext uri="{FF2B5EF4-FFF2-40B4-BE49-F238E27FC236}">
                    <a16:creationId xmlns:a16="http://schemas.microsoft.com/office/drawing/2014/main" xmlns="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74" name="Freeform 18">
                  <a:extLst>
                    <a:ext uri="{FF2B5EF4-FFF2-40B4-BE49-F238E27FC236}">
                      <a16:creationId xmlns:a16="http://schemas.microsoft.com/office/drawing/2014/main" xmlns="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75" name="Freeform 19">
                  <a:extLst>
                    <a:ext uri="{FF2B5EF4-FFF2-40B4-BE49-F238E27FC236}">
                      <a16:creationId xmlns:a16="http://schemas.microsoft.com/office/drawing/2014/main" xmlns="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76" name="Freeform 20">
                  <a:extLst>
                    <a:ext uri="{FF2B5EF4-FFF2-40B4-BE49-F238E27FC236}">
                      <a16:creationId xmlns:a16="http://schemas.microsoft.com/office/drawing/2014/main" xmlns="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72" name="Freeform 11">
                <a:extLst>
                  <a:ext uri="{FF2B5EF4-FFF2-40B4-BE49-F238E27FC236}">
                    <a16:creationId xmlns:a16="http://schemas.microsoft.com/office/drawing/2014/main" xmlns="" id="{9E7CBDC3-9BA0-4307-8967-3267E5966E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Freeform 12">
                <a:extLst>
                  <a:ext uri="{FF2B5EF4-FFF2-40B4-BE49-F238E27FC236}">
                    <a16:creationId xmlns:a16="http://schemas.microsoft.com/office/drawing/2014/main" xmlns="" id="{D88D9717-3185-4A77-8E18-2A8659D44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16958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063" r="32938"/>
          <a:stretch/>
        </p:blipFill>
        <p:spPr>
          <a:xfrm>
            <a:off x="-13708" y="1"/>
            <a:ext cx="2949790" cy="685799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79F2EAE9-B638-4AA2-8264-4D37EBBEE86D}"/>
              </a:ext>
            </a:extLst>
          </p:cNvPr>
          <p:cNvSpPr/>
          <p:nvPr userDrawn="1"/>
        </p:nvSpPr>
        <p:spPr>
          <a:xfrm>
            <a:off x="3" y="2"/>
            <a:ext cx="2936081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DFF6BFE1-1DD5-454F-BE20-A55DAB22A652}"/>
              </a:ext>
            </a:extLst>
          </p:cNvPr>
          <p:cNvSpPr/>
          <p:nvPr userDrawn="1"/>
        </p:nvSpPr>
        <p:spPr>
          <a:xfrm>
            <a:off x="-7141" y="0"/>
            <a:ext cx="2943223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solidFill>
                <a:prstClr val="white"/>
              </a:solidFill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xmlns="" id="{D14117E2-1B64-4454-AB72-FC04D0614552}"/>
              </a:ext>
            </a:extLst>
          </p:cNvPr>
          <p:cNvCxnSpPr>
            <a:cxnSpLocks/>
          </p:cNvCxnSpPr>
          <p:nvPr userDrawn="1"/>
        </p:nvCxnSpPr>
        <p:spPr>
          <a:xfrm>
            <a:off x="2970342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>
            <a:extLst>
              <a:ext uri="{FF2B5EF4-FFF2-40B4-BE49-F238E27FC236}">
                <a16:creationId xmlns:a16="http://schemas.microsoft.com/office/drawing/2014/main" xmlns="" id="{DC6CB049-19D4-44DA-8BA3-2A55CACC560A}"/>
              </a:ext>
            </a:extLst>
          </p:cNvPr>
          <p:cNvGrpSpPr/>
          <p:nvPr userDrawn="1"/>
        </p:nvGrpSpPr>
        <p:grpSpPr>
          <a:xfrm>
            <a:off x="2971131" y="2797006"/>
            <a:ext cx="92015" cy="1263995"/>
            <a:chOff x="4630742" y="2258287"/>
            <a:chExt cx="122686" cy="1263995"/>
          </a:xfrm>
          <a:solidFill>
            <a:schemeClr val="accent4"/>
          </a:solidFill>
        </p:grpSpPr>
        <p:sp>
          <p:nvSpPr>
            <p:cNvPr id="22" name="等腰三角形 21">
              <a:extLst>
                <a:ext uri="{FF2B5EF4-FFF2-40B4-BE49-F238E27FC236}">
                  <a16:creationId xmlns:a16="http://schemas.microsoft.com/office/drawing/2014/main" xmlns="" id="{8AAB1992-5EF7-487C-AD2A-01E2865C7E72}"/>
                </a:ext>
              </a:extLst>
            </p:cNvPr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prstClr val="white"/>
                </a:solidFill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xmlns="" id="{E8C48E93-E5B1-4737-8427-44C095BEBB9E}"/>
                </a:ext>
              </a:extLst>
            </p:cNvPr>
            <p:cNvCxnSpPr>
              <a:cxnSpLocks/>
            </p:cNvCxnSpPr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xmlns="" id="{88499905-D7C1-4B31-8F42-54B3A36F0B1E}"/>
              </a:ext>
            </a:extLst>
          </p:cNvPr>
          <p:cNvCxnSpPr>
            <a:cxnSpLocks/>
          </p:cNvCxnSpPr>
          <p:nvPr userDrawn="1"/>
        </p:nvCxnSpPr>
        <p:spPr>
          <a:xfrm>
            <a:off x="790156" y="2793542"/>
            <a:ext cx="129527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xmlns="" id="{F1DFE5ED-5D7B-4B26-99EA-A40BED7DC14E}"/>
              </a:ext>
            </a:extLst>
          </p:cNvPr>
          <p:cNvSpPr/>
          <p:nvPr userDrawn="1"/>
        </p:nvSpPr>
        <p:spPr>
          <a:xfrm>
            <a:off x="635150" y="2752390"/>
            <a:ext cx="1647825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685800"/>
            <a:r>
              <a:rPr lang="zh-CN" altLang="en-US" sz="4050" spc="450" dirty="0">
                <a:solidFill>
                  <a:prstClr val="white"/>
                </a:solidFill>
              </a:rPr>
              <a:t>目录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xmlns="" id="{2DD1A83F-A1E9-43D7-9CDC-7AC02BED1EE5}"/>
              </a:ext>
            </a:extLst>
          </p:cNvPr>
          <p:cNvSpPr/>
          <p:nvPr userDrawn="1"/>
        </p:nvSpPr>
        <p:spPr>
          <a:xfrm>
            <a:off x="722856" y="3595872"/>
            <a:ext cx="14298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685800"/>
            <a:r>
              <a:rPr lang="en-US" altLang="zh-CN" sz="1800" dirty="0">
                <a:solidFill>
                  <a:prstClr val="white"/>
                </a:solidFill>
              </a:rPr>
              <a:t>CONTENTS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xmlns="" id="{3E103341-A23F-42AF-90B6-8B36EF542949}"/>
              </a:ext>
            </a:extLst>
          </p:cNvPr>
          <p:cNvCxnSpPr>
            <a:cxnSpLocks/>
          </p:cNvCxnSpPr>
          <p:nvPr userDrawn="1"/>
        </p:nvCxnSpPr>
        <p:spPr>
          <a:xfrm>
            <a:off x="790156" y="4060998"/>
            <a:ext cx="129527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6316" y="2247432"/>
            <a:ext cx="1716661" cy="48216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8014" y="972805"/>
            <a:ext cx="5875720" cy="5885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3384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162569" y="863157"/>
            <a:ext cx="7738967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6833366C-F485-4B9F-89F5-27A807162B12}"/>
              </a:ext>
            </a:extLst>
          </p:cNvPr>
          <p:cNvSpPr/>
          <p:nvPr userDrawn="1"/>
        </p:nvSpPr>
        <p:spPr>
          <a:xfrm>
            <a:off x="8366562" y="6188080"/>
            <a:ext cx="534972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C10D966C-9DD4-4144-A316-29077EB905B4}"/>
              </a:ext>
            </a:extLst>
          </p:cNvPr>
          <p:cNvSpPr/>
          <p:nvPr userDrawn="1"/>
        </p:nvSpPr>
        <p:spPr>
          <a:xfrm>
            <a:off x="238977" y="3"/>
            <a:ext cx="786551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204913" y="392792"/>
            <a:ext cx="6482886" cy="38318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1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6833366C-F485-4B9F-89F5-27A807162B12}"/>
              </a:ext>
            </a:extLst>
          </p:cNvPr>
          <p:cNvSpPr/>
          <p:nvPr userDrawn="1"/>
        </p:nvSpPr>
        <p:spPr>
          <a:xfrm>
            <a:off x="238975" y="6188080"/>
            <a:ext cx="8133254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8424865" y="6384543"/>
            <a:ext cx="41314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685800">
              <a:defRPr/>
            </a:pPr>
            <a:fld id="{4CE2CC6A-3CD6-4EB2-A6B9-76993E7CF1F2}" type="slidenum">
              <a:rPr lang="zh-CN" altLang="en-US" sz="12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defTabSz="685800">
                <a:defRPr/>
              </a:pPr>
              <a:t>‹#›</a:t>
            </a:fld>
            <a:endParaRPr lang="zh-CN" altLang="en-US" sz="12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C10D966C-9DD4-4144-A316-29077EB905B4}"/>
              </a:ext>
            </a:extLst>
          </p:cNvPr>
          <p:cNvSpPr/>
          <p:nvPr userDrawn="1"/>
        </p:nvSpPr>
        <p:spPr>
          <a:xfrm>
            <a:off x="1034181" y="-1610"/>
            <a:ext cx="12531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 dirty="0">
              <a:solidFill>
                <a:prstClr val="white"/>
              </a:solidFill>
            </a:endParaRPr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449206" y="6400004"/>
            <a:ext cx="1906960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xmlns="" id="{2B6AF4F4-F405-428E-ACB6-6C287CCD9962}"/>
                </a:ext>
              </a:extLst>
            </p:cNvPr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>
                <a:extLst>
                  <a:ext uri="{FF2B5EF4-FFF2-40B4-BE49-F238E27FC236}">
                    <a16:creationId xmlns:a16="http://schemas.microsoft.com/office/drawing/2014/main" xmlns="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48" name="Freeform 6">
                <a:extLst>
                  <a:ext uri="{FF2B5EF4-FFF2-40B4-BE49-F238E27FC236}">
                    <a16:creationId xmlns:a16="http://schemas.microsoft.com/office/drawing/2014/main" xmlns="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xmlns="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>
                  <a:extLst>
                    <a:ext uri="{FF2B5EF4-FFF2-40B4-BE49-F238E27FC236}">
                      <a16:creationId xmlns:a16="http://schemas.microsoft.com/office/drawing/2014/main" xmlns="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5" name="Freeform 8">
                  <a:extLst>
                    <a:ext uri="{FF2B5EF4-FFF2-40B4-BE49-F238E27FC236}">
                      <a16:creationId xmlns:a16="http://schemas.microsoft.com/office/drawing/2014/main" xmlns="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xmlns="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>
                  <a:extLst>
                    <a:ext uri="{FF2B5EF4-FFF2-40B4-BE49-F238E27FC236}">
                      <a16:creationId xmlns:a16="http://schemas.microsoft.com/office/drawing/2014/main" xmlns="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2" name="Freeform 16">
                  <a:extLst>
                    <a:ext uri="{FF2B5EF4-FFF2-40B4-BE49-F238E27FC236}">
                      <a16:creationId xmlns:a16="http://schemas.microsoft.com/office/drawing/2014/main" xmlns="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3" name="Freeform 17">
                  <a:extLst>
                    <a:ext uri="{FF2B5EF4-FFF2-40B4-BE49-F238E27FC236}">
                      <a16:creationId xmlns:a16="http://schemas.microsoft.com/office/drawing/2014/main" xmlns="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xmlns="" id="{E582171C-E91E-4DDB-B720-D9EDE8C54B5C}"/>
                </a:ext>
              </a:extLst>
            </p:cNvPr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xmlns="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>
                  <a:extLst>
                    <a:ext uri="{FF2B5EF4-FFF2-40B4-BE49-F238E27FC236}">
                      <a16:creationId xmlns:a16="http://schemas.microsoft.com/office/drawing/2014/main" xmlns="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6" name="Freeform 10">
                  <a:extLst>
                    <a:ext uri="{FF2B5EF4-FFF2-40B4-BE49-F238E27FC236}">
                      <a16:creationId xmlns:a16="http://schemas.microsoft.com/office/drawing/2014/main" xmlns="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xmlns="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>
                  <a:extLst>
                    <a:ext uri="{FF2B5EF4-FFF2-40B4-BE49-F238E27FC236}">
                      <a16:creationId xmlns:a16="http://schemas.microsoft.com/office/drawing/2014/main" xmlns="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4" name="Freeform 14">
                  <a:extLst>
                    <a:ext uri="{FF2B5EF4-FFF2-40B4-BE49-F238E27FC236}">
                      <a16:creationId xmlns:a16="http://schemas.microsoft.com/office/drawing/2014/main" xmlns="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xmlns="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>
                  <a:extLst>
                    <a:ext uri="{FF2B5EF4-FFF2-40B4-BE49-F238E27FC236}">
                      <a16:creationId xmlns:a16="http://schemas.microsoft.com/office/drawing/2014/main" xmlns="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1" name="Freeform 19">
                  <a:extLst>
                    <a:ext uri="{FF2B5EF4-FFF2-40B4-BE49-F238E27FC236}">
                      <a16:creationId xmlns:a16="http://schemas.microsoft.com/office/drawing/2014/main" xmlns="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2" name="Freeform 20">
                  <a:extLst>
                    <a:ext uri="{FF2B5EF4-FFF2-40B4-BE49-F238E27FC236}">
                      <a16:creationId xmlns:a16="http://schemas.microsoft.com/office/drawing/2014/main" xmlns="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685800"/>
                  <a:endParaRPr lang="zh-CN" altLang="en-US" sz="1350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38" name="Freeform 11">
                <a:extLst>
                  <a:ext uri="{FF2B5EF4-FFF2-40B4-BE49-F238E27FC236}">
                    <a16:creationId xmlns:a16="http://schemas.microsoft.com/office/drawing/2014/main" xmlns="" id="{9E7CBDC3-9BA0-4307-8967-3267E5966E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39" name="Freeform 12">
                <a:extLst>
                  <a:ext uri="{FF2B5EF4-FFF2-40B4-BE49-F238E27FC236}">
                    <a16:creationId xmlns:a16="http://schemas.microsoft.com/office/drawing/2014/main" xmlns="" id="{D88D9717-3185-4A77-8E18-2A8659D44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zh-CN" altLang="en-US" sz="1350">
                  <a:solidFill>
                    <a:prstClr val="black"/>
                  </a:solidFill>
                </a:endParaRPr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1325" y="350158"/>
            <a:ext cx="1970211" cy="432283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024856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8366562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398050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7955462"/>
      </p:ext>
    </p:extLst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2" y="2130437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3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566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36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0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27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83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410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97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54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A585-CCD5-4E06-BCB4-AD2A7BDD655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E539-7ADC-4EAE-B951-4D0795672BA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5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2966F891-39E4-4949-84B5-293BD1F65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56" y="1524000"/>
            <a:ext cx="4588085" cy="4684464"/>
          </a:xfrm>
          <a:prstGeom prst="rect">
            <a:avLst/>
          </a:prstGeom>
        </p:spPr>
      </p:pic>
      <p:sp>
        <p:nvSpPr>
          <p:cNvPr id="4" name="Rectangle 10"/>
          <p:cNvSpPr/>
          <p:nvPr/>
        </p:nvSpPr>
        <p:spPr>
          <a:xfrm>
            <a:off x="3028951" y="3657602"/>
            <a:ext cx="4978400" cy="1654481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5" name="Rectangle 11"/>
          <p:cNvSpPr/>
          <p:nvPr/>
        </p:nvSpPr>
        <p:spPr>
          <a:xfrm>
            <a:off x="228602" y="673897"/>
            <a:ext cx="4588085" cy="719623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 sz="2700">
              <a:solidFill>
                <a:srgbClr val="FFFFFF"/>
              </a:solidFill>
            </a:endParaRPr>
          </a:p>
        </p:txBody>
      </p:sp>
      <p:sp>
        <p:nvSpPr>
          <p:cNvPr id="6" name="Rectangle 14"/>
          <p:cNvSpPr/>
          <p:nvPr/>
        </p:nvSpPr>
        <p:spPr>
          <a:xfrm>
            <a:off x="3028950" y="3657602"/>
            <a:ext cx="228600" cy="1654481"/>
          </a:xfrm>
          <a:prstGeom prst="rect">
            <a:avLst/>
          </a:prstGeom>
          <a:solidFill>
            <a:srgbClr val="EB641B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7" name="Rectangle 15"/>
          <p:cNvSpPr/>
          <p:nvPr/>
        </p:nvSpPr>
        <p:spPr>
          <a:xfrm>
            <a:off x="269855" y="665099"/>
            <a:ext cx="140865" cy="73123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 dirty="0">
              <a:solidFill>
                <a:srgbClr val="FFFFFF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257552" y="3827594"/>
            <a:ext cx="4606925" cy="1280888"/>
          </a:xfrm>
        </p:spPr>
        <p:txBody>
          <a:bodyPr anchor="ctr"/>
          <a:lstStyle>
            <a:lvl1pPr algn="ctr">
              <a:defRPr sz="2800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22256" y="726666"/>
            <a:ext cx="4359238" cy="56873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aseline="0">
                <a:solidFill>
                  <a:schemeClr val="tx2"/>
                </a:solidFill>
                <a:latin typeface="+mn-lt"/>
                <a:ea typeface="+mn-ea"/>
                <a:cs typeface="+mj-cs"/>
              </a:defRPr>
            </a:lvl1pPr>
            <a:lvl2pPr marL="257175" indent="0" algn="ctr">
              <a:buNone/>
            </a:lvl2pPr>
            <a:lvl3pPr marL="514350" indent="0" algn="ctr">
              <a:buNone/>
            </a:lvl3pPr>
            <a:lvl4pPr marL="771525" indent="0" algn="ctr">
              <a:buNone/>
            </a:lvl4pPr>
            <a:lvl5pPr marL="1028700" indent="0" algn="ctr">
              <a:buNone/>
            </a:lvl5pPr>
            <a:lvl6pPr marL="1285875" indent="0" algn="ctr">
              <a:buNone/>
            </a:lvl6pPr>
            <a:lvl7pPr marL="1543050" indent="0" algn="ctr">
              <a:buNone/>
            </a:lvl7pPr>
            <a:lvl8pPr marL="1800225" indent="0" algn="ctr">
              <a:buNone/>
            </a:lvl8pPr>
            <a:lvl9pPr marL="20574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0"/>
          </p:nvPr>
        </p:nvSpPr>
        <p:spPr>
          <a:xfrm>
            <a:off x="3960019" y="5550204"/>
            <a:ext cx="3205166" cy="790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35834558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ub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22BBD6FA-A54A-485F-87D9-C9652F586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56" y="1524000"/>
            <a:ext cx="4588085" cy="4684464"/>
          </a:xfrm>
          <a:prstGeom prst="rect">
            <a:avLst/>
          </a:prstGeom>
        </p:spPr>
      </p:pic>
      <p:sp>
        <p:nvSpPr>
          <p:cNvPr id="16" name="Rectangle 10">
            <a:extLst>
              <a:ext uri="{FF2B5EF4-FFF2-40B4-BE49-F238E27FC236}">
                <a16:creationId xmlns:a16="http://schemas.microsoft.com/office/drawing/2014/main" xmlns="" id="{80B6937C-32A7-4CC7-BE4A-AB7A564C7186}"/>
              </a:ext>
            </a:extLst>
          </p:cNvPr>
          <p:cNvSpPr/>
          <p:nvPr/>
        </p:nvSpPr>
        <p:spPr>
          <a:xfrm>
            <a:off x="3028951" y="3657602"/>
            <a:ext cx="4978400" cy="1654481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xmlns="" id="{EDC16F34-8BA1-4A4E-B0D4-81397E1E7CD0}"/>
              </a:ext>
            </a:extLst>
          </p:cNvPr>
          <p:cNvSpPr/>
          <p:nvPr/>
        </p:nvSpPr>
        <p:spPr>
          <a:xfrm>
            <a:off x="3028950" y="3657602"/>
            <a:ext cx="228600" cy="1654481"/>
          </a:xfrm>
          <a:prstGeom prst="rect">
            <a:avLst/>
          </a:prstGeom>
          <a:solidFill>
            <a:srgbClr val="EB641B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8" name="Title 7">
            <a:extLst>
              <a:ext uri="{FF2B5EF4-FFF2-40B4-BE49-F238E27FC236}">
                <a16:creationId xmlns:a16="http://schemas.microsoft.com/office/drawing/2014/main" xmlns="" id="{66A552C8-61F4-43FC-A974-9DE54534B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7552" y="3827594"/>
            <a:ext cx="4606925" cy="1280888"/>
          </a:xfrm>
        </p:spPr>
        <p:txBody>
          <a:bodyPr anchor="ctr"/>
          <a:lstStyle>
            <a:lvl1pPr algn="ctr">
              <a:defRPr sz="2800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4049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xmlns="" id="{45050A8B-65E7-4672-9976-F9678ACCF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1">
                <a:solidFill>
                  <a:schemeClr val="accent5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xmlns="" id="{B69B4C9B-667A-475B-923C-B441E63112E2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57200" y="990600"/>
            <a:ext cx="82296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53591" indent="-288000">
              <a:lnSpc>
                <a:spcPct val="150000"/>
              </a:lnSpc>
              <a:spcBef>
                <a:spcPts val="0"/>
              </a:spcBef>
              <a:buClr>
                <a:schemeClr val="accent4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 sz="2800" baseline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40000" indent="-288000">
              <a:lnSpc>
                <a:spcPct val="120000"/>
              </a:lnSpc>
              <a:defRPr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00000" indent="-288000">
              <a:lnSpc>
                <a:spcPct val="120000"/>
              </a:lnSpc>
              <a:defRPr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720000" marR="0" indent="-288000" algn="l" defTabSz="9144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ct val="0"/>
              </a:spcAft>
              <a:buClr>
                <a:srgbClr val="CF5716"/>
              </a:buClr>
              <a:buSzPct val="70000"/>
              <a:buFont typeface="Wingdings" panose="05000000000000000000" pitchFamily="2" charset="2"/>
              <a:buChar char=""/>
              <a:tabLst/>
              <a:defRPr sz="1350" baseline="0">
                <a:latin typeface="+mn-lt"/>
              </a:defRPr>
            </a:lvl4pPr>
            <a:lvl5pPr>
              <a:defRPr sz="1550" baseline="0">
                <a:latin typeface="+mn-lt"/>
              </a:defRPr>
            </a:lvl5pPr>
            <a:lvl6pPr>
              <a:defRPr sz="1888"/>
            </a:lvl6pPr>
            <a:lvl7pPr indent="-28800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marL="925742" marR="0" lvl="6" indent="-128588" algn="l" defTabSz="9144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ct val="0"/>
              </a:spcAft>
              <a:buClr>
                <a:srgbClr val="CF5716"/>
              </a:buClr>
              <a:buSzPct val="70000"/>
              <a:buFont typeface="Wingdings" panose="05000000000000000000" pitchFamily="2" charset="2"/>
              <a:buChar char="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A4A7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lvl="2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9327406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s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7A3B309-5F91-4EC3-B303-AAA2C6672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758720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2">
            <a:extLst>
              <a:ext uri="{FF2B5EF4-FFF2-40B4-BE49-F238E27FC236}">
                <a16:creationId xmlns:a16="http://schemas.microsoft.com/office/drawing/2014/main" xmlns="" id="{82554C09-2158-4702-9B4A-E0C68913C689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57200" y="1066801"/>
            <a:ext cx="4114800" cy="518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aseline="0">
                <a:latin typeface="+mn-lt"/>
              </a:defRPr>
            </a:lvl1pPr>
            <a:lvl2pPr>
              <a:defRPr baseline="0">
                <a:latin typeface="+mn-lt"/>
              </a:defRPr>
            </a:lvl2pPr>
            <a:lvl3pPr>
              <a:defRPr baseline="0">
                <a:latin typeface="+mn-lt"/>
              </a:defRPr>
            </a:lvl3pPr>
            <a:lvl4pPr>
              <a:defRPr baseline="0">
                <a:latin typeface="+mn-lt"/>
              </a:defRPr>
            </a:lvl4pPr>
            <a:lvl5pPr>
              <a:defRPr baseline="0"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xmlns="" id="{6DDB8618-EAD8-4F6C-91B0-8D6B79685A8E}"/>
              </a:ext>
            </a:extLst>
          </p:cNvPr>
          <p:cNvSpPr>
            <a:spLocks noGrp="1"/>
          </p:cNvSpPr>
          <p:nvPr>
            <p:ph idx="10"/>
          </p:nvPr>
        </p:nvSpPr>
        <p:spPr bwMode="auto">
          <a:xfrm>
            <a:off x="4686300" y="1066800"/>
            <a:ext cx="4000500" cy="5181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63866493-C33C-47CF-99CE-6E19EE056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xmlns="" id="{8BBF6941-949E-4A04-9A27-6C5758225CF1}"/>
              </a:ext>
            </a:extLst>
          </p:cNvPr>
          <p:cNvCxnSpPr/>
          <p:nvPr/>
        </p:nvCxnSpPr>
        <p:spPr>
          <a:xfrm>
            <a:off x="4629150" y="1066800"/>
            <a:ext cx="0" cy="518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5251735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Tex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2">
            <a:extLst>
              <a:ext uri="{FF2B5EF4-FFF2-40B4-BE49-F238E27FC236}">
                <a16:creationId xmlns:a16="http://schemas.microsoft.com/office/drawing/2014/main" xmlns="" id="{82554C09-2158-4702-9B4A-E0C68913C689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57201" y="990600"/>
            <a:ext cx="4414346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aseline="0">
                <a:latin typeface="+mn-lt"/>
              </a:defRPr>
            </a:lvl1pPr>
            <a:lvl2pPr>
              <a:defRPr baseline="0">
                <a:latin typeface="+mn-lt"/>
              </a:defRPr>
            </a:lvl2pPr>
            <a:lvl3pPr>
              <a:defRPr baseline="0">
                <a:latin typeface="+mn-lt"/>
              </a:defRPr>
            </a:lvl3pPr>
            <a:lvl4pPr>
              <a:defRPr baseline="0">
                <a:latin typeface="+mn-lt"/>
              </a:defRPr>
            </a:lvl4pPr>
            <a:lvl5pPr>
              <a:defRPr baseline="0"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63866493-C33C-47CF-99CE-6E19EE056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xmlns="" id="{F4E9E31A-5EEF-4165-B7AF-A4322917E67F}"/>
              </a:ext>
            </a:extLst>
          </p:cNvPr>
          <p:cNvCxnSpPr>
            <a:cxnSpLocks/>
          </p:cNvCxnSpPr>
          <p:nvPr/>
        </p:nvCxnSpPr>
        <p:spPr>
          <a:xfrm>
            <a:off x="4914900" y="1066800"/>
            <a:ext cx="0" cy="533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8900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08712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2E0B6702-5847-4051-BE41-FB9C649E0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56" y="1524000"/>
            <a:ext cx="4588085" cy="468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2756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txBody>
          <a:bodyPr lIns="91438" tIns="45719" rIns="91438" bIns="45719" anchor="ctr">
            <a:normAutofit/>
          </a:bodyPr>
          <a:lstStyle>
            <a:lvl1pPr marL="0" indent="0" algn="ctr">
              <a:buNone/>
              <a:defRPr sz="1900" baseline="0">
                <a:latin typeface="Lato Regular" panose="020F0502020204030203"/>
                <a:cs typeface="Lato Regular" panose="020F0502020204030203"/>
              </a:defRPr>
            </a:lvl1pPr>
          </a:lstStyle>
          <a:p>
            <a:endParaRPr 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7179471" y="0"/>
            <a:ext cx="1964531" cy="7037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6256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BACED-B8E9-4509-8BE7-E750025DDBA8}" type="datetimeFigureOut">
              <a:rPr lang="zh-TW" altLang="en-US" smtClean="0">
                <a:solidFill>
                  <a:srgbClr val="2A4A75"/>
                </a:solidFill>
              </a:rPr>
              <a:pPr/>
              <a:t>2024/9/11</a:t>
            </a:fld>
            <a:endParaRPr lang="zh-TW" altLang="en-US">
              <a:solidFill>
                <a:srgbClr val="2A4A75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srgbClr val="2A4A75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D241-4C98-4CC4-A8E0-1604E5745E2D}" type="slidenum">
              <a:rPr lang="zh-TW" altLang="en-US" smtClean="0">
                <a:solidFill>
                  <a:srgbClr val="2A4A75"/>
                </a:solidFill>
              </a:rPr>
              <a:pPr/>
              <a:t>‹#›</a:t>
            </a:fld>
            <a:endParaRPr lang="zh-TW" altLang="en-US">
              <a:solidFill>
                <a:srgbClr val="2A4A7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2848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162567" y="863157"/>
            <a:ext cx="7738967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8366562" y="6188076"/>
            <a:ext cx="534972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/>
          <p:cNvSpPr/>
          <p:nvPr userDrawn="1"/>
        </p:nvSpPr>
        <p:spPr>
          <a:xfrm>
            <a:off x="238975" y="1"/>
            <a:ext cx="786551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204913" y="408951"/>
            <a:ext cx="6482886" cy="41549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1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238974" y="6188076"/>
            <a:ext cx="8133254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8424863" y="6384539"/>
            <a:ext cx="41314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2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2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034181" y="-1612"/>
            <a:ext cx="12531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/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449206" y="6400000"/>
            <a:ext cx="1906960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350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350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350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350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350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350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350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350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350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350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350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78364" y="347339"/>
            <a:ext cx="1476917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024856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8366562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4444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6758354" y="6324600"/>
            <a:ext cx="2309446" cy="5270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AE15C03-4A94-4C2A-89E6-99C0242606DD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>
          <a:xfrm>
            <a:off x="13189" y="6350000"/>
            <a:ext cx="2120411" cy="577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D95A39D-7D0A-411E-B369-DC3135914BD1}" type="datetime1">
              <a:rPr lang="zh-CN" altLang="en-US"/>
              <a:pPr/>
              <a:t>2024/9/11</a:t>
            </a:fld>
            <a:endParaRPr lang="en-US" altLang="zh-CN" sz="923"/>
          </a:p>
        </p:txBody>
      </p:sp>
    </p:spTree>
    <p:extLst>
      <p:ext uri="{BB962C8B-B14F-4D97-AF65-F5344CB8AC3E}">
        <p14:creationId xmlns:p14="http://schemas.microsoft.com/office/powerpoint/2010/main" val="2718006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1"/>
            <a:ext cx="8229600" cy="733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990600"/>
            <a:ext cx="8229600" cy="5410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15193" marR="0" lvl="0" indent="-115193" algn="l" defTabSz="685800" rtl="0" eaLnBrk="1" fontAlgn="base" latinLnBrk="0" hangingPunct="1">
              <a:lnSpc>
                <a:spcPct val="100000"/>
              </a:lnSpc>
              <a:spcBef>
                <a:spcPts val="254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编辑母版文本样式</a:t>
            </a:r>
          </a:p>
          <a:p>
            <a:pPr marL="231056" marR="0" lvl="1" indent="-115193" algn="l" defTabSz="685800" rtl="0" eaLnBrk="1" fontAlgn="base" latinLnBrk="0" hangingPunct="1">
              <a:lnSpc>
                <a:spcPct val="100000"/>
              </a:lnSpc>
              <a:spcBef>
                <a:spcPts val="211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346919" marR="0" lvl="2" indent="-96441" algn="l" defTabSz="685800" rtl="0" eaLnBrk="1" fontAlgn="base" latinLnBrk="0" hangingPunct="1">
              <a:lnSpc>
                <a:spcPct val="100000"/>
              </a:lnSpc>
              <a:spcBef>
                <a:spcPts val="211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C314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</p:txBody>
      </p:sp>
      <p:sp>
        <p:nvSpPr>
          <p:cNvPr id="1032" name="Straight Connector 28"/>
          <p:cNvSpPr>
            <a:spLocks noChangeShapeType="1"/>
          </p:cNvSpPr>
          <p:nvPr userDrawn="1"/>
        </p:nvSpPr>
        <p:spPr bwMode="auto">
          <a:xfrm>
            <a:off x="457200" y="898949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350">
              <a:solidFill>
                <a:srgbClr val="2A4A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xmlns="" id="{5ED38AFC-6FCA-41F0-B286-064BF4E13FFB}"/>
              </a:ext>
            </a:extLst>
          </p:cNvPr>
          <p:cNvSpPr/>
          <p:nvPr/>
        </p:nvSpPr>
        <p:spPr>
          <a:xfrm>
            <a:off x="8229600" y="6548479"/>
            <a:ext cx="328936" cy="25391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A0AC270-0923-4589-A51D-6091E7C5371F}" type="slidenum">
              <a:rPr lang="zh-CN" altLang="en-US" sz="1050" smtClean="0">
                <a:solidFill>
                  <a:srgbClr val="2A4A75"/>
                </a:solidFill>
                <a:latin typeface="华文楷体"/>
                <a:cs typeface="Arial" panose="020B0604020202020204" pitchFamily="34" charset="0"/>
              </a:rPr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1050" dirty="0">
              <a:solidFill>
                <a:srgbClr val="2A4A75"/>
              </a:solidFill>
              <a:latin typeface="华文楷体"/>
              <a:cs typeface="Arial" panose="020B0604020202020204" pitchFamily="34" charset="0"/>
            </a:endParaRPr>
          </a:p>
        </p:txBody>
      </p:sp>
      <p:sp>
        <p:nvSpPr>
          <p:cNvPr id="12" name="Straight Connector 27">
            <a:extLst>
              <a:ext uri="{FF2B5EF4-FFF2-40B4-BE49-F238E27FC236}">
                <a16:creationId xmlns:a16="http://schemas.microsoft.com/office/drawing/2014/main" xmlns="" id="{D59285DE-C1F6-4B21-8CFE-2BDB4A08D1B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0" y="6477000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050">
              <a:solidFill>
                <a:srgbClr val="2A4A75"/>
              </a:solidFill>
              <a:latin typeface="华文楷体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80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7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519">
          <a:solidFill>
            <a:schemeClr val="tx2"/>
          </a:solidFill>
          <a:latin typeface="Calibri" panose="020F050202020403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519">
          <a:solidFill>
            <a:schemeClr val="tx2"/>
          </a:solidFill>
          <a:latin typeface="Calibri" panose="020F050202020403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519">
          <a:solidFill>
            <a:schemeClr val="tx2"/>
          </a:solidFill>
          <a:latin typeface="Calibri" panose="020F050202020403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519">
          <a:solidFill>
            <a:schemeClr val="tx2"/>
          </a:solidFill>
          <a:latin typeface="Calibri" panose="020F0502020204030204" pitchFamily="34" charset="0"/>
        </a:defRPr>
      </a:lvl5pPr>
      <a:lvl6pPr marL="192881" algn="l" rtl="0" eaLnBrk="1" fontAlgn="base" hangingPunct="1">
        <a:spcBef>
          <a:spcPct val="0"/>
        </a:spcBef>
        <a:spcAft>
          <a:spcPct val="0"/>
        </a:spcAft>
        <a:defRPr sz="1350">
          <a:solidFill>
            <a:schemeClr val="tx2"/>
          </a:solidFill>
          <a:latin typeface="Calibri" panose="020F0502020204030204" pitchFamily="34" charset="0"/>
        </a:defRPr>
      </a:lvl6pPr>
      <a:lvl7pPr marL="385763" algn="l" rtl="0" eaLnBrk="1" fontAlgn="base" hangingPunct="1">
        <a:spcBef>
          <a:spcPct val="0"/>
        </a:spcBef>
        <a:spcAft>
          <a:spcPct val="0"/>
        </a:spcAft>
        <a:defRPr sz="1350">
          <a:solidFill>
            <a:schemeClr val="tx2"/>
          </a:solidFill>
          <a:latin typeface="Calibri" panose="020F0502020204030204" pitchFamily="34" charset="0"/>
        </a:defRPr>
      </a:lvl7pPr>
      <a:lvl8pPr marL="578644" algn="l" rtl="0" eaLnBrk="1" fontAlgn="base" hangingPunct="1">
        <a:spcBef>
          <a:spcPct val="0"/>
        </a:spcBef>
        <a:spcAft>
          <a:spcPct val="0"/>
        </a:spcAft>
        <a:defRPr sz="1350">
          <a:solidFill>
            <a:schemeClr val="tx2"/>
          </a:solidFill>
          <a:latin typeface="Calibri" panose="020F0502020204030204" pitchFamily="34" charset="0"/>
        </a:defRPr>
      </a:lvl8pPr>
      <a:lvl9pPr marL="771525" algn="l" rtl="0" eaLnBrk="1" fontAlgn="base" hangingPunct="1">
        <a:spcBef>
          <a:spcPct val="0"/>
        </a:spcBef>
        <a:spcAft>
          <a:spcPct val="0"/>
        </a:spcAft>
        <a:defRPr sz="1350"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marL="115193" marR="0" indent="-216000" algn="l" defTabSz="685800" rtl="0" eaLnBrk="1" fontAlgn="base" latinLnBrk="0" hangingPunct="1">
        <a:lnSpc>
          <a:spcPct val="100000"/>
        </a:lnSpc>
        <a:spcBef>
          <a:spcPts val="254"/>
        </a:spcBef>
        <a:spcAft>
          <a:spcPct val="0"/>
        </a:spcAft>
        <a:buClr>
          <a:srgbClr val="000000"/>
        </a:buClr>
        <a:buSzPct val="76000"/>
        <a:buFont typeface="Wingdings 3" panose="05040102010807070707" pitchFamily="18" charset="2"/>
        <a:buChar char=""/>
        <a:tabLst/>
        <a:defRPr lang="en-US" altLang="zh-CN" sz="2400" kern="1200" baseline="0" dirty="0" smtClean="0">
          <a:solidFill>
            <a:srgbClr val="C00000"/>
          </a:solidFill>
          <a:latin typeface="+mn-lt"/>
          <a:ea typeface="+mn-ea"/>
          <a:cs typeface="Arial" panose="020B0604020202020204" pitchFamily="34" charset="0"/>
        </a:defRPr>
      </a:lvl1pPr>
      <a:lvl2pPr marL="231056" marR="0" indent="-115193" algn="l" defTabSz="685800" rtl="0" eaLnBrk="1" fontAlgn="base" latinLnBrk="0" hangingPunct="1">
        <a:lnSpc>
          <a:spcPct val="100000"/>
        </a:lnSpc>
        <a:spcBef>
          <a:spcPts val="211"/>
        </a:spcBef>
        <a:spcAft>
          <a:spcPct val="0"/>
        </a:spcAft>
        <a:buClr>
          <a:srgbClr val="000000"/>
        </a:buClr>
        <a:buSzPct val="76000"/>
        <a:buFont typeface="Wingdings 3" panose="05040102010807070707" pitchFamily="18" charset="2"/>
        <a:buChar char=""/>
        <a:tabLst/>
        <a:defRPr sz="2100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346919" marR="0" indent="-96441" algn="l" defTabSz="685800" rtl="0" eaLnBrk="1" fontAlgn="base" latinLnBrk="0" hangingPunct="1">
        <a:lnSpc>
          <a:spcPct val="100000"/>
        </a:lnSpc>
        <a:spcBef>
          <a:spcPts val="211"/>
        </a:spcBef>
        <a:spcAft>
          <a:spcPct val="0"/>
        </a:spcAft>
        <a:buClr>
          <a:srgbClr val="000000"/>
        </a:buClr>
        <a:buSzPct val="76000"/>
        <a:buFont typeface="Wingdings 3" panose="05040102010807070707" pitchFamily="18" charset="2"/>
        <a:buChar char=""/>
        <a:tabLst/>
        <a:defRPr sz="18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462782" indent="-96441" algn="l" rtl="0" eaLnBrk="1" fontAlgn="base" hangingPunct="1">
        <a:spcBef>
          <a:spcPts val="169"/>
        </a:spcBef>
        <a:spcAft>
          <a:spcPct val="0"/>
        </a:spcAft>
        <a:buClr>
          <a:srgbClr val="CF5716"/>
        </a:buClr>
        <a:buSzPct val="70000"/>
        <a:buFont typeface="Wingdings" panose="05000000000000000000" pitchFamily="2" charset="2"/>
        <a:buChar char=""/>
        <a:defRPr sz="15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578644" indent="-96441" algn="l" rtl="0" eaLnBrk="1" fontAlgn="base" hangingPunct="1">
        <a:spcBef>
          <a:spcPts val="127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013" kern="1200" baseline="0">
          <a:solidFill>
            <a:schemeClr val="tx1"/>
          </a:solidFill>
          <a:latin typeface="+mn-ea"/>
          <a:ea typeface="+mn-ea"/>
          <a:cs typeface="+mn-cs"/>
        </a:defRPr>
      </a:lvl5pPr>
      <a:lvl6pPr marL="694373" indent="-77153" algn="l" rtl="0" eaLnBrk="1" latinLnBrk="0" hangingPunct="1">
        <a:spcBef>
          <a:spcPts val="127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675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771525" indent="-77153" algn="l" rtl="0" eaLnBrk="1" latinLnBrk="0" hangingPunct="1">
        <a:spcBef>
          <a:spcPts val="127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591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848678" indent="-77153" algn="l" rtl="0" eaLnBrk="1" latinLnBrk="0" hangingPunct="1">
        <a:spcBef>
          <a:spcPts val="127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591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925830" indent="-77153" algn="l" rtl="0" eaLnBrk="1" latinLnBrk="0" hangingPunct="1">
        <a:spcBef>
          <a:spcPts val="127"/>
        </a:spcBef>
        <a:buClr>
          <a:srgbClr val="9FB8CD"/>
        </a:buClr>
        <a:buSzPct val="75000"/>
        <a:buFont typeface="Wingdings 3"/>
        <a:buChar char=""/>
        <a:defRPr kumimoji="0" lang="en-US" sz="506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1"/>
            <a:ext cx="8229600" cy="733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990600"/>
            <a:ext cx="8229600" cy="5410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</p:txBody>
      </p:sp>
      <p:sp>
        <p:nvSpPr>
          <p:cNvPr id="1032" name="Straight Connector 28"/>
          <p:cNvSpPr>
            <a:spLocks noChangeShapeType="1"/>
          </p:cNvSpPr>
          <p:nvPr userDrawn="1"/>
        </p:nvSpPr>
        <p:spPr bwMode="auto">
          <a:xfrm>
            <a:off x="457200" y="898949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350">
              <a:solidFill>
                <a:srgbClr val="2A4A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xmlns="" id="{B4DA9BC6-43CA-408A-BEB7-8746EA49C870}"/>
              </a:ext>
            </a:extLst>
          </p:cNvPr>
          <p:cNvSpPr txBox="1">
            <a:spLocks/>
          </p:cNvSpPr>
          <p:nvPr/>
        </p:nvSpPr>
        <p:spPr>
          <a:xfrm>
            <a:off x="3086100" y="6492880"/>
            <a:ext cx="2971800" cy="365125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2"/>
                </a:solidFill>
                <a:latin typeface="Cambria" panose="020405030504060302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 defTabSz="685800">
              <a:defRPr/>
            </a:pPr>
            <a:r>
              <a:rPr lang="en-US" altLang="zh-CN" sz="1050" dirty="0">
                <a:solidFill>
                  <a:srgbClr val="2A4A75"/>
                </a:solidFill>
                <a:latin typeface="华文楷体"/>
              </a:rPr>
              <a:t>《</a:t>
            </a:r>
            <a:r>
              <a:rPr lang="zh-CN" altLang="en-US" sz="1050" dirty="0">
                <a:solidFill>
                  <a:srgbClr val="2A4A75"/>
                </a:solidFill>
                <a:latin typeface="华文楷体"/>
              </a:rPr>
              <a:t>神经网络与深度学习</a:t>
            </a:r>
            <a:r>
              <a:rPr lang="en-US" altLang="zh-CN" sz="1050" dirty="0">
                <a:solidFill>
                  <a:srgbClr val="2A4A75"/>
                </a:solidFill>
                <a:latin typeface="华文楷体"/>
              </a:rPr>
              <a:t>》</a:t>
            </a:r>
            <a:endParaRPr lang="zh-CN" altLang="zh-CN" sz="1050" dirty="0">
              <a:solidFill>
                <a:srgbClr val="2A4A75"/>
              </a:solidFill>
              <a:latin typeface="华文楷体"/>
            </a:endParaRPr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xmlns="" id="{5ED38AFC-6FCA-41F0-B286-064BF4E13FFB}"/>
              </a:ext>
            </a:extLst>
          </p:cNvPr>
          <p:cNvSpPr/>
          <p:nvPr/>
        </p:nvSpPr>
        <p:spPr>
          <a:xfrm>
            <a:off x="8229600" y="6548479"/>
            <a:ext cx="328936" cy="25391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A0AC270-0923-4589-A51D-6091E7C5371F}" type="slidenum">
              <a:rPr lang="zh-CN" altLang="en-US" sz="1050" smtClean="0">
                <a:solidFill>
                  <a:srgbClr val="2A4A75"/>
                </a:solidFill>
                <a:latin typeface="华文楷体"/>
                <a:cs typeface="Arial" panose="020B0604020202020204" pitchFamily="34" charset="0"/>
              </a:rPr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1050" dirty="0">
              <a:solidFill>
                <a:srgbClr val="2A4A75"/>
              </a:solidFill>
              <a:latin typeface="华文楷体"/>
              <a:cs typeface="Arial" panose="020B0604020202020204" pitchFamily="34" charset="0"/>
            </a:endParaRPr>
          </a:p>
        </p:txBody>
      </p:sp>
      <p:sp>
        <p:nvSpPr>
          <p:cNvPr id="12" name="Straight Connector 27">
            <a:extLst>
              <a:ext uri="{FF2B5EF4-FFF2-40B4-BE49-F238E27FC236}">
                <a16:creationId xmlns:a16="http://schemas.microsoft.com/office/drawing/2014/main" xmlns="" id="{D59285DE-C1F6-4B21-8CFE-2BDB4A08D1B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0" y="6477000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050">
              <a:solidFill>
                <a:srgbClr val="2A4A75"/>
              </a:solidFill>
              <a:latin typeface="华文楷体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92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kern="12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519">
          <a:solidFill>
            <a:schemeClr val="tx2"/>
          </a:solidFill>
          <a:latin typeface="Calibri" panose="020F050202020403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519">
          <a:solidFill>
            <a:schemeClr val="tx2"/>
          </a:solidFill>
          <a:latin typeface="Calibri" panose="020F050202020403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519">
          <a:solidFill>
            <a:schemeClr val="tx2"/>
          </a:solidFill>
          <a:latin typeface="Calibri" panose="020F050202020403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519">
          <a:solidFill>
            <a:schemeClr val="tx2"/>
          </a:solidFill>
          <a:latin typeface="Calibri" panose="020F0502020204030204" pitchFamily="34" charset="0"/>
        </a:defRPr>
      </a:lvl5pPr>
      <a:lvl6pPr marL="192881" algn="l" rtl="0" eaLnBrk="1" fontAlgn="base" hangingPunct="1">
        <a:spcBef>
          <a:spcPct val="0"/>
        </a:spcBef>
        <a:spcAft>
          <a:spcPct val="0"/>
        </a:spcAft>
        <a:defRPr sz="1350">
          <a:solidFill>
            <a:schemeClr val="tx2"/>
          </a:solidFill>
          <a:latin typeface="Calibri" panose="020F0502020204030204" pitchFamily="34" charset="0"/>
        </a:defRPr>
      </a:lvl6pPr>
      <a:lvl7pPr marL="385763" algn="l" rtl="0" eaLnBrk="1" fontAlgn="base" hangingPunct="1">
        <a:spcBef>
          <a:spcPct val="0"/>
        </a:spcBef>
        <a:spcAft>
          <a:spcPct val="0"/>
        </a:spcAft>
        <a:defRPr sz="1350">
          <a:solidFill>
            <a:schemeClr val="tx2"/>
          </a:solidFill>
          <a:latin typeface="Calibri" panose="020F0502020204030204" pitchFamily="34" charset="0"/>
        </a:defRPr>
      </a:lvl7pPr>
      <a:lvl8pPr marL="578644" algn="l" rtl="0" eaLnBrk="1" fontAlgn="base" hangingPunct="1">
        <a:spcBef>
          <a:spcPct val="0"/>
        </a:spcBef>
        <a:spcAft>
          <a:spcPct val="0"/>
        </a:spcAft>
        <a:defRPr sz="1350">
          <a:solidFill>
            <a:schemeClr val="tx2"/>
          </a:solidFill>
          <a:latin typeface="Calibri" panose="020F0502020204030204" pitchFamily="34" charset="0"/>
        </a:defRPr>
      </a:lvl8pPr>
      <a:lvl9pPr marL="771525" algn="l" rtl="0" eaLnBrk="1" fontAlgn="base" hangingPunct="1">
        <a:spcBef>
          <a:spcPct val="0"/>
        </a:spcBef>
        <a:spcAft>
          <a:spcPct val="0"/>
        </a:spcAft>
        <a:defRPr sz="1350"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marL="115193" indent="-115193" algn="l" rtl="0" eaLnBrk="1" fontAlgn="base" hangingPunct="1">
        <a:spcBef>
          <a:spcPts val="254"/>
        </a:spcBef>
        <a:spcAft>
          <a:spcPct val="0"/>
        </a:spcAft>
        <a:buClr>
          <a:srgbClr val="000000"/>
        </a:buClr>
        <a:buSzPct val="76000"/>
        <a:buFont typeface="Wingdings 3" panose="05040102010807070707" pitchFamily="18" charset="2"/>
        <a:buChar char=""/>
        <a:defRPr lang="en-US" altLang="zh-CN" sz="2400" kern="1200" baseline="0" dirty="0" smtClean="0">
          <a:solidFill>
            <a:srgbClr val="C00000"/>
          </a:solidFill>
          <a:latin typeface="+mn-lt"/>
          <a:ea typeface="+mn-ea"/>
          <a:cs typeface="Arial" panose="020B0604020202020204" pitchFamily="34" charset="0"/>
        </a:defRPr>
      </a:lvl1pPr>
      <a:lvl2pPr marL="231056" indent="-115193" algn="l" rtl="0" eaLnBrk="1" fontAlgn="base" hangingPunct="1">
        <a:spcBef>
          <a:spcPts val="211"/>
        </a:spcBef>
        <a:spcAft>
          <a:spcPct val="0"/>
        </a:spcAft>
        <a:buClr>
          <a:srgbClr val="000000"/>
        </a:buClr>
        <a:buSzPct val="76000"/>
        <a:buFont typeface="Wingdings 3" panose="05040102010807070707" pitchFamily="18" charset="2"/>
        <a:buChar char=""/>
        <a:defRPr sz="2100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346919" indent="-96441" algn="l" rtl="0" eaLnBrk="1" fontAlgn="base" hangingPunct="1">
        <a:spcBef>
          <a:spcPts val="211"/>
        </a:spcBef>
        <a:spcAft>
          <a:spcPct val="0"/>
        </a:spcAft>
        <a:buClr>
          <a:srgbClr val="000000"/>
        </a:buClr>
        <a:buSzPct val="76000"/>
        <a:buFont typeface="Wingdings 3" panose="05040102010807070707" pitchFamily="18" charset="2"/>
        <a:buChar char=""/>
        <a:defRPr sz="18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462782" indent="-96441" algn="l" rtl="0" eaLnBrk="1" fontAlgn="base" hangingPunct="1">
        <a:spcBef>
          <a:spcPts val="169"/>
        </a:spcBef>
        <a:spcAft>
          <a:spcPct val="0"/>
        </a:spcAft>
        <a:buClr>
          <a:srgbClr val="CF5716"/>
        </a:buClr>
        <a:buSzPct val="70000"/>
        <a:buFont typeface="Wingdings" panose="05000000000000000000" pitchFamily="2" charset="2"/>
        <a:buChar char=""/>
        <a:defRPr sz="15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578644" indent="-96441" algn="l" rtl="0" eaLnBrk="1" fontAlgn="base" hangingPunct="1">
        <a:spcBef>
          <a:spcPts val="127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013" kern="1200" baseline="0">
          <a:solidFill>
            <a:schemeClr val="tx1"/>
          </a:solidFill>
          <a:latin typeface="+mn-ea"/>
          <a:ea typeface="+mn-ea"/>
          <a:cs typeface="+mn-cs"/>
        </a:defRPr>
      </a:lvl5pPr>
      <a:lvl6pPr marL="694373" indent="-77153" algn="l" rtl="0" eaLnBrk="1" latinLnBrk="0" hangingPunct="1">
        <a:spcBef>
          <a:spcPts val="127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675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771525" indent="-77153" algn="l" rtl="0" eaLnBrk="1" latinLnBrk="0" hangingPunct="1">
        <a:spcBef>
          <a:spcPts val="127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591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848678" indent="-77153" algn="l" rtl="0" eaLnBrk="1" latinLnBrk="0" hangingPunct="1">
        <a:spcBef>
          <a:spcPts val="127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591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925830" indent="-77153" algn="l" rtl="0" eaLnBrk="1" latinLnBrk="0" hangingPunct="1">
        <a:spcBef>
          <a:spcPts val="127"/>
        </a:spcBef>
        <a:buClr>
          <a:srgbClr val="9FB8CD"/>
        </a:buClr>
        <a:buSzPct val="75000"/>
        <a:buFont typeface="Wingdings 3"/>
        <a:buChar char=""/>
        <a:defRPr kumimoji="0" lang="en-US" sz="506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defTabSz="685800">
              <a:defRPr/>
            </a:pPr>
            <a:fld id="{307D9317-7C4B-477D-9FCD-CD548237032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2024/9/11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defTabSz="685800"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defTabSz="685800">
              <a:defRPr/>
            </a:pPr>
            <a:fld id="{EC0B3BC9-7090-482A-AB63-1945A9C9F1E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685800"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81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58" r:id="rId2"/>
    <p:sldLayoutId id="2147483762" r:id="rId3"/>
    <p:sldLayoutId id="2147483765" r:id="rId4"/>
    <p:sldLayoutId id="2147483767" r:id="rId5"/>
    <p:sldLayoutId id="2147483777" r:id="rId6"/>
    <p:sldLayoutId id="2147483778" r:id="rId7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1"/>
            <a:ext cx="8229600" cy="733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990600"/>
            <a:ext cx="8229600" cy="5410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53591" marR="0" lvl="0" indent="-153591" algn="l" defTabSz="914400" rtl="0" eaLnBrk="1" fontAlgn="base" latinLnBrk="0" hangingPunct="1">
              <a:lnSpc>
                <a:spcPct val="100000"/>
              </a:lnSpc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编辑母版文本样式</a:t>
            </a:r>
          </a:p>
          <a:p>
            <a:pPr marL="308075" marR="0" lvl="1" indent="-153591" algn="l" defTabSz="914400" rtl="0" eaLnBrk="1" fontAlgn="base" latinLnBrk="0" hangingPunct="1">
              <a:lnSpc>
                <a:spcPct val="100000"/>
              </a:lnSpc>
              <a:spcBef>
                <a:spcPts val="281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462558" marR="0" lvl="2" indent="-128588" algn="l" defTabSz="914400" rtl="0" eaLnBrk="1" fontAlgn="base" latinLnBrk="0" hangingPunct="1">
              <a:lnSpc>
                <a:spcPct val="100000"/>
              </a:lnSpc>
              <a:spcBef>
                <a:spcPts val="281"/>
              </a:spcBef>
              <a:spcAft>
                <a:spcPct val="0"/>
              </a:spcAft>
              <a:buClr>
                <a:srgbClr val="000000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C314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</p:txBody>
      </p:sp>
      <p:sp>
        <p:nvSpPr>
          <p:cNvPr id="1032" name="Straight Connector 28"/>
          <p:cNvSpPr>
            <a:spLocks noChangeShapeType="1"/>
          </p:cNvSpPr>
          <p:nvPr userDrawn="1"/>
        </p:nvSpPr>
        <p:spPr bwMode="auto">
          <a:xfrm>
            <a:off x="457200" y="898949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2A4A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xmlns="" id="{5ED38AFC-6FCA-41F0-B286-064BF4E13FFB}"/>
              </a:ext>
            </a:extLst>
          </p:cNvPr>
          <p:cNvSpPr/>
          <p:nvPr/>
        </p:nvSpPr>
        <p:spPr>
          <a:xfrm>
            <a:off x="8229600" y="6521554"/>
            <a:ext cx="375424" cy="30777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A0AC270-0923-4589-A51D-6091E7C5371F}" type="slidenum">
              <a:rPr lang="zh-CN" altLang="en-US" sz="1400" smtClean="0">
                <a:solidFill>
                  <a:srgbClr val="2A4A75"/>
                </a:solidFill>
                <a:latin typeface="华文楷体"/>
                <a:cs typeface="Arial" panose="020B0604020202020204" pitchFamily="34" charset="0"/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1400" dirty="0">
              <a:solidFill>
                <a:srgbClr val="2A4A75"/>
              </a:solidFill>
              <a:latin typeface="华文楷体"/>
              <a:cs typeface="Arial" panose="020B0604020202020204" pitchFamily="34" charset="0"/>
            </a:endParaRPr>
          </a:p>
        </p:txBody>
      </p:sp>
      <p:sp>
        <p:nvSpPr>
          <p:cNvPr id="12" name="Straight Connector 27">
            <a:extLst>
              <a:ext uri="{FF2B5EF4-FFF2-40B4-BE49-F238E27FC236}">
                <a16:creationId xmlns:a16="http://schemas.microsoft.com/office/drawing/2014/main" xmlns="" id="{D59285DE-C1F6-4B21-8CFE-2BDB4A08D1B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0" y="6477000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rgbClr val="2A4A75"/>
              </a:solidFill>
              <a:latin typeface="华文楷体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359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90" r:id="rId10"/>
    <p:sldLayoutId id="2147483792" r:id="rId11"/>
    <p:sldLayoutId id="2147483796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25">
          <a:solidFill>
            <a:schemeClr val="tx2"/>
          </a:solidFill>
          <a:latin typeface="Calibri" panose="020F050202020403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25">
          <a:solidFill>
            <a:schemeClr val="tx2"/>
          </a:solidFill>
          <a:latin typeface="Calibri" panose="020F050202020403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25">
          <a:solidFill>
            <a:schemeClr val="tx2"/>
          </a:solidFill>
          <a:latin typeface="Calibri" panose="020F050202020403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25">
          <a:solidFill>
            <a:schemeClr val="tx2"/>
          </a:solidFill>
          <a:latin typeface="Calibri" panose="020F0502020204030204" pitchFamily="34" charset="0"/>
        </a:defRPr>
      </a:lvl5pPr>
      <a:lvl6pPr marL="257175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Calibri" panose="020F0502020204030204" pitchFamily="34" charset="0"/>
        </a:defRPr>
      </a:lvl6pPr>
      <a:lvl7pPr marL="514350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Calibri" panose="020F0502020204030204" pitchFamily="34" charset="0"/>
        </a:defRPr>
      </a:lvl7pPr>
      <a:lvl8pPr marL="771525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Calibri" panose="020F0502020204030204" pitchFamily="34" charset="0"/>
        </a:defRPr>
      </a:lvl8pPr>
      <a:lvl9pPr marL="1028700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marL="153591" marR="0" indent="-288000" algn="l" defTabSz="914400" rtl="0" eaLnBrk="1" fontAlgn="base" latinLnBrk="0" hangingPunct="1">
        <a:lnSpc>
          <a:spcPct val="100000"/>
        </a:lnSpc>
        <a:spcBef>
          <a:spcPts val="338"/>
        </a:spcBef>
        <a:spcAft>
          <a:spcPct val="0"/>
        </a:spcAft>
        <a:buClr>
          <a:srgbClr val="000000"/>
        </a:buClr>
        <a:buSzPct val="76000"/>
        <a:buFont typeface="Wingdings 3" panose="05040102010807070707" pitchFamily="18" charset="2"/>
        <a:buChar char=""/>
        <a:tabLst/>
        <a:defRPr lang="en-US" altLang="zh-CN" sz="3200" kern="1200" baseline="0" dirty="0" smtClean="0">
          <a:solidFill>
            <a:srgbClr val="C00000"/>
          </a:solidFill>
          <a:latin typeface="+mn-lt"/>
          <a:ea typeface="+mn-ea"/>
          <a:cs typeface="Arial" panose="020B0604020202020204" pitchFamily="34" charset="0"/>
        </a:defRPr>
      </a:lvl1pPr>
      <a:lvl2pPr marL="308075" marR="0" indent="-153591" algn="l" defTabSz="914400" rtl="0" eaLnBrk="1" fontAlgn="base" latinLnBrk="0" hangingPunct="1">
        <a:lnSpc>
          <a:spcPct val="100000"/>
        </a:lnSpc>
        <a:spcBef>
          <a:spcPts val="281"/>
        </a:spcBef>
        <a:spcAft>
          <a:spcPct val="0"/>
        </a:spcAft>
        <a:buClr>
          <a:srgbClr val="000000"/>
        </a:buClr>
        <a:buSzPct val="76000"/>
        <a:buFont typeface="Wingdings 3" panose="05040102010807070707" pitchFamily="18" charset="2"/>
        <a:buChar char=""/>
        <a:tabLst/>
        <a:defRPr sz="2800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462558" marR="0" indent="-128588" algn="l" defTabSz="914400" rtl="0" eaLnBrk="1" fontAlgn="base" latinLnBrk="0" hangingPunct="1">
        <a:lnSpc>
          <a:spcPct val="100000"/>
        </a:lnSpc>
        <a:spcBef>
          <a:spcPts val="281"/>
        </a:spcBef>
        <a:spcAft>
          <a:spcPct val="0"/>
        </a:spcAft>
        <a:buClr>
          <a:srgbClr val="000000"/>
        </a:buClr>
        <a:buSzPct val="76000"/>
        <a:buFont typeface="Wingdings 3" panose="05040102010807070707" pitchFamily="18" charset="2"/>
        <a:buChar char=""/>
        <a:tabLst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617042" indent="-128588" algn="l" rtl="0" eaLnBrk="1" fontAlgn="base" hangingPunct="1">
        <a:spcBef>
          <a:spcPts val="225"/>
        </a:spcBef>
        <a:spcAft>
          <a:spcPct val="0"/>
        </a:spcAft>
        <a:buClr>
          <a:srgbClr val="CF5716"/>
        </a:buClr>
        <a:buSzPct val="70000"/>
        <a:buFont typeface="Wingdings" panose="05000000000000000000" pitchFamily="2" charset="2"/>
        <a:buChar char="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771525" indent="-128588" algn="l" rtl="0" eaLnBrk="1" fontAlgn="base" hangingPunct="1">
        <a:spcBef>
          <a:spcPts val="169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350" kern="1200" baseline="0">
          <a:solidFill>
            <a:schemeClr val="tx1"/>
          </a:solidFill>
          <a:latin typeface="+mn-ea"/>
          <a:ea typeface="+mn-ea"/>
          <a:cs typeface="+mn-cs"/>
        </a:defRPr>
      </a:lvl5pPr>
      <a:lvl6pPr marL="925830" indent="-102870" algn="l" rtl="0" eaLnBrk="1" latinLnBrk="0" hangingPunct="1">
        <a:spcBef>
          <a:spcPts val="169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9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028700" indent="-102870" algn="l" rtl="0" eaLnBrk="1" latinLnBrk="0" hangingPunct="1">
        <a:spcBef>
          <a:spcPts val="169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788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1131570" indent="-102870" algn="l" rtl="0" eaLnBrk="1" latinLnBrk="0" hangingPunct="1">
        <a:spcBef>
          <a:spcPts val="169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788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02870" algn="l" rtl="0" eaLnBrk="1" latinLnBrk="0" hangingPunct="1">
        <a:spcBef>
          <a:spcPts val="169"/>
        </a:spcBef>
        <a:buClr>
          <a:srgbClr val="9FB8CD"/>
        </a:buClr>
        <a:buSzPct val="75000"/>
        <a:buFont typeface="Wingdings 3"/>
        <a:buChar char=""/>
        <a:defRPr kumimoji="0" lang="en-US" sz="675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unxin@bit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3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8.jpeg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7.png"/><Relationship Id="rId5" Type="http://schemas.openxmlformats.org/officeDocument/2006/relationships/image" Target="../media/image16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5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1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27.jpeg"/><Relationship Id="rId4" Type="http://schemas.openxmlformats.org/officeDocument/2006/relationships/image" Target="../media/image26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33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42.gif"/><Relationship Id="rId4" Type="http://schemas.openxmlformats.org/officeDocument/2006/relationships/image" Target="../media/image4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46.jpeg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5.jpeg"/><Relationship Id="rId5" Type="http://schemas.openxmlformats.org/officeDocument/2006/relationships/image" Target="../media/image44.jpeg"/><Relationship Id="rId4" Type="http://schemas.openxmlformats.org/officeDocument/2006/relationships/image" Target="../media/image43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51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52.wmf"/><Relationship Id="rId4" Type="http://schemas.openxmlformats.org/officeDocument/2006/relationships/oleObject" Target="../embeddings/oleObject8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55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image" Target="../media/image58.jpeg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59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35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62.wmf"/><Relationship Id="rId9" Type="http://schemas.openxmlformats.org/officeDocument/2006/relationships/image" Target="../media/image6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占位符 27">
            <a:extLst>
              <a:ext uri="{FF2B5EF4-FFF2-40B4-BE49-F238E27FC236}">
                <a16:creationId xmlns:a16="http://schemas.microsoft.com/office/drawing/2014/main" xmlns="" id="{CCDACD4C-1CA6-4E65-8D95-3D708C7F59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1906" y="2314937"/>
            <a:ext cx="5465336" cy="1556182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500" dirty="0"/>
              <a:t>数值分析</a:t>
            </a:r>
            <a:endParaRPr lang="en-US" altLang="zh-CN" sz="4500" dirty="0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xmlns="" id="{F02FAD8C-9DE1-4C82-A97E-3FC46FEADB6D}"/>
              </a:ext>
            </a:extLst>
          </p:cNvPr>
          <p:cNvCxnSpPr/>
          <p:nvPr/>
        </p:nvCxnSpPr>
        <p:spPr>
          <a:xfrm>
            <a:off x="2661906" y="3865401"/>
            <a:ext cx="5465336" cy="0"/>
          </a:xfrm>
          <a:prstGeom prst="line">
            <a:avLst/>
          </a:prstGeom>
          <a:ln w="28575" cmpd="sng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>
            <a:extLst>
              <a:ext uri="{FF2B5EF4-FFF2-40B4-BE49-F238E27FC236}">
                <a16:creationId xmlns:a16="http://schemas.microsoft.com/office/drawing/2014/main" xmlns="" id="{C43610DA-31B7-471D-8C83-E7327E6D8B83}"/>
              </a:ext>
            </a:extLst>
          </p:cNvPr>
          <p:cNvSpPr txBox="1">
            <a:spLocks/>
          </p:cNvSpPr>
          <p:nvPr/>
        </p:nvSpPr>
        <p:spPr>
          <a:xfrm>
            <a:off x="2763462" y="4944329"/>
            <a:ext cx="5262224" cy="505407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0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000" kern="120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altLang="zh-CN" sz="1800" b="1" dirty="0">
                <a:solidFill>
                  <a:srgbClr val="000000"/>
                </a:solidFill>
                <a:hlinkClick r:id="rId3"/>
              </a:rPr>
              <a:t>sunxin@bit.edu.cn</a:t>
            </a:r>
            <a:endParaRPr altLang="zh-CN" sz="1800" b="1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800" b="1" dirty="0">
                <a:solidFill>
                  <a:srgbClr val="000000"/>
                </a:solidFill>
              </a:rPr>
              <a:t>语言智能与社会计算研究所</a:t>
            </a:r>
            <a:endParaRPr lang="en-US" altLang="zh-CN" sz="1800" b="1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800" b="1" dirty="0">
                <a:solidFill>
                  <a:srgbClr val="000000"/>
                </a:solidFill>
              </a:rPr>
              <a:t>北京理工大学计算机学院</a:t>
            </a:r>
            <a:endParaRPr altLang="zh-CN" sz="1800" b="1" dirty="0">
              <a:solidFill>
                <a:srgbClr val="0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05411" y="3989990"/>
            <a:ext cx="1525023" cy="1305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lnSpc>
                <a:spcPct val="150000"/>
              </a:lnSpc>
            </a:pPr>
            <a:r>
              <a:rPr lang="zh-CN" altLang="en-US" sz="2800" b="1" dirty="0">
                <a:solidFill>
                  <a:srgbClr val="000000"/>
                </a:solidFill>
              </a:rPr>
              <a:t>孙 新</a:t>
            </a:r>
            <a:endParaRPr lang="en-US" altLang="zh-CN" sz="2800" b="1" dirty="0">
              <a:solidFill>
                <a:srgbClr val="000000"/>
              </a:solidFill>
            </a:endParaRPr>
          </a:p>
          <a:p>
            <a:pPr algn="ctr" defTabSz="685800">
              <a:lnSpc>
                <a:spcPct val="150000"/>
              </a:lnSpc>
            </a:pPr>
            <a:endParaRPr lang="en-US" altLang="zh-CN" sz="28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32790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414336" y="6495794"/>
            <a:ext cx="2120411" cy="533400"/>
          </a:xfrm>
          <a:prstGeom prst="rect">
            <a:avLst/>
          </a:prstGeom>
        </p:spPr>
        <p:txBody>
          <a:bodyPr/>
          <a:lstStyle/>
          <a:p>
            <a:fld id="{EA4A30F9-F70D-4062-9197-0FB807342593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577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课程介绍</a:t>
            </a:r>
          </a:p>
        </p:txBody>
      </p:sp>
      <p:sp>
        <p:nvSpPr>
          <p:cNvPr id="577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42989"/>
            <a:ext cx="8574491" cy="497177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zh-CN" sz="2585" dirty="0"/>
              <a:t>数值分析</a:t>
            </a:r>
            <a:r>
              <a:rPr lang="zh-CN" altLang="en-US" sz="2585" dirty="0"/>
              <a:t>、</a:t>
            </a:r>
            <a:r>
              <a:rPr lang="zh-CN" altLang="zh-CN" sz="2585" dirty="0"/>
              <a:t>计算方法</a:t>
            </a:r>
            <a:r>
              <a:rPr lang="zh-CN" altLang="en-US" sz="2585" dirty="0"/>
              <a:t>、</a:t>
            </a:r>
            <a:r>
              <a:rPr lang="zh-CN" altLang="zh-CN" sz="2585" dirty="0"/>
              <a:t>计算数学</a:t>
            </a:r>
          </a:p>
          <a:p>
            <a:pPr>
              <a:lnSpc>
                <a:spcPct val="120000"/>
              </a:lnSpc>
            </a:pPr>
            <a:r>
              <a:rPr lang="en-US" altLang="zh-CN" sz="2585" dirty="0"/>
              <a:t>《</a:t>
            </a:r>
            <a:r>
              <a:rPr lang="zh-CN" altLang="en-US" sz="2585" dirty="0"/>
              <a:t>数值分析</a:t>
            </a:r>
            <a:r>
              <a:rPr lang="en-US" altLang="zh-CN" sz="2585" dirty="0"/>
              <a:t>》</a:t>
            </a:r>
            <a:r>
              <a:rPr lang="zh-CN" altLang="en-US" sz="2585" dirty="0"/>
              <a:t>是数学的一个分支，是把理论与计算紧密结合、着重研究数学问题的数值方法及其理论</a:t>
            </a:r>
          </a:p>
          <a:p>
            <a:pPr lvl="1"/>
            <a:r>
              <a:rPr lang="zh-CN" altLang="en-US" sz="2585" dirty="0"/>
              <a:t>核心：数值算法的</a:t>
            </a:r>
            <a:r>
              <a:rPr lang="zh-CN" altLang="en-US" sz="2585" dirty="0">
                <a:solidFill>
                  <a:srgbClr val="C00000"/>
                </a:solidFill>
              </a:rPr>
              <a:t>设计</a:t>
            </a:r>
            <a:r>
              <a:rPr lang="zh-CN" altLang="en-US" sz="2585" dirty="0"/>
              <a:t>与</a:t>
            </a:r>
            <a:r>
              <a:rPr lang="zh-CN" altLang="en-US" sz="2585" dirty="0">
                <a:solidFill>
                  <a:srgbClr val="C00000"/>
                </a:solidFill>
              </a:rPr>
              <a:t>分析</a:t>
            </a:r>
            <a:endParaRPr lang="en-US" altLang="zh-CN" sz="2585" dirty="0"/>
          </a:p>
          <a:p>
            <a:pPr>
              <a:lnSpc>
                <a:spcPct val="80000"/>
              </a:lnSpc>
            </a:pPr>
            <a:endParaRPr lang="zh-CN" altLang="en-US" sz="2585" dirty="0"/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457200" y="4025900"/>
            <a:ext cx="79216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l" eaLnBrk="1" hangingPunct="1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“数值分析”、“数值计算”是研究求解连续数学问题的算法的学科（而不仅仅局限于计算误差的研究）</a:t>
            </a:r>
          </a:p>
        </p:txBody>
      </p:sp>
      <p:sp>
        <p:nvSpPr>
          <p:cNvPr id="7" name="Oval 13"/>
          <p:cNvSpPr>
            <a:spLocks noChangeArrowheads="1"/>
          </p:cNvSpPr>
          <p:nvPr/>
        </p:nvSpPr>
        <p:spPr bwMode="auto">
          <a:xfrm>
            <a:off x="6108700" y="4010025"/>
            <a:ext cx="1830388" cy="496887"/>
          </a:xfrm>
          <a:prstGeom prst="ellipse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7559674" y="4522787"/>
            <a:ext cx="15196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l" eaLnBrk="1" hangingPunct="1"/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</a:p>
        </p:txBody>
      </p:sp>
      <p:sp>
        <p:nvSpPr>
          <p:cNvPr id="9" name="Oval 15"/>
          <p:cNvSpPr>
            <a:spLocks noChangeArrowheads="1"/>
          </p:cNvSpPr>
          <p:nvPr/>
        </p:nvSpPr>
        <p:spPr bwMode="auto">
          <a:xfrm>
            <a:off x="504825" y="4378325"/>
            <a:ext cx="712788" cy="503237"/>
          </a:xfrm>
          <a:prstGeom prst="ellipse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16"/>
          <p:cNvSpPr txBox="1">
            <a:spLocks noChangeArrowheads="1"/>
          </p:cNvSpPr>
          <p:nvPr/>
        </p:nvSpPr>
        <p:spPr bwMode="auto">
          <a:xfrm>
            <a:off x="868363" y="4951412"/>
            <a:ext cx="9890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 flipH="1" flipV="1">
            <a:off x="1011238" y="4849812"/>
            <a:ext cx="142875" cy="14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8662511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 animBg="1"/>
      <p:bldP spid="10" grpId="0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341435" y="6464266"/>
            <a:ext cx="2120411" cy="533400"/>
          </a:xfrm>
          <a:prstGeom prst="rect">
            <a:avLst/>
          </a:prstGeom>
        </p:spPr>
        <p:txBody>
          <a:bodyPr/>
          <a:lstStyle/>
          <a:p>
            <a:fld id="{EA4A30F9-F70D-4062-9197-0FB807342593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161192" y="1247043"/>
            <a:ext cx="8598350" cy="773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endParaRPr lang="zh-CN" altLang="en-US" sz="3323" b="1" dirty="0"/>
          </a:p>
        </p:txBody>
      </p:sp>
      <p:sp>
        <p:nvSpPr>
          <p:cNvPr id="17" name="Oval 5"/>
          <p:cNvSpPr>
            <a:spLocks noChangeArrowheads="1"/>
          </p:cNvSpPr>
          <p:nvPr/>
        </p:nvSpPr>
        <p:spPr bwMode="auto">
          <a:xfrm>
            <a:off x="3953607" y="2016737"/>
            <a:ext cx="1373066" cy="1329104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FFFF">
                  <a:gamma/>
                  <a:shade val="84706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r>
              <a:rPr lang="zh-CN" altLang="en-US" sz="2954" b="1"/>
              <a:t>数学</a:t>
            </a:r>
          </a:p>
          <a:p>
            <a:pPr algn="ctr"/>
            <a:r>
              <a:rPr lang="zh-CN" altLang="en-US" sz="2954" b="1"/>
              <a:t>建模</a:t>
            </a:r>
            <a:endParaRPr lang="zh-CN" altLang="en-US" sz="1662">
              <a:ea typeface="宋体" pitchFamily="2" charset="-122"/>
            </a:endParaRPr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auto">
          <a:xfrm>
            <a:off x="2687515" y="2579444"/>
            <a:ext cx="1186962" cy="234462"/>
          </a:xfrm>
          <a:prstGeom prst="rightArrow">
            <a:avLst>
              <a:gd name="adj1" fmla="val 50000"/>
              <a:gd name="adj2" fmla="val 126563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endParaRPr lang="zh-CN" altLang="en-US" sz="1662"/>
          </a:p>
        </p:txBody>
      </p:sp>
      <p:sp>
        <p:nvSpPr>
          <p:cNvPr id="19" name="AutoShape 7"/>
          <p:cNvSpPr>
            <a:spLocks noChangeArrowheads="1"/>
          </p:cNvSpPr>
          <p:nvPr/>
        </p:nvSpPr>
        <p:spPr bwMode="auto">
          <a:xfrm rot="5400000">
            <a:off x="7085135" y="3668225"/>
            <a:ext cx="731227" cy="241789"/>
          </a:xfrm>
          <a:prstGeom prst="rightArrow">
            <a:avLst>
              <a:gd name="adj1" fmla="val 50000"/>
              <a:gd name="adj2" fmla="val 75606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62"/>
          </a:p>
        </p:txBody>
      </p:sp>
      <p:sp>
        <p:nvSpPr>
          <p:cNvPr id="20" name="Oval 8"/>
          <p:cNvSpPr>
            <a:spLocks noChangeArrowheads="1"/>
          </p:cNvSpPr>
          <p:nvPr/>
        </p:nvSpPr>
        <p:spPr bwMode="auto">
          <a:xfrm>
            <a:off x="6696807" y="2016736"/>
            <a:ext cx="1477108" cy="1336431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FFFF">
                  <a:gamma/>
                  <a:shade val="72549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80000"/>
              </a:lnSpc>
            </a:pPr>
            <a:r>
              <a:rPr lang="zh-CN" altLang="en-US" sz="2585" b="1">
                <a:sym typeface="Symbol" pitchFamily="18" charset="2"/>
              </a:rPr>
              <a:t> </a:t>
            </a:r>
            <a:r>
              <a:rPr lang="zh-CN" altLang="en-US" sz="2954" b="1">
                <a:sym typeface="Symbol" pitchFamily="18" charset="2"/>
              </a:rPr>
              <a:t>构造</a:t>
            </a:r>
          </a:p>
          <a:p>
            <a:pPr>
              <a:lnSpc>
                <a:spcPct val="80000"/>
              </a:lnSpc>
            </a:pPr>
            <a:r>
              <a:rPr lang="zh-CN" altLang="en-US" sz="2954" b="1">
                <a:sym typeface="Symbol" pitchFamily="18" charset="2"/>
              </a:rPr>
              <a:t> 算法</a:t>
            </a:r>
            <a:endParaRPr lang="zh-CN" altLang="en-US" sz="2954" b="1"/>
          </a:p>
        </p:txBody>
      </p:sp>
      <p:sp>
        <p:nvSpPr>
          <p:cNvPr id="21" name="Oval 9"/>
          <p:cNvSpPr>
            <a:spLocks noChangeArrowheads="1"/>
          </p:cNvSpPr>
          <p:nvPr/>
        </p:nvSpPr>
        <p:spPr bwMode="auto">
          <a:xfrm flipH="1">
            <a:off x="6696808" y="4197229"/>
            <a:ext cx="1522535" cy="1406769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FFFFFF">
                  <a:gamma/>
                  <a:shade val="84706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r>
              <a:rPr lang="zh-CN" altLang="en-US" sz="2954" b="1"/>
              <a:t>程序</a:t>
            </a:r>
          </a:p>
          <a:p>
            <a:pPr algn="ctr"/>
            <a:r>
              <a:rPr lang="zh-CN" altLang="en-US" sz="2954" b="1"/>
              <a:t>设计</a:t>
            </a:r>
            <a:endParaRPr lang="zh-CN" altLang="en-US" sz="1662">
              <a:ea typeface="宋体" pitchFamily="2" charset="-122"/>
            </a:endParaRPr>
          </a:p>
        </p:txBody>
      </p:sp>
      <p:sp>
        <p:nvSpPr>
          <p:cNvPr id="22" name="AutoShape 10"/>
          <p:cNvSpPr>
            <a:spLocks noChangeArrowheads="1"/>
          </p:cNvSpPr>
          <p:nvPr/>
        </p:nvSpPr>
        <p:spPr bwMode="auto">
          <a:xfrm>
            <a:off x="726629" y="4283042"/>
            <a:ext cx="4642338" cy="1055077"/>
          </a:xfrm>
          <a:prstGeom prst="bevel">
            <a:avLst>
              <a:gd name="adj" fmla="val 12500"/>
            </a:avLst>
          </a:prstGeom>
          <a:gradFill rotWithShape="0">
            <a:gsLst>
              <a:gs pos="0">
                <a:srgbClr val="FFFFFF">
                  <a:gamma/>
                  <a:shade val="75686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75686"/>
                  <a:invGamma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r>
              <a:rPr lang="zh-CN" altLang="en-US" sz="2954" b="1" dirty="0"/>
              <a:t>上机计算求出结果 </a:t>
            </a:r>
          </a:p>
        </p:txBody>
      </p:sp>
      <p:sp>
        <p:nvSpPr>
          <p:cNvPr id="23" name="AutoShape 11"/>
          <p:cNvSpPr>
            <a:spLocks noChangeArrowheads="1"/>
          </p:cNvSpPr>
          <p:nvPr/>
        </p:nvSpPr>
        <p:spPr bwMode="auto">
          <a:xfrm>
            <a:off x="5501054" y="4759937"/>
            <a:ext cx="937846" cy="225669"/>
          </a:xfrm>
          <a:prstGeom prst="leftArrow">
            <a:avLst>
              <a:gd name="adj1" fmla="val 50000"/>
              <a:gd name="adj2" fmla="val 103896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endParaRPr lang="zh-CN" altLang="en-US" sz="1662"/>
          </a:p>
        </p:txBody>
      </p:sp>
      <p:sp>
        <p:nvSpPr>
          <p:cNvPr id="24" name="AutoShape 12"/>
          <p:cNvSpPr>
            <a:spLocks noChangeArrowheads="1"/>
          </p:cNvSpPr>
          <p:nvPr/>
        </p:nvSpPr>
        <p:spPr bwMode="auto">
          <a:xfrm>
            <a:off x="718038" y="2157413"/>
            <a:ext cx="1828800" cy="1055077"/>
          </a:xfrm>
          <a:prstGeom prst="bevel">
            <a:avLst>
              <a:gd name="adj" fmla="val 12500"/>
            </a:avLst>
          </a:prstGeom>
          <a:gradFill rotWithShape="0">
            <a:gsLst>
              <a:gs pos="0">
                <a:srgbClr val="FFFFFF">
                  <a:gamma/>
                  <a:shade val="75686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75686"/>
                  <a:invGamma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r>
              <a:rPr lang="zh-CN" altLang="en-US" sz="2954" b="1"/>
              <a:t>实际问题</a:t>
            </a:r>
          </a:p>
        </p:txBody>
      </p:sp>
      <p:sp>
        <p:nvSpPr>
          <p:cNvPr id="25" name="AutoShape 13"/>
          <p:cNvSpPr>
            <a:spLocks noChangeArrowheads="1"/>
          </p:cNvSpPr>
          <p:nvPr/>
        </p:nvSpPr>
        <p:spPr bwMode="auto">
          <a:xfrm>
            <a:off x="5430715" y="2579444"/>
            <a:ext cx="1186962" cy="234462"/>
          </a:xfrm>
          <a:prstGeom prst="rightArrow">
            <a:avLst>
              <a:gd name="adj1" fmla="val 50000"/>
              <a:gd name="adj2" fmla="val 126563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endParaRPr lang="zh-CN" altLang="en-US" sz="1662"/>
          </a:p>
        </p:txBody>
      </p:sp>
      <p:grpSp>
        <p:nvGrpSpPr>
          <p:cNvPr id="26" name="Group 14"/>
          <p:cNvGrpSpPr>
            <a:grpSpLocks/>
          </p:cNvGrpSpPr>
          <p:nvPr/>
        </p:nvGrpSpPr>
        <p:grpSpPr bwMode="auto">
          <a:xfrm>
            <a:off x="723900" y="4264637"/>
            <a:ext cx="2907323" cy="1055077"/>
            <a:chOff x="0" y="0"/>
            <a:chExt cx="1984" cy="672"/>
          </a:xfrm>
        </p:grpSpPr>
        <p:sp>
          <p:nvSpPr>
            <p:cNvPr id="27" name="AutoShape 15"/>
            <p:cNvSpPr>
              <a:spLocks noChangeArrowheads="1"/>
            </p:cNvSpPr>
            <p:nvPr/>
          </p:nvSpPr>
          <p:spPr bwMode="auto">
            <a:xfrm>
              <a:off x="0" y="0"/>
              <a:ext cx="1248" cy="672"/>
            </a:xfrm>
            <a:prstGeom prst="bevel">
              <a:avLst>
                <a:gd name="adj" fmla="val 12500"/>
              </a:avLst>
            </a:prstGeom>
            <a:gradFill rotWithShape="0">
              <a:gsLst>
                <a:gs pos="0">
                  <a:srgbClr val="FFFFFF">
                    <a:gamma/>
                    <a:shade val="75686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75686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/>
              <a:r>
                <a:rPr lang="zh-CN" altLang="en-US" sz="2954" b="1"/>
                <a:t>近似解</a:t>
              </a:r>
            </a:p>
          </p:txBody>
        </p:sp>
        <p:sp>
          <p:nvSpPr>
            <p:cNvPr id="28" name="AutoShape 16"/>
            <p:cNvSpPr>
              <a:spLocks noChangeArrowheads="1"/>
            </p:cNvSpPr>
            <p:nvPr/>
          </p:nvSpPr>
          <p:spPr bwMode="auto">
            <a:xfrm>
              <a:off x="1344" y="288"/>
              <a:ext cx="640" cy="144"/>
            </a:xfrm>
            <a:prstGeom prst="leftArrow">
              <a:avLst>
                <a:gd name="adj1" fmla="val 50000"/>
                <a:gd name="adj2" fmla="val 111111"/>
              </a:avLst>
            </a:prstGeom>
            <a:solidFill>
              <a:schemeClr val="hlink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endParaRPr lang="zh-CN" altLang="en-US" sz="1662"/>
            </a:p>
          </p:txBody>
        </p:sp>
      </p:grpSp>
      <p:sp>
        <p:nvSpPr>
          <p:cNvPr id="30" name="Text Box 18"/>
          <p:cNvSpPr txBox="1">
            <a:spLocks noChangeArrowheads="1"/>
          </p:cNvSpPr>
          <p:nvPr/>
        </p:nvSpPr>
        <p:spPr bwMode="auto">
          <a:xfrm>
            <a:off x="457200" y="1738314"/>
            <a:ext cx="4983774" cy="149919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62"/>
              <a:t>     </a:t>
            </a:r>
          </a:p>
          <a:p>
            <a:pPr>
              <a:spcBef>
                <a:spcPct val="50000"/>
              </a:spcBef>
            </a:pPr>
            <a:endParaRPr lang="zh-CN" altLang="en-US" sz="1662"/>
          </a:p>
          <a:p>
            <a:pPr>
              <a:spcBef>
                <a:spcPct val="50000"/>
              </a:spcBef>
            </a:pPr>
            <a:endParaRPr lang="zh-CN" altLang="en-US" sz="1662"/>
          </a:p>
          <a:p>
            <a:pPr>
              <a:spcBef>
                <a:spcPct val="50000"/>
              </a:spcBef>
            </a:pPr>
            <a:endParaRPr lang="zh-CN" altLang="en-US" sz="1662"/>
          </a:p>
        </p:txBody>
      </p:sp>
      <p:grpSp>
        <p:nvGrpSpPr>
          <p:cNvPr id="31" name="Group 19"/>
          <p:cNvGrpSpPr>
            <a:grpSpLocks/>
          </p:cNvGrpSpPr>
          <p:nvPr/>
        </p:nvGrpSpPr>
        <p:grpSpPr bwMode="auto">
          <a:xfrm>
            <a:off x="988405" y="1738313"/>
            <a:ext cx="4009292" cy="1828800"/>
            <a:chOff x="0" y="0"/>
            <a:chExt cx="2688" cy="1200"/>
          </a:xfrm>
        </p:grpSpPr>
        <p:sp>
          <p:nvSpPr>
            <p:cNvPr id="32" name="AutoShape 20"/>
            <p:cNvSpPr>
              <a:spLocks noChangeArrowheads="1"/>
            </p:cNvSpPr>
            <p:nvPr/>
          </p:nvSpPr>
          <p:spPr bwMode="auto">
            <a:xfrm>
              <a:off x="0" y="0"/>
              <a:ext cx="2688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FFFFFF">
                    <a:gamma/>
                    <a:shade val="84706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84706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endParaRPr lang="zh-CN" altLang="en-US" sz="1662"/>
            </a:p>
          </p:txBody>
        </p:sp>
        <p:sp>
          <p:nvSpPr>
            <p:cNvPr id="33" name="Rectangle 21"/>
            <p:cNvSpPr>
              <a:spLocks noChangeArrowheads="1"/>
            </p:cNvSpPr>
            <p:nvPr/>
          </p:nvSpPr>
          <p:spPr bwMode="auto">
            <a:xfrm>
              <a:off x="269" y="96"/>
              <a:ext cx="208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492" b="1" dirty="0">
                  <a:latin typeface="楷体_GB2312" pitchFamily="49" charset="-122"/>
                </a:rPr>
                <a:t>输入复杂问题或运算</a:t>
              </a:r>
              <a:endParaRPr lang="zh-CN" altLang="en-US" sz="1662" dirty="0"/>
            </a:p>
          </p:txBody>
        </p:sp>
        <p:graphicFrame>
          <p:nvGraphicFramePr>
            <p:cNvPr id="34" name="Object 22"/>
            <p:cNvGraphicFramePr>
              <a:graphicFrameLocks noChangeAspect="1"/>
            </p:cNvGraphicFramePr>
            <p:nvPr/>
          </p:nvGraphicFramePr>
          <p:xfrm>
            <a:off x="269" y="384"/>
            <a:ext cx="2096" cy="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2" r:id="rId5" imgW="1727517" imgH="736917" progId="Equation.3">
                    <p:embed/>
                  </p:oleObj>
                </mc:Choice>
                <mc:Fallback>
                  <p:oleObj r:id="rId5" imgW="1727517" imgH="73691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" y="384"/>
                          <a:ext cx="2096" cy="7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Group 23"/>
          <p:cNvGrpSpPr>
            <a:grpSpLocks/>
          </p:cNvGrpSpPr>
          <p:nvPr/>
        </p:nvGrpSpPr>
        <p:grpSpPr bwMode="auto">
          <a:xfrm>
            <a:off x="5410570" y="2020766"/>
            <a:ext cx="2704570" cy="1329104"/>
            <a:chOff x="0" y="40"/>
            <a:chExt cx="1787" cy="907"/>
          </a:xfrm>
        </p:grpSpPr>
        <p:sp>
          <p:nvSpPr>
            <p:cNvPr id="36" name="Oval 24"/>
            <p:cNvSpPr>
              <a:spLocks noChangeArrowheads="1"/>
            </p:cNvSpPr>
            <p:nvPr/>
          </p:nvSpPr>
          <p:spPr bwMode="auto">
            <a:xfrm>
              <a:off x="880" y="40"/>
              <a:ext cx="907" cy="907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FFF">
                    <a:gamma/>
                    <a:shade val="84706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/>
              <a:r>
                <a:rPr lang="zh-CN" altLang="en-US" sz="2954" b="1" dirty="0"/>
                <a:t>数值</a:t>
              </a:r>
            </a:p>
            <a:p>
              <a:pPr algn="ctr"/>
              <a:r>
                <a:rPr lang="zh-CN" altLang="en-US" sz="2954" b="1" dirty="0"/>
                <a:t>分析</a:t>
              </a:r>
              <a:endParaRPr lang="zh-CN" altLang="en-US" sz="1662" dirty="0">
                <a:ea typeface="宋体" pitchFamily="2" charset="-122"/>
              </a:endParaRPr>
            </a:p>
          </p:txBody>
        </p:sp>
        <p:sp>
          <p:nvSpPr>
            <p:cNvPr id="37" name="AutoShape 25"/>
            <p:cNvSpPr>
              <a:spLocks noChangeArrowheads="1"/>
            </p:cNvSpPr>
            <p:nvPr/>
          </p:nvSpPr>
          <p:spPr bwMode="auto">
            <a:xfrm>
              <a:off x="0" y="424"/>
              <a:ext cx="784" cy="160"/>
            </a:xfrm>
            <a:prstGeom prst="rightArrow">
              <a:avLst>
                <a:gd name="adj1" fmla="val 50000"/>
                <a:gd name="adj2" fmla="val 122500"/>
              </a:avLst>
            </a:prstGeom>
            <a:solidFill>
              <a:schemeClr val="hlink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endParaRPr lang="zh-CN" altLang="en-US" sz="1662"/>
            </a:p>
          </p:txBody>
        </p:sp>
      </p:grpSp>
      <p:sp>
        <p:nvSpPr>
          <p:cNvPr id="38" name="Text Box 26"/>
          <p:cNvSpPr txBox="1">
            <a:spLocks noChangeArrowheads="1"/>
          </p:cNvSpPr>
          <p:nvPr/>
        </p:nvSpPr>
        <p:spPr bwMode="auto">
          <a:xfrm>
            <a:off x="6705600" y="3400060"/>
            <a:ext cx="1595804" cy="18828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1662"/>
          </a:p>
          <a:p>
            <a:pPr>
              <a:spcBef>
                <a:spcPct val="50000"/>
              </a:spcBef>
            </a:pPr>
            <a:endParaRPr lang="zh-CN" altLang="en-US" sz="1662"/>
          </a:p>
          <a:p>
            <a:pPr>
              <a:spcBef>
                <a:spcPct val="50000"/>
              </a:spcBef>
            </a:pPr>
            <a:endParaRPr lang="zh-CN" altLang="en-US" sz="1662"/>
          </a:p>
          <a:p>
            <a:pPr>
              <a:spcBef>
                <a:spcPct val="50000"/>
              </a:spcBef>
            </a:pPr>
            <a:endParaRPr lang="zh-CN" altLang="en-US" sz="1662"/>
          </a:p>
          <a:p>
            <a:pPr>
              <a:spcBef>
                <a:spcPct val="50000"/>
              </a:spcBef>
            </a:pPr>
            <a:endParaRPr lang="zh-CN" altLang="en-US" sz="1662"/>
          </a:p>
        </p:txBody>
      </p:sp>
      <p:grpSp>
        <p:nvGrpSpPr>
          <p:cNvPr id="39" name="Group 27"/>
          <p:cNvGrpSpPr>
            <a:grpSpLocks/>
          </p:cNvGrpSpPr>
          <p:nvPr/>
        </p:nvGrpSpPr>
        <p:grpSpPr bwMode="auto">
          <a:xfrm>
            <a:off x="6716695" y="3493844"/>
            <a:ext cx="1502228" cy="2110740"/>
            <a:chOff x="-73" y="0"/>
            <a:chExt cx="897" cy="1385"/>
          </a:xfrm>
        </p:grpSpPr>
        <p:sp>
          <p:nvSpPr>
            <p:cNvPr id="40" name="AutoShape 28"/>
            <p:cNvSpPr>
              <a:spLocks noChangeArrowheads="1"/>
            </p:cNvSpPr>
            <p:nvPr/>
          </p:nvSpPr>
          <p:spPr bwMode="auto">
            <a:xfrm rot="5400000">
              <a:off x="120" y="168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chemeClr val="hlink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62"/>
            </a:p>
          </p:txBody>
        </p:sp>
        <p:sp>
          <p:nvSpPr>
            <p:cNvPr id="41" name="Oval 29"/>
            <p:cNvSpPr>
              <a:spLocks noChangeArrowheads="1"/>
            </p:cNvSpPr>
            <p:nvPr/>
          </p:nvSpPr>
          <p:spPr bwMode="auto">
            <a:xfrm>
              <a:off x="-73" y="528"/>
              <a:ext cx="897" cy="857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FFF">
                    <a:gamma/>
                    <a:shade val="72549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lnSpc>
                  <a:spcPct val="80000"/>
                </a:lnSpc>
              </a:pPr>
              <a:r>
                <a:rPr lang="zh-CN" altLang="en-US" sz="2585" b="1" dirty="0">
                  <a:sym typeface="Symbol" pitchFamily="18" charset="2"/>
                </a:rPr>
                <a:t>  </a:t>
              </a:r>
            </a:p>
            <a:p>
              <a:pPr>
                <a:lnSpc>
                  <a:spcPct val="80000"/>
                </a:lnSpc>
              </a:pPr>
              <a:r>
                <a:rPr lang="zh-CN" altLang="en-US" sz="2585" b="1" dirty="0">
                  <a:sym typeface="Symbol" pitchFamily="18" charset="2"/>
                </a:rPr>
                <a:t>  </a:t>
              </a:r>
              <a:endParaRPr lang="zh-CN" altLang="en-US" sz="2585" b="1" dirty="0"/>
            </a:p>
          </p:txBody>
        </p:sp>
      </p:grpSp>
      <p:grpSp>
        <p:nvGrpSpPr>
          <p:cNvPr id="42" name="Group 30"/>
          <p:cNvGrpSpPr>
            <a:grpSpLocks/>
          </p:cNvGrpSpPr>
          <p:nvPr/>
        </p:nvGrpSpPr>
        <p:grpSpPr bwMode="auto">
          <a:xfrm>
            <a:off x="3812931" y="4169755"/>
            <a:ext cx="2743200" cy="1406769"/>
            <a:chOff x="0" y="0"/>
            <a:chExt cx="1872" cy="960"/>
          </a:xfrm>
        </p:grpSpPr>
        <p:sp>
          <p:nvSpPr>
            <p:cNvPr id="43" name="Oval 31"/>
            <p:cNvSpPr>
              <a:spLocks noChangeArrowheads="1"/>
            </p:cNvSpPr>
            <p:nvPr/>
          </p:nvSpPr>
          <p:spPr bwMode="auto">
            <a:xfrm flipH="1">
              <a:off x="0" y="0"/>
              <a:ext cx="1039" cy="96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FFF">
                    <a:gamma/>
                    <a:shade val="84706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/>
              <a:r>
                <a:rPr lang="zh-CN" altLang="en-US" sz="2954" b="1"/>
                <a:t>计算机</a:t>
              </a:r>
              <a:endParaRPr lang="zh-CN" altLang="en-US" sz="1662">
                <a:ea typeface="宋体" pitchFamily="2" charset="-122"/>
              </a:endParaRPr>
            </a:p>
          </p:txBody>
        </p:sp>
        <p:sp>
          <p:nvSpPr>
            <p:cNvPr id="44" name="AutoShape 32"/>
            <p:cNvSpPr>
              <a:spLocks noChangeArrowheads="1"/>
            </p:cNvSpPr>
            <p:nvPr/>
          </p:nvSpPr>
          <p:spPr bwMode="auto">
            <a:xfrm flipH="1">
              <a:off x="1107" y="404"/>
              <a:ext cx="765" cy="152"/>
            </a:xfrm>
            <a:prstGeom prst="rightArrow">
              <a:avLst>
                <a:gd name="adj1" fmla="val 50000"/>
                <a:gd name="adj2" fmla="val 125822"/>
              </a:avLst>
            </a:prstGeom>
            <a:solidFill>
              <a:schemeClr val="hlink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endParaRPr lang="zh-CN" altLang="en-US" sz="1662"/>
            </a:p>
          </p:txBody>
        </p:sp>
      </p:grp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数值分析是做什么用的</a:t>
            </a:r>
            <a:r>
              <a:rPr lang="zh-CN" altLang="en-US" dirty="0" smtClean="0"/>
              <a:t>？</a:t>
            </a:r>
            <a:endParaRPr lang="zh-CN" altLang="en-US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484408321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1"/>
                                            </p:cond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 autoUpdateAnimBg="0"/>
      <p:bldP spid="18" grpId="0" animBg="1"/>
      <p:bldP spid="19" grpId="0" animBg="1"/>
      <p:bldP spid="20" grpId="0" animBg="1" autoUpdateAnimBg="0"/>
      <p:bldP spid="21" grpId="0" animBg="1" autoUpdateAnimBg="0"/>
      <p:bldP spid="22" grpId="0" animBg="1" autoUpdateAnimBg="0"/>
      <p:bldP spid="22" grpId="1" animBg="1" autoUpdateAnimBg="0"/>
      <p:bldP spid="23" grpId="0" animBg="1"/>
      <p:bldP spid="24" grpId="0" animBg="1" autoUpdateAnimBg="0"/>
      <p:bldP spid="25" grpId="0" animBg="1"/>
      <p:bldP spid="30" grpId="0" animBg="1" autoUpdateAnimBg="0"/>
      <p:bldP spid="38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355721" y="6437435"/>
            <a:ext cx="2120411" cy="420565"/>
          </a:xfrm>
          <a:prstGeom prst="rect">
            <a:avLst/>
          </a:prstGeom>
        </p:spPr>
        <p:txBody>
          <a:bodyPr/>
          <a:lstStyle/>
          <a:p>
            <a:fld id="{EA4A30F9-F70D-4062-9197-0FB807342593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577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课程介绍</a:t>
            </a:r>
          </a:p>
        </p:txBody>
      </p:sp>
      <p:sp>
        <p:nvSpPr>
          <p:cNvPr id="577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42988"/>
            <a:ext cx="8229600" cy="508232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585" dirty="0" smtClean="0"/>
              <a:t>数值分析</a:t>
            </a:r>
            <a:r>
              <a:rPr lang="zh-CN" altLang="en-US" sz="2585" dirty="0"/>
              <a:t>内容由三部分构成：</a:t>
            </a:r>
          </a:p>
          <a:p>
            <a:pPr lvl="1"/>
            <a:r>
              <a:rPr lang="zh-CN" altLang="en-US" sz="2585" dirty="0"/>
              <a:t>1.构造算法</a:t>
            </a:r>
            <a:endParaRPr lang="en-US" altLang="zh-CN" sz="2585" dirty="0"/>
          </a:p>
          <a:p>
            <a:pPr lvl="2">
              <a:buFont typeface="Wingdings" pitchFamily="2" charset="2"/>
              <a:buChar char="ü"/>
            </a:pPr>
            <a:r>
              <a:rPr lang="zh-CN" altLang="en-US" sz="2585" dirty="0"/>
              <a:t>根据某类数学模型建立</a:t>
            </a:r>
            <a:r>
              <a:rPr lang="zh-CN" altLang="en-US" sz="2585" dirty="0">
                <a:solidFill>
                  <a:srgbClr val="C00000"/>
                </a:solidFill>
                <a:cs typeface="Arial" panose="020B0604020202020204" pitchFamily="34" charset="0"/>
              </a:rPr>
              <a:t>数值求解模型</a:t>
            </a:r>
            <a:endParaRPr lang="en-US" altLang="zh-CN" sz="2585" dirty="0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lvl="1"/>
            <a:r>
              <a:rPr lang="zh-CN" altLang="en-US" sz="2585" dirty="0"/>
              <a:t>2.分析算法</a:t>
            </a:r>
          </a:p>
          <a:p>
            <a:pPr lvl="2">
              <a:buFont typeface="Wingdings" pitchFamily="2" charset="2"/>
              <a:buChar char="ü"/>
            </a:pPr>
            <a:r>
              <a:rPr lang="zh-CN" altLang="en-US" sz="2585" dirty="0"/>
              <a:t>分析各种算法的有关属性  如收敛性、稳定性、计算复杂性、空间复杂性等问题</a:t>
            </a:r>
          </a:p>
          <a:p>
            <a:pPr lvl="1"/>
            <a:r>
              <a:rPr lang="zh-CN" altLang="en-US" sz="2585" dirty="0"/>
              <a:t>3.使用算法</a:t>
            </a:r>
          </a:p>
          <a:p>
            <a:pPr lvl="2">
              <a:buFont typeface="Wingdings" pitchFamily="2" charset="2"/>
              <a:buChar char="ü"/>
            </a:pPr>
            <a:r>
              <a:rPr lang="zh-CN" altLang="en-US" sz="2585" dirty="0"/>
              <a:t>处理和解决各种算法在实际应用中和计算机上的使用问题。如迭代次数的控制、收敛、误差分配问题、计算量、算法的数值稳定性问题等</a:t>
            </a:r>
          </a:p>
        </p:txBody>
      </p:sp>
    </p:spTree>
    <p:extLst>
      <p:ext uri="{BB962C8B-B14F-4D97-AF65-F5344CB8AC3E}">
        <p14:creationId xmlns:p14="http://schemas.microsoft.com/office/powerpoint/2010/main" val="2045419788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341801" y="6482495"/>
            <a:ext cx="2120411" cy="533400"/>
          </a:xfrm>
          <a:prstGeom prst="rect">
            <a:avLst/>
          </a:prstGeom>
        </p:spPr>
        <p:txBody>
          <a:bodyPr/>
          <a:lstStyle/>
          <a:p>
            <a:fld id="{EA4A30F9-F70D-4062-9197-0FB807342593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577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课程介绍</a:t>
            </a:r>
          </a:p>
        </p:txBody>
      </p:sp>
      <p:sp>
        <p:nvSpPr>
          <p:cNvPr id="577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85811"/>
            <a:ext cx="8255564" cy="5596684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585" dirty="0"/>
              <a:t>数值计算问题来自各个科学和工程分支，可归纳为：</a:t>
            </a:r>
          </a:p>
          <a:p>
            <a:pPr lvl="1"/>
            <a:r>
              <a:rPr lang="zh-CN" altLang="en-US" sz="2585" dirty="0"/>
              <a:t>1.没有解析解的数学问题</a:t>
            </a:r>
            <a:endParaRPr lang="en-US" altLang="zh-CN" sz="2585" dirty="0"/>
          </a:p>
          <a:p>
            <a:pPr lvl="2">
              <a:buFont typeface="Wingdings" pitchFamily="2" charset="2"/>
              <a:buChar char="ü"/>
            </a:pPr>
            <a:r>
              <a:rPr lang="zh-CN" altLang="en-US" sz="2585" dirty="0"/>
              <a:t> 五次或更高次一元代数方程的求解</a:t>
            </a:r>
            <a:endParaRPr lang="en-US" altLang="zh-CN" sz="2585" dirty="0"/>
          </a:p>
          <a:p>
            <a:pPr lvl="2">
              <a:buFont typeface="Wingdings" pitchFamily="2" charset="2"/>
              <a:buChar char="ü"/>
            </a:pPr>
            <a:endParaRPr lang="en-US" altLang="zh-CN" sz="923" dirty="0">
              <a:solidFill>
                <a:srgbClr val="0033CC"/>
              </a:solidFill>
            </a:endParaRPr>
          </a:p>
          <a:p>
            <a:pPr lvl="1"/>
            <a:r>
              <a:rPr lang="zh-CN" altLang="en-US" sz="2585" dirty="0"/>
              <a:t>2.有解析解的数学问题，</a:t>
            </a:r>
            <a:endParaRPr lang="en-US" altLang="zh-CN" sz="2585" dirty="0"/>
          </a:p>
          <a:p>
            <a:pPr lvl="2">
              <a:buFont typeface="Wingdings" pitchFamily="2" charset="2"/>
              <a:buChar char="ü"/>
            </a:pPr>
            <a:r>
              <a:rPr lang="zh-CN" altLang="en-US" sz="2585" dirty="0"/>
              <a:t>但解析公式的计算很</a:t>
            </a:r>
            <a:r>
              <a:rPr lang="zh-CN" altLang="en-US" sz="2585" dirty="0" smtClean="0"/>
              <a:t>复杂，</a:t>
            </a:r>
            <a:r>
              <a:rPr lang="en-US" altLang="zh-CN" sz="2585" dirty="0"/>
              <a:t>sin(x)</a:t>
            </a:r>
          </a:p>
          <a:p>
            <a:pPr lvl="2">
              <a:buFont typeface="Wingdings" pitchFamily="2" charset="2"/>
              <a:buChar char="ü"/>
            </a:pPr>
            <a:endParaRPr lang="zh-CN" altLang="en-US" sz="923" dirty="0"/>
          </a:p>
          <a:p>
            <a:pPr lvl="1"/>
            <a:r>
              <a:rPr lang="zh-CN" altLang="en-US" sz="2585" dirty="0"/>
              <a:t>3. 在科学与工程研究中模拟难以形成的实验条件</a:t>
            </a:r>
          </a:p>
          <a:p>
            <a:pPr lvl="2">
              <a:buFont typeface="Wingdings" pitchFamily="2" charset="2"/>
              <a:buChar char="ü"/>
            </a:pPr>
            <a:r>
              <a:rPr lang="zh-CN" altLang="en-US" sz="2585" dirty="0" smtClean="0"/>
              <a:t>数值模拟</a:t>
            </a:r>
            <a:r>
              <a:rPr lang="zh-CN" altLang="en-US" sz="2585" dirty="0"/>
              <a:t>或</a:t>
            </a:r>
            <a:r>
              <a:rPr lang="zh-CN" altLang="en-US" sz="2585" dirty="0" smtClean="0"/>
              <a:t>数值，</a:t>
            </a:r>
            <a:endParaRPr lang="en-US" altLang="zh-CN" sz="2585" dirty="0"/>
          </a:p>
          <a:p>
            <a:pPr lvl="2">
              <a:buFont typeface="Wingdings" pitchFamily="2" charset="2"/>
              <a:buChar char="ü"/>
            </a:pPr>
            <a:r>
              <a:rPr lang="zh-CN" altLang="en-US" sz="2585" dirty="0"/>
              <a:t>例如：天体物理研究</a:t>
            </a:r>
            <a:r>
              <a:rPr lang="zh-CN" altLang="en-US" sz="2585" dirty="0" smtClean="0"/>
              <a:t>；模拟</a:t>
            </a:r>
            <a:r>
              <a:rPr lang="zh-CN" altLang="en-US" sz="2585" dirty="0"/>
              <a:t>汽车碰撞、集成电路芯片投产前的性能模拟等</a:t>
            </a:r>
          </a:p>
        </p:txBody>
      </p:sp>
      <p:pic>
        <p:nvPicPr>
          <p:cNvPr id="6" name="Picture 4"/>
          <p:cNvPicPr>
            <a:picLocks noChangeArrowheads="1"/>
          </p:cNvPicPr>
          <p:nvPr/>
        </p:nvPicPr>
        <p:blipFill rotWithShape="1">
          <a:blip r:embed="rId3">
            <a:lum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61" t="38345" r="13823" b="50291"/>
          <a:stretch/>
        </p:blipFill>
        <p:spPr bwMode="auto">
          <a:xfrm>
            <a:off x="2588915" y="2402155"/>
            <a:ext cx="4320530" cy="358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7983654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数值分析研究对象与特点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410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2400" kern="0" dirty="0">
                <a:solidFill>
                  <a:srgbClr val="000000"/>
                </a:solidFill>
                <a:latin typeface="+mj-ea"/>
              </a:rPr>
              <a:t>一、研究对象</a:t>
            </a:r>
          </a:p>
          <a:p>
            <a:pPr lvl="1">
              <a:lnSpc>
                <a:spcPct val="100000"/>
              </a:lnSpc>
            </a:pPr>
            <a:r>
              <a:rPr lang="zh-CN" altLang="en-US" sz="2400" kern="0" dirty="0">
                <a:latin typeface="+mj-ea"/>
              </a:rPr>
              <a:t>数值分析也称计算方法</a:t>
            </a:r>
            <a:r>
              <a:rPr lang="en-US" altLang="zh-CN" sz="2400" kern="0" dirty="0">
                <a:latin typeface="+mj-ea"/>
              </a:rPr>
              <a:t>. </a:t>
            </a:r>
            <a:r>
              <a:rPr lang="zh-CN" altLang="en-US" sz="2400" kern="0" dirty="0">
                <a:latin typeface="+mj-ea"/>
              </a:rPr>
              <a:t>它根椐实际问题的数学模型提出求解问题的数值计算方法 </a:t>
            </a:r>
            <a:r>
              <a:rPr lang="zh-CN" altLang="en-US" sz="2400" dirty="0" smtClean="0">
                <a:solidFill>
                  <a:srgbClr val="000000"/>
                </a:solidFill>
              </a:rPr>
              <a:t>。</a:t>
            </a:r>
            <a:endParaRPr lang="en-US" altLang="zh-CN" sz="2400" dirty="0">
              <a:solidFill>
                <a:srgbClr val="000000"/>
              </a:solidFill>
            </a:endParaRPr>
          </a:p>
          <a:p>
            <a:r>
              <a:rPr lang="zh-CN" altLang="en-US" sz="2400" kern="0" dirty="0">
                <a:solidFill>
                  <a:srgbClr val="000000"/>
                </a:solidFill>
                <a:latin typeface="+mj-ea"/>
              </a:rPr>
              <a:t>二、学科特点</a:t>
            </a:r>
          </a:p>
          <a:p>
            <a:endParaRPr lang="zh-CN" altLang="en-US" sz="2400" dirty="0"/>
          </a:p>
        </p:txBody>
      </p: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668215" y="3826852"/>
            <a:ext cx="7789985" cy="281354"/>
            <a:chOff x="0" y="0"/>
            <a:chExt cx="5252" cy="272"/>
          </a:xfrm>
        </p:grpSpPr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525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4990" tIns="42495" rIns="84990" bIns="42495"/>
            <a:lstStyle/>
            <a:p>
              <a:pPr defTabSz="845549" eaLnBrk="0" hangingPunct="0">
                <a:defRPr/>
              </a:pPr>
              <a:r>
                <a:rPr lang="zh-CN" altLang="en-US" sz="2400" kern="0" dirty="0">
                  <a:solidFill>
                    <a:srgbClr val="000000"/>
                  </a:solidFill>
                  <a:latin typeface="+mj-ea"/>
                  <a:ea typeface="+mj-ea"/>
                </a:rPr>
                <a:t>       算法能在计算机上实现，并有好的计算复杂性；</a:t>
              </a:r>
            </a:p>
          </p:txBody>
        </p:sp>
        <p:sp>
          <p:nvSpPr>
            <p:cNvPr id="9" name="AutoShape 9"/>
            <p:cNvSpPr>
              <a:spLocks noChangeArrowheads="1"/>
            </p:cNvSpPr>
            <p:nvPr/>
          </p:nvSpPr>
          <p:spPr bwMode="auto">
            <a:xfrm>
              <a:off x="244" y="90"/>
              <a:ext cx="148" cy="182"/>
            </a:xfrm>
            <a:prstGeom prst="flowChartConnector">
              <a:avLst/>
            </a:prstGeom>
            <a:solidFill>
              <a:srgbClr val="FF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844083">
                <a:defRPr/>
              </a:pPr>
              <a:endParaRPr lang="zh-CN" altLang="en-US" sz="2400" ker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857250" y="2896333"/>
            <a:ext cx="7829550" cy="398585"/>
            <a:chOff x="0" y="0"/>
            <a:chExt cx="5343" cy="272"/>
          </a:xfrm>
        </p:grpSpPr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0" y="0"/>
              <a:ext cx="5343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4990" tIns="42495" rIns="84990" bIns="42495"/>
            <a:lstStyle/>
            <a:p>
              <a:pPr defTabSz="845549" eaLnBrk="0" hangingPunct="0">
                <a:defRPr/>
              </a:pPr>
              <a:r>
                <a:rPr lang="zh-CN" altLang="en-US" sz="2400" kern="0" dirty="0">
                  <a:solidFill>
                    <a:srgbClr val="000000"/>
                  </a:solidFill>
                  <a:latin typeface="+mj-ea"/>
                  <a:ea typeface="+mj-ea"/>
                </a:rPr>
                <a:t>      面向计算机，提供切实可行的有效算法；</a:t>
              </a:r>
            </a:p>
          </p:txBody>
        </p:sp>
        <p:sp>
          <p:nvSpPr>
            <p:cNvPr id="12" name="AutoShape 12"/>
            <p:cNvSpPr>
              <a:spLocks noChangeArrowheads="1"/>
            </p:cNvSpPr>
            <p:nvPr/>
          </p:nvSpPr>
          <p:spPr bwMode="auto">
            <a:xfrm>
              <a:off x="136" y="91"/>
              <a:ext cx="136" cy="136"/>
            </a:xfrm>
            <a:prstGeom prst="flowChartConnector">
              <a:avLst/>
            </a:prstGeom>
            <a:solidFill>
              <a:srgbClr val="CC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844083">
                <a:defRPr/>
              </a:pPr>
              <a:endParaRPr lang="zh-CN" altLang="en-US" sz="2400" ker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3" name="Group 13"/>
          <p:cNvGrpSpPr>
            <a:grpSpLocks/>
          </p:cNvGrpSpPr>
          <p:nvPr/>
        </p:nvGrpSpPr>
        <p:grpSpPr bwMode="auto">
          <a:xfrm>
            <a:off x="723902" y="3362325"/>
            <a:ext cx="8680938" cy="398585"/>
            <a:chOff x="-91" y="0"/>
            <a:chExt cx="5924" cy="272"/>
          </a:xfrm>
        </p:grpSpPr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-91" y="0"/>
              <a:ext cx="5924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4990" tIns="42495" rIns="84990" bIns="42495"/>
            <a:lstStyle/>
            <a:p>
              <a:pPr defTabSz="845549" eaLnBrk="0" hangingPunct="0">
                <a:defRPr/>
              </a:pPr>
              <a:r>
                <a:rPr lang="zh-CN" altLang="en-US" sz="2400" kern="0" dirty="0">
                  <a:solidFill>
                    <a:srgbClr val="000000"/>
                  </a:solidFill>
                  <a:latin typeface="+mj-ea"/>
                  <a:ea typeface="+mj-ea"/>
                </a:rPr>
                <a:t>      </a:t>
              </a:r>
              <a:r>
                <a:rPr lang="zh-CN" altLang="en-US" sz="2400" kern="0" dirty="0" smtClean="0">
                  <a:solidFill>
                    <a:srgbClr val="000000"/>
                  </a:solidFill>
                  <a:latin typeface="+mj-ea"/>
                  <a:ea typeface="+mj-ea"/>
                </a:rPr>
                <a:t> 有</a:t>
              </a:r>
              <a:r>
                <a:rPr lang="zh-CN" altLang="en-US" sz="2400" kern="0" dirty="0">
                  <a:solidFill>
                    <a:srgbClr val="000000"/>
                  </a:solidFill>
                  <a:latin typeface="+mj-ea"/>
                  <a:ea typeface="+mj-ea"/>
                </a:rPr>
                <a:t>可靠理论，对算法进行误差分析，并能达到精度要求</a:t>
              </a:r>
            </a:p>
          </p:txBody>
        </p:sp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118" y="90"/>
              <a:ext cx="136" cy="136"/>
            </a:xfrm>
            <a:prstGeom prst="flowChartConnector">
              <a:avLst/>
            </a:prstGeom>
            <a:solidFill>
              <a:srgbClr val="3399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844083">
                <a:defRPr/>
              </a:pPr>
              <a:endParaRPr lang="zh-CN" altLang="en-US" sz="2400" ker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6" name="Group 16"/>
          <p:cNvGrpSpPr>
            <a:grpSpLocks/>
          </p:cNvGrpSpPr>
          <p:nvPr/>
        </p:nvGrpSpPr>
        <p:grpSpPr bwMode="auto">
          <a:xfrm>
            <a:off x="712179" y="4292844"/>
            <a:ext cx="7696200" cy="398585"/>
            <a:chOff x="-77" y="0"/>
            <a:chExt cx="5252" cy="272"/>
          </a:xfrm>
        </p:grpSpPr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-77" y="0"/>
              <a:ext cx="525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4990" tIns="42495" rIns="84990" bIns="42495"/>
            <a:lstStyle/>
            <a:p>
              <a:pPr defTabSz="845549" eaLnBrk="0" hangingPunct="0">
                <a:defRPr/>
              </a:pPr>
              <a:r>
                <a:rPr lang="zh-CN" altLang="en-US" sz="2400" kern="0" dirty="0">
                  <a:solidFill>
                    <a:srgbClr val="000000"/>
                  </a:solidFill>
                  <a:latin typeface="+mj-ea"/>
                  <a:ea typeface="+mj-ea"/>
                </a:rPr>
                <a:t>       通过数值实验 证明算法行之有效；</a:t>
              </a:r>
            </a:p>
          </p:txBody>
        </p:sp>
        <p:sp>
          <p:nvSpPr>
            <p:cNvPr id="18" name="AutoShape 18"/>
            <p:cNvSpPr>
              <a:spLocks noChangeArrowheads="1"/>
            </p:cNvSpPr>
            <p:nvPr/>
          </p:nvSpPr>
          <p:spPr bwMode="auto">
            <a:xfrm>
              <a:off x="150" y="91"/>
              <a:ext cx="136" cy="136"/>
            </a:xfrm>
            <a:prstGeom prst="flowChartConnector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844083">
                <a:defRPr/>
              </a:pPr>
              <a:endParaRPr lang="zh-CN" altLang="en-US" sz="2400" ker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668215" y="5313485"/>
            <a:ext cx="7696200" cy="398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4990" tIns="42495" rIns="84990" bIns="42495"/>
          <a:lstStyle/>
          <a:p>
            <a:pPr defTabSz="845549" eaLnBrk="0" hangingPunct="0"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+mj-ea"/>
                <a:ea typeface="+mj-ea"/>
              </a:rPr>
              <a:t>     在计算机上实现数值计算，解决实际问题</a:t>
            </a:r>
            <a:r>
              <a:rPr lang="en-US" altLang="zh-CN" sz="2400" kern="0" dirty="0">
                <a:solidFill>
                  <a:srgbClr val="000000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668215" y="4847493"/>
            <a:ext cx="2488246" cy="3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4990" tIns="42495" rIns="84990" bIns="42495"/>
          <a:lstStyle/>
          <a:p>
            <a:pPr defTabSz="845549" eaLnBrk="0" hangingPunct="0"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+mj-ea"/>
                <a:ea typeface="+mj-ea"/>
              </a:rPr>
              <a:t>三、实际应用</a:t>
            </a:r>
          </a:p>
        </p:txBody>
      </p:sp>
    </p:spTree>
    <p:extLst>
      <p:ext uri="{BB962C8B-B14F-4D97-AF65-F5344CB8AC3E}">
        <p14:creationId xmlns:p14="http://schemas.microsoft.com/office/powerpoint/2010/main" val="2251456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351692" y="6435179"/>
            <a:ext cx="2120411" cy="304070"/>
          </a:xfrm>
          <a:prstGeom prst="rect">
            <a:avLst/>
          </a:prstGeom>
        </p:spPr>
        <p:txBody>
          <a:bodyPr/>
          <a:lstStyle/>
          <a:p>
            <a:fld id="{2146C397-80B0-4CC2-8187-4D785B535EFF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课程介绍</a:t>
            </a:r>
          </a:p>
        </p:txBody>
      </p:sp>
      <p:sp>
        <p:nvSpPr>
          <p:cNvPr id="546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76189"/>
            <a:ext cx="8141677" cy="150641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数值分析</a:t>
            </a:r>
            <a:r>
              <a:rPr lang="zh-CN" altLang="en-US" dirty="0" smtClean="0"/>
              <a:t>是研究求解各</a:t>
            </a:r>
            <a:r>
              <a:rPr lang="zh-CN" altLang="en-US" dirty="0"/>
              <a:t>类数学问题的数值方法和有关理论的学科</a:t>
            </a:r>
          </a:p>
          <a:p>
            <a:pPr>
              <a:lnSpc>
                <a:spcPct val="100000"/>
              </a:lnSpc>
            </a:pPr>
            <a:r>
              <a:rPr lang="zh-CN" altLang="en-US" dirty="0">
                <a:latin typeface="宋体" pitchFamily="2" charset="-122"/>
              </a:rPr>
              <a:t>解决科学技术和工程问题的步骤是：</a:t>
            </a:r>
          </a:p>
        </p:txBody>
      </p:sp>
      <p:sp>
        <p:nvSpPr>
          <p:cNvPr id="546820" name="Text Box 4"/>
          <p:cNvSpPr txBox="1">
            <a:spLocks noChangeArrowheads="1"/>
          </p:cNvSpPr>
          <p:nvPr/>
        </p:nvSpPr>
        <p:spPr bwMode="auto">
          <a:xfrm>
            <a:off x="351692" y="3038148"/>
            <a:ext cx="1266092" cy="1137940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CC"/>
            </a:extrusionClr>
          </a:sp3d>
          <a:extLst>
            <a:ext uri="{91240B29-F687-4F45-9708-019B960494DF}">
              <a14:hiddenLine xmlns:a14="http://schemas.microsoft.com/office/drawing/2010/main" w="2857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  <a:flatTx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954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实际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954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问题</a:t>
            </a:r>
          </a:p>
        </p:txBody>
      </p:sp>
      <p:sp>
        <p:nvSpPr>
          <p:cNvPr id="546821" name="Text Box 5"/>
          <p:cNvSpPr txBox="1">
            <a:spLocks noChangeArrowheads="1"/>
          </p:cNvSpPr>
          <p:nvPr/>
        </p:nvSpPr>
        <p:spPr bwMode="auto">
          <a:xfrm>
            <a:off x="2532185" y="3044043"/>
            <a:ext cx="1125415" cy="1047018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CC"/>
            </a:extrusionClr>
          </a:sp3d>
          <a:extLst>
            <a:ext uri="{91240B29-F687-4F45-9708-019B960494DF}">
              <a14:hiddenLine xmlns:a14="http://schemas.microsoft.com/office/drawing/2010/main" w="2857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954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数学 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954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模型</a:t>
            </a:r>
          </a:p>
        </p:txBody>
      </p:sp>
      <p:sp>
        <p:nvSpPr>
          <p:cNvPr id="546822" name="Text Box 6"/>
          <p:cNvSpPr txBox="1">
            <a:spLocks noChangeArrowheads="1"/>
          </p:cNvSpPr>
          <p:nvPr/>
        </p:nvSpPr>
        <p:spPr bwMode="auto">
          <a:xfrm>
            <a:off x="4783016" y="3039647"/>
            <a:ext cx="1125415" cy="1047018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CC"/>
            </a:extrusionClr>
          </a:sp3d>
          <a:extLst>
            <a:ext uri="{91240B29-F687-4F45-9708-019B960494DF}">
              <a14:hiddenLine xmlns:a14="http://schemas.microsoft.com/office/drawing/2010/main" w="2857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  <a:flatTx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954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计算 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954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模型</a:t>
            </a:r>
          </a:p>
        </p:txBody>
      </p:sp>
      <p:sp>
        <p:nvSpPr>
          <p:cNvPr id="546824" name="Text Box 8"/>
          <p:cNvSpPr txBox="1">
            <a:spLocks noChangeArrowheads="1"/>
          </p:cNvSpPr>
          <p:nvPr/>
        </p:nvSpPr>
        <p:spPr bwMode="auto">
          <a:xfrm>
            <a:off x="6998677" y="3014702"/>
            <a:ext cx="1827335" cy="1137940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CC"/>
            </a:extrusionClr>
          </a:sp3d>
          <a:extLst>
            <a:ext uri="{91240B29-F687-4F45-9708-019B960494DF}">
              <a14:hiddenLine xmlns:a14="http://schemas.microsoft.com/office/drawing/2010/main" w="2857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  <a:flatTx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954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编程</a:t>
            </a:r>
            <a:r>
              <a:rPr lang="zh-CN" altLang="en-US" sz="2954" dirty="0" smtClean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上机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954" dirty="0" smtClean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计算</a:t>
            </a:r>
            <a:endParaRPr lang="zh-CN" altLang="en-US" sz="2954" dirty="0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46826" name="AutoShape 10"/>
          <p:cNvSpPr>
            <a:spLocks noChangeArrowheads="1"/>
          </p:cNvSpPr>
          <p:nvPr/>
        </p:nvSpPr>
        <p:spPr bwMode="auto">
          <a:xfrm>
            <a:off x="1828800" y="3262831"/>
            <a:ext cx="703385" cy="691504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endParaRPr lang="zh-CN" altLang="en-US" sz="1662"/>
          </a:p>
        </p:txBody>
      </p:sp>
      <p:sp>
        <p:nvSpPr>
          <p:cNvPr id="546831" name="Rectangle 15"/>
          <p:cNvSpPr>
            <a:spLocks noChangeArrowheads="1"/>
          </p:cNvSpPr>
          <p:nvPr/>
        </p:nvSpPr>
        <p:spPr bwMode="auto">
          <a:xfrm>
            <a:off x="2180492" y="2572982"/>
            <a:ext cx="4009292" cy="1800000"/>
          </a:xfrm>
          <a:prstGeom prst="rect">
            <a:avLst/>
          </a:prstGeom>
          <a:noFill/>
          <a:ln w="762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 sz="1662"/>
          </a:p>
        </p:txBody>
      </p:sp>
      <p:sp>
        <p:nvSpPr>
          <p:cNvPr id="546834" name="AutoShape 18"/>
          <p:cNvSpPr>
            <a:spLocks noChangeArrowheads="1"/>
          </p:cNvSpPr>
          <p:nvPr/>
        </p:nvSpPr>
        <p:spPr bwMode="auto">
          <a:xfrm>
            <a:off x="3938954" y="3262831"/>
            <a:ext cx="703385" cy="691504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endParaRPr lang="zh-CN" altLang="en-US" sz="1662"/>
          </a:p>
        </p:txBody>
      </p:sp>
      <p:sp>
        <p:nvSpPr>
          <p:cNvPr id="546835" name="AutoShape 19"/>
          <p:cNvSpPr>
            <a:spLocks noChangeArrowheads="1"/>
          </p:cNvSpPr>
          <p:nvPr/>
        </p:nvSpPr>
        <p:spPr bwMode="auto">
          <a:xfrm>
            <a:off x="6189784" y="3192493"/>
            <a:ext cx="703385" cy="691504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endParaRPr lang="zh-CN" altLang="en-US" sz="1662"/>
          </a:p>
        </p:txBody>
      </p:sp>
      <p:sp>
        <p:nvSpPr>
          <p:cNvPr id="546837" name="Rectangle 21"/>
          <p:cNvSpPr>
            <a:spLocks noChangeArrowheads="1"/>
          </p:cNvSpPr>
          <p:nvPr/>
        </p:nvSpPr>
        <p:spPr bwMode="auto">
          <a:xfrm>
            <a:off x="562708" y="4835769"/>
            <a:ext cx="8088923" cy="1259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258763" indent="-258763" algn="l" defTabSz="814388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649288" indent="-261938" algn="l" defTabSz="814388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027113" indent="-249238" algn="l" defTabSz="814388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416050" indent="-260350" algn="l" defTabSz="814388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1804988" indent="-260350" algn="l" defTabSz="814388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262188" indent="-26035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719388" indent="-26035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176588" indent="-26035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633788" indent="-26035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</a:pPr>
            <a:r>
              <a:rPr lang="zh-CN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本课在计算机解题过程中担负</a:t>
            </a:r>
            <a:r>
              <a:rPr lang="zh-CN" altLang="zh-CN" sz="2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着</a:t>
            </a:r>
            <a:endParaRPr lang="en-US" altLang="zh-CN" sz="28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844550" lvl="1" indent="-457200">
              <a:lnSpc>
                <a:spcPct val="80000"/>
              </a:lnSpc>
              <a:spcBef>
                <a:spcPct val="35000"/>
              </a:spcBef>
              <a:buClr>
                <a:srgbClr val="27305F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zh-CN" sz="2585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数据处理</a:t>
            </a:r>
            <a:r>
              <a:rPr lang="zh-CN" altLang="zh-CN" sz="25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；数值方法的选择和研制；</a:t>
            </a:r>
            <a:endParaRPr lang="zh-CN" altLang="en-US" sz="2585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44550" lvl="1" indent="-457200">
              <a:lnSpc>
                <a:spcPct val="80000"/>
              </a:lnSpc>
              <a:spcBef>
                <a:spcPct val="35000"/>
              </a:spcBef>
              <a:buClr>
                <a:srgbClr val="27305F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zh-CN" sz="2585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误差</a:t>
            </a:r>
            <a:r>
              <a:rPr lang="zh-CN" altLang="zh-CN" sz="25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的分析、分配及估算等任务</a:t>
            </a:r>
            <a:endParaRPr lang="zh-CN" altLang="en-US" sz="2585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9979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6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6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46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46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46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46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468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468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46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46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46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46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46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46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468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468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46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46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468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468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46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46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468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468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46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46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46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46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468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468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46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46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546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820" grpId="0" animBg="1" autoUpdateAnimBg="0"/>
      <p:bldP spid="546821" grpId="0" animBg="1" autoUpdateAnimBg="0"/>
      <p:bldP spid="546822" grpId="0" animBg="1" autoUpdateAnimBg="0"/>
      <p:bldP spid="546824" grpId="0" animBg="1" autoUpdateAnimBg="0"/>
      <p:bldP spid="546826" grpId="0" animBg="1"/>
      <p:bldP spid="546831" grpId="0" animBg="1"/>
      <p:bldP spid="546834" grpId="0" animBg="1"/>
      <p:bldP spid="546835" grpId="0" animBg="1"/>
      <p:bldP spid="54683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85811"/>
            <a:ext cx="8229600" cy="5200650"/>
          </a:xfrm>
        </p:spPr>
        <p:txBody>
          <a:bodyPr/>
          <a:lstStyle/>
          <a:p>
            <a:r>
              <a:rPr lang="zh-CN" altLang="en-US" sz="2585" dirty="0"/>
              <a:t>学习方法</a:t>
            </a:r>
          </a:p>
          <a:p>
            <a:pPr lvl="1"/>
            <a:r>
              <a:rPr lang="zh-CN" altLang="en-US" sz="2400" dirty="0"/>
              <a:t>掌握数值方法的基本原理和思想</a:t>
            </a:r>
          </a:p>
          <a:p>
            <a:pPr lvl="1"/>
            <a:r>
              <a:rPr lang="zh-CN" altLang="en-US" sz="2400" dirty="0"/>
              <a:t>重点理解问题背景、算法思路和具体步骤</a:t>
            </a:r>
            <a:r>
              <a:rPr lang="en-US" altLang="zh-CN" sz="2400" dirty="0"/>
              <a:t>(</a:t>
            </a:r>
            <a:r>
              <a:rPr lang="zh-CN" altLang="en-US" sz="2400" dirty="0"/>
              <a:t>会算</a:t>
            </a:r>
            <a:r>
              <a:rPr lang="en-US" altLang="zh-CN" sz="2400" dirty="0"/>
              <a:t>)</a:t>
            </a:r>
            <a:endParaRPr lang="zh-CN" altLang="en-US" sz="2400" dirty="0"/>
          </a:p>
          <a:p>
            <a:pPr lvl="1"/>
            <a:r>
              <a:rPr lang="zh-CN" altLang="en-US" sz="2400" dirty="0"/>
              <a:t>作一定数量的计算</a:t>
            </a:r>
            <a:r>
              <a:rPr lang="zh-CN" altLang="en-US" sz="2400" dirty="0" smtClean="0"/>
              <a:t>练习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适当</a:t>
            </a:r>
            <a:r>
              <a:rPr lang="zh-CN" altLang="en-US" sz="2400" dirty="0"/>
              <a:t>进行公式推导、算法复杂度分析与比较</a:t>
            </a:r>
            <a:endParaRPr lang="en-US" altLang="zh-CN" sz="2400" dirty="0"/>
          </a:p>
          <a:p>
            <a:pPr lvl="1"/>
            <a:r>
              <a:rPr lang="zh-CN" altLang="en-US" sz="2400" dirty="0"/>
              <a:t>上机编程练习</a:t>
            </a:r>
            <a:endParaRPr lang="en-US" altLang="zh-CN" sz="2400" dirty="0"/>
          </a:p>
          <a:p>
            <a:r>
              <a:rPr lang="zh-CN" altLang="en-US" sz="2585" dirty="0" smtClean="0"/>
              <a:t>课程</a:t>
            </a:r>
            <a:r>
              <a:rPr lang="zh-CN" altLang="en-US" sz="2585" dirty="0"/>
              <a:t>基本信息</a:t>
            </a:r>
          </a:p>
          <a:p>
            <a:pPr lvl="1"/>
            <a:r>
              <a:rPr lang="zh-CN" altLang="en-US" sz="2400" dirty="0"/>
              <a:t>课时:  </a:t>
            </a:r>
            <a:r>
              <a:rPr lang="en-US" altLang="zh-CN" sz="2400" strike="sngStrike" dirty="0"/>
              <a:t>40 </a:t>
            </a:r>
            <a:r>
              <a:rPr lang="en-US" altLang="zh-CN" sz="2400" dirty="0"/>
              <a:t>32</a:t>
            </a:r>
          </a:p>
          <a:p>
            <a:pPr lvl="1"/>
            <a:r>
              <a:rPr lang="zh-CN" altLang="en-US" sz="2400" dirty="0"/>
              <a:t>时间:  </a:t>
            </a:r>
            <a:r>
              <a:rPr lang="en-US" altLang="zh-CN" sz="2400" dirty="0"/>
              <a:t>4-11</a:t>
            </a:r>
            <a:r>
              <a:rPr lang="zh-CN" altLang="en-US" sz="2400" dirty="0"/>
              <a:t>周</a:t>
            </a:r>
          </a:p>
          <a:p>
            <a:pPr lvl="1"/>
            <a:r>
              <a:rPr lang="zh-CN" altLang="en-US" sz="2400" dirty="0"/>
              <a:t>闭卷</a:t>
            </a:r>
            <a:r>
              <a:rPr lang="zh-CN" altLang="en-US" sz="2400" dirty="0" smtClean="0"/>
              <a:t>考试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2120817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457200" y="6482495"/>
            <a:ext cx="2120411" cy="533400"/>
          </a:xfrm>
          <a:prstGeom prst="rect">
            <a:avLst/>
          </a:prstGeom>
        </p:spPr>
        <p:txBody>
          <a:bodyPr/>
          <a:lstStyle/>
          <a:p>
            <a:fld id="{90D29C46-B1BB-4081-8B47-C2BE0792BA16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582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课程要求</a:t>
            </a:r>
            <a:endParaRPr lang="zh-CN" altLang="en-US" dirty="0"/>
          </a:p>
        </p:txBody>
      </p:sp>
      <p:pic>
        <p:nvPicPr>
          <p:cNvPr id="10" name="Picture 8" descr="szfx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3741" y="3657600"/>
            <a:ext cx="1585997" cy="2280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457200" y="885811"/>
            <a:ext cx="8229600" cy="5200650"/>
          </a:xfrm>
        </p:spPr>
        <p:txBody>
          <a:bodyPr/>
          <a:lstStyle/>
          <a:p>
            <a:r>
              <a:rPr lang="zh-CN" altLang="en-US" sz="2585" dirty="0" smtClean="0"/>
              <a:t>平时成绩</a:t>
            </a:r>
            <a:r>
              <a:rPr lang="en-US" altLang="zh-CN" sz="2585" dirty="0" smtClean="0"/>
              <a:t>30%</a:t>
            </a:r>
          </a:p>
          <a:p>
            <a:pPr lvl="1"/>
            <a:r>
              <a:rPr lang="zh-CN" altLang="en-US" sz="2585" dirty="0" smtClean="0"/>
              <a:t>课堂出勤</a:t>
            </a:r>
            <a:r>
              <a:rPr lang="en-US" altLang="zh-CN" sz="2585" dirty="0" smtClean="0"/>
              <a:t>+</a:t>
            </a:r>
            <a:r>
              <a:rPr lang="zh-CN" altLang="en-US" sz="2585" dirty="0" smtClean="0"/>
              <a:t>作业</a:t>
            </a:r>
            <a:r>
              <a:rPr lang="en-US" altLang="zh-CN" sz="2585" dirty="0" smtClean="0"/>
              <a:t>(</a:t>
            </a:r>
            <a:r>
              <a:rPr lang="zh-CN" altLang="en-US" sz="2585" dirty="0" smtClean="0"/>
              <a:t>总计</a:t>
            </a:r>
            <a:r>
              <a:rPr lang="en-US" altLang="zh-CN" sz="2585" dirty="0" smtClean="0"/>
              <a:t>6</a:t>
            </a:r>
            <a:r>
              <a:rPr lang="zh-CN" altLang="en-US" sz="2585" dirty="0" smtClean="0"/>
              <a:t>次</a:t>
            </a:r>
            <a:r>
              <a:rPr lang="en-US" altLang="zh-CN" sz="2585" dirty="0" smtClean="0"/>
              <a:t>)</a:t>
            </a:r>
          </a:p>
          <a:p>
            <a:pPr lvl="1"/>
            <a:r>
              <a:rPr lang="zh-CN" altLang="en-US" sz="2585" dirty="0" smtClean="0"/>
              <a:t>上机</a:t>
            </a:r>
            <a:r>
              <a:rPr lang="en-US" altLang="zh-CN" sz="2585" dirty="0" smtClean="0"/>
              <a:t>/</a:t>
            </a:r>
            <a:r>
              <a:rPr lang="zh-CN" altLang="en-US" sz="2585" dirty="0" smtClean="0"/>
              <a:t>附加作业，提交实验报告</a:t>
            </a:r>
            <a:endParaRPr lang="en-US" altLang="zh-CN" sz="2585" dirty="0" smtClean="0"/>
          </a:p>
          <a:p>
            <a:pPr lvl="2"/>
            <a:r>
              <a:rPr lang="en-US" altLang="zh-CN" sz="2185" dirty="0" smtClean="0"/>
              <a:t>2</a:t>
            </a:r>
            <a:r>
              <a:rPr lang="zh-CN" altLang="en-US" sz="2185" dirty="0" smtClean="0"/>
              <a:t>次，</a:t>
            </a:r>
            <a:r>
              <a:rPr lang="en-US" altLang="zh-CN" sz="2185" dirty="0" smtClean="0"/>
              <a:t>5</a:t>
            </a:r>
            <a:r>
              <a:rPr lang="zh-CN" altLang="en-US" sz="2185" dirty="0" smtClean="0"/>
              <a:t>章内容任选</a:t>
            </a:r>
            <a:r>
              <a:rPr lang="en-US" altLang="zh-CN" sz="2185" dirty="0" smtClean="0"/>
              <a:t>2</a:t>
            </a:r>
            <a:r>
              <a:rPr lang="zh-CN" altLang="en-US" sz="2185" dirty="0" smtClean="0"/>
              <a:t>个</a:t>
            </a:r>
            <a:r>
              <a:rPr lang="en-US" altLang="zh-CN" sz="2185" dirty="0" smtClean="0"/>
              <a:t> </a:t>
            </a:r>
            <a:endParaRPr lang="en-US" altLang="zh-CN" sz="2185" dirty="0"/>
          </a:p>
          <a:p>
            <a:r>
              <a:rPr lang="zh-CN" altLang="en-US" sz="2585" dirty="0" smtClean="0"/>
              <a:t>期末考试</a:t>
            </a:r>
            <a:r>
              <a:rPr lang="en-US" altLang="zh-CN" sz="2585" dirty="0" smtClean="0"/>
              <a:t>70%</a:t>
            </a:r>
            <a:r>
              <a:rPr lang="zh-CN" altLang="en-US" sz="2585" dirty="0"/>
              <a:t>（可以带计算器，但不能有编程功能</a:t>
            </a:r>
            <a:r>
              <a:rPr lang="zh-CN" altLang="en-US" sz="2585" dirty="0" smtClean="0"/>
              <a:t>）</a:t>
            </a:r>
            <a:endParaRPr lang="en-US" altLang="zh-CN" sz="2585" dirty="0" smtClean="0"/>
          </a:p>
          <a:p>
            <a:r>
              <a:rPr lang="zh-CN" altLang="en-US" sz="2585" dirty="0"/>
              <a:t>附加</a:t>
            </a:r>
            <a:r>
              <a:rPr lang="zh-CN" altLang="en-US" sz="2585" dirty="0" smtClean="0"/>
              <a:t>分</a:t>
            </a:r>
            <a:r>
              <a:rPr lang="en-US" altLang="zh-CN" sz="2585" dirty="0" smtClean="0"/>
              <a:t>(</a:t>
            </a:r>
            <a:r>
              <a:rPr lang="zh-CN" altLang="en-US" sz="2585" dirty="0" smtClean="0"/>
              <a:t>不超过</a:t>
            </a:r>
            <a:r>
              <a:rPr lang="en-US" altLang="zh-CN" sz="2585" dirty="0" smtClean="0"/>
              <a:t>5</a:t>
            </a:r>
            <a:r>
              <a:rPr lang="zh-CN" altLang="en-US" sz="2585" dirty="0" smtClean="0"/>
              <a:t>分</a:t>
            </a:r>
            <a:r>
              <a:rPr lang="en-US" altLang="zh-CN" sz="2585" dirty="0" smtClean="0"/>
              <a:t>)</a:t>
            </a:r>
            <a:r>
              <a:rPr lang="zh-CN" altLang="en-US" sz="2585" dirty="0" smtClean="0"/>
              <a:t>：课堂回答问题</a:t>
            </a:r>
            <a:endParaRPr lang="en-US" altLang="zh-CN" sz="2585" dirty="0" smtClean="0"/>
          </a:p>
          <a:p>
            <a:r>
              <a:rPr lang="zh-CN" altLang="en-US" sz="2585" dirty="0" smtClean="0"/>
              <a:t>乐</a:t>
            </a:r>
            <a:r>
              <a:rPr lang="zh-CN" altLang="en-US" sz="2585" dirty="0" smtClean="0"/>
              <a:t>学上有教材</a:t>
            </a:r>
            <a:r>
              <a:rPr lang="zh-CN" altLang="en-US" sz="2585" dirty="0" smtClean="0"/>
              <a:t>电子版</a:t>
            </a:r>
            <a:endParaRPr lang="en-US" altLang="zh-CN" sz="2585" dirty="0" smtClean="0"/>
          </a:p>
          <a:p>
            <a:endParaRPr lang="en-US" altLang="zh-CN" sz="2585" dirty="0"/>
          </a:p>
          <a:p>
            <a:r>
              <a:rPr lang="zh-CN" altLang="en-US" sz="2585" dirty="0"/>
              <a:t>欢迎对教学和考核方式提出合理</a:t>
            </a:r>
            <a:r>
              <a:rPr lang="zh-CN" altLang="en-US" sz="2585" dirty="0" smtClean="0"/>
              <a:t>建议</a:t>
            </a:r>
            <a:endParaRPr lang="zh-CN" altLang="en-US" sz="2585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50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385760" y="6441465"/>
            <a:ext cx="2120411" cy="533400"/>
          </a:xfrm>
          <a:prstGeom prst="rect">
            <a:avLst/>
          </a:prstGeom>
        </p:spPr>
        <p:txBody>
          <a:bodyPr/>
          <a:lstStyle/>
          <a:p>
            <a:fld id="{A26D053F-453D-4A54-A0E5-B16F3FA5F019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主要教学内容</a:t>
            </a:r>
          </a:p>
        </p:txBody>
      </p:sp>
      <p:sp>
        <p:nvSpPr>
          <p:cNvPr id="510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1161" y="1147388"/>
            <a:ext cx="8141677" cy="4353292"/>
          </a:xfrm>
        </p:spPr>
        <p:txBody>
          <a:bodyPr/>
          <a:lstStyle/>
          <a:p>
            <a:r>
              <a:rPr lang="zh-CN" altLang="en-US" sz="3200" dirty="0"/>
              <a:t>数值计算中的误差及其分配方法</a:t>
            </a:r>
          </a:p>
          <a:p>
            <a:r>
              <a:rPr lang="zh-CN" altLang="en-US" sz="3200" dirty="0"/>
              <a:t>线性与非线性方程的数值解法</a:t>
            </a:r>
          </a:p>
          <a:p>
            <a:r>
              <a:rPr lang="zh-CN" altLang="en-US" sz="3200" dirty="0"/>
              <a:t>线性与非线性方程组的数值解法</a:t>
            </a:r>
          </a:p>
          <a:p>
            <a:r>
              <a:rPr lang="zh-CN" altLang="en-US" sz="3200" dirty="0"/>
              <a:t>插值法</a:t>
            </a:r>
          </a:p>
          <a:p>
            <a:r>
              <a:rPr lang="zh-CN" altLang="en-US" sz="3200" dirty="0"/>
              <a:t>数值微分与数值积分</a:t>
            </a:r>
          </a:p>
        </p:txBody>
      </p:sp>
    </p:spTree>
    <p:extLst>
      <p:ext uri="{BB962C8B-B14F-4D97-AF65-F5344CB8AC3E}">
        <p14:creationId xmlns:p14="http://schemas.microsoft.com/office/powerpoint/2010/main" val="107267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510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"/>
                                        <p:tgtEl>
                                          <p:spTgt spid="510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25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510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75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"/>
                                        <p:tgtEl>
                                          <p:spTgt spid="510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3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"/>
                                        <p:tgtEl>
                                          <p:spTgt spid="510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0979" grpId="0" build="p" bldLvl="2" autoUpdateAnimBg="0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385760" y="6441465"/>
            <a:ext cx="2120411" cy="533400"/>
          </a:xfrm>
          <a:prstGeom prst="rect">
            <a:avLst/>
          </a:prstGeom>
        </p:spPr>
        <p:txBody>
          <a:bodyPr/>
          <a:lstStyle/>
          <a:p>
            <a:fld id="{A26D053F-453D-4A54-A0E5-B16F3FA5F019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数值分析需要考虑的问题</a:t>
            </a:r>
          </a:p>
        </p:txBody>
      </p:sp>
      <p:sp>
        <p:nvSpPr>
          <p:cNvPr id="510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760" y="985838"/>
            <a:ext cx="5449402" cy="4686300"/>
          </a:xfrm>
        </p:spPr>
        <p:txBody>
          <a:bodyPr/>
          <a:lstStyle/>
          <a:p>
            <a:r>
              <a:rPr lang="zh-CN" altLang="en-US" sz="2585" dirty="0"/>
              <a:t>1.  计算速度</a:t>
            </a:r>
          </a:p>
          <a:p>
            <a:pPr lvl="1">
              <a:spcBef>
                <a:spcPts val="0"/>
              </a:spcBef>
            </a:pPr>
            <a:r>
              <a:rPr lang="zh-CN" altLang="en-US" sz="2400" dirty="0">
                <a:latin typeface="宋体" pitchFamily="2" charset="-122"/>
              </a:rPr>
              <a:t>求解一个20阶线性方程组,用消元法需3000次乘法运算;</a:t>
            </a:r>
          </a:p>
          <a:p>
            <a:pPr lvl="1">
              <a:spcBef>
                <a:spcPts val="0"/>
              </a:spcBef>
            </a:pPr>
            <a:r>
              <a:rPr lang="zh-CN" altLang="en-US" sz="2400" dirty="0">
                <a:latin typeface="宋体" pitchFamily="2" charset="-122"/>
              </a:rPr>
              <a:t>用克莱姆法则要进行9.7*10</a:t>
            </a:r>
            <a:r>
              <a:rPr lang="zh-CN" altLang="en-US" sz="2400" baseline="30000" dirty="0">
                <a:latin typeface="宋体" pitchFamily="2" charset="-122"/>
              </a:rPr>
              <a:t>20</a:t>
            </a:r>
            <a:r>
              <a:rPr lang="zh-CN" altLang="en-US" sz="2400" dirty="0">
                <a:latin typeface="宋体" pitchFamily="2" charset="-122"/>
              </a:rPr>
              <a:t>次运算，若用每秒一亿次计算机计算也要30万年。 </a:t>
            </a:r>
          </a:p>
          <a:p>
            <a:r>
              <a:rPr lang="zh-CN" altLang="en-US" sz="2585" dirty="0"/>
              <a:t>2. </a:t>
            </a:r>
            <a:r>
              <a:rPr lang="zh-CN" altLang="en-US" sz="2585" dirty="0" smtClean="0"/>
              <a:t>算法</a:t>
            </a:r>
            <a:r>
              <a:rPr lang="zh-CN" altLang="en-US" sz="2585" dirty="0"/>
              <a:t>精度、构造精度更高的算法</a:t>
            </a:r>
          </a:p>
          <a:p>
            <a:r>
              <a:rPr lang="zh-CN" altLang="en-US" sz="2585" dirty="0"/>
              <a:t>3. 存储量</a:t>
            </a:r>
          </a:p>
          <a:p>
            <a:r>
              <a:rPr lang="zh-CN" altLang="en-US" sz="2585" dirty="0"/>
              <a:t>4. </a:t>
            </a:r>
            <a:r>
              <a:rPr lang="zh-CN" altLang="en-US" sz="2585" dirty="0" smtClean="0"/>
              <a:t>误差</a:t>
            </a:r>
            <a:r>
              <a:rPr lang="zh-CN" altLang="en-US" sz="2585" dirty="0"/>
              <a:t>在计算过程中的积累和传播</a:t>
            </a:r>
          </a:p>
        </p:txBody>
      </p:sp>
      <p:pic>
        <p:nvPicPr>
          <p:cNvPr id="7" name="Picture 1029" descr="CACMfig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162" y="1569428"/>
            <a:ext cx="2954215" cy="1984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30" descr="blob3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162" y="3960935"/>
            <a:ext cx="2954215" cy="2121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96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510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"/>
                                        <p:tgtEl>
                                          <p:spTgt spid="510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5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510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5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"/>
                                        <p:tgtEl>
                                          <p:spTgt spid="510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7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"/>
                                        <p:tgtEl>
                                          <p:spTgt spid="510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125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510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0979" grpId="0" build="p" bldLvl="2" autoUpdateAnimBg="0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385760" y="6441465"/>
            <a:ext cx="2120411" cy="533400"/>
          </a:xfrm>
          <a:prstGeom prst="rect">
            <a:avLst/>
          </a:prstGeom>
        </p:spPr>
        <p:txBody>
          <a:bodyPr/>
          <a:lstStyle/>
          <a:p>
            <a:fld id="{A26D053F-453D-4A54-A0E5-B16F3FA5F019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应用领域</a:t>
            </a:r>
          </a:p>
        </p:txBody>
      </p:sp>
      <p:sp>
        <p:nvSpPr>
          <p:cNvPr id="510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760" y="885811"/>
            <a:ext cx="8301040" cy="4786327"/>
          </a:xfrm>
        </p:spPr>
        <p:txBody>
          <a:bodyPr/>
          <a:lstStyle/>
          <a:p>
            <a:r>
              <a:rPr lang="zh-CN" altLang="en-US" sz="2585" dirty="0"/>
              <a:t>数值计算知识应用广泛 </a:t>
            </a:r>
            <a:r>
              <a:rPr lang="en-US" altLang="zh-CN" sz="2585" dirty="0"/>
              <a:t>(</a:t>
            </a:r>
            <a:r>
              <a:rPr lang="zh-CN" altLang="en-US" sz="2585" dirty="0"/>
              <a:t>以计算机相关方向为例</a:t>
            </a:r>
            <a:r>
              <a:rPr lang="en-US" altLang="zh-CN" sz="2585" dirty="0"/>
              <a:t>)</a:t>
            </a:r>
          </a:p>
          <a:p>
            <a:pPr lvl="1">
              <a:spcBef>
                <a:spcPts val="200"/>
              </a:spcBef>
            </a:pPr>
            <a:r>
              <a:rPr lang="zh-CN" altLang="en-US" sz="2400" dirty="0"/>
              <a:t>人工智能、机器人、大数据、多媒体：矩阵计算、奇异值分解、数据拟合</a:t>
            </a:r>
            <a:r>
              <a:rPr lang="en-US" altLang="zh-CN" sz="2400" dirty="0"/>
              <a:t>(</a:t>
            </a:r>
            <a:r>
              <a:rPr lang="zh-CN" altLang="en-US" sz="2400" dirty="0"/>
              <a:t>回归</a:t>
            </a:r>
            <a:r>
              <a:rPr lang="en-US" altLang="zh-CN" sz="2400" dirty="0"/>
              <a:t>) </a:t>
            </a:r>
            <a:r>
              <a:rPr lang="zh-CN" altLang="en-US" sz="2400" dirty="0"/>
              <a:t>、常微分方程数值解</a:t>
            </a:r>
          </a:p>
          <a:p>
            <a:pPr lvl="1">
              <a:spcBef>
                <a:spcPts val="200"/>
              </a:spcBef>
            </a:pPr>
            <a:r>
              <a:rPr lang="zh-CN" altLang="en-US" sz="2400" dirty="0"/>
              <a:t>计算机图形学</a:t>
            </a:r>
            <a:r>
              <a:rPr lang="en-US" altLang="zh-CN" sz="2400" dirty="0"/>
              <a:t>CAD</a:t>
            </a:r>
            <a:r>
              <a:rPr lang="zh-CN" altLang="en-US" sz="2400" dirty="0"/>
              <a:t>：函数插值、逼近、微分方程数值解</a:t>
            </a:r>
          </a:p>
          <a:p>
            <a:pPr lvl="1">
              <a:spcBef>
                <a:spcPts val="200"/>
              </a:spcBef>
            </a:pPr>
            <a:r>
              <a:rPr lang="zh-CN" altLang="en-US" sz="2400" dirty="0"/>
              <a:t>电子设计自动化（</a:t>
            </a:r>
            <a:r>
              <a:rPr lang="en-US" altLang="zh-CN" sz="2400" dirty="0"/>
              <a:t>EDA</a:t>
            </a:r>
            <a:r>
              <a:rPr lang="zh-CN" altLang="en-US" sz="2400" dirty="0"/>
              <a:t>）：大规模线性方程组求解、常微分方程、偏微分方程</a:t>
            </a:r>
          </a:p>
          <a:p>
            <a:pPr lvl="1">
              <a:spcBef>
                <a:spcPts val="200"/>
              </a:spcBef>
            </a:pPr>
            <a:r>
              <a:rPr lang="zh-CN" altLang="en-US" sz="2400" dirty="0"/>
              <a:t>高性能计算：性能评测、算法实现与优化、电力系统仿真、大气</a:t>
            </a:r>
            <a:r>
              <a:rPr lang="zh-CN" altLang="en-US" sz="2400" dirty="0" smtClean="0"/>
              <a:t>仿真</a:t>
            </a:r>
            <a:r>
              <a:rPr lang="zh-CN" altLang="en-US" sz="2400" dirty="0"/>
              <a:t>等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82423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510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5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"/>
                                        <p:tgtEl>
                                          <p:spTgt spid="510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25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510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9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"/>
                                        <p:tgtEl>
                                          <p:spTgt spid="510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525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"/>
                                        <p:tgtEl>
                                          <p:spTgt spid="510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0979" grpId="0" build="p" bldLvl="2" autoUpdateAnimBg="0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325317" y="6453921"/>
            <a:ext cx="2120411" cy="533400"/>
          </a:xfrm>
          <a:prstGeom prst="rect">
            <a:avLst/>
          </a:prstGeom>
        </p:spPr>
        <p:txBody>
          <a:bodyPr/>
          <a:lstStyle/>
          <a:p>
            <a:fld id="{6B308189-46DC-4DAD-BE78-8A5142D20408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应用领域</a:t>
            </a:r>
          </a:p>
        </p:txBody>
      </p:sp>
      <p:graphicFrame>
        <p:nvGraphicFramePr>
          <p:cNvPr id="684040" name="Object 8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283717"/>
              </p:ext>
            </p:extLst>
          </p:nvPr>
        </p:nvGraphicFramePr>
        <p:xfrm>
          <a:off x="4664320" y="2209804"/>
          <a:ext cx="1601665" cy="1308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Clip" r:id="rId4" imgW="4518000" imgH="3313080" progId="MS_ClipArt_Gallery.2">
                  <p:embed/>
                </p:oleObj>
              </mc:Choice>
              <mc:Fallback>
                <p:oleObj name="Clip" r:id="rId4" imgW="4518000" imgH="3313080" progId="MS_ClipArt_Gallery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320" y="2209804"/>
                        <a:ext cx="1601665" cy="13085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84041" name="Picture 9" descr="HumanGenom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462" y="2252301"/>
            <a:ext cx="1380392" cy="1431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4042" name="Text Box 10"/>
          <p:cNvSpPr txBox="1">
            <a:spLocks noChangeArrowheads="1"/>
          </p:cNvSpPr>
          <p:nvPr/>
        </p:nvSpPr>
        <p:spPr bwMode="auto">
          <a:xfrm>
            <a:off x="7666892" y="2322639"/>
            <a:ext cx="1477108" cy="433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zh-CN" altLang="en-US" sz="2215"/>
              <a:t>生命科学</a:t>
            </a:r>
          </a:p>
        </p:txBody>
      </p:sp>
      <p:pic>
        <p:nvPicPr>
          <p:cNvPr id="684044" name="Picture 12" descr="andrew-satellite-1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03" y="4240828"/>
            <a:ext cx="2102827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4045" name="Rectangle 13"/>
          <p:cNvSpPr>
            <a:spLocks noChangeArrowheads="1"/>
          </p:cNvSpPr>
          <p:nvPr/>
        </p:nvSpPr>
        <p:spPr bwMode="auto">
          <a:xfrm>
            <a:off x="2461847" y="4528043"/>
            <a:ext cx="1035861" cy="433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215">
                <a:solidFill>
                  <a:schemeClr val="tx2"/>
                </a:solidFill>
              </a:rPr>
              <a:t>天文学</a:t>
            </a:r>
          </a:p>
        </p:txBody>
      </p:sp>
      <p:pic>
        <p:nvPicPr>
          <p:cNvPr id="684046" name="Picture 14" descr="WaterFX0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03" y="2252301"/>
            <a:ext cx="2954215" cy="1888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4047" name="Rectangle 15"/>
          <p:cNvSpPr>
            <a:spLocks noChangeArrowheads="1"/>
          </p:cNvSpPr>
          <p:nvPr/>
        </p:nvSpPr>
        <p:spPr bwMode="auto">
          <a:xfrm>
            <a:off x="3376246" y="2277212"/>
            <a:ext cx="1319592" cy="774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215"/>
              <a:t>大气海洋</a:t>
            </a:r>
          </a:p>
          <a:p>
            <a:r>
              <a:rPr lang="zh-CN" altLang="en-US" sz="2215"/>
              <a:t>模拟</a:t>
            </a:r>
          </a:p>
        </p:txBody>
      </p:sp>
      <p:pic>
        <p:nvPicPr>
          <p:cNvPr id="684049" name="Picture 17" descr="galaxy-aerospace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3415" y="4076705"/>
            <a:ext cx="3493477" cy="2183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4051" name="Rectangle 19"/>
          <p:cNvSpPr>
            <a:spLocks noChangeArrowheads="1"/>
          </p:cNvSpPr>
          <p:nvPr/>
        </p:nvSpPr>
        <p:spPr bwMode="auto">
          <a:xfrm>
            <a:off x="7596554" y="3754320"/>
            <a:ext cx="1547446" cy="433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215">
                <a:solidFill>
                  <a:schemeClr val="tx2"/>
                </a:solidFill>
              </a:rPr>
              <a:t>航空航天</a:t>
            </a:r>
          </a:p>
        </p:txBody>
      </p:sp>
      <p:sp>
        <p:nvSpPr>
          <p:cNvPr id="684052" name="Rectangle 20"/>
          <p:cNvSpPr>
            <a:spLocks noChangeArrowheads="1"/>
          </p:cNvSpPr>
          <p:nvPr/>
        </p:nvSpPr>
        <p:spPr bwMode="auto">
          <a:xfrm>
            <a:off x="457200" y="908317"/>
            <a:ext cx="8141677" cy="1193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649288" indent="-2619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–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027113" indent="-2492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-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416050" indent="-260350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1804988" indent="-260350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2621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7193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1765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6337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153591" indent="-288000" defTabSz="91440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4">
                  <a:lumMod val="75000"/>
                </a:schemeClr>
              </a:buClr>
            </a:pPr>
            <a:r>
              <a:rPr lang="zh-CN" altLang="en-US" sz="2585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科学计算在物理、力学、化学、生命科学、天文学、经济科学及社会科学等领域得到广泛应用</a:t>
            </a:r>
          </a:p>
        </p:txBody>
      </p:sp>
    </p:spTree>
    <p:extLst>
      <p:ext uri="{BB962C8B-B14F-4D97-AF65-F5344CB8AC3E}">
        <p14:creationId xmlns:p14="http://schemas.microsoft.com/office/powerpoint/2010/main" val="3086137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>
          <a:xfrm>
            <a:off x="349498" y="6447583"/>
            <a:ext cx="2120411" cy="577850"/>
          </a:xfrm>
        </p:spPr>
        <p:txBody>
          <a:bodyPr/>
          <a:lstStyle/>
          <a:p>
            <a:fld id="{8D95A39D-7D0A-411E-B369-DC3135914BD1}" type="datetime1">
              <a:rPr lang="zh-CN" altLang="en-US" smtClean="0"/>
              <a:pPr/>
              <a:t>2024/9/11</a:t>
            </a:fld>
            <a:endParaRPr lang="en-US" altLang="zh-CN" sz="923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1295400" y="1502020"/>
          <a:ext cx="5627077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r:id="rId3" imgW="1015876" imgH="660430" progId="Equation.3">
                  <p:embed/>
                </p:oleObj>
              </mc:Choice>
              <mc:Fallback>
                <p:oleObj r:id="rId3" imgW="1015876" imgH="660430" progId="Equation.3">
                  <p:embed/>
                  <p:pic>
                    <p:nvPicPr>
                      <p:cNvPr id="0" name=""/>
                      <p:cNvPicPr>
                        <a:picLocks noRot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502020"/>
                        <a:ext cx="5627077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697523" y="1169377"/>
            <a:ext cx="7444154" cy="520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323" dirty="0">
                <a:ea typeface="宋体" pitchFamily="2" charset="-122"/>
              </a:rPr>
              <a:t>今有上禾三秉，中禾二秉，下禾一秉，实三十九斗；</a:t>
            </a:r>
          </a:p>
          <a:p>
            <a:r>
              <a:rPr lang="zh-CN" altLang="en-US" sz="3323" dirty="0">
                <a:ea typeface="宋体" pitchFamily="2" charset="-122"/>
              </a:rPr>
              <a:t>      上禾二秉，中禾三秉，下禾一秉，实三十四斗；</a:t>
            </a:r>
          </a:p>
          <a:p>
            <a:r>
              <a:rPr lang="zh-CN" altLang="en-US" sz="3323" dirty="0">
                <a:ea typeface="宋体" pitchFamily="2" charset="-122"/>
              </a:rPr>
              <a:t>     上禾一秉，中禾二秉，下禾三秉，实二十六斗。</a:t>
            </a:r>
          </a:p>
          <a:p>
            <a:r>
              <a:rPr lang="zh-CN" altLang="en-US" sz="3323" dirty="0">
                <a:ea typeface="宋体" pitchFamily="2" charset="-122"/>
              </a:rPr>
              <a:t>问上、中、下禾实一秉各几何？</a:t>
            </a:r>
          </a:p>
          <a:p>
            <a:r>
              <a:rPr lang="zh-CN" altLang="en-US" sz="3323" dirty="0">
                <a:ea typeface="宋体" pitchFamily="2" charset="-122"/>
              </a:rPr>
              <a:t>答曰：上禾一秉九斗四分斗之一。中禾一秉四斗四分斗之一。下禾一秉二斗四分斗之三。</a:t>
            </a:r>
            <a:r>
              <a:rPr lang="en-US" sz="3323" dirty="0">
                <a:ea typeface="宋体" pitchFamily="2" charset="-122"/>
              </a:rPr>
              <a:t>-------《</a:t>
            </a:r>
            <a:r>
              <a:rPr lang="zh-CN" altLang="en-US" sz="3323" dirty="0">
                <a:ea typeface="宋体" pitchFamily="2" charset="-122"/>
              </a:rPr>
              <a:t>九章算术</a:t>
            </a:r>
            <a:r>
              <a:rPr lang="en-US" sz="3323" dirty="0">
                <a:ea typeface="宋体" pitchFamily="2" charset="-122"/>
              </a:rPr>
              <a:t>》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57200" y="152401"/>
            <a:ext cx="8229600" cy="73341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025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025">
                <a:solidFill>
                  <a:schemeClr val="tx2"/>
                </a:solidFill>
                <a:latin typeface="Calibri" panose="020F050202020403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025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025">
                <a:solidFill>
                  <a:schemeClr val="tx2"/>
                </a:solidFill>
                <a:latin typeface="Calibri" panose="020F0502020204030204" pitchFamily="34" charset="0"/>
              </a:defRPr>
            </a:lvl5pPr>
            <a:lvl6pPr marL="257175" algn="l" rtl="0" eaLnBrk="1" fontAlgn="base" hangingPunct="1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2"/>
                </a:solidFill>
                <a:latin typeface="Calibri" panose="020F0502020204030204" pitchFamily="34" charset="0"/>
              </a:defRPr>
            </a:lvl6pPr>
            <a:lvl7pPr marL="514350" algn="l" rtl="0" eaLnBrk="1" fontAlgn="base" hangingPunct="1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2"/>
                </a:solidFill>
                <a:latin typeface="Calibri" panose="020F0502020204030204" pitchFamily="34" charset="0"/>
              </a:defRPr>
            </a:lvl7pPr>
            <a:lvl8pPr marL="771525" algn="l" rtl="0" eaLnBrk="1" fontAlgn="base" hangingPunct="1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2"/>
                </a:solidFill>
                <a:latin typeface="Calibri" panose="020F0502020204030204" pitchFamily="34" charset="0"/>
              </a:defRPr>
            </a:lvl8pPr>
            <a:lvl9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2"/>
                </a:solidFill>
                <a:latin typeface="Calibri" panose="020F0502020204030204" pitchFamily="34" charset="0"/>
              </a:defRPr>
            </a:lvl9pPr>
          </a:lstStyle>
          <a:p>
            <a:pPr defTabSz="914400"/>
            <a:r>
              <a:rPr lang="zh-CN" altLang="en-US" dirty="0"/>
              <a:t>一个两千年前的例子</a:t>
            </a:r>
          </a:p>
        </p:txBody>
      </p:sp>
    </p:spTree>
    <p:extLst>
      <p:ext uri="{BB962C8B-B14F-4D97-AF65-F5344CB8AC3E}">
        <p14:creationId xmlns:p14="http://schemas.microsoft.com/office/powerpoint/2010/main" val="258030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263142" y="6498015"/>
            <a:ext cx="2120411" cy="533400"/>
          </a:xfrm>
          <a:prstGeom prst="rect">
            <a:avLst/>
          </a:prstGeom>
        </p:spPr>
        <p:txBody>
          <a:bodyPr/>
          <a:lstStyle/>
          <a:p>
            <a:fld id="{30025244-0833-44A4-8069-845753EA2AC7}" type="datetime1">
              <a:rPr lang="zh-CN" altLang="en-US"/>
              <a:pPr/>
              <a:t>2024/9/11</a:t>
            </a:fld>
            <a:endParaRPr lang="en-US" altLang="zh-CN" sz="923"/>
          </a:p>
        </p:txBody>
      </p:sp>
      <p:sp>
        <p:nvSpPr>
          <p:cNvPr id="549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应用领域举例</a:t>
            </a:r>
            <a:r>
              <a:rPr lang="en-US" altLang="zh-CN"/>
              <a:t>1</a:t>
            </a:r>
          </a:p>
        </p:txBody>
      </p:sp>
      <p:sp>
        <p:nvSpPr>
          <p:cNvPr id="549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21690"/>
            <a:ext cx="8543192" cy="819185"/>
          </a:xfrm>
        </p:spPr>
        <p:txBody>
          <a:bodyPr/>
          <a:lstStyle/>
          <a:p>
            <a:r>
              <a:rPr lang="zh-CN" altLang="en-US" dirty="0"/>
              <a:t>计算炮弹轨迹</a:t>
            </a:r>
            <a:r>
              <a:rPr lang="zh-CN" altLang="en-US" dirty="0" smtClean="0"/>
              <a:t>时会使用插值</a:t>
            </a:r>
            <a:r>
              <a:rPr lang="zh-CN" altLang="en-US" dirty="0"/>
              <a:t>法</a:t>
            </a:r>
          </a:p>
        </p:txBody>
      </p:sp>
      <p:sp>
        <p:nvSpPr>
          <p:cNvPr id="549892" name="Rectangle 4"/>
          <p:cNvSpPr>
            <a:spLocks noChangeArrowheads="1"/>
          </p:cNvSpPr>
          <p:nvPr/>
        </p:nvSpPr>
        <p:spPr bwMode="auto">
          <a:xfrm>
            <a:off x="363415" y="2725616"/>
            <a:ext cx="4267200" cy="211015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62"/>
          </a:p>
        </p:txBody>
      </p:sp>
      <p:sp>
        <p:nvSpPr>
          <p:cNvPr id="549893" name="Rectangle 5"/>
          <p:cNvSpPr>
            <a:spLocks noChangeArrowheads="1"/>
          </p:cNvSpPr>
          <p:nvPr/>
        </p:nvSpPr>
        <p:spPr bwMode="auto">
          <a:xfrm>
            <a:off x="363415" y="2936631"/>
            <a:ext cx="4267200" cy="211015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62"/>
          </a:p>
        </p:txBody>
      </p:sp>
      <p:sp>
        <p:nvSpPr>
          <p:cNvPr id="549894" name="Rectangle 6"/>
          <p:cNvSpPr>
            <a:spLocks noChangeArrowheads="1"/>
          </p:cNvSpPr>
          <p:nvPr/>
        </p:nvSpPr>
        <p:spPr bwMode="auto">
          <a:xfrm>
            <a:off x="363415" y="3147646"/>
            <a:ext cx="4267200" cy="21101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62"/>
          </a:p>
        </p:txBody>
      </p:sp>
      <p:sp>
        <p:nvSpPr>
          <p:cNvPr id="549895" name="Rectangle 7"/>
          <p:cNvSpPr>
            <a:spLocks noChangeArrowheads="1"/>
          </p:cNvSpPr>
          <p:nvPr/>
        </p:nvSpPr>
        <p:spPr bwMode="auto">
          <a:xfrm>
            <a:off x="363415" y="3358662"/>
            <a:ext cx="4267200" cy="211015"/>
          </a:xfrm>
          <a:prstGeom prst="rect">
            <a:avLst/>
          </a:prstGeom>
          <a:solidFill>
            <a:srgbClr val="FFCC99"/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62"/>
          </a:p>
        </p:txBody>
      </p:sp>
      <p:sp>
        <p:nvSpPr>
          <p:cNvPr id="549896" name="Rectangle 8"/>
          <p:cNvSpPr>
            <a:spLocks noChangeArrowheads="1"/>
          </p:cNvSpPr>
          <p:nvPr/>
        </p:nvSpPr>
        <p:spPr bwMode="auto">
          <a:xfrm>
            <a:off x="363415" y="3569677"/>
            <a:ext cx="4267200" cy="211015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62"/>
          </a:p>
        </p:txBody>
      </p:sp>
      <p:grpSp>
        <p:nvGrpSpPr>
          <p:cNvPr id="549897" name="Group 9"/>
          <p:cNvGrpSpPr>
            <a:grpSpLocks/>
          </p:cNvGrpSpPr>
          <p:nvPr/>
        </p:nvGrpSpPr>
        <p:grpSpPr bwMode="auto">
          <a:xfrm>
            <a:off x="0" y="2350477"/>
            <a:ext cx="4783015" cy="2344615"/>
            <a:chOff x="347" y="1472"/>
            <a:chExt cx="3013" cy="1600"/>
          </a:xfrm>
        </p:grpSpPr>
        <p:sp>
          <p:nvSpPr>
            <p:cNvPr id="549898" name="Line 10"/>
            <p:cNvSpPr>
              <a:spLocks noChangeShapeType="1"/>
            </p:cNvSpPr>
            <p:nvPr/>
          </p:nvSpPr>
          <p:spPr bwMode="auto">
            <a:xfrm>
              <a:off x="347" y="2673"/>
              <a:ext cx="3013" cy="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62"/>
            </a:p>
          </p:txBody>
        </p:sp>
        <p:sp>
          <p:nvSpPr>
            <p:cNvPr id="549899" name="Line 11"/>
            <p:cNvSpPr>
              <a:spLocks noChangeShapeType="1"/>
            </p:cNvSpPr>
            <p:nvPr/>
          </p:nvSpPr>
          <p:spPr bwMode="auto">
            <a:xfrm flipV="1">
              <a:off x="600" y="1554"/>
              <a:ext cx="0" cy="15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62"/>
            </a:p>
          </p:txBody>
        </p:sp>
        <p:sp>
          <p:nvSpPr>
            <p:cNvPr id="549900" name="Text Box 12"/>
            <p:cNvSpPr txBox="1">
              <a:spLocks noChangeArrowheads="1"/>
            </p:cNvSpPr>
            <p:nvPr/>
          </p:nvSpPr>
          <p:spPr bwMode="auto">
            <a:xfrm>
              <a:off x="630" y="1472"/>
              <a:ext cx="252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769" i="1"/>
                <a:t>y</a:t>
              </a:r>
            </a:p>
          </p:txBody>
        </p:sp>
        <p:sp>
          <p:nvSpPr>
            <p:cNvPr id="549901" name="Freeform 13"/>
            <p:cNvSpPr>
              <a:spLocks/>
            </p:cNvSpPr>
            <p:nvPr/>
          </p:nvSpPr>
          <p:spPr bwMode="auto">
            <a:xfrm>
              <a:off x="720" y="1912"/>
              <a:ext cx="2496" cy="968"/>
            </a:xfrm>
            <a:custGeom>
              <a:avLst/>
              <a:gdLst>
                <a:gd name="T0" fmla="*/ 0 w 2496"/>
                <a:gd name="T1" fmla="*/ 728 h 968"/>
                <a:gd name="T2" fmla="*/ 336 w 2496"/>
                <a:gd name="T3" fmla="*/ 344 h 968"/>
                <a:gd name="T4" fmla="*/ 768 w 2496"/>
                <a:gd name="T5" fmla="*/ 56 h 968"/>
                <a:gd name="T6" fmla="*/ 1056 w 2496"/>
                <a:gd name="T7" fmla="*/ 8 h 968"/>
                <a:gd name="T8" fmla="*/ 1344 w 2496"/>
                <a:gd name="T9" fmla="*/ 56 h 968"/>
                <a:gd name="T10" fmla="*/ 1632 w 2496"/>
                <a:gd name="T11" fmla="*/ 152 h 968"/>
                <a:gd name="T12" fmla="*/ 2064 w 2496"/>
                <a:gd name="T13" fmla="*/ 440 h 968"/>
                <a:gd name="T14" fmla="*/ 2352 w 2496"/>
                <a:gd name="T15" fmla="*/ 680 h 968"/>
                <a:gd name="T16" fmla="*/ 2448 w 2496"/>
                <a:gd name="T17" fmla="*/ 824 h 968"/>
                <a:gd name="T18" fmla="*/ 2496 w 2496"/>
                <a:gd name="T19" fmla="*/ 968 h 9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6" h="968">
                  <a:moveTo>
                    <a:pt x="0" y="728"/>
                  </a:moveTo>
                  <a:cubicBezTo>
                    <a:pt x="104" y="592"/>
                    <a:pt x="208" y="456"/>
                    <a:pt x="336" y="344"/>
                  </a:cubicBezTo>
                  <a:cubicBezTo>
                    <a:pt x="464" y="232"/>
                    <a:pt x="648" y="112"/>
                    <a:pt x="768" y="56"/>
                  </a:cubicBezTo>
                  <a:cubicBezTo>
                    <a:pt x="888" y="0"/>
                    <a:pt x="960" y="8"/>
                    <a:pt x="1056" y="8"/>
                  </a:cubicBezTo>
                  <a:cubicBezTo>
                    <a:pt x="1152" y="8"/>
                    <a:pt x="1248" y="32"/>
                    <a:pt x="1344" y="56"/>
                  </a:cubicBezTo>
                  <a:cubicBezTo>
                    <a:pt x="1440" y="80"/>
                    <a:pt x="1512" y="88"/>
                    <a:pt x="1632" y="152"/>
                  </a:cubicBezTo>
                  <a:cubicBezTo>
                    <a:pt x="1752" y="216"/>
                    <a:pt x="1944" y="352"/>
                    <a:pt x="2064" y="440"/>
                  </a:cubicBezTo>
                  <a:cubicBezTo>
                    <a:pt x="2184" y="528"/>
                    <a:pt x="2288" y="616"/>
                    <a:pt x="2352" y="680"/>
                  </a:cubicBezTo>
                  <a:cubicBezTo>
                    <a:pt x="2416" y="744"/>
                    <a:pt x="2424" y="776"/>
                    <a:pt x="2448" y="824"/>
                  </a:cubicBezTo>
                  <a:cubicBezTo>
                    <a:pt x="2472" y="872"/>
                    <a:pt x="2484" y="920"/>
                    <a:pt x="2496" y="968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62"/>
            </a:p>
          </p:txBody>
        </p:sp>
      </p:grpSp>
      <p:sp>
        <p:nvSpPr>
          <p:cNvPr id="549902" name="Rectangle 14"/>
          <p:cNvSpPr>
            <a:spLocks noChangeArrowheads="1"/>
          </p:cNvSpPr>
          <p:nvPr/>
        </p:nvSpPr>
        <p:spPr bwMode="auto">
          <a:xfrm>
            <a:off x="4777154" y="1951893"/>
            <a:ext cx="4085492" cy="2068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258763" indent="-258763" algn="l" defTabSz="814388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649288" indent="-261938" algn="l" defTabSz="814388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027113" indent="-249238" algn="l" defTabSz="814388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416050" indent="-260350" algn="l" defTabSz="814388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1804988" indent="-260350" algn="l" defTabSz="814388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262188" indent="-26035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719388" indent="-26035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176588" indent="-26035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633788" indent="-26035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Ø"/>
            </a:pPr>
            <a:r>
              <a:rPr lang="zh-CN" altLang="en-US" sz="25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炮弹在空中运行时会受到诸多因素影响，</a:t>
            </a:r>
          </a:p>
          <a:p>
            <a:pPr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Ø"/>
            </a:pPr>
            <a:r>
              <a:rPr lang="zh-CN" altLang="en-US" sz="25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实际给出的都是表格数据</a:t>
            </a:r>
          </a:p>
          <a:p>
            <a:pPr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Ø"/>
            </a:pPr>
            <a:r>
              <a:rPr lang="zh-CN" altLang="en-US" sz="25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要用插值方法计算出相应数据</a:t>
            </a:r>
          </a:p>
        </p:txBody>
      </p:sp>
      <p:sp>
        <p:nvSpPr>
          <p:cNvPr id="549903" name="AutoShape 15"/>
          <p:cNvSpPr>
            <a:spLocks noChangeArrowheads="1"/>
          </p:cNvSpPr>
          <p:nvPr/>
        </p:nvSpPr>
        <p:spPr bwMode="auto">
          <a:xfrm>
            <a:off x="820615" y="1951892"/>
            <a:ext cx="1143000" cy="562708"/>
          </a:xfrm>
          <a:prstGeom prst="wedgeRectCallout">
            <a:avLst>
              <a:gd name="adj1" fmla="val 62083"/>
              <a:gd name="adj2" fmla="val 102606"/>
            </a:avLst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 sz="2954">
                <a:ea typeface="黑体" pitchFamily="2" charset="-122"/>
              </a:rPr>
              <a:t>层风</a:t>
            </a:r>
          </a:p>
        </p:txBody>
      </p:sp>
      <p:sp>
        <p:nvSpPr>
          <p:cNvPr id="549904" name="Rectangle 16"/>
          <p:cNvSpPr>
            <a:spLocks noChangeArrowheads="1"/>
          </p:cNvSpPr>
          <p:nvPr/>
        </p:nvSpPr>
        <p:spPr bwMode="auto">
          <a:xfrm>
            <a:off x="304800" y="4554415"/>
            <a:ext cx="8534400" cy="1676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258763" indent="-258763" algn="l" defTabSz="814388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649288" indent="-261938" algn="l" defTabSz="814388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027113" indent="-249238" algn="l" defTabSz="814388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416050" indent="-260350" algn="l" defTabSz="814388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1804988" indent="-260350" algn="l" defTabSz="814388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262188" indent="-26035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719388" indent="-26035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176588" indent="-26035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633788" indent="-26035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153591" indent="-288000" defTabSz="914400" fontAlgn="base">
              <a:lnSpc>
                <a:spcPct val="150000"/>
              </a:lnSpc>
              <a:spcAft>
                <a:spcPct val="0"/>
              </a:spcAft>
              <a:buClr>
                <a:schemeClr val="accent4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计算炮弹降落点时</a:t>
            </a:r>
          </a:p>
          <a:p>
            <a:pPr lvl="1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Ø"/>
            </a:pPr>
            <a:r>
              <a:rPr lang="zh-CN" altLang="en-US" sz="2585" dirty="0">
                <a:solidFill>
                  <a:srgbClr val="000000"/>
                </a:solidFill>
                <a:latin typeface="+mj-ea"/>
                <a:ea typeface="+mj-ea"/>
              </a:rPr>
              <a:t>需要逐步判断函数值是否小于0</a:t>
            </a:r>
          </a:p>
          <a:p>
            <a:pPr lvl="1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Ø"/>
            </a:pPr>
            <a:r>
              <a:rPr lang="zh-CN" altLang="en-US" sz="2585" dirty="0">
                <a:solidFill>
                  <a:srgbClr val="000000"/>
                </a:solidFill>
                <a:latin typeface="+mj-ea"/>
                <a:ea typeface="+mj-ea"/>
              </a:rPr>
              <a:t>发现某一点函数值小于0后，通过插值法找炮弹降落点</a:t>
            </a:r>
          </a:p>
        </p:txBody>
      </p:sp>
    </p:spTree>
    <p:extLst>
      <p:ext uri="{BB962C8B-B14F-4D97-AF65-F5344CB8AC3E}">
        <p14:creationId xmlns:p14="http://schemas.microsoft.com/office/powerpoint/2010/main" val="2777624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549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"/>
                                        <p:tgtEl>
                                          <p:spTgt spid="549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85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5499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675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"/>
                                        <p:tgtEl>
                                          <p:spTgt spid="5499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6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49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715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4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6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49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815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49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865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49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9150"/>
                            </p:stCondLst>
                            <p:childTnLst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9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49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75"/>
                                        <p:tgtEl>
                                          <p:spTgt spid="549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75"/>
                                        <p:tgtEl>
                                          <p:spTgt spid="5499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75"/>
                                        <p:tgtEl>
                                          <p:spTgt spid="5499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9892" grpId="0" animBg="1"/>
      <p:bldP spid="549893" grpId="0" animBg="1"/>
      <p:bldP spid="549894" grpId="0" animBg="1"/>
      <p:bldP spid="549895" grpId="0" animBg="1"/>
      <p:bldP spid="549896" grpId="0" animBg="1"/>
      <p:bldP spid="549902" grpId="0" build="p" autoUpdateAnimBg="0" advAuto="0"/>
      <p:bldP spid="549903" grpId="0" animBg="1" autoUpdateAnimBg="0"/>
      <p:bldP spid="549904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365052" y="6415130"/>
            <a:ext cx="2120411" cy="533400"/>
          </a:xfrm>
          <a:prstGeom prst="rect">
            <a:avLst/>
          </a:prstGeom>
        </p:spPr>
        <p:txBody>
          <a:bodyPr/>
          <a:lstStyle/>
          <a:p>
            <a:fld id="{73334861-5C04-47A5-B902-E08D55D96507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551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应用领域举例</a:t>
            </a:r>
            <a:r>
              <a:rPr lang="en-US" altLang="zh-CN"/>
              <a:t>2</a:t>
            </a:r>
          </a:p>
        </p:txBody>
      </p:sp>
      <p:sp>
        <p:nvSpPr>
          <p:cNvPr id="551942" name="Rectangle 6"/>
          <p:cNvSpPr>
            <a:spLocks noChangeArrowheads="1"/>
          </p:cNvSpPr>
          <p:nvPr/>
        </p:nvSpPr>
        <p:spPr bwMode="auto">
          <a:xfrm>
            <a:off x="365052" y="998455"/>
            <a:ext cx="5546742" cy="413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649288" indent="-2619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–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027113" indent="-2492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-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416050" indent="-260350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1804988" indent="-260350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2621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7193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1765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6337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153591" indent="-288000" defTabSz="9144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4">
                  <a:lumMod val="75000"/>
                </a:schemeClr>
              </a:buClr>
            </a:pPr>
            <a:r>
              <a:rPr lang="zh-CN" altLang="en-US" sz="28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水坝设计、还有高层建筑、桥梁的设计，会用到线性方程组的计算</a:t>
            </a:r>
          </a:p>
          <a:p>
            <a:pPr marL="153591" indent="-288000" defTabSz="9144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4">
                  <a:lumMod val="75000"/>
                </a:schemeClr>
              </a:buClr>
            </a:pPr>
            <a:r>
              <a:rPr lang="zh-CN" altLang="en-US" sz="28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在设计初期，最重要的是</a:t>
            </a:r>
            <a:r>
              <a:rPr lang="zh-CN" altLang="en-US" sz="2800" b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对应力 </a:t>
            </a:r>
            <a:r>
              <a:rPr lang="zh-CN" altLang="en-US" sz="28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的计算。不同地方其应力是不一样的，需要获得应力分布情况</a:t>
            </a:r>
          </a:p>
          <a:p>
            <a:pPr marL="153591" indent="-288000" defTabSz="9144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4">
                  <a:lumMod val="75000"/>
                </a:schemeClr>
              </a:buClr>
            </a:pPr>
            <a:r>
              <a:rPr lang="zh-CN" altLang="en-US" sz="28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根据这些情况，要进行材料选择和设计，应力大的地方就要选择好材料或在结构上作必要的加强</a:t>
            </a:r>
          </a:p>
        </p:txBody>
      </p:sp>
      <p:pic>
        <p:nvPicPr>
          <p:cNvPr id="551945" name="Picture 9" descr="https://timgsa.baidu.com/timg?image&amp;quality=80&amp;size=b10000_10000&amp;sec=1474602382741&amp;di=f3797af992567319b377b8531c82ae54&amp;imgtype=jpg&amp;src=http%3A%2F%2Fwww.51qilv.com%2Fgonglue%2Fuploads%2F201207%2F1342167787BaoxtJPU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129" y="4516660"/>
            <a:ext cx="2560893" cy="1898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1947" name="Picture 11" descr="https://timgsa.baidu.com/timg?image&amp;quality=80&amp;size=b10000_10000&amp;sec=1474602450546&amp;di=93e5fafc1288a8c686d8484761867644&amp;imgtype=jpg&amp;src=http%3A%2F%2Fwww.visitbeijing.com.cn%2Fuploads%2Ffile%2F2016%2F0223%2F2016022304191457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129" y="2742157"/>
            <a:ext cx="2560894" cy="161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1949" name="Picture 13" descr="坝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499" y="975747"/>
            <a:ext cx="2531293" cy="1683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2886714"/>
      </p:ext>
    </p:extLst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298939" y="6459840"/>
            <a:ext cx="2120411" cy="533400"/>
          </a:xfrm>
          <a:prstGeom prst="rect">
            <a:avLst/>
          </a:prstGeom>
        </p:spPr>
        <p:txBody>
          <a:bodyPr/>
          <a:lstStyle/>
          <a:p>
            <a:fld id="{8177F5B3-DE48-4F25-B712-814CA554BC31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应用领域举例</a:t>
            </a:r>
            <a:r>
              <a:rPr lang="en-US" altLang="zh-CN"/>
              <a:t>3</a:t>
            </a:r>
          </a:p>
        </p:txBody>
      </p:sp>
      <p:pic>
        <p:nvPicPr>
          <p:cNvPr id="553988" name="Picture 4" descr="TN00686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23" y="1953358"/>
            <a:ext cx="1186962" cy="773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53989" name="Group 5"/>
          <p:cNvGrpSpPr>
            <a:grpSpLocks/>
          </p:cNvGrpSpPr>
          <p:nvPr/>
        </p:nvGrpSpPr>
        <p:grpSpPr bwMode="auto">
          <a:xfrm>
            <a:off x="735623" y="1953358"/>
            <a:ext cx="4006362" cy="3868615"/>
            <a:chOff x="384" y="1200"/>
            <a:chExt cx="2524" cy="2640"/>
          </a:xfrm>
        </p:grpSpPr>
        <p:pic>
          <p:nvPicPr>
            <p:cNvPr id="553990" name="Picture 6" descr="TN00686_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0" y="1200"/>
              <a:ext cx="748" cy="5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53991" name="Arc 7"/>
            <p:cNvSpPr>
              <a:spLocks/>
            </p:cNvSpPr>
            <p:nvPr/>
          </p:nvSpPr>
          <p:spPr bwMode="auto">
            <a:xfrm flipH="1">
              <a:off x="512" y="1728"/>
              <a:ext cx="1696" cy="211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9128"/>
                <a:gd name="T1" fmla="*/ 0 h 21600"/>
                <a:gd name="T2" fmla="*/ 19128 w 19128"/>
                <a:gd name="T3" fmla="*/ 11567 h 21600"/>
                <a:gd name="T4" fmla="*/ 0 w 1912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128" h="21600" fill="none" extrusionOk="0">
                  <a:moveTo>
                    <a:pt x="-1" y="0"/>
                  </a:moveTo>
                  <a:cubicBezTo>
                    <a:pt x="8030" y="0"/>
                    <a:pt x="15398" y="4455"/>
                    <a:pt x="19128" y="11566"/>
                  </a:cubicBezTo>
                </a:path>
                <a:path w="19128" h="21600" stroke="0" extrusionOk="0">
                  <a:moveTo>
                    <a:pt x="-1" y="0"/>
                  </a:moveTo>
                  <a:cubicBezTo>
                    <a:pt x="8030" y="0"/>
                    <a:pt x="15398" y="4455"/>
                    <a:pt x="19128" y="1156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62"/>
            </a:p>
          </p:txBody>
        </p:sp>
        <p:sp>
          <p:nvSpPr>
            <p:cNvPr id="553992" name="AutoShape 8"/>
            <p:cNvSpPr>
              <a:spLocks noChangeArrowheads="1"/>
            </p:cNvSpPr>
            <p:nvPr/>
          </p:nvSpPr>
          <p:spPr bwMode="auto">
            <a:xfrm rot="16200000">
              <a:off x="312" y="2832"/>
              <a:ext cx="336" cy="192"/>
            </a:xfrm>
            <a:prstGeom prst="homePlate">
              <a:avLst>
                <a:gd name="adj" fmla="val 43750"/>
              </a:avLst>
            </a:prstGeom>
            <a:solidFill>
              <a:srgbClr val="80808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62"/>
            </a:p>
          </p:txBody>
        </p:sp>
        <p:sp>
          <p:nvSpPr>
            <p:cNvPr id="553993" name="AutoShape 9"/>
            <p:cNvSpPr>
              <a:spLocks noChangeArrowheads="1"/>
            </p:cNvSpPr>
            <p:nvPr/>
          </p:nvSpPr>
          <p:spPr bwMode="auto">
            <a:xfrm>
              <a:off x="1920" y="1632"/>
              <a:ext cx="336" cy="192"/>
            </a:xfrm>
            <a:prstGeom prst="homePlate">
              <a:avLst>
                <a:gd name="adj" fmla="val 43750"/>
              </a:avLst>
            </a:prstGeom>
            <a:solidFill>
              <a:srgbClr val="80808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62"/>
            </a:p>
          </p:txBody>
        </p:sp>
        <p:sp>
          <p:nvSpPr>
            <p:cNvPr id="553994" name="Line 10"/>
            <p:cNvSpPr>
              <a:spLocks noChangeShapeType="1"/>
            </p:cNvSpPr>
            <p:nvPr/>
          </p:nvSpPr>
          <p:spPr bwMode="auto">
            <a:xfrm>
              <a:off x="1056" y="1344"/>
              <a:ext cx="10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62"/>
            </a:p>
          </p:txBody>
        </p:sp>
      </p:grpSp>
      <p:sp>
        <p:nvSpPr>
          <p:cNvPr id="553995" name="Rectangle 11"/>
          <p:cNvSpPr>
            <a:spLocks noChangeArrowheads="1"/>
          </p:cNvSpPr>
          <p:nvPr/>
        </p:nvSpPr>
        <p:spPr bwMode="auto">
          <a:xfrm>
            <a:off x="1647093" y="4160228"/>
            <a:ext cx="5583115" cy="2068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258763" indent="-258763" algn="l" defTabSz="814388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649288" indent="-261938" algn="l" defTabSz="814388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027113" indent="-249238" algn="l" defTabSz="814388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416050" indent="-260350" algn="l" defTabSz="814388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1804988" indent="-260350" algn="l" defTabSz="814388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262188" indent="-26035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719388" indent="-26035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176588" indent="-26035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633788" indent="-26035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Ø"/>
            </a:pPr>
            <a:r>
              <a:rPr lang="zh-CN" altLang="en-US" sz="25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雷达测量敌机的位置坐标,可以求出这一点飞机的速度和加速度</a:t>
            </a:r>
          </a:p>
          <a:p>
            <a:pPr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Ø"/>
            </a:pPr>
            <a:r>
              <a:rPr lang="zh-CN" altLang="en-US" sz="25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之后要解决命中问题</a:t>
            </a:r>
          </a:p>
          <a:p>
            <a:pPr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Ø"/>
            </a:pPr>
            <a:r>
              <a:rPr lang="zh-CN" altLang="en-US" sz="25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需要用迭代方法进行计算,这种情况对迭代方法要求很苛刻</a:t>
            </a:r>
          </a:p>
        </p:txBody>
      </p:sp>
      <p:pic>
        <p:nvPicPr>
          <p:cNvPr id="553997" name="Picture 13" descr="mil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162" y="2099896"/>
            <a:ext cx="2310912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4000" name="Rectangle 16"/>
          <p:cNvSpPr>
            <a:spLocks noChangeArrowheads="1"/>
          </p:cNvSpPr>
          <p:nvPr/>
        </p:nvSpPr>
        <p:spPr bwMode="auto">
          <a:xfrm>
            <a:off x="527538" y="910581"/>
            <a:ext cx="82878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649288" indent="-2619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–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027113" indent="-2492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-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416050" indent="-260350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1804988" indent="-260350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2621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7193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1765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6337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153591" indent="-288000" defTabSz="91440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4">
                  <a:lumMod val="75000"/>
                </a:schemeClr>
              </a:buClr>
            </a:pPr>
            <a:r>
              <a:rPr lang="zh-CN" altLang="en-US" sz="28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命中敌人飞机的问题中需要迭代法和数值微分公式</a:t>
            </a:r>
          </a:p>
        </p:txBody>
      </p:sp>
    </p:spTree>
    <p:extLst>
      <p:ext uri="{BB962C8B-B14F-4D97-AF65-F5344CB8AC3E}">
        <p14:creationId xmlns:p14="http://schemas.microsoft.com/office/powerpoint/2010/main" val="1098053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3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3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53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99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294653" y="6514370"/>
            <a:ext cx="2120411" cy="533400"/>
          </a:xfrm>
          <a:prstGeom prst="rect">
            <a:avLst/>
          </a:prstGeom>
        </p:spPr>
        <p:txBody>
          <a:bodyPr/>
          <a:lstStyle/>
          <a:p>
            <a:fld id="{E2943019-3F52-47C3-8748-B732057A50EF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547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应用领域举例</a:t>
            </a:r>
            <a:r>
              <a:rPr lang="en-US" altLang="zh-CN"/>
              <a:t>4</a:t>
            </a:r>
          </a:p>
        </p:txBody>
      </p:sp>
      <p:sp>
        <p:nvSpPr>
          <p:cNvPr id="547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72593" y="1121745"/>
            <a:ext cx="4170485" cy="1063869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飞机、轮船、汽车等的外形设计上，需要尽可能作出</a:t>
            </a:r>
            <a:r>
              <a:rPr lang="zh-CN" altLang="en-US" dirty="0" smtClean="0"/>
              <a:t>流线型</a:t>
            </a:r>
            <a:endParaRPr lang="en-US" altLang="zh-CN" dirty="0" smtClean="0"/>
          </a:p>
          <a:p>
            <a:pPr>
              <a:lnSpc>
                <a:spcPct val="120000"/>
              </a:lnSpc>
            </a:pPr>
            <a:r>
              <a:rPr lang="zh-CN" altLang="en-US" dirty="0"/>
              <a:t>否则产生</a:t>
            </a:r>
            <a:r>
              <a:rPr lang="zh-CN" altLang="en-US" dirty="0">
                <a:latin typeface="Times New Roman" pitchFamily="18" charset="0"/>
              </a:rPr>
              <a:t>风的涡轮，消耗动能，影响</a:t>
            </a:r>
            <a:r>
              <a:rPr lang="zh-CN" altLang="en-US" dirty="0" smtClean="0">
                <a:latin typeface="Times New Roman" pitchFamily="18" charset="0"/>
              </a:rPr>
              <a:t>速度</a:t>
            </a:r>
            <a:endParaRPr lang="en-US" altLang="zh-CN" dirty="0" smtClean="0">
              <a:latin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itchFamily="18" charset="0"/>
              </a:rPr>
              <a:t>需要事先计算好</a:t>
            </a:r>
            <a:r>
              <a:rPr lang="zh-CN" altLang="en-US" dirty="0" smtClean="0">
                <a:latin typeface="Times New Roman" pitchFamily="18" charset="0"/>
              </a:rPr>
              <a:t>样条函数，使曲线足够光滑</a:t>
            </a:r>
            <a:endParaRPr lang="zh-CN" altLang="en-US" dirty="0"/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pic>
        <p:nvPicPr>
          <p:cNvPr id="547924" name="Picture 84" descr="cadca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68" y="3706323"/>
            <a:ext cx="3376246" cy="1672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7930" name="Picture 90" descr="http://pic9.nipic.com/20100917/5653289_175109118797_2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27372" y="1535204"/>
            <a:ext cx="3515142" cy="185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2441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547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547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547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7843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758354" y="6101861"/>
            <a:ext cx="2309446" cy="486508"/>
          </a:xfrm>
          <a:prstGeom prst="rect">
            <a:avLst/>
          </a:prstGeom>
        </p:spPr>
        <p:txBody>
          <a:bodyPr/>
          <a:lstStyle/>
          <a:p>
            <a:fld id="{33D0692A-0439-4631-B62C-E7A18E8DB63C}" type="slidenum">
              <a:rPr lang="zh-CN" altLang="en-US"/>
              <a:pPr/>
              <a:t>19</a:t>
            </a:fld>
            <a:endParaRPr lang="en-US" altLang="zh-CN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457200" y="6549552"/>
            <a:ext cx="2120411" cy="533400"/>
          </a:xfrm>
          <a:prstGeom prst="rect">
            <a:avLst/>
          </a:prstGeom>
        </p:spPr>
        <p:txBody>
          <a:bodyPr/>
          <a:lstStyle/>
          <a:p>
            <a:fld id="{5182CE4E-6C8D-4252-AA45-790F5F8A4BAB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69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应用举例</a:t>
            </a:r>
            <a:endParaRPr lang="en-US" altLang="zh-CN" dirty="0"/>
          </a:p>
        </p:txBody>
      </p:sp>
      <p:pic>
        <p:nvPicPr>
          <p:cNvPr id="695300" name="Picture 4" descr="未命名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008" y="1900605"/>
            <a:ext cx="3453912" cy="272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5301" name="Picture 5" descr="未命名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577" y="3827585"/>
            <a:ext cx="3256085" cy="2561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5302" name="Picture 6" descr="未命名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74" y="2700705"/>
            <a:ext cx="3278065" cy="2580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5303" name="Rectangle 7"/>
          <p:cNvSpPr>
            <a:spLocks noChangeArrowheads="1"/>
          </p:cNvSpPr>
          <p:nvPr/>
        </p:nvSpPr>
        <p:spPr bwMode="auto">
          <a:xfrm>
            <a:off x="457200" y="1074392"/>
            <a:ext cx="8141677" cy="990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649288" indent="-2619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–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027113" indent="-2492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-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416050" indent="-260350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1804988" indent="-260350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2621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7193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1765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6337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153591" indent="-288000" defTabSz="9144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4">
                  <a:lumMod val="75000"/>
                </a:schemeClr>
              </a:buClr>
            </a:pPr>
            <a:r>
              <a:rPr lang="zh-CN" altLang="en-US" sz="28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使用迭代算法可以达到漫射的效果，使边缘图案发生漫射</a:t>
            </a:r>
          </a:p>
        </p:txBody>
      </p:sp>
      <p:sp>
        <p:nvSpPr>
          <p:cNvPr id="695305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2788627" y="2082312"/>
            <a:ext cx="1729154" cy="414703"/>
          </a:xfrm>
          <a:noFill/>
          <a:ln/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l-GR" altLang="zh-CN" b="0"/>
              <a:t>α</a:t>
            </a:r>
            <a:r>
              <a:rPr lang="zh-CN" altLang="en-US" b="0"/>
              <a:t>＝</a:t>
            </a:r>
            <a:r>
              <a:rPr lang="en-US" altLang="zh-CN" b="0"/>
              <a:t>0.1</a:t>
            </a:r>
          </a:p>
        </p:txBody>
      </p:sp>
      <p:sp>
        <p:nvSpPr>
          <p:cNvPr id="695306" name="Rectangle 10"/>
          <p:cNvSpPr>
            <a:spLocks noChangeArrowheads="1"/>
          </p:cNvSpPr>
          <p:nvPr/>
        </p:nvSpPr>
        <p:spPr bwMode="auto">
          <a:xfrm>
            <a:off x="3774831" y="5156689"/>
            <a:ext cx="1729154" cy="414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649288" indent="-2619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–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027113" indent="-2492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-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416050" indent="-260350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1804988" indent="-260350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2621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7193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1765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6337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l-GR" altLang="zh-CN" sz="2954" b="0"/>
              <a:t>α</a:t>
            </a:r>
            <a:r>
              <a:rPr lang="zh-CN" altLang="en-US" sz="2954" b="0"/>
              <a:t>＝</a:t>
            </a:r>
            <a:r>
              <a:rPr lang="en-US" altLang="zh-CN" sz="2954" b="0"/>
              <a:t>0.5</a:t>
            </a:r>
          </a:p>
        </p:txBody>
      </p:sp>
    </p:spTree>
    <p:extLst>
      <p:ext uri="{BB962C8B-B14F-4D97-AF65-F5344CB8AC3E}">
        <p14:creationId xmlns:p14="http://schemas.microsoft.com/office/powerpoint/2010/main" val="1634555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341802" y="6443663"/>
            <a:ext cx="2120411" cy="533400"/>
          </a:xfrm>
          <a:prstGeom prst="rect">
            <a:avLst/>
          </a:prstGeom>
        </p:spPr>
        <p:txBody>
          <a:bodyPr/>
          <a:lstStyle/>
          <a:p>
            <a:fld id="{8A06F833-BFEB-4FC6-BA9B-CB9592F9EB8F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72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45477" y="276957"/>
            <a:ext cx="8229600" cy="608135"/>
          </a:xfrm>
          <a:noFill/>
          <a:ln/>
        </p:spPr>
        <p:txBody>
          <a:bodyPr/>
          <a:lstStyle/>
          <a:p>
            <a:r>
              <a:rPr lang="zh-CN" altLang="en-US" dirty="0"/>
              <a:t>迭代方法</a:t>
            </a:r>
          </a:p>
        </p:txBody>
      </p:sp>
      <p:sp>
        <p:nvSpPr>
          <p:cNvPr id="72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5477" y="892785"/>
            <a:ext cx="8141677" cy="808892"/>
          </a:xfrm>
        </p:spPr>
        <p:txBody>
          <a:bodyPr/>
          <a:lstStyle/>
          <a:p>
            <a:r>
              <a:rPr lang="zh-CN" altLang="en-US" dirty="0"/>
              <a:t>利用漫射操作可以使边缘图案发生漫射，求解下述方程可以达到这个目的</a:t>
            </a:r>
          </a:p>
        </p:txBody>
      </p:sp>
      <p:graphicFrame>
        <p:nvGraphicFramePr>
          <p:cNvPr id="7219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577522"/>
              </p:ext>
            </p:extLst>
          </p:nvPr>
        </p:nvGraphicFramePr>
        <p:xfrm>
          <a:off x="1542318" y="2228300"/>
          <a:ext cx="6185388" cy="4615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公式" r:id="rId3" imgW="2984400" imgH="241200" progId="Equation.3">
                  <p:embed/>
                </p:oleObj>
              </mc:Choice>
              <mc:Fallback>
                <p:oleObj name="公式" r:id="rId3" imgW="29844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2318" y="2228300"/>
                        <a:ext cx="6185388" cy="4615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1925" name="Rectangle 5"/>
          <p:cNvSpPr>
            <a:spLocks noChangeArrowheads="1"/>
          </p:cNvSpPr>
          <p:nvPr/>
        </p:nvSpPr>
        <p:spPr bwMode="auto">
          <a:xfrm>
            <a:off x="634511" y="2813537"/>
            <a:ext cx="7952643" cy="1217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–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-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zh-CN" altLang="en-US" sz="2954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其中</a:t>
            </a:r>
            <a:r>
              <a:rPr lang="el-GR" altLang="zh-CN" sz="2954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lang="zh-CN" altLang="en-US" sz="2954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是控制漫射区域的参数， </a:t>
            </a:r>
            <a:r>
              <a:rPr lang="el-GR" altLang="zh-CN" sz="2954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lang="zh-CN" altLang="en-US" sz="2954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越大，漫射区域越小。</a:t>
            </a:r>
          </a:p>
          <a:p>
            <a:r>
              <a:rPr lang="zh-CN" altLang="en-US" sz="2954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例如：基于</a:t>
            </a:r>
            <a:r>
              <a:rPr lang="en-US" altLang="zh-CN" sz="2954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Gauss-Seidel</a:t>
            </a:r>
            <a:r>
              <a:rPr lang="zh-CN" altLang="en-US" sz="2954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方法的迭代算法</a:t>
            </a:r>
          </a:p>
        </p:txBody>
      </p:sp>
      <p:graphicFrame>
        <p:nvGraphicFramePr>
          <p:cNvPr id="7219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1139246"/>
              </p:ext>
            </p:extLst>
          </p:nvPr>
        </p:nvGraphicFramePr>
        <p:xfrm>
          <a:off x="1152525" y="4447441"/>
          <a:ext cx="7734300" cy="509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公式" r:id="rId5" imgW="3733560" imgH="266400" progId="Equation.3">
                  <p:embed/>
                </p:oleObj>
              </mc:Choice>
              <mc:Fallback>
                <p:oleObj name="公式" r:id="rId5" imgW="373356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525" y="4447441"/>
                        <a:ext cx="7734300" cy="5099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1927" name="Rectangle 7"/>
          <p:cNvSpPr>
            <a:spLocks noChangeArrowheads="1"/>
          </p:cNvSpPr>
          <p:nvPr/>
        </p:nvSpPr>
        <p:spPr bwMode="auto">
          <a:xfrm>
            <a:off x="445477" y="5143132"/>
            <a:ext cx="8441348" cy="1217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–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-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zh-CN" altLang="en-US" sz="2954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其中</a:t>
            </a:r>
            <a:r>
              <a:rPr lang="en-US" altLang="zh-CN" sz="2954" b="0" i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954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是迭代次数。对于图像处理，并不需要算法严格收敛，实际上很少的几次迭代就可以达到漫射的效果。</a:t>
            </a:r>
          </a:p>
        </p:txBody>
      </p:sp>
    </p:spTree>
    <p:extLst>
      <p:ext uri="{BB962C8B-B14F-4D97-AF65-F5344CB8AC3E}">
        <p14:creationId xmlns:p14="http://schemas.microsoft.com/office/powerpoint/2010/main" val="3723725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2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2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9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298939" y="6456634"/>
            <a:ext cx="2120411" cy="533400"/>
          </a:xfrm>
          <a:prstGeom prst="rect">
            <a:avLst/>
          </a:prstGeom>
        </p:spPr>
        <p:txBody>
          <a:bodyPr/>
          <a:lstStyle/>
          <a:p>
            <a:fld id="{D643F0B5-9261-486A-B43B-5ED8161CA7ED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69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分形</a:t>
            </a:r>
            <a:r>
              <a:rPr lang="en-US" altLang="zh-CN"/>
              <a:t>——</a:t>
            </a:r>
            <a:r>
              <a:rPr lang="zh-CN" altLang="en-US"/>
              <a:t>大自然的几何</a:t>
            </a:r>
          </a:p>
        </p:txBody>
      </p:sp>
      <p:sp>
        <p:nvSpPr>
          <p:cNvPr id="69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93407"/>
            <a:ext cx="8358141" cy="95458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585" dirty="0"/>
              <a:t>美籍数学家曼德布罗特</a:t>
            </a:r>
            <a:r>
              <a:rPr lang="en-US" altLang="zh-CN" sz="2585" dirty="0"/>
              <a:t>(</a:t>
            </a:r>
            <a:r>
              <a:rPr lang="en-US" altLang="zh-CN" sz="2585" dirty="0" err="1"/>
              <a:t>B.B.Mandelbort</a:t>
            </a:r>
            <a:r>
              <a:rPr lang="en-US" altLang="zh-CN" sz="2585" dirty="0"/>
              <a:t>)</a:t>
            </a:r>
            <a:r>
              <a:rPr lang="zh-CN" altLang="en-US" sz="2585" dirty="0"/>
              <a:t>于</a:t>
            </a:r>
            <a:r>
              <a:rPr lang="en-US" altLang="zh-CN" sz="2585" dirty="0"/>
              <a:t>1967</a:t>
            </a:r>
            <a:r>
              <a:rPr lang="zh-CN" altLang="en-US" sz="2585" dirty="0"/>
              <a:t>年在</a:t>
            </a:r>
            <a:r>
              <a:rPr lang="en-US" altLang="zh-CN" sz="2585" dirty="0"/>
              <a:t>《</a:t>
            </a:r>
            <a:r>
              <a:rPr lang="zh-CN" altLang="en-US" sz="2585" dirty="0"/>
              <a:t>科学</a:t>
            </a:r>
            <a:r>
              <a:rPr lang="en-US" altLang="zh-CN" sz="2585" dirty="0"/>
              <a:t>》</a:t>
            </a:r>
            <a:r>
              <a:rPr lang="zh-CN" altLang="en-US" sz="2585" dirty="0"/>
              <a:t>杂志上发表了一篇具有启发性的文章：“英国的海岸线有多长？”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840841" y="2498435"/>
            <a:ext cx="5103133" cy="3958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58763" indent="-258763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SzPct val="6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9288" indent="-261938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–"/>
              <a:defRPr sz="32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27113" indent="-249238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-"/>
              <a:defRPr sz="32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416050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804988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262188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719388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176588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633788" indent="-260350" algn="l" defTabSz="814388" rtl="0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585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海岸线作为曲线</a:t>
            </a:r>
            <a:r>
              <a:rPr lang="en-US" altLang="zh-CN" sz="2585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585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其特征是极不规则、极不光滑的</a:t>
            </a:r>
            <a:r>
              <a:rPr lang="en-US" altLang="zh-CN" sz="2585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585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呈现极其蜿蜒复杂的变化。</a:t>
            </a:r>
            <a:endParaRPr lang="en-US" altLang="zh-CN" sz="2585" b="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585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在没有建筑物或其他东西作为参照物时</a:t>
            </a:r>
            <a:r>
              <a:rPr lang="en-US" altLang="zh-CN" sz="2585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585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在空中拍摄的</a:t>
            </a:r>
            <a:r>
              <a:rPr lang="en-US" altLang="zh-CN" sz="2585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585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公里长的海岸线与放大了的</a:t>
            </a:r>
            <a:r>
              <a:rPr lang="en-US" altLang="zh-CN" sz="2585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585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公里长海岸线的两张照片</a:t>
            </a:r>
            <a:r>
              <a:rPr lang="en-US" altLang="zh-CN" sz="2585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585" b="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看上去会十分相似</a:t>
            </a:r>
          </a:p>
        </p:txBody>
      </p:sp>
      <p:pic>
        <p:nvPicPr>
          <p:cNvPr id="722946" name="Picture 2" descr="http://s15.sinaimg.cn/orignal/401fa4b466e33e73efa9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44" y="2498435"/>
            <a:ext cx="3400998" cy="365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8652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2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301026" y="6453921"/>
            <a:ext cx="2120411" cy="533400"/>
          </a:xfrm>
          <a:prstGeom prst="rect">
            <a:avLst/>
          </a:prstGeom>
        </p:spPr>
        <p:txBody>
          <a:bodyPr/>
          <a:lstStyle/>
          <a:p>
            <a:fld id="{D643F0B5-9261-486A-B43B-5ED8161CA7ED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69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分形</a:t>
            </a:r>
            <a:r>
              <a:rPr lang="en-US" altLang="zh-CN"/>
              <a:t>——</a:t>
            </a:r>
            <a:r>
              <a:rPr lang="zh-CN" altLang="en-US"/>
              <a:t>大自然的几何</a:t>
            </a:r>
          </a:p>
        </p:txBody>
      </p:sp>
      <p:sp>
        <p:nvSpPr>
          <p:cNvPr id="69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2929" y="990721"/>
            <a:ext cx="8358141" cy="63638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585" dirty="0"/>
              <a:t>在不同高度上观察到的海岸线，整体上说自相似的。即</a:t>
            </a:r>
            <a:r>
              <a:rPr lang="zh-CN" altLang="en-US" sz="2585" dirty="0">
                <a:solidFill>
                  <a:srgbClr val="C00000"/>
                </a:solidFill>
              </a:rPr>
              <a:t>海岸线具有相似结构</a:t>
            </a:r>
            <a:r>
              <a:rPr lang="zh-CN" altLang="en-US" sz="2585" dirty="0"/>
              <a:t>。</a:t>
            </a:r>
            <a:endParaRPr lang="en-US" altLang="zh-CN" sz="2585" dirty="0"/>
          </a:p>
        </p:txBody>
      </p:sp>
      <p:pic>
        <p:nvPicPr>
          <p:cNvPr id="694280" name="Picture 8" descr="http://images.cnitblog.com/blog/571803/201410/121554341242745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1" r="71"/>
          <a:stretch/>
        </p:blipFill>
        <p:spPr bwMode="auto">
          <a:xfrm>
            <a:off x="2668928" y="4525797"/>
            <a:ext cx="3806142" cy="1861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4284" name="Picture 12" descr="http://images.cnitblog.com/blog/571803/201410/121554083585339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16997" y="2421107"/>
            <a:ext cx="3608879" cy="1756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4286" name="Picture 14" descr="http://images.cnitblog.com/blog/571803/201410/121554172492090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647174" y="2414918"/>
            <a:ext cx="3655791" cy="1768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9464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9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9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9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327514" y="6468208"/>
            <a:ext cx="2120411" cy="533400"/>
          </a:xfrm>
          <a:prstGeom prst="rect">
            <a:avLst/>
          </a:prstGeom>
        </p:spPr>
        <p:txBody>
          <a:bodyPr/>
          <a:lstStyle/>
          <a:p>
            <a:fld id="{D643F0B5-9261-486A-B43B-5ED8161CA7ED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69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分形</a:t>
            </a:r>
            <a:r>
              <a:rPr lang="en-US" altLang="zh-CN"/>
              <a:t>——</a:t>
            </a:r>
            <a:r>
              <a:rPr lang="zh-CN" altLang="en-US"/>
              <a:t>大自然的几何</a:t>
            </a:r>
          </a:p>
        </p:txBody>
      </p:sp>
      <p:sp>
        <p:nvSpPr>
          <p:cNvPr id="69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85811"/>
            <a:ext cx="8141677" cy="4554146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585" dirty="0"/>
              <a:t>曼德布罗特把这些</a:t>
            </a:r>
            <a:r>
              <a:rPr lang="zh-CN" altLang="en-US" sz="2585" dirty="0">
                <a:solidFill>
                  <a:srgbClr val="C00000"/>
                </a:solidFill>
              </a:rPr>
              <a:t>部分与整体以某种方式相似的形体</a:t>
            </a:r>
            <a:r>
              <a:rPr lang="zh-CN" altLang="en-US" sz="2585" dirty="0"/>
              <a:t>称为分形</a:t>
            </a:r>
            <a:r>
              <a:rPr lang="en-US" altLang="zh-CN" sz="2585" dirty="0"/>
              <a:t>(fractal)</a:t>
            </a:r>
            <a:r>
              <a:rPr lang="zh-CN" altLang="en-US" sz="2585" dirty="0"/>
              <a:t>。</a:t>
            </a:r>
            <a:r>
              <a:rPr lang="en-US" altLang="zh-CN" sz="2585" dirty="0"/>
              <a:t>1975</a:t>
            </a:r>
            <a:r>
              <a:rPr lang="zh-CN" altLang="en-US" sz="2585" dirty="0"/>
              <a:t>年</a:t>
            </a:r>
            <a:r>
              <a:rPr lang="en-US" altLang="zh-CN" sz="2585" dirty="0"/>
              <a:t>,</a:t>
            </a:r>
            <a:r>
              <a:rPr lang="zh-CN" altLang="en-US" sz="2585" dirty="0"/>
              <a:t>曼德布罗特创立了分形几何学</a:t>
            </a:r>
            <a:r>
              <a:rPr lang="en-US" altLang="zh-CN" sz="2585" dirty="0"/>
              <a:t>(</a:t>
            </a:r>
            <a:r>
              <a:rPr lang="en-US" altLang="zh-CN" sz="2585" dirty="0" err="1"/>
              <a:t>fractalgeometry</a:t>
            </a:r>
            <a:r>
              <a:rPr lang="en-US" altLang="zh-CN" sz="2585" dirty="0"/>
              <a:t>)</a:t>
            </a:r>
            <a:r>
              <a:rPr lang="zh-CN" altLang="en-US" sz="2585" dirty="0"/>
              <a:t>。在此基础上</a:t>
            </a:r>
            <a:r>
              <a:rPr lang="en-US" altLang="zh-CN" sz="2585" dirty="0"/>
              <a:t>,</a:t>
            </a:r>
            <a:r>
              <a:rPr lang="zh-CN" altLang="en-US" sz="2585" dirty="0"/>
              <a:t>形成了研究分形性质及其应用的科学</a:t>
            </a:r>
            <a:r>
              <a:rPr lang="en-US" altLang="zh-CN" sz="2585" dirty="0"/>
              <a:t>,</a:t>
            </a:r>
            <a:r>
              <a:rPr lang="zh-CN" altLang="en-US" sz="2585" dirty="0"/>
              <a:t>称为分形理论</a:t>
            </a:r>
            <a:r>
              <a:rPr lang="en-US" altLang="zh-CN" sz="2585" dirty="0"/>
              <a:t>(</a:t>
            </a:r>
            <a:r>
              <a:rPr lang="en-US" altLang="zh-CN" sz="2585" dirty="0" err="1"/>
              <a:t>fractaltheory</a:t>
            </a:r>
            <a:r>
              <a:rPr lang="en-US" altLang="zh-CN" sz="2585" dirty="0"/>
              <a:t>)</a:t>
            </a:r>
            <a:r>
              <a:rPr lang="zh-CN" altLang="en-US" sz="2585" dirty="0"/>
              <a:t>。</a:t>
            </a:r>
            <a:br>
              <a:rPr lang="zh-CN" altLang="en-US" sz="2585" dirty="0"/>
            </a:br>
            <a:r>
              <a:rPr lang="zh-CN" altLang="en-US" sz="2585" dirty="0" smtClean="0"/>
              <a:t>分形</a:t>
            </a:r>
            <a:r>
              <a:rPr lang="en-US" altLang="zh-CN" sz="2585" dirty="0"/>
              <a:t>(fractal)</a:t>
            </a:r>
            <a:r>
              <a:rPr lang="zh-CN" altLang="en-US" sz="2585" dirty="0"/>
              <a:t>是对没有特征长度但具有一定意义下的自相似图形和结构的总称</a:t>
            </a:r>
          </a:p>
          <a:p>
            <a:pPr lvl="1"/>
            <a:r>
              <a:rPr lang="zh-CN" altLang="en-US" sz="2400" dirty="0"/>
              <a:t>事实上</a:t>
            </a:r>
            <a:r>
              <a:rPr lang="en-US" altLang="zh-CN" sz="2400" dirty="0"/>
              <a:t>,</a:t>
            </a:r>
            <a:r>
              <a:rPr lang="zh-CN" altLang="en-US" sz="2400" dirty="0"/>
              <a:t>具有自相似性的形态广泛存在于自然界中</a:t>
            </a:r>
            <a:r>
              <a:rPr lang="en-US" altLang="zh-CN" sz="2400" dirty="0"/>
              <a:t>,</a:t>
            </a:r>
            <a:r>
              <a:rPr lang="zh-CN" altLang="en-US" sz="2400" dirty="0"/>
              <a:t>如</a:t>
            </a:r>
            <a:r>
              <a:rPr lang="en-US" altLang="zh-CN" sz="2400" dirty="0"/>
              <a:t>:</a:t>
            </a:r>
            <a:r>
              <a:rPr lang="zh-CN" altLang="en-US" sz="2400" dirty="0"/>
              <a:t>连绵的山川、飘浮的云朵、岩石的断裂口、布朗粒子运动的轨迹、树冠、花菜、大脑皮层</a:t>
            </a:r>
            <a:r>
              <a:rPr lang="en-US" altLang="zh-CN" sz="2400" dirty="0"/>
              <a:t>……</a:t>
            </a:r>
          </a:p>
          <a:p>
            <a:pPr lvl="1"/>
            <a:r>
              <a:rPr lang="zh-CN" altLang="en-US" sz="2400" dirty="0"/>
              <a:t>这就是说如果将分形图形的局部不断放大并进行观察，将发现精细的结构，如果再放大，就会再度出现更精细的结构，可谓层出不穷，永无止境</a:t>
            </a:r>
          </a:p>
        </p:txBody>
      </p:sp>
    </p:spTree>
    <p:extLst>
      <p:ext uri="{BB962C8B-B14F-4D97-AF65-F5344CB8AC3E}">
        <p14:creationId xmlns:p14="http://schemas.microsoft.com/office/powerpoint/2010/main" val="283130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9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9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9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356089" y="6408016"/>
            <a:ext cx="2120411" cy="533400"/>
          </a:xfrm>
          <a:prstGeom prst="rect">
            <a:avLst/>
          </a:prstGeom>
        </p:spPr>
        <p:txBody>
          <a:bodyPr/>
          <a:lstStyle/>
          <a:p>
            <a:fld id="{4333DB86-40C2-4217-8F3C-1776900C263C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71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分形</a:t>
            </a:r>
            <a:r>
              <a:rPr lang="en-US" altLang="zh-CN" dirty="0"/>
              <a:t>——</a:t>
            </a:r>
            <a:r>
              <a:rPr lang="zh-CN" altLang="en-US" dirty="0"/>
              <a:t>大自然的几何</a:t>
            </a:r>
          </a:p>
        </p:txBody>
      </p:sp>
      <p:pic>
        <p:nvPicPr>
          <p:cNvPr id="8" name="Picture 4" descr="frac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407" y="3912516"/>
            <a:ext cx="3057570" cy="24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5" descr="frac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085" y="3903738"/>
            <a:ext cx="3190508" cy="2488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frac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406" y="1367777"/>
            <a:ext cx="3057571" cy="1989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271" y="1367777"/>
            <a:ext cx="3723508" cy="232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491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371108" y="6422781"/>
            <a:ext cx="2120411" cy="533400"/>
          </a:xfrm>
          <a:prstGeom prst="rect">
            <a:avLst/>
          </a:prstGeom>
        </p:spPr>
        <p:txBody>
          <a:bodyPr/>
          <a:lstStyle/>
          <a:p>
            <a:fld id="{833622A3-9223-497C-88D5-F9CAA92E4C07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7168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33364" y="874103"/>
            <a:ext cx="5103935" cy="4072303"/>
          </a:xfrm>
        </p:spPr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 err="1"/>
              <a:t>Henon</a:t>
            </a:r>
            <a:r>
              <a:rPr lang="zh-CN" altLang="en-US" dirty="0"/>
              <a:t>模型的分形图。 </a:t>
            </a:r>
            <a:r>
              <a:rPr lang="en-US" altLang="zh-CN" dirty="0" err="1"/>
              <a:t>Henon</a:t>
            </a:r>
            <a:r>
              <a:rPr lang="zh-CN" altLang="en-US" dirty="0"/>
              <a:t>的方程为</a:t>
            </a:r>
          </a:p>
        </p:txBody>
      </p:sp>
      <p:graphicFrame>
        <p:nvGraphicFramePr>
          <p:cNvPr id="7168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093790"/>
              </p:ext>
            </p:extLst>
          </p:nvPr>
        </p:nvGraphicFramePr>
        <p:xfrm>
          <a:off x="919529" y="2205404"/>
          <a:ext cx="3237035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公式" r:id="rId3" imgW="1562040" imgH="736560" progId="Equation.3">
                  <p:embed/>
                </p:oleObj>
              </mc:Choice>
              <mc:Fallback>
                <p:oleObj name="公式" r:id="rId3" imgW="1562040" imgH="736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529" y="2205404"/>
                        <a:ext cx="3237035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6804" name="Picture 4" descr="fractal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185497"/>
            <a:ext cx="3534508" cy="2568819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6805" name="Picture 5" descr="fractal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812" y="3767504"/>
            <a:ext cx="3612173" cy="2631831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6806" name="Picture 6" descr="fractal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789" y="3780692"/>
            <a:ext cx="3521319" cy="2631831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6807" name="Rectangle 7"/>
          <p:cNvSpPr>
            <a:spLocks noGrp="1" noChangeArrowheads="1"/>
          </p:cNvSpPr>
          <p:nvPr>
            <p:ph type="title"/>
          </p:nvPr>
        </p:nvSpPr>
        <p:spPr>
          <a:xfrm>
            <a:off x="371108" y="265516"/>
            <a:ext cx="8443546" cy="562521"/>
          </a:xfrm>
          <a:noFill/>
          <a:ln/>
        </p:spPr>
        <p:txBody>
          <a:bodyPr/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迭代是分形图形绘制的一种重要方法</a:t>
            </a:r>
          </a:p>
        </p:txBody>
      </p:sp>
    </p:spTree>
    <p:extLst>
      <p:ext uri="{BB962C8B-B14F-4D97-AF65-F5344CB8AC3E}">
        <p14:creationId xmlns:p14="http://schemas.microsoft.com/office/powerpoint/2010/main" val="321276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758354" y="6101861"/>
            <a:ext cx="2309446" cy="486508"/>
          </a:xfrm>
          <a:prstGeom prst="rect">
            <a:avLst/>
          </a:prstGeom>
        </p:spPr>
        <p:txBody>
          <a:bodyPr/>
          <a:lstStyle/>
          <a:p>
            <a:fld id="{38E94317-2296-4D80-878E-B2D748FDA7EE}" type="slidenum">
              <a:rPr lang="zh-CN" altLang="en-US"/>
              <a:pPr/>
              <a:t>26</a:t>
            </a:fld>
            <a:endParaRPr lang="en-US" altLang="zh-CN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13189" y="6125308"/>
            <a:ext cx="2120411" cy="533400"/>
          </a:xfrm>
          <a:prstGeom prst="rect">
            <a:avLst/>
          </a:prstGeom>
        </p:spPr>
        <p:txBody>
          <a:bodyPr/>
          <a:lstStyle/>
          <a:p>
            <a:fld id="{B230A0E0-C69C-44BD-938B-1232A891C9C7}" type="datetime1">
              <a:rPr lang="zh-CN" altLang="en-US"/>
              <a:pPr/>
              <a:t>2024/9/11</a:t>
            </a:fld>
            <a:endParaRPr lang="en-US" altLang="zh-CN" sz="923"/>
          </a:p>
        </p:txBody>
      </p:sp>
      <p:sp>
        <p:nvSpPr>
          <p:cNvPr id="70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分形</a:t>
            </a:r>
            <a:r>
              <a:rPr lang="en-US" altLang="zh-CN" dirty="0"/>
              <a:t>——</a:t>
            </a:r>
            <a:r>
              <a:rPr lang="zh-CN" altLang="en-US" dirty="0"/>
              <a:t>大自然的几何</a:t>
            </a:r>
          </a:p>
        </p:txBody>
      </p:sp>
      <p:sp>
        <p:nvSpPr>
          <p:cNvPr id="70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2046" y="853573"/>
            <a:ext cx="8706217" cy="965689"/>
          </a:xfrm>
        </p:spPr>
        <p:txBody>
          <a:bodyPr/>
          <a:lstStyle/>
          <a:p>
            <a:r>
              <a:rPr lang="zh-CN" altLang="en-US" dirty="0" smtClean="0"/>
              <a:t>迭代函数系统是</a:t>
            </a:r>
            <a:r>
              <a:rPr lang="zh-CN" altLang="en-US" dirty="0"/>
              <a:t>分形图形绘制的一种重要方法</a:t>
            </a:r>
          </a:p>
          <a:p>
            <a:pPr lvl="1"/>
            <a:r>
              <a:rPr lang="zh-CN" altLang="en-US" dirty="0"/>
              <a:t>迭代次数分别为</a:t>
            </a:r>
            <a:r>
              <a:rPr lang="en-US" altLang="zh-CN" dirty="0"/>
              <a:t>10</a:t>
            </a:r>
            <a:r>
              <a:rPr lang="zh-CN" altLang="en-US" dirty="0"/>
              <a:t>，</a:t>
            </a:r>
            <a:r>
              <a:rPr lang="en-US" altLang="zh-CN" dirty="0"/>
              <a:t>20</a:t>
            </a:r>
            <a:r>
              <a:rPr lang="zh-CN" altLang="en-US" dirty="0"/>
              <a:t>，</a:t>
            </a:r>
            <a:r>
              <a:rPr lang="en-US" altLang="zh-CN" dirty="0"/>
              <a:t>40</a:t>
            </a:r>
            <a:r>
              <a:rPr lang="zh-CN" altLang="en-US" dirty="0"/>
              <a:t>，</a:t>
            </a:r>
            <a:r>
              <a:rPr lang="en-US" altLang="zh-CN" dirty="0"/>
              <a:t>200</a:t>
            </a:r>
            <a:endParaRPr lang="zh-CN" altLang="en-US" dirty="0"/>
          </a:p>
        </p:txBody>
      </p:sp>
      <p:pic>
        <p:nvPicPr>
          <p:cNvPr id="702469" name="Picture 5" descr="fractal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46" y="2233246"/>
            <a:ext cx="3786554" cy="2990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2470" name="Picture 6" descr="fractal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093" y="2498481"/>
            <a:ext cx="3720612" cy="29893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2471" name="Picture 7" descr="fractal4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313" y="2897067"/>
            <a:ext cx="3793880" cy="30040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2468" name="Picture 4" descr="fractal20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643" y="3429000"/>
            <a:ext cx="3788019" cy="30025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787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702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02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70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702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702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70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702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702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0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702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702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70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329346" y="6453920"/>
            <a:ext cx="2120411" cy="533400"/>
          </a:xfrm>
          <a:prstGeom prst="rect">
            <a:avLst/>
          </a:prstGeom>
        </p:spPr>
        <p:txBody>
          <a:bodyPr/>
          <a:lstStyle/>
          <a:p>
            <a:fld id="{488ABEB0-39F1-4295-9F2C-3A6F10B51711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分形编码</a:t>
            </a:r>
            <a:endParaRPr lang="en-US" altLang="zh-CN"/>
          </a:p>
        </p:txBody>
      </p:sp>
      <p:sp>
        <p:nvSpPr>
          <p:cNvPr id="68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9346" y="930373"/>
            <a:ext cx="8600342" cy="4932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585" dirty="0"/>
              <a:t>分形图像编码是一种</a:t>
            </a:r>
            <a:r>
              <a:rPr lang="zh-CN" altLang="en-US" sz="2585" dirty="0">
                <a:solidFill>
                  <a:srgbClr val="C00000"/>
                </a:solidFill>
              </a:rPr>
              <a:t>图像压缩技术</a:t>
            </a:r>
          </a:p>
          <a:p>
            <a:pPr>
              <a:lnSpc>
                <a:spcPct val="120000"/>
              </a:lnSpc>
            </a:pPr>
            <a:r>
              <a:rPr lang="zh-CN" altLang="en-US" sz="2585" dirty="0"/>
              <a:t>分形编码利用自然图像中存在的不同子图像间的跨尺度相似性（即把图像视为分形），</a:t>
            </a:r>
          </a:p>
          <a:p>
            <a:pPr lvl="1"/>
            <a:r>
              <a:rPr lang="zh-CN" altLang="en-US" sz="2585" dirty="0"/>
              <a:t>一幅图像用一个使图像近似不变的压缩仿射变换的参数表达</a:t>
            </a:r>
            <a:r>
              <a:rPr lang="zh-CN" altLang="en-US" sz="2585" dirty="0" smtClean="0"/>
              <a:t>，</a:t>
            </a:r>
            <a:r>
              <a:rPr lang="zh-CN" altLang="en-US" sz="2585" dirty="0" smtClean="0">
                <a:solidFill>
                  <a:srgbClr val="C00000"/>
                </a:solidFill>
              </a:rPr>
              <a:t>压缩</a:t>
            </a:r>
            <a:r>
              <a:rPr lang="zh-CN" altLang="en-US" sz="2585" dirty="0">
                <a:solidFill>
                  <a:srgbClr val="C00000"/>
                </a:solidFill>
              </a:rPr>
              <a:t>文件中储存的是这些参数的量化值而不是图像本身的象素值</a:t>
            </a:r>
            <a:r>
              <a:rPr lang="zh-CN" altLang="en-US" sz="2585" dirty="0"/>
              <a:t>，</a:t>
            </a:r>
          </a:p>
          <a:p>
            <a:pPr lvl="1"/>
            <a:r>
              <a:rPr lang="zh-CN" altLang="en-US" sz="2585" dirty="0"/>
              <a:t>因而实现图像数据的高倍压缩。</a:t>
            </a:r>
          </a:p>
          <a:p>
            <a:pPr>
              <a:lnSpc>
                <a:spcPct val="120000"/>
              </a:lnSpc>
            </a:pPr>
            <a:r>
              <a:rPr lang="zh-CN" altLang="en-US" sz="2585" dirty="0"/>
              <a:t>图像的分形编码特点</a:t>
            </a:r>
          </a:p>
          <a:p>
            <a:pPr lvl="1"/>
            <a:r>
              <a:rPr lang="zh-CN" altLang="en-US" sz="2585" dirty="0"/>
              <a:t>压缩比很高</a:t>
            </a:r>
          </a:p>
          <a:p>
            <a:pPr lvl="1"/>
            <a:r>
              <a:rPr lang="zh-CN" altLang="en-US" sz="2585" dirty="0"/>
              <a:t>解码图像的分辨率无关性</a:t>
            </a:r>
          </a:p>
          <a:p>
            <a:pPr lvl="1"/>
            <a:r>
              <a:rPr lang="zh-CN" altLang="en-US" sz="2585" dirty="0"/>
              <a:t>解码速度快，编码时间长</a:t>
            </a:r>
          </a:p>
        </p:txBody>
      </p:sp>
    </p:spTree>
    <p:extLst>
      <p:ext uri="{BB962C8B-B14F-4D97-AF65-F5344CB8AC3E}">
        <p14:creationId xmlns:p14="http://schemas.microsoft.com/office/powerpoint/2010/main" val="409252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300770" y="6453920"/>
            <a:ext cx="2120411" cy="533400"/>
          </a:xfrm>
          <a:prstGeom prst="rect">
            <a:avLst/>
          </a:prstGeom>
        </p:spPr>
        <p:txBody>
          <a:bodyPr/>
          <a:lstStyle/>
          <a:p>
            <a:fld id="{A3564BFA-E39D-44A2-9E9F-3DFAD9627750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70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分形编码</a:t>
            </a:r>
            <a:endParaRPr lang="en-US" altLang="zh-CN"/>
          </a:p>
        </p:txBody>
      </p:sp>
      <p:sp>
        <p:nvSpPr>
          <p:cNvPr id="70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0770" y="1018809"/>
            <a:ext cx="8141677" cy="435512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2585" dirty="0"/>
              <a:t>分形图像压缩的一般方法</a:t>
            </a:r>
          </a:p>
          <a:p>
            <a:pPr lvl="1">
              <a:lnSpc>
                <a:spcPct val="100000"/>
              </a:lnSpc>
            </a:pPr>
            <a:r>
              <a:rPr lang="zh-CN" altLang="en-US" sz="2585" dirty="0"/>
              <a:t>把原始的图像按照一定的方法分解为若干个分形子图，使得每一个子图都具有一定的分形结构（子图的整体与局部之间存在某种自仿射特征），</a:t>
            </a:r>
          </a:p>
          <a:p>
            <a:pPr lvl="1">
              <a:lnSpc>
                <a:spcPct val="100000"/>
              </a:lnSpc>
            </a:pPr>
            <a:r>
              <a:rPr lang="zh-CN" altLang="en-US" sz="2585" dirty="0"/>
              <a:t>分解可采用其它的图象处理手段，且由大量的这些子图组成了分形库，每一个子图可以在这些分形库中找到与它们的匹配的子图分形编码</a:t>
            </a:r>
          </a:p>
          <a:p>
            <a:pPr lvl="1">
              <a:lnSpc>
                <a:spcPct val="100000"/>
              </a:lnSpc>
            </a:pPr>
            <a:r>
              <a:rPr lang="zh-CN" altLang="en-US" sz="2585" dirty="0"/>
              <a:t>这样对图像的分形编码可以化为图像分割，到库中去寻找相匹配的分形编码，最后仍掉原始图像，保存子图像编码，进行存储和传输。</a:t>
            </a:r>
          </a:p>
        </p:txBody>
      </p:sp>
    </p:spTree>
    <p:extLst>
      <p:ext uri="{BB962C8B-B14F-4D97-AF65-F5344CB8AC3E}">
        <p14:creationId xmlns:p14="http://schemas.microsoft.com/office/powerpoint/2010/main" val="247795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758354" y="6101861"/>
            <a:ext cx="2309446" cy="486508"/>
          </a:xfrm>
          <a:prstGeom prst="rect">
            <a:avLst/>
          </a:prstGeom>
        </p:spPr>
        <p:txBody>
          <a:bodyPr/>
          <a:lstStyle/>
          <a:p>
            <a:fld id="{01DFF1C3-ECBE-49E7-9A9F-ACC5D85639C1}" type="slidenum">
              <a:rPr lang="zh-CN" altLang="en-US"/>
              <a:pPr/>
              <a:t>29</a:t>
            </a:fld>
            <a:endParaRPr lang="en-US" altLang="zh-CN"/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13189" y="6125308"/>
            <a:ext cx="2120411" cy="533400"/>
          </a:xfrm>
          <a:prstGeom prst="rect">
            <a:avLst/>
          </a:prstGeom>
        </p:spPr>
        <p:txBody>
          <a:bodyPr/>
          <a:lstStyle/>
          <a:p>
            <a:fld id="{A87E59AA-BD86-4E8F-A640-DCE5C9CE38A0}" type="datetime1">
              <a:rPr lang="zh-CN" altLang="en-US"/>
              <a:pPr/>
              <a:t>2024/9/11</a:t>
            </a:fld>
            <a:endParaRPr lang="en-US" altLang="zh-CN" sz="923"/>
          </a:p>
        </p:txBody>
      </p:sp>
      <p:sp>
        <p:nvSpPr>
          <p:cNvPr id="70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应用领域举例</a:t>
            </a:r>
            <a:r>
              <a:rPr lang="en-US" altLang="zh-CN"/>
              <a:t>5</a:t>
            </a:r>
          </a:p>
        </p:txBody>
      </p:sp>
      <p:graphicFrame>
        <p:nvGraphicFramePr>
          <p:cNvPr id="703492" name="Object 4"/>
          <p:cNvGraphicFramePr>
            <a:graphicFrameLocks noChangeAspect="1"/>
          </p:cNvGraphicFramePr>
          <p:nvPr/>
        </p:nvGraphicFramePr>
        <p:xfrm>
          <a:off x="1115158" y="1900604"/>
          <a:ext cx="7378211" cy="1195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公式" r:id="rId3" imgW="3073320" imgH="533160" progId="Equation.3">
                  <p:embed/>
                </p:oleObj>
              </mc:Choice>
              <mc:Fallback>
                <p:oleObj name="公式" r:id="rId3" imgW="3073320" imgH="533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158" y="1900604"/>
                        <a:ext cx="7378211" cy="11957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3493" name="Rectangle 5"/>
          <p:cNvSpPr>
            <a:spLocks noChangeArrowheads="1"/>
          </p:cNvSpPr>
          <p:nvPr/>
        </p:nvSpPr>
        <p:spPr bwMode="auto">
          <a:xfrm>
            <a:off x="545123" y="1188632"/>
            <a:ext cx="8141677" cy="409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649288" indent="-2619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–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027113" indent="-2492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-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416050" indent="-260350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1804988" indent="-260350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2621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7193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1765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6337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2954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解码采用迭代过程，</a:t>
            </a:r>
          </a:p>
        </p:txBody>
      </p:sp>
    </p:spTree>
    <p:extLst>
      <p:ext uri="{BB962C8B-B14F-4D97-AF65-F5344CB8AC3E}">
        <p14:creationId xmlns:p14="http://schemas.microsoft.com/office/powerpoint/2010/main" val="3161302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758354" y="6101861"/>
            <a:ext cx="2309446" cy="486508"/>
          </a:xfrm>
          <a:prstGeom prst="rect">
            <a:avLst/>
          </a:prstGeom>
        </p:spPr>
        <p:txBody>
          <a:bodyPr/>
          <a:lstStyle/>
          <a:p>
            <a:fld id="{1F2508EA-F511-4D0E-9A63-CC4E4195E6AF}" type="slidenum">
              <a:rPr lang="zh-CN" altLang="en-US"/>
              <a:pPr/>
              <a:t>30</a:t>
            </a:fld>
            <a:endParaRPr lang="en-US" altLang="zh-CN"/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373674" y="6468208"/>
            <a:ext cx="2120411" cy="533400"/>
          </a:xfrm>
          <a:prstGeom prst="rect">
            <a:avLst/>
          </a:prstGeom>
        </p:spPr>
        <p:txBody>
          <a:bodyPr/>
          <a:lstStyle/>
          <a:p>
            <a:fld id="{7548420F-6CAE-4040-B29B-C0211B073AE8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68915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89156" name="Picture 4" descr="lena1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0631" y="424962"/>
            <a:ext cx="7976089" cy="616926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689162" name="Object 10"/>
          <p:cNvGraphicFramePr>
            <a:graphicFrameLocks noChangeAspect="1"/>
          </p:cNvGraphicFramePr>
          <p:nvPr/>
        </p:nvGraphicFramePr>
        <p:xfrm>
          <a:off x="716574" y="438151"/>
          <a:ext cx="7643446" cy="1129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公式" r:id="rId4" imgW="2958840" imgH="469800" progId="Equation.3">
                  <p:embed/>
                </p:oleObj>
              </mc:Choice>
              <mc:Fallback>
                <p:oleObj name="公式" r:id="rId4" imgW="29588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574" y="438151"/>
                        <a:ext cx="7643446" cy="112981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4294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758354" y="6101861"/>
            <a:ext cx="2309446" cy="486508"/>
          </a:xfrm>
          <a:prstGeom prst="rect">
            <a:avLst/>
          </a:prstGeom>
        </p:spPr>
        <p:txBody>
          <a:bodyPr/>
          <a:lstStyle/>
          <a:p>
            <a:fld id="{C049D9E6-0E43-4913-8035-E22B10243987}" type="slidenum">
              <a:rPr lang="zh-CN" altLang="en-US"/>
              <a:pPr/>
              <a:t>31</a:t>
            </a:fld>
            <a:endParaRPr lang="en-US" altLang="zh-CN"/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404816" y="6463825"/>
            <a:ext cx="2120411" cy="533400"/>
          </a:xfrm>
          <a:prstGeom prst="rect">
            <a:avLst/>
          </a:prstGeom>
        </p:spPr>
        <p:txBody>
          <a:bodyPr/>
          <a:lstStyle/>
          <a:p>
            <a:fld id="{5E48D5E2-3B1C-49DC-BE5F-F93D909E6D3E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70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0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05540" name="Picture 4" descr="lena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05" y="571500"/>
            <a:ext cx="8020415" cy="582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125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457200" y="6468208"/>
            <a:ext cx="2120411" cy="533400"/>
          </a:xfrm>
          <a:prstGeom prst="rect">
            <a:avLst/>
          </a:prstGeom>
        </p:spPr>
        <p:txBody>
          <a:bodyPr/>
          <a:lstStyle/>
          <a:p>
            <a:fld id="{4224A5E9-58A1-46AE-B3BF-650CDB0BF063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70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渐进</a:t>
            </a:r>
            <a:r>
              <a:rPr lang="en-US" altLang="zh-CN"/>
              <a:t>/</a:t>
            </a:r>
            <a:r>
              <a:rPr lang="zh-CN" altLang="en-US"/>
              <a:t>控制解码</a:t>
            </a:r>
          </a:p>
        </p:txBody>
      </p:sp>
      <p:graphicFrame>
        <p:nvGraphicFramePr>
          <p:cNvPr id="706564" name="Object 4"/>
          <p:cNvGraphicFramePr>
            <a:graphicFrameLocks noChangeAspect="1"/>
          </p:cNvGraphicFramePr>
          <p:nvPr/>
        </p:nvGraphicFramePr>
        <p:xfrm>
          <a:off x="1913793" y="3960936"/>
          <a:ext cx="5518638" cy="974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公式" r:id="rId3" imgW="2768400" imgH="507960" progId="Equation.3">
                  <p:embed/>
                </p:oleObj>
              </mc:Choice>
              <mc:Fallback>
                <p:oleObj name="公式" r:id="rId3" imgW="276840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3793" y="3960936"/>
                        <a:ext cx="5518638" cy="974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565" name="Rectangle 5"/>
          <p:cNvSpPr>
            <a:spLocks noChangeArrowheads="1"/>
          </p:cNvSpPr>
          <p:nvPr/>
        </p:nvSpPr>
        <p:spPr bwMode="auto">
          <a:xfrm>
            <a:off x="457200" y="1036776"/>
            <a:ext cx="8141677" cy="2773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649288" indent="-2619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–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027113" indent="-2492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-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416050" indent="-260350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1804988" indent="-260350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2621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7193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1765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6337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2954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对于窄带传输，渐进解码是十分有用的。</a:t>
            </a:r>
          </a:p>
          <a:p>
            <a:r>
              <a:rPr lang="zh-CN" altLang="en-US" sz="2954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在利用计算机辅助技术制造卡通中，一幅图像有时需要从另一幅图像出发以渐进的方式被逐渐显示出来，这需要控制（放慢）解码过程。</a:t>
            </a:r>
          </a:p>
          <a:p>
            <a:r>
              <a:rPr lang="zh-CN" altLang="en-US" sz="2954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采用渐进</a:t>
            </a:r>
            <a:r>
              <a:rPr lang="en-US" altLang="zh-CN" sz="2954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954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控制分形解码方案可以实现可控分形解码</a:t>
            </a:r>
          </a:p>
        </p:txBody>
      </p:sp>
    </p:spTree>
    <p:extLst>
      <p:ext uri="{BB962C8B-B14F-4D97-AF65-F5344CB8AC3E}">
        <p14:creationId xmlns:p14="http://schemas.microsoft.com/office/powerpoint/2010/main" val="151224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758354" y="6101861"/>
            <a:ext cx="2309446" cy="486508"/>
          </a:xfrm>
          <a:prstGeom prst="rect">
            <a:avLst/>
          </a:prstGeom>
        </p:spPr>
        <p:txBody>
          <a:bodyPr/>
          <a:lstStyle/>
          <a:p>
            <a:fld id="{7DCAC347-0D60-4260-BB13-BFC90B664219}" type="slidenum">
              <a:rPr lang="zh-CN" altLang="en-US"/>
              <a:pPr/>
              <a:t>33</a:t>
            </a:fld>
            <a:endParaRPr lang="en-US" altLang="zh-CN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339970" y="6575180"/>
            <a:ext cx="2120411" cy="533400"/>
          </a:xfrm>
          <a:prstGeom prst="rect">
            <a:avLst/>
          </a:prstGeom>
        </p:spPr>
        <p:txBody>
          <a:bodyPr/>
          <a:lstStyle/>
          <a:p>
            <a:fld id="{94C86B48-DD04-4E9D-9AD6-41F4C47F87DE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70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07588" name="Picture 4" descr="lena3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708" y="126391"/>
            <a:ext cx="6690946" cy="263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7589" name="Picture 5" descr="lena3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613" y="3034812"/>
            <a:ext cx="6702669" cy="3559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07590" name="Object 6"/>
          <p:cNvGraphicFramePr>
            <a:graphicFrameLocks noChangeAspect="1"/>
          </p:cNvGraphicFramePr>
          <p:nvPr/>
        </p:nvGraphicFramePr>
        <p:xfrm>
          <a:off x="184639" y="1302728"/>
          <a:ext cx="1140069" cy="341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6" name="公式" r:id="rId5" imgW="571320" imgH="177480" progId="Equation.3">
                  <p:embed/>
                </p:oleObj>
              </mc:Choice>
              <mc:Fallback>
                <p:oleObj name="公式" r:id="rId5" imgW="57132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639" y="1302728"/>
                        <a:ext cx="1140069" cy="3414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7591" name="Object 7"/>
          <p:cNvGraphicFramePr>
            <a:graphicFrameLocks noChangeAspect="1"/>
          </p:cNvGraphicFramePr>
          <p:nvPr/>
        </p:nvGraphicFramePr>
        <p:xfrm>
          <a:off x="252046" y="3163766"/>
          <a:ext cx="1113692" cy="341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7" name="公式" r:id="rId7" imgW="558720" imgH="177480" progId="Equation.3">
                  <p:embed/>
                </p:oleObj>
              </mc:Choice>
              <mc:Fallback>
                <p:oleObj name="公式" r:id="rId7" imgW="55872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46" y="3163766"/>
                        <a:ext cx="1113692" cy="3414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0011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357187" y="6445494"/>
            <a:ext cx="2120411" cy="533400"/>
          </a:xfrm>
          <a:prstGeom prst="rect">
            <a:avLst/>
          </a:prstGeom>
        </p:spPr>
        <p:txBody>
          <a:bodyPr/>
          <a:lstStyle/>
          <a:p>
            <a:fld id="{C80051B3-A5B3-40F1-A681-2D93B3EE10BE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数字海图中水深点数据的求取</a:t>
            </a:r>
          </a:p>
        </p:txBody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85811"/>
            <a:ext cx="8229600" cy="4110404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由于受观测手段和信息资源等方面的限制</a:t>
            </a:r>
            <a:r>
              <a:rPr lang="en-US" altLang="zh-CN" dirty="0"/>
              <a:t>,</a:t>
            </a:r>
            <a:r>
              <a:rPr lang="zh-CN" altLang="en-US" dirty="0"/>
              <a:t> 一般只能得到离散的、分布不规则的、详尽程度不一的测深点数据和有限的等深线数据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 smtClean="0"/>
              <a:t>因此</a:t>
            </a:r>
            <a:r>
              <a:rPr lang="zh-CN" altLang="en-US" dirty="0"/>
              <a:t>需要使用插值方法得到尽可能准确的任意水深数据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一种曲面拟合内插水深插值</a:t>
            </a:r>
            <a:r>
              <a:rPr lang="zh-CN" altLang="en-US" dirty="0" smtClean="0"/>
              <a:t>算法：对</a:t>
            </a:r>
            <a:r>
              <a:rPr lang="zh-CN" altLang="en-US" dirty="0"/>
              <a:t>矢量海图图库中已知的离散水深点的数据进行多曲面拟合，从而得出任意地理坐标位置的水深点数据。 </a:t>
            </a:r>
          </a:p>
        </p:txBody>
      </p:sp>
    </p:spTree>
    <p:extLst>
      <p:ext uri="{BB962C8B-B14F-4D97-AF65-F5344CB8AC3E}">
        <p14:creationId xmlns:p14="http://schemas.microsoft.com/office/powerpoint/2010/main" val="3028368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758354" y="6101861"/>
            <a:ext cx="2309446" cy="486508"/>
          </a:xfrm>
          <a:prstGeom prst="rect">
            <a:avLst/>
          </a:prstGeom>
        </p:spPr>
        <p:txBody>
          <a:bodyPr/>
          <a:lstStyle/>
          <a:p>
            <a:fld id="{E30E04EA-C871-4270-B8E7-81D0B7C978E3}" type="slidenum">
              <a:rPr lang="zh-CN" altLang="en-US"/>
              <a:pPr/>
              <a:t>35</a:t>
            </a:fld>
            <a:endParaRPr lang="en-US" altLang="zh-CN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352794" y="6446229"/>
            <a:ext cx="2120411" cy="533400"/>
          </a:xfrm>
          <a:prstGeom prst="rect">
            <a:avLst/>
          </a:prstGeom>
        </p:spPr>
        <p:txBody>
          <a:bodyPr/>
          <a:lstStyle/>
          <a:p>
            <a:fld id="{3AA0B356-A8EC-4BF9-8292-43A3AEC51B91}" type="datetime1">
              <a:rPr lang="zh-CN" altLang="en-US"/>
              <a:pPr/>
              <a:t>2024/9/11</a:t>
            </a:fld>
            <a:endParaRPr lang="en-US" altLang="zh-CN" sz="923" dirty="0"/>
          </a:p>
        </p:txBody>
      </p:sp>
      <p:sp>
        <p:nvSpPr>
          <p:cNvPr id="70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数字海图中水深点数据的求取</a:t>
            </a:r>
          </a:p>
        </p:txBody>
      </p:sp>
      <p:pic>
        <p:nvPicPr>
          <p:cNvPr id="7086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54" y="2655277"/>
            <a:ext cx="6611815" cy="2984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86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862" y="3965331"/>
            <a:ext cx="6471138" cy="2570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8614" name="Rectangle 6"/>
          <p:cNvSpPr>
            <a:spLocks noChangeArrowheads="1"/>
          </p:cNvSpPr>
          <p:nvPr/>
        </p:nvSpPr>
        <p:spPr bwMode="auto">
          <a:xfrm>
            <a:off x="281354" y="1113441"/>
            <a:ext cx="8141677" cy="131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258763" indent="-258763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649288" indent="-2619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–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027113" indent="-249238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-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416050" indent="-260350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1804988" indent="-260350" algn="l" defTabSz="814388">
              <a:lnSpc>
                <a:spcPct val="90000"/>
              </a:lnSpc>
              <a:spcBef>
                <a:spcPct val="35000"/>
              </a:spcBef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2621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7193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1765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633788" indent="-260350" defTabSz="814388" eaLnBrk="0" fontAlgn="base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27305F"/>
              </a:buClr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28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已知某海区水深点的水深值及分布情况</a:t>
            </a:r>
          </a:p>
          <a:p>
            <a:r>
              <a:rPr lang="zh-CN" altLang="en-US" sz="28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使用基于曲面拟合内插水深插值算法对该海区的海底曲面进行拟合，得到海底曲面形状</a:t>
            </a:r>
          </a:p>
        </p:txBody>
      </p:sp>
    </p:spTree>
    <p:extLst>
      <p:ext uri="{BB962C8B-B14F-4D97-AF65-F5344CB8AC3E}">
        <p14:creationId xmlns:p14="http://schemas.microsoft.com/office/powerpoint/2010/main" val="440249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0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>
          <a:xfrm>
            <a:off x="293070" y="6450012"/>
            <a:ext cx="2120411" cy="577850"/>
          </a:xfrm>
        </p:spPr>
        <p:txBody>
          <a:bodyPr/>
          <a:lstStyle/>
          <a:p>
            <a:fld id="{8D95A39D-7D0A-411E-B369-DC3135914BD1}" type="datetime1">
              <a:rPr lang="zh-CN" altLang="en-US" smtClean="0"/>
              <a:pPr/>
              <a:t>2024/9/11</a:t>
            </a:fld>
            <a:endParaRPr lang="en-US" altLang="zh-CN" sz="923" dirty="0"/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220629" y="1770432"/>
            <a:ext cx="3976591" cy="3037010"/>
            <a:chOff x="0" y="0"/>
            <a:chExt cx="3072" cy="264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768" cy="2064"/>
              <a:chOff x="0" y="0"/>
              <a:chExt cx="912" cy="2208"/>
            </a:xfrm>
          </p:grpSpPr>
          <p:sp>
            <p:nvSpPr>
              <p:cNvPr id="19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912" cy="2208"/>
              </a:xfrm>
              <a:prstGeom prst="rect">
                <a:avLst/>
              </a:prstGeom>
              <a:solidFill>
                <a:srgbClr val="FFFF66"/>
              </a:solidFill>
              <a:ln w="9525" cmpd="sng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66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pPr algn="ctr"/>
                <a:endParaRPr lang="zh-CN" altLang="en-US" sz="1662">
                  <a:solidFill>
                    <a:schemeClr val="accent2"/>
                  </a:solidFill>
                  <a:ea typeface="宋体" pitchFamily="2" charset="-122"/>
                </a:endParaRPr>
              </a:p>
            </p:txBody>
          </p:sp>
          <p:sp>
            <p:nvSpPr>
              <p:cNvPr id="20" name="Text Box 5"/>
              <p:cNvSpPr txBox="1">
                <a:spLocks noChangeArrowheads="1"/>
              </p:cNvSpPr>
              <p:nvPr/>
            </p:nvSpPr>
            <p:spPr bwMode="auto">
              <a:xfrm>
                <a:off x="129" y="258"/>
                <a:ext cx="639" cy="16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/>
              <a:p>
                <a:r>
                  <a:rPr lang="zh-CN" altLang="en-US" sz="3323" dirty="0">
                    <a:ea typeface="黑体" pitchFamily="49" charset="-122"/>
                  </a:rPr>
                  <a:t>理论研究</a:t>
                </a: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1104" y="0"/>
              <a:ext cx="768" cy="2064"/>
              <a:chOff x="0" y="0"/>
              <a:chExt cx="912" cy="2208"/>
            </a:xfrm>
          </p:grpSpPr>
          <p:sp>
            <p:nvSpPr>
              <p:cNvPr id="17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912" cy="2208"/>
              </a:xfrm>
              <a:prstGeom prst="rect">
                <a:avLst/>
              </a:prstGeom>
              <a:solidFill>
                <a:srgbClr val="FFFF66"/>
              </a:solidFill>
              <a:ln w="9525" cmpd="sng">
                <a:miter lim="800000"/>
                <a:headEnd/>
                <a:tailEnd/>
              </a:ln>
              <a:effectLst/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66"/>
                </a:extrusion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/>
              <a:p>
                <a:pPr algn="ctr"/>
                <a:endParaRPr lang="zh-CN" altLang="en-US" sz="1662">
                  <a:solidFill>
                    <a:schemeClr val="accent2"/>
                  </a:solidFill>
                  <a:ea typeface="宋体" pitchFamily="2" charset="-122"/>
                </a:endParaRPr>
              </a:p>
            </p:txBody>
          </p:sp>
          <p:sp>
            <p:nvSpPr>
              <p:cNvPr id="18" name="Text Box 8"/>
              <p:cNvSpPr txBox="1">
                <a:spLocks noChangeArrowheads="1"/>
              </p:cNvSpPr>
              <p:nvPr/>
            </p:nvSpPr>
            <p:spPr bwMode="auto">
              <a:xfrm>
                <a:off x="129" y="258"/>
                <a:ext cx="639" cy="16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>
                <a:spAutoFit/>
              </a:bodyPr>
              <a:lstStyle/>
              <a:p>
                <a:r>
                  <a:rPr lang="zh-CN" altLang="en-US" sz="3323">
                    <a:ea typeface="黑体" pitchFamily="49" charset="-122"/>
                  </a:rPr>
                  <a:t>科学实验</a:t>
                </a:r>
              </a:p>
            </p:txBody>
          </p:sp>
        </p:grpSp>
        <p:graphicFrame>
          <p:nvGraphicFramePr>
            <p:cNvPr id="7" name="Object 9"/>
            <p:cNvGraphicFramePr>
              <a:graphicFrameLocks noChangeAspect="1"/>
            </p:cNvGraphicFramePr>
            <p:nvPr/>
          </p:nvGraphicFramePr>
          <p:xfrm>
            <a:off x="96" y="1872"/>
            <a:ext cx="222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4" r:id="rId3" imgW="1296380" imgH="3934622" progId="MS_ClipArt_Gallery.2">
                    <p:embed/>
                  </p:oleObj>
                </mc:Choice>
                <mc:Fallback>
                  <p:oleObj r:id="rId3" imgW="1296380" imgH="3934622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" y="1872"/>
                          <a:ext cx="222" cy="6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10"/>
            <p:cNvGraphicFramePr>
              <a:graphicFrameLocks noChangeAspect="1"/>
            </p:cNvGraphicFramePr>
            <p:nvPr/>
          </p:nvGraphicFramePr>
          <p:xfrm>
            <a:off x="1152" y="1872"/>
            <a:ext cx="670" cy="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5" r:id="rId5" imgW="3026092" imgH="3253104" progId="MS_ClipArt_Gallery.2">
                    <p:embed/>
                  </p:oleObj>
                </mc:Choice>
                <mc:Fallback>
                  <p:oleObj r:id="rId5" imgW="3026092" imgH="3253104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1872"/>
                          <a:ext cx="670" cy="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11"/>
            <p:cNvGraphicFramePr>
              <a:graphicFrameLocks noChangeAspect="1"/>
            </p:cNvGraphicFramePr>
            <p:nvPr/>
          </p:nvGraphicFramePr>
          <p:xfrm>
            <a:off x="432" y="1872"/>
            <a:ext cx="222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6" r:id="rId7" imgW="1296380" imgH="3934622" progId="MS_ClipArt_Gallery.2">
                    <p:embed/>
                  </p:oleObj>
                </mc:Choice>
                <mc:Fallback>
                  <p:oleObj r:id="rId7" imgW="1296380" imgH="3934622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1872"/>
                          <a:ext cx="222" cy="6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" name="Group 12"/>
            <p:cNvGrpSpPr>
              <a:grpSpLocks/>
            </p:cNvGrpSpPr>
            <p:nvPr/>
          </p:nvGrpSpPr>
          <p:grpSpPr bwMode="auto">
            <a:xfrm>
              <a:off x="2256" y="0"/>
              <a:ext cx="816" cy="2640"/>
              <a:chOff x="0" y="0"/>
              <a:chExt cx="816" cy="2640"/>
            </a:xfrm>
          </p:grpSpPr>
          <p:grpSp>
            <p:nvGrpSpPr>
              <p:cNvPr id="13" name="Group 13"/>
              <p:cNvGrpSpPr>
                <a:grpSpLocks/>
              </p:cNvGrpSpPr>
              <p:nvPr/>
            </p:nvGrpSpPr>
            <p:grpSpPr bwMode="auto">
              <a:xfrm>
                <a:off x="48" y="0"/>
                <a:ext cx="768" cy="2064"/>
                <a:chOff x="0" y="0"/>
                <a:chExt cx="912" cy="2208"/>
              </a:xfrm>
            </p:grpSpPr>
            <p:sp>
              <p:nvSpPr>
                <p:cNvPr id="15" name="Rectangle 14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912" cy="2208"/>
                </a:xfrm>
                <a:prstGeom prst="rect">
                  <a:avLst/>
                </a:prstGeom>
                <a:solidFill>
                  <a:srgbClr val="FFFF66"/>
                </a:solidFill>
                <a:ln w="9525" cmpd="sng">
                  <a:miter lim="800000"/>
                  <a:headEnd/>
                  <a:tailEnd/>
                </a:ln>
                <a:effectLst/>
                <a:scene3d>
                  <a:camera prst="legacyObliqueTopRight"/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rgbClr val="FFFF66"/>
                  </a:extrusion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/>
                <a:p>
                  <a:pPr algn="ctr"/>
                  <a:endParaRPr lang="zh-CN" altLang="en-US" sz="1662">
                    <a:solidFill>
                      <a:schemeClr val="accent2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16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29" y="258"/>
                  <a:ext cx="639" cy="167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>
                  <a:spAutoFit/>
                </a:bodyPr>
                <a:lstStyle/>
                <a:p>
                  <a:r>
                    <a:rPr lang="zh-CN" altLang="en-US" sz="3323">
                      <a:ea typeface="黑体" pitchFamily="49" charset="-122"/>
                    </a:rPr>
                    <a:t>科学计算</a:t>
                  </a:r>
                </a:p>
              </p:txBody>
            </p:sp>
          </p:grpSp>
          <p:graphicFrame>
            <p:nvGraphicFramePr>
              <p:cNvPr id="14" name="Object 16"/>
              <p:cNvGraphicFramePr>
                <a:graphicFrameLocks noChangeAspect="1"/>
              </p:cNvGraphicFramePr>
              <p:nvPr/>
            </p:nvGraphicFramePr>
            <p:xfrm>
              <a:off x="0" y="1872"/>
              <a:ext cx="714" cy="7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97" r:id="rId8" imgW="2013826" imgH="1930615" progId="MS_ClipArt_Gallery.2">
                      <p:embed/>
                    </p:oleObj>
                  </mc:Choice>
                  <mc:Fallback>
                    <p:oleObj r:id="rId8" imgW="2013826" imgH="1930615" progId="MS_ClipArt_Gallery.2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1872"/>
                            <a:ext cx="714" cy="7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" name="Line 17"/>
            <p:cNvSpPr>
              <a:spLocks noChangeShapeType="1"/>
            </p:cNvSpPr>
            <p:nvPr/>
          </p:nvSpPr>
          <p:spPr bwMode="auto">
            <a:xfrm>
              <a:off x="816" y="1008"/>
              <a:ext cx="336" cy="0"/>
            </a:xfrm>
            <a:prstGeom prst="line">
              <a:avLst/>
            </a:prstGeom>
            <a:noFill/>
            <a:ln w="57150" cmpd="sng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62"/>
            </a:p>
          </p:txBody>
        </p:sp>
        <p:sp>
          <p:nvSpPr>
            <p:cNvPr id="12" name="Line 18"/>
            <p:cNvSpPr>
              <a:spLocks noChangeShapeType="1"/>
            </p:cNvSpPr>
            <p:nvPr/>
          </p:nvSpPr>
          <p:spPr bwMode="auto">
            <a:xfrm>
              <a:off x="1968" y="1008"/>
              <a:ext cx="336" cy="0"/>
            </a:xfrm>
            <a:prstGeom prst="line">
              <a:avLst/>
            </a:prstGeom>
            <a:noFill/>
            <a:ln w="57150" cmpd="sng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62"/>
            </a:p>
          </p:txBody>
        </p:sp>
      </p:grpSp>
      <p:sp>
        <p:nvSpPr>
          <p:cNvPr id="22" name="矩形 21"/>
          <p:cNvSpPr/>
          <p:nvPr/>
        </p:nvSpPr>
        <p:spPr>
          <a:xfrm>
            <a:off x="488582" y="277905"/>
            <a:ext cx="5916117" cy="498598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75176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chemeClr val="accent5"/>
                </a:solidFill>
                <a:latin typeface="+mj-lt"/>
                <a:ea typeface="+mj-ea"/>
                <a:cs typeface="+mj-cs"/>
              </a:rPr>
              <a:t>现代科学研究的三大支柱</a:t>
            </a:r>
          </a:p>
        </p:txBody>
      </p:sp>
      <p:sp>
        <p:nvSpPr>
          <p:cNvPr id="23" name="Rectangle 2"/>
          <p:cNvSpPr>
            <a:spLocks noChangeArrowheads="1"/>
          </p:cNvSpPr>
          <p:nvPr/>
        </p:nvSpPr>
        <p:spPr bwMode="auto">
          <a:xfrm>
            <a:off x="4597999" y="2468623"/>
            <a:ext cx="4441019" cy="168353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5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信息社会的两个主要特征：</a:t>
            </a:r>
          </a:p>
          <a:p>
            <a:pPr>
              <a:spcBef>
                <a:spcPct val="50000"/>
              </a:spcBef>
            </a:pPr>
            <a:r>
              <a:rPr lang="zh-CN" altLang="en-US" sz="25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“计算机无处不在”</a:t>
            </a:r>
          </a:p>
          <a:p>
            <a:pPr>
              <a:spcBef>
                <a:spcPct val="50000"/>
              </a:spcBef>
            </a:pPr>
            <a:r>
              <a:rPr lang="zh-CN" altLang="en-US" sz="25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“数学无处不在”</a:t>
            </a:r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4626981" y="4426034"/>
            <a:ext cx="4412037" cy="168353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5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信息社会对科技人才的要求：</a:t>
            </a:r>
          </a:p>
          <a:p>
            <a:pPr>
              <a:spcBef>
                <a:spcPct val="50000"/>
              </a:spcBef>
            </a:pPr>
            <a:r>
              <a:rPr lang="en-US" sz="25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25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会用数学解决实际问题</a:t>
            </a:r>
          </a:p>
          <a:p>
            <a:pPr>
              <a:spcBef>
                <a:spcPct val="50000"/>
              </a:spcBef>
            </a:pPr>
            <a:r>
              <a:rPr lang="en-US" sz="25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25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会用计算机进行科学计算</a:t>
            </a:r>
          </a:p>
        </p:txBody>
      </p:sp>
    </p:spTree>
    <p:extLst>
      <p:ext uri="{BB962C8B-B14F-4D97-AF65-F5344CB8AC3E}">
        <p14:creationId xmlns:p14="http://schemas.microsoft.com/office/powerpoint/2010/main" val="297877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 autoUpdateAnimBg="0"/>
      <p:bldP spid="24" grpId="0" animBg="1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9|2.9|1.9|8.6|6.1|4.4|17.5|6.4|10.6|15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3|3.1|3.5|4.7|10.5|48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7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y">
  <a:themeElements>
    <a:clrScheme name="qxp">
      <a:dk1>
        <a:srgbClr val="2A4A75"/>
      </a:dk1>
      <a:lt1>
        <a:sysClr val="window" lastClr="FFFFFF"/>
      </a:lt1>
      <a:dk2>
        <a:srgbClr val="2A4A75"/>
      </a:dk2>
      <a:lt2>
        <a:srgbClr val="DEF5FA"/>
      </a:lt2>
      <a:accent1>
        <a:srgbClr val="1C314E"/>
      </a:accent1>
      <a:accent2>
        <a:srgbClr val="EB641B"/>
      </a:accent2>
      <a:accent3>
        <a:srgbClr val="DA1F28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yfont">
      <a:majorFont>
        <a:latin typeface="Helvetica"/>
        <a:ea typeface="微软雅黑"/>
        <a:cs typeface=""/>
      </a:majorFont>
      <a:minorFont>
        <a:latin typeface="Times New Roman"/>
        <a:ea typeface="华文楷体"/>
        <a:cs typeface=""/>
      </a:minorFont>
    </a:fontScheme>
    <a:fmtScheme name="质朴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/>
      <a:bodyPr wrap="none">
        <a:spAutoFit/>
      </a:bodyPr>
      <a:lstStyle>
        <a:defPPr>
          <a:defRPr sz="2400" dirty="0"/>
        </a:defPPr>
      </a:lstStyle>
    </a:spDef>
  </a:objectDefaults>
  <a:extraClrSchemeLst/>
  <a:extLst>
    <a:ext uri="{05A4C25C-085E-4340-85A3-A5531E510DB2}">
      <thm15:themeFamily xmlns:thm15="http://schemas.microsoft.com/office/thememl/2012/main" xmlns="" name="my" id="{1B042AB1-EF8A-4915-9F38-6117E79ADC67}" vid="{B3B2D6D2-5722-443C-8BAE-6F7078B4CFF1}"/>
    </a:ext>
  </a:extLst>
</a:theme>
</file>

<file path=ppt/theme/theme2.xml><?xml version="1.0" encoding="utf-8"?>
<a:theme xmlns:a="http://schemas.openxmlformats.org/drawingml/2006/main" name="2_my">
  <a:themeElements>
    <a:clrScheme name="qxp">
      <a:dk1>
        <a:srgbClr val="2A4A75"/>
      </a:dk1>
      <a:lt1>
        <a:sysClr val="window" lastClr="FFFFFF"/>
      </a:lt1>
      <a:dk2>
        <a:srgbClr val="2A4A75"/>
      </a:dk2>
      <a:lt2>
        <a:srgbClr val="DEF5FA"/>
      </a:lt2>
      <a:accent1>
        <a:srgbClr val="1C314E"/>
      </a:accent1>
      <a:accent2>
        <a:srgbClr val="EB641B"/>
      </a:accent2>
      <a:accent3>
        <a:srgbClr val="DA1F28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yfont">
      <a:majorFont>
        <a:latin typeface="Helvetica"/>
        <a:ea typeface="微软雅黑"/>
        <a:cs typeface=""/>
      </a:majorFont>
      <a:minorFont>
        <a:latin typeface="Times New Roman"/>
        <a:ea typeface="华文楷体"/>
        <a:cs typeface=""/>
      </a:minorFont>
    </a:fontScheme>
    <a:fmtScheme name="质朴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/>
      <a:bodyPr wrap="none">
        <a:spAutoFit/>
      </a:bodyPr>
      <a:lstStyle>
        <a:defPPr>
          <a:defRPr sz="2400" dirty="0"/>
        </a:defPPr>
      </a:lstStyle>
    </a:spDef>
  </a:objectDefaults>
  <a:extraClrSchemeLst/>
  <a:extLst>
    <a:ext uri="{05A4C25C-085E-4340-85A3-A5531E510DB2}">
      <thm15:themeFamily xmlns:thm15="http://schemas.microsoft.com/office/thememl/2012/main" xmlns="" name="my" id="{1B042AB1-EF8A-4915-9F38-6117E79ADC67}" vid="{B3B2D6D2-5722-443C-8BAE-6F7078B4CFF1}"/>
    </a:ext>
  </a:extLst>
</a:theme>
</file>

<file path=ppt/theme/theme3.xml><?xml version="1.0" encoding="utf-8"?>
<a:theme xmlns:a="http://schemas.openxmlformats.org/drawingml/2006/main" name="1_Office 主题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my">
  <a:themeElements>
    <a:clrScheme name="qxp">
      <a:dk1>
        <a:srgbClr val="2A4A75"/>
      </a:dk1>
      <a:lt1>
        <a:sysClr val="window" lastClr="FFFFFF"/>
      </a:lt1>
      <a:dk2>
        <a:srgbClr val="2A4A75"/>
      </a:dk2>
      <a:lt2>
        <a:srgbClr val="DEF5FA"/>
      </a:lt2>
      <a:accent1>
        <a:srgbClr val="1C314E"/>
      </a:accent1>
      <a:accent2>
        <a:srgbClr val="EB641B"/>
      </a:accent2>
      <a:accent3>
        <a:srgbClr val="DA1F28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yfont">
      <a:majorFont>
        <a:latin typeface="Helvetica"/>
        <a:ea typeface="微软雅黑"/>
        <a:cs typeface=""/>
      </a:majorFont>
      <a:minorFont>
        <a:latin typeface="Times New Roman"/>
        <a:ea typeface="华文楷体"/>
        <a:cs typeface=""/>
      </a:minorFont>
    </a:fontScheme>
    <a:fmtScheme name="质朴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/>
      <a:bodyPr wrap="none">
        <a:spAutoFit/>
      </a:bodyPr>
      <a:lstStyle>
        <a:defPPr>
          <a:defRPr sz="2400" dirty="0"/>
        </a:defPPr>
      </a:lstStyle>
    </a:spDef>
  </a:objectDefaults>
  <a:extraClrSchemeLst/>
  <a:extLst>
    <a:ext uri="{05A4C25C-085E-4340-85A3-A5531E510DB2}">
      <thm15:themeFamily xmlns:thm15="http://schemas.microsoft.com/office/thememl/2012/main" xmlns="" name="my" id="{1B042AB1-EF8A-4915-9F38-6117E79ADC67}" vid="{B3B2D6D2-5722-443C-8BAE-6F7078B4CFF1}"/>
    </a:ext>
  </a:extLst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21177</TotalTime>
  <Words>2055</Words>
  <Application>Microsoft Office PowerPoint</Application>
  <PresentationFormat>全屏显示(4:3)</PresentationFormat>
  <Paragraphs>285</Paragraphs>
  <Slides>36</Slides>
  <Notes>17</Notes>
  <HiddenSlides>0</HiddenSlides>
  <MMClips>0</MMClips>
  <ScaleCrop>false</ScaleCrop>
  <HeadingPairs>
    <vt:vector size="6" baseType="variant">
      <vt:variant>
        <vt:lpstr>主题</vt:lpstr>
      </vt:variant>
      <vt:variant>
        <vt:i4>4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36</vt:i4>
      </vt:variant>
    </vt:vector>
  </HeadingPairs>
  <TitlesOfParts>
    <vt:vector size="44" baseType="lpstr">
      <vt:lpstr>my</vt:lpstr>
      <vt:lpstr>2_my</vt:lpstr>
      <vt:lpstr>1_Office 主题​​</vt:lpstr>
      <vt:lpstr>5_my</vt:lpstr>
      <vt:lpstr>Microsoft 公式 3.0</vt:lpstr>
      <vt:lpstr>Clip</vt:lpstr>
      <vt:lpstr>公式</vt:lpstr>
      <vt:lpstr>MS_ClipArt_Gallery.2</vt:lpstr>
      <vt:lpstr>PowerPoint 演示文稿</vt:lpstr>
      <vt:lpstr>课程介绍</vt:lpstr>
      <vt:lpstr>数值分析是做什么用的？</vt:lpstr>
      <vt:lpstr>课程介绍</vt:lpstr>
      <vt:lpstr>课程介绍</vt:lpstr>
      <vt:lpstr>数值分析研究对象与特点</vt:lpstr>
      <vt:lpstr>课程介绍</vt:lpstr>
      <vt:lpstr>课程要求</vt:lpstr>
      <vt:lpstr>课程要求</vt:lpstr>
      <vt:lpstr>主要教学内容</vt:lpstr>
      <vt:lpstr>数值分析需要考虑的问题</vt:lpstr>
      <vt:lpstr>应用领域</vt:lpstr>
      <vt:lpstr>应用领域</vt:lpstr>
      <vt:lpstr>PowerPoint 演示文稿</vt:lpstr>
      <vt:lpstr>应用领域举例1</vt:lpstr>
      <vt:lpstr>应用领域举例2</vt:lpstr>
      <vt:lpstr>应用领域举例3</vt:lpstr>
      <vt:lpstr>应用领域举例4</vt:lpstr>
      <vt:lpstr>应用举例</vt:lpstr>
      <vt:lpstr>迭代方法</vt:lpstr>
      <vt:lpstr>分形——大自然的几何</vt:lpstr>
      <vt:lpstr>分形——大自然的几何</vt:lpstr>
      <vt:lpstr>分形——大自然的几何</vt:lpstr>
      <vt:lpstr>分形——大自然的几何</vt:lpstr>
      <vt:lpstr>迭代是分形图形绘制的一种重要方法</vt:lpstr>
      <vt:lpstr>分形——大自然的几何</vt:lpstr>
      <vt:lpstr>分形编码</vt:lpstr>
      <vt:lpstr>分形编码</vt:lpstr>
      <vt:lpstr>应用领域举例5</vt:lpstr>
      <vt:lpstr>PowerPoint 演示文稿</vt:lpstr>
      <vt:lpstr>PowerPoint 演示文稿</vt:lpstr>
      <vt:lpstr>渐进/控制解码</vt:lpstr>
      <vt:lpstr>PowerPoint 演示文稿</vt:lpstr>
      <vt:lpstr>数字海图中水深点数据的求取</vt:lpstr>
      <vt:lpstr>数字海图中水深点数据的求取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apple</dc:creator>
  <cp:lastModifiedBy>Sun</cp:lastModifiedBy>
  <cp:revision>440</cp:revision>
  <dcterms:created xsi:type="dcterms:W3CDTF">2021-03-08T17:06:18Z</dcterms:created>
  <dcterms:modified xsi:type="dcterms:W3CDTF">2024-09-11T07:30:50Z</dcterms:modified>
</cp:coreProperties>
</file>