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wav" ContentType="audio/wav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0" r:id="rId1"/>
  </p:sldMasterIdLst>
  <p:notesMasterIdLst>
    <p:notesMasterId r:id="rId124"/>
  </p:notesMasterIdLst>
  <p:handoutMasterIdLst>
    <p:handoutMasterId r:id="rId125"/>
  </p:handoutMasterIdLst>
  <p:sldIdLst>
    <p:sldId id="272" r:id="rId2"/>
    <p:sldId id="459" r:id="rId3"/>
    <p:sldId id="458" r:id="rId4"/>
    <p:sldId id="270" r:id="rId5"/>
    <p:sldId id="514" r:id="rId6"/>
    <p:sldId id="515" r:id="rId7"/>
    <p:sldId id="314" r:id="rId8"/>
    <p:sldId id="460" r:id="rId9"/>
    <p:sldId id="407" r:id="rId10"/>
    <p:sldId id="315" r:id="rId11"/>
    <p:sldId id="318" r:id="rId12"/>
    <p:sldId id="317" r:id="rId13"/>
    <p:sldId id="516" r:id="rId14"/>
    <p:sldId id="517" r:id="rId15"/>
    <p:sldId id="319" r:id="rId16"/>
    <p:sldId id="420" r:id="rId17"/>
    <p:sldId id="409" r:id="rId18"/>
    <p:sldId id="320" r:id="rId19"/>
    <p:sldId id="518" r:id="rId20"/>
    <p:sldId id="519" r:id="rId21"/>
    <p:sldId id="321" r:id="rId22"/>
    <p:sldId id="322" r:id="rId23"/>
    <p:sldId id="325" r:id="rId24"/>
    <p:sldId id="490" r:id="rId25"/>
    <p:sldId id="323" r:id="rId26"/>
    <p:sldId id="324" r:id="rId27"/>
    <p:sldId id="461" r:id="rId28"/>
    <p:sldId id="328" r:id="rId29"/>
    <p:sldId id="330" r:id="rId30"/>
    <p:sldId id="491" r:id="rId31"/>
    <p:sldId id="492" r:id="rId32"/>
    <p:sldId id="493" r:id="rId33"/>
    <p:sldId id="417" r:id="rId34"/>
    <p:sldId id="494" r:id="rId35"/>
    <p:sldId id="495" r:id="rId36"/>
    <p:sldId id="496" r:id="rId37"/>
    <p:sldId id="497" r:id="rId38"/>
    <p:sldId id="523" r:id="rId39"/>
    <p:sldId id="498" r:id="rId40"/>
    <p:sldId id="499" r:id="rId41"/>
    <p:sldId id="331" r:id="rId42"/>
    <p:sldId id="395" r:id="rId43"/>
    <p:sldId id="472" r:id="rId44"/>
    <p:sldId id="464" r:id="rId45"/>
    <p:sldId id="463" r:id="rId46"/>
    <p:sldId id="334" r:id="rId47"/>
    <p:sldId id="336" r:id="rId48"/>
    <p:sldId id="337" r:id="rId49"/>
    <p:sldId id="338" r:id="rId50"/>
    <p:sldId id="339" r:id="rId51"/>
    <p:sldId id="340" r:id="rId52"/>
    <p:sldId id="342" r:id="rId53"/>
    <p:sldId id="427" r:id="rId54"/>
    <p:sldId id="468" r:id="rId55"/>
    <p:sldId id="469" r:id="rId56"/>
    <p:sldId id="474" r:id="rId57"/>
    <p:sldId id="476" r:id="rId58"/>
    <p:sldId id="345" r:id="rId59"/>
    <p:sldId id="346" r:id="rId60"/>
    <p:sldId id="347" r:id="rId61"/>
    <p:sldId id="348" r:id="rId62"/>
    <p:sldId id="349" r:id="rId63"/>
    <p:sldId id="350" r:id="rId64"/>
    <p:sldId id="351" r:id="rId65"/>
    <p:sldId id="352" r:id="rId66"/>
    <p:sldId id="353" r:id="rId67"/>
    <p:sldId id="524" r:id="rId68"/>
    <p:sldId id="354" r:id="rId69"/>
    <p:sldId id="362" r:id="rId70"/>
    <p:sldId id="418" r:id="rId71"/>
    <p:sldId id="363" r:id="rId72"/>
    <p:sldId id="475" r:id="rId73"/>
    <p:sldId id="424" r:id="rId74"/>
    <p:sldId id="365" r:id="rId75"/>
    <p:sldId id="501" r:id="rId76"/>
    <p:sldId id="419" r:id="rId77"/>
    <p:sldId id="367" r:id="rId78"/>
    <p:sldId id="369" r:id="rId79"/>
    <p:sldId id="370" r:id="rId80"/>
    <p:sldId id="372" r:id="rId81"/>
    <p:sldId id="373" r:id="rId82"/>
    <p:sldId id="525" r:id="rId83"/>
    <p:sldId id="521" r:id="rId84"/>
    <p:sldId id="375" r:id="rId85"/>
    <p:sldId id="374" r:id="rId86"/>
    <p:sldId id="437" r:id="rId87"/>
    <p:sldId id="438" r:id="rId88"/>
    <p:sldId id="401" r:id="rId89"/>
    <p:sldId id="377" r:id="rId90"/>
    <p:sldId id="522" r:id="rId91"/>
    <p:sldId id="378" r:id="rId92"/>
    <p:sldId id="381" r:id="rId93"/>
    <p:sldId id="379" r:id="rId94"/>
    <p:sldId id="380" r:id="rId95"/>
    <p:sldId id="382" r:id="rId96"/>
    <p:sldId id="440" r:id="rId97"/>
    <p:sldId id="441" r:id="rId98"/>
    <p:sldId id="442" r:id="rId99"/>
    <p:sldId id="443" r:id="rId100"/>
    <p:sldId id="444" r:id="rId101"/>
    <p:sldId id="445" r:id="rId102"/>
    <p:sldId id="446" r:id="rId103"/>
    <p:sldId id="447" r:id="rId104"/>
    <p:sldId id="448" r:id="rId105"/>
    <p:sldId id="449" r:id="rId106"/>
    <p:sldId id="450" r:id="rId107"/>
    <p:sldId id="451" r:id="rId108"/>
    <p:sldId id="452" r:id="rId109"/>
    <p:sldId id="453" r:id="rId110"/>
    <p:sldId id="454" r:id="rId111"/>
    <p:sldId id="455" r:id="rId112"/>
    <p:sldId id="456" r:id="rId113"/>
    <p:sldId id="529" r:id="rId114"/>
    <p:sldId id="530" r:id="rId115"/>
    <p:sldId id="508" r:id="rId116"/>
    <p:sldId id="509" r:id="rId117"/>
    <p:sldId id="510" r:id="rId118"/>
    <p:sldId id="511" r:id="rId119"/>
    <p:sldId id="478" r:id="rId120"/>
    <p:sldId id="481" r:id="rId121"/>
    <p:sldId id="480" r:id="rId122"/>
    <p:sldId id="457" r:id="rId123"/>
  </p:sldIdLst>
  <p:sldSz cx="9144000" cy="6858000" type="letter"/>
  <p:notesSz cx="9144000" cy="68580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B5BEE3"/>
    <a:srgbClr val="FFFF99"/>
    <a:srgbClr val="D3D8EF"/>
    <a:srgbClr val="0000FF"/>
    <a:srgbClr val="2C376C"/>
    <a:srgbClr val="CDD2ED"/>
    <a:srgbClr val="D5DAEF"/>
    <a:srgbClr val="04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 autoAdjust="0"/>
    <p:restoredTop sz="76392" autoAdjust="0"/>
  </p:normalViewPr>
  <p:slideViewPr>
    <p:cSldViewPr>
      <p:cViewPr>
        <p:scale>
          <a:sx n="70" d="100"/>
          <a:sy n="70" d="100"/>
        </p:scale>
        <p:origin x="936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30811"/>
    </p:cViewPr>
  </p:sorterViewPr>
  <p:notesViewPr>
    <p:cSldViewPr>
      <p:cViewPr varScale="1">
        <p:scale>
          <a:sx n="79" d="100"/>
          <a:sy n="79" d="100"/>
        </p:scale>
        <p:origin x="-792" y="-84"/>
      </p:cViewPr>
      <p:guideLst>
        <p:guide orient="horz" pos="2160"/>
        <p:guide pos="288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notesMaster" Target="notesMasters/notesMaster1.xml"/><Relationship Id="rId129" Type="http://schemas.openxmlformats.org/officeDocument/2006/relationships/tableStyles" Target="tableStyle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110.xml"/><Relationship Id="rId2" Type="http://schemas.openxmlformats.org/officeDocument/2006/relationships/slide" Target="slides/slide103.xml"/><Relationship Id="rId1" Type="http://schemas.openxmlformats.org/officeDocument/2006/relationships/slide" Target="slides/slide99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4" Type="http://schemas.openxmlformats.org/officeDocument/2006/relationships/image" Target="../media/image15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4" Type="http://schemas.openxmlformats.org/officeDocument/2006/relationships/image" Target="../media/image22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5.wmf"/><Relationship Id="rId1" Type="http://schemas.openxmlformats.org/officeDocument/2006/relationships/image" Target="../media/image28.wmf"/><Relationship Id="rId4" Type="http://schemas.openxmlformats.org/officeDocument/2006/relationships/image" Target="../media/image30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25.wmf"/><Relationship Id="rId1" Type="http://schemas.openxmlformats.org/officeDocument/2006/relationships/image" Target="../media/image32.wmf"/><Relationship Id="rId4" Type="http://schemas.openxmlformats.org/officeDocument/2006/relationships/image" Target="../media/image34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Relationship Id="rId4" Type="http://schemas.openxmlformats.org/officeDocument/2006/relationships/image" Target="../media/image39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38.wmf"/><Relationship Id="rId1" Type="http://schemas.openxmlformats.org/officeDocument/2006/relationships/image" Target="../media/image40.wmf"/><Relationship Id="rId6" Type="http://schemas.openxmlformats.org/officeDocument/2006/relationships/image" Target="../media/image44.wmf"/><Relationship Id="rId5" Type="http://schemas.openxmlformats.org/officeDocument/2006/relationships/image" Target="../media/image43.wmf"/><Relationship Id="rId4" Type="http://schemas.openxmlformats.org/officeDocument/2006/relationships/image" Target="../media/image42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38.wmf"/><Relationship Id="rId1" Type="http://schemas.openxmlformats.org/officeDocument/2006/relationships/image" Target="../media/image45.wmf"/><Relationship Id="rId5" Type="http://schemas.openxmlformats.org/officeDocument/2006/relationships/image" Target="../media/image48.wmf"/><Relationship Id="rId4" Type="http://schemas.openxmlformats.org/officeDocument/2006/relationships/image" Target="../media/image47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0.wmf"/><Relationship Id="rId1" Type="http://schemas.openxmlformats.org/officeDocument/2006/relationships/image" Target="../media/image49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3" Type="http://schemas.openxmlformats.org/officeDocument/2006/relationships/image" Target="../media/image57.wmf"/><Relationship Id="rId7" Type="http://schemas.openxmlformats.org/officeDocument/2006/relationships/image" Target="../media/image61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Relationship Id="rId6" Type="http://schemas.openxmlformats.org/officeDocument/2006/relationships/image" Target="../media/image60.wmf"/><Relationship Id="rId5" Type="http://schemas.openxmlformats.org/officeDocument/2006/relationships/image" Target="../media/image59.wmf"/><Relationship Id="rId4" Type="http://schemas.openxmlformats.org/officeDocument/2006/relationships/image" Target="../media/image58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3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image" Target="../media/image65.wmf"/><Relationship Id="rId1" Type="http://schemas.openxmlformats.org/officeDocument/2006/relationships/image" Target="../media/image64.wmf"/><Relationship Id="rId4" Type="http://schemas.openxmlformats.org/officeDocument/2006/relationships/image" Target="../media/image67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3" Type="http://schemas.openxmlformats.org/officeDocument/2006/relationships/image" Target="../media/image70.wmf"/><Relationship Id="rId7" Type="http://schemas.openxmlformats.org/officeDocument/2006/relationships/image" Target="../media/image74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Relationship Id="rId6" Type="http://schemas.openxmlformats.org/officeDocument/2006/relationships/image" Target="../media/image73.wmf"/><Relationship Id="rId11" Type="http://schemas.openxmlformats.org/officeDocument/2006/relationships/image" Target="../media/image78.wmf"/><Relationship Id="rId5" Type="http://schemas.openxmlformats.org/officeDocument/2006/relationships/image" Target="../media/image72.wmf"/><Relationship Id="rId10" Type="http://schemas.openxmlformats.org/officeDocument/2006/relationships/image" Target="../media/image77.wmf"/><Relationship Id="rId4" Type="http://schemas.openxmlformats.org/officeDocument/2006/relationships/image" Target="../media/image71.wmf"/><Relationship Id="rId9" Type="http://schemas.openxmlformats.org/officeDocument/2006/relationships/image" Target="../media/image76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86.wmf"/><Relationship Id="rId3" Type="http://schemas.openxmlformats.org/officeDocument/2006/relationships/image" Target="../media/image81.wmf"/><Relationship Id="rId7" Type="http://schemas.openxmlformats.org/officeDocument/2006/relationships/image" Target="../media/image85.wmf"/><Relationship Id="rId2" Type="http://schemas.openxmlformats.org/officeDocument/2006/relationships/image" Target="../media/image80.wmf"/><Relationship Id="rId1" Type="http://schemas.openxmlformats.org/officeDocument/2006/relationships/image" Target="../media/image79.wmf"/><Relationship Id="rId6" Type="http://schemas.openxmlformats.org/officeDocument/2006/relationships/image" Target="../media/image84.wmf"/><Relationship Id="rId5" Type="http://schemas.openxmlformats.org/officeDocument/2006/relationships/image" Target="../media/image83.wmf"/><Relationship Id="rId4" Type="http://schemas.openxmlformats.org/officeDocument/2006/relationships/image" Target="../media/image82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89.wmf"/><Relationship Id="rId2" Type="http://schemas.openxmlformats.org/officeDocument/2006/relationships/image" Target="../media/image88.wmf"/><Relationship Id="rId1" Type="http://schemas.openxmlformats.org/officeDocument/2006/relationships/image" Target="../media/image87.wmf"/><Relationship Id="rId6" Type="http://schemas.openxmlformats.org/officeDocument/2006/relationships/image" Target="../media/image92.emf"/><Relationship Id="rId5" Type="http://schemas.openxmlformats.org/officeDocument/2006/relationships/image" Target="../media/image91.wmf"/><Relationship Id="rId4" Type="http://schemas.openxmlformats.org/officeDocument/2006/relationships/image" Target="../media/image90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5.wmf"/><Relationship Id="rId2" Type="http://schemas.openxmlformats.org/officeDocument/2006/relationships/image" Target="../media/image94.wmf"/><Relationship Id="rId1" Type="http://schemas.openxmlformats.org/officeDocument/2006/relationships/image" Target="../media/image93.wmf"/><Relationship Id="rId6" Type="http://schemas.openxmlformats.org/officeDocument/2006/relationships/image" Target="../media/image98.wmf"/><Relationship Id="rId5" Type="http://schemas.openxmlformats.org/officeDocument/2006/relationships/image" Target="../media/image97.wmf"/><Relationship Id="rId4" Type="http://schemas.openxmlformats.org/officeDocument/2006/relationships/image" Target="../media/image96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wmf"/><Relationship Id="rId2" Type="http://schemas.openxmlformats.org/officeDocument/2006/relationships/image" Target="../media/image100.wmf"/><Relationship Id="rId1" Type="http://schemas.openxmlformats.org/officeDocument/2006/relationships/image" Target="../media/image99.wmf"/><Relationship Id="rId4" Type="http://schemas.openxmlformats.org/officeDocument/2006/relationships/image" Target="../media/image102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wmf"/><Relationship Id="rId2" Type="http://schemas.openxmlformats.org/officeDocument/2006/relationships/image" Target="../media/image104.wmf"/><Relationship Id="rId1" Type="http://schemas.openxmlformats.org/officeDocument/2006/relationships/image" Target="../media/image103.wmf"/><Relationship Id="rId5" Type="http://schemas.openxmlformats.org/officeDocument/2006/relationships/image" Target="../media/image107.wmf"/><Relationship Id="rId4" Type="http://schemas.openxmlformats.org/officeDocument/2006/relationships/image" Target="../media/image106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emf"/><Relationship Id="rId1" Type="http://schemas.openxmlformats.org/officeDocument/2006/relationships/image" Target="../media/image108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0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1.w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wmf"/><Relationship Id="rId1" Type="http://schemas.openxmlformats.org/officeDocument/2006/relationships/image" Target="../media/image112.w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6.e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wmf"/><Relationship Id="rId2" Type="http://schemas.openxmlformats.org/officeDocument/2006/relationships/image" Target="../media/image118.wmf"/><Relationship Id="rId1" Type="http://schemas.openxmlformats.org/officeDocument/2006/relationships/image" Target="../media/image117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emf"/><Relationship Id="rId2" Type="http://schemas.openxmlformats.org/officeDocument/2006/relationships/image" Target="../media/image121.wmf"/><Relationship Id="rId1" Type="http://schemas.openxmlformats.org/officeDocument/2006/relationships/image" Target="../media/image120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wmf"/><Relationship Id="rId2" Type="http://schemas.openxmlformats.org/officeDocument/2006/relationships/image" Target="../media/image124.emf"/><Relationship Id="rId1" Type="http://schemas.openxmlformats.org/officeDocument/2006/relationships/image" Target="../media/image123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emf"/><Relationship Id="rId2" Type="http://schemas.openxmlformats.org/officeDocument/2006/relationships/image" Target="../media/image127.wmf"/><Relationship Id="rId1" Type="http://schemas.openxmlformats.org/officeDocument/2006/relationships/image" Target="../media/image126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wmf"/><Relationship Id="rId2" Type="http://schemas.openxmlformats.org/officeDocument/2006/relationships/image" Target="../media/image130.wmf"/><Relationship Id="rId1" Type="http://schemas.openxmlformats.org/officeDocument/2006/relationships/image" Target="../media/image129.wmf"/><Relationship Id="rId4" Type="http://schemas.openxmlformats.org/officeDocument/2006/relationships/image" Target="../media/image132.wmf"/></Relationships>
</file>

<file path=ppt/drawings/_rels/vmlDrawing3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wmf"/><Relationship Id="rId1" Type="http://schemas.openxmlformats.org/officeDocument/2006/relationships/image" Target="../media/image133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emf"/><Relationship Id="rId2" Type="http://schemas.openxmlformats.org/officeDocument/2006/relationships/image" Target="../media/image136.wmf"/><Relationship Id="rId1" Type="http://schemas.openxmlformats.org/officeDocument/2006/relationships/image" Target="../media/image135.wmf"/></Relationships>
</file>

<file path=ppt/drawings/_rels/vmlDrawing3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wmf"/><Relationship Id="rId1" Type="http://schemas.openxmlformats.org/officeDocument/2006/relationships/image" Target="../media/image138.wmf"/></Relationships>
</file>

<file path=ppt/drawings/_rels/vmlDrawing3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8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wmf"/><Relationship Id="rId7" Type="http://schemas.openxmlformats.org/officeDocument/2006/relationships/image" Target="../media/image146.wmf"/><Relationship Id="rId2" Type="http://schemas.openxmlformats.org/officeDocument/2006/relationships/image" Target="../media/image141.wmf"/><Relationship Id="rId1" Type="http://schemas.openxmlformats.org/officeDocument/2006/relationships/image" Target="../media/image140.wmf"/><Relationship Id="rId6" Type="http://schemas.openxmlformats.org/officeDocument/2006/relationships/image" Target="../media/image145.wmf"/><Relationship Id="rId5" Type="http://schemas.openxmlformats.org/officeDocument/2006/relationships/image" Target="../media/image144.wmf"/><Relationship Id="rId4" Type="http://schemas.openxmlformats.org/officeDocument/2006/relationships/image" Target="../media/image143.wmf"/></Relationships>
</file>

<file path=ppt/drawings/_rels/vmlDrawing3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wmf"/><Relationship Id="rId1" Type="http://schemas.openxmlformats.org/officeDocument/2006/relationships/image" Target="../media/image147.wmf"/></Relationships>
</file>

<file path=ppt/drawings/_rels/vmlDrawing4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wmf"/><Relationship Id="rId1" Type="http://schemas.openxmlformats.org/officeDocument/2006/relationships/image" Target="../media/image138.w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wmf"/><Relationship Id="rId2" Type="http://schemas.openxmlformats.org/officeDocument/2006/relationships/image" Target="../media/image138.wmf"/><Relationship Id="rId1" Type="http://schemas.openxmlformats.org/officeDocument/2006/relationships/image" Target="../media/image151.wmf"/><Relationship Id="rId4" Type="http://schemas.openxmlformats.org/officeDocument/2006/relationships/image" Target="../media/image152.wmf"/></Relationships>
</file>

<file path=ppt/drawings/_rels/vmlDrawing4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wmf"/><Relationship Id="rId2" Type="http://schemas.openxmlformats.org/officeDocument/2006/relationships/image" Target="../media/image154.wmf"/><Relationship Id="rId1" Type="http://schemas.openxmlformats.org/officeDocument/2006/relationships/image" Target="../media/image153.wmf"/><Relationship Id="rId4" Type="http://schemas.openxmlformats.org/officeDocument/2006/relationships/image" Target="../media/image151.w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wmf"/><Relationship Id="rId2" Type="http://schemas.openxmlformats.org/officeDocument/2006/relationships/image" Target="../media/image157.wmf"/><Relationship Id="rId1" Type="http://schemas.openxmlformats.org/officeDocument/2006/relationships/image" Target="../media/image156.wmf"/><Relationship Id="rId4" Type="http://schemas.openxmlformats.org/officeDocument/2006/relationships/image" Target="../media/image159.wmf"/></Relationships>
</file>

<file path=ppt/drawings/_rels/vmlDrawing4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wmf"/><Relationship Id="rId2" Type="http://schemas.openxmlformats.org/officeDocument/2006/relationships/image" Target="../media/image162.wmf"/><Relationship Id="rId1" Type="http://schemas.openxmlformats.org/officeDocument/2006/relationships/image" Target="../media/image161.wmf"/><Relationship Id="rId5" Type="http://schemas.openxmlformats.org/officeDocument/2006/relationships/image" Target="../media/image165.wmf"/><Relationship Id="rId4" Type="http://schemas.openxmlformats.org/officeDocument/2006/relationships/image" Target="../media/image164.wmf"/></Relationships>
</file>

<file path=ppt/drawings/_rels/vmlDrawing4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wmf"/><Relationship Id="rId1" Type="http://schemas.openxmlformats.org/officeDocument/2006/relationships/image" Target="../media/image166.wmf"/></Relationships>
</file>

<file path=ppt/drawings/_rels/vmlDrawing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wmf"/><Relationship Id="rId2" Type="http://schemas.openxmlformats.org/officeDocument/2006/relationships/image" Target="../media/image169.wmf"/><Relationship Id="rId1" Type="http://schemas.openxmlformats.org/officeDocument/2006/relationships/image" Target="../media/image168.wmf"/><Relationship Id="rId4" Type="http://schemas.openxmlformats.org/officeDocument/2006/relationships/image" Target="../media/image170.wmf"/></Relationships>
</file>

<file path=ppt/drawings/_rels/vmlDrawing4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wmf"/><Relationship Id="rId2" Type="http://schemas.openxmlformats.org/officeDocument/2006/relationships/image" Target="../media/image172.wmf"/><Relationship Id="rId1" Type="http://schemas.openxmlformats.org/officeDocument/2006/relationships/image" Target="../media/image171.wmf"/></Relationships>
</file>

<file path=ppt/drawings/_rels/vmlDrawing4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wmf"/><Relationship Id="rId1" Type="http://schemas.openxmlformats.org/officeDocument/2006/relationships/image" Target="../media/image173.wmf"/></Relationships>
</file>

<file path=ppt/drawings/_rels/vmlDrawing4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wmf"/><Relationship Id="rId2" Type="http://schemas.openxmlformats.org/officeDocument/2006/relationships/image" Target="../media/image176.wmf"/><Relationship Id="rId1" Type="http://schemas.openxmlformats.org/officeDocument/2006/relationships/image" Target="../media/image175.wmf"/></Relationships>
</file>

<file path=ppt/drawings/_rels/vmlDrawing5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9.wmf"/><Relationship Id="rId1" Type="http://schemas.openxmlformats.org/officeDocument/2006/relationships/image" Target="../media/image178.wmf"/></Relationships>
</file>

<file path=ppt/drawings/_rels/vmlDrawing5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wmf"/><Relationship Id="rId2" Type="http://schemas.openxmlformats.org/officeDocument/2006/relationships/image" Target="../media/image138.wmf"/><Relationship Id="rId1" Type="http://schemas.openxmlformats.org/officeDocument/2006/relationships/image" Target="../media/image180.wmf"/><Relationship Id="rId4" Type="http://schemas.openxmlformats.org/officeDocument/2006/relationships/image" Target="../media/image182.wmf"/></Relationships>
</file>

<file path=ppt/drawings/_rels/vmlDrawing5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wmf"/><Relationship Id="rId2" Type="http://schemas.openxmlformats.org/officeDocument/2006/relationships/image" Target="../media/image184.wmf"/><Relationship Id="rId1" Type="http://schemas.openxmlformats.org/officeDocument/2006/relationships/image" Target="../media/image183.wmf"/><Relationship Id="rId5" Type="http://schemas.openxmlformats.org/officeDocument/2006/relationships/image" Target="../media/image187.wmf"/><Relationship Id="rId4" Type="http://schemas.openxmlformats.org/officeDocument/2006/relationships/image" Target="../media/image186.wmf"/></Relationships>
</file>

<file path=ppt/drawings/_rels/vmlDrawing5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9.wmf"/><Relationship Id="rId1" Type="http://schemas.openxmlformats.org/officeDocument/2006/relationships/image" Target="../media/image188.wmf"/></Relationships>
</file>

<file path=ppt/drawings/_rels/vmlDrawing5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0.wmf"/></Relationships>
</file>

<file path=ppt/drawings/_rels/vmlDrawing5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2.wmf"/><Relationship Id="rId1" Type="http://schemas.openxmlformats.org/officeDocument/2006/relationships/image" Target="../media/image191.wmf"/></Relationships>
</file>

<file path=ppt/drawings/_rels/vmlDrawing5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4.wmf"/><Relationship Id="rId1" Type="http://schemas.openxmlformats.org/officeDocument/2006/relationships/image" Target="../media/image193.wmf"/></Relationships>
</file>

<file path=ppt/drawings/_rels/vmlDrawing5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wmf"/><Relationship Id="rId2" Type="http://schemas.openxmlformats.org/officeDocument/2006/relationships/image" Target="../media/image196.wmf"/><Relationship Id="rId1" Type="http://schemas.openxmlformats.org/officeDocument/2006/relationships/image" Target="../media/image195.wmf"/></Relationships>
</file>

<file path=ppt/drawings/_rels/vmlDrawing5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7.wmf"/></Relationships>
</file>

<file path=ppt/drawings/_rels/vmlDrawing5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wmf"/><Relationship Id="rId2" Type="http://schemas.openxmlformats.org/officeDocument/2006/relationships/image" Target="../media/image199.wmf"/><Relationship Id="rId1" Type="http://schemas.openxmlformats.org/officeDocument/2006/relationships/image" Target="../media/image198.wmf"/><Relationship Id="rId4" Type="http://schemas.openxmlformats.org/officeDocument/2006/relationships/image" Target="../media/image201.wmf"/></Relationships>
</file>

<file path=ppt/drawings/_rels/vmlDrawing6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wmf"/><Relationship Id="rId2" Type="http://schemas.openxmlformats.org/officeDocument/2006/relationships/image" Target="../media/image204.emf"/><Relationship Id="rId1" Type="http://schemas.openxmlformats.org/officeDocument/2006/relationships/image" Target="../media/image203.wmf"/><Relationship Id="rId5" Type="http://schemas.openxmlformats.org/officeDocument/2006/relationships/image" Target="../media/image207.wmf"/><Relationship Id="rId4" Type="http://schemas.openxmlformats.org/officeDocument/2006/relationships/image" Target="../media/image206.wmf"/></Relationships>
</file>

<file path=ppt/drawings/_rels/vmlDrawing6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5.wmf"/><Relationship Id="rId3" Type="http://schemas.openxmlformats.org/officeDocument/2006/relationships/image" Target="../media/image210.wmf"/><Relationship Id="rId7" Type="http://schemas.openxmlformats.org/officeDocument/2006/relationships/image" Target="../media/image214.wmf"/><Relationship Id="rId2" Type="http://schemas.openxmlformats.org/officeDocument/2006/relationships/image" Target="../media/image209.wmf"/><Relationship Id="rId1" Type="http://schemas.openxmlformats.org/officeDocument/2006/relationships/image" Target="../media/image208.wmf"/><Relationship Id="rId6" Type="http://schemas.openxmlformats.org/officeDocument/2006/relationships/image" Target="../media/image213.wmf"/><Relationship Id="rId5" Type="http://schemas.openxmlformats.org/officeDocument/2006/relationships/image" Target="../media/image212.wmf"/><Relationship Id="rId4" Type="http://schemas.openxmlformats.org/officeDocument/2006/relationships/image" Target="../media/image211.wmf"/><Relationship Id="rId9" Type="http://schemas.openxmlformats.org/officeDocument/2006/relationships/image" Target="../media/image216.wmf"/></Relationships>
</file>

<file path=ppt/drawings/_rels/vmlDrawing6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7.wmf"/></Relationships>
</file>

<file path=ppt/drawings/_rels/vmlDrawing6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wmf"/><Relationship Id="rId2" Type="http://schemas.openxmlformats.org/officeDocument/2006/relationships/image" Target="../media/image219.wmf"/><Relationship Id="rId1" Type="http://schemas.openxmlformats.org/officeDocument/2006/relationships/image" Target="../media/image218.wmf"/><Relationship Id="rId4" Type="http://schemas.openxmlformats.org/officeDocument/2006/relationships/image" Target="../media/image221.wmf"/></Relationships>
</file>

<file path=ppt/drawings/_rels/vmlDrawing6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8.wmf"/><Relationship Id="rId3" Type="http://schemas.openxmlformats.org/officeDocument/2006/relationships/image" Target="../media/image223.wmf"/><Relationship Id="rId7" Type="http://schemas.openxmlformats.org/officeDocument/2006/relationships/image" Target="../media/image227.wmf"/><Relationship Id="rId2" Type="http://schemas.openxmlformats.org/officeDocument/2006/relationships/image" Target="../media/image222.emf"/><Relationship Id="rId1" Type="http://schemas.openxmlformats.org/officeDocument/2006/relationships/image" Target="../media/image198.wmf"/><Relationship Id="rId6" Type="http://schemas.openxmlformats.org/officeDocument/2006/relationships/image" Target="../media/image226.wmf"/><Relationship Id="rId5" Type="http://schemas.openxmlformats.org/officeDocument/2006/relationships/image" Target="../media/image225.wmf"/><Relationship Id="rId10" Type="http://schemas.openxmlformats.org/officeDocument/2006/relationships/image" Target="../media/image230.wmf"/><Relationship Id="rId4" Type="http://schemas.openxmlformats.org/officeDocument/2006/relationships/image" Target="../media/image224.wmf"/><Relationship Id="rId9" Type="http://schemas.openxmlformats.org/officeDocument/2006/relationships/image" Target="../media/image229.wmf"/></Relationships>
</file>

<file path=ppt/drawings/_rels/vmlDrawing6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3.wmf"/><Relationship Id="rId2" Type="http://schemas.openxmlformats.org/officeDocument/2006/relationships/image" Target="../media/image232.wmf"/><Relationship Id="rId1" Type="http://schemas.openxmlformats.org/officeDocument/2006/relationships/image" Target="../media/image231.wmf"/></Relationships>
</file>

<file path=ppt/drawings/_rels/vmlDrawing6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6.wmf"/><Relationship Id="rId2" Type="http://schemas.openxmlformats.org/officeDocument/2006/relationships/image" Target="../media/image235.wmf"/><Relationship Id="rId1" Type="http://schemas.openxmlformats.org/officeDocument/2006/relationships/image" Target="../media/image234.wmf"/></Relationships>
</file>

<file path=ppt/drawings/_rels/vmlDrawing6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9.wmf"/></Relationships>
</file>

<file path=ppt/drawings/_rels/vmlDrawing6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2.wmf"/><Relationship Id="rId1" Type="http://schemas.openxmlformats.org/officeDocument/2006/relationships/image" Target="../media/image239.wmf"/></Relationships>
</file>

<file path=ppt/drawings/_rels/vmlDrawing6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5.wmf"/><Relationship Id="rId1" Type="http://schemas.openxmlformats.org/officeDocument/2006/relationships/image" Target="../media/image244.wmf"/></Relationships>
</file>

<file path=ppt/drawings/_rels/vmlDrawing7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8.wmf"/><Relationship Id="rId2" Type="http://schemas.openxmlformats.org/officeDocument/2006/relationships/image" Target="../media/image247.wmf"/><Relationship Id="rId1" Type="http://schemas.openxmlformats.org/officeDocument/2006/relationships/image" Target="../media/image246.wmf"/></Relationships>
</file>

<file path=ppt/drawings/_rels/vmlDrawing7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9.wmf"/></Relationships>
</file>

<file path=ppt/drawings/_rels/vmlDrawing7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4857750" y="6430963"/>
            <a:ext cx="3962400" cy="34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b"/>
          <a:lstStyle/>
          <a:p>
            <a:pPr algn="r">
              <a:defRPr/>
            </a:pPr>
            <a:fld id="{802884F5-1846-43B2-BAB7-235E9426FCD8}" type="slidenum">
              <a:rPr lang="zh-CN" altLang="en-US" sz="1200" b="0">
                <a:latin typeface="Arial" pitchFamily="34" charset="0"/>
              </a:rPr>
              <a:pPr algn="r">
                <a:defRPr/>
              </a:pPr>
              <a:t>‹#›</a:t>
            </a:fld>
            <a:endParaRPr lang="en-US" altLang="zh-CN" sz="1200" b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8934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57500" y="514350"/>
            <a:ext cx="3429000" cy="2571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8549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19200" y="3257550"/>
            <a:ext cx="6705600" cy="3086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 smtClean="0"/>
              <a:t>Click to edit Master text styles</a:t>
            </a:r>
          </a:p>
          <a:p>
            <a:pPr lvl="1"/>
            <a:r>
              <a:rPr lang="en-US" altLang="en-US" noProof="0" smtClean="0"/>
              <a:t>Second level</a:t>
            </a:r>
          </a:p>
          <a:p>
            <a:pPr lvl="2"/>
            <a:r>
              <a:rPr lang="en-US" altLang="en-US" noProof="0" smtClean="0"/>
              <a:t>Third level</a:t>
            </a:r>
          </a:p>
          <a:p>
            <a:pPr lvl="3"/>
            <a:r>
              <a:rPr lang="en-US" altLang="en-US" noProof="0" smtClean="0"/>
              <a:t>Fourth level</a:t>
            </a:r>
          </a:p>
          <a:p>
            <a:pPr lvl="4"/>
            <a:r>
              <a:rPr lang="en-US" altLang="en-US" noProof="0" smtClean="0"/>
              <a:t>Fifth level</a:t>
            </a:r>
          </a:p>
        </p:txBody>
      </p:sp>
      <p:sp>
        <p:nvSpPr>
          <p:cNvPr id="108550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5100"/>
            <a:ext cx="3962400" cy="34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r>
              <a:rPr lang="zh-CN" altLang="en-US"/>
              <a:t>Confidential, for review only</a:t>
            </a:r>
            <a:endParaRPr lang="en-US" altLang="en-US"/>
          </a:p>
        </p:txBody>
      </p:sp>
      <p:sp>
        <p:nvSpPr>
          <p:cNvPr id="108551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1600" y="6515100"/>
            <a:ext cx="3962400" cy="34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6563CF33-CB96-46DD-BE49-4A0B6D768B1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798829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222250" indent="-222250" algn="l" rtl="0" eaLnBrk="0" fontAlgn="base" hangingPunct="0">
      <a:lnSpc>
        <a:spcPct val="90000"/>
      </a:lnSpc>
      <a:spcBef>
        <a:spcPct val="20000"/>
      </a:spcBef>
      <a:spcAft>
        <a:spcPct val="0"/>
      </a:spcAft>
      <a:buSzPct val="100000"/>
      <a:buChar char="•"/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520700" indent="-184150" algn="l" rtl="0" eaLnBrk="0" fontAlgn="base" hangingPunct="0">
      <a:lnSpc>
        <a:spcPct val="90000"/>
      </a:lnSpc>
      <a:spcBef>
        <a:spcPct val="20000"/>
      </a:spcBef>
      <a:spcAft>
        <a:spcPct val="0"/>
      </a:spcAft>
      <a:buSzPct val="100000"/>
      <a:buChar char="-"/>
      <a:defRPr sz="16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lnSpc>
        <a:spcPct val="89000"/>
      </a:lnSpc>
      <a:spcBef>
        <a:spcPct val="40000"/>
      </a:spcBef>
      <a:spcAft>
        <a:spcPct val="0"/>
      </a:spcAft>
      <a:buSzPct val="100000"/>
      <a:buChar char="•"/>
      <a:defRPr sz="1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lnSpc>
        <a:spcPct val="89000"/>
      </a:lnSpc>
      <a:spcBef>
        <a:spcPct val="40000"/>
      </a:spcBef>
      <a:spcAft>
        <a:spcPct val="0"/>
      </a:spcAft>
      <a:buSzPct val="100000"/>
      <a:buChar char="•"/>
      <a:defRPr sz="1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lnSpc>
        <a:spcPct val="89000"/>
      </a:lnSpc>
      <a:spcBef>
        <a:spcPct val="40000"/>
      </a:spcBef>
      <a:spcAft>
        <a:spcPct val="0"/>
      </a:spcAft>
      <a:buSzPct val="100000"/>
      <a:buChar char="•"/>
      <a:defRPr sz="1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04451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9BD7F99C-1EFB-4029-95DA-A928F5BCF898}" type="slidenum">
              <a:rPr lang="zh-CN" altLang="en-US" sz="1200" smtClean="0"/>
              <a:pPr/>
              <a:t>1</a:t>
            </a:fld>
            <a:endParaRPr lang="en-US" altLang="zh-CN" sz="1200" smtClean="0"/>
          </a:p>
        </p:txBody>
      </p:sp>
      <p:sp>
        <p:nvSpPr>
          <p:cNvPr id="10445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0445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879430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06499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8C2F1A5C-907A-4ABB-9197-82A0ED44346A}" type="slidenum">
              <a:rPr lang="zh-CN" altLang="en-US" sz="1200" smtClean="0"/>
              <a:pPr/>
              <a:t>4</a:t>
            </a:fld>
            <a:endParaRPr lang="en-US" altLang="zh-CN" sz="1200" smtClean="0"/>
          </a:p>
        </p:txBody>
      </p:sp>
      <p:sp>
        <p:nvSpPr>
          <p:cNvPr id="10650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0650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</a:pPr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17549013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0547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6F426895-5A8B-4ED2-B8C8-5C2909B19866}" type="slidenum">
              <a:rPr lang="zh-CN" altLang="en-US" sz="1200" smtClean="0"/>
              <a:pPr/>
              <a:t>5</a:t>
            </a:fld>
            <a:endParaRPr lang="en-US" altLang="zh-CN" sz="1200" smtClean="0"/>
          </a:p>
        </p:txBody>
      </p:sp>
      <p:sp>
        <p:nvSpPr>
          <p:cNvPr id="105476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0547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711200" y="3257550"/>
            <a:ext cx="7721600" cy="3086100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5000"/>
              </a:lnSpc>
              <a:spcBef>
                <a:spcPct val="10000"/>
              </a:spcBef>
            </a:pPr>
            <a:endParaRPr lang="zh-CN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7329856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07523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DC186FD0-68E4-40ED-B7A5-3DFAB0EF6CE1}" type="slidenum">
              <a:rPr lang="zh-CN" altLang="en-US" sz="1200" smtClean="0"/>
              <a:pPr/>
              <a:t>7</a:t>
            </a:fld>
            <a:endParaRPr lang="en-US" altLang="zh-CN" sz="1200" smtClean="0"/>
          </a:p>
        </p:txBody>
      </p:sp>
      <p:sp>
        <p:nvSpPr>
          <p:cNvPr id="10752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0752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10901668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0854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D8646E41-827D-4D25-BFB4-BCE090551F11}" type="slidenum">
              <a:rPr lang="zh-CN" altLang="en-US" sz="1200" smtClean="0"/>
              <a:pPr/>
              <a:t>8</a:t>
            </a:fld>
            <a:endParaRPr lang="en-US" altLang="zh-CN" sz="1200" smtClean="0"/>
          </a:p>
        </p:txBody>
      </p:sp>
      <p:sp>
        <p:nvSpPr>
          <p:cNvPr id="1085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0854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41904534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09571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42073681-97AF-47F8-9F9E-33EBB632C8D4}" type="slidenum">
              <a:rPr lang="zh-CN" altLang="en-US" sz="1200" smtClean="0"/>
              <a:pPr/>
              <a:t>10</a:t>
            </a:fld>
            <a:endParaRPr lang="en-US" altLang="zh-CN" sz="1200" smtClean="0"/>
          </a:p>
        </p:txBody>
      </p:sp>
      <p:sp>
        <p:nvSpPr>
          <p:cNvPr id="1095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0957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40935389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1059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507ADA00-CA00-4A2F-9DBD-8520044728A6}" type="slidenum">
              <a:rPr lang="zh-CN" altLang="en-US" sz="1200" smtClean="0"/>
              <a:pPr/>
              <a:t>12</a:t>
            </a:fld>
            <a:endParaRPr lang="en-US" altLang="zh-CN" sz="1200" smtClean="0"/>
          </a:p>
        </p:txBody>
      </p:sp>
      <p:sp>
        <p:nvSpPr>
          <p:cNvPr id="11059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1059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043494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11619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79FD0354-0697-428C-89D1-1222296BC8E7}" type="slidenum">
              <a:rPr lang="zh-CN" altLang="en-US" sz="1200" smtClean="0"/>
              <a:pPr/>
              <a:t>15</a:t>
            </a:fld>
            <a:endParaRPr lang="en-US" altLang="zh-CN" sz="1200" smtClean="0"/>
          </a:p>
        </p:txBody>
      </p:sp>
      <p:sp>
        <p:nvSpPr>
          <p:cNvPr id="1116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1162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</a:pPr>
            <a:endParaRPr lang="zh-CN" altLang="en-US" sz="2800" b="1" smtClean="0"/>
          </a:p>
        </p:txBody>
      </p:sp>
    </p:spTree>
    <p:extLst>
      <p:ext uri="{BB962C8B-B14F-4D97-AF65-F5344CB8AC3E}">
        <p14:creationId xmlns:p14="http://schemas.microsoft.com/office/powerpoint/2010/main" val="37404473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12643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DF2F06AF-8127-4D6A-B07B-16A49538566D}" type="slidenum">
              <a:rPr lang="zh-CN" altLang="en-US" sz="1200" smtClean="0"/>
              <a:pPr/>
              <a:t>16</a:t>
            </a:fld>
            <a:endParaRPr lang="en-US" altLang="zh-CN" sz="1200" smtClean="0"/>
          </a:p>
        </p:txBody>
      </p:sp>
      <p:sp>
        <p:nvSpPr>
          <p:cNvPr id="1126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1264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</a:pPr>
            <a:endParaRPr lang="zh-CN" altLang="en-US" b="1" smtClean="0"/>
          </a:p>
        </p:txBody>
      </p:sp>
    </p:spTree>
    <p:extLst>
      <p:ext uri="{BB962C8B-B14F-4D97-AF65-F5344CB8AC3E}">
        <p14:creationId xmlns:p14="http://schemas.microsoft.com/office/powerpoint/2010/main" val="13708821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1366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C6AAD593-8BD0-4DB7-AE92-CD46439B1A59}" type="slidenum">
              <a:rPr lang="zh-CN" altLang="en-US" sz="1200" smtClean="0"/>
              <a:pPr/>
              <a:t>17</a:t>
            </a:fld>
            <a:endParaRPr lang="en-US" altLang="zh-CN" sz="1200" smtClean="0"/>
          </a:p>
        </p:txBody>
      </p:sp>
      <p:sp>
        <p:nvSpPr>
          <p:cNvPr id="1136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136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29616609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14691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A48949E6-4413-4128-987E-139721E97644}" type="slidenum">
              <a:rPr lang="zh-CN" altLang="en-US" sz="1200" smtClean="0"/>
              <a:pPr/>
              <a:t>18</a:t>
            </a:fld>
            <a:endParaRPr lang="en-US" altLang="zh-CN" sz="1200" smtClean="0"/>
          </a:p>
        </p:txBody>
      </p:sp>
      <p:sp>
        <p:nvSpPr>
          <p:cNvPr id="11469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1469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b="1" smtClean="0">
              <a:solidFill>
                <a:srgbClr val="FFFF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58985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14691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A48949E6-4413-4128-987E-139721E97644}" type="slidenum">
              <a:rPr lang="zh-CN" altLang="en-US" sz="1200" smtClean="0"/>
              <a:pPr/>
              <a:t>19</a:t>
            </a:fld>
            <a:endParaRPr lang="en-US" altLang="zh-CN" sz="1200" smtClean="0"/>
          </a:p>
        </p:txBody>
      </p:sp>
      <p:sp>
        <p:nvSpPr>
          <p:cNvPr id="11469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1469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b="1" smtClean="0">
              <a:solidFill>
                <a:srgbClr val="FFFF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278947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1571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C6357B4A-4124-44C2-80EF-997202BF3585}" type="slidenum">
              <a:rPr lang="zh-CN" altLang="en-US" sz="1200" smtClean="0"/>
              <a:pPr/>
              <a:t>21</a:t>
            </a:fld>
            <a:endParaRPr lang="en-US" altLang="zh-CN" sz="1200" smtClean="0"/>
          </a:p>
        </p:txBody>
      </p:sp>
      <p:sp>
        <p:nvSpPr>
          <p:cNvPr id="11571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1571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00000"/>
              </a:lnSpc>
            </a:pPr>
            <a:endParaRPr lang="zh-CN" altLang="en-US" smtClean="0"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932162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16739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8050F399-6D97-4E99-8FD0-9E1F5107B234}" type="slidenum">
              <a:rPr lang="zh-CN" altLang="en-US" sz="1200" smtClean="0"/>
              <a:pPr/>
              <a:t>22</a:t>
            </a:fld>
            <a:endParaRPr lang="en-US" altLang="zh-CN" sz="1200" smtClean="0"/>
          </a:p>
        </p:txBody>
      </p:sp>
      <p:sp>
        <p:nvSpPr>
          <p:cNvPr id="11674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1674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008642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17763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A1483C82-4B5A-489D-BF8F-C8E19BF71791}" type="slidenum">
              <a:rPr lang="zh-CN" altLang="en-US" sz="1200" smtClean="0"/>
              <a:pPr/>
              <a:t>23</a:t>
            </a:fld>
            <a:endParaRPr lang="en-US" altLang="zh-CN" sz="1200" smtClean="0"/>
          </a:p>
        </p:txBody>
      </p:sp>
      <p:sp>
        <p:nvSpPr>
          <p:cNvPr id="11776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1776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14703205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1878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E31BDE80-4228-49A4-9E66-EA8C4AA48667}" type="slidenum">
              <a:rPr lang="zh-CN" altLang="en-US" sz="1200" smtClean="0"/>
              <a:pPr/>
              <a:t>25</a:t>
            </a:fld>
            <a:endParaRPr lang="en-US" altLang="zh-CN" sz="1200" smtClean="0"/>
          </a:p>
        </p:txBody>
      </p:sp>
      <p:sp>
        <p:nvSpPr>
          <p:cNvPr id="11878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1878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10000"/>
              </a:lnSpc>
            </a:pPr>
            <a:endParaRPr lang="zh-CN" altLang="en-US" smtClean="0"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96348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19811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91B9C633-730A-4DFA-B4D6-11532985253F}" type="slidenum">
              <a:rPr lang="zh-CN" altLang="en-US" sz="1200" smtClean="0"/>
              <a:pPr/>
              <a:t>26</a:t>
            </a:fld>
            <a:endParaRPr lang="en-US" altLang="zh-CN" sz="1200" smtClean="0"/>
          </a:p>
        </p:txBody>
      </p:sp>
      <p:sp>
        <p:nvSpPr>
          <p:cNvPr id="11981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1981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10000"/>
              </a:lnSpc>
            </a:pPr>
            <a:endParaRPr lang="zh-CN" altLang="en-US" smtClean="0"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925319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2083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1EBA1BCE-C575-49AB-BAFE-03662072D5BF}" type="slidenum">
              <a:rPr lang="zh-CN" altLang="en-US" sz="1200" smtClean="0"/>
              <a:pPr/>
              <a:t>28</a:t>
            </a:fld>
            <a:endParaRPr lang="en-US" altLang="zh-CN" sz="1200" smtClean="0"/>
          </a:p>
        </p:txBody>
      </p:sp>
      <p:sp>
        <p:nvSpPr>
          <p:cNvPr id="12083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2083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17580072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24931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20793BCB-6C9B-4258-BA45-7D1074BE9558}" type="slidenum">
              <a:rPr lang="zh-CN" altLang="en-US" sz="1200" smtClean="0"/>
              <a:pPr/>
              <a:t>29</a:t>
            </a:fld>
            <a:endParaRPr lang="en-US" altLang="zh-CN" sz="1200" smtClean="0"/>
          </a:p>
        </p:txBody>
      </p:sp>
      <p:sp>
        <p:nvSpPr>
          <p:cNvPr id="1249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2493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10000"/>
              </a:lnSpc>
            </a:pPr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42153130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2595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46700C2C-C4F6-4153-A4A3-8196570E1800}" type="slidenum">
              <a:rPr lang="zh-CN" altLang="en-US" sz="1200" smtClean="0"/>
              <a:pPr/>
              <a:t>33</a:t>
            </a:fld>
            <a:endParaRPr lang="en-US" altLang="zh-CN" sz="1200" smtClean="0"/>
          </a:p>
        </p:txBody>
      </p:sp>
      <p:sp>
        <p:nvSpPr>
          <p:cNvPr id="1259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2595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20607916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21859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2A3573FB-E571-4A1C-BEA6-FBCD9D561DFC}" type="slidenum">
              <a:rPr lang="zh-CN" altLang="en-US" sz="1200" smtClean="0"/>
              <a:pPr/>
              <a:t>37</a:t>
            </a:fld>
            <a:endParaRPr lang="en-US" altLang="zh-CN" sz="1200" smtClean="0"/>
          </a:p>
        </p:txBody>
      </p:sp>
      <p:sp>
        <p:nvSpPr>
          <p:cNvPr id="12186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2186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10000"/>
              </a:lnSpc>
            </a:pPr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11461897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22883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B90D6481-2FA4-49E9-BC44-DE417A478710}" type="slidenum">
              <a:rPr lang="zh-CN" altLang="en-US" sz="1200" smtClean="0"/>
              <a:pPr/>
              <a:t>39</a:t>
            </a:fld>
            <a:endParaRPr lang="en-US" altLang="zh-CN" sz="1200" smtClean="0"/>
          </a:p>
        </p:txBody>
      </p:sp>
      <p:sp>
        <p:nvSpPr>
          <p:cNvPr id="1228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228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13227428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2390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55DD8F27-F5D7-4603-B111-B7B556B2784F}" type="slidenum">
              <a:rPr lang="zh-CN" altLang="en-US" sz="1200" smtClean="0"/>
              <a:pPr/>
              <a:t>40</a:t>
            </a:fld>
            <a:endParaRPr lang="en-US" altLang="zh-CN" sz="1200" smtClean="0"/>
          </a:p>
        </p:txBody>
      </p:sp>
      <p:sp>
        <p:nvSpPr>
          <p:cNvPr id="12390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2390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10000"/>
              </a:lnSpc>
            </a:pPr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20807074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26979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5F4AA211-304B-4904-A5A6-CB824DE97812}" type="slidenum">
              <a:rPr lang="zh-CN" altLang="en-US" sz="1200" smtClean="0"/>
              <a:pPr/>
              <a:t>41</a:t>
            </a:fld>
            <a:endParaRPr lang="en-US" altLang="zh-CN" sz="1200" smtClean="0"/>
          </a:p>
        </p:txBody>
      </p:sp>
      <p:sp>
        <p:nvSpPr>
          <p:cNvPr id="1269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2698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16344563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28003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4483878B-609F-488E-8E98-861F8DD3C134}" type="slidenum">
              <a:rPr lang="zh-CN" altLang="en-US" sz="1200" smtClean="0"/>
              <a:pPr/>
              <a:t>42</a:t>
            </a:fld>
            <a:endParaRPr lang="en-US" altLang="zh-CN" sz="1200" smtClean="0"/>
          </a:p>
        </p:txBody>
      </p:sp>
      <p:sp>
        <p:nvSpPr>
          <p:cNvPr id="12800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2800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22357859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2902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3E7BB847-05E8-4410-810B-F54AEC6659BB}" type="slidenum">
              <a:rPr lang="zh-CN" altLang="en-US" sz="1200" smtClean="0"/>
              <a:pPr/>
              <a:t>45</a:t>
            </a:fld>
            <a:endParaRPr lang="en-US" altLang="zh-CN" sz="1200" smtClean="0"/>
          </a:p>
        </p:txBody>
      </p:sp>
      <p:sp>
        <p:nvSpPr>
          <p:cNvPr id="1290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2902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8922017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30051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4207C760-012D-4A65-9670-2815DD128B8E}" type="slidenum">
              <a:rPr lang="zh-CN" altLang="en-US" sz="1200" smtClean="0"/>
              <a:pPr/>
              <a:t>46</a:t>
            </a:fld>
            <a:endParaRPr lang="en-US" altLang="zh-CN" sz="1200" smtClean="0"/>
          </a:p>
        </p:txBody>
      </p:sp>
      <p:sp>
        <p:nvSpPr>
          <p:cNvPr id="13005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3005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2800" b="1" smtClean="0"/>
          </a:p>
        </p:txBody>
      </p:sp>
    </p:spTree>
    <p:extLst>
      <p:ext uri="{BB962C8B-B14F-4D97-AF65-F5344CB8AC3E}">
        <p14:creationId xmlns:p14="http://schemas.microsoft.com/office/powerpoint/2010/main" val="71187854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3107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9798CB1E-118D-4DAA-A580-CBEEA6D041CF}" type="slidenum">
              <a:rPr lang="zh-CN" altLang="en-US" sz="1200" smtClean="0"/>
              <a:pPr/>
              <a:t>47</a:t>
            </a:fld>
            <a:endParaRPr lang="en-US" altLang="zh-CN" sz="1200" smtClean="0"/>
          </a:p>
        </p:txBody>
      </p:sp>
      <p:sp>
        <p:nvSpPr>
          <p:cNvPr id="13107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3107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29529849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32099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35C35822-C430-4B47-8574-7BFCBCC65C91}" type="slidenum">
              <a:rPr lang="zh-CN" altLang="en-US" sz="1200" smtClean="0"/>
              <a:pPr/>
              <a:t>48</a:t>
            </a:fld>
            <a:endParaRPr lang="en-US" altLang="zh-CN" sz="1200" smtClean="0"/>
          </a:p>
        </p:txBody>
      </p:sp>
      <p:sp>
        <p:nvSpPr>
          <p:cNvPr id="13210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3210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218814648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33123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AB5F70A4-AE87-4D7D-ADFC-ECF154CFD72A}" type="slidenum">
              <a:rPr lang="zh-CN" altLang="en-US" sz="1200" smtClean="0"/>
              <a:pPr/>
              <a:t>49</a:t>
            </a:fld>
            <a:endParaRPr lang="en-US" altLang="zh-CN" sz="1200" smtClean="0"/>
          </a:p>
        </p:txBody>
      </p:sp>
      <p:sp>
        <p:nvSpPr>
          <p:cNvPr id="13312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3312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168016184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3414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50EE1E00-1068-4959-A117-AED7CA709415}" type="slidenum">
              <a:rPr lang="zh-CN" altLang="en-US" sz="1200" smtClean="0"/>
              <a:pPr/>
              <a:t>50</a:t>
            </a:fld>
            <a:endParaRPr lang="en-US" altLang="zh-CN" sz="1200" smtClean="0"/>
          </a:p>
        </p:txBody>
      </p:sp>
      <p:sp>
        <p:nvSpPr>
          <p:cNvPr id="1341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3414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348700104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35171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67528352-520D-4DFE-A755-FED112B75A82}" type="slidenum">
              <a:rPr lang="zh-CN" altLang="en-US" sz="1200" smtClean="0"/>
              <a:pPr/>
              <a:t>51</a:t>
            </a:fld>
            <a:endParaRPr lang="en-US" altLang="zh-CN" sz="1200" smtClean="0"/>
          </a:p>
        </p:txBody>
      </p:sp>
      <p:sp>
        <p:nvSpPr>
          <p:cNvPr id="1351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3517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mtClean="0"/>
              <a:t>因为</a:t>
            </a:r>
            <a:r>
              <a:rPr lang="en-US" altLang="zh-CN" smtClean="0">
                <a:sym typeface="Symbol" pitchFamily="18" charset="2"/>
              </a:rPr>
              <a:t></a:t>
            </a:r>
            <a:r>
              <a:rPr lang="en-US" altLang="zh-CN" baseline="-25000" smtClean="0">
                <a:latin typeface="宋体" pitchFamily="2" charset="-122"/>
              </a:rPr>
              <a:t>1</a:t>
            </a:r>
            <a:r>
              <a:rPr lang="en-US" altLang="zh-CN" smtClean="0">
                <a:latin typeface="宋体" pitchFamily="2" charset="-122"/>
              </a:rPr>
              <a:t>&gt;</a:t>
            </a:r>
            <a:r>
              <a:rPr lang="en-US" altLang="zh-CN" smtClean="0">
                <a:sym typeface="Symbol" pitchFamily="18" charset="2"/>
              </a:rPr>
              <a:t></a:t>
            </a:r>
            <a:r>
              <a:rPr lang="en-US" altLang="zh-CN" smtClean="0">
                <a:latin typeface="宋体" pitchFamily="2" charset="-122"/>
              </a:rPr>
              <a:t>,</a:t>
            </a:r>
            <a:r>
              <a:rPr lang="zh-CN" altLang="en-US" smtClean="0">
                <a:latin typeface="宋体" pitchFamily="2" charset="-122"/>
              </a:rPr>
              <a:t>所以迭代终止时的</a:t>
            </a:r>
            <a:r>
              <a:rPr lang="en-US" altLang="zh-CN" i="1" smtClean="0"/>
              <a:t>x</a:t>
            </a:r>
            <a:r>
              <a:rPr lang="en-US" altLang="zh-CN" i="1" baseline="-25000" smtClean="0"/>
              <a:t>n</a:t>
            </a:r>
            <a:r>
              <a:rPr lang="zh-CN" altLang="en-US" smtClean="0">
                <a:latin typeface="宋体" pitchFamily="2" charset="-122"/>
              </a:rPr>
              <a:t>值的误差不一定能保证小于</a:t>
            </a:r>
            <a:r>
              <a:rPr lang="en-US" altLang="zh-CN" smtClean="0">
                <a:sym typeface="Symbol" pitchFamily="18" charset="2"/>
              </a:rPr>
              <a:t></a:t>
            </a:r>
            <a:r>
              <a:rPr lang="en-US" altLang="zh-CN" smtClean="0">
                <a:latin typeface="宋体" pitchFamily="2" charset="-122"/>
              </a:rPr>
              <a:t>。</a:t>
            </a:r>
            <a:endParaRPr lang="zh-CN" altLang="en-US" smtClean="0"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7374953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3619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D38CDFA4-43BC-41E6-A5D2-615BEF75A40C}" type="slidenum">
              <a:rPr lang="zh-CN" altLang="en-US" sz="1200" smtClean="0"/>
              <a:pPr/>
              <a:t>52</a:t>
            </a:fld>
            <a:endParaRPr lang="en-US" altLang="zh-CN" sz="1200" smtClean="0"/>
          </a:p>
        </p:txBody>
      </p:sp>
      <p:sp>
        <p:nvSpPr>
          <p:cNvPr id="13619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3619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>
              <a:buFontTx/>
              <a:buNone/>
            </a:pPr>
            <a:endParaRPr lang="zh-CN" altLang="en-US" smtClean="0"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05383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37219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4EBC4140-B878-48DD-9F7F-AAB77B01A493}" type="slidenum">
              <a:rPr lang="zh-CN" altLang="en-US" sz="1200" smtClean="0"/>
              <a:pPr/>
              <a:t>53</a:t>
            </a:fld>
            <a:endParaRPr lang="en-US" altLang="zh-CN" sz="1200" smtClean="0"/>
          </a:p>
        </p:txBody>
      </p:sp>
      <p:sp>
        <p:nvSpPr>
          <p:cNvPr id="1372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solidFill>
            <a:srgbClr val="FFFFFF"/>
          </a:solidFill>
          <a:ln/>
        </p:spPr>
      </p:sp>
      <p:sp>
        <p:nvSpPr>
          <p:cNvPr id="13722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241401916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38243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B6D7A246-385F-4D64-8682-CF69657CDDEF}" type="slidenum">
              <a:rPr lang="zh-CN" altLang="en-US" sz="1200" smtClean="0"/>
              <a:pPr/>
              <a:t>58</a:t>
            </a:fld>
            <a:endParaRPr lang="en-US" altLang="zh-CN" sz="1200" smtClean="0"/>
          </a:p>
        </p:txBody>
      </p:sp>
      <p:sp>
        <p:nvSpPr>
          <p:cNvPr id="1382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3824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00000"/>
              </a:lnSpc>
            </a:pPr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13310963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3926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5717954E-1E43-4F8F-8D2D-FEE04E5BF235}" type="slidenum">
              <a:rPr lang="zh-CN" altLang="en-US" sz="1200" smtClean="0"/>
              <a:pPr/>
              <a:t>59</a:t>
            </a:fld>
            <a:endParaRPr lang="en-US" altLang="zh-CN" sz="1200" smtClean="0"/>
          </a:p>
        </p:txBody>
      </p:sp>
      <p:sp>
        <p:nvSpPr>
          <p:cNvPr id="1392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392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389940459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40291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B12035AB-2015-4CF1-B51C-78679354C0B3}" type="slidenum">
              <a:rPr lang="zh-CN" altLang="en-US" sz="1200" smtClean="0"/>
              <a:pPr/>
              <a:t>60</a:t>
            </a:fld>
            <a:endParaRPr lang="en-US" altLang="zh-CN" sz="1200" smtClean="0"/>
          </a:p>
        </p:txBody>
      </p:sp>
      <p:sp>
        <p:nvSpPr>
          <p:cNvPr id="14029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4029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10000"/>
              </a:lnSpc>
            </a:pPr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107141257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4131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8FB97F43-F7DE-4FD4-9C09-E179BC1D92E4}" type="slidenum">
              <a:rPr lang="zh-CN" altLang="en-US" sz="1200" smtClean="0"/>
              <a:pPr/>
              <a:t>61</a:t>
            </a:fld>
            <a:endParaRPr lang="en-US" altLang="zh-CN" sz="1200" smtClean="0"/>
          </a:p>
        </p:txBody>
      </p:sp>
      <p:sp>
        <p:nvSpPr>
          <p:cNvPr id="14131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4131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/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253360379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42339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A42921C9-B1DF-44B5-909B-F3AC490A958E}" type="slidenum">
              <a:rPr lang="zh-CN" altLang="en-US" sz="1200" smtClean="0"/>
              <a:pPr/>
              <a:t>62</a:t>
            </a:fld>
            <a:endParaRPr lang="en-US" altLang="zh-CN" sz="1200" smtClean="0"/>
          </a:p>
        </p:txBody>
      </p:sp>
      <p:sp>
        <p:nvSpPr>
          <p:cNvPr id="14234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4234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16209143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43363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A1B4AD2A-658D-4E19-B927-8B1DB7CFDE84}" type="slidenum">
              <a:rPr lang="zh-CN" altLang="en-US" sz="1200" smtClean="0"/>
              <a:pPr/>
              <a:t>63</a:t>
            </a:fld>
            <a:endParaRPr lang="en-US" altLang="zh-CN" sz="1200" smtClean="0"/>
          </a:p>
        </p:txBody>
      </p:sp>
      <p:sp>
        <p:nvSpPr>
          <p:cNvPr id="14336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4336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00000"/>
              </a:lnSpc>
            </a:pPr>
            <a:endParaRPr lang="zh-CN" altLang="en-US" smtClean="0"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7620894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4438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604C4BA5-1E28-4DF8-A98F-DFB6DEDC8A1F}" type="slidenum">
              <a:rPr lang="zh-CN" altLang="en-US" sz="1200" smtClean="0"/>
              <a:pPr/>
              <a:t>64</a:t>
            </a:fld>
            <a:endParaRPr lang="en-US" altLang="zh-CN" sz="1200" smtClean="0"/>
          </a:p>
        </p:txBody>
      </p:sp>
      <p:sp>
        <p:nvSpPr>
          <p:cNvPr id="14438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4438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9850853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45411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4A10FAFD-F8FD-4732-89A5-55711F7376C9}" type="slidenum">
              <a:rPr lang="zh-CN" altLang="en-US" sz="1200" smtClean="0"/>
              <a:pPr/>
              <a:t>65</a:t>
            </a:fld>
            <a:endParaRPr lang="en-US" altLang="zh-CN" sz="1200" smtClean="0"/>
          </a:p>
        </p:txBody>
      </p:sp>
      <p:sp>
        <p:nvSpPr>
          <p:cNvPr id="14541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4541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116180883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4643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055A7D4A-784B-414F-8BAA-C6CBDE23F30E}" type="slidenum">
              <a:rPr lang="zh-CN" altLang="en-US" sz="1200" smtClean="0"/>
              <a:pPr/>
              <a:t>66</a:t>
            </a:fld>
            <a:endParaRPr lang="en-US" altLang="zh-CN" sz="1200" smtClean="0"/>
          </a:p>
        </p:txBody>
      </p:sp>
      <p:sp>
        <p:nvSpPr>
          <p:cNvPr id="14643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4643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2123581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4643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055A7D4A-784B-414F-8BAA-C6CBDE23F30E}" type="slidenum">
              <a:rPr lang="zh-CN" altLang="en-US" sz="1200" smtClean="0"/>
              <a:pPr/>
              <a:t>67</a:t>
            </a:fld>
            <a:endParaRPr lang="en-US" altLang="zh-CN" sz="1200" smtClean="0"/>
          </a:p>
        </p:txBody>
      </p:sp>
      <p:sp>
        <p:nvSpPr>
          <p:cNvPr id="14643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4643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1279620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47459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CAE7A485-E3FC-43A7-BB28-69C4CA884E6B}" type="slidenum">
              <a:rPr lang="zh-CN" altLang="en-US" sz="1200" smtClean="0"/>
              <a:pPr/>
              <a:t>68</a:t>
            </a:fld>
            <a:endParaRPr lang="en-US" altLang="zh-CN" sz="1200" smtClean="0"/>
          </a:p>
        </p:txBody>
      </p:sp>
      <p:sp>
        <p:nvSpPr>
          <p:cNvPr id="14746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4746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5391343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48483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72B283F9-BDFC-474D-A29E-E8E5C3666B9A}" type="slidenum">
              <a:rPr lang="zh-CN" altLang="en-US" sz="1200" smtClean="0"/>
              <a:pPr/>
              <a:t>69</a:t>
            </a:fld>
            <a:endParaRPr lang="en-US" altLang="zh-CN" sz="1200" smtClean="0"/>
          </a:p>
        </p:txBody>
      </p:sp>
      <p:sp>
        <p:nvSpPr>
          <p:cNvPr id="148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484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endParaRPr lang="zh-CN" altLang="en-US" sz="2000" smtClean="0"/>
          </a:p>
        </p:txBody>
      </p:sp>
    </p:spTree>
    <p:extLst>
      <p:ext uri="{BB962C8B-B14F-4D97-AF65-F5344CB8AC3E}">
        <p14:creationId xmlns:p14="http://schemas.microsoft.com/office/powerpoint/2010/main" val="349405798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4950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FC118BAF-13ED-4252-8F76-CDD955C06CC1}" type="slidenum">
              <a:rPr lang="zh-CN" altLang="en-US" sz="1200" smtClean="0"/>
              <a:pPr/>
              <a:t>70</a:t>
            </a:fld>
            <a:endParaRPr lang="en-US" altLang="zh-CN" sz="1200" smtClean="0"/>
          </a:p>
        </p:txBody>
      </p:sp>
      <p:sp>
        <p:nvSpPr>
          <p:cNvPr id="14950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4950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22725845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50531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60228BB6-FB7C-47BB-84DB-50C455259D77}" type="slidenum">
              <a:rPr lang="zh-CN" altLang="en-US" sz="1200" smtClean="0"/>
              <a:pPr/>
              <a:t>71</a:t>
            </a:fld>
            <a:endParaRPr lang="en-US" altLang="zh-CN" sz="1200" smtClean="0"/>
          </a:p>
        </p:txBody>
      </p:sp>
      <p:sp>
        <p:nvSpPr>
          <p:cNvPr id="1505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5053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281955866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5155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BD13DA84-4861-4F5D-A1CC-618426F8292A}" type="slidenum">
              <a:rPr lang="zh-CN" altLang="en-US" sz="1200" smtClean="0"/>
              <a:pPr/>
              <a:t>73</a:t>
            </a:fld>
            <a:endParaRPr lang="en-US" altLang="zh-CN" sz="1200" smtClean="0"/>
          </a:p>
        </p:txBody>
      </p:sp>
      <p:sp>
        <p:nvSpPr>
          <p:cNvPr id="1515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5155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1557397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52579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392DD102-71DC-4BC6-8CDB-4D598B75A1C6}" type="slidenum">
              <a:rPr lang="zh-CN" altLang="en-US" sz="1200" smtClean="0"/>
              <a:pPr/>
              <a:t>74</a:t>
            </a:fld>
            <a:endParaRPr lang="en-US" altLang="zh-CN" sz="1200" smtClean="0"/>
          </a:p>
        </p:txBody>
      </p:sp>
      <p:sp>
        <p:nvSpPr>
          <p:cNvPr id="1525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5258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2400" b="1" i="1" smtClean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159459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53603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E7EC7D5D-9914-43FF-9254-49137B55209B}" type="slidenum">
              <a:rPr lang="zh-CN" altLang="en-US" sz="1200" smtClean="0"/>
              <a:pPr/>
              <a:t>76</a:t>
            </a:fld>
            <a:endParaRPr lang="en-US" altLang="zh-CN" sz="1200" smtClean="0"/>
          </a:p>
        </p:txBody>
      </p:sp>
      <p:sp>
        <p:nvSpPr>
          <p:cNvPr id="15360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5360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2800" b="1" smtClean="0"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916743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5462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CB3AA7A6-1437-48D0-8EAC-61B931DC28FE}" type="slidenum">
              <a:rPr lang="zh-CN" altLang="en-US" sz="1200" smtClean="0"/>
              <a:pPr/>
              <a:t>77</a:t>
            </a:fld>
            <a:endParaRPr lang="en-US" altLang="zh-CN" sz="1200" smtClean="0"/>
          </a:p>
        </p:txBody>
      </p:sp>
      <p:sp>
        <p:nvSpPr>
          <p:cNvPr id="1546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5462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2400" i="1" smtClean="0"/>
          </a:p>
        </p:txBody>
      </p:sp>
    </p:spTree>
    <p:extLst>
      <p:ext uri="{BB962C8B-B14F-4D97-AF65-F5344CB8AC3E}">
        <p14:creationId xmlns:p14="http://schemas.microsoft.com/office/powerpoint/2010/main" val="36625125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55651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CE2DB57B-34DD-4468-B04A-19503C3E2AF0}" type="slidenum">
              <a:rPr lang="zh-CN" altLang="en-US" sz="1200" smtClean="0"/>
              <a:pPr/>
              <a:t>78</a:t>
            </a:fld>
            <a:endParaRPr lang="en-US" altLang="zh-CN" sz="1200" smtClean="0"/>
          </a:p>
        </p:txBody>
      </p:sp>
      <p:sp>
        <p:nvSpPr>
          <p:cNvPr id="15565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5565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293761482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5667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B3C58BA5-B554-4E7A-8326-9D30EF4D75EF}" type="slidenum">
              <a:rPr lang="zh-CN" altLang="en-US" sz="1200" smtClean="0"/>
              <a:pPr/>
              <a:t>79</a:t>
            </a:fld>
            <a:endParaRPr lang="en-US" altLang="zh-CN" sz="1200" smtClean="0"/>
          </a:p>
        </p:txBody>
      </p:sp>
      <p:sp>
        <p:nvSpPr>
          <p:cNvPr id="15667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5667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2000" smtClean="0"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9868429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57699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F8EA582F-D5BE-452A-8EA5-47E0E58081AC}" type="slidenum">
              <a:rPr lang="zh-CN" altLang="en-US" sz="1200" smtClean="0"/>
              <a:pPr/>
              <a:t>80</a:t>
            </a:fld>
            <a:endParaRPr lang="en-US" altLang="zh-CN" sz="1200" smtClean="0"/>
          </a:p>
        </p:txBody>
      </p:sp>
      <p:sp>
        <p:nvSpPr>
          <p:cNvPr id="15770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5770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2000" smtClean="0"/>
          </a:p>
        </p:txBody>
      </p:sp>
    </p:spTree>
    <p:extLst>
      <p:ext uri="{BB962C8B-B14F-4D97-AF65-F5344CB8AC3E}">
        <p14:creationId xmlns:p14="http://schemas.microsoft.com/office/powerpoint/2010/main" val="241330061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58723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3C87F91E-4F4E-4A77-9D86-12B7A6C04F99}" type="slidenum">
              <a:rPr lang="zh-CN" altLang="en-US" sz="1200" smtClean="0"/>
              <a:pPr/>
              <a:t>81</a:t>
            </a:fld>
            <a:endParaRPr lang="en-US" altLang="zh-CN" sz="1200" smtClean="0"/>
          </a:p>
        </p:txBody>
      </p:sp>
      <p:sp>
        <p:nvSpPr>
          <p:cNvPr id="15872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5872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663231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60771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8EDCE779-9B20-4B3F-82B0-5103EA6DA002}" type="slidenum">
              <a:rPr lang="zh-CN" altLang="en-US" sz="1200" smtClean="0"/>
              <a:pPr/>
              <a:t>84</a:t>
            </a:fld>
            <a:endParaRPr lang="en-US" altLang="zh-CN" sz="1200" smtClean="0"/>
          </a:p>
        </p:txBody>
      </p:sp>
      <p:sp>
        <p:nvSpPr>
          <p:cNvPr id="1607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6077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350375592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5974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7EAAF853-2BD5-4B5B-886B-E9DEF5898CEE}" type="slidenum">
              <a:rPr lang="zh-CN" altLang="en-US" sz="1200" smtClean="0"/>
              <a:pPr/>
              <a:t>85</a:t>
            </a:fld>
            <a:endParaRPr lang="en-US" altLang="zh-CN" sz="1200" smtClean="0"/>
          </a:p>
        </p:txBody>
      </p:sp>
      <p:sp>
        <p:nvSpPr>
          <p:cNvPr id="1597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5974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2400" i="1" smtClean="0"/>
          </a:p>
        </p:txBody>
      </p:sp>
    </p:spTree>
    <p:extLst>
      <p:ext uri="{BB962C8B-B14F-4D97-AF65-F5344CB8AC3E}">
        <p14:creationId xmlns:p14="http://schemas.microsoft.com/office/powerpoint/2010/main" val="29480946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6179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F64C3110-360E-4FF9-8435-F075328B6C01}" type="slidenum">
              <a:rPr lang="zh-CN" altLang="en-US" sz="1200" smtClean="0"/>
              <a:pPr/>
              <a:t>86</a:t>
            </a:fld>
            <a:endParaRPr lang="en-US" altLang="zh-CN" sz="1200" smtClean="0"/>
          </a:p>
        </p:txBody>
      </p:sp>
      <p:sp>
        <p:nvSpPr>
          <p:cNvPr id="16179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6179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385356716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62819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15D0270F-F72E-4AC8-9197-1C4DCCD8E308}" type="slidenum">
              <a:rPr lang="zh-CN" altLang="en-US" sz="1200" smtClean="0"/>
              <a:pPr/>
              <a:t>88</a:t>
            </a:fld>
            <a:endParaRPr lang="en-US" altLang="zh-CN" sz="1200" smtClean="0"/>
          </a:p>
        </p:txBody>
      </p:sp>
      <p:sp>
        <p:nvSpPr>
          <p:cNvPr id="1628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6282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254063995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63843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E28AC84B-56E7-4A28-933A-B6904E7167A3}" type="slidenum">
              <a:rPr lang="zh-CN" altLang="en-US" sz="1200" smtClean="0"/>
              <a:pPr/>
              <a:t>89</a:t>
            </a:fld>
            <a:endParaRPr lang="en-US" altLang="zh-CN" sz="1200" smtClean="0"/>
          </a:p>
        </p:txBody>
      </p:sp>
      <p:sp>
        <p:nvSpPr>
          <p:cNvPr id="1638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6384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394474780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6486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1179E355-D2A2-4812-9C0C-0F34DBEF0DD9}" type="slidenum">
              <a:rPr lang="zh-CN" altLang="en-US" sz="1200" smtClean="0"/>
              <a:pPr/>
              <a:t>91</a:t>
            </a:fld>
            <a:endParaRPr lang="en-US" altLang="zh-CN" sz="1200" smtClean="0"/>
          </a:p>
        </p:txBody>
      </p:sp>
      <p:sp>
        <p:nvSpPr>
          <p:cNvPr id="164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64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2400" u="sng" smtClean="0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699777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65891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45FBBE79-402D-45AE-AC26-0C0DE0A54EF0}" type="slidenum">
              <a:rPr lang="zh-CN" altLang="en-US" sz="1200" smtClean="0"/>
              <a:pPr/>
              <a:t>92</a:t>
            </a:fld>
            <a:endParaRPr lang="en-US" altLang="zh-CN" sz="1200" smtClean="0"/>
          </a:p>
        </p:txBody>
      </p:sp>
      <p:sp>
        <p:nvSpPr>
          <p:cNvPr id="16589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6589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2017664352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6691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6FD43DFE-6A7B-4E8E-AEF1-36B43273FAAA}" type="slidenum">
              <a:rPr lang="zh-CN" altLang="en-US" sz="1200" smtClean="0"/>
              <a:pPr/>
              <a:t>94</a:t>
            </a:fld>
            <a:endParaRPr lang="en-US" altLang="zh-CN" sz="1200" smtClean="0"/>
          </a:p>
        </p:txBody>
      </p:sp>
      <p:sp>
        <p:nvSpPr>
          <p:cNvPr id="16691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6691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81259102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67939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08DE3BF0-336B-47F4-BAC5-6922F1FB55F0}" type="slidenum">
              <a:rPr lang="zh-CN" altLang="en-US" sz="1200" smtClean="0"/>
              <a:pPr/>
              <a:t>95</a:t>
            </a:fld>
            <a:endParaRPr lang="en-US" altLang="zh-CN" sz="1200" smtClean="0"/>
          </a:p>
        </p:txBody>
      </p:sp>
      <p:sp>
        <p:nvSpPr>
          <p:cNvPr id="16794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solidFill>
            <a:srgbClr val="FFFFFF"/>
          </a:solidFill>
          <a:ln/>
        </p:spPr>
      </p:sp>
      <p:sp>
        <p:nvSpPr>
          <p:cNvPr id="16794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378413051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68963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0C1FADFA-FE2F-4943-87DC-E2A80E7755F0}" type="slidenum">
              <a:rPr lang="zh-CN" altLang="en-US" sz="1200" smtClean="0"/>
              <a:pPr/>
              <a:t>97</a:t>
            </a:fld>
            <a:endParaRPr lang="en-US" altLang="zh-CN" sz="1200" smtClean="0"/>
          </a:p>
        </p:txBody>
      </p:sp>
      <p:sp>
        <p:nvSpPr>
          <p:cNvPr id="16896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solidFill>
            <a:srgbClr val="FFFFFF"/>
          </a:solidFill>
          <a:ln/>
        </p:spPr>
      </p:sp>
      <p:sp>
        <p:nvSpPr>
          <p:cNvPr id="16896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>
              <a:spcBef>
                <a:spcPts val="1200"/>
              </a:spcBef>
            </a:pPr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3220934467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6998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6FFD4BDF-E4A7-479B-B19A-4F6E680E33ED}" type="slidenum">
              <a:rPr lang="zh-CN" altLang="en-US" sz="1200" smtClean="0"/>
              <a:pPr/>
              <a:t>98</a:t>
            </a:fld>
            <a:endParaRPr lang="en-US" altLang="zh-CN" sz="1200" smtClean="0"/>
          </a:p>
        </p:txBody>
      </p:sp>
      <p:sp>
        <p:nvSpPr>
          <p:cNvPr id="16998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solidFill>
            <a:srgbClr val="FFFFFF"/>
          </a:solidFill>
          <a:ln/>
        </p:spPr>
      </p:sp>
      <p:sp>
        <p:nvSpPr>
          <p:cNvPr id="16998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2617987703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71011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58362454-9275-400A-84CF-63D8BEA59691}" type="slidenum">
              <a:rPr lang="zh-CN" altLang="en-US" sz="1200" smtClean="0"/>
              <a:pPr/>
              <a:t>102</a:t>
            </a:fld>
            <a:endParaRPr lang="en-US" altLang="zh-CN" sz="1200" smtClean="0"/>
          </a:p>
        </p:txBody>
      </p:sp>
      <p:sp>
        <p:nvSpPr>
          <p:cNvPr id="17101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solidFill>
            <a:srgbClr val="FFFFFF"/>
          </a:solidFill>
          <a:ln/>
        </p:spPr>
      </p:sp>
      <p:sp>
        <p:nvSpPr>
          <p:cNvPr id="17101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zh-CN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73344770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7203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C844DA6A-07BC-4596-8D95-B116BE48C55F}" type="slidenum">
              <a:rPr lang="zh-CN" altLang="en-US" sz="1200" smtClean="0"/>
              <a:pPr/>
              <a:t>106</a:t>
            </a:fld>
            <a:endParaRPr lang="en-US" altLang="zh-CN" sz="1200" smtClean="0"/>
          </a:p>
        </p:txBody>
      </p:sp>
      <p:sp>
        <p:nvSpPr>
          <p:cNvPr id="17203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solidFill>
            <a:srgbClr val="FFFFFF"/>
          </a:solidFill>
          <a:ln/>
        </p:spPr>
      </p:sp>
      <p:sp>
        <p:nvSpPr>
          <p:cNvPr id="17203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3223588713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73059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3898A454-CFF2-4946-8268-1A09A227FF20}" type="slidenum">
              <a:rPr lang="zh-CN" altLang="en-US" sz="1200" smtClean="0"/>
              <a:pPr/>
              <a:t>107</a:t>
            </a:fld>
            <a:endParaRPr lang="en-US" altLang="zh-CN" sz="1200" smtClean="0"/>
          </a:p>
        </p:txBody>
      </p:sp>
      <p:sp>
        <p:nvSpPr>
          <p:cNvPr id="17306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solidFill>
            <a:srgbClr val="FFFFFF"/>
          </a:solidFill>
          <a:ln/>
        </p:spPr>
      </p:sp>
      <p:sp>
        <p:nvSpPr>
          <p:cNvPr id="17306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altLang="en-US" sz="2000" smtClean="0"/>
              <a:t>用延拓法求解联立方程组</a:t>
            </a:r>
            <a:r>
              <a:rPr lang="en-US" altLang="zh-CN" sz="2000" smtClean="0"/>
              <a:t>F(X)=0，</a:t>
            </a:r>
            <a:r>
              <a:rPr lang="zh-CN" altLang="en-US" sz="2000" smtClean="0"/>
              <a:t>首先要建立同伦方程组</a:t>
            </a:r>
            <a:r>
              <a:rPr lang="en-US" altLang="zh-CN" sz="2000" smtClean="0"/>
              <a:t>H(X,t)=0，</a:t>
            </a:r>
            <a:r>
              <a:rPr lang="zh-CN" altLang="en-US" sz="2000" smtClean="0"/>
              <a:t>这里</a:t>
            </a:r>
            <a:r>
              <a:rPr lang="en-US" altLang="zh-CN" sz="2000" smtClean="0"/>
              <a:t>X=(</a:t>
            </a:r>
            <a:r>
              <a:rPr lang="en-US" altLang="zh-CN" sz="2000" i="1" smtClean="0"/>
              <a:t>x</a:t>
            </a:r>
            <a:r>
              <a:rPr lang="en-US" altLang="zh-CN" sz="2000" baseline="-25000" smtClean="0"/>
              <a:t>1</a:t>
            </a:r>
            <a:r>
              <a:rPr lang="en-US" altLang="zh-CN" sz="2000" smtClean="0"/>
              <a:t>, </a:t>
            </a:r>
            <a:r>
              <a:rPr lang="en-US" altLang="zh-CN" sz="2000" i="1" smtClean="0"/>
              <a:t>x</a:t>
            </a:r>
            <a:r>
              <a:rPr lang="en-US" altLang="zh-CN" sz="2000" baseline="-25000" smtClean="0"/>
              <a:t>2</a:t>
            </a:r>
            <a:r>
              <a:rPr lang="en-US" altLang="zh-CN" sz="2000" smtClean="0"/>
              <a:t>,…,</a:t>
            </a:r>
            <a:r>
              <a:rPr lang="en-US" altLang="zh-CN" sz="2000" i="1" smtClean="0"/>
              <a:t>x</a:t>
            </a:r>
            <a:r>
              <a:rPr lang="en-US" altLang="zh-CN" sz="2000" baseline="-25000" smtClean="0"/>
              <a:t>n</a:t>
            </a:r>
            <a:r>
              <a:rPr lang="en-US" altLang="zh-CN" sz="2000" smtClean="0"/>
              <a:t>)，t</a:t>
            </a:r>
            <a:r>
              <a:rPr lang="zh-CN" altLang="en-US" sz="2000" smtClean="0"/>
              <a:t>为引入的参数。</a:t>
            </a:r>
          </a:p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329762794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74083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64D14F3D-1323-475D-A1A9-A054E9CB5B9B}" type="slidenum">
              <a:rPr lang="zh-CN" altLang="en-US" sz="1200" smtClean="0"/>
              <a:pPr/>
              <a:t>108</a:t>
            </a:fld>
            <a:endParaRPr lang="en-US" altLang="zh-CN" sz="1200" smtClean="0"/>
          </a:p>
        </p:txBody>
      </p:sp>
      <p:sp>
        <p:nvSpPr>
          <p:cNvPr id="1740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solidFill>
            <a:srgbClr val="FFFFFF"/>
          </a:solidFill>
          <a:ln/>
        </p:spPr>
      </p:sp>
      <p:sp>
        <p:nvSpPr>
          <p:cNvPr id="17408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133986579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7510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6226EBF2-45FF-48CB-91FF-9054280AFC59}" type="slidenum">
              <a:rPr lang="zh-CN" altLang="en-US" sz="1200" smtClean="0"/>
              <a:pPr/>
              <a:t>109</a:t>
            </a:fld>
            <a:endParaRPr lang="en-US" altLang="zh-CN" sz="1200" smtClean="0"/>
          </a:p>
        </p:txBody>
      </p:sp>
      <p:sp>
        <p:nvSpPr>
          <p:cNvPr id="17510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solidFill>
            <a:srgbClr val="FFFFFF"/>
          </a:solidFill>
          <a:ln/>
        </p:spPr>
      </p:sp>
      <p:sp>
        <p:nvSpPr>
          <p:cNvPr id="17510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lvl="1"/>
            <a:r>
              <a:rPr lang="zh-CN" altLang="en-US" sz="1800" smtClean="0"/>
              <a:t>将</a:t>
            </a:r>
            <a:r>
              <a:rPr lang="en-US" altLang="zh-CN" sz="1800" smtClean="0"/>
              <a:t>t</a:t>
            </a:r>
            <a:r>
              <a:rPr lang="zh-CN" altLang="en-US" sz="1800" smtClean="0"/>
              <a:t>的值域[0,1]等距或不等距的划分为</a:t>
            </a:r>
          </a:p>
          <a:p>
            <a:pPr>
              <a:buFontTx/>
              <a:buNone/>
            </a:pPr>
            <a:r>
              <a:rPr lang="zh-CN" altLang="en-US" sz="2000" smtClean="0"/>
              <a:t>	              0&lt;</a:t>
            </a:r>
            <a:r>
              <a:rPr lang="en-US" altLang="zh-CN" sz="2000" smtClean="0"/>
              <a:t>t</a:t>
            </a:r>
            <a:r>
              <a:rPr lang="en-US" altLang="zh-CN" sz="2000" baseline="-25000" smtClean="0"/>
              <a:t>0</a:t>
            </a:r>
            <a:r>
              <a:rPr lang="en-US" altLang="zh-CN" sz="2000" smtClean="0"/>
              <a:t>&lt; t</a:t>
            </a:r>
            <a:r>
              <a:rPr lang="en-US" altLang="zh-CN" sz="2000" baseline="-25000" smtClean="0"/>
              <a:t>1</a:t>
            </a:r>
            <a:r>
              <a:rPr lang="en-US" altLang="zh-CN" sz="2000" smtClean="0"/>
              <a:t>&lt;…t</a:t>
            </a:r>
            <a:r>
              <a:rPr lang="en-US" altLang="zh-CN" sz="2000" baseline="-25000" smtClean="0"/>
              <a:t>N-1</a:t>
            </a:r>
            <a:r>
              <a:rPr lang="en-US" altLang="zh-CN" sz="2000" smtClean="0"/>
              <a:t>&lt; t</a:t>
            </a:r>
            <a:r>
              <a:rPr lang="en-US" altLang="zh-CN" sz="2000" baseline="-25000" smtClean="0"/>
              <a:t>N</a:t>
            </a:r>
            <a:r>
              <a:rPr lang="en-US" altLang="zh-CN" sz="2000" smtClean="0"/>
              <a:t>=1</a:t>
            </a:r>
          </a:p>
          <a:p>
            <a:pPr>
              <a:buFontTx/>
              <a:buNone/>
            </a:pPr>
            <a:r>
              <a:rPr lang="en-US" altLang="zh-CN" sz="2000" smtClean="0"/>
              <a:t>	</a:t>
            </a:r>
            <a:r>
              <a:rPr lang="zh-CN" altLang="en-US" sz="2000" smtClean="0"/>
              <a:t>代入同伦方程组得</a:t>
            </a:r>
          </a:p>
          <a:p>
            <a:pPr>
              <a:buFontTx/>
              <a:buNone/>
            </a:pPr>
            <a:r>
              <a:rPr lang="zh-CN" altLang="en-US" sz="2000" smtClean="0"/>
              <a:t>                 </a:t>
            </a:r>
            <a:r>
              <a:rPr lang="en-US" altLang="zh-CN" sz="2000" smtClean="0"/>
              <a:t>H</a:t>
            </a:r>
            <a:r>
              <a:rPr lang="en-US" altLang="zh-CN" sz="2000" baseline="-25000" smtClean="0"/>
              <a:t>i</a:t>
            </a:r>
            <a:r>
              <a:rPr lang="en-US" altLang="zh-CN" sz="2000" smtClean="0"/>
              <a:t>=H(X, t</a:t>
            </a:r>
            <a:r>
              <a:rPr lang="en-US" altLang="zh-CN" sz="2000" baseline="-25000" smtClean="0"/>
              <a:t>i</a:t>
            </a:r>
            <a:r>
              <a:rPr lang="en-US" altLang="zh-CN" sz="2000" smtClean="0"/>
              <a:t>)=0   (i=1,2,…,N)</a:t>
            </a:r>
          </a:p>
          <a:p>
            <a:r>
              <a:rPr lang="zh-CN" altLang="en-US" sz="2800" smtClean="0"/>
              <a:t>以下取</a:t>
            </a:r>
            <a:r>
              <a:rPr lang="en-US" altLang="zh-CN" sz="2800" smtClean="0"/>
              <a:t>X</a:t>
            </a:r>
            <a:r>
              <a:rPr lang="en-US" altLang="zh-CN" sz="2800" baseline="30000" smtClean="0"/>
              <a:t>(0)</a:t>
            </a:r>
            <a:r>
              <a:rPr lang="zh-CN" altLang="en-US" sz="2800" smtClean="0"/>
              <a:t>作为</a:t>
            </a:r>
            <a:r>
              <a:rPr lang="en-US" altLang="zh-CN" sz="2800" smtClean="0"/>
              <a:t>H</a:t>
            </a:r>
            <a:r>
              <a:rPr lang="en-US" altLang="zh-CN" sz="2800" baseline="-25000" smtClean="0"/>
              <a:t>1</a:t>
            </a:r>
            <a:r>
              <a:rPr lang="en-US" altLang="zh-CN" sz="2800" smtClean="0"/>
              <a:t>=0</a:t>
            </a:r>
            <a:r>
              <a:rPr lang="zh-CN" altLang="en-US" sz="2800" smtClean="0"/>
              <a:t>的初值，用某种迭代法求解出</a:t>
            </a:r>
            <a:r>
              <a:rPr lang="en-US" altLang="zh-CN" sz="2800" smtClean="0"/>
              <a:t>H</a:t>
            </a:r>
            <a:r>
              <a:rPr lang="en-US" altLang="zh-CN" sz="2800" baseline="-25000" smtClean="0"/>
              <a:t>1</a:t>
            </a:r>
            <a:r>
              <a:rPr lang="en-US" altLang="zh-CN" sz="2800" smtClean="0"/>
              <a:t>=0</a:t>
            </a:r>
            <a:r>
              <a:rPr lang="zh-CN" altLang="en-US" sz="2800" smtClean="0"/>
              <a:t>的解</a:t>
            </a:r>
            <a:r>
              <a:rPr lang="en-US" altLang="zh-CN" sz="2800" smtClean="0"/>
              <a:t>X</a:t>
            </a:r>
            <a:r>
              <a:rPr lang="en-US" altLang="zh-CN" sz="2800" baseline="30000" smtClean="0"/>
              <a:t>(1)</a:t>
            </a:r>
            <a:r>
              <a:rPr lang="zh-CN" altLang="en-US" sz="2800" smtClean="0"/>
              <a:t>。</a:t>
            </a:r>
          </a:p>
          <a:p>
            <a:r>
              <a:rPr lang="zh-CN" altLang="en-US" sz="2800" smtClean="0"/>
              <a:t>再以</a:t>
            </a:r>
            <a:r>
              <a:rPr lang="en-US" altLang="zh-CN" sz="2800" smtClean="0"/>
              <a:t>X</a:t>
            </a:r>
            <a:r>
              <a:rPr lang="en-US" altLang="zh-CN" sz="2800" baseline="30000" smtClean="0"/>
              <a:t>(1)</a:t>
            </a:r>
            <a:r>
              <a:rPr lang="zh-CN" altLang="en-US" sz="2800" smtClean="0"/>
              <a:t>作为</a:t>
            </a:r>
            <a:r>
              <a:rPr lang="en-US" altLang="zh-CN" sz="2800" smtClean="0"/>
              <a:t>H</a:t>
            </a:r>
            <a:r>
              <a:rPr lang="en-US" altLang="zh-CN" sz="2800" baseline="-25000" smtClean="0"/>
              <a:t>2</a:t>
            </a:r>
            <a:r>
              <a:rPr lang="en-US" altLang="zh-CN" sz="2800" smtClean="0"/>
              <a:t>=0</a:t>
            </a:r>
            <a:r>
              <a:rPr lang="zh-CN" altLang="en-US" sz="2800" smtClean="0"/>
              <a:t>的初值，求解出</a:t>
            </a:r>
            <a:r>
              <a:rPr lang="en-US" altLang="zh-CN" sz="2800" smtClean="0"/>
              <a:t>H</a:t>
            </a:r>
            <a:r>
              <a:rPr lang="en-US" altLang="zh-CN" sz="2800" baseline="-25000" smtClean="0"/>
              <a:t>2</a:t>
            </a:r>
            <a:r>
              <a:rPr lang="en-US" altLang="zh-CN" sz="2800" smtClean="0"/>
              <a:t>=0</a:t>
            </a:r>
            <a:r>
              <a:rPr lang="zh-CN" altLang="en-US" sz="2800" smtClean="0"/>
              <a:t>的解</a:t>
            </a:r>
            <a:r>
              <a:rPr lang="en-US" altLang="zh-CN" sz="2800" smtClean="0"/>
              <a:t>X</a:t>
            </a:r>
            <a:r>
              <a:rPr lang="en-US" altLang="zh-CN" sz="2800" baseline="30000" smtClean="0"/>
              <a:t>(2)</a:t>
            </a:r>
            <a:r>
              <a:rPr lang="en-US" altLang="zh-CN" sz="2800" smtClean="0"/>
              <a:t>，</a:t>
            </a:r>
            <a:r>
              <a:rPr lang="zh-CN" altLang="en-US" sz="2800" smtClean="0"/>
              <a:t>继续下去，直到求出</a:t>
            </a:r>
            <a:r>
              <a:rPr lang="en-US" altLang="zh-CN" sz="2800" smtClean="0"/>
              <a:t>H</a:t>
            </a:r>
            <a:r>
              <a:rPr lang="en-US" altLang="zh-CN" sz="2800" baseline="-25000" smtClean="0"/>
              <a:t>N</a:t>
            </a:r>
            <a:r>
              <a:rPr lang="en-US" altLang="zh-CN" sz="2800" smtClean="0"/>
              <a:t>=0</a:t>
            </a:r>
            <a:r>
              <a:rPr lang="zh-CN" altLang="en-US" sz="2800" smtClean="0"/>
              <a:t>的解</a:t>
            </a:r>
            <a:r>
              <a:rPr lang="en-US" altLang="zh-CN" sz="2800" smtClean="0"/>
              <a:t>X</a:t>
            </a:r>
            <a:r>
              <a:rPr lang="en-US" altLang="zh-CN" sz="2800" baseline="30000" smtClean="0"/>
              <a:t>(N)</a:t>
            </a:r>
            <a:r>
              <a:rPr lang="zh-CN" altLang="en-US" sz="2800" smtClean="0"/>
              <a:t>为止。</a:t>
            </a:r>
          </a:p>
          <a:p>
            <a:r>
              <a:rPr lang="zh-CN" altLang="en-US" sz="2800" smtClean="0"/>
              <a:t>当上述同伦方程组的解为</a:t>
            </a:r>
            <a:r>
              <a:rPr lang="en-US" altLang="zh-CN" sz="2800" smtClean="0"/>
              <a:t>t</a:t>
            </a:r>
            <a:r>
              <a:rPr lang="zh-CN" altLang="en-US" sz="2800" smtClean="0"/>
              <a:t>的连续时，则</a:t>
            </a:r>
            <a:r>
              <a:rPr lang="en-US" altLang="zh-CN" sz="2800" smtClean="0"/>
              <a:t>X</a:t>
            </a:r>
            <a:r>
              <a:rPr lang="en-US" altLang="zh-CN" sz="2800" baseline="30000" smtClean="0"/>
              <a:t>(N)</a:t>
            </a:r>
            <a:r>
              <a:rPr lang="zh-CN" altLang="en-US" sz="2800" smtClean="0"/>
              <a:t>就是原方程</a:t>
            </a:r>
            <a:r>
              <a:rPr lang="en-US" altLang="zh-CN" sz="2800" smtClean="0"/>
              <a:t>F(X)=0</a:t>
            </a:r>
            <a:r>
              <a:rPr lang="zh-CN" altLang="en-US" sz="2800" smtClean="0"/>
              <a:t>的解。</a:t>
            </a:r>
          </a:p>
          <a:p>
            <a:pPr>
              <a:buFontTx/>
              <a:buNone/>
            </a:pPr>
            <a:endParaRPr lang="en-US" altLang="zh-CN" sz="2000" smtClean="0"/>
          </a:p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801094520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Confidential, for review only</a:t>
            </a:r>
            <a:endParaRPr lang="en-US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563CF33-CB96-46DD-BE49-4A0B6D768B12}" type="slidenum">
              <a:rPr lang="zh-CN" altLang="en-US" smtClean="0"/>
              <a:pPr>
                <a:defRPr/>
              </a:pPr>
              <a:t>113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2497817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Confidential, for review only</a:t>
            </a:r>
            <a:endParaRPr lang="en-US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563CF33-CB96-46DD-BE49-4A0B6D768B12}" type="slidenum">
              <a:rPr lang="zh-CN" altLang="en-US" smtClean="0"/>
              <a:pPr>
                <a:defRPr/>
              </a:pPr>
              <a:t>114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3932387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76131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6F45D1F7-6CFA-4A6B-9DF9-87FF5149145B}" type="slidenum">
              <a:rPr lang="zh-CN" altLang="en-US" sz="1200" smtClean="0"/>
              <a:pPr/>
              <a:t>119</a:t>
            </a:fld>
            <a:endParaRPr lang="en-US" altLang="zh-CN" sz="1200" smtClean="0"/>
          </a:p>
        </p:txBody>
      </p:sp>
      <p:sp>
        <p:nvSpPr>
          <p:cNvPr id="1761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28713" y="533400"/>
            <a:ext cx="3429000" cy="2571750"/>
          </a:xfrm>
          <a:ln/>
        </p:spPr>
      </p:sp>
      <p:sp>
        <p:nvSpPr>
          <p:cNvPr id="1761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59313" y="533400"/>
            <a:ext cx="3556000" cy="2514600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mtClean="0"/>
              <a:t>迭代法的计算步骤归纳如下：</a:t>
            </a:r>
          </a:p>
          <a:p>
            <a:pPr lvl="1"/>
            <a:r>
              <a:rPr lang="zh-CN" altLang="en-US" smtClean="0"/>
              <a:t>(1)选取初值</a:t>
            </a:r>
            <a:r>
              <a:rPr lang="en-US" altLang="zh-CN" i="1" smtClean="0"/>
              <a:t>x</a:t>
            </a:r>
            <a:r>
              <a:rPr lang="en-US" altLang="zh-CN" i="1" baseline="-25000" smtClean="0"/>
              <a:t>0</a:t>
            </a:r>
            <a:r>
              <a:rPr lang="zh-CN" altLang="en-US" smtClean="0"/>
              <a:t>，确定方程</a:t>
            </a:r>
            <a:r>
              <a:rPr lang="en-US" altLang="zh-CN" i="1" smtClean="0"/>
              <a:t>f(x)</a:t>
            </a:r>
            <a:r>
              <a:rPr lang="en-US" altLang="zh-CN" smtClean="0"/>
              <a:t>=0</a:t>
            </a:r>
            <a:r>
              <a:rPr lang="zh-CN" altLang="en-US" smtClean="0"/>
              <a:t>的等价形式</a:t>
            </a:r>
            <a:r>
              <a:rPr lang="en-US" altLang="zh-CN" i="1" smtClean="0"/>
              <a:t>x=</a:t>
            </a:r>
            <a:r>
              <a:rPr lang="en-US" altLang="zh-CN" i="1" smtClean="0">
                <a:cs typeface="Times New Roman" pitchFamily="18" charset="0"/>
              </a:rPr>
              <a:t>φ</a:t>
            </a:r>
            <a:r>
              <a:rPr lang="en-US" altLang="zh-CN" i="1" smtClean="0"/>
              <a:t>(x)</a:t>
            </a:r>
            <a:endParaRPr lang="zh-CN" altLang="en-US" smtClean="0"/>
          </a:p>
          <a:p>
            <a:pPr lvl="1"/>
            <a:r>
              <a:rPr lang="zh-CN" altLang="en-US" smtClean="0"/>
              <a:t>(2)按公式</a:t>
            </a:r>
            <a:r>
              <a:rPr lang="en-US" altLang="zh-CN" i="1" smtClean="0">
                <a:cs typeface="Times New Roman" pitchFamily="18" charset="0"/>
              </a:rPr>
              <a:t>x</a:t>
            </a:r>
            <a:r>
              <a:rPr lang="en-US" altLang="zh-CN" i="1" baseline="-25000" smtClean="0">
                <a:cs typeface="Times New Roman" pitchFamily="18" charset="0"/>
              </a:rPr>
              <a:t>n+1</a:t>
            </a:r>
            <a:r>
              <a:rPr lang="en-US" altLang="zh-CN" i="1" smtClean="0">
                <a:cs typeface="Times New Roman" pitchFamily="18" charset="0"/>
              </a:rPr>
              <a:t>=φ(x</a:t>
            </a:r>
            <a:r>
              <a:rPr lang="en-US" altLang="zh-CN" i="1" baseline="-25000" smtClean="0">
                <a:cs typeface="Times New Roman" pitchFamily="18" charset="0"/>
              </a:rPr>
              <a:t>n</a:t>
            </a:r>
            <a:r>
              <a:rPr lang="en-US" altLang="zh-CN" i="1" smtClean="0">
                <a:cs typeface="Times New Roman" pitchFamily="18" charset="0"/>
              </a:rPr>
              <a:t>)</a:t>
            </a:r>
            <a:r>
              <a:rPr lang="zh-CN" altLang="en-US" smtClean="0"/>
              <a:t>计算</a:t>
            </a:r>
            <a:r>
              <a:rPr lang="en-US" altLang="zh-CN" i="1" smtClean="0">
                <a:cs typeface="Times New Roman" pitchFamily="18" charset="0"/>
              </a:rPr>
              <a:t>x</a:t>
            </a:r>
            <a:r>
              <a:rPr lang="en-US" altLang="zh-CN" i="1" baseline="-25000" smtClean="0">
                <a:cs typeface="Times New Roman" pitchFamily="18" charset="0"/>
              </a:rPr>
              <a:t>n+1</a:t>
            </a:r>
            <a:r>
              <a:rPr lang="zh-CN" altLang="en-US" smtClean="0"/>
              <a:t>的值</a:t>
            </a:r>
          </a:p>
          <a:p>
            <a:pPr lvl="1"/>
            <a:r>
              <a:rPr lang="zh-CN" altLang="en-US" smtClean="0"/>
              <a:t>(3)判别.如果| </a:t>
            </a:r>
            <a:r>
              <a:rPr lang="en-US" altLang="zh-CN" i="1" smtClean="0">
                <a:cs typeface="Times New Roman" pitchFamily="18" charset="0"/>
              </a:rPr>
              <a:t>x</a:t>
            </a:r>
            <a:r>
              <a:rPr lang="en-US" altLang="zh-CN" i="1" baseline="-25000" smtClean="0">
                <a:cs typeface="Times New Roman" pitchFamily="18" charset="0"/>
              </a:rPr>
              <a:t>n+1</a:t>
            </a:r>
            <a:r>
              <a:rPr lang="zh-CN" altLang="en-US" smtClean="0"/>
              <a:t>-</a:t>
            </a:r>
            <a:r>
              <a:rPr lang="en-US" altLang="zh-CN" i="1" smtClean="0">
                <a:cs typeface="Times New Roman" pitchFamily="18" charset="0"/>
              </a:rPr>
              <a:t>x</a:t>
            </a:r>
            <a:r>
              <a:rPr lang="en-US" altLang="zh-CN" i="1" baseline="-25000" smtClean="0">
                <a:cs typeface="Times New Roman" pitchFamily="18" charset="0"/>
              </a:rPr>
              <a:t>n</a:t>
            </a:r>
            <a:r>
              <a:rPr lang="zh-CN" altLang="en-US" smtClean="0"/>
              <a:t>|&lt;</a:t>
            </a:r>
            <a:r>
              <a:rPr lang="zh-CN" altLang="en-US" smtClean="0">
                <a:sym typeface="Symbol" pitchFamily="18" charset="2"/>
              </a:rPr>
              <a:t>则停止计算，否则继续迭代</a:t>
            </a:r>
          </a:p>
          <a:p>
            <a:r>
              <a:rPr lang="zh-CN" altLang="en-US" smtClean="0">
                <a:sym typeface="Symbol" pitchFamily="18" charset="2"/>
              </a:rPr>
              <a:t>说明:</a:t>
            </a:r>
          </a:p>
          <a:p>
            <a:pPr lvl="1"/>
            <a:r>
              <a:rPr lang="zh-CN" altLang="en-US" smtClean="0">
                <a:sym typeface="Symbol" pitchFamily="18" charset="2"/>
              </a:rPr>
              <a:t>(1)必须满足|</a:t>
            </a:r>
            <a:r>
              <a:rPr lang="en-US" altLang="zh-CN" i="1" smtClean="0">
                <a:cs typeface="Times New Roman" pitchFamily="18" charset="0"/>
              </a:rPr>
              <a:t>φ</a:t>
            </a:r>
            <a:r>
              <a:rPr lang="en-US" altLang="zh-CN" i="1" smtClean="0"/>
              <a:t>’</a:t>
            </a:r>
            <a:r>
              <a:rPr lang="en-US" altLang="zh-CN" smtClean="0"/>
              <a:t>(</a:t>
            </a:r>
            <a:r>
              <a:rPr lang="en-US" altLang="zh-CN" i="1" smtClean="0"/>
              <a:t>x</a:t>
            </a:r>
            <a:r>
              <a:rPr lang="en-US" altLang="zh-CN" smtClean="0"/>
              <a:t>)|</a:t>
            </a:r>
            <a:r>
              <a:rPr lang="en-US" altLang="zh-CN" smtClean="0">
                <a:sym typeface="Symbol" pitchFamily="18" charset="2"/>
              </a:rPr>
              <a:t>q&lt;1， q&lt;1</a:t>
            </a:r>
            <a:r>
              <a:rPr lang="zh-CN" altLang="en-US" smtClean="0">
                <a:sym typeface="Symbol" pitchFamily="18" charset="2"/>
              </a:rPr>
              <a:t>这一点非常重要，否则不能保证收敛;</a:t>
            </a:r>
          </a:p>
          <a:p>
            <a:pPr lvl="1"/>
            <a:r>
              <a:rPr lang="zh-CN" altLang="en-US" smtClean="0">
                <a:sym typeface="Symbol" pitchFamily="18" charset="2"/>
              </a:rPr>
              <a:t>(2)一个方程</a:t>
            </a:r>
            <a:r>
              <a:rPr lang="en-US" altLang="zh-CN" i="1" smtClean="0"/>
              <a:t>f(x)</a:t>
            </a:r>
            <a:r>
              <a:rPr lang="en-US" altLang="zh-CN" smtClean="0"/>
              <a:t>=0</a:t>
            </a:r>
            <a:r>
              <a:rPr lang="zh-CN" altLang="en-US" smtClean="0">
                <a:sym typeface="Symbol" pitchFamily="18" charset="2"/>
              </a:rPr>
              <a:t>变形为</a:t>
            </a:r>
            <a:r>
              <a:rPr lang="en-US" altLang="zh-CN" i="1" smtClean="0"/>
              <a:t>x=</a:t>
            </a:r>
            <a:r>
              <a:rPr lang="en-US" altLang="zh-CN" i="1" smtClean="0">
                <a:cs typeface="Times New Roman" pitchFamily="18" charset="0"/>
              </a:rPr>
              <a:t>φ</a:t>
            </a:r>
            <a:r>
              <a:rPr lang="en-US" altLang="zh-CN" i="1" smtClean="0"/>
              <a:t>(x)</a:t>
            </a:r>
            <a:r>
              <a:rPr lang="zh-CN" altLang="en-US" smtClean="0">
                <a:sym typeface="Symbol" pitchFamily="18" charset="2"/>
              </a:rPr>
              <a:t>有许多形式,有的可能不收敛,有的可能收敛,且</a:t>
            </a:r>
            <a:r>
              <a:rPr lang="en-US" altLang="zh-CN" smtClean="0">
                <a:sym typeface="Symbol" pitchFamily="18" charset="2"/>
              </a:rPr>
              <a:t>q</a:t>
            </a:r>
            <a:r>
              <a:rPr lang="zh-CN" altLang="en-US" smtClean="0">
                <a:sym typeface="Symbol" pitchFamily="18" charset="2"/>
              </a:rPr>
              <a:t>越小,收敛的越快。</a:t>
            </a:r>
          </a:p>
          <a:p>
            <a:pPr>
              <a:lnSpc>
                <a:spcPct val="80000"/>
              </a:lnSpc>
            </a:pPr>
            <a:r>
              <a:rPr lang="zh-CN" altLang="en-US" smtClean="0"/>
              <a:t>迭代过程不应无休止的进行下去，当|</a:t>
            </a:r>
            <a:r>
              <a:rPr lang="en-US" altLang="zh-CN" i="1" smtClean="0"/>
              <a:t>x</a:t>
            </a:r>
            <a:r>
              <a:rPr lang="en-US" altLang="zh-CN" i="1" baseline="-25000" smtClean="0"/>
              <a:t>n+1</a:t>
            </a:r>
            <a:r>
              <a:rPr lang="en-US" altLang="zh-CN" smtClean="0"/>
              <a:t>- </a:t>
            </a:r>
            <a:r>
              <a:rPr lang="en-US" altLang="zh-CN" smtClean="0">
                <a:sym typeface="Symbol" pitchFamily="18" charset="2"/>
              </a:rPr>
              <a:t></a:t>
            </a:r>
            <a:r>
              <a:rPr lang="en-US" altLang="zh-CN" smtClean="0"/>
              <a:t>|&lt;</a:t>
            </a:r>
            <a:r>
              <a:rPr lang="en-US" altLang="zh-CN" smtClean="0">
                <a:sym typeface="Symbol" pitchFamily="18" charset="2"/>
              </a:rPr>
              <a:t></a:t>
            </a:r>
            <a:r>
              <a:rPr lang="en-US" altLang="zh-CN" smtClean="0"/>
              <a:t>(</a:t>
            </a:r>
            <a:r>
              <a:rPr lang="zh-CN" altLang="en-US" smtClean="0"/>
              <a:t>精度要求)满足时，应终止迭代计算,取</a:t>
            </a:r>
            <a:r>
              <a:rPr lang="en-US" altLang="zh-CN" i="1" smtClean="0"/>
              <a:t>x</a:t>
            </a:r>
            <a:r>
              <a:rPr lang="en-US" altLang="zh-CN" i="1" baseline="-25000" smtClean="0"/>
              <a:t>n+1</a:t>
            </a:r>
            <a:r>
              <a:rPr lang="zh-CN" altLang="en-US" smtClean="0"/>
              <a:t>作为所求的根</a:t>
            </a:r>
          </a:p>
          <a:p>
            <a:pPr>
              <a:lnSpc>
                <a:spcPct val="80000"/>
              </a:lnSpc>
            </a:pPr>
            <a:r>
              <a:rPr lang="zh-CN" altLang="en-US" smtClean="0"/>
              <a:t>因为</a:t>
            </a:r>
            <a:r>
              <a:rPr lang="en-US" altLang="zh-CN" smtClean="0">
                <a:sym typeface="Symbol" pitchFamily="18" charset="2"/>
              </a:rPr>
              <a:t></a:t>
            </a:r>
            <a:r>
              <a:rPr lang="zh-CN" altLang="en-US" smtClean="0"/>
              <a:t>未知， </a:t>
            </a:r>
            <a:r>
              <a:rPr lang="en-US" altLang="zh-CN" i="1" smtClean="0"/>
              <a:t>x</a:t>
            </a:r>
            <a:r>
              <a:rPr lang="en-US" altLang="zh-CN" i="1" baseline="-25000" smtClean="0"/>
              <a:t>n+1</a:t>
            </a:r>
            <a:r>
              <a:rPr lang="en-US" altLang="zh-CN" smtClean="0"/>
              <a:t>- </a:t>
            </a:r>
            <a:r>
              <a:rPr lang="en-US" altLang="zh-CN" smtClean="0">
                <a:sym typeface="Symbol" pitchFamily="18" charset="2"/>
              </a:rPr>
              <a:t></a:t>
            </a:r>
            <a:r>
              <a:rPr lang="zh-CN" altLang="en-US" smtClean="0"/>
              <a:t>也未知，因此这个公式无法使用，为此我们要寻找一些公式间接的来判定。我们给出三个上界公式</a:t>
            </a:r>
          </a:p>
        </p:txBody>
      </p:sp>
    </p:spTree>
    <p:extLst>
      <p:ext uri="{BB962C8B-B14F-4D97-AF65-F5344CB8AC3E}">
        <p14:creationId xmlns:p14="http://schemas.microsoft.com/office/powerpoint/2010/main" val="169653383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7715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138F2DFA-A52C-4E0F-AE7F-BDA3761E5938}" type="slidenum">
              <a:rPr lang="zh-CN" altLang="en-US" sz="1200" smtClean="0"/>
              <a:pPr/>
              <a:t>120</a:t>
            </a:fld>
            <a:endParaRPr lang="en-US" altLang="zh-CN" sz="1200" smtClean="0"/>
          </a:p>
        </p:txBody>
      </p:sp>
      <p:sp>
        <p:nvSpPr>
          <p:cNvPr id="1771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28713" y="533400"/>
            <a:ext cx="3429000" cy="2571750"/>
          </a:xfrm>
          <a:ln/>
        </p:spPr>
      </p:sp>
      <p:sp>
        <p:nvSpPr>
          <p:cNvPr id="17715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59313" y="533400"/>
            <a:ext cx="3556000" cy="2514600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mtClean="0"/>
              <a:t>迭代法的计算步骤归纳如下：</a:t>
            </a:r>
          </a:p>
          <a:p>
            <a:pPr lvl="1"/>
            <a:r>
              <a:rPr lang="zh-CN" altLang="en-US" smtClean="0"/>
              <a:t>(1)选取初值</a:t>
            </a:r>
            <a:r>
              <a:rPr lang="en-US" altLang="zh-CN" i="1" smtClean="0"/>
              <a:t>x</a:t>
            </a:r>
            <a:r>
              <a:rPr lang="en-US" altLang="zh-CN" i="1" baseline="-25000" smtClean="0"/>
              <a:t>0</a:t>
            </a:r>
            <a:r>
              <a:rPr lang="zh-CN" altLang="en-US" smtClean="0"/>
              <a:t>，确定方程</a:t>
            </a:r>
            <a:r>
              <a:rPr lang="en-US" altLang="zh-CN" i="1" smtClean="0"/>
              <a:t>f(x)</a:t>
            </a:r>
            <a:r>
              <a:rPr lang="en-US" altLang="zh-CN" smtClean="0"/>
              <a:t>=0</a:t>
            </a:r>
            <a:r>
              <a:rPr lang="zh-CN" altLang="en-US" smtClean="0"/>
              <a:t>的等价形式</a:t>
            </a:r>
            <a:r>
              <a:rPr lang="en-US" altLang="zh-CN" i="1" smtClean="0"/>
              <a:t>x=</a:t>
            </a:r>
            <a:r>
              <a:rPr lang="en-US" altLang="zh-CN" i="1" smtClean="0">
                <a:cs typeface="Times New Roman" pitchFamily="18" charset="0"/>
              </a:rPr>
              <a:t>φ</a:t>
            </a:r>
            <a:r>
              <a:rPr lang="en-US" altLang="zh-CN" i="1" smtClean="0"/>
              <a:t>(x)</a:t>
            </a:r>
            <a:endParaRPr lang="zh-CN" altLang="en-US" smtClean="0"/>
          </a:p>
          <a:p>
            <a:pPr lvl="1"/>
            <a:r>
              <a:rPr lang="zh-CN" altLang="en-US" smtClean="0"/>
              <a:t>(2)按公式</a:t>
            </a:r>
            <a:r>
              <a:rPr lang="en-US" altLang="zh-CN" i="1" smtClean="0">
                <a:cs typeface="Times New Roman" pitchFamily="18" charset="0"/>
              </a:rPr>
              <a:t>x</a:t>
            </a:r>
            <a:r>
              <a:rPr lang="en-US" altLang="zh-CN" i="1" baseline="-25000" smtClean="0">
                <a:cs typeface="Times New Roman" pitchFamily="18" charset="0"/>
              </a:rPr>
              <a:t>n+1</a:t>
            </a:r>
            <a:r>
              <a:rPr lang="en-US" altLang="zh-CN" i="1" smtClean="0">
                <a:cs typeface="Times New Roman" pitchFamily="18" charset="0"/>
              </a:rPr>
              <a:t>=φ(x</a:t>
            </a:r>
            <a:r>
              <a:rPr lang="en-US" altLang="zh-CN" i="1" baseline="-25000" smtClean="0">
                <a:cs typeface="Times New Roman" pitchFamily="18" charset="0"/>
              </a:rPr>
              <a:t>n</a:t>
            </a:r>
            <a:r>
              <a:rPr lang="en-US" altLang="zh-CN" i="1" smtClean="0">
                <a:cs typeface="Times New Roman" pitchFamily="18" charset="0"/>
              </a:rPr>
              <a:t>)</a:t>
            </a:r>
            <a:r>
              <a:rPr lang="zh-CN" altLang="en-US" smtClean="0"/>
              <a:t>计算</a:t>
            </a:r>
            <a:r>
              <a:rPr lang="en-US" altLang="zh-CN" i="1" smtClean="0">
                <a:cs typeface="Times New Roman" pitchFamily="18" charset="0"/>
              </a:rPr>
              <a:t>x</a:t>
            </a:r>
            <a:r>
              <a:rPr lang="en-US" altLang="zh-CN" i="1" baseline="-25000" smtClean="0">
                <a:cs typeface="Times New Roman" pitchFamily="18" charset="0"/>
              </a:rPr>
              <a:t>n+1</a:t>
            </a:r>
            <a:r>
              <a:rPr lang="zh-CN" altLang="en-US" smtClean="0"/>
              <a:t>的值</a:t>
            </a:r>
          </a:p>
          <a:p>
            <a:pPr lvl="1"/>
            <a:r>
              <a:rPr lang="zh-CN" altLang="en-US" smtClean="0"/>
              <a:t>(3)判别.如果| </a:t>
            </a:r>
            <a:r>
              <a:rPr lang="en-US" altLang="zh-CN" i="1" smtClean="0">
                <a:cs typeface="Times New Roman" pitchFamily="18" charset="0"/>
              </a:rPr>
              <a:t>x</a:t>
            </a:r>
            <a:r>
              <a:rPr lang="en-US" altLang="zh-CN" i="1" baseline="-25000" smtClean="0">
                <a:cs typeface="Times New Roman" pitchFamily="18" charset="0"/>
              </a:rPr>
              <a:t>n+1</a:t>
            </a:r>
            <a:r>
              <a:rPr lang="zh-CN" altLang="en-US" smtClean="0"/>
              <a:t>-</a:t>
            </a:r>
            <a:r>
              <a:rPr lang="en-US" altLang="zh-CN" i="1" smtClean="0">
                <a:cs typeface="Times New Roman" pitchFamily="18" charset="0"/>
              </a:rPr>
              <a:t>x</a:t>
            </a:r>
            <a:r>
              <a:rPr lang="en-US" altLang="zh-CN" i="1" baseline="-25000" smtClean="0">
                <a:cs typeface="Times New Roman" pitchFamily="18" charset="0"/>
              </a:rPr>
              <a:t>n</a:t>
            </a:r>
            <a:r>
              <a:rPr lang="zh-CN" altLang="en-US" smtClean="0"/>
              <a:t>|&lt;</a:t>
            </a:r>
            <a:r>
              <a:rPr lang="zh-CN" altLang="en-US" smtClean="0">
                <a:sym typeface="Symbol" pitchFamily="18" charset="2"/>
              </a:rPr>
              <a:t>则停止计算，否则继续迭代</a:t>
            </a:r>
          </a:p>
          <a:p>
            <a:r>
              <a:rPr lang="zh-CN" altLang="en-US" smtClean="0">
                <a:sym typeface="Symbol" pitchFamily="18" charset="2"/>
              </a:rPr>
              <a:t>说明:</a:t>
            </a:r>
          </a:p>
          <a:p>
            <a:pPr lvl="1"/>
            <a:r>
              <a:rPr lang="zh-CN" altLang="en-US" smtClean="0">
                <a:sym typeface="Symbol" pitchFamily="18" charset="2"/>
              </a:rPr>
              <a:t>(1)必须满足|</a:t>
            </a:r>
            <a:r>
              <a:rPr lang="en-US" altLang="zh-CN" i="1" smtClean="0">
                <a:cs typeface="Times New Roman" pitchFamily="18" charset="0"/>
              </a:rPr>
              <a:t>φ</a:t>
            </a:r>
            <a:r>
              <a:rPr lang="en-US" altLang="zh-CN" i="1" smtClean="0"/>
              <a:t>’</a:t>
            </a:r>
            <a:r>
              <a:rPr lang="en-US" altLang="zh-CN" smtClean="0"/>
              <a:t>(</a:t>
            </a:r>
            <a:r>
              <a:rPr lang="en-US" altLang="zh-CN" i="1" smtClean="0"/>
              <a:t>x</a:t>
            </a:r>
            <a:r>
              <a:rPr lang="en-US" altLang="zh-CN" smtClean="0"/>
              <a:t>)|</a:t>
            </a:r>
            <a:r>
              <a:rPr lang="en-US" altLang="zh-CN" smtClean="0">
                <a:sym typeface="Symbol" pitchFamily="18" charset="2"/>
              </a:rPr>
              <a:t>q&lt;1， q&lt;1</a:t>
            </a:r>
            <a:r>
              <a:rPr lang="zh-CN" altLang="en-US" smtClean="0">
                <a:sym typeface="Symbol" pitchFamily="18" charset="2"/>
              </a:rPr>
              <a:t>这一点非常重要，否则不能保证收敛;</a:t>
            </a:r>
          </a:p>
          <a:p>
            <a:pPr lvl="1"/>
            <a:r>
              <a:rPr lang="zh-CN" altLang="en-US" smtClean="0">
                <a:sym typeface="Symbol" pitchFamily="18" charset="2"/>
              </a:rPr>
              <a:t>(2)一个方程</a:t>
            </a:r>
            <a:r>
              <a:rPr lang="en-US" altLang="zh-CN" i="1" smtClean="0"/>
              <a:t>f(x)</a:t>
            </a:r>
            <a:r>
              <a:rPr lang="en-US" altLang="zh-CN" smtClean="0"/>
              <a:t>=0</a:t>
            </a:r>
            <a:r>
              <a:rPr lang="zh-CN" altLang="en-US" smtClean="0">
                <a:sym typeface="Symbol" pitchFamily="18" charset="2"/>
              </a:rPr>
              <a:t>变形为</a:t>
            </a:r>
            <a:r>
              <a:rPr lang="en-US" altLang="zh-CN" i="1" smtClean="0"/>
              <a:t>x=</a:t>
            </a:r>
            <a:r>
              <a:rPr lang="en-US" altLang="zh-CN" i="1" smtClean="0">
                <a:cs typeface="Times New Roman" pitchFamily="18" charset="0"/>
              </a:rPr>
              <a:t>φ</a:t>
            </a:r>
            <a:r>
              <a:rPr lang="en-US" altLang="zh-CN" i="1" smtClean="0"/>
              <a:t>(x)</a:t>
            </a:r>
            <a:r>
              <a:rPr lang="zh-CN" altLang="en-US" smtClean="0">
                <a:sym typeface="Symbol" pitchFamily="18" charset="2"/>
              </a:rPr>
              <a:t>有许多形式,有的可能不收敛,有的可能收敛,且</a:t>
            </a:r>
            <a:r>
              <a:rPr lang="en-US" altLang="zh-CN" smtClean="0">
                <a:sym typeface="Symbol" pitchFamily="18" charset="2"/>
              </a:rPr>
              <a:t>q</a:t>
            </a:r>
            <a:r>
              <a:rPr lang="zh-CN" altLang="en-US" smtClean="0">
                <a:sym typeface="Symbol" pitchFamily="18" charset="2"/>
              </a:rPr>
              <a:t>越小,收敛的越快。</a:t>
            </a:r>
          </a:p>
          <a:p>
            <a:pPr>
              <a:lnSpc>
                <a:spcPct val="80000"/>
              </a:lnSpc>
            </a:pPr>
            <a:r>
              <a:rPr lang="zh-CN" altLang="en-US" smtClean="0"/>
              <a:t>迭代过程不应无休止的进行下去，当|</a:t>
            </a:r>
            <a:r>
              <a:rPr lang="en-US" altLang="zh-CN" i="1" smtClean="0"/>
              <a:t>x</a:t>
            </a:r>
            <a:r>
              <a:rPr lang="en-US" altLang="zh-CN" i="1" baseline="-25000" smtClean="0"/>
              <a:t>n+1</a:t>
            </a:r>
            <a:r>
              <a:rPr lang="en-US" altLang="zh-CN" smtClean="0"/>
              <a:t>- </a:t>
            </a:r>
            <a:r>
              <a:rPr lang="en-US" altLang="zh-CN" smtClean="0">
                <a:sym typeface="Symbol" pitchFamily="18" charset="2"/>
              </a:rPr>
              <a:t></a:t>
            </a:r>
            <a:r>
              <a:rPr lang="en-US" altLang="zh-CN" smtClean="0"/>
              <a:t>|&lt;</a:t>
            </a:r>
            <a:r>
              <a:rPr lang="en-US" altLang="zh-CN" smtClean="0">
                <a:sym typeface="Symbol" pitchFamily="18" charset="2"/>
              </a:rPr>
              <a:t></a:t>
            </a:r>
            <a:r>
              <a:rPr lang="en-US" altLang="zh-CN" smtClean="0"/>
              <a:t>(</a:t>
            </a:r>
            <a:r>
              <a:rPr lang="zh-CN" altLang="en-US" smtClean="0"/>
              <a:t>精度要求)满足时，应终止迭代计算,取</a:t>
            </a:r>
            <a:r>
              <a:rPr lang="en-US" altLang="zh-CN" i="1" smtClean="0"/>
              <a:t>x</a:t>
            </a:r>
            <a:r>
              <a:rPr lang="en-US" altLang="zh-CN" i="1" baseline="-25000" smtClean="0"/>
              <a:t>n+1</a:t>
            </a:r>
            <a:r>
              <a:rPr lang="zh-CN" altLang="en-US" smtClean="0"/>
              <a:t>作为所求的根</a:t>
            </a:r>
          </a:p>
          <a:p>
            <a:pPr>
              <a:lnSpc>
                <a:spcPct val="80000"/>
              </a:lnSpc>
            </a:pPr>
            <a:r>
              <a:rPr lang="zh-CN" altLang="en-US" smtClean="0"/>
              <a:t>因为</a:t>
            </a:r>
            <a:r>
              <a:rPr lang="en-US" altLang="zh-CN" smtClean="0">
                <a:sym typeface="Symbol" pitchFamily="18" charset="2"/>
              </a:rPr>
              <a:t></a:t>
            </a:r>
            <a:r>
              <a:rPr lang="zh-CN" altLang="en-US" smtClean="0"/>
              <a:t>未知， </a:t>
            </a:r>
            <a:r>
              <a:rPr lang="en-US" altLang="zh-CN" i="1" smtClean="0"/>
              <a:t>x</a:t>
            </a:r>
            <a:r>
              <a:rPr lang="en-US" altLang="zh-CN" i="1" baseline="-25000" smtClean="0"/>
              <a:t>n+1</a:t>
            </a:r>
            <a:r>
              <a:rPr lang="en-US" altLang="zh-CN" smtClean="0"/>
              <a:t>- </a:t>
            </a:r>
            <a:r>
              <a:rPr lang="en-US" altLang="zh-CN" smtClean="0">
                <a:sym typeface="Symbol" pitchFamily="18" charset="2"/>
              </a:rPr>
              <a:t></a:t>
            </a:r>
            <a:r>
              <a:rPr lang="zh-CN" altLang="en-US" smtClean="0"/>
              <a:t>也未知，因此这个公式无法使用，为此我们要寻找一些公式间接的来判定。我们给出三个上界公式</a:t>
            </a:r>
          </a:p>
        </p:txBody>
      </p:sp>
    </p:spTree>
    <p:extLst>
      <p:ext uri="{BB962C8B-B14F-4D97-AF65-F5344CB8AC3E}">
        <p14:creationId xmlns:p14="http://schemas.microsoft.com/office/powerpoint/2010/main" val="64242015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1200" smtClean="0"/>
              <a:t>Confidential, for review only</a:t>
            </a:r>
            <a:endParaRPr lang="en-US" altLang="en-US" sz="1200" smtClean="0"/>
          </a:p>
        </p:txBody>
      </p:sp>
      <p:sp>
        <p:nvSpPr>
          <p:cNvPr id="178179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F7F1D22B-8AFF-483C-8995-809306B2C4F2}" type="slidenum">
              <a:rPr lang="zh-CN" altLang="en-US" sz="1200" smtClean="0"/>
              <a:pPr/>
              <a:t>122</a:t>
            </a:fld>
            <a:endParaRPr lang="en-US" altLang="zh-CN" sz="1200" smtClean="0"/>
          </a:p>
        </p:txBody>
      </p:sp>
      <p:sp>
        <p:nvSpPr>
          <p:cNvPr id="1781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solidFill>
            <a:srgbClr val="FFFFFF"/>
          </a:solidFill>
          <a:ln/>
        </p:spPr>
      </p:sp>
      <p:sp>
        <p:nvSpPr>
          <p:cNvPr id="17818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2037059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5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981200" y="3505202"/>
            <a:ext cx="5303838" cy="976313"/>
          </a:xfrm>
        </p:spPr>
        <p:txBody>
          <a:bodyPr/>
          <a:lstStyle>
            <a:lvl1pPr marL="0" indent="0" algn="ctr">
              <a:lnSpc>
                <a:spcPct val="95000"/>
              </a:lnSpc>
              <a:spcBef>
                <a:spcPct val="10000"/>
              </a:spcBef>
              <a:buFont typeface="Wingdings" pitchFamily="2" charset="2"/>
              <a:buNone/>
              <a:defRPr sz="3200">
                <a:solidFill>
                  <a:srgbClr val="C1C4DD"/>
                </a:solidFill>
              </a:defRPr>
            </a:lvl1pPr>
          </a:lstStyle>
          <a:p>
            <a:r>
              <a:rPr lang="en-US" altLang="en-US"/>
              <a:t>Speaker’s Name,</a:t>
            </a:r>
          </a:p>
          <a:p>
            <a:r>
              <a:rPr lang="en-US" altLang="en-US"/>
              <a:t>Speaker’s Title</a:t>
            </a:r>
          </a:p>
        </p:txBody>
      </p:sp>
      <p:sp>
        <p:nvSpPr>
          <p:cNvPr id="105476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1012826" y="2136776"/>
            <a:ext cx="7023100" cy="1812804"/>
          </a:xfrm>
          <a:effectLst/>
        </p:spPr>
        <p:txBody>
          <a:bodyPr anchor="t"/>
          <a:lstStyle>
            <a:lvl1pPr algn="ctr">
              <a:lnSpc>
                <a:spcPct val="95000"/>
              </a:lnSpc>
              <a:buClr>
                <a:schemeClr val="folHlink"/>
              </a:buClr>
              <a:buSzPct val="95000"/>
              <a:defRPr sz="6200"/>
            </a:lvl1pPr>
          </a:lstStyle>
          <a:p>
            <a:r>
              <a:rPr lang="en-US" alt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7018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EB2D8C-C595-4C75-A410-92E615560A6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F2C565-DEEA-484F-99D9-2BCC1484ACAF}" type="datetime1">
              <a:rPr lang="zh-CN" altLang="en-US"/>
              <a:pPr>
                <a:defRPr/>
              </a:pPr>
              <a:t>2024/9/22</a:t>
            </a:fld>
            <a:endParaRPr lang="en-US" altLang="zh-CN" sz="1000"/>
          </a:p>
        </p:txBody>
      </p:sp>
    </p:spTree>
    <p:extLst>
      <p:ext uri="{BB962C8B-B14F-4D97-AF65-F5344CB8AC3E}">
        <p14:creationId xmlns:p14="http://schemas.microsoft.com/office/powerpoint/2010/main" val="4507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553998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4129902"/>
            <a:ext cx="7772400" cy="276999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851C2B-2679-4BA3-B9C3-C1C732C2120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63CB9D-7A84-4B63-939E-4442C1302356}" type="datetime1">
              <a:rPr lang="zh-CN" altLang="en-US"/>
              <a:pPr>
                <a:defRPr/>
              </a:pPr>
              <a:t>2024/9/22</a:t>
            </a:fld>
            <a:endParaRPr lang="en-US" altLang="zh-CN" sz="1000"/>
          </a:p>
        </p:txBody>
      </p:sp>
    </p:spTree>
    <p:extLst>
      <p:ext uri="{BB962C8B-B14F-4D97-AF65-F5344CB8AC3E}">
        <p14:creationId xmlns:p14="http://schemas.microsoft.com/office/powerpoint/2010/main" val="2542479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0075" y="1292227"/>
            <a:ext cx="3994150" cy="23144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46625" y="1292227"/>
            <a:ext cx="3995738" cy="23144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D0E21C-80F6-4878-8EED-7BEE02613AC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2B3A31-3A5E-4E67-A617-E91ABC72BEB1}" type="datetime1">
              <a:rPr lang="zh-CN" altLang="en-US"/>
              <a:pPr>
                <a:defRPr/>
              </a:pPr>
              <a:t>2024/9/22</a:t>
            </a:fld>
            <a:endParaRPr lang="en-US" altLang="zh-CN" sz="1000"/>
          </a:p>
        </p:txBody>
      </p:sp>
    </p:spTree>
    <p:extLst>
      <p:ext uri="{BB962C8B-B14F-4D97-AF65-F5344CB8AC3E}">
        <p14:creationId xmlns:p14="http://schemas.microsoft.com/office/powerpoint/2010/main" val="3334503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808240"/>
            <a:ext cx="8229600" cy="609398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842476"/>
            <a:ext cx="4040188" cy="3323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6"/>
            <a:ext cx="4040188" cy="167892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842476"/>
            <a:ext cx="4041775" cy="3323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6"/>
            <a:ext cx="4041775" cy="167892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76908E-93AB-4DA8-88DF-B6531E1098F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94D529-39B2-4CF7-877A-031933E89EE5}" type="datetime1">
              <a:rPr lang="zh-CN" altLang="en-US"/>
              <a:pPr>
                <a:defRPr/>
              </a:pPr>
              <a:t>2024/9/22</a:t>
            </a:fld>
            <a:endParaRPr lang="en-US" altLang="zh-CN" sz="1000"/>
          </a:p>
        </p:txBody>
      </p:sp>
    </p:spTree>
    <p:extLst>
      <p:ext uri="{BB962C8B-B14F-4D97-AF65-F5344CB8AC3E}">
        <p14:creationId xmlns:p14="http://schemas.microsoft.com/office/powerpoint/2010/main" val="743161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74E1BE-45A2-4656-AA74-71DDFB8A47E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18BCB4-4539-41FC-AD59-21BF19B7A014}" type="datetime1">
              <a:rPr lang="zh-CN" altLang="en-US"/>
              <a:pPr>
                <a:defRPr/>
              </a:pPr>
              <a:t>2024/9/22</a:t>
            </a:fld>
            <a:endParaRPr lang="en-US" altLang="zh-CN" sz="1000"/>
          </a:p>
        </p:txBody>
      </p:sp>
    </p:spTree>
    <p:extLst>
      <p:ext uri="{BB962C8B-B14F-4D97-AF65-F5344CB8AC3E}">
        <p14:creationId xmlns:p14="http://schemas.microsoft.com/office/powerpoint/2010/main" val="3417875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26A322-E487-4083-8184-BBB810606F3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566FA8-93BB-4A4E-9C6F-A3019C447A77}" type="datetime1">
              <a:rPr lang="zh-CN" altLang="en-US"/>
              <a:pPr>
                <a:defRPr/>
              </a:pPr>
              <a:t>2024/9/22</a:t>
            </a:fld>
            <a:endParaRPr lang="en-US" altLang="zh-CN" sz="1000"/>
          </a:p>
        </p:txBody>
      </p:sp>
    </p:spTree>
    <p:extLst>
      <p:ext uri="{BB962C8B-B14F-4D97-AF65-F5344CB8AC3E}">
        <p14:creationId xmlns:p14="http://schemas.microsoft.com/office/powerpoint/2010/main" val="4199432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881103"/>
            <a:ext cx="3008313" cy="55399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26561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1938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9FE88E-6F16-4B86-A462-0289BD403D5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4D2565-9EB7-4442-925C-70BEE6C08F8F}" type="datetime1">
              <a:rPr lang="zh-CN" altLang="en-US"/>
              <a:pPr>
                <a:defRPr/>
              </a:pPr>
              <a:t>2024/9/22</a:t>
            </a:fld>
            <a:endParaRPr lang="en-US" altLang="zh-CN" sz="1000"/>
          </a:p>
        </p:txBody>
      </p:sp>
    </p:spTree>
    <p:extLst>
      <p:ext uri="{BB962C8B-B14F-4D97-AF65-F5344CB8AC3E}">
        <p14:creationId xmlns:p14="http://schemas.microsoft.com/office/powerpoint/2010/main" val="3243913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5090340"/>
            <a:ext cx="5486400" cy="276999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4319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1938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D0F2CC-2781-4599-B270-50C455E0ED2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270DE3-3CBF-4327-930B-C44EE7517063}" type="datetime1">
              <a:rPr lang="zh-CN" altLang="en-US"/>
              <a:pPr>
                <a:defRPr/>
              </a:pPr>
              <a:t>2024/9/22</a:t>
            </a:fld>
            <a:endParaRPr lang="en-US" altLang="zh-CN" sz="1000"/>
          </a:p>
        </p:txBody>
      </p:sp>
    </p:spTree>
    <p:extLst>
      <p:ext uri="{BB962C8B-B14F-4D97-AF65-F5344CB8AC3E}">
        <p14:creationId xmlns:p14="http://schemas.microsoft.com/office/powerpoint/2010/main" val="3533677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658168" y="1292227"/>
            <a:ext cx="4084195" cy="22891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90D0EC-D4C2-41A1-B3D4-B9C6A7D03ED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CDDC5C-7AFD-4616-B60C-78E0294203B3}" type="datetime1">
              <a:rPr lang="zh-CN" altLang="en-US"/>
              <a:pPr>
                <a:defRPr/>
              </a:pPr>
              <a:t>2024/9/22</a:t>
            </a:fld>
            <a:endParaRPr lang="en-US" altLang="zh-CN" sz="1000"/>
          </a:p>
        </p:txBody>
      </p:sp>
    </p:spTree>
    <p:extLst>
      <p:ext uri="{BB962C8B-B14F-4D97-AF65-F5344CB8AC3E}">
        <p14:creationId xmlns:p14="http://schemas.microsoft.com/office/powerpoint/2010/main" val="711080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89" y="311150"/>
            <a:ext cx="1828193" cy="327025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55589" y="311150"/>
            <a:ext cx="2699200" cy="327025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DF6942-444D-4F15-B17D-4F6CC3B4ED3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D6E70C-D1CA-450D-96D6-2C12E720CBDA}" type="datetime1">
              <a:rPr lang="zh-CN" altLang="en-US"/>
              <a:pPr>
                <a:defRPr/>
              </a:pPr>
              <a:t>2024/9/22</a:t>
            </a:fld>
            <a:endParaRPr lang="en-US" altLang="zh-CN" sz="1000"/>
          </a:p>
        </p:txBody>
      </p:sp>
    </p:spTree>
    <p:extLst>
      <p:ext uri="{BB962C8B-B14F-4D97-AF65-F5344CB8AC3E}">
        <p14:creationId xmlns:p14="http://schemas.microsoft.com/office/powerpoint/2010/main" val="2030171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0075" y="305002"/>
            <a:ext cx="8142288" cy="60939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0075" y="1292227"/>
            <a:ext cx="3994150" cy="2699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46625" y="1292227"/>
            <a:ext cx="3995738" cy="2699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803C88-7546-4147-9ED4-B495E81BB12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230DEF-4CD6-4072-83DF-EFC72943079B}" type="datetime1">
              <a:rPr lang="zh-CN" altLang="en-US"/>
              <a:pPr>
                <a:defRPr/>
              </a:pPr>
              <a:t>2024/9/22</a:t>
            </a:fld>
            <a:endParaRPr lang="en-US" altLang="zh-CN" sz="1000"/>
          </a:p>
        </p:txBody>
      </p:sp>
    </p:spTree>
    <p:extLst>
      <p:ext uri="{BB962C8B-B14F-4D97-AF65-F5344CB8AC3E}">
        <p14:creationId xmlns:p14="http://schemas.microsoft.com/office/powerpoint/2010/main" val="3939860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0075" y="1292227"/>
            <a:ext cx="8142288" cy="228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 smtClean="0"/>
              <a:t>Body Text</a:t>
            </a:r>
          </a:p>
          <a:p>
            <a:pPr lvl="1"/>
            <a:r>
              <a:rPr lang="en-US" altLang="en-US" smtClean="0"/>
              <a:t> 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445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00075" y="305002"/>
            <a:ext cx="8142288" cy="60939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 smtClean="0"/>
              <a:t>Slide Title</a:t>
            </a:r>
          </a:p>
        </p:txBody>
      </p:sp>
      <p:sp>
        <p:nvSpPr>
          <p:cNvPr id="104456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1" y="6330950"/>
            <a:ext cx="2309813" cy="5270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115646" tIns="57824" rIns="115646" bIns="57824" numCol="1" anchor="t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fld id="{03496FE2-1CA2-402B-B6F0-43277B00C29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4455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700" y="6432550"/>
            <a:ext cx="2120900" cy="5778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115646" tIns="57824" rIns="115646" bIns="57824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90000"/>
              </a:lnSpc>
              <a:defRPr sz="1800" smtClean="0"/>
            </a:lvl1pPr>
          </a:lstStyle>
          <a:p>
            <a:pPr>
              <a:defRPr/>
            </a:pPr>
            <a:fld id="{D2C9E22B-641A-43CC-B2E6-52B8AF0EDC0F}" type="datetime1">
              <a:rPr lang="zh-CN" altLang="en-US"/>
              <a:pPr>
                <a:defRPr/>
              </a:pPr>
              <a:t>2024/9/22</a:t>
            </a:fld>
            <a:endParaRPr lang="en-US" altLang="zh-CN"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hf hdr="0" ftr="0"/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宋体" pitchFamily="2" charset="-122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宋体" pitchFamily="2" charset="-122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宋体" pitchFamily="2" charset="-122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宋体" pitchFamily="2" charset="-122"/>
        </a:defRPr>
      </a:lvl5pPr>
      <a:lvl6pPr marL="457200"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宋体" pitchFamily="2" charset="-122"/>
        </a:defRPr>
      </a:lvl6pPr>
      <a:lvl7pPr marL="914400"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宋体" pitchFamily="2" charset="-122"/>
        </a:defRPr>
      </a:lvl7pPr>
      <a:lvl8pPr marL="1371600"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宋体" pitchFamily="2" charset="-122"/>
        </a:defRPr>
      </a:lvl8pPr>
      <a:lvl9pPr marL="1828800"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宋体" pitchFamily="2" charset="-122"/>
        </a:defRPr>
      </a:lvl9pPr>
    </p:titleStyle>
    <p:bodyStyle>
      <a:lvl1pPr marL="258763" indent="-258763" algn="l" defTabSz="814388" rtl="0" eaLnBrk="0" fontAlgn="base" hangingPunct="0">
        <a:lnSpc>
          <a:spcPct val="90000"/>
        </a:lnSpc>
        <a:spcBef>
          <a:spcPct val="35000"/>
        </a:spcBef>
        <a:spcAft>
          <a:spcPct val="0"/>
        </a:spcAft>
        <a:buClr>
          <a:srgbClr val="27305F"/>
        </a:buClr>
        <a:buSzPct val="60000"/>
        <a:buFont typeface="Wingdings" pitchFamily="2" charset="2"/>
        <a:buChar char="n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649288" indent="-261938" algn="l" defTabSz="814388" rtl="0" eaLnBrk="0" fontAlgn="base" hangingPunct="0">
        <a:lnSpc>
          <a:spcPct val="90000"/>
        </a:lnSpc>
        <a:spcBef>
          <a:spcPct val="35000"/>
        </a:spcBef>
        <a:spcAft>
          <a:spcPct val="0"/>
        </a:spcAft>
        <a:buClr>
          <a:srgbClr val="27305F"/>
        </a:buClr>
        <a:buChar char="–"/>
        <a:defRPr sz="2800" b="1">
          <a:solidFill>
            <a:schemeClr val="tx1"/>
          </a:solidFill>
          <a:latin typeface="+mn-lt"/>
          <a:ea typeface="+mn-ea"/>
        </a:defRPr>
      </a:lvl2pPr>
      <a:lvl3pPr marL="1027113" indent="-249238" algn="l" defTabSz="814388" rtl="0" eaLnBrk="0" fontAlgn="base" hangingPunct="0">
        <a:lnSpc>
          <a:spcPct val="90000"/>
        </a:lnSpc>
        <a:spcBef>
          <a:spcPct val="35000"/>
        </a:spcBef>
        <a:spcAft>
          <a:spcPct val="0"/>
        </a:spcAft>
        <a:buClr>
          <a:srgbClr val="27305F"/>
        </a:buClr>
        <a:buChar char="-"/>
        <a:defRPr sz="2400" b="1">
          <a:solidFill>
            <a:schemeClr val="tx1"/>
          </a:solidFill>
          <a:latin typeface="+mn-lt"/>
          <a:ea typeface="+mn-ea"/>
        </a:defRPr>
      </a:lvl3pPr>
      <a:lvl4pPr marL="1416050" indent="-260350" algn="l" defTabSz="814388" rtl="0" eaLnBrk="0" fontAlgn="base" hangingPunct="0">
        <a:lnSpc>
          <a:spcPct val="90000"/>
        </a:lnSpc>
        <a:spcBef>
          <a:spcPct val="35000"/>
        </a:spcBef>
        <a:spcAft>
          <a:spcPct val="0"/>
        </a:spcAft>
        <a:buClr>
          <a:srgbClr val="27305F"/>
        </a:buClr>
        <a:buChar char="•"/>
        <a:defRPr sz="2400" b="1">
          <a:solidFill>
            <a:schemeClr val="tx1"/>
          </a:solidFill>
          <a:latin typeface="+mn-lt"/>
          <a:ea typeface="+mn-ea"/>
        </a:defRPr>
      </a:lvl4pPr>
      <a:lvl5pPr marL="1804988" indent="-260350" algn="l" defTabSz="814388" rtl="0" eaLnBrk="0" fontAlgn="base" hangingPunct="0">
        <a:lnSpc>
          <a:spcPct val="90000"/>
        </a:lnSpc>
        <a:spcBef>
          <a:spcPct val="35000"/>
        </a:spcBef>
        <a:spcAft>
          <a:spcPct val="0"/>
        </a:spcAft>
        <a:buClr>
          <a:srgbClr val="27305F"/>
        </a:buClr>
        <a:buChar char="•"/>
        <a:defRPr sz="2400" b="1">
          <a:solidFill>
            <a:schemeClr val="tx1"/>
          </a:solidFill>
          <a:latin typeface="+mn-lt"/>
          <a:ea typeface="+mn-ea"/>
        </a:defRPr>
      </a:lvl5pPr>
      <a:lvl6pPr marL="2262188" indent="-260350" algn="l" defTabSz="814388" rtl="0" eaLnBrk="0" fontAlgn="base" hangingPunct="0">
        <a:lnSpc>
          <a:spcPct val="90000"/>
        </a:lnSpc>
        <a:spcBef>
          <a:spcPct val="35000"/>
        </a:spcBef>
        <a:spcAft>
          <a:spcPct val="0"/>
        </a:spcAft>
        <a:buClr>
          <a:srgbClr val="27305F"/>
        </a:buClr>
        <a:buChar char="•"/>
        <a:defRPr sz="2400" b="1">
          <a:solidFill>
            <a:schemeClr val="tx1"/>
          </a:solidFill>
          <a:latin typeface="+mn-lt"/>
          <a:ea typeface="+mn-ea"/>
        </a:defRPr>
      </a:lvl6pPr>
      <a:lvl7pPr marL="2719388" indent="-260350" algn="l" defTabSz="814388" rtl="0" eaLnBrk="0" fontAlgn="base" hangingPunct="0">
        <a:lnSpc>
          <a:spcPct val="90000"/>
        </a:lnSpc>
        <a:spcBef>
          <a:spcPct val="35000"/>
        </a:spcBef>
        <a:spcAft>
          <a:spcPct val="0"/>
        </a:spcAft>
        <a:buClr>
          <a:srgbClr val="27305F"/>
        </a:buClr>
        <a:buChar char="•"/>
        <a:defRPr sz="2400" b="1">
          <a:solidFill>
            <a:schemeClr val="tx1"/>
          </a:solidFill>
          <a:latin typeface="+mn-lt"/>
          <a:ea typeface="+mn-ea"/>
        </a:defRPr>
      </a:lvl7pPr>
      <a:lvl8pPr marL="3176588" indent="-260350" algn="l" defTabSz="814388" rtl="0" eaLnBrk="0" fontAlgn="base" hangingPunct="0">
        <a:lnSpc>
          <a:spcPct val="90000"/>
        </a:lnSpc>
        <a:spcBef>
          <a:spcPct val="35000"/>
        </a:spcBef>
        <a:spcAft>
          <a:spcPct val="0"/>
        </a:spcAft>
        <a:buClr>
          <a:srgbClr val="27305F"/>
        </a:buClr>
        <a:buChar char="•"/>
        <a:defRPr sz="2400" b="1">
          <a:solidFill>
            <a:schemeClr val="tx1"/>
          </a:solidFill>
          <a:latin typeface="+mn-lt"/>
          <a:ea typeface="+mn-ea"/>
        </a:defRPr>
      </a:lvl8pPr>
      <a:lvl9pPr marL="3633788" indent="-260350" algn="l" defTabSz="814388" rtl="0" eaLnBrk="0" fontAlgn="base" hangingPunct="0">
        <a:lnSpc>
          <a:spcPct val="90000"/>
        </a:lnSpc>
        <a:spcBef>
          <a:spcPct val="35000"/>
        </a:spcBef>
        <a:spcAft>
          <a:spcPct val="0"/>
        </a:spcAft>
        <a:buClr>
          <a:srgbClr val="27305F"/>
        </a:buClr>
        <a:buChar char="•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5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.e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6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audio" Target="../media/audio1.wav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4.bin"/><Relationship Id="rId10" Type="http://schemas.openxmlformats.org/officeDocument/2006/relationships/image" Target="../media/image9.wmf"/><Relationship Id="rId4" Type="http://schemas.openxmlformats.org/officeDocument/2006/relationships/audio" Target="../media/audio2.wav"/><Relationship Id="rId9" Type="http://schemas.openxmlformats.org/officeDocument/2006/relationships/oleObject" Target="../embeddings/oleObject6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15.wmf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12.wmf"/><Relationship Id="rId12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14.wmf"/><Relationship Id="rId5" Type="http://schemas.openxmlformats.org/officeDocument/2006/relationships/audio" Target="../media/audio3.wav"/><Relationship Id="rId10" Type="http://schemas.openxmlformats.org/officeDocument/2006/relationships/oleObject" Target="../embeddings/oleObject9.bin"/><Relationship Id="rId4" Type="http://schemas.openxmlformats.org/officeDocument/2006/relationships/audio" Target="../media/audio2.wav"/><Relationship Id="rId9" Type="http://schemas.openxmlformats.org/officeDocument/2006/relationships/image" Target="../media/image13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5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1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6.wmf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8.w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13" Type="http://schemas.openxmlformats.org/officeDocument/2006/relationships/image" Target="../media/image22.wmf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19.wmf"/><Relationship Id="rId12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21.wmf"/><Relationship Id="rId5" Type="http://schemas.openxmlformats.org/officeDocument/2006/relationships/audio" Target="../media/audio3.wav"/><Relationship Id="rId10" Type="http://schemas.openxmlformats.org/officeDocument/2006/relationships/oleObject" Target="../embeddings/oleObject16.bin"/><Relationship Id="rId4" Type="http://schemas.openxmlformats.org/officeDocument/2006/relationships/audio" Target="../media/audio2.wav"/><Relationship Id="rId9" Type="http://schemas.openxmlformats.org/officeDocument/2006/relationships/image" Target="../media/image20.wmf"/><Relationship Id="rId1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audio" Target="../media/audio2.wav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4.wmf"/><Relationship Id="rId11" Type="http://schemas.openxmlformats.org/officeDocument/2006/relationships/image" Target="../media/image27.wmf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26.wmf"/><Relationship Id="rId4" Type="http://schemas.openxmlformats.org/officeDocument/2006/relationships/audio" Target="../media/audio6.wav"/><Relationship Id="rId9" Type="http://schemas.openxmlformats.org/officeDocument/2006/relationships/oleObject" Target="../embeddings/oleObject20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13" Type="http://schemas.openxmlformats.org/officeDocument/2006/relationships/image" Target="../media/image30.wmf"/><Relationship Id="rId3" Type="http://schemas.openxmlformats.org/officeDocument/2006/relationships/audio" Target="../media/audio2.wav"/><Relationship Id="rId7" Type="http://schemas.openxmlformats.org/officeDocument/2006/relationships/image" Target="../media/image28.wmf"/><Relationship Id="rId12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29.wmf"/><Relationship Id="rId5" Type="http://schemas.openxmlformats.org/officeDocument/2006/relationships/audio" Target="../media/audio6.wav"/><Relationship Id="rId10" Type="http://schemas.openxmlformats.org/officeDocument/2006/relationships/oleObject" Target="../embeddings/oleObject23.bin"/><Relationship Id="rId4" Type="http://schemas.openxmlformats.org/officeDocument/2006/relationships/audio" Target="../media/audio3.wav"/><Relationship Id="rId9" Type="http://schemas.openxmlformats.org/officeDocument/2006/relationships/image" Target="../media/image25.wmf"/><Relationship Id="rId14" Type="http://schemas.openxmlformats.org/officeDocument/2006/relationships/image" Target="../media/image31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13" Type="http://schemas.openxmlformats.org/officeDocument/2006/relationships/oleObject" Target="../embeddings/oleObject28.bin"/><Relationship Id="rId3" Type="http://schemas.openxmlformats.org/officeDocument/2006/relationships/audio" Target="../media/audio2.wav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3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5.wmf"/><Relationship Id="rId11" Type="http://schemas.openxmlformats.org/officeDocument/2006/relationships/oleObject" Target="../embeddings/oleObject27.bin"/><Relationship Id="rId5" Type="http://schemas.openxmlformats.org/officeDocument/2006/relationships/audio" Target="../media/audio6.wav"/><Relationship Id="rId10" Type="http://schemas.openxmlformats.org/officeDocument/2006/relationships/image" Target="../media/image25.wmf"/><Relationship Id="rId4" Type="http://schemas.openxmlformats.org/officeDocument/2006/relationships/audio" Target="../media/audio3.wav"/><Relationship Id="rId9" Type="http://schemas.openxmlformats.org/officeDocument/2006/relationships/oleObject" Target="../embeddings/oleObject26.bin"/><Relationship Id="rId14" Type="http://schemas.openxmlformats.org/officeDocument/2006/relationships/image" Target="../media/image34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13" Type="http://schemas.openxmlformats.org/officeDocument/2006/relationships/image" Target="../media/image39.wmf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36.wmf"/><Relationship Id="rId12" Type="http://schemas.openxmlformats.org/officeDocument/2006/relationships/oleObject" Target="../embeddings/oleObject3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29.bin"/><Relationship Id="rId11" Type="http://schemas.openxmlformats.org/officeDocument/2006/relationships/image" Target="../media/image38.wmf"/><Relationship Id="rId5" Type="http://schemas.openxmlformats.org/officeDocument/2006/relationships/audio" Target="../media/audio3.wav"/><Relationship Id="rId10" Type="http://schemas.openxmlformats.org/officeDocument/2006/relationships/oleObject" Target="../embeddings/oleObject31.bin"/><Relationship Id="rId4" Type="http://schemas.openxmlformats.org/officeDocument/2006/relationships/audio" Target="../media/audio2.wav"/><Relationship Id="rId9" Type="http://schemas.openxmlformats.org/officeDocument/2006/relationships/image" Target="../media/image37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13" Type="http://schemas.openxmlformats.org/officeDocument/2006/relationships/oleObject" Target="../embeddings/oleObject37.bin"/><Relationship Id="rId3" Type="http://schemas.openxmlformats.org/officeDocument/2006/relationships/audio" Target="../media/audio2.wav"/><Relationship Id="rId7" Type="http://schemas.openxmlformats.org/officeDocument/2006/relationships/oleObject" Target="../embeddings/oleObject34.bin"/><Relationship Id="rId12" Type="http://schemas.openxmlformats.org/officeDocument/2006/relationships/image" Target="../media/image42.wmf"/><Relationship Id="rId17" Type="http://schemas.openxmlformats.org/officeDocument/2006/relationships/image" Target="../media/image44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39.bin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0.wmf"/><Relationship Id="rId11" Type="http://schemas.openxmlformats.org/officeDocument/2006/relationships/oleObject" Target="../embeddings/oleObject36.bin"/><Relationship Id="rId5" Type="http://schemas.openxmlformats.org/officeDocument/2006/relationships/oleObject" Target="../embeddings/oleObject33.bin"/><Relationship Id="rId15" Type="http://schemas.openxmlformats.org/officeDocument/2006/relationships/oleObject" Target="../embeddings/oleObject38.bin"/><Relationship Id="rId10" Type="http://schemas.openxmlformats.org/officeDocument/2006/relationships/image" Target="../media/image41.wmf"/><Relationship Id="rId4" Type="http://schemas.openxmlformats.org/officeDocument/2006/relationships/audio" Target="../media/audio3.wav"/><Relationship Id="rId9" Type="http://schemas.openxmlformats.org/officeDocument/2006/relationships/oleObject" Target="../embeddings/oleObject35.bin"/><Relationship Id="rId14" Type="http://schemas.openxmlformats.org/officeDocument/2006/relationships/image" Target="../media/image43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13" Type="http://schemas.openxmlformats.org/officeDocument/2006/relationships/oleObject" Target="../embeddings/oleObject44.bin"/><Relationship Id="rId3" Type="http://schemas.openxmlformats.org/officeDocument/2006/relationships/audio" Target="../media/audio2.wav"/><Relationship Id="rId7" Type="http://schemas.openxmlformats.org/officeDocument/2006/relationships/oleObject" Target="../embeddings/oleObject41.bin"/><Relationship Id="rId12" Type="http://schemas.openxmlformats.org/officeDocument/2006/relationships/image" Target="../media/image4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5.wmf"/><Relationship Id="rId11" Type="http://schemas.openxmlformats.org/officeDocument/2006/relationships/oleObject" Target="../embeddings/oleObject43.bin"/><Relationship Id="rId5" Type="http://schemas.openxmlformats.org/officeDocument/2006/relationships/oleObject" Target="../embeddings/oleObject40.bin"/><Relationship Id="rId15" Type="http://schemas.openxmlformats.org/officeDocument/2006/relationships/image" Target="../media/image48.wmf"/><Relationship Id="rId10" Type="http://schemas.openxmlformats.org/officeDocument/2006/relationships/image" Target="../media/image46.wmf"/><Relationship Id="rId4" Type="http://schemas.openxmlformats.org/officeDocument/2006/relationships/audio" Target="../media/audio3.wav"/><Relationship Id="rId9" Type="http://schemas.openxmlformats.org/officeDocument/2006/relationships/oleObject" Target="../embeddings/oleObject42.bin"/><Relationship Id="rId14" Type="http://schemas.openxmlformats.org/officeDocument/2006/relationships/oleObject" Target="../embeddings/oleObject45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.bin"/><Relationship Id="rId3" Type="http://schemas.openxmlformats.org/officeDocument/2006/relationships/audio" Target="../media/audio3.wav"/><Relationship Id="rId7" Type="http://schemas.openxmlformats.org/officeDocument/2006/relationships/image" Target="../media/image4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46.bin"/><Relationship Id="rId5" Type="http://schemas.openxmlformats.org/officeDocument/2006/relationships/image" Target="../media/image51.wmf"/><Relationship Id="rId4" Type="http://schemas.openxmlformats.org/officeDocument/2006/relationships/audio" Target="../media/audio2.wav"/><Relationship Id="rId9" Type="http://schemas.openxmlformats.org/officeDocument/2006/relationships/image" Target="../media/image50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5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49.bin"/><Relationship Id="rId5" Type="http://schemas.openxmlformats.org/officeDocument/2006/relationships/image" Target="../media/image52.wmf"/><Relationship Id="rId4" Type="http://schemas.openxmlformats.org/officeDocument/2006/relationships/oleObject" Target="../embeddings/oleObject48.bin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2.bin"/><Relationship Id="rId13" Type="http://schemas.openxmlformats.org/officeDocument/2006/relationships/image" Target="../media/image59.wmf"/><Relationship Id="rId18" Type="http://schemas.openxmlformats.org/officeDocument/2006/relationships/oleObject" Target="../embeddings/oleObject57.bin"/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56.wmf"/><Relationship Id="rId12" Type="http://schemas.openxmlformats.org/officeDocument/2006/relationships/oleObject" Target="../embeddings/oleObject54.bin"/><Relationship Id="rId17" Type="http://schemas.openxmlformats.org/officeDocument/2006/relationships/image" Target="../media/image61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56.bin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51.bin"/><Relationship Id="rId11" Type="http://schemas.openxmlformats.org/officeDocument/2006/relationships/image" Target="../media/image58.wmf"/><Relationship Id="rId5" Type="http://schemas.openxmlformats.org/officeDocument/2006/relationships/image" Target="../media/image55.wmf"/><Relationship Id="rId15" Type="http://schemas.openxmlformats.org/officeDocument/2006/relationships/image" Target="../media/image60.wmf"/><Relationship Id="rId10" Type="http://schemas.openxmlformats.org/officeDocument/2006/relationships/oleObject" Target="../embeddings/oleObject53.bin"/><Relationship Id="rId19" Type="http://schemas.openxmlformats.org/officeDocument/2006/relationships/image" Target="../media/image62.wmf"/><Relationship Id="rId4" Type="http://schemas.openxmlformats.org/officeDocument/2006/relationships/oleObject" Target="../embeddings/oleObject50.bin"/><Relationship Id="rId9" Type="http://schemas.openxmlformats.org/officeDocument/2006/relationships/image" Target="../media/image57.wmf"/><Relationship Id="rId14" Type="http://schemas.openxmlformats.org/officeDocument/2006/relationships/oleObject" Target="../embeddings/oleObject55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5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59.bin"/><Relationship Id="rId5" Type="http://schemas.openxmlformats.org/officeDocument/2006/relationships/image" Target="../media/image52.wmf"/><Relationship Id="rId4" Type="http://schemas.openxmlformats.org/officeDocument/2006/relationships/oleObject" Target="../embeddings/oleObject58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63.wmf"/><Relationship Id="rId5" Type="http://schemas.openxmlformats.org/officeDocument/2006/relationships/oleObject" Target="../embeddings/oleObject60.bin"/><Relationship Id="rId4" Type="http://schemas.openxmlformats.org/officeDocument/2006/relationships/audio" Target="../media/audio7.wav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3.bin"/><Relationship Id="rId3" Type="http://schemas.openxmlformats.org/officeDocument/2006/relationships/notesSlide" Target="../notesSlides/notesSlide25.xml"/><Relationship Id="rId7" Type="http://schemas.openxmlformats.org/officeDocument/2006/relationships/image" Target="../media/image6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62.bin"/><Relationship Id="rId11" Type="http://schemas.openxmlformats.org/officeDocument/2006/relationships/image" Target="../media/image67.wmf"/><Relationship Id="rId5" Type="http://schemas.openxmlformats.org/officeDocument/2006/relationships/image" Target="../media/image64.wmf"/><Relationship Id="rId10" Type="http://schemas.openxmlformats.org/officeDocument/2006/relationships/oleObject" Target="../embeddings/oleObject64.bin"/><Relationship Id="rId4" Type="http://schemas.openxmlformats.org/officeDocument/2006/relationships/oleObject" Target="../embeddings/oleObject61.bin"/><Relationship Id="rId9" Type="http://schemas.openxmlformats.org/officeDocument/2006/relationships/image" Target="../media/image66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13" Type="http://schemas.openxmlformats.org/officeDocument/2006/relationships/oleObject" Target="../embeddings/oleObject70.bin"/><Relationship Id="rId18" Type="http://schemas.openxmlformats.org/officeDocument/2006/relationships/image" Target="../media/image75.wmf"/><Relationship Id="rId3" Type="http://schemas.openxmlformats.org/officeDocument/2006/relationships/oleObject" Target="../embeddings/oleObject65.bin"/><Relationship Id="rId21" Type="http://schemas.openxmlformats.org/officeDocument/2006/relationships/oleObject" Target="../embeddings/oleObject74.bin"/><Relationship Id="rId7" Type="http://schemas.openxmlformats.org/officeDocument/2006/relationships/oleObject" Target="../embeddings/oleObject67.bin"/><Relationship Id="rId12" Type="http://schemas.openxmlformats.org/officeDocument/2006/relationships/image" Target="../media/image72.wmf"/><Relationship Id="rId17" Type="http://schemas.openxmlformats.org/officeDocument/2006/relationships/oleObject" Target="../embeddings/oleObject7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4.wmf"/><Relationship Id="rId20" Type="http://schemas.openxmlformats.org/officeDocument/2006/relationships/image" Target="../media/image76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69.wmf"/><Relationship Id="rId11" Type="http://schemas.openxmlformats.org/officeDocument/2006/relationships/oleObject" Target="../embeddings/oleObject69.bin"/><Relationship Id="rId24" Type="http://schemas.openxmlformats.org/officeDocument/2006/relationships/image" Target="../media/image78.wmf"/><Relationship Id="rId5" Type="http://schemas.openxmlformats.org/officeDocument/2006/relationships/oleObject" Target="../embeddings/oleObject66.bin"/><Relationship Id="rId15" Type="http://schemas.openxmlformats.org/officeDocument/2006/relationships/oleObject" Target="../embeddings/oleObject71.bin"/><Relationship Id="rId23" Type="http://schemas.openxmlformats.org/officeDocument/2006/relationships/oleObject" Target="../embeddings/oleObject75.bin"/><Relationship Id="rId10" Type="http://schemas.openxmlformats.org/officeDocument/2006/relationships/image" Target="../media/image71.wmf"/><Relationship Id="rId19" Type="http://schemas.openxmlformats.org/officeDocument/2006/relationships/oleObject" Target="../embeddings/oleObject73.bin"/><Relationship Id="rId4" Type="http://schemas.openxmlformats.org/officeDocument/2006/relationships/image" Target="../media/image68.wmf"/><Relationship Id="rId9" Type="http://schemas.openxmlformats.org/officeDocument/2006/relationships/oleObject" Target="../embeddings/oleObject68.bin"/><Relationship Id="rId14" Type="http://schemas.openxmlformats.org/officeDocument/2006/relationships/image" Target="../media/image73.wmf"/><Relationship Id="rId22" Type="http://schemas.openxmlformats.org/officeDocument/2006/relationships/image" Target="../media/image77.wm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8.bin"/><Relationship Id="rId13" Type="http://schemas.openxmlformats.org/officeDocument/2006/relationships/image" Target="../media/image83.wmf"/><Relationship Id="rId18" Type="http://schemas.openxmlformats.org/officeDocument/2006/relationships/oleObject" Target="../embeddings/oleObject83.bin"/><Relationship Id="rId3" Type="http://schemas.openxmlformats.org/officeDocument/2006/relationships/notesSlide" Target="../notesSlides/notesSlide26.xml"/><Relationship Id="rId7" Type="http://schemas.openxmlformats.org/officeDocument/2006/relationships/image" Target="../media/image80.wmf"/><Relationship Id="rId12" Type="http://schemas.openxmlformats.org/officeDocument/2006/relationships/oleObject" Target="../embeddings/oleObject80.bin"/><Relationship Id="rId17" Type="http://schemas.openxmlformats.org/officeDocument/2006/relationships/image" Target="../media/image85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82.bin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77.bin"/><Relationship Id="rId11" Type="http://schemas.openxmlformats.org/officeDocument/2006/relationships/image" Target="../media/image82.wmf"/><Relationship Id="rId5" Type="http://schemas.openxmlformats.org/officeDocument/2006/relationships/image" Target="../media/image79.wmf"/><Relationship Id="rId15" Type="http://schemas.openxmlformats.org/officeDocument/2006/relationships/image" Target="../media/image84.wmf"/><Relationship Id="rId10" Type="http://schemas.openxmlformats.org/officeDocument/2006/relationships/oleObject" Target="../embeddings/oleObject79.bin"/><Relationship Id="rId19" Type="http://schemas.openxmlformats.org/officeDocument/2006/relationships/image" Target="../media/image86.wmf"/><Relationship Id="rId4" Type="http://schemas.openxmlformats.org/officeDocument/2006/relationships/oleObject" Target="../embeddings/oleObject76.bin"/><Relationship Id="rId9" Type="http://schemas.openxmlformats.org/officeDocument/2006/relationships/image" Target="../media/image81.wmf"/><Relationship Id="rId14" Type="http://schemas.openxmlformats.org/officeDocument/2006/relationships/oleObject" Target="../embeddings/oleObject81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6.bin"/><Relationship Id="rId13" Type="http://schemas.openxmlformats.org/officeDocument/2006/relationships/image" Target="../media/image91.wmf"/><Relationship Id="rId3" Type="http://schemas.openxmlformats.org/officeDocument/2006/relationships/notesSlide" Target="../notesSlides/notesSlide27.xml"/><Relationship Id="rId7" Type="http://schemas.openxmlformats.org/officeDocument/2006/relationships/image" Target="../media/image88.wmf"/><Relationship Id="rId12" Type="http://schemas.openxmlformats.org/officeDocument/2006/relationships/oleObject" Target="../embeddings/oleObject8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85.bin"/><Relationship Id="rId11" Type="http://schemas.openxmlformats.org/officeDocument/2006/relationships/image" Target="../media/image90.wmf"/><Relationship Id="rId5" Type="http://schemas.openxmlformats.org/officeDocument/2006/relationships/image" Target="../media/image87.wmf"/><Relationship Id="rId15" Type="http://schemas.openxmlformats.org/officeDocument/2006/relationships/image" Target="../media/image92.emf"/><Relationship Id="rId10" Type="http://schemas.openxmlformats.org/officeDocument/2006/relationships/oleObject" Target="../embeddings/oleObject87.bin"/><Relationship Id="rId4" Type="http://schemas.openxmlformats.org/officeDocument/2006/relationships/oleObject" Target="../embeddings/oleObject84.bin"/><Relationship Id="rId9" Type="http://schemas.openxmlformats.org/officeDocument/2006/relationships/image" Target="../media/image89.wmf"/><Relationship Id="rId14" Type="http://schemas.openxmlformats.org/officeDocument/2006/relationships/oleObject" Target="../embeddings/oleObject89.bin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2.bin"/><Relationship Id="rId13" Type="http://schemas.openxmlformats.org/officeDocument/2006/relationships/image" Target="../media/image97.wmf"/><Relationship Id="rId3" Type="http://schemas.openxmlformats.org/officeDocument/2006/relationships/notesSlide" Target="../notesSlides/notesSlide29.xml"/><Relationship Id="rId7" Type="http://schemas.openxmlformats.org/officeDocument/2006/relationships/image" Target="../media/image94.wmf"/><Relationship Id="rId12" Type="http://schemas.openxmlformats.org/officeDocument/2006/relationships/oleObject" Target="../embeddings/oleObject9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91.bin"/><Relationship Id="rId11" Type="http://schemas.openxmlformats.org/officeDocument/2006/relationships/image" Target="../media/image96.wmf"/><Relationship Id="rId5" Type="http://schemas.openxmlformats.org/officeDocument/2006/relationships/image" Target="../media/image93.wmf"/><Relationship Id="rId15" Type="http://schemas.openxmlformats.org/officeDocument/2006/relationships/image" Target="../media/image98.wmf"/><Relationship Id="rId10" Type="http://schemas.openxmlformats.org/officeDocument/2006/relationships/oleObject" Target="../embeddings/oleObject93.bin"/><Relationship Id="rId4" Type="http://schemas.openxmlformats.org/officeDocument/2006/relationships/oleObject" Target="../embeddings/oleObject90.bin"/><Relationship Id="rId9" Type="http://schemas.openxmlformats.org/officeDocument/2006/relationships/image" Target="../media/image95.wmf"/><Relationship Id="rId14" Type="http://schemas.openxmlformats.org/officeDocument/2006/relationships/oleObject" Target="../embeddings/oleObject95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8.bin"/><Relationship Id="rId3" Type="http://schemas.openxmlformats.org/officeDocument/2006/relationships/notesSlide" Target="../notesSlides/notesSlide30.xml"/><Relationship Id="rId7" Type="http://schemas.openxmlformats.org/officeDocument/2006/relationships/image" Target="../media/image10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97.bin"/><Relationship Id="rId11" Type="http://schemas.openxmlformats.org/officeDocument/2006/relationships/image" Target="../media/image102.wmf"/><Relationship Id="rId5" Type="http://schemas.openxmlformats.org/officeDocument/2006/relationships/image" Target="../media/image99.wmf"/><Relationship Id="rId10" Type="http://schemas.openxmlformats.org/officeDocument/2006/relationships/oleObject" Target="../embeddings/oleObject99.bin"/><Relationship Id="rId4" Type="http://schemas.openxmlformats.org/officeDocument/2006/relationships/oleObject" Target="../embeddings/oleObject96.bin"/><Relationship Id="rId9" Type="http://schemas.openxmlformats.org/officeDocument/2006/relationships/image" Target="../media/image101.w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2.bin"/><Relationship Id="rId13" Type="http://schemas.openxmlformats.org/officeDocument/2006/relationships/image" Target="../media/image107.wmf"/><Relationship Id="rId3" Type="http://schemas.openxmlformats.org/officeDocument/2006/relationships/notesSlide" Target="../notesSlides/notesSlide31.xml"/><Relationship Id="rId7" Type="http://schemas.openxmlformats.org/officeDocument/2006/relationships/image" Target="../media/image104.wmf"/><Relationship Id="rId12" Type="http://schemas.openxmlformats.org/officeDocument/2006/relationships/oleObject" Target="../embeddings/oleObject10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101.bin"/><Relationship Id="rId11" Type="http://schemas.openxmlformats.org/officeDocument/2006/relationships/image" Target="../media/image106.wmf"/><Relationship Id="rId5" Type="http://schemas.openxmlformats.org/officeDocument/2006/relationships/image" Target="../media/image103.wmf"/><Relationship Id="rId10" Type="http://schemas.openxmlformats.org/officeDocument/2006/relationships/oleObject" Target="../embeddings/oleObject103.bin"/><Relationship Id="rId4" Type="http://schemas.openxmlformats.org/officeDocument/2006/relationships/oleObject" Target="../embeddings/oleObject100.bin"/><Relationship Id="rId9" Type="http://schemas.openxmlformats.org/officeDocument/2006/relationships/image" Target="../media/image105.w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7" Type="http://schemas.openxmlformats.org/officeDocument/2006/relationships/image" Target="../media/image109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106.bin"/><Relationship Id="rId5" Type="http://schemas.openxmlformats.org/officeDocument/2006/relationships/image" Target="../media/image108.wmf"/><Relationship Id="rId4" Type="http://schemas.openxmlformats.org/officeDocument/2006/relationships/oleObject" Target="../embeddings/oleObject105.bin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5" Type="http://schemas.openxmlformats.org/officeDocument/2006/relationships/image" Target="../media/image110.wmf"/><Relationship Id="rId4" Type="http://schemas.openxmlformats.org/officeDocument/2006/relationships/oleObject" Target="../embeddings/oleObject107.bin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4" Type="http://schemas.openxmlformats.org/officeDocument/2006/relationships/image" Target="../media/image111.w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13.wmf"/><Relationship Id="rId5" Type="http://schemas.openxmlformats.org/officeDocument/2006/relationships/oleObject" Target="../embeddings/oleObject110.bin"/><Relationship Id="rId4" Type="http://schemas.openxmlformats.org/officeDocument/2006/relationships/image" Target="../media/image112.w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jpeg"/><Relationship Id="rId2" Type="http://schemas.openxmlformats.org/officeDocument/2006/relationships/image" Target="../media/image114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5" Type="http://schemas.openxmlformats.org/officeDocument/2006/relationships/image" Target="../media/image116.emf"/><Relationship Id="rId4" Type="http://schemas.openxmlformats.org/officeDocument/2006/relationships/oleObject" Target="../embeddings/oleObject111.bin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4.bin"/><Relationship Id="rId3" Type="http://schemas.openxmlformats.org/officeDocument/2006/relationships/notesSlide" Target="../notesSlides/notesSlide38.xml"/><Relationship Id="rId7" Type="http://schemas.openxmlformats.org/officeDocument/2006/relationships/image" Target="../media/image11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113.bin"/><Relationship Id="rId5" Type="http://schemas.openxmlformats.org/officeDocument/2006/relationships/image" Target="../media/image117.wmf"/><Relationship Id="rId4" Type="http://schemas.openxmlformats.org/officeDocument/2006/relationships/oleObject" Target="../embeddings/oleObject112.bin"/><Relationship Id="rId9" Type="http://schemas.openxmlformats.org/officeDocument/2006/relationships/image" Target="../media/image119.wmf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7.bin"/><Relationship Id="rId3" Type="http://schemas.openxmlformats.org/officeDocument/2006/relationships/notesSlide" Target="../notesSlides/notesSlide39.xml"/><Relationship Id="rId7" Type="http://schemas.openxmlformats.org/officeDocument/2006/relationships/image" Target="../media/image12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116.bin"/><Relationship Id="rId5" Type="http://schemas.openxmlformats.org/officeDocument/2006/relationships/image" Target="../media/image120.wmf"/><Relationship Id="rId4" Type="http://schemas.openxmlformats.org/officeDocument/2006/relationships/oleObject" Target="../embeddings/oleObject115.bin"/><Relationship Id="rId9" Type="http://schemas.openxmlformats.org/officeDocument/2006/relationships/image" Target="../media/image122.emf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0.bin"/><Relationship Id="rId3" Type="http://schemas.openxmlformats.org/officeDocument/2006/relationships/notesSlide" Target="../notesSlides/notesSlide40.xml"/><Relationship Id="rId7" Type="http://schemas.openxmlformats.org/officeDocument/2006/relationships/image" Target="../media/image124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119.bin"/><Relationship Id="rId5" Type="http://schemas.openxmlformats.org/officeDocument/2006/relationships/image" Target="../media/image123.wmf"/><Relationship Id="rId4" Type="http://schemas.openxmlformats.org/officeDocument/2006/relationships/oleObject" Target="../embeddings/oleObject118.bin"/><Relationship Id="rId9" Type="http://schemas.openxmlformats.org/officeDocument/2006/relationships/image" Target="../media/image125.wmf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3.bin"/><Relationship Id="rId3" Type="http://schemas.openxmlformats.org/officeDocument/2006/relationships/notesSlide" Target="../notesSlides/notesSlide41.xml"/><Relationship Id="rId7" Type="http://schemas.openxmlformats.org/officeDocument/2006/relationships/image" Target="../media/image12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2.vml"/><Relationship Id="rId6" Type="http://schemas.openxmlformats.org/officeDocument/2006/relationships/oleObject" Target="../embeddings/oleObject122.bin"/><Relationship Id="rId5" Type="http://schemas.openxmlformats.org/officeDocument/2006/relationships/image" Target="../media/image126.wmf"/><Relationship Id="rId4" Type="http://schemas.openxmlformats.org/officeDocument/2006/relationships/oleObject" Target="../embeddings/oleObject121.bin"/><Relationship Id="rId9" Type="http://schemas.openxmlformats.org/officeDocument/2006/relationships/image" Target="../media/image128.emf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6.bin"/><Relationship Id="rId3" Type="http://schemas.openxmlformats.org/officeDocument/2006/relationships/notesSlide" Target="../notesSlides/notesSlide42.xml"/><Relationship Id="rId7" Type="http://schemas.openxmlformats.org/officeDocument/2006/relationships/image" Target="../media/image13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3.vml"/><Relationship Id="rId6" Type="http://schemas.openxmlformats.org/officeDocument/2006/relationships/oleObject" Target="../embeddings/oleObject125.bin"/><Relationship Id="rId11" Type="http://schemas.openxmlformats.org/officeDocument/2006/relationships/image" Target="../media/image132.wmf"/><Relationship Id="rId5" Type="http://schemas.openxmlformats.org/officeDocument/2006/relationships/image" Target="../media/image129.wmf"/><Relationship Id="rId10" Type="http://schemas.openxmlformats.org/officeDocument/2006/relationships/oleObject" Target="../embeddings/oleObject127.bin"/><Relationship Id="rId4" Type="http://schemas.openxmlformats.org/officeDocument/2006/relationships/oleObject" Target="../embeddings/oleObject124.bin"/><Relationship Id="rId9" Type="http://schemas.openxmlformats.org/officeDocument/2006/relationships/image" Target="../media/image131.wmf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7" Type="http://schemas.openxmlformats.org/officeDocument/2006/relationships/image" Target="../media/image13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4.vml"/><Relationship Id="rId6" Type="http://schemas.openxmlformats.org/officeDocument/2006/relationships/oleObject" Target="../embeddings/oleObject129.bin"/><Relationship Id="rId5" Type="http://schemas.openxmlformats.org/officeDocument/2006/relationships/image" Target="../media/image133.wmf"/><Relationship Id="rId4" Type="http://schemas.openxmlformats.org/officeDocument/2006/relationships/oleObject" Target="../embeddings/oleObject128.bin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2.bin"/><Relationship Id="rId3" Type="http://schemas.openxmlformats.org/officeDocument/2006/relationships/notesSlide" Target="../notesSlides/notesSlide45.xml"/><Relationship Id="rId7" Type="http://schemas.openxmlformats.org/officeDocument/2006/relationships/image" Target="../media/image13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5.vml"/><Relationship Id="rId6" Type="http://schemas.openxmlformats.org/officeDocument/2006/relationships/oleObject" Target="../embeddings/oleObject131.bin"/><Relationship Id="rId5" Type="http://schemas.openxmlformats.org/officeDocument/2006/relationships/image" Target="../media/image135.wmf"/><Relationship Id="rId4" Type="http://schemas.openxmlformats.org/officeDocument/2006/relationships/oleObject" Target="../embeddings/oleObject130.bin"/><Relationship Id="rId9" Type="http://schemas.openxmlformats.org/officeDocument/2006/relationships/image" Target="../media/image137.emf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7" Type="http://schemas.openxmlformats.org/officeDocument/2006/relationships/image" Target="../media/image13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6.vml"/><Relationship Id="rId6" Type="http://schemas.openxmlformats.org/officeDocument/2006/relationships/oleObject" Target="../embeddings/oleObject134.bin"/><Relationship Id="rId5" Type="http://schemas.openxmlformats.org/officeDocument/2006/relationships/image" Target="../media/image138.wmf"/><Relationship Id="rId4" Type="http://schemas.openxmlformats.org/officeDocument/2006/relationships/oleObject" Target="../embeddings/oleObject133.bin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7.vml"/><Relationship Id="rId5" Type="http://schemas.openxmlformats.org/officeDocument/2006/relationships/image" Target="../media/image138.wmf"/><Relationship Id="rId4" Type="http://schemas.openxmlformats.org/officeDocument/2006/relationships/oleObject" Target="../embeddings/oleObject135.bin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8.bin"/><Relationship Id="rId13" Type="http://schemas.openxmlformats.org/officeDocument/2006/relationships/image" Target="../media/image144.wmf"/><Relationship Id="rId3" Type="http://schemas.openxmlformats.org/officeDocument/2006/relationships/notesSlide" Target="../notesSlides/notesSlide48.xml"/><Relationship Id="rId7" Type="http://schemas.openxmlformats.org/officeDocument/2006/relationships/image" Target="../media/image141.wmf"/><Relationship Id="rId12" Type="http://schemas.openxmlformats.org/officeDocument/2006/relationships/oleObject" Target="../embeddings/oleObject140.bin"/><Relationship Id="rId17" Type="http://schemas.openxmlformats.org/officeDocument/2006/relationships/image" Target="../media/image146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42.bin"/><Relationship Id="rId1" Type="http://schemas.openxmlformats.org/officeDocument/2006/relationships/vmlDrawing" Target="../drawings/vmlDrawing38.vml"/><Relationship Id="rId6" Type="http://schemas.openxmlformats.org/officeDocument/2006/relationships/oleObject" Target="../embeddings/oleObject137.bin"/><Relationship Id="rId11" Type="http://schemas.openxmlformats.org/officeDocument/2006/relationships/image" Target="../media/image143.wmf"/><Relationship Id="rId5" Type="http://schemas.openxmlformats.org/officeDocument/2006/relationships/image" Target="../media/image140.wmf"/><Relationship Id="rId15" Type="http://schemas.openxmlformats.org/officeDocument/2006/relationships/image" Target="../media/image145.wmf"/><Relationship Id="rId10" Type="http://schemas.openxmlformats.org/officeDocument/2006/relationships/oleObject" Target="../embeddings/oleObject139.bin"/><Relationship Id="rId4" Type="http://schemas.openxmlformats.org/officeDocument/2006/relationships/oleObject" Target="../embeddings/oleObject136.bin"/><Relationship Id="rId9" Type="http://schemas.openxmlformats.org/officeDocument/2006/relationships/image" Target="../media/image142.wmf"/><Relationship Id="rId14" Type="http://schemas.openxmlformats.org/officeDocument/2006/relationships/oleObject" Target="../embeddings/oleObject141.bin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148.wmf"/><Relationship Id="rId5" Type="http://schemas.openxmlformats.org/officeDocument/2006/relationships/oleObject" Target="../embeddings/oleObject144.bin"/><Relationship Id="rId4" Type="http://schemas.openxmlformats.org/officeDocument/2006/relationships/image" Target="../media/image147.wmf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audio" Target="../media/audio6.wav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audio" Target="../media/audio6.wav"/><Relationship Id="rId7" Type="http://schemas.openxmlformats.org/officeDocument/2006/relationships/image" Target="../media/image149.jpeg"/><Relationship Id="rId2" Type="http://schemas.openxmlformats.org/officeDocument/2006/relationships/audio" Target="../media/audio8.wav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11.wav"/><Relationship Id="rId5" Type="http://schemas.openxmlformats.org/officeDocument/2006/relationships/audio" Target="../media/audio10.wav"/><Relationship Id="rId4" Type="http://schemas.openxmlformats.org/officeDocument/2006/relationships/audio" Target="../media/audio9.wav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7" Type="http://schemas.openxmlformats.org/officeDocument/2006/relationships/image" Target="../media/image15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0.vml"/><Relationship Id="rId6" Type="http://schemas.openxmlformats.org/officeDocument/2006/relationships/oleObject" Target="../embeddings/oleObject146.bin"/><Relationship Id="rId5" Type="http://schemas.openxmlformats.org/officeDocument/2006/relationships/image" Target="../media/image138.wmf"/><Relationship Id="rId4" Type="http://schemas.openxmlformats.org/officeDocument/2006/relationships/oleObject" Target="../embeddings/oleObject145.bin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9.bin"/><Relationship Id="rId3" Type="http://schemas.openxmlformats.org/officeDocument/2006/relationships/notesSlide" Target="../notesSlides/notesSlide53.xml"/><Relationship Id="rId7" Type="http://schemas.openxmlformats.org/officeDocument/2006/relationships/image" Target="../media/image13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1.vml"/><Relationship Id="rId6" Type="http://schemas.openxmlformats.org/officeDocument/2006/relationships/oleObject" Target="../embeddings/oleObject148.bin"/><Relationship Id="rId11" Type="http://schemas.openxmlformats.org/officeDocument/2006/relationships/image" Target="../media/image152.wmf"/><Relationship Id="rId5" Type="http://schemas.openxmlformats.org/officeDocument/2006/relationships/image" Target="../media/image151.wmf"/><Relationship Id="rId10" Type="http://schemas.openxmlformats.org/officeDocument/2006/relationships/oleObject" Target="../embeddings/oleObject150.bin"/><Relationship Id="rId4" Type="http://schemas.openxmlformats.org/officeDocument/2006/relationships/oleObject" Target="../embeddings/oleObject147.bin"/><Relationship Id="rId9" Type="http://schemas.openxmlformats.org/officeDocument/2006/relationships/image" Target="../media/image150.wmf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3.bin"/><Relationship Id="rId3" Type="http://schemas.openxmlformats.org/officeDocument/2006/relationships/notesSlide" Target="../notesSlides/notesSlide55.xml"/><Relationship Id="rId7" Type="http://schemas.openxmlformats.org/officeDocument/2006/relationships/image" Target="../media/image15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2.vml"/><Relationship Id="rId6" Type="http://schemas.openxmlformats.org/officeDocument/2006/relationships/oleObject" Target="../embeddings/oleObject152.bin"/><Relationship Id="rId11" Type="http://schemas.openxmlformats.org/officeDocument/2006/relationships/image" Target="../media/image151.wmf"/><Relationship Id="rId5" Type="http://schemas.openxmlformats.org/officeDocument/2006/relationships/image" Target="../media/image153.wmf"/><Relationship Id="rId10" Type="http://schemas.openxmlformats.org/officeDocument/2006/relationships/oleObject" Target="../embeddings/oleObject154.bin"/><Relationship Id="rId4" Type="http://schemas.openxmlformats.org/officeDocument/2006/relationships/oleObject" Target="../embeddings/oleObject151.bin"/><Relationship Id="rId9" Type="http://schemas.openxmlformats.org/officeDocument/2006/relationships/image" Target="../media/image155.wmf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7.bin"/><Relationship Id="rId3" Type="http://schemas.openxmlformats.org/officeDocument/2006/relationships/notesSlide" Target="../notesSlides/notesSlide56.xml"/><Relationship Id="rId7" Type="http://schemas.openxmlformats.org/officeDocument/2006/relationships/image" Target="../media/image15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3.vml"/><Relationship Id="rId6" Type="http://schemas.openxmlformats.org/officeDocument/2006/relationships/oleObject" Target="../embeddings/oleObject156.bin"/><Relationship Id="rId11" Type="http://schemas.openxmlformats.org/officeDocument/2006/relationships/image" Target="../media/image159.wmf"/><Relationship Id="rId5" Type="http://schemas.openxmlformats.org/officeDocument/2006/relationships/image" Target="../media/image156.wmf"/><Relationship Id="rId10" Type="http://schemas.openxmlformats.org/officeDocument/2006/relationships/oleObject" Target="../embeddings/oleObject158.bin"/><Relationship Id="rId4" Type="http://schemas.openxmlformats.org/officeDocument/2006/relationships/oleObject" Target="../embeddings/oleObject155.bin"/><Relationship Id="rId9" Type="http://schemas.openxmlformats.org/officeDocument/2006/relationships/image" Target="../media/image158.wmf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wmf"/><Relationship Id="rId3" Type="http://schemas.openxmlformats.org/officeDocument/2006/relationships/oleObject" Target="../embeddings/oleObject159.bin"/><Relationship Id="rId7" Type="http://schemas.openxmlformats.org/officeDocument/2006/relationships/oleObject" Target="../embeddings/oleObject161.bin"/><Relationship Id="rId12" Type="http://schemas.openxmlformats.org/officeDocument/2006/relationships/image" Target="../media/image16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4.vml"/><Relationship Id="rId6" Type="http://schemas.openxmlformats.org/officeDocument/2006/relationships/image" Target="../media/image162.wmf"/><Relationship Id="rId11" Type="http://schemas.openxmlformats.org/officeDocument/2006/relationships/oleObject" Target="../embeddings/oleObject163.bin"/><Relationship Id="rId5" Type="http://schemas.openxmlformats.org/officeDocument/2006/relationships/oleObject" Target="../embeddings/oleObject160.bin"/><Relationship Id="rId10" Type="http://schemas.openxmlformats.org/officeDocument/2006/relationships/image" Target="../media/image164.wmf"/><Relationship Id="rId4" Type="http://schemas.openxmlformats.org/officeDocument/2006/relationships/image" Target="../media/image161.wmf"/><Relationship Id="rId9" Type="http://schemas.openxmlformats.org/officeDocument/2006/relationships/oleObject" Target="../embeddings/oleObject162.bin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wmf"/><Relationship Id="rId3" Type="http://schemas.openxmlformats.org/officeDocument/2006/relationships/notesSlide" Target="../notesSlides/notesSlide57.xml"/><Relationship Id="rId7" Type="http://schemas.openxmlformats.org/officeDocument/2006/relationships/oleObject" Target="../embeddings/oleObject16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5.vml"/><Relationship Id="rId6" Type="http://schemas.openxmlformats.org/officeDocument/2006/relationships/audio" Target="../media/audio12.wav"/><Relationship Id="rId5" Type="http://schemas.openxmlformats.org/officeDocument/2006/relationships/audio" Target="../media/audio8.wav"/><Relationship Id="rId10" Type="http://schemas.openxmlformats.org/officeDocument/2006/relationships/image" Target="../media/image167.wmf"/><Relationship Id="rId4" Type="http://schemas.openxmlformats.org/officeDocument/2006/relationships/audio" Target="../media/audio6.wav"/><Relationship Id="rId9" Type="http://schemas.openxmlformats.org/officeDocument/2006/relationships/oleObject" Target="../embeddings/oleObject165.bin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8.bin"/><Relationship Id="rId3" Type="http://schemas.openxmlformats.org/officeDocument/2006/relationships/notesSlide" Target="../notesSlides/notesSlide58.xml"/><Relationship Id="rId7" Type="http://schemas.openxmlformats.org/officeDocument/2006/relationships/image" Target="../media/image16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6.vml"/><Relationship Id="rId6" Type="http://schemas.openxmlformats.org/officeDocument/2006/relationships/oleObject" Target="../embeddings/oleObject167.bin"/><Relationship Id="rId11" Type="http://schemas.openxmlformats.org/officeDocument/2006/relationships/image" Target="../media/image170.wmf"/><Relationship Id="rId5" Type="http://schemas.openxmlformats.org/officeDocument/2006/relationships/image" Target="../media/image168.wmf"/><Relationship Id="rId10" Type="http://schemas.openxmlformats.org/officeDocument/2006/relationships/oleObject" Target="../embeddings/oleObject169.bin"/><Relationship Id="rId4" Type="http://schemas.openxmlformats.org/officeDocument/2006/relationships/oleObject" Target="../embeddings/oleObject166.bin"/><Relationship Id="rId9" Type="http://schemas.openxmlformats.org/officeDocument/2006/relationships/image" Target="../media/image138.wmf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2.bin"/><Relationship Id="rId3" Type="http://schemas.openxmlformats.org/officeDocument/2006/relationships/notesSlide" Target="../notesSlides/notesSlide59.xml"/><Relationship Id="rId7" Type="http://schemas.openxmlformats.org/officeDocument/2006/relationships/image" Target="../media/image17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7.vml"/><Relationship Id="rId6" Type="http://schemas.openxmlformats.org/officeDocument/2006/relationships/oleObject" Target="../embeddings/oleObject171.bin"/><Relationship Id="rId5" Type="http://schemas.openxmlformats.org/officeDocument/2006/relationships/image" Target="../media/image171.wmf"/><Relationship Id="rId4" Type="http://schemas.openxmlformats.org/officeDocument/2006/relationships/oleObject" Target="../embeddings/oleObject170.bin"/><Relationship Id="rId9" Type="http://schemas.openxmlformats.org/officeDocument/2006/relationships/image" Target="../media/image170.wmf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8.vml"/><Relationship Id="rId6" Type="http://schemas.openxmlformats.org/officeDocument/2006/relationships/image" Target="../media/image174.wmf"/><Relationship Id="rId5" Type="http://schemas.openxmlformats.org/officeDocument/2006/relationships/oleObject" Target="../embeddings/oleObject174.bin"/><Relationship Id="rId4" Type="http://schemas.openxmlformats.org/officeDocument/2006/relationships/image" Target="../media/image173.wmf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7.bin"/><Relationship Id="rId3" Type="http://schemas.openxmlformats.org/officeDocument/2006/relationships/notesSlide" Target="../notesSlides/notesSlide61.xml"/><Relationship Id="rId7" Type="http://schemas.openxmlformats.org/officeDocument/2006/relationships/image" Target="../media/image17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9.vml"/><Relationship Id="rId6" Type="http://schemas.openxmlformats.org/officeDocument/2006/relationships/oleObject" Target="../embeddings/oleObject176.bin"/><Relationship Id="rId5" Type="http://schemas.openxmlformats.org/officeDocument/2006/relationships/image" Target="../media/image175.wmf"/><Relationship Id="rId4" Type="http://schemas.openxmlformats.org/officeDocument/2006/relationships/oleObject" Target="../embeddings/oleObject175.bin"/><Relationship Id="rId9" Type="http://schemas.openxmlformats.org/officeDocument/2006/relationships/image" Target="../media/image177.wmf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8.bin"/><Relationship Id="rId3" Type="http://schemas.openxmlformats.org/officeDocument/2006/relationships/audio" Target="../media/audio6.wav"/><Relationship Id="rId7" Type="http://schemas.openxmlformats.org/officeDocument/2006/relationships/audio" Target="../media/audio13.wav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0.vml"/><Relationship Id="rId6" Type="http://schemas.openxmlformats.org/officeDocument/2006/relationships/audio" Target="../media/audio2.wav"/><Relationship Id="rId11" Type="http://schemas.openxmlformats.org/officeDocument/2006/relationships/image" Target="../media/image179.wmf"/><Relationship Id="rId5" Type="http://schemas.openxmlformats.org/officeDocument/2006/relationships/audio" Target="../media/audio12.wav"/><Relationship Id="rId10" Type="http://schemas.openxmlformats.org/officeDocument/2006/relationships/oleObject" Target="../embeddings/oleObject179.bin"/><Relationship Id="rId4" Type="http://schemas.openxmlformats.org/officeDocument/2006/relationships/audio" Target="../media/audio8.wav"/><Relationship Id="rId9" Type="http://schemas.openxmlformats.org/officeDocument/2006/relationships/image" Target="../media/image178.wmf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2.bin"/><Relationship Id="rId3" Type="http://schemas.openxmlformats.org/officeDocument/2006/relationships/notesSlide" Target="../notesSlides/notesSlide62.xml"/><Relationship Id="rId7" Type="http://schemas.openxmlformats.org/officeDocument/2006/relationships/image" Target="../media/image13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1.vml"/><Relationship Id="rId6" Type="http://schemas.openxmlformats.org/officeDocument/2006/relationships/oleObject" Target="../embeddings/oleObject181.bin"/><Relationship Id="rId11" Type="http://schemas.openxmlformats.org/officeDocument/2006/relationships/image" Target="../media/image182.wmf"/><Relationship Id="rId5" Type="http://schemas.openxmlformats.org/officeDocument/2006/relationships/image" Target="../media/image180.wmf"/><Relationship Id="rId10" Type="http://schemas.openxmlformats.org/officeDocument/2006/relationships/oleObject" Target="../embeddings/oleObject183.bin"/><Relationship Id="rId4" Type="http://schemas.openxmlformats.org/officeDocument/2006/relationships/oleObject" Target="../embeddings/oleObject180.bin"/><Relationship Id="rId9" Type="http://schemas.openxmlformats.org/officeDocument/2006/relationships/image" Target="../media/image181.wmf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wmf"/><Relationship Id="rId3" Type="http://schemas.openxmlformats.org/officeDocument/2006/relationships/oleObject" Target="../embeddings/oleObject184.bin"/><Relationship Id="rId7" Type="http://schemas.openxmlformats.org/officeDocument/2006/relationships/oleObject" Target="../embeddings/oleObject186.bin"/><Relationship Id="rId12" Type="http://schemas.openxmlformats.org/officeDocument/2006/relationships/image" Target="../media/image18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2.vml"/><Relationship Id="rId6" Type="http://schemas.openxmlformats.org/officeDocument/2006/relationships/image" Target="../media/image184.wmf"/><Relationship Id="rId11" Type="http://schemas.openxmlformats.org/officeDocument/2006/relationships/oleObject" Target="../embeddings/oleObject188.bin"/><Relationship Id="rId5" Type="http://schemas.openxmlformats.org/officeDocument/2006/relationships/oleObject" Target="../embeddings/oleObject185.bin"/><Relationship Id="rId10" Type="http://schemas.openxmlformats.org/officeDocument/2006/relationships/image" Target="../media/image186.wmf"/><Relationship Id="rId4" Type="http://schemas.openxmlformats.org/officeDocument/2006/relationships/image" Target="../media/image183.wmf"/><Relationship Id="rId9" Type="http://schemas.openxmlformats.org/officeDocument/2006/relationships/oleObject" Target="../embeddings/oleObject187.bin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3.vml"/><Relationship Id="rId6" Type="http://schemas.openxmlformats.org/officeDocument/2006/relationships/image" Target="../media/image189.wmf"/><Relationship Id="rId5" Type="http://schemas.openxmlformats.org/officeDocument/2006/relationships/oleObject" Target="../embeddings/oleObject190.bin"/><Relationship Id="rId4" Type="http://schemas.openxmlformats.org/officeDocument/2006/relationships/image" Target="../media/image188.wmf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4.vml"/><Relationship Id="rId5" Type="http://schemas.openxmlformats.org/officeDocument/2006/relationships/image" Target="../media/image190.wmf"/><Relationship Id="rId4" Type="http://schemas.openxmlformats.org/officeDocument/2006/relationships/oleObject" Target="../embeddings/oleObject191.bin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7.xml"/><Relationship Id="rId7" Type="http://schemas.openxmlformats.org/officeDocument/2006/relationships/image" Target="../media/image19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5.vml"/><Relationship Id="rId6" Type="http://schemas.openxmlformats.org/officeDocument/2006/relationships/oleObject" Target="../embeddings/oleObject193.bin"/><Relationship Id="rId5" Type="http://schemas.openxmlformats.org/officeDocument/2006/relationships/image" Target="../media/image191.wmf"/><Relationship Id="rId4" Type="http://schemas.openxmlformats.org/officeDocument/2006/relationships/oleObject" Target="../embeddings/oleObject192.bin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6.vml"/><Relationship Id="rId6" Type="http://schemas.openxmlformats.org/officeDocument/2006/relationships/image" Target="../media/image194.wmf"/><Relationship Id="rId5" Type="http://schemas.openxmlformats.org/officeDocument/2006/relationships/oleObject" Target="../embeddings/oleObject195.bin"/><Relationship Id="rId4" Type="http://schemas.openxmlformats.org/officeDocument/2006/relationships/image" Target="../media/image193.wmf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wmf"/><Relationship Id="rId3" Type="http://schemas.openxmlformats.org/officeDocument/2006/relationships/oleObject" Target="../embeddings/oleObject196.bin"/><Relationship Id="rId7" Type="http://schemas.openxmlformats.org/officeDocument/2006/relationships/oleObject" Target="../embeddings/oleObject19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7.vml"/><Relationship Id="rId6" Type="http://schemas.openxmlformats.org/officeDocument/2006/relationships/image" Target="../media/image196.wmf"/><Relationship Id="rId5" Type="http://schemas.openxmlformats.org/officeDocument/2006/relationships/oleObject" Target="../embeddings/oleObject197.bin"/><Relationship Id="rId4" Type="http://schemas.openxmlformats.org/officeDocument/2006/relationships/image" Target="../media/image195.wmf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8.vml"/><Relationship Id="rId4" Type="http://schemas.openxmlformats.org/officeDocument/2006/relationships/image" Target="../media/image197.wmf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wmf"/><Relationship Id="rId3" Type="http://schemas.openxmlformats.org/officeDocument/2006/relationships/notesSlide" Target="../notesSlides/notesSlide68.xml"/><Relationship Id="rId7" Type="http://schemas.openxmlformats.org/officeDocument/2006/relationships/oleObject" Target="../embeddings/oleObject201.bin"/><Relationship Id="rId12" Type="http://schemas.openxmlformats.org/officeDocument/2006/relationships/image" Target="../media/image20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9.vml"/><Relationship Id="rId6" Type="http://schemas.openxmlformats.org/officeDocument/2006/relationships/image" Target="../media/image198.wmf"/><Relationship Id="rId11" Type="http://schemas.openxmlformats.org/officeDocument/2006/relationships/oleObject" Target="../embeddings/oleObject203.bin"/><Relationship Id="rId5" Type="http://schemas.openxmlformats.org/officeDocument/2006/relationships/oleObject" Target="../embeddings/oleObject200.bin"/><Relationship Id="rId10" Type="http://schemas.openxmlformats.org/officeDocument/2006/relationships/image" Target="../media/image200.wmf"/><Relationship Id="rId4" Type="http://schemas.openxmlformats.org/officeDocument/2006/relationships/image" Target="../media/image202.wmf"/><Relationship Id="rId9" Type="http://schemas.openxmlformats.org/officeDocument/2006/relationships/oleObject" Target="../embeddings/oleObject202.bin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5.wmf"/><Relationship Id="rId3" Type="http://schemas.openxmlformats.org/officeDocument/2006/relationships/oleObject" Target="../embeddings/oleObject204.bin"/><Relationship Id="rId7" Type="http://schemas.openxmlformats.org/officeDocument/2006/relationships/oleObject" Target="../embeddings/oleObject206.bin"/><Relationship Id="rId12" Type="http://schemas.openxmlformats.org/officeDocument/2006/relationships/image" Target="../media/image20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0.vml"/><Relationship Id="rId6" Type="http://schemas.openxmlformats.org/officeDocument/2006/relationships/image" Target="../media/image204.emf"/><Relationship Id="rId11" Type="http://schemas.openxmlformats.org/officeDocument/2006/relationships/oleObject" Target="../embeddings/oleObject208.bin"/><Relationship Id="rId5" Type="http://schemas.openxmlformats.org/officeDocument/2006/relationships/oleObject" Target="../embeddings/oleObject205.bin"/><Relationship Id="rId10" Type="http://schemas.openxmlformats.org/officeDocument/2006/relationships/image" Target="../media/image206.wmf"/><Relationship Id="rId4" Type="http://schemas.openxmlformats.org/officeDocument/2006/relationships/image" Target="../media/image203.wmf"/><Relationship Id="rId9" Type="http://schemas.openxmlformats.org/officeDocument/2006/relationships/oleObject" Target="../embeddings/oleObject207.bin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wmf"/><Relationship Id="rId13" Type="http://schemas.openxmlformats.org/officeDocument/2006/relationships/oleObject" Target="../embeddings/oleObject214.bin"/><Relationship Id="rId18" Type="http://schemas.openxmlformats.org/officeDocument/2006/relationships/image" Target="../media/image215.wmf"/><Relationship Id="rId3" Type="http://schemas.openxmlformats.org/officeDocument/2006/relationships/oleObject" Target="../embeddings/oleObject209.bin"/><Relationship Id="rId7" Type="http://schemas.openxmlformats.org/officeDocument/2006/relationships/oleObject" Target="../embeddings/oleObject211.bin"/><Relationship Id="rId12" Type="http://schemas.openxmlformats.org/officeDocument/2006/relationships/image" Target="../media/image212.wmf"/><Relationship Id="rId17" Type="http://schemas.openxmlformats.org/officeDocument/2006/relationships/oleObject" Target="../embeddings/oleObject216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14.wmf"/><Relationship Id="rId20" Type="http://schemas.openxmlformats.org/officeDocument/2006/relationships/image" Target="../media/image216.wmf"/><Relationship Id="rId1" Type="http://schemas.openxmlformats.org/officeDocument/2006/relationships/vmlDrawing" Target="../drawings/vmlDrawing61.vml"/><Relationship Id="rId6" Type="http://schemas.openxmlformats.org/officeDocument/2006/relationships/image" Target="../media/image209.wmf"/><Relationship Id="rId11" Type="http://schemas.openxmlformats.org/officeDocument/2006/relationships/oleObject" Target="../embeddings/oleObject213.bin"/><Relationship Id="rId5" Type="http://schemas.openxmlformats.org/officeDocument/2006/relationships/oleObject" Target="../embeddings/oleObject210.bin"/><Relationship Id="rId15" Type="http://schemas.openxmlformats.org/officeDocument/2006/relationships/oleObject" Target="../embeddings/oleObject215.bin"/><Relationship Id="rId10" Type="http://schemas.openxmlformats.org/officeDocument/2006/relationships/image" Target="../media/image211.wmf"/><Relationship Id="rId19" Type="http://schemas.openxmlformats.org/officeDocument/2006/relationships/oleObject" Target="../embeddings/oleObject217.bin"/><Relationship Id="rId4" Type="http://schemas.openxmlformats.org/officeDocument/2006/relationships/image" Target="../media/image208.wmf"/><Relationship Id="rId9" Type="http://schemas.openxmlformats.org/officeDocument/2006/relationships/oleObject" Target="../embeddings/oleObject212.bin"/><Relationship Id="rId14" Type="http://schemas.openxmlformats.org/officeDocument/2006/relationships/image" Target="../media/image213.wmf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2.vml"/><Relationship Id="rId4" Type="http://schemas.openxmlformats.org/officeDocument/2006/relationships/image" Target="../media/image217.wmf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6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1.bin"/><Relationship Id="rId3" Type="http://schemas.openxmlformats.org/officeDocument/2006/relationships/notesSlide" Target="../notesSlides/notesSlide71.xml"/><Relationship Id="rId7" Type="http://schemas.openxmlformats.org/officeDocument/2006/relationships/image" Target="../media/image21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3.vml"/><Relationship Id="rId6" Type="http://schemas.openxmlformats.org/officeDocument/2006/relationships/oleObject" Target="../embeddings/oleObject220.bin"/><Relationship Id="rId11" Type="http://schemas.openxmlformats.org/officeDocument/2006/relationships/image" Target="../media/image221.wmf"/><Relationship Id="rId5" Type="http://schemas.openxmlformats.org/officeDocument/2006/relationships/image" Target="../media/image218.wmf"/><Relationship Id="rId10" Type="http://schemas.openxmlformats.org/officeDocument/2006/relationships/oleObject" Target="../embeddings/oleObject222.bin"/><Relationship Id="rId4" Type="http://schemas.openxmlformats.org/officeDocument/2006/relationships/oleObject" Target="../embeddings/oleObject219.bin"/><Relationship Id="rId9" Type="http://schemas.openxmlformats.org/officeDocument/2006/relationships/image" Target="../media/image220.wmf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3.wmf"/><Relationship Id="rId13" Type="http://schemas.openxmlformats.org/officeDocument/2006/relationships/oleObject" Target="../embeddings/oleObject228.bin"/><Relationship Id="rId18" Type="http://schemas.openxmlformats.org/officeDocument/2006/relationships/image" Target="../media/image228.wmf"/><Relationship Id="rId3" Type="http://schemas.openxmlformats.org/officeDocument/2006/relationships/oleObject" Target="../embeddings/oleObject223.bin"/><Relationship Id="rId21" Type="http://schemas.openxmlformats.org/officeDocument/2006/relationships/oleObject" Target="../embeddings/oleObject232.bin"/><Relationship Id="rId7" Type="http://schemas.openxmlformats.org/officeDocument/2006/relationships/oleObject" Target="../embeddings/oleObject225.bin"/><Relationship Id="rId12" Type="http://schemas.openxmlformats.org/officeDocument/2006/relationships/image" Target="../media/image225.wmf"/><Relationship Id="rId17" Type="http://schemas.openxmlformats.org/officeDocument/2006/relationships/oleObject" Target="../embeddings/oleObject23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27.wmf"/><Relationship Id="rId20" Type="http://schemas.openxmlformats.org/officeDocument/2006/relationships/image" Target="../media/image229.wmf"/><Relationship Id="rId1" Type="http://schemas.openxmlformats.org/officeDocument/2006/relationships/vmlDrawing" Target="../drawings/vmlDrawing64.vml"/><Relationship Id="rId6" Type="http://schemas.openxmlformats.org/officeDocument/2006/relationships/image" Target="../media/image222.emf"/><Relationship Id="rId11" Type="http://schemas.openxmlformats.org/officeDocument/2006/relationships/oleObject" Target="../embeddings/oleObject227.bin"/><Relationship Id="rId5" Type="http://schemas.openxmlformats.org/officeDocument/2006/relationships/oleObject" Target="../embeddings/oleObject224.bin"/><Relationship Id="rId15" Type="http://schemas.openxmlformats.org/officeDocument/2006/relationships/oleObject" Target="../embeddings/oleObject229.bin"/><Relationship Id="rId10" Type="http://schemas.openxmlformats.org/officeDocument/2006/relationships/image" Target="../media/image224.wmf"/><Relationship Id="rId19" Type="http://schemas.openxmlformats.org/officeDocument/2006/relationships/oleObject" Target="../embeddings/oleObject231.bin"/><Relationship Id="rId4" Type="http://schemas.openxmlformats.org/officeDocument/2006/relationships/image" Target="../media/image198.wmf"/><Relationship Id="rId9" Type="http://schemas.openxmlformats.org/officeDocument/2006/relationships/oleObject" Target="../embeddings/oleObject226.bin"/><Relationship Id="rId14" Type="http://schemas.openxmlformats.org/officeDocument/2006/relationships/image" Target="../media/image226.wmf"/><Relationship Id="rId22" Type="http://schemas.openxmlformats.org/officeDocument/2006/relationships/image" Target="../media/image230.wmf"/></Relationships>
</file>

<file path=ppt/slides/_rels/slide1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3.wmf"/><Relationship Id="rId3" Type="http://schemas.openxmlformats.org/officeDocument/2006/relationships/oleObject" Target="../embeddings/oleObject233.bin"/><Relationship Id="rId7" Type="http://schemas.openxmlformats.org/officeDocument/2006/relationships/oleObject" Target="../embeddings/oleObject23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5.vml"/><Relationship Id="rId6" Type="http://schemas.openxmlformats.org/officeDocument/2006/relationships/image" Target="../media/image232.wmf"/><Relationship Id="rId5" Type="http://schemas.openxmlformats.org/officeDocument/2006/relationships/oleObject" Target="../embeddings/oleObject234.bin"/><Relationship Id="rId4" Type="http://schemas.openxmlformats.org/officeDocument/2006/relationships/image" Target="../media/image231.wmf"/></Relationships>
</file>

<file path=ppt/slides/_rels/slide1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6.wmf"/><Relationship Id="rId3" Type="http://schemas.openxmlformats.org/officeDocument/2006/relationships/oleObject" Target="../embeddings/oleObject236.bin"/><Relationship Id="rId7" Type="http://schemas.openxmlformats.org/officeDocument/2006/relationships/oleObject" Target="../embeddings/oleObject23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6.vml"/><Relationship Id="rId6" Type="http://schemas.openxmlformats.org/officeDocument/2006/relationships/image" Target="../media/image235.wmf"/><Relationship Id="rId5" Type="http://schemas.openxmlformats.org/officeDocument/2006/relationships/oleObject" Target="../embeddings/oleObject237.bin"/><Relationship Id="rId4" Type="http://schemas.openxmlformats.org/officeDocument/2006/relationships/image" Target="../media/image234.wmf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7.jpe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8.jpe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4.xml"/><Relationship Id="rId7" Type="http://schemas.openxmlformats.org/officeDocument/2006/relationships/image" Target="../media/image24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7.vml"/><Relationship Id="rId6" Type="http://schemas.openxmlformats.org/officeDocument/2006/relationships/image" Target="../media/image240.gif"/><Relationship Id="rId5" Type="http://schemas.openxmlformats.org/officeDocument/2006/relationships/image" Target="../media/image239.wmf"/><Relationship Id="rId4" Type="http://schemas.openxmlformats.org/officeDocument/2006/relationships/oleObject" Target="../embeddings/oleObject239.bin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3.emf"/><Relationship Id="rId7" Type="http://schemas.openxmlformats.org/officeDocument/2006/relationships/image" Target="../media/image24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8.vml"/><Relationship Id="rId6" Type="http://schemas.openxmlformats.org/officeDocument/2006/relationships/oleObject" Target="../embeddings/oleObject241.bin"/><Relationship Id="rId5" Type="http://schemas.openxmlformats.org/officeDocument/2006/relationships/image" Target="../media/image239.wmf"/><Relationship Id="rId4" Type="http://schemas.openxmlformats.org/officeDocument/2006/relationships/oleObject" Target="../embeddings/oleObject240.bin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9.vml"/><Relationship Id="rId6" Type="http://schemas.openxmlformats.org/officeDocument/2006/relationships/image" Target="../media/image245.wmf"/><Relationship Id="rId5" Type="http://schemas.openxmlformats.org/officeDocument/2006/relationships/oleObject" Target="../embeddings/oleObject243.bin"/><Relationship Id="rId4" Type="http://schemas.openxmlformats.org/officeDocument/2006/relationships/image" Target="../media/image244.wmf"/></Relationships>
</file>

<file path=ppt/slides/_rels/slide1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8.wmf"/><Relationship Id="rId3" Type="http://schemas.openxmlformats.org/officeDocument/2006/relationships/oleObject" Target="../embeddings/oleObject244.bin"/><Relationship Id="rId7" Type="http://schemas.openxmlformats.org/officeDocument/2006/relationships/oleObject" Target="../embeddings/oleObject24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0.vml"/><Relationship Id="rId6" Type="http://schemas.openxmlformats.org/officeDocument/2006/relationships/image" Target="../media/image247.wmf"/><Relationship Id="rId5" Type="http://schemas.openxmlformats.org/officeDocument/2006/relationships/oleObject" Target="../embeddings/oleObject245.bin"/><Relationship Id="rId4" Type="http://schemas.openxmlformats.org/officeDocument/2006/relationships/image" Target="../media/image246.wmf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1.vml"/><Relationship Id="rId4" Type="http://schemas.openxmlformats.org/officeDocument/2006/relationships/image" Target="../media/image249.wmf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2.vml"/><Relationship Id="rId5" Type="http://schemas.openxmlformats.org/officeDocument/2006/relationships/image" Target="../media/image59.wmf"/><Relationship Id="rId4" Type="http://schemas.openxmlformats.org/officeDocument/2006/relationships/oleObject" Target="../embeddings/oleObject248.bin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95" name="Rectangle 23"/>
          <p:cNvSpPr>
            <a:spLocks noGrp="1" noChangeArrowheads="1"/>
          </p:cNvSpPr>
          <p:nvPr>
            <p:ph type="ctrTitle"/>
          </p:nvPr>
        </p:nvSpPr>
        <p:spPr>
          <a:xfrm>
            <a:off x="1066800" y="1447800"/>
            <a:ext cx="7023100" cy="2123658"/>
          </a:xfrm>
        </p:spPr>
        <p:txBody>
          <a:bodyPr/>
          <a:lstStyle/>
          <a:p>
            <a:pPr>
              <a:lnSpc>
                <a:spcPct val="115000"/>
              </a:lnSpc>
              <a:defRPr/>
            </a:pPr>
            <a:r>
              <a:rPr lang="zh-CN" altLang="en-US" sz="6000" dirty="0"/>
              <a:t>第二章 </a:t>
            </a:r>
            <a:br>
              <a:rPr lang="zh-CN" altLang="en-US" sz="6000" dirty="0"/>
            </a:br>
            <a:r>
              <a:rPr lang="zh-CN" altLang="en-US" sz="6000" dirty="0"/>
              <a:t>方程(组)的迭代解法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0E8E6DA4-ECAC-411C-9E68-B2A4BC016743}" type="slidenum">
              <a:rPr lang="zh-CN" altLang="en-US"/>
              <a:pPr/>
              <a:t>2</a:t>
            </a:fld>
            <a:endParaRPr lang="en-US" altLang="zh-CN"/>
          </a:p>
        </p:txBody>
      </p:sp>
      <p:sp>
        <p:nvSpPr>
          <p:cNvPr id="64515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8296739A-BFC8-445D-911E-F7D83D4D4FE5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503810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296865"/>
            <a:ext cx="8142288" cy="617537"/>
          </a:xfrm>
        </p:spPr>
        <p:txBody>
          <a:bodyPr/>
          <a:lstStyle/>
          <a:p>
            <a:pPr>
              <a:defRPr/>
            </a:pPr>
            <a:r>
              <a:rPr lang="zh-CN" altLang="en-US" sz="4500"/>
              <a:t>1  引言</a:t>
            </a:r>
          </a:p>
        </p:txBody>
      </p:sp>
      <p:sp>
        <p:nvSpPr>
          <p:cNvPr id="645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157288"/>
            <a:ext cx="8624888" cy="5299912"/>
          </a:xfrm>
        </p:spPr>
        <p:txBody>
          <a:bodyPr/>
          <a:lstStyle/>
          <a:p>
            <a:r>
              <a:rPr lang="zh-CN" altLang="en-US" sz="2400" dirty="0"/>
              <a:t>1535年意大利数学家坦特格里亚发现了三次方程的解法,卡当 得到了这种解法，于1545年在其名著《大法》中公布了三次方程的公式解，称为卡当算法</a:t>
            </a:r>
          </a:p>
          <a:p>
            <a:r>
              <a:rPr lang="zh-CN" altLang="en-US" sz="2400" dirty="0"/>
              <a:t>卡当的学生弗瑞里(</a:t>
            </a:r>
            <a:r>
              <a:rPr lang="en-US" altLang="zh-CN" sz="2400" dirty="0"/>
              <a:t>Ferrari</a:t>
            </a:r>
            <a:r>
              <a:rPr lang="zh-CN" altLang="en-US" sz="2400" dirty="0"/>
              <a:t>)又提出了四次方程的解法</a:t>
            </a:r>
          </a:p>
          <a:p>
            <a:r>
              <a:rPr lang="zh-CN" altLang="en-US" sz="2400" dirty="0"/>
              <a:t>1799年高斯证明代数方程必有一个实根或复根(代数基本定理</a:t>
            </a:r>
            <a:r>
              <a:rPr lang="en-US" altLang="zh-CN" sz="2400" dirty="0"/>
              <a:t>)</a:t>
            </a:r>
          </a:p>
          <a:p>
            <a:r>
              <a:rPr lang="en-US" altLang="zh-CN" sz="2400" dirty="0"/>
              <a:t>1824</a:t>
            </a:r>
            <a:r>
              <a:rPr lang="zh-CN" altLang="en-US" sz="2400" dirty="0"/>
              <a:t>年阿贝尔发表了“五次方程代数解法不可能存在”的论文</a:t>
            </a:r>
            <a:r>
              <a:rPr lang="en-US" altLang="zh-CN" sz="2400" dirty="0"/>
              <a:t>,</a:t>
            </a:r>
            <a:r>
              <a:rPr lang="zh-CN" altLang="en-US" sz="2400" dirty="0"/>
              <a:t>但并未受到重视</a:t>
            </a:r>
          </a:p>
          <a:p>
            <a:r>
              <a:rPr lang="zh-CN" altLang="en-US" sz="2400" dirty="0"/>
              <a:t>1828年17岁的法国数学家伽罗华写出了划时代的论文“关于五次方程的代数解法问题”，指出即使在公式中容许用</a:t>
            </a:r>
            <a:r>
              <a:rPr lang="en-US" altLang="zh-CN" sz="2400" i="1" dirty="0"/>
              <a:t>n</a:t>
            </a:r>
            <a:r>
              <a:rPr lang="zh-CN" altLang="en-US" sz="2400" dirty="0"/>
              <a:t>次方根</a:t>
            </a:r>
            <a:r>
              <a:rPr lang="en-US" altLang="zh-CN" sz="2400" dirty="0"/>
              <a:t>,</a:t>
            </a:r>
            <a:r>
              <a:rPr lang="zh-CN" altLang="en-US" sz="2400" dirty="0"/>
              <a:t>并用类似算法求五次或更高次代数方程的根是不可能的。决斗前，他把关于五次代数求解的研究成果写成长信，留了下来.十四年后，法国数学家刘维尔整理并发表了伽罗华的遗作</a:t>
            </a:r>
          </a:p>
          <a:p>
            <a:r>
              <a:rPr lang="zh-CN" altLang="en-US" sz="2400" dirty="0"/>
              <a:t>38年后，法国数学家若当在专著《论置换与代数方程》中阐发了伽罗华的思想，一门现代数学的分支——群论诞生了。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45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70" name="Picture 3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469" y="2492896"/>
            <a:ext cx="4435917" cy="4104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5538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94C972E4-A718-4F91-B9B4-1773E0AD3B08}" type="slidenum">
              <a:rPr lang="zh-CN" altLang="en-US"/>
              <a:pPr/>
              <a:t>3</a:t>
            </a:fld>
            <a:endParaRPr lang="en-US" altLang="zh-CN"/>
          </a:p>
        </p:txBody>
      </p:sp>
      <p:sp>
        <p:nvSpPr>
          <p:cNvPr id="65539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76114AEF-1108-4DF1-92CA-1006E838C6AB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502786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296865"/>
            <a:ext cx="8142288" cy="617537"/>
          </a:xfrm>
        </p:spPr>
        <p:txBody>
          <a:bodyPr/>
          <a:lstStyle/>
          <a:p>
            <a:pPr>
              <a:defRPr/>
            </a:pPr>
            <a:r>
              <a:rPr lang="zh-CN" altLang="en-US" sz="4500"/>
              <a:t>1  引言</a:t>
            </a:r>
          </a:p>
        </p:txBody>
      </p:sp>
      <p:sp>
        <p:nvSpPr>
          <p:cNvPr id="655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268760"/>
            <a:ext cx="8142288" cy="2732088"/>
          </a:xfrm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zh-CN" altLang="en-US" dirty="0" smtClean="0"/>
              <a:t>本章重点</a:t>
            </a:r>
          </a:p>
          <a:p>
            <a:pPr lvl="1" algn="just">
              <a:lnSpc>
                <a:spcPct val="100000"/>
              </a:lnSpc>
            </a:pPr>
            <a:r>
              <a:rPr lang="zh-CN" altLang="en-US" dirty="0" smtClean="0"/>
              <a:t>介绍求方程实根的迭代解法</a:t>
            </a:r>
          </a:p>
          <a:p>
            <a:pPr lvl="2" algn="just">
              <a:lnSpc>
                <a:spcPct val="100000"/>
              </a:lnSpc>
            </a:pPr>
            <a:r>
              <a:rPr lang="zh-CN" altLang="en-US" sz="2800" dirty="0"/>
              <a:t>适用于求解代数方程和超越方程</a:t>
            </a:r>
          </a:p>
          <a:p>
            <a:pPr lvl="2" algn="just">
              <a:lnSpc>
                <a:spcPct val="100000"/>
              </a:lnSpc>
            </a:pPr>
            <a:r>
              <a:rPr lang="zh-CN" altLang="en-US" sz="2800" dirty="0"/>
              <a:t>仅限于求方程的实根</a:t>
            </a:r>
          </a:p>
          <a:p>
            <a:pPr lvl="1">
              <a:lnSpc>
                <a:spcPct val="100000"/>
              </a:lnSpc>
            </a:pPr>
            <a:r>
              <a:rPr lang="zh-CN" altLang="en-US" dirty="0" smtClean="0"/>
              <a:t>该方法基本思想：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灯片编号占位符 2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FF670D63-CCAF-47DC-87FE-434E470A355A}" type="slidenum">
              <a:rPr lang="zh-CN" altLang="en-US"/>
              <a:pPr/>
              <a:t>4</a:t>
            </a:fld>
            <a:endParaRPr lang="en-US" altLang="zh-CN"/>
          </a:p>
        </p:txBody>
      </p:sp>
      <p:sp>
        <p:nvSpPr>
          <p:cNvPr id="66563" name="日期占位符 3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A245472A-C0D0-4126-BB80-3CA789C7E094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grpSp>
        <p:nvGrpSpPr>
          <p:cNvPr id="66564" name="Group 25"/>
          <p:cNvGrpSpPr>
            <a:grpSpLocks/>
          </p:cNvGrpSpPr>
          <p:nvPr/>
        </p:nvGrpSpPr>
        <p:grpSpPr bwMode="auto">
          <a:xfrm>
            <a:off x="555625" y="2036763"/>
            <a:ext cx="7945438" cy="2608262"/>
            <a:chOff x="350" y="1283"/>
            <a:chExt cx="5005" cy="1643"/>
          </a:xfrm>
        </p:grpSpPr>
        <p:sp>
          <p:nvSpPr>
            <p:cNvPr id="66566" name="Rectangle 14"/>
            <p:cNvSpPr>
              <a:spLocks noChangeArrowheads="1"/>
            </p:cNvSpPr>
            <p:nvPr/>
          </p:nvSpPr>
          <p:spPr bwMode="auto">
            <a:xfrm>
              <a:off x="483" y="1981"/>
              <a:ext cx="4780" cy="252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6567" name="Rectangle 15"/>
            <p:cNvSpPr>
              <a:spLocks noChangeArrowheads="1"/>
            </p:cNvSpPr>
            <p:nvPr/>
          </p:nvSpPr>
          <p:spPr bwMode="auto">
            <a:xfrm>
              <a:off x="362" y="1283"/>
              <a:ext cx="125" cy="1642"/>
            </a:xfrm>
            <a:prstGeom prst="rect">
              <a:avLst/>
            </a:prstGeom>
            <a:gradFill rotWithShape="0">
              <a:gsLst>
                <a:gs pos="0">
                  <a:srgbClr val="E2E2E2"/>
                </a:gs>
                <a:gs pos="100000">
                  <a:srgbClr val="83838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68" name="Rectangle 22"/>
            <p:cNvSpPr>
              <a:spLocks noChangeArrowheads="1"/>
            </p:cNvSpPr>
            <p:nvPr/>
          </p:nvSpPr>
          <p:spPr bwMode="auto">
            <a:xfrm>
              <a:off x="5218" y="1283"/>
              <a:ext cx="133" cy="1642"/>
            </a:xfrm>
            <a:prstGeom prst="rect">
              <a:avLst/>
            </a:prstGeom>
            <a:gradFill rotWithShape="0">
              <a:gsLst>
                <a:gs pos="0">
                  <a:srgbClr val="E2E2E2"/>
                </a:gs>
                <a:gs pos="100000">
                  <a:srgbClr val="83838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69" name="AutoShape 17"/>
            <p:cNvSpPr>
              <a:spLocks noChangeArrowheads="1"/>
            </p:cNvSpPr>
            <p:nvPr/>
          </p:nvSpPr>
          <p:spPr bwMode="auto">
            <a:xfrm>
              <a:off x="377" y="1283"/>
              <a:ext cx="4974" cy="98"/>
            </a:xfrm>
            <a:custGeom>
              <a:avLst/>
              <a:gdLst>
                <a:gd name="T0" fmla="*/ 1132 w 21600"/>
                <a:gd name="T1" fmla="*/ 0 h 21600"/>
                <a:gd name="T2" fmla="*/ 573 w 21600"/>
                <a:gd name="T3" fmla="*/ 0 h 21600"/>
                <a:gd name="T4" fmla="*/ 14 w 21600"/>
                <a:gd name="T5" fmla="*/ 0 h 21600"/>
                <a:gd name="T6" fmla="*/ 573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054 w 21600"/>
                <a:gd name="T13" fmla="*/ 1984 h 21600"/>
                <a:gd name="T14" fmla="*/ 19546 w 21600"/>
                <a:gd name="T15" fmla="*/ 1961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12" y="21600"/>
                  </a:lnTo>
                  <a:lnTo>
                    <a:pt x="21088" y="21600"/>
                  </a:lnTo>
                  <a:lnTo>
                    <a:pt x="21600" y="0"/>
                  </a:lnTo>
                  <a:close/>
                </a:path>
              </a:pathLst>
            </a:custGeom>
            <a:gradFill rotWithShape="0">
              <a:gsLst>
                <a:gs pos="0">
                  <a:srgbClr val="E2E2E2"/>
                </a:gs>
                <a:gs pos="100000">
                  <a:srgbClr val="969696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70" name="AutoShape 23"/>
            <p:cNvSpPr>
              <a:spLocks noChangeArrowheads="1"/>
            </p:cNvSpPr>
            <p:nvPr/>
          </p:nvSpPr>
          <p:spPr bwMode="auto">
            <a:xfrm flipV="1">
              <a:off x="350" y="2828"/>
              <a:ext cx="5005" cy="98"/>
            </a:xfrm>
            <a:custGeom>
              <a:avLst/>
              <a:gdLst>
                <a:gd name="T0" fmla="*/ 1143 w 21600"/>
                <a:gd name="T1" fmla="*/ 0 h 21600"/>
                <a:gd name="T2" fmla="*/ 580 w 21600"/>
                <a:gd name="T3" fmla="*/ 0 h 21600"/>
                <a:gd name="T4" fmla="*/ 16 w 21600"/>
                <a:gd name="T5" fmla="*/ 0 h 21600"/>
                <a:gd name="T6" fmla="*/ 58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106 w 21600"/>
                <a:gd name="T13" fmla="*/ 2204 h 21600"/>
                <a:gd name="T14" fmla="*/ 19494 w 21600"/>
                <a:gd name="T15" fmla="*/ 1939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612" y="21600"/>
                  </a:lnTo>
                  <a:lnTo>
                    <a:pt x="20988" y="21600"/>
                  </a:lnTo>
                  <a:lnTo>
                    <a:pt x="21600" y="0"/>
                  </a:lnTo>
                  <a:close/>
                </a:path>
              </a:pathLst>
            </a:custGeom>
            <a:gradFill rotWithShape="0">
              <a:gsLst>
                <a:gs pos="0">
                  <a:srgbClr val="E2E2E2"/>
                </a:gs>
                <a:gs pos="100000">
                  <a:srgbClr val="969696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71" name="Rectangle 19"/>
            <p:cNvSpPr>
              <a:spLocks noChangeArrowheads="1"/>
            </p:cNvSpPr>
            <p:nvPr/>
          </p:nvSpPr>
          <p:spPr bwMode="auto">
            <a:xfrm>
              <a:off x="480" y="1380"/>
              <a:ext cx="4738" cy="144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354281"/>
              </a:solidFill>
              <a:miter lim="800000"/>
              <a:headEnd/>
              <a:tailEnd/>
            </a:ln>
            <a:effectLst>
              <a:prstShdw prst="shdw17" dist="17961" dir="2700000">
                <a:srgbClr val="20284D"/>
              </a:prst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6808" name="Rectangle 8"/>
          <p:cNvSpPr>
            <a:spLocks noChangeArrowheads="1"/>
          </p:cNvSpPr>
          <p:nvPr/>
        </p:nvSpPr>
        <p:spPr bwMode="auto">
          <a:xfrm>
            <a:off x="873127" y="2625727"/>
            <a:ext cx="7204075" cy="9556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dist="17961" dir="2700000" algn="ctr" rotWithShape="0">
              <a:srgbClr val="354281"/>
            </a:outerShdw>
          </a:effectLst>
        </p:spPr>
        <p:txBody>
          <a:bodyPr lIns="0" tIns="0" rIns="0" bIns="0">
            <a:spAutoFit/>
          </a:bodyPr>
          <a:lstStyle/>
          <a:p>
            <a:pPr marL="290513" indent="-290513" defTabSz="915988">
              <a:lnSpc>
                <a:spcPct val="95000"/>
              </a:lnSpc>
              <a:spcBef>
                <a:spcPct val="35000"/>
              </a:spcBef>
              <a:buClr>
                <a:srgbClr val="FF0000"/>
              </a:buClr>
              <a:buSzPct val="95000"/>
              <a:defRPr/>
            </a:pPr>
            <a:r>
              <a:rPr lang="zh-CN" altLang="en-US" sz="66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§2  迭代解法</a:t>
            </a:r>
            <a:endParaRPr lang="zh-CN" altLang="en-US" sz="4800" i="1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B061ED49-ED63-445F-9F36-4B0D0A8F4D0B}" type="slidenum">
              <a:rPr lang="zh-CN" altLang="en-US"/>
              <a:pPr/>
              <a:t>5</a:t>
            </a:fld>
            <a:endParaRPr lang="en-US" altLang="zh-CN"/>
          </a:p>
        </p:txBody>
      </p:sp>
      <p:sp>
        <p:nvSpPr>
          <p:cNvPr id="63491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738533AD-4F1F-4E48-9493-A69029BB26D7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133127" name="Rectangle 7"/>
          <p:cNvSpPr>
            <a:spLocks noGrp="1" noChangeArrowheads="1"/>
          </p:cNvSpPr>
          <p:nvPr>
            <p:ph type="title"/>
          </p:nvPr>
        </p:nvSpPr>
        <p:spPr>
          <a:xfrm>
            <a:off x="600075" y="373065"/>
            <a:ext cx="8142288" cy="617537"/>
          </a:xfrm>
        </p:spPr>
        <p:txBody>
          <a:bodyPr/>
          <a:lstStyle/>
          <a:p>
            <a:pPr>
              <a:defRPr/>
            </a:pPr>
            <a:r>
              <a:rPr lang="zh-CN" altLang="en-US" sz="4500"/>
              <a:t>1  引言</a:t>
            </a:r>
            <a:endParaRPr lang="zh-CN" altLang="en-US" sz="5500"/>
          </a:p>
        </p:txBody>
      </p:sp>
      <p:sp>
        <p:nvSpPr>
          <p:cNvPr id="133128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600075" y="1219200"/>
            <a:ext cx="8142288" cy="4738688"/>
          </a:xfrm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US" altLang="zh-CN" i="1" smtClean="0"/>
              <a:t>f</a:t>
            </a:r>
            <a:r>
              <a:rPr lang="en-US" altLang="zh-CN" smtClean="0"/>
              <a:t>(</a:t>
            </a:r>
            <a:r>
              <a:rPr lang="en-US" altLang="zh-CN" i="1" smtClean="0"/>
              <a:t>x</a:t>
            </a:r>
            <a:r>
              <a:rPr lang="en-US" altLang="zh-CN" smtClean="0"/>
              <a:t>) = 0</a:t>
            </a:r>
          </a:p>
          <a:p>
            <a:pPr lvl="1" algn="just">
              <a:lnSpc>
                <a:spcPct val="100000"/>
              </a:lnSpc>
            </a:pPr>
            <a:r>
              <a:rPr lang="zh-CN" altLang="en-US" u="sng" smtClean="0">
                <a:solidFill>
                  <a:srgbClr val="FF3300"/>
                </a:solidFill>
              </a:rPr>
              <a:t>代数多项式</a:t>
            </a:r>
            <a:r>
              <a:rPr lang="zh-CN" altLang="en-US" smtClean="0"/>
              <a:t>:</a:t>
            </a:r>
            <a:r>
              <a:rPr lang="en-US" altLang="zh-CN" i="1" smtClean="0"/>
              <a:t>f</a:t>
            </a:r>
            <a:r>
              <a:rPr lang="en-US" altLang="zh-CN" smtClean="0"/>
              <a:t>(</a:t>
            </a:r>
            <a:r>
              <a:rPr lang="en-US" altLang="zh-CN" i="1" smtClean="0"/>
              <a:t>x</a:t>
            </a:r>
            <a:r>
              <a:rPr lang="en-US" altLang="zh-CN" smtClean="0"/>
              <a:t>)=</a:t>
            </a:r>
            <a:r>
              <a:rPr lang="en-US" altLang="zh-CN" i="1" smtClean="0"/>
              <a:t>a</a:t>
            </a:r>
            <a:r>
              <a:rPr lang="en-US" altLang="zh-CN" baseline="-25000" smtClean="0"/>
              <a:t>0</a:t>
            </a:r>
            <a:r>
              <a:rPr lang="en-US" altLang="zh-CN" i="1" smtClean="0"/>
              <a:t>x</a:t>
            </a:r>
            <a:r>
              <a:rPr lang="en-US" altLang="zh-CN" i="1" baseline="30000" smtClean="0"/>
              <a:t>n</a:t>
            </a:r>
            <a:r>
              <a:rPr lang="en-US" altLang="zh-CN" smtClean="0"/>
              <a:t>+a</a:t>
            </a:r>
            <a:r>
              <a:rPr lang="en-US" altLang="zh-CN" baseline="-25000" smtClean="0"/>
              <a:t>1</a:t>
            </a:r>
            <a:r>
              <a:rPr lang="en-US" altLang="zh-CN" i="1" smtClean="0"/>
              <a:t>x</a:t>
            </a:r>
            <a:r>
              <a:rPr lang="en-US" altLang="zh-CN" i="1" baseline="30000" smtClean="0"/>
              <a:t>n-1</a:t>
            </a:r>
            <a:r>
              <a:rPr lang="en-US" altLang="zh-CN" smtClean="0"/>
              <a:t>+…+</a:t>
            </a:r>
            <a:r>
              <a:rPr lang="en-US" altLang="zh-CN" i="1" smtClean="0"/>
              <a:t>a</a:t>
            </a:r>
            <a:r>
              <a:rPr lang="en-US" altLang="zh-CN" i="1" baseline="-25000" smtClean="0"/>
              <a:t>n</a:t>
            </a:r>
            <a:r>
              <a:rPr lang="en-US" altLang="zh-CN" baseline="-25000" smtClean="0"/>
              <a:t>-1</a:t>
            </a:r>
            <a:r>
              <a:rPr lang="en-US" altLang="zh-CN" i="1" smtClean="0"/>
              <a:t>x</a:t>
            </a:r>
            <a:r>
              <a:rPr lang="en-US" altLang="zh-CN" smtClean="0"/>
              <a:t>+ </a:t>
            </a:r>
            <a:r>
              <a:rPr lang="en-US" altLang="zh-CN" i="1" smtClean="0"/>
              <a:t>a</a:t>
            </a:r>
            <a:r>
              <a:rPr lang="en-US" altLang="zh-CN" i="1" baseline="-25000" smtClean="0"/>
              <a:t>n</a:t>
            </a:r>
            <a:r>
              <a:rPr lang="en-US" altLang="zh-CN" smtClean="0"/>
              <a:t> (</a:t>
            </a:r>
            <a:r>
              <a:rPr lang="en-US" altLang="zh-CN" i="1" smtClean="0"/>
              <a:t>a</a:t>
            </a:r>
            <a:r>
              <a:rPr lang="en-US" altLang="zh-CN" baseline="-25000" smtClean="0"/>
              <a:t>0</a:t>
            </a:r>
            <a:r>
              <a:rPr lang="en-US" altLang="zh-CN" smtClean="0"/>
              <a:t>≠0)</a:t>
            </a:r>
          </a:p>
          <a:p>
            <a:pPr lvl="1" algn="just">
              <a:lnSpc>
                <a:spcPct val="100000"/>
              </a:lnSpc>
            </a:pPr>
            <a:r>
              <a:rPr lang="zh-CN" altLang="en-US" u="sng" smtClean="0">
                <a:solidFill>
                  <a:srgbClr val="FF3300"/>
                </a:solidFill>
              </a:rPr>
              <a:t>超越函数：</a:t>
            </a:r>
            <a:r>
              <a:rPr kumimoji="1" lang="zh-CN" altLang="en-US" smtClean="0">
                <a:latin typeface="华文新魏" pitchFamily="2" charset="-122"/>
              </a:rPr>
              <a:t>如三角函数,指数函数的复合函数等</a:t>
            </a:r>
            <a:endParaRPr lang="zh-CN" altLang="en-US" smtClean="0"/>
          </a:p>
          <a:p>
            <a:pPr algn="just">
              <a:lnSpc>
                <a:spcPct val="100000"/>
              </a:lnSpc>
            </a:pPr>
            <a:r>
              <a:rPr lang="zh-CN" altLang="en-US" u="sng" smtClean="0">
                <a:solidFill>
                  <a:srgbClr val="FF3300"/>
                </a:solidFill>
              </a:rPr>
              <a:t>方程的根</a:t>
            </a:r>
          </a:p>
          <a:p>
            <a:pPr lvl="1" algn="just">
              <a:lnSpc>
                <a:spcPct val="100000"/>
              </a:lnSpc>
            </a:pPr>
            <a:r>
              <a:rPr lang="zh-CN" altLang="en-US" smtClean="0"/>
              <a:t>满足方程 </a:t>
            </a:r>
            <a:r>
              <a:rPr lang="en-US" altLang="zh-CN" i="1" smtClean="0"/>
              <a:t>f</a:t>
            </a:r>
            <a:r>
              <a:rPr lang="en-US" altLang="zh-CN" smtClean="0"/>
              <a:t>(</a:t>
            </a:r>
            <a:r>
              <a:rPr lang="en-US" altLang="zh-CN" i="1" smtClean="0"/>
              <a:t>x</a:t>
            </a:r>
            <a:r>
              <a:rPr lang="en-US" altLang="zh-CN" smtClean="0"/>
              <a:t>)=0</a:t>
            </a:r>
            <a:r>
              <a:rPr lang="zh-CN" altLang="en-US" smtClean="0"/>
              <a:t>的</a:t>
            </a:r>
            <a:r>
              <a:rPr lang="en-US" altLang="zh-CN" i="1" smtClean="0"/>
              <a:t>x</a:t>
            </a:r>
            <a:r>
              <a:rPr lang="zh-CN" altLang="en-US" smtClean="0"/>
              <a:t>值通常叫做</a:t>
            </a:r>
            <a:r>
              <a:rPr lang="zh-CN" altLang="en-US" u="sng" smtClean="0">
                <a:solidFill>
                  <a:srgbClr val="FF3300"/>
                </a:solidFill>
              </a:rPr>
              <a:t>方程的根或解</a:t>
            </a:r>
            <a:r>
              <a:rPr lang="zh-CN" altLang="en-US" smtClean="0"/>
              <a:t>，也叫函数</a:t>
            </a:r>
            <a:r>
              <a:rPr lang="en-US" altLang="zh-CN" i="1" smtClean="0"/>
              <a:t>f </a:t>
            </a:r>
            <a:r>
              <a:rPr lang="en-US" altLang="zh-CN" smtClean="0"/>
              <a:t>(</a:t>
            </a:r>
            <a:r>
              <a:rPr lang="en-US" altLang="zh-CN" i="1" smtClean="0"/>
              <a:t>x</a:t>
            </a:r>
            <a:r>
              <a:rPr lang="en-US" altLang="zh-CN" smtClean="0"/>
              <a:t>)</a:t>
            </a:r>
            <a:r>
              <a:rPr lang="zh-CN" altLang="en-US" smtClean="0"/>
              <a:t>的零点。</a:t>
            </a:r>
          </a:p>
          <a:p>
            <a:pPr algn="just">
              <a:lnSpc>
                <a:spcPct val="100000"/>
              </a:lnSpc>
            </a:pPr>
            <a:r>
              <a:rPr lang="zh-CN" altLang="en-US" smtClean="0"/>
              <a:t>单根和重根</a:t>
            </a:r>
          </a:p>
          <a:p>
            <a:pPr lvl="1" algn="just">
              <a:lnSpc>
                <a:spcPct val="100000"/>
              </a:lnSpc>
            </a:pPr>
            <a:r>
              <a:rPr lang="zh-CN" altLang="en-US" smtClean="0"/>
              <a:t>如果</a:t>
            </a:r>
            <a:r>
              <a:rPr lang="en-US" altLang="zh-CN" i="1" smtClean="0"/>
              <a:t>f</a:t>
            </a:r>
            <a:r>
              <a:rPr lang="en-US" altLang="zh-CN" smtClean="0"/>
              <a:t>(</a:t>
            </a:r>
            <a:r>
              <a:rPr lang="en-US" altLang="zh-CN" i="1" smtClean="0"/>
              <a:t>x</a:t>
            </a:r>
            <a:r>
              <a:rPr lang="en-US" altLang="zh-CN" smtClean="0"/>
              <a:t>)=(</a:t>
            </a:r>
            <a:r>
              <a:rPr lang="en-US" altLang="zh-CN" i="1" smtClean="0"/>
              <a:t>x</a:t>
            </a:r>
            <a:r>
              <a:rPr lang="en-US" altLang="zh-CN" smtClean="0"/>
              <a:t>-</a:t>
            </a:r>
            <a:r>
              <a:rPr lang="en-US" altLang="zh-CN" smtClean="0">
                <a:sym typeface="Symbol" pitchFamily="18" charset="2"/>
              </a:rPr>
              <a:t></a:t>
            </a:r>
            <a:r>
              <a:rPr lang="en-US" altLang="zh-CN" smtClean="0"/>
              <a:t>)</a:t>
            </a:r>
            <a:r>
              <a:rPr lang="en-US" altLang="zh-CN" baseline="30000" smtClean="0"/>
              <a:t>m</a:t>
            </a:r>
            <a:r>
              <a:rPr lang="en-US" altLang="zh-CN" i="1" smtClean="0"/>
              <a:t>g</a:t>
            </a:r>
            <a:r>
              <a:rPr lang="en-US" altLang="zh-CN" smtClean="0"/>
              <a:t>(</a:t>
            </a:r>
            <a:r>
              <a:rPr lang="en-US" altLang="zh-CN" i="1" smtClean="0"/>
              <a:t>x</a:t>
            </a:r>
            <a:r>
              <a:rPr lang="en-US" altLang="zh-CN" smtClean="0"/>
              <a:t>)</a:t>
            </a:r>
            <a:r>
              <a:rPr lang="zh-CN" altLang="en-US" smtClean="0"/>
              <a:t>且</a:t>
            </a:r>
            <a:r>
              <a:rPr lang="en-US" altLang="zh-CN" smtClean="0"/>
              <a:t>g(</a:t>
            </a:r>
            <a:r>
              <a:rPr lang="en-US" altLang="zh-CN" smtClean="0">
                <a:sym typeface="Symbol" pitchFamily="18" charset="2"/>
              </a:rPr>
              <a:t></a:t>
            </a:r>
            <a:r>
              <a:rPr lang="en-US" altLang="zh-CN" smtClean="0"/>
              <a:t>)≠0</a:t>
            </a:r>
            <a:r>
              <a:rPr lang="zh-CN" altLang="en-US" smtClean="0"/>
              <a:t>，则称</a:t>
            </a:r>
            <a:r>
              <a:rPr lang="zh-CN" altLang="zh-CN" smtClean="0">
                <a:sym typeface="Symbol" pitchFamily="18" charset="2"/>
              </a:rPr>
              <a:t></a:t>
            </a:r>
            <a:r>
              <a:rPr lang="zh-CN" altLang="en-US" smtClean="0"/>
              <a:t>为</a:t>
            </a:r>
            <a:r>
              <a:rPr lang="en-US" altLang="zh-CN" i="1" smtClean="0"/>
              <a:t>f</a:t>
            </a:r>
            <a:r>
              <a:rPr lang="en-US" altLang="zh-CN" smtClean="0"/>
              <a:t>(</a:t>
            </a:r>
            <a:r>
              <a:rPr lang="en-US" altLang="zh-CN" i="1" smtClean="0"/>
              <a:t>x</a:t>
            </a:r>
            <a:r>
              <a:rPr lang="en-US" altLang="zh-CN" smtClean="0"/>
              <a:t>)=0</a:t>
            </a:r>
            <a:r>
              <a:rPr lang="zh-CN" altLang="en-US" smtClean="0"/>
              <a:t>的</a:t>
            </a:r>
            <a:r>
              <a:rPr lang="en-US" altLang="zh-CN" i="1" smtClean="0"/>
              <a:t>m</a:t>
            </a:r>
            <a:r>
              <a:rPr lang="zh-CN" altLang="en-US" smtClean="0"/>
              <a:t>重根。</a:t>
            </a:r>
            <a:r>
              <a:rPr lang="en-US" altLang="zh-CN" i="1" smtClean="0"/>
              <a:t>m</a:t>
            </a:r>
            <a:r>
              <a:rPr lang="en-US" altLang="zh-CN" smtClean="0"/>
              <a:t>=1</a:t>
            </a:r>
            <a:r>
              <a:rPr lang="zh-CN" altLang="en-US" smtClean="0"/>
              <a:t>称为单根，</a:t>
            </a:r>
            <a:r>
              <a:rPr lang="en-US" altLang="zh-CN" i="1" smtClean="0"/>
              <a:t>m</a:t>
            </a:r>
            <a:r>
              <a:rPr lang="en-US" altLang="zh-CN" smtClean="0"/>
              <a:t>&gt;1</a:t>
            </a:r>
            <a:r>
              <a:rPr lang="zh-CN" altLang="en-US" smtClean="0"/>
              <a:t>称为重根。</a:t>
            </a:r>
          </a:p>
        </p:txBody>
      </p:sp>
    </p:spTree>
    <p:extLst>
      <p:ext uri="{BB962C8B-B14F-4D97-AF65-F5344CB8AC3E}">
        <p14:creationId xmlns:p14="http://schemas.microsoft.com/office/powerpoint/2010/main" val="3141176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3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33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33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331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331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33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331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8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0075" y="1292225"/>
            <a:ext cx="8142288" cy="3841052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4400" i="1" dirty="0"/>
              <a:t>      f</a:t>
            </a:r>
            <a:r>
              <a:rPr lang="en-US" altLang="zh-CN" sz="4400" dirty="0"/>
              <a:t> (</a:t>
            </a:r>
            <a:r>
              <a:rPr lang="en-US" altLang="zh-CN" sz="4400" i="1" dirty="0"/>
              <a:t>x</a:t>
            </a:r>
            <a:r>
              <a:rPr lang="en-US" altLang="zh-CN" sz="4400" dirty="0"/>
              <a:t>) = 0</a:t>
            </a:r>
          </a:p>
          <a:p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．根的存在性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方程</a:t>
            </a:r>
            <a:r>
              <a:rPr lang="zh-CN" altLang="en-US" dirty="0"/>
              <a:t>有没有根？如果有，有几个根</a:t>
            </a:r>
            <a:r>
              <a:rPr lang="zh-CN" altLang="en-US" dirty="0" smtClean="0"/>
              <a:t>？</a:t>
            </a:r>
            <a:endParaRPr lang="en-US" altLang="zh-CN" dirty="0" smtClean="0"/>
          </a:p>
          <a:p>
            <a:r>
              <a:rPr lang="en-US" altLang="zh-CN" dirty="0"/>
              <a:t>2</a:t>
            </a:r>
            <a:r>
              <a:rPr lang="zh-CN" altLang="en-US" dirty="0"/>
              <a:t>．根的搜索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这些</a:t>
            </a:r>
            <a:r>
              <a:rPr lang="zh-CN" altLang="en-US" dirty="0"/>
              <a:t>根大致在哪里？如何把根隔离开</a:t>
            </a:r>
            <a:r>
              <a:rPr lang="zh-CN" altLang="en-US" dirty="0" smtClean="0"/>
              <a:t>？</a:t>
            </a:r>
            <a:endParaRPr lang="en-US" altLang="zh-CN" dirty="0" smtClean="0"/>
          </a:p>
          <a:p>
            <a:r>
              <a:rPr lang="en-US" altLang="zh-CN" dirty="0"/>
              <a:t>3</a:t>
            </a:r>
            <a:r>
              <a:rPr lang="zh-CN" altLang="en-US" dirty="0"/>
              <a:t>．根的精确化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EB2D8C-C595-4C75-A410-92E615560A69}" type="slidenum">
              <a:rPr lang="zh-CN" altLang="en-US" smtClean="0"/>
              <a:pPr>
                <a:defRPr/>
              </a:pPr>
              <a:t>6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F4F2C565-DEEA-484F-99D9-2BCC1484ACAF}" type="datetime1">
              <a:rPr lang="zh-CN" altLang="en-US" smtClean="0"/>
              <a:pPr>
                <a:defRPr/>
              </a:pPr>
              <a:t>2024/9/22</a:t>
            </a:fld>
            <a:endParaRPr lang="en-US" altLang="zh-CN" sz="1000"/>
          </a:p>
        </p:txBody>
      </p:sp>
    </p:spTree>
    <p:extLst>
      <p:ext uri="{BB962C8B-B14F-4D97-AF65-F5344CB8AC3E}">
        <p14:creationId xmlns:p14="http://schemas.microsoft.com/office/powerpoint/2010/main" val="450424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5338633B-518C-4334-8978-4FC1AA735813}" type="slidenum">
              <a:rPr lang="zh-CN" altLang="en-US"/>
              <a:pPr/>
              <a:t>7</a:t>
            </a:fld>
            <a:endParaRPr lang="en-US" altLang="zh-CN"/>
          </a:p>
        </p:txBody>
      </p:sp>
      <p:sp>
        <p:nvSpPr>
          <p:cNvPr id="67587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65212939-8E65-4FE4-BE8E-1164BA78AD3B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>
                <a:latin typeface="Times New Roman" pitchFamily="18" charset="0"/>
              </a:rPr>
              <a:t>2.1  根的初值确定方法</a:t>
            </a:r>
          </a:p>
        </p:txBody>
      </p:sp>
      <p:sp>
        <p:nvSpPr>
          <p:cNvPr id="675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143000"/>
            <a:ext cx="8142288" cy="4203700"/>
          </a:xfrm>
        </p:spPr>
        <p:txBody>
          <a:bodyPr/>
          <a:lstStyle/>
          <a:p>
            <a:r>
              <a:rPr lang="zh-CN" altLang="en-US" smtClean="0"/>
              <a:t>圈定根所界的范围，称为圈定根或根的隔离</a:t>
            </a:r>
          </a:p>
          <a:p>
            <a:pPr lvl="1"/>
            <a:r>
              <a:rPr lang="zh-CN" altLang="en-US" smtClean="0"/>
              <a:t>代数方程</a:t>
            </a:r>
          </a:p>
          <a:p>
            <a:pPr lvl="2"/>
            <a:r>
              <a:rPr lang="zh-CN" altLang="en-US" sz="2800"/>
              <a:t>根的个数与其最高次数相同，有成熟的圈定根的方法 </a:t>
            </a:r>
          </a:p>
          <a:p>
            <a:pPr lvl="1"/>
            <a:r>
              <a:rPr lang="zh-CN" altLang="en-US" smtClean="0"/>
              <a:t>超越方程</a:t>
            </a:r>
          </a:p>
          <a:p>
            <a:pPr lvl="2"/>
            <a:r>
              <a:rPr lang="zh-CN" altLang="en-US" sz="2800"/>
              <a:t>可能有1个、多个根或者无解。无固定的圈定根的方法</a:t>
            </a:r>
          </a:p>
          <a:p>
            <a:r>
              <a:rPr lang="zh-CN" altLang="en-US" smtClean="0"/>
              <a:t>求方程根的问题，就几何上讲,是求曲线</a:t>
            </a:r>
            <a:r>
              <a:rPr lang="en-US" altLang="zh-CN" i="1" smtClean="0"/>
              <a:t>y</a:t>
            </a:r>
            <a:r>
              <a:rPr lang="en-US" altLang="zh-CN" smtClean="0"/>
              <a:t>=</a:t>
            </a:r>
            <a:r>
              <a:rPr lang="en-US" altLang="zh-CN" i="1" smtClean="0"/>
              <a:t>f </a:t>
            </a:r>
            <a:r>
              <a:rPr lang="en-US" altLang="zh-CN" smtClean="0"/>
              <a:t>(</a:t>
            </a:r>
            <a:r>
              <a:rPr lang="en-US" altLang="zh-CN" i="1" smtClean="0"/>
              <a:t>x</a:t>
            </a:r>
            <a:r>
              <a:rPr lang="en-US" altLang="zh-CN" smtClean="0"/>
              <a:t>)</a:t>
            </a:r>
            <a:r>
              <a:rPr lang="zh-CN" altLang="en-US" smtClean="0"/>
              <a:t>与</a:t>
            </a:r>
            <a:r>
              <a:rPr lang="en-US" altLang="zh-CN" i="1" smtClean="0"/>
              <a:t>x</a:t>
            </a:r>
            <a:r>
              <a:rPr lang="zh-CN" altLang="en-US" smtClean="0"/>
              <a:t>轴交点的横坐标。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BD578F12-6B91-47B3-B3EC-BD09476A9D94}" type="slidenum">
              <a:rPr lang="zh-CN" altLang="en-US"/>
              <a:pPr/>
              <a:t>8</a:t>
            </a:fld>
            <a:endParaRPr lang="en-US" altLang="zh-CN"/>
          </a:p>
        </p:txBody>
      </p:sp>
      <p:sp>
        <p:nvSpPr>
          <p:cNvPr id="68611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B387DEE7-F2E6-4846-ABA5-FF5CD00B7799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504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>
                <a:latin typeface="Times New Roman" pitchFamily="18" charset="0"/>
              </a:rPr>
              <a:t>2.1  根的初值确定方法</a:t>
            </a:r>
          </a:p>
        </p:txBody>
      </p:sp>
      <p:sp>
        <p:nvSpPr>
          <p:cNvPr id="6861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143002"/>
            <a:ext cx="8142288" cy="1685925"/>
          </a:xfrm>
        </p:spPr>
        <p:txBody>
          <a:bodyPr/>
          <a:lstStyle/>
          <a:p>
            <a:r>
              <a:rPr lang="zh-CN" altLang="en-US" smtClean="0"/>
              <a:t>定理2.1设</a:t>
            </a:r>
            <a:r>
              <a:rPr lang="en-US" altLang="zh-CN" i="1" smtClean="0"/>
              <a:t>f </a:t>
            </a:r>
            <a:r>
              <a:rPr lang="en-US" altLang="zh-CN" smtClean="0"/>
              <a:t>(</a:t>
            </a:r>
            <a:r>
              <a:rPr lang="en-US" altLang="zh-CN" i="1" smtClean="0"/>
              <a:t>x</a:t>
            </a:r>
            <a:r>
              <a:rPr lang="en-US" altLang="zh-CN" smtClean="0"/>
              <a:t>)</a:t>
            </a:r>
            <a:r>
              <a:rPr lang="zh-CN" altLang="en-US" smtClean="0"/>
              <a:t>为区间[</a:t>
            </a:r>
            <a:r>
              <a:rPr lang="en-US" altLang="zh-CN" i="1" smtClean="0"/>
              <a:t>a</a:t>
            </a:r>
            <a:r>
              <a:rPr lang="en-US" altLang="zh-CN" smtClean="0"/>
              <a:t>,</a:t>
            </a:r>
            <a:r>
              <a:rPr lang="en-US" altLang="zh-CN" i="1" smtClean="0"/>
              <a:t>b</a:t>
            </a:r>
            <a:r>
              <a:rPr lang="en-US" altLang="zh-CN" smtClean="0"/>
              <a:t>]</a:t>
            </a:r>
            <a:r>
              <a:rPr lang="zh-CN" altLang="en-US" smtClean="0"/>
              <a:t>上的</a:t>
            </a:r>
            <a:r>
              <a:rPr lang="zh-CN" altLang="en-US" u="sng" smtClean="0">
                <a:solidFill>
                  <a:srgbClr val="FF3300"/>
                </a:solidFill>
              </a:rPr>
              <a:t>单值</a:t>
            </a:r>
            <a:r>
              <a:rPr lang="zh-CN" altLang="en-US" u="sng" smtClean="0">
                <a:solidFill>
                  <a:srgbClr val="0000FF"/>
                </a:solidFill>
              </a:rPr>
              <a:t>连续</a:t>
            </a:r>
            <a:r>
              <a:rPr lang="zh-CN" altLang="en-US" smtClean="0"/>
              <a:t>函数，如果</a:t>
            </a:r>
            <a:r>
              <a:rPr lang="en-US" altLang="zh-CN" i="1" smtClean="0"/>
              <a:t>f </a:t>
            </a:r>
            <a:r>
              <a:rPr lang="en-US" altLang="zh-CN" smtClean="0"/>
              <a:t>(</a:t>
            </a:r>
            <a:r>
              <a:rPr lang="en-US" altLang="zh-CN" i="1" smtClean="0"/>
              <a:t>a</a:t>
            </a:r>
            <a:r>
              <a:rPr lang="en-US" altLang="zh-CN" smtClean="0"/>
              <a:t>)·</a:t>
            </a:r>
            <a:r>
              <a:rPr lang="en-US" altLang="zh-CN" i="1" smtClean="0"/>
              <a:t>f </a:t>
            </a:r>
            <a:r>
              <a:rPr lang="en-US" altLang="zh-CN" smtClean="0"/>
              <a:t>(</a:t>
            </a:r>
            <a:r>
              <a:rPr lang="en-US" altLang="zh-CN" i="1" smtClean="0"/>
              <a:t>b</a:t>
            </a:r>
            <a:r>
              <a:rPr lang="en-US" altLang="zh-CN" smtClean="0"/>
              <a:t>)&lt;0，</a:t>
            </a:r>
            <a:r>
              <a:rPr lang="zh-CN" altLang="en-US" smtClean="0"/>
              <a:t>则[</a:t>
            </a:r>
            <a:r>
              <a:rPr lang="en-US" altLang="zh-CN" i="1" smtClean="0"/>
              <a:t>a</a:t>
            </a:r>
            <a:r>
              <a:rPr lang="en-US" altLang="zh-CN" smtClean="0"/>
              <a:t>,</a:t>
            </a:r>
            <a:r>
              <a:rPr lang="en-US" altLang="zh-CN" i="1" smtClean="0"/>
              <a:t>b</a:t>
            </a:r>
            <a:r>
              <a:rPr lang="en-US" altLang="zh-CN" smtClean="0"/>
              <a:t>]</a:t>
            </a:r>
            <a:r>
              <a:rPr lang="zh-CN" altLang="en-US" smtClean="0"/>
              <a:t>中至少有一个实根。如果</a:t>
            </a:r>
            <a:r>
              <a:rPr lang="en-US" altLang="zh-CN" i="1" smtClean="0"/>
              <a:t>f </a:t>
            </a:r>
            <a:r>
              <a:rPr lang="en-US" altLang="zh-CN" smtClean="0"/>
              <a:t>(</a:t>
            </a:r>
            <a:r>
              <a:rPr lang="en-US" altLang="zh-CN" i="1" smtClean="0"/>
              <a:t>x</a:t>
            </a:r>
            <a:r>
              <a:rPr lang="en-US" altLang="zh-CN" smtClean="0"/>
              <a:t>)</a:t>
            </a:r>
            <a:r>
              <a:rPr lang="zh-CN" altLang="en-US" smtClean="0"/>
              <a:t>在[</a:t>
            </a:r>
            <a:r>
              <a:rPr lang="en-US" altLang="zh-CN" i="1" smtClean="0"/>
              <a:t>a</a:t>
            </a:r>
            <a:r>
              <a:rPr lang="en-US" altLang="zh-CN" smtClean="0"/>
              <a:t>,</a:t>
            </a:r>
            <a:r>
              <a:rPr lang="en-US" altLang="zh-CN" i="1" smtClean="0"/>
              <a:t>b</a:t>
            </a:r>
            <a:r>
              <a:rPr lang="en-US" altLang="zh-CN" smtClean="0"/>
              <a:t>]</a:t>
            </a:r>
            <a:r>
              <a:rPr lang="zh-CN" altLang="en-US" smtClean="0"/>
              <a:t>上还是单调地递增或递减，则仅有一个实根</a:t>
            </a:r>
          </a:p>
          <a:p>
            <a:r>
              <a:rPr lang="zh-CN" altLang="en-US" smtClean="0"/>
              <a:t>几何意义如下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204915" y="3124200"/>
            <a:ext cx="7177087" cy="2782888"/>
            <a:chOff x="552" y="2352"/>
            <a:chExt cx="4521" cy="1753"/>
          </a:xfrm>
        </p:grpSpPr>
        <p:sp>
          <p:nvSpPr>
            <p:cNvPr id="68615" name="Line 5"/>
            <p:cNvSpPr>
              <a:spLocks noChangeShapeType="1"/>
            </p:cNvSpPr>
            <p:nvPr/>
          </p:nvSpPr>
          <p:spPr bwMode="auto">
            <a:xfrm>
              <a:off x="552" y="3319"/>
              <a:ext cx="19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16" name="Line 6"/>
            <p:cNvSpPr>
              <a:spLocks noChangeShapeType="1"/>
            </p:cNvSpPr>
            <p:nvPr/>
          </p:nvSpPr>
          <p:spPr bwMode="auto">
            <a:xfrm flipV="1">
              <a:off x="856" y="2352"/>
              <a:ext cx="0" cy="151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17" name="Arc 7"/>
            <p:cNvSpPr>
              <a:spLocks/>
            </p:cNvSpPr>
            <p:nvPr/>
          </p:nvSpPr>
          <p:spPr bwMode="auto">
            <a:xfrm rot="7859429" flipV="1">
              <a:off x="1088" y="2934"/>
              <a:ext cx="1657" cy="685"/>
            </a:xfrm>
            <a:custGeom>
              <a:avLst/>
              <a:gdLst>
                <a:gd name="T0" fmla="*/ 0 w 23557"/>
                <a:gd name="T1" fmla="*/ 1 h 21600"/>
                <a:gd name="T2" fmla="*/ 117 w 23557"/>
                <a:gd name="T3" fmla="*/ 9 h 21600"/>
                <a:gd name="T4" fmla="*/ 31 w 23557"/>
                <a:gd name="T5" fmla="*/ 22 h 21600"/>
                <a:gd name="T6" fmla="*/ 0 60000 65536"/>
                <a:gd name="T7" fmla="*/ 0 60000 65536"/>
                <a:gd name="T8" fmla="*/ 0 60000 65536"/>
                <a:gd name="T9" fmla="*/ 0 w 23557"/>
                <a:gd name="T10" fmla="*/ 0 h 21600"/>
                <a:gd name="T11" fmla="*/ 23557 w 2355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557" h="21600" fill="none" extrusionOk="0">
                  <a:moveTo>
                    <a:pt x="0" y="910"/>
                  </a:moveTo>
                  <a:cubicBezTo>
                    <a:pt x="2012" y="306"/>
                    <a:pt x="4102" y="-1"/>
                    <a:pt x="6204" y="0"/>
                  </a:cubicBezTo>
                  <a:cubicBezTo>
                    <a:pt x="13045" y="0"/>
                    <a:pt x="19483" y="3241"/>
                    <a:pt x="23557" y="8737"/>
                  </a:cubicBezTo>
                </a:path>
                <a:path w="23557" h="21600" stroke="0" extrusionOk="0">
                  <a:moveTo>
                    <a:pt x="0" y="910"/>
                  </a:moveTo>
                  <a:cubicBezTo>
                    <a:pt x="2012" y="306"/>
                    <a:pt x="4102" y="-1"/>
                    <a:pt x="6204" y="0"/>
                  </a:cubicBezTo>
                  <a:cubicBezTo>
                    <a:pt x="13045" y="0"/>
                    <a:pt x="19483" y="3241"/>
                    <a:pt x="23557" y="8737"/>
                  </a:cubicBezTo>
                  <a:lnTo>
                    <a:pt x="6204" y="2160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18" name="Line 8"/>
            <p:cNvSpPr>
              <a:spLocks noChangeShapeType="1"/>
            </p:cNvSpPr>
            <p:nvPr/>
          </p:nvSpPr>
          <p:spPr bwMode="auto">
            <a:xfrm>
              <a:off x="2064" y="2592"/>
              <a:ext cx="0" cy="7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19" name="Line 9"/>
            <p:cNvSpPr>
              <a:spLocks noChangeShapeType="1"/>
            </p:cNvSpPr>
            <p:nvPr/>
          </p:nvSpPr>
          <p:spPr bwMode="auto">
            <a:xfrm>
              <a:off x="1344" y="3312"/>
              <a:ext cx="0" cy="3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0" name="Text Box 10"/>
            <p:cNvSpPr txBox="1">
              <a:spLocks noChangeArrowheads="1"/>
            </p:cNvSpPr>
            <p:nvPr/>
          </p:nvSpPr>
          <p:spPr bwMode="auto">
            <a:xfrm>
              <a:off x="1226" y="2976"/>
              <a:ext cx="406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/>
              <a:r>
                <a:rPr lang="en-US" altLang="zh-CN" sz="2800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68621" name="Text Box 11"/>
            <p:cNvSpPr txBox="1">
              <a:spLocks noChangeArrowheads="1"/>
            </p:cNvSpPr>
            <p:nvPr/>
          </p:nvSpPr>
          <p:spPr bwMode="auto">
            <a:xfrm>
              <a:off x="1968" y="3264"/>
              <a:ext cx="406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/>
              <a:r>
                <a:rPr lang="en-US" altLang="zh-CN" sz="2800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68622" name="Text Box 12"/>
            <p:cNvSpPr txBox="1">
              <a:spLocks noChangeArrowheads="1"/>
            </p:cNvSpPr>
            <p:nvPr/>
          </p:nvSpPr>
          <p:spPr bwMode="auto">
            <a:xfrm>
              <a:off x="1465" y="3319"/>
              <a:ext cx="455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/>
              <a:r>
                <a:rPr lang="en-US" altLang="zh-CN" sz="2800" i="1">
                  <a:latin typeface="Times New Roman" pitchFamily="18" charset="0"/>
                </a:rPr>
                <a:t>x*</a:t>
              </a:r>
            </a:p>
          </p:txBody>
        </p:sp>
        <p:sp>
          <p:nvSpPr>
            <p:cNvPr id="68623" name="Text Box 13"/>
            <p:cNvSpPr txBox="1">
              <a:spLocks noChangeArrowheads="1"/>
            </p:cNvSpPr>
            <p:nvPr/>
          </p:nvSpPr>
          <p:spPr bwMode="auto">
            <a:xfrm>
              <a:off x="912" y="3598"/>
              <a:ext cx="913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/>
              <a:r>
                <a:rPr lang="en-US" altLang="zh-CN" sz="2800" i="1">
                  <a:latin typeface="Times New Roman" pitchFamily="18" charset="0"/>
                </a:rPr>
                <a:t>f(a)</a:t>
              </a:r>
            </a:p>
          </p:txBody>
        </p:sp>
        <p:sp>
          <p:nvSpPr>
            <p:cNvPr id="68624" name="Text Box 14"/>
            <p:cNvSpPr txBox="1">
              <a:spLocks noChangeArrowheads="1"/>
            </p:cNvSpPr>
            <p:nvPr/>
          </p:nvSpPr>
          <p:spPr bwMode="auto">
            <a:xfrm>
              <a:off x="2256" y="2352"/>
              <a:ext cx="609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/>
              <a:r>
                <a:rPr lang="en-US" altLang="zh-CN" sz="2800" i="1">
                  <a:latin typeface="Times New Roman" pitchFamily="18" charset="0"/>
                </a:rPr>
                <a:t>f(b)</a:t>
              </a:r>
            </a:p>
          </p:txBody>
        </p:sp>
        <p:sp>
          <p:nvSpPr>
            <p:cNvPr id="68625" name="Line 15"/>
            <p:cNvSpPr>
              <a:spLocks noChangeShapeType="1"/>
            </p:cNvSpPr>
            <p:nvPr/>
          </p:nvSpPr>
          <p:spPr bwMode="auto">
            <a:xfrm>
              <a:off x="2720" y="3319"/>
              <a:ext cx="1928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6" name="Line 16"/>
            <p:cNvSpPr>
              <a:spLocks noChangeShapeType="1"/>
            </p:cNvSpPr>
            <p:nvPr/>
          </p:nvSpPr>
          <p:spPr bwMode="auto">
            <a:xfrm flipV="1">
              <a:off x="3024" y="2352"/>
              <a:ext cx="0" cy="1511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7" name="Arc 17"/>
            <p:cNvSpPr>
              <a:spLocks/>
            </p:cNvSpPr>
            <p:nvPr/>
          </p:nvSpPr>
          <p:spPr bwMode="auto">
            <a:xfrm rot="14953463" flipV="1">
              <a:off x="2981" y="2880"/>
              <a:ext cx="1397" cy="703"/>
            </a:xfrm>
            <a:custGeom>
              <a:avLst/>
              <a:gdLst>
                <a:gd name="T0" fmla="*/ 0 w 18807"/>
                <a:gd name="T1" fmla="*/ 0 h 21600"/>
                <a:gd name="T2" fmla="*/ 104 w 18807"/>
                <a:gd name="T3" fmla="*/ 9 h 21600"/>
                <a:gd name="T4" fmla="*/ 10 w 18807"/>
                <a:gd name="T5" fmla="*/ 23 h 21600"/>
                <a:gd name="T6" fmla="*/ 0 60000 65536"/>
                <a:gd name="T7" fmla="*/ 0 60000 65536"/>
                <a:gd name="T8" fmla="*/ 0 60000 65536"/>
                <a:gd name="T9" fmla="*/ 0 w 18807"/>
                <a:gd name="T10" fmla="*/ 0 h 21600"/>
                <a:gd name="T11" fmla="*/ 18807 w 1880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807" h="21600" fill="none" extrusionOk="0">
                  <a:moveTo>
                    <a:pt x="-1" y="71"/>
                  </a:moveTo>
                  <a:cubicBezTo>
                    <a:pt x="584" y="23"/>
                    <a:pt x="1171" y="-1"/>
                    <a:pt x="1758" y="0"/>
                  </a:cubicBezTo>
                  <a:cubicBezTo>
                    <a:pt x="8423" y="0"/>
                    <a:pt x="14714" y="3076"/>
                    <a:pt x="18807" y="8337"/>
                  </a:cubicBezTo>
                </a:path>
                <a:path w="18807" h="21600" stroke="0" extrusionOk="0">
                  <a:moveTo>
                    <a:pt x="-1" y="71"/>
                  </a:moveTo>
                  <a:cubicBezTo>
                    <a:pt x="584" y="23"/>
                    <a:pt x="1171" y="-1"/>
                    <a:pt x="1758" y="0"/>
                  </a:cubicBezTo>
                  <a:cubicBezTo>
                    <a:pt x="8423" y="0"/>
                    <a:pt x="14714" y="3076"/>
                    <a:pt x="18807" y="8337"/>
                  </a:cubicBezTo>
                  <a:lnTo>
                    <a:pt x="1758" y="2160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8" name="Line 18"/>
            <p:cNvSpPr>
              <a:spLocks noChangeShapeType="1"/>
            </p:cNvSpPr>
            <p:nvPr/>
          </p:nvSpPr>
          <p:spPr bwMode="auto">
            <a:xfrm>
              <a:off x="3524" y="2654"/>
              <a:ext cx="0" cy="66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9" name="Line 19"/>
            <p:cNvSpPr>
              <a:spLocks noChangeShapeType="1"/>
            </p:cNvSpPr>
            <p:nvPr/>
          </p:nvSpPr>
          <p:spPr bwMode="auto">
            <a:xfrm>
              <a:off x="4224" y="3319"/>
              <a:ext cx="0" cy="3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30" name="Text Box 20"/>
            <p:cNvSpPr txBox="1">
              <a:spLocks noChangeArrowheads="1"/>
            </p:cNvSpPr>
            <p:nvPr/>
          </p:nvSpPr>
          <p:spPr bwMode="auto">
            <a:xfrm>
              <a:off x="3408" y="3216"/>
              <a:ext cx="406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/>
              <a:r>
                <a:rPr lang="en-US" altLang="zh-CN" sz="2800" b="0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68631" name="Text Box 21"/>
            <p:cNvSpPr txBox="1">
              <a:spLocks noChangeArrowheads="1"/>
            </p:cNvSpPr>
            <p:nvPr/>
          </p:nvSpPr>
          <p:spPr bwMode="auto">
            <a:xfrm>
              <a:off x="4106" y="2976"/>
              <a:ext cx="406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/>
              <a:r>
                <a:rPr lang="en-US" altLang="zh-CN" sz="2800" b="0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68632" name="Text Box 22"/>
            <p:cNvSpPr txBox="1">
              <a:spLocks noChangeArrowheads="1"/>
            </p:cNvSpPr>
            <p:nvPr/>
          </p:nvSpPr>
          <p:spPr bwMode="auto">
            <a:xfrm>
              <a:off x="3840" y="3312"/>
              <a:ext cx="710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/>
              <a:r>
                <a:rPr lang="en-US" altLang="zh-CN" sz="2800" i="1">
                  <a:latin typeface="Times New Roman" pitchFamily="18" charset="0"/>
                </a:rPr>
                <a:t>x*</a:t>
              </a:r>
            </a:p>
          </p:txBody>
        </p:sp>
        <p:sp>
          <p:nvSpPr>
            <p:cNvPr id="68633" name="Text Box 23"/>
            <p:cNvSpPr txBox="1">
              <a:spLocks noChangeArrowheads="1"/>
            </p:cNvSpPr>
            <p:nvPr/>
          </p:nvSpPr>
          <p:spPr bwMode="auto">
            <a:xfrm>
              <a:off x="3071" y="2448"/>
              <a:ext cx="913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/>
              <a:r>
                <a:rPr lang="en-US" altLang="zh-CN" sz="2800" i="1">
                  <a:latin typeface="Times New Roman" pitchFamily="18" charset="0"/>
                </a:rPr>
                <a:t>f(a)</a:t>
              </a:r>
            </a:p>
          </p:txBody>
        </p:sp>
        <p:sp>
          <p:nvSpPr>
            <p:cNvPr id="68634" name="Text Box 24"/>
            <p:cNvSpPr txBox="1">
              <a:spLocks noChangeArrowheads="1"/>
            </p:cNvSpPr>
            <p:nvPr/>
          </p:nvSpPr>
          <p:spPr bwMode="auto">
            <a:xfrm>
              <a:off x="4464" y="3648"/>
              <a:ext cx="609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/>
              <a:r>
                <a:rPr lang="en-US" altLang="zh-CN" sz="2800" i="1">
                  <a:latin typeface="Times New Roman" pitchFamily="18" charset="0"/>
                </a:rPr>
                <a:t>f(b)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F8C76D06-9DB8-4C70-80A6-2980B862B4EC}" type="slidenum">
              <a:rPr lang="zh-CN" altLang="en-US"/>
              <a:pPr/>
              <a:t>9</a:t>
            </a:fld>
            <a:endParaRPr lang="en-US" altLang="zh-CN"/>
          </a:p>
        </p:txBody>
      </p:sp>
      <p:sp>
        <p:nvSpPr>
          <p:cNvPr id="69635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F78E2FEB-EB58-4A09-A3F7-882202C379E4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>
                <a:latin typeface="Times New Roman" pitchFamily="18" charset="0"/>
              </a:rPr>
              <a:t>2.1  根的初值确定方法</a:t>
            </a:r>
          </a:p>
        </p:txBody>
      </p:sp>
      <p:sp>
        <p:nvSpPr>
          <p:cNvPr id="6963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143000"/>
            <a:ext cx="8142288" cy="4699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mtClean="0"/>
              <a:t>必须满足</a:t>
            </a:r>
            <a:r>
              <a:rPr lang="zh-CN" altLang="en-US" u="sng" smtClean="0">
                <a:solidFill>
                  <a:srgbClr val="FF3300"/>
                </a:solidFill>
              </a:rPr>
              <a:t>单值</a:t>
            </a:r>
            <a:r>
              <a:rPr lang="zh-CN" altLang="en-US" u="sng" smtClean="0">
                <a:solidFill>
                  <a:srgbClr val="0000FF"/>
                </a:solidFill>
              </a:rPr>
              <a:t>连续</a:t>
            </a:r>
            <a:r>
              <a:rPr lang="zh-CN" altLang="en-US" smtClean="0"/>
              <a:t>函数，否则可能没有实根。</a:t>
            </a:r>
          </a:p>
        </p:txBody>
      </p:sp>
      <p:sp>
        <p:nvSpPr>
          <p:cNvPr id="344068" name="Rectangle 4"/>
          <p:cNvSpPr>
            <a:spLocks noChangeArrowheads="1"/>
          </p:cNvSpPr>
          <p:nvPr/>
        </p:nvSpPr>
        <p:spPr bwMode="auto">
          <a:xfrm>
            <a:off x="696915" y="3702052"/>
            <a:ext cx="8142287" cy="232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258763" indent="-258763" algn="l" defTabSz="814388">
              <a:lnSpc>
                <a:spcPct val="11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</a:pPr>
            <a:r>
              <a:rPr lang="zh-CN" altLang="en-US" sz="2800">
                <a:latin typeface="黑体" pitchFamily="49" charset="-122"/>
                <a:ea typeface="黑体" pitchFamily="49" charset="-122"/>
              </a:rPr>
              <a:t>运用此定理，可大体确定根所在子区间，方法有：</a:t>
            </a:r>
          </a:p>
          <a:p>
            <a:pPr marL="258763" indent="-258763" algn="l" defTabSz="814388">
              <a:lnSpc>
                <a:spcPct val="110000"/>
              </a:lnSpc>
              <a:spcBef>
                <a:spcPct val="35000"/>
              </a:spcBef>
              <a:buClr>
                <a:srgbClr val="27305F"/>
              </a:buClr>
              <a:buSzPct val="60000"/>
            </a:pPr>
            <a:r>
              <a:rPr lang="zh-CN" altLang="en-US" sz="2800">
                <a:latin typeface="黑体" pitchFamily="49" charset="-122"/>
                <a:ea typeface="黑体" pitchFamily="49" charset="-122"/>
              </a:rPr>
              <a:t>     (1) 画图法</a:t>
            </a:r>
          </a:p>
          <a:p>
            <a:pPr marL="258763" indent="-258763" algn="l" defTabSz="814388">
              <a:lnSpc>
                <a:spcPct val="110000"/>
              </a:lnSpc>
              <a:spcBef>
                <a:spcPct val="35000"/>
              </a:spcBef>
              <a:buClr>
                <a:srgbClr val="27305F"/>
              </a:buClr>
              <a:buSzPct val="60000"/>
            </a:pPr>
            <a:r>
              <a:rPr lang="zh-CN" altLang="en-US" sz="2800">
                <a:latin typeface="黑体" pitchFamily="49" charset="-122"/>
                <a:ea typeface="黑体" pitchFamily="49" charset="-122"/>
              </a:rPr>
              <a:t>     (2) 扫描法</a:t>
            </a:r>
          </a:p>
          <a:p>
            <a:pPr marL="258763" indent="-258763" algn="l" defTabSz="814388">
              <a:lnSpc>
                <a:spcPct val="110000"/>
              </a:lnSpc>
              <a:spcBef>
                <a:spcPct val="35000"/>
              </a:spcBef>
              <a:buClr>
                <a:srgbClr val="27305F"/>
              </a:buClr>
              <a:buSzPct val="60000"/>
            </a:pPr>
            <a:r>
              <a:rPr lang="zh-CN" altLang="en-US" sz="2800">
                <a:latin typeface="黑体" pitchFamily="49" charset="-122"/>
                <a:ea typeface="黑体" pitchFamily="49" charset="-122"/>
              </a:rPr>
              <a:t>		(</a:t>
            </a:r>
            <a:r>
              <a:rPr lang="en-US" altLang="zh-CN" sz="2800">
                <a:latin typeface="黑体" pitchFamily="49" charset="-122"/>
                <a:ea typeface="黑体" pitchFamily="49" charset="-122"/>
              </a:rPr>
              <a:t>3) </a:t>
            </a:r>
            <a:r>
              <a:rPr lang="zh-CN" altLang="en-US" sz="2800">
                <a:latin typeface="黑体" pitchFamily="49" charset="-122"/>
                <a:ea typeface="黑体" pitchFamily="49" charset="-122"/>
              </a:rPr>
              <a:t>对分法</a:t>
            </a:r>
            <a:endParaRPr lang="zh-CN" altLang="en-US" sz="2800" b="0"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371600" y="1905000"/>
            <a:ext cx="1752600" cy="1371600"/>
            <a:chOff x="480" y="2352"/>
            <a:chExt cx="1728" cy="1440"/>
          </a:xfrm>
        </p:grpSpPr>
        <p:sp>
          <p:nvSpPr>
            <p:cNvPr id="69647" name="Line 6"/>
            <p:cNvSpPr>
              <a:spLocks noChangeShapeType="1"/>
            </p:cNvSpPr>
            <p:nvPr/>
          </p:nvSpPr>
          <p:spPr bwMode="auto">
            <a:xfrm>
              <a:off x="480" y="3120"/>
              <a:ext cx="17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648" name="Line 7"/>
            <p:cNvSpPr>
              <a:spLocks noChangeShapeType="1"/>
            </p:cNvSpPr>
            <p:nvPr/>
          </p:nvSpPr>
          <p:spPr bwMode="auto">
            <a:xfrm>
              <a:off x="720" y="2352"/>
              <a:ext cx="0" cy="14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649" name="Arc 8"/>
            <p:cNvSpPr>
              <a:spLocks/>
            </p:cNvSpPr>
            <p:nvPr/>
          </p:nvSpPr>
          <p:spPr bwMode="auto">
            <a:xfrm rot="10800000">
              <a:off x="720" y="3120"/>
              <a:ext cx="1104" cy="672"/>
            </a:xfrm>
            <a:custGeom>
              <a:avLst/>
              <a:gdLst>
                <a:gd name="T0" fmla="*/ 0 w 21600"/>
                <a:gd name="T1" fmla="*/ 0 h 21600"/>
                <a:gd name="T2" fmla="*/ 56 w 21600"/>
                <a:gd name="T3" fmla="*/ 21 h 21600"/>
                <a:gd name="T4" fmla="*/ 0 w 21600"/>
                <a:gd name="T5" fmla="*/ 21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650" name="Arc 9"/>
            <p:cNvSpPr>
              <a:spLocks/>
            </p:cNvSpPr>
            <p:nvPr/>
          </p:nvSpPr>
          <p:spPr bwMode="auto">
            <a:xfrm rot="10800000" flipV="1">
              <a:off x="720" y="2448"/>
              <a:ext cx="1104" cy="624"/>
            </a:xfrm>
            <a:custGeom>
              <a:avLst/>
              <a:gdLst>
                <a:gd name="T0" fmla="*/ 0 w 21600"/>
                <a:gd name="T1" fmla="*/ 0 h 21599"/>
                <a:gd name="T2" fmla="*/ 56 w 21600"/>
                <a:gd name="T3" fmla="*/ 18 h 21599"/>
                <a:gd name="T4" fmla="*/ 0 w 21600"/>
                <a:gd name="T5" fmla="*/ 18 h 21599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599"/>
                <a:gd name="T11" fmla="*/ 21600 w 21600"/>
                <a:gd name="T12" fmla="*/ 21599 h 215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599" fill="none" extrusionOk="0">
                  <a:moveTo>
                    <a:pt x="176" y="-1"/>
                  </a:moveTo>
                  <a:cubicBezTo>
                    <a:pt x="12036" y="96"/>
                    <a:pt x="21600" y="9738"/>
                    <a:pt x="21600" y="21599"/>
                  </a:cubicBezTo>
                </a:path>
                <a:path w="21600" h="21599" stroke="0" extrusionOk="0">
                  <a:moveTo>
                    <a:pt x="176" y="-1"/>
                  </a:moveTo>
                  <a:cubicBezTo>
                    <a:pt x="12036" y="96"/>
                    <a:pt x="21600" y="9738"/>
                    <a:pt x="21600" y="21599"/>
                  </a:cubicBezTo>
                  <a:lnTo>
                    <a:pt x="0" y="21599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651" name="Line 10"/>
            <p:cNvSpPr>
              <a:spLocks noChangeShapeType="1"/>
            </p:cNvSpPr>
            <p:nvPr/>
          </p:nvSpPr>
          <p:spPr bwMode="auto">
            <a:xfrm>
              <a:off x="960" y="2688"/>
              <a:ext cx="0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652" name="Line 11"/>
            <p:cNvSpPr>
              <a:spLocks noChangeShapeType="1"/>
            </p:cNvSpPr>
            <p:nvPr/>
          </p:nvSpPr>
          <p:spPr bwMode="auto">
            <a:xfrm>
              <a:off x="1488" y="3120"/>
              <a:ext cx="0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4953000" y="1981200"/>
            <a:ext cx="1752600" cy="1371600"/>
            <a:chOff x="2400" y="2400"/>
            <a:chExt cx="1104" cy="864"/>
          </a:xfrm>
        </p:grpSpPr>
        <p:sp>
          <p:nvSpPr>
            <p:cNvPr id="69641" name="Line 13"/>
            <p:cNvSpPr>
              <a:spLocks noChangeShapeType="1"/>
            </p:cNvSpPr>
            <p:nvPr/>
          </p:nvSpPr>
          <p:spPr bwMode="auto">
            <a:xfrm>
              <a:off x="2400" y="2861"/>
              <a:ext cx="11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642" name="Line 14"/>
            <p:cNvSpPr>
              <a:spLocks noChangeShapeType="1"/>
            </p:cNvSpPr>
            <p:nvPr/>
          </p:nvSpPr>
          <p:spPr bwMode="auto">
            <a:xfrm>
              <a:off x="2553" y="2400"/>
              <a:ext cx="0" cy="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643" name="Line 15"/>
            <p:cNvSpPr>
              <a:spLocks noChangeShapeType="1"/>
            </p:cNvSpPr>
            <p:nvPr/>
          </p:nvSpPr>
          <p:spPr bwMode="auto">
            <a:xfrm>
              <a:off x="2707" y="2602"/>
              <a:ext cx="0" cy="25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644" name="Line 16"/>
            <p:cNvSpPr>
              <a:spLocks noChangeShapeType="1"/>
            </p:cNvSpPr>
            <p:nvPr/>
          </p:nvSpPr>
          <p:spPr bwMode="auto">
            <a:xfrm>
              <a:off x="3044" y="2861"/>
              <a:ext cx="0" cy="37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645" name="Line 17"/>
            <p:cNvSpPr>
              <a:spLocks noChangeShapeType="1"/>
            </p:cNvSpPr>
            <p:nvPr/>
          </p:nvSpPr>
          <p:spPr bwMode="auto">
            <a:xfrm>
              <a:off x="2544" y="2592"/>
              <a:ext cx="3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646" name="Line 18"/>
            <p:cNvSpPr>
              <a:spLocks noChangeShapeType="1"/>
            </p:cNvSpPr>
            <p:nvPr/>
          </p:nvSpPr>
          <p:spPr bwMode="auto">
            <a:xfrm>
              <a:off x="2880" y="3216"/>
              <a:ext cx="38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440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44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068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2C256049-DFEF-4AE9-902D-8B0C21175C7A}" type="slidenum">
              <a:rPr lang="zh-CN" altLang="en-US"/>
              <a:pPr/>
              <a:t>10</a:t>
            </a:fld>
            <a:endParaRPr lang="en-US" altLang="zh-CN"/>
          </a:p>
        </p:txBody>
      </p:sp>
      <p:sp>
        <p:nvSpPr>
          <p:cNvPr id="1030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2164B66F-F113-4A81-BF7E-4D629864B47E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236546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296865"/>
            <a:ext cx="8142288" cy="617537"/>
          </a:xfrm>
        </p:spPr>
        <p:txBody>
          <a:bodyPr/>
          <a:lstStyle/>
          <a:p>
            <a:pPr>
              <a:defRPr/>
            </a:pPr>
            <a:r>
              <a:rPr lang="zh-CN" altLang="en-US" sz="4500" dirty="0">
                <a:latin typeface="Times New Roman" pitchFamily="18" charset="0"/>
              </a:rPr>
              <a:t>2.1.1  画图法</a:t>
            </a:r>
          </a:p>
        </p:txBody>
      </p:sp>
      <p:sp>
        <p:nvSpPr>
          <p:cNvPr id="10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7" y="1143002"/>
            <a:ext cx="7858125" cy="248683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3200"/>
              <a:t>画出</a:t>
            </a:r>
            <a:r>
              <a:rPr lang="en-US" altLang="zh-CN" sz="3200" i="1"/>
              <a:t>y</a:t>
            </a:r>
            <a:r>
              <a:rPr lang="en-US" altLang="zh-CN" sz="3200"/>
              <a:t> =</a:t>
            </a:r>
            <a:r>
              <a:rPr lang="en-US" altLang="zh-CN" sz="3200" i="1"/>
              <a:t> f</a:t>
            </a:r>
            <a:r>
              <a:rPr lang="en-US" altLang="zh-CN" sz="3200"/>
              <a:t> (</a:t>
            </a:r>
            <a:r>
              <a:rPr lang="en-US" altLang="zh-CN" sz="3200" i="1"/>
              <a:t>x</a:t>
            </a:r>
            <a:r>
              <a:rPr lang="en-US" altLang="zh-CN" sz="3200"/>
              <a:t>)</a:t>
            </a:r>
            <a:r>
              <a:rPr lang="zh-CN" altLang="en-US" sz="3200"/>
              <a:t>的略图</a:t>
            </a:r>
            <a:endParaRPr lang="zh-CN" altLang="en-US" sz="3200" b="0"/>
          </a:p>
          <a:p>
            <a:pPr lvl="1">
              <a:lnSpc>
                <a:spcPct val="80000"/>
              </a:lnSpc>
            </a:pPr>
            <a:r>
              <a:rPr lang="en-US" altLang="zh-CN" sz="3200" i="1"/>
              <a:t>f</a:t>
            </a:r>
            <a:r>
              <a:rPr lang="en-US" altLang="zh-CN" sz="3200"/>
              <a:t>(</a:t>
            </a:r>
            <a:r>
              <a:rPr lang="en-US" altLang="zh-CN" sz="3200" i="1"/>
              <a:t>x</a:t>
            </a:r>
            <a:r>
              <a:rPr lang="en-US" altLang="zh-CN" sz="3200"/>
              <a:t>) = 0</a:t>
            </a:r>
            <a:r>
              <a:rPr lang="zh-CN" altLang="en-US" sz="3200"/>
              <a:t>分解为</a:t>
            </a:r>
            <a:r>
              <a:rPr lang="zh-CN" altLang="en-US" sz="3200" i="1">
                <a:sym typeface="Symbol" pitchFamily="18" charset="2"/>
              </a:rPr>
              <a:t></a:t>
            </a:r>
            <a:r>
              <a:rPr lang="zh-CN" altLang="en-US" sz="3200" baseline="-25000">
                <a:sym typeface="Symbol" pitchFamily="18" charset="2"/>
              </a:rPr>
              <a:t>1</a:t>
            </a:r>
            <a:r>
              <a:rPr lang="zh-CN" altLang="en-US" sz="3200"/>
              <a:t>(</a:t>
            </a:r>
            <a:r>
              <a:rPr lang="en-US" altLang="zh-CN" sz="3200" i="1"/>
              <a:t>x</a:t>
            </a:r>
            <a:r>
              <a:rPr lang="en-US" altLang="zh-CN" sz="3200"/>
              <a:t>)= </a:t>
            </a:r>
            <a:r>
              <a:rPr lang="zh-CN" altLang="en-US" sz="3200" i="1">
                <a:sym typeface="Symbol" pitchFamily="18" charset="2"/>
              </a:rPr>
              <a:t></a:t>
            </a:r>
            <a:r>
              <a:rPr lang="zh-CN" altLang="en-US" sz="3200" baseline="-25000">
                <a:sym typeface="Symbol" pitchFamily="18" charset="2"/>
              </a:rPr>
              <a:t>2</a:t>
            </a:r>
            <a:r>
              <a:rPr lang="en-US" altLang="zh-CN" sz="3200"/>
              <a:t>(</a:t>
            </a:r>
            <a:r>
              <a:rPr lang="en-US" altLang="zh-CN" sz="3200" i="1"/>
              <a:t>x</a:t>
            </a:r>
            <a:r>
              <a:rPr lang="en-US" altLang="zh-CN" sz="3200"/>
              <a:t>)</a:t>
            </a:r>
            <a:r>
              <a:rPr lang="zh-CN" altLang="en-US" sz="3200"/>
              <a:t>的形式，</a:t>
            </a:r>
          </a:p>
          <a:p>
            <a:pPr lvl="1">
              <a:lnSpc>
                <a:spcPct val="80000"/>
              </a:lnSpc>
            </a:pPr>
            <a:r>
              <a:rPr lang="zh-CN" altLang="en-US" sz="3200" i="1">
                <a:sym typeface="Symbol" pitchFamily="18" charset="2"/>
              </a:rPr>
              <a:t></a:t>
            </a:r>
            <a:r>
              <a:rPr lang="zh-CN" altLang="en-US" sz="3200" baseline="-25000">
                <a:sym typeface="Symbol" pitchFamily="18" charset="2"/>
              </a:rPr>
              <a:t>1</a:t>
            </a:r>
            <a:r>
              <a:rPr lang="zh-CN" altLang="en-US" sz="3200"/>
              <a:t>(</a:t>
            </a:r>
            <a:r>
              <a:rPr lang="en-US" altLang="zh-CN" sz="3200" i="1"/>
              <a:t>x</a:t>
            </a:r>
            <a:r>
              <a:rPr lang="en-US" altLang="zh-CN" sz="3200"/>
              <a:t>)</a:t>
            </a:r>
            <a:r>
              <a:rPr lang="zh-CN" altLang="en-US" sz="3200"/>
              <a:t>与</a:t>
            </a:r>
            <a:r>
              <a:rPr lang="zh-CN" altLang="en-US" sz="3200" i="1">
                <a:sym typeface="Symbol" pitchFamily="18" charset="2"/>
              </a:rPr>
              <a:t></a:t>
            </a:r>
            <a:r>
              <a:rPr lang="zh-CN" altLang="en-US" sz="3200" baseline="-25000">
                <a:sym typeface="Symbol" pitchFamily="18" charset="2"/>
              </a:rPr>
              <a:t>2</a:t>
            </a:r>
            <a:r>
              <a:rPr lang="zh-CN" altLang="en-US" sz="3200"/>
              <a:t>(</a:t>
            </a:r>
            <a:r>
              <a:rPr lang="en-US" altLang="zh-CN" sz="3200" i="1"/>
              <a:t>x</a:t>
            </a:r>
            <a:r>
              <a:rPr lang="en-US" altLang="zh-CN" sz="3200"/>
              <a:t>) </a:t>
            </a:r>
            <a:r>
              <a:rPr lang="zh-CN" altLang="en-US" sz="3200"/>
              <a:t>两曲线交点的横坐标所在的子区间为含根区间。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3200"/>
              <a:t>		例如   </a:t>
            </a:r>
            <a:r>
              <a:rPr lang="en-US" altLang="zh-CN" sz="3200" i="1"/>
              <a:t>x㏒x</a:t>
            </a:r>
            <a:r>
              <a:rPr lang="en-US" altLang="zh-CN" sz="3200">
                <a:latin typeface="宋体" pitchFamily="2" charset="-122"/>
              </a:rPr>
              <a:t> </a:t>
            </a:r>
            <a:r>
              <a:rPr lang="en-US" altLang="zh-CN" sz="3200"/>
              <a:t>–</a:t>
            </a:r>
            <a:r>
              <a:rPr lang="en-US" altLang="zh-CN" sz="3200">
                <a:latin typeface="宋体" pitchFamily="2" charset="-122"/>
              </a:rPr>
              <a:t> 1 = 0</a:t>
            </a:r>
            <a:endParaRPr lang="zh-CN" altLang="zh-CN" sz="3200">
              <a:latin typeface="宋体" pitchFamily="2" charset="-122"/>
            </a:endParaRPr>
          </a:p>
        </p:txBody>
      </p:sp>
      <p:graphicFrame>
        <p:nvGraphicFramePr>
          <p:cNvPr id="236549" name="Object 5"/>
          <p:cNvGraphicFramePr>
            <a:graphicFrameLocks noChangeAspect="1"/>
          </p:cNvGraphicFramePr>
          <p:nvPr/>
        </p:nvGraphicFramePr>
        <p:xfrm>
          <a:off x="3124202" y="3429002"/>
          <a:ext cx="1000125" cy="103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2" name="Equation" r:id="rId4" imgW="393529" imgH="393529" progId="Equation.3">
                  <p:embed/>
                </p:oleObj>
              </mc:Choice>
              <mc:Fallback>
                <p:oleObj name="Equation" r:id="rId4" imgW="393529" imgH="393529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2" y="3429002"/>
                        <a:ext cx="1000125" cy="1039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550" name="Object 6"/>
          <p:cNvGraphicFramePr>
            <a:graphicFrameLocks noChangeAspect="1"/>
          </p:cNvGraphicFramePr>
          <p:nvPr/>
        </p:nvGraphicFramePr>
        <p:xfrm>
          <a:off x="5910265" y="4424363"/>
          <a:ext cx="1785937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3" name="Equation" r:id="rId6" imgW="494870" imgH="203024" progId="Equation.3">
                  <p:embed/>
                </p:oleObj>
              </mc:Choice>
              <mc:Fallback>
                <p:oleObj name="Equation" r:id="rId6" imgW="494870" imgH="203024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0265" y="4424363"/>
                        <a:ext cx="1785937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551" name="Freeform 7"/>
          <p:cNvSpPr>
            <a:spLocks/>
          </p:cNvSpPr>
          <p:nvPr/>
        </p:nvSpPr>
        <p:spPr bwMode="auto">
          <a:xfrm>
            <a:off x="2903538" y="5194302"/>
            <a:ext cx="2894012" cy="1236663"/>
          </a:xfrm>
          <a:custGeom>
            <a:avLst/>
            <a:gdLst>
              <a:gd name="T0" fmla="*/ 2894012 w 1620"/>
              <a:gd name="T1" fmla="*/ 0 h 780"/>
              <a:gd name="T2" fmla="*/ 1286228 w 1620"/>
              <a:gd name="T3" fmla="*/ 247333 h 780"/>
              <a:gd name="T4" fmla="*/ 321557 w 1620"/>
              <a:gd name="T5" fmla="*/ 741998 h 780"/>
              <a:gd name="T6" fmla="*/ 0 w 1620"/>
              <a:gd name="T7" fmla="*/ 1236663 h 780"/>
              <a:gd name="T8" fmla="*/ 0 60000 65536"/>
              <a:gd name="T9" fmla="*/ 0 60000 65536"/>
              <a:gd name="T10" fmla="*/ 0 60000 65536"/>
              <a:gd name="T11" fmla="*/ 0 60000 65536"/>
              <a:gd name="T12" fmla="*/ 0 w 1620"/>
              <a:gd name="T13" fmla="*/ 0 h 780"/>
              <a:gd name="T14" fmla="*/ 1620 w 1620"/>
              <a:gd name="T15" fmla="*/ 780 h 78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20" h="780">
                <a:moveTo>
                  <a:pt x="1620" y="0"/>
                </a:moveTo>
                <a:cubicBezTo>
                  <a:pt x="1290" y="39"/>
                  <a:pt x="960" y="78"/>
                  <a:pt x="720" y="156"/>
                </a:cubicBezTo>
                <a:cubicBezTo>
                  <a:pt x="480" y="234"/>
                  <a:pt x="300" y="364"/>
                  <a:pt x="180" y="468"/>
                </a:cubicBezTo>
                <a:cubicBezTo>
                  <a:pt x="60" y="572"/>
                  <a:pt x="30" y="728"/>
                  <a:pt x="0" y="78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552" name="Freeform 8"/>
          <p:cNvSpPr>
            <a:spLocks/>
          </p:cNvSpPr>
          <p:nvPr/>
        </p:nvSpPr>
        <p:spPr bwMode="auto">
          <a:xfrm>
            <a:off x="2895602" y="3519490"/>
            <a:ext cx="2894013" cy="2224087"/>
          </a:xfrm>
          <a:custGeom>
            <a:avLst/>
            <a:gdLst>
              <a:gd name="T0" fmla="*/ 0 w 1620"/>
              <a:gd name="T1" fmla="*/ 0 h 1404"/>
              <a:gd name="T2" fmla="*/ 643114 w 1620"/>
              <a:gd name="T3" fmla="*/ 1729846 h 1404"/>
              <a:gd name="T4" fmla="*/ 2894013 w 1620"/>
              <a:gd name="T5" fmla="*/ 2224087 h 1404"/>
              <a:gd name="T6" fmla="*/ 0 60000 65536"/>
              <a:gd name="T7" fmla="*/ 0 60000 65536"/>
              <a:gd name="T8" fmla="*/ 0 60000 65536"/>
              <a:gd name="T9" fmla="*/ 0 w 1620"/>
              <a:gd name="T10" fmla="*/ 0 h 1404"/>
              <a:gd name="T11" fmla="*/ 1620 w 1620"/>
              <a:gd name="T12" fmla="*/ 1404 h 140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20" h="1404">
                <a:moveTo>
                  <a:pt x="0" y="0"/>
                </a:moveTo>
                <a:cubicBezTo>
                  <a:pt x="45" y="429"/>
                  <a:pt x="90" y="858"/>
                  <a:pt x="360" y="1092"/>
                </a:cubicBezTo>
                <a:cubicBezTo>
                  <a:pt x="630" y="1326"/>
                  <a:pt x="1125" y="1365"/>
                  <a:pt x="1620" y="1404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36555" name="Object 11"/>
          <p:cNvGraphicFramePr>
            <a:graphicFrameLocks noChangeAspect="1"/>
          </p:cNvGraphicFramePr>
          <p:nvPr/>
        </p:nvGraphicFramePr>
        <p:xfrm>
          <a:off x="3875090" y="6064250"/>
          <a:ext cx="42862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4" name="公式" r:id="rId8" imgW="152280" imgH="139680" progId="Equation.3">
                  <p:embed/>
                </p:oleObj>
              </mc:Choice>
              <mc:Fallback>
                <p:oleObj name="公式" r:id="rId8" imgW="152280" imgH="1396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5090" y="6064250"/>
                        <a:ext cx="428625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556" name="Line 12"/>
          <p:cNvSpPr>
            <a:spLocks noChangeShapeType="1"/>
          </p:cNvSpPr>
          <p:nvPr/>
        </p:nvSpPr>
        <p:spPr bwMode="auto">
          <a:xfrm>
            <a:off x="4038600" y="5500688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6558" name="Text Box 14"/>
          <p:cNvSpPr txBox="1">
            <a:spLocks noChangeArrowheads="1"/>
          </p:cNvSpPr>
          <p:nvPr/>
        </p:nvSpPr>
        <p:spPr bwMode="auto">
          <a:xfrm>
            <a:off x="3276600" y="5957890"/>
            <a:ext cx="6096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000"/>
              <a:t>2</a:t>
            </a:r>
          </a:p>
        </p:txBody>
      </p:sp>
      <p:sp>
        <p:nvSpPr>
          <p:cNvPr id="236559" name="Text Box 15"/>
          <p:cNvSpPr txBox="1">
            <a:spLocks noChangeArrowheads="1"/>
          </p:cNvSpPr>
          <p:nvPr/>
        </p:nvSpPr>
        <p:spPr bwMode="auto">
          <a:xfrm>
            <a:off x="4343400" y="5957890"/>
            <a:ext cx="6096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000"/>
              <a:t>3</a:t>
            </a: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1622427" y="3505200"/>
            <a:ext cx="5845175" cy="3200400"/>
            <a:chOff x="1022" y="2191"/>
            <a:chExt cx="3682" cy="2016"/>
          </a:xfrm>
        </p:grpSpPr>
        <p:sp>
          <p:nvSpPr>
            <p:cNvPr id="1039" name="Line 9"/>
            <p:cNvSpPr>
              <a:spLocks noChangeShapeType="1"/>
            </p:cNvSpPr>
            <p:nvPr/>
          </p:nvSpPr>
          <p:spPr bwMode="auto">
            <a:xfrm flipV="1">
              <a:off x="1628" y="2239"/>
              <a:ext cx="4" cy="19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0" name="Line 10"/>
            <p:cNvSpPr>
              <a:spLocks noChangeShapeType="1"/>
            </p:cNvSpPr>
            <p:nvPr/>
          </p:nvSpPr>
          <p:spPr bwMode="auto">
            <a:xfrm>
              <a:off x="1022" y="3764"/>
              <a:ext cx="36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1" name="Text Box 13"/>
            <p:cNvSpPr txBox="1">
              <a:spLocks noChangeArrowheads="1"/>
            </p:cNvSpPr>
            <p:nvPr/>
          </p:nvSpPr>
          <p:spPr bwMode="auto">
            <a:xfrm>
              <a:off x="1248" y="3743"/>
              <a:ext cx="384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3000"/>
                <a:t>0</a:t>
              </a:r>
            </a:p>
          </p:txBody>
        </p:sp>
        <p:sp>
          <p:nvSpPr>
            <p:cNvPr id="1042" name="Text Box 16"/>
            <p:cNvSpPr txBox="1">
              <a:spLocks noChangeArrowheads="1"/>
            </p:cNvSpPr>
            <p:nvPr/>
          </p:nvSpPr>
          <p:spPr bwMode="auto">
            <a:xfrm>
              <a:off x="1152" y="2191"/>
              <a:ext cx="384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00" i="1"/>
                <a:t>y</a:t>
              </a:r>
            </a:p>
          </p:txBody>
        </p:sp>
        <p:sp>
          <p:nvSpPr>
            <p:cNvPr id="1043" name="Text Box 17"/>
            <p:cNvSpPr txBox="1">
              <a:spLocks noChangeArrowheads="1"/>
            </p:cNvSpPr>
            <p:nvPr/>
          </p:nvSpPr>
          <p:spPr bwMode="auto">
            <a:xfrm>
              <a:off x="4320" y="3753"/>
              <a:ext cx="384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00" i="1"/>
                <a:t>x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6" presetClass="entr" presetSubtype="2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236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6" presetClass="entr" presetSubtype="2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6" dur="500"/>
                                        <p:tgtEl>
                                          <p:spTgt spid="236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8" presetID="16" presetClass="entr" presetSubtype="2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0" dur="500"/>
                                        <p:tgtEl>
                                          <p:spTgt spid="236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2" presetID="16" presetClass="entr" presetSubtype="2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4" dur="500"/>
                                        <p:tgtEl>
                                          <p:spTgt spid="236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6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6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1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36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36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36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6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6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41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6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6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551" grpId="0" animBg="1"/>
      <p:bldP spid="236552" grpId="0" animBg="1"/>
      <p:bldP spid="236556" grpId="0" animBg="1"/>
      <p:bldP spid="236558" grpId="0" autoUpdateAnimBg="0"/>
      <p:bldP spid="236559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98FE1944-D28B-4CBD-A235-DF540BE1434B}" type="slidenum">
              <a:rPr lang="zh-CN" altLang="en-US"/>
              <a:pPr/>
              <a:t>11</a:t>
            </a:fld>
            <a:endParaRPr lang="en-US" altLang="zh-CN"/>
          </a:p>
        </p:txBody>
      </p:sp>
      <p:sp>
        <p:nvSpPr>
          <p:cNvPr id="70659" name="日期占位符 2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BA313BD7-EAD8-42EC-B843-053FC4A9CA40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70660" name="Rectangle 3"/>
          <p:cNvSpPr>
            <a:spLocks noChangeArrowheads="1"/>
          </p:cNvSpPr>
          <p:nvPr/>
        </p:nvSpPr>
        <p:spPr bwMode="auto">
          <a:xfrm>
            <a:off x="600075" y="1295400"/>
            <a:ext cx="8142288" cy="443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258763" indent="-258763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</a:pP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对于某些看不清根的函数，可以扩大曲线</a:t>
            </a:r>
            <a:endParaRPr lang="zh-CN" altLang="zh-CN" sz="3200" b="0">
              <a:latin typeface="宋体" pitchFamily="2" charset="-122"/>
              <a:ea typeface="黑体" pitchFamily="49" charset="-122"/>
            </a:endParaRPr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2279650" y="1946277"/>
            <a:ext cx="615950" cy="4073525"/>
            <a:chOff x="1436" y="1226"/>
            <a:chExt cx="388" cy="2566"/>
          </a:xfrm>
        </p:grpSpPr>
        <p:sp>
          <p:nvSpPr>
            <p:cNvPr id="70673" name="Line 4"/>
            <p:cNvSpPr>
              <a:spLocks noChangeShapeType="1"/>
            </p:cNvSpPr>
            <p:nvPr/>
          </p:nvSpPr>
          <p:spPr bwMode="auto">
            <a:xfrm flipV="1">
              <a:off x="1436" y="1301"/>
              <a:ext cx="0" cy="24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4" name="Text Box 7"/>
            <p:cNvSpPr txBox="1">
              <a:spLocks noChangeArrowheads="1"/>
            </p:cNvSpPr>
            <p:nvPr/>
          </p:nvSpPr>
          <p:spPr bwMode="auto">
            <a:xfrm>
              <a:off x="1440" y="1226"/>
              <a:ext cx="384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00" i="1"/>
                <a:t>y</a:t>
              </a:r>
            </a:p>
          </p:txBody>
        </p:sp>
      </p:grp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1317627" y="4495800"/>
            <a:ext cx="5845175" cy="565150"/>
            <a:chOff x="830" y="2832"/>
            <a:chExt cx="3682" cy="356"/>
          </a:xfrm>
        </p:grpSpPr>
        <p:sp>
          <p:nvSpPr>
            <p:cNvPr id="70670" name="Line 5"/>
            <p:cNvSpPr>
              <a:spLocks noChangeShapeType="1"/>
            </p:cNvSpPr>
            <p:nvPr/>
          </p:nvSpPr>
          <p:spPr bwMode="auto">
            <a:xfrm>
              <a:off x="830" y="2853"/>
              <a:ext cx="36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1" name="Text Box 6"/>
            <p:cNvSpPr txBox="1">
              <a:spLocks noChangeArrowheads="1"/>
            </p:cNvSpPr>
            <p:nvPr/>
          </p:nvSpPr>
          <p:spPr bwMode="auto">
            <a:xfrm>
              <a:off x="1056" y="2832"/>
              <a:ext cx="384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3000"/>
                <a:t>0</a:t>
              </a:r>
            </a:p>
          </p:txBody>
        </p:sp>
        <p:sp>
          <p:nvSpPr>
            <p:cNvPr id="70672" name="Text Box 8"/>
            <p:cNvSpPr txBox="1">
              <a:spLocks noChangeArrowheads="1"/>
            </p:cNvSpPr>
            <p:nvPr/>
          </p:nvSpPr>
          <p:spPr bwMode="auto">
            <a:xfrm>
              <a:off x="4128" y="2842"/>
              <a:ext cx="384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00" i="1"/>
                <a:t>x</a:t>
              </a:r>
            </a:p>
          </p:txBody>
        </p:sp>
      </p:grp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3276600" y="2362200"/>
            <a:ext cx="4114800" cy="3505200"/>
            <a:chOff x="2064" y="1488"/>
            <a:chExt cx="2592" cy="2208"/>
          </a:xfrm>
        </p:grpSpPr>
        <p:sp>
          <p:nvSpPr>
            <p:cNvPr id="70668" name="Freeform 10"/>
            <p:cNvSpPr>
              <a:spLocks/>
            </p:cNvSpPr>
            <p:nvPr/>
          </p:nvSpPr>
          <p:spPr bwMode="auto">
            <a:xfrm>
              <a:off x="2064" y="1584"/>
              <a:ext cx="1728" cy="2112"/>
            </a:xfrm>
            <a:custGeom>
              <a:avLst/>
              <a:gdLst>
                <a:gd name="T0" fmla="*/ 1687 w 1672"/>
                <a:gd name="T1" fmla="*/ 0 h 2112"/>
                <a:gd name="T2" fmla="*/ 1687 w 1672"/>
                <a:gd name="T3" fmla="*/ 528 h 2112"/>
                <a:gd name="T4" fmla="*/ 1439 w 1672"/>
                <a:gd name="T5" fmla="*/ 1056 h 2112"/>
                <a:gd name="T6" fmla="*/ 1240 w 1672"/>
                <a:gd name="T7" fmla="*/ 1248 h 2112"/>
                <a:gd name="T8" fmla="*/ 744 w 1672"/>
                <a:gd name="T9" fmla="*/ 1248 h 2112"/>
                <a:gd name="T10" fmla="*/ 397 w 1672"/>
                <a:gd name="T11" fmla="*/ 1392 h 2112"/>
                <a:gd name="T12" fmla="*/ 99 w 1672"/>
                <a:gd name="T13" fmla="*/ 1824 h 2112"/>
                <a:gd name="T14" fmla="*/ 0 w 1672"/>
                <a:gd name="T15" fmla="*/ 2112 h 211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672"/>
                <a:gd name="T25" fmla="*/ 0 h 2112"/>
                <a:gd name="T26" fmla="*/ 1672 w 1672"/>
                <a:gd name="T27" fmla="*/ 2112 h 2112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672" h="2112">
                  <a:moveTo>
                    <a:pt x="1632" y="0"/>
                  </a:moveTo>
                  <a:cubicBezTo>
                    <a:pt x="1652" y="176"/>
                    <a:pt x="1672" y="352"/>
                    <a:pt x="1632" y="528"/>
                  </a:cubicBezTo>
                  <a:cubicBezTo>
                    <a:pt x="1592" y="704"/>
                    <a:pt x="1464" y="936"/>
                    <a:pt x="1392" y="1056"/>
                  </a:cubicBezTo>
                  <a:cubicBezTo>
                    <a:pt x="1320" y="1176"/>
                    <a:pt x="1312" y="1216"/>
                    <a:pt x="1200" y="1248"/>
                  </a:cubicBezTo>
                  <a:cubicBezTo>
                    <a:pt x="1088" y="1280"/>
                    <a:pt x="856" y="1224"/>
                    <a:pt x="720" y="1248"/>
                  </a:cubicBezTo>
                  <a:cubicBezTo>
                    <a:pt x="584" y="1272"/>
                    <a:pt x="488" y="1296"/>
                    <a:pt x="384" y="1392"/>
                  </a:cubicBezTo>
                  <a:cubicBezTo>
                    <a:pt x="280" y="1488"/>
                    <a:pt x="160" y="1704"/>
                    <a:pt x="96" y="1824"/>
                  </a:cubicBezTo>
                  <a:cubicBezTo>
                    <a:pt x="32" y="1944"/>
                    <a:pt x="16" y="2028"/>
                    <a:pt x="0" y="2112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669" name="Text Box 12"/>
            <p:cNvSpPr txBox="1">
              <a:spLocks noChangeArrowheads="1"/>
            </p:cNvSpPr>
            <p:nvPr/>
          </p:nvSpPr>
          <p:spPr bwMode="auto">
            <a:xfrm>
              <a:off x="3696" y="1488"/>
              <a:ext cx="960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00" b="0" i="1"/>
                <a:t>y=f(x)</a:t>
              </a:r>
            </a:p>
          </p:txBody>
        </p:sp>
      </p:grp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4191000" y="2362200"/>
            <a:ext cx="1600200" cy="3505200"/>
            <a:chOff x="2640" y="1488"/>
            <a:chExt cx="1008" cy="2208"/>
          </a:xfrm>
        </p:grpSpPr>
        <p:sp>
          <p:nvSpPr>
            <p:cNvPr id="70666" name="Freeform 11"/>
            <p:cNvSpPr>
              <a:spLocks/>
            </p:cNvSpPr>
            <p:nvPr/>
          </p:nvSpPr>
          <p:spPr bwMode="auto">
            <a:xfrm>
              <a:off x="2640" y="1584"/>
              <a:ext cx="912" cy="2112"/>
            </a:xfrm>
            <a:custGeom>
              <a:avLst/>
              <a:gdLst>
                <a:gd name="T0" fmla="*/ 912 w 912"/>
                <a:gd name="T1" fmla="*/ 0 h 2112"/>
                <a:gd name="T2" fmla="*/ 864 w 912"/>
                <a:gd name="T3" fmla="*/ 624 h 2112"/>
                <a:gd name="T4" fmla="*/ 624 w 912"/>
                <a:gd name="T5" fmla="*/ 1152 h 2112"/>
                <a:gd name="T6" fmla="*/ 384 w 912"/>
                <a:gd name="T7" fmla="*/ 1248 h 2112"/>
                <a:gd name="T8" fmla="*/ 192 w 912"/>
                <a:gd name="T9" fmla="*/ 1488 h 2112"/>
                <a:gd name="T10" fmla="*/ 96 w 912"/>
                <a:gd name="T11" fmla="*/ 1680 h 2112"/>
                <a:gd name="T12" fmla="*/ 0 w 912"/>
                <a:gd name="T13" fmla="*/ 2112 h 2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12"/>
                <a:gd name="T22" fmla="*/ 0 h 2112"/>
                <a:gd name="T23" fmla="*/ 912 w 912"/>
                <a:gd name="T24" fmla="*/ 2112 h 211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12" h="2112">
                  <a:moveTo>
                    <a:pt x="912" y="0"/>
                  </a:moveTo>
                  <a:cubicBezTo>
                    <a:pt x="912" y="216"/>
                    <a:pt x="912" y="432"/>
                    <a:pt x="864" y="624"/>
                  </a:cubicBezTo>
                  <a:cubicBezTo>
                    <a:pt x="816" y="816"/>
                    <a:pt x="704" y="1048"/>
                    <a:pt x="624" y="1152"/>
                  </a:cubicBezTo>
                  <a:cubicBezTo>
                    <a:pt x="544" y="1256"/>
                    <a:pt x="456" y="1192"/>
                    <a:pt x="384" y="1248"/>
                  </a:cubicBezTo>
                  <a:cubicBezTo>
                    <a:pt x="312" y="1304"/>
                    <a:pt x="240" y="1416"/>
                    <a:pt x="192" y="1488"/>
                  </a:cubicBezTo>
                  <a:cubicBezTo>
                    <a:pt x="144" y="1560"/>
                    <a:pt x="128" y="1576"/>
                    <a:pt x="96" y="1680"/>
                  </a:cubicBezTo>
                  <a:cubicBezTo>
                    <a:pt x="64" y="1784"/>
                    <a:pt x="16" y="2040"/>
                    <a:pt x="0" y="2112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667" name="Text Box 13"/>
            <p:cNvSpPr txBox="1">
              <a:spLocks noChangeArrowheads="1"/>
            </p:cNvSpPr>
            <p:nvPr/>
          </p:nvSpPr>
          <p:spPr bwMode="auto">
            <a:xfrm>
              <a:off x="2688" y="1488"/>
              <a:ext cx="960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00" b="0" i="1"/>
                <a:t>y=kf(x)</a:t>
              </a:r>
            </a:p>
          </p:txBody>
        </p:sp>
      </p:grpSp>
      <p:sp>
        <p:nvSpPr>
          <p:cNvPr id="239632" name="Rectangle 16"/>
          <p:cNvSpPr>
            <a:spLocks noChangeArrowheads="1"/>
          </p:cNvSpPr>
          <p:nvPr/>
        </p:nvSpPr>
        <p:spPr bwMode="auto">
          <a:xfrm>
            <a:off x="600075" y="296865"/>
            <a:ext cx="8142288" cy="6175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dist="17961" dir="2700000" algn="ctr" rotWithShape="0">
              <a:schemeClr val="bg2"/>
            </a:outerShdw>
          </a:effectLst>
        </p:spPr>
        <p:txBody>
          <a:bodyPr lIns="0" tIns="0" rIns="0" bIns="0" anchor="b">
            <a:spAutoFit/>
          </a:bodyPr>
          <a:lstStyle/>
          <a:p>
            <a:pPr algn="l" defTabSz="814388">
              <a:lnSpc>
                <a:spcPct val="90000"/>
              </a:lnSpc>
              <a:defRPr/>
            </a:pPr>
            <a:r>
              <a:rPr lang="en-US" altLang="zh-CN" sz="450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2.1.1 </a:t>
            </a:r>
            <a:r>
              <a:rPr lang="zh-CN" altLang="en-US" sz="450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画图法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421A008F-92BD-474E-A22E-7D1435FB20FD}" type="slidenum">
              <a:rPr lang="zh-CN" altLang="en-US"/>
              <a:pPr/>
              <a:t>12</a:t>
            </a:fld>
            <a:endParaRPr lang="en-US" altLang="zh-CN"/>
          </a:p>
        </p:txBody>
      </p:sp>
      <p:sp>
        <p:nvSpPr>
          <p:cNvPr id="71683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D9C2D50F-ACA5-492F-BBED-4075069069F5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296865"/>
            <a:ext cx="8142288" cy="617537"/>
          </a:xfrm>
        </p:spPr>
        <p:txBody>
          <a:bodyPr/>
          <a:lstStyle/>
          <a:p>
            <a:pPr>
              <a:defRPr/>
            </a:pPr>
            <a:r>
              <a:rPr lang="zh-CN" altLang="en-US" sz="4500" dirty="0">
                <a:latin typeface="Times New Roman" pitchFamily="18" charset="0"/>
              </a:rPr>
              <a:t>2.1.2   扫描法</a:t>
            </a:r>
          </a:p>
        </p:txBody>
      </p:sp>
      <p:sp>
        <p:nvSpPr>
          <p:cNvPr id="716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143002"/>
            <a:ext cx="8142288" cy="2752725"/>
          </a:xfrm>
        </p:spPr>
        <p:txBody>
          <a:bodyPr/>
          <a:lstStyle/>
          <a:p>
            <a:r>
              <a:rPr lang="zh-CN" altLang="en-US" smtClean="0">
                <a:latin typeface="宋体" pitchFamily="2" charset="-122"/>
              </a:rPr>
              <a:t>给定的</a:t>
            </a:r>
            <a:r>
              <a:rPr lang="en-US" altLang="zh-CN" i="1" smtClean="0">
                <a:cs typeface="Times New Roman" pitchFamily="18" charset="0"/>
              </a:rPr>
              <a:t>f </a:t>
            </a:r>
            <a:r>
              <a:rPr lang="en-US" altLang="zh-CN" smtClean="0">
                <a:cs typeface="Times New Roman" pitchFamily="18" charset="0"/>
              </a:rPr>
              <a:t>(</a:t>
            </a:r>
            <a:r>
              <a:rPr lang="en-US" altLang="zh-CN" i="1" smtClean="0">
                <a:cs typeface="Times New Roman" pitchFamily="18" charset="0"/>
              </a:rPr>
              <a:t>x</a:t>
            </a:r>
            <a:r>
              <a:rPr lang="en-US" altLang="zh-CN" smtClean="0">
                <a:cs typeface="Times New Roman" pitchFamily="18" charset="0"/>
              </a:rPr>
              <a:t>)</a:t>
            </a:r>
            <a:r>
              <a:rPr lang="en-US" altLang="zh-CN" smtClean="0">
                <a:latin typeface="宋体" pitchFamily="2" charset="-122"/>
              </a:rPr>
              <a:t>，</a:t>
            </a:r>
            <a:r>
              <a:rPr lang="zh-CN" altLang="en-US" smtClean="0">
                <a:latin typeface="宋体" pitchFamily="2" charset="-122"/>
              </a:rPr>
              <a:t>设有根区间为</a:t>
            </a:r>
            <a:r>
              <a:rPr lang="zh-CN" altLang="en-US" smtClean="0">
                <a:cs typeface="Times New Roman" pitchFamily="18" charset="0"/>
              </a:rPr>
              <a:t>[</a:t>
            </a:r>
            <a:r>
              <a:rPr lang="en-US" altLang="zh-CN" smtClean="0">
                <a:cs typeface="Times New Roman" pitchFamily="18" charset="0"/>
              </a:rPr>
              <a:t>A</a:t>
            </a:r>
            <a:r>
              <a:rPr lang="en-US" altLang="zh-CN" smtClean="0">
                <a:latin typeface="宋体" pitchFamily="2" charset="-122"/>
              </a:rPr>
              <a:t>,</a:t>
            </a:r>
            <a:r>
              <a:rPr lang="en-US" altLang="zh-CN" smtClean="0">
                <a:cs typeface="Times New Roman" pitchFamily="18" charset="0"/>
              </a:rPr>
              <a:t>B]</a:t>
            </a:r>
            <a:r>
              <a:rPr lang="en-US" altLang="zh-CN" smtClean="0">
                <a:latin typeface="宋体" pitchFamily="2" charset="-122"/>
              </a:rPr>
              <a:t>，</a:t>
            </a:r>
            <a:r>
              <a:rPr lang="zh-CN" altLang="en-US" smtClean="0">
                <a:latin typeface="宋体" pitchFamily="2" charset="-122"/>
              </a:rPr>
              <a:t>从</a:t>
            </a:r>
            <a:r>
              <a:rPr lang="en-US" altLang="zh-CN" i="1" smtClean="0">
                <a:cs typeface="Times New Roman" pitchFamily="18" charset="0"/>
              </a:rPr>
              <a:t>x</a:t>
            </a:r>
            <a:r>
              <a:rPr lang="en-US" altLang="zh-CN" baseline="-25000" smtClean="0">
                <a:cs typeface="Times New Roman" pitchFamily="18" charset="0"/>
              </a:rPr>
              <a:t>0</a:t>
            </a:r>
            <a:r>
              <a:rPr lang="en-US" altLang="zh-CN" smtClean="0">
                <a:cs typeface="Times New Roman" pitchFamily="18" charset="0"/>
              </a:rPr>
              <a:t>=A</a:t>
            </a:r>
            <a:r>
              <a:rPr lang="zh-CN" altLang="en-US" smtClean="0">
                <a:latin typeface="宋体" pitchFamily="2" charset="-122"/>
              </a:rPr>
              <a:t>出发，</a:t>
            </a:r>
          </a:p>
          <a:p>
            <a:pPr lvl="1"/>
            <a:r>
              <a:rPr lang="zh-CN" altLang="en-US" smtClean="0">
                <a:latin typeface="宋体" pitchFamily="2" charset="-122"/>
              </a:rPr>
              <a:t>以步长</a:t>
            </a:r>
            <a:r>
              <a:rPr lang="en-US" altLang="zh-CN" i="1" smtClean="0">
                <a:cs typeface="Times New Roman" pitchFamily="18" charset="0"/>
              </a:rPr>
              <a:t>h</a:t>
            </a:r>
            <a:r>
              <a:rPr lang="en-US" altLang="zh-CN" smtClean="0">
                <a:cs typeface="Times New Roman" pitchFamily="18" charset="0"/>
              </a:rPr>
              <a:t>=(B-A)/</a:t>
            </a:r>
            <a:r>
              <a:rPr lang="en-US" altLang="zh-CN" i="1" smtClean="0">
                <a:cs typeface="Times New Roman" pitchFamily="18" charset="0"/>
              </a:rPr>
              <a:t>n</a:t>
            </a:r>
            <a:r>
              <a:rPr lang="en-US" altLang="zh-CN" smtClean="0">
                <a:cs typeface="Times New Roman" pitchFamily="18" charset="0"/>
              </a:rPr>
              <a:t>(</a:t>
            </a:r>
            <a:r>
              <a:rPr lang="en-US" altLang="zh-CN" i="1" smtClean="0">
                <a:cs typeface="Times New Roman" pitchFamily="18" charset="0"/>
              </a:rPr>
              <a:t>n</a:t>
            </a:r>
            <a:r>
              <a:rPr lang="zh-CN" altLang="en-US" smtClean="0"/>
              <a:t>是</a:t>
            </a:r>
            <a:r>
              <a:rPr lang="zh-CN" altLang="en-US" smtClean="0">
                <a:latin typeface="宋体" pitchFamily="2" charset="-122"/>
              </a:rPr>
              <a:t>正整数</a:t>
            </a:r>
            <a:r>
              <a:rPr lang="zh-CN" altLang="en-US" smtClean="0">
                <a:cs typeface="Times New Roman" pitchFamily="18" charset="0"/>
              </a:rPr>
              <a:t>)</a:t>
            </a:r>
            <a:r>
              <a:rPr lang="zh-CN" altLang="en-US" smtClean="0">
                <a:latin typeface="宋体" pitchFamily="2" charset="-122"/>
              </a:rPr>
              <a:t>，在</a:t>
            </a:r>
            <a:r>
              <a:rPr lang="zh-CN" altLang="en-US" smtClean="0">
                <a:cs typeface="Times New Roman" pitchFamily="18" charset="0"/>
              </a:rPr>
              <a:t>[</a:t>
            </a:r>
            <a:r>
              <a:rPr lang="en-US" altLang="zh-CN" smtClean="0">
                <a:cs typeface="Times New Roman" pitchFamily="18" charset="0"/>
              </a:rPr>
              <a:t>A</a:t>
            </a:r>
            <a:r>
              <a:rPr lang="en-US" altLang="zh-CN" smtClean="0">
                <a:latin typeface="宋体" pitchFamily="2" charset="-122"/>
              </a:rPr>
              <a:t>,</a:t>
            </a:r>
            <a:r>
              <a:rPr lang="en-US" altLang="zh-CN" smtClean="0">
                <a:cs typeface="Times New Roman" pitchFamily="18" charset="0"/>
              </a:rPr>
              <a:t>B]</a:t>
            </a:r>
            <a:r>
              <a:rPr lang="zh-CN" altLang="en-US" smtClean="0">
                <a:latin typeface="宋体" pitchFamily="2" charset="-122"/>
              </a:rPr>
              <a:t>内取定节点：</a:t>
            </a:r>
            <a:r>
              <a:rPr lang="en-US" altLang="zh-CN" i="1" smtClean="0">
                <a:cs typeface="Times New Roman" pitchFamily="18" charset="0"/>
              </a:rPr>
              <a:t>x</a:t>
            </a:r>
            <a:r>
              <a:rPr lang="en-US" altLang="zh-CN" baseline="-25000" smtClean="0">
                <a:cs typeface="Times New Roman" pitchFamily="18" charset="0"/>
              </a:rPr>
              <a:t>i</a:t>
            </a:r>
            <a:r>
              <a:rPr lang="en-US" altLang="zh-CN" smtClean="0">
                <a:cs typeface="Times New Roman" pitchFamily="18" charset="0"/>
              </a:rPr>
              <a:t>=</a:t>
            </a:r>
            <a:r>
              <a:rPr lang="en-US" altLang="zh-CN" i="1" smtClean="0">
                <a:cs typeface="Times New Roman" pitchFamily="18" charset="0"/>
              </a:rPr>
              <a:t>x</a:t>
            </a:r>
            <a:r>
              <a:rPr lang="en-US" altLang="zh-CN" baseline="-25000" smtClean="0">
                <a:cs typeface="Times New Roman" pitchFamily="18" charset="0"/>
              </a:rPr>
              <a:t>0</a:t>
            </a:r>
            <a:r>
              <a:rPr lang="en-US" altLang="zh-CN" smtClean="0">
                <a:latin typeface="宋体" pitchFamily="2" charset="-122"/>
              </a:rPr>
              <a:t>＋</a:t>
            </a:r>
            <a:r>
              <a:rPr lang="en-US" altLang="zh-CN" i="1" smtClean="0">
                <a:cs typeface="Times New Roman" pitchFamily="18" charset="0"/>
              </a:rPr>
              <a:t>ih</a:t>
            </a:r>
            <a:r>
              <a:rPr lang="en-US" altLang="zh-CN" smtClean="0">
                <a:cs typeface="Times New Roman" pitchFamily="18" charset="0"/>
              </a:rPr>
              <a:t> (</a:t>
            </a:r>
            <a:r>
              <a:rPr lang="en-US" altLang="zh-CN" i="1" smtClean="0">
                <a:cs typeface="Times New Roman" pitchFamily="18" charset="0"/>
              </a:rPr>
              <a:t>i</a:t>
            </a:r>
            <a:r>
              <a:rPr lang="en-US" altLang="zh-CN" smtClean="0">
                <a:cs typeface="Times New Roman" pitchFamily="18" charset="0"/>
              </a:rPr>
              <a:t>=0</a:t>
            </a:r>
            <a:r>
              <a:rPr lang="en-US" altLang="zh-CN" smtClean="0">
                <a:latin typeface="宋体" pitchFamily="2" charset="-122"/>
              </a:rPr>
              <a:t>，</a:t>
            </a:r>
            <a:r>
              <a:rPr lang="en-US" altLang="zh-CN" smtClean="0">
                <a:cs typeface="Times New Roman" pitchFamily="18" charset="0"/>
              </a:rPr>
              <a:t>1</a:t>
            </a:r>
            <a:r>
              <a:rPr lang="en-US" altLang="zh-CN" smtClean="0">
                <a:latin typeface="宋体" pitchFamily="2" charset="-122"/>
              </a:rPr>
              <a:t>，</a:t>
            </a:r>
            <a:r>
              <a:rPr lang="en-US" altLang="zh-CN" smtClean="0">
                <a:cs typeface="Times New Roman" pitchFamily="18" charset="0"/>
              </a:rPr>
              <a:t>2</a:t>
            </a:r>
            <a:r>
              <a:rPr lang="en-US" altLang="zh-CN" smtClean="0">
                <a:latin typeface="宋体" pitchFamily="2" charset="-122"/>
              </a:rPr>
              <a:t>，</a:t>
            </a:r>
            <a:r>
              <a:rPr lang="en-US" altLang="zh-CN" smtClean="0"/>
              <a:t>…</a:t>
            </a:r>
            <a:r>
              <a:rPr lang="en-US" altLang="zh-CN" smtClean="0">
                <a:latin typeface="宋体" pitchFamily="2" charset="-122"/>
              </a:rPr>
              <a:t>，</a:t>
            </a:r>
            <a:r>
              <a:rPr lang="en-US" altLang="zh-CN" i="1" smtClean="0">
                <a:cs typeface="Times New Roman" pitchFamily="18" charset="0"/>
              </a:rPr>
              <a:t>n</a:t>
            </a:r>
            <a:r>
              <a:rPr lang="en-US" altLang="zh-CN" smtClean="0">
                <a:cs typeface="Times New Roman" pitchFamily="18" charset="0"/>
              </a:rPr>
              <a:t>)</a:t>
            </a:r>
            <a:r>
              <a:rPr lang="en-US" altLang="zh-CN" smtClean="0">
                <a:latin typeface="宋体" pitchFamily="2" charset="-122"/>
              </a:rPr>
              <a:t>，</a:t>
            </a:r>
          </a:p>
          <a:p>
            <a:pPr lvl="1"/>
            <a:r>
              <a:rPr lang="zh-CN" altLang="en-US" smtClean="0">
                <a:latin typeface="宋体" pitchFamily="2" charset="-122"/>
              </a:rPr>
              <a:t>从左至右检查</a:t>
            </a:r>
            <a:r>
              <a:rPr lang="en-US" altLang="zh-CN" i="1" smtClean="0">
                <a:cs typeface="Times New Roman" pitchFamily="18" charset="0"/>
              </a:rPr>
              <a:t>f </a:t>
            </a:r>
            <a:r>
              <a:rPr lang="en-US" altLang="zh-CN" smtClean="0">
                <a:cs typeface="Times New Roman" pitchFamily="18" charset="0"/>
              </a:rPr>
              <a:t>(</a:t>
            </a:r>
            <a:r>
              <a:rPr lang="en-US" altLang="zh-CN" i="1" smtClean="0">
                <a:cs typeface="Times New Roman" pitchFamily="18" charset="0"/>
              </a:rPr>
              <a:t>x</a:t>
            </a:r>
            <a:r>
              <a:rPr lang="en-US" altLang="zh-CN" baseline="-25000" smtClean="0">
                <a:cs typeface="Times New Roman" pitchFamily="18" charset="0"/>
              </a:rPr>
              <a:t>i</a:t>
            </a:r>
            <a:r>
              <a:rPr lang="en-US" altLang="zh-CN" smtClean="0">
                <a:cs typeface="Times New Roman" pitchFamily="18" charset="0"/>
              </a:rPr>
              <a:t>)</a:t>
            </a:r>
            <a:r>
              <a:rPr lang="zh-CN" altLang="en-US" smtClean="0">
                <a:latin typeface="宋体" pitchFamily="2" charset="-122"/>
              </a:rPr>
              <a:t>的符号，</a:t>
            </a:r>
          </a:p>
          <a:p>
            <a:pPr lvl="1"/>
            <a:r>
              <a:rPr lang="zh-CN" altLang="en-US" smtClean="0">
                <a:latin typeface="宋体" pitchFamily="2" charset="-122"/>
              </a:rPr>
              <a:t>如发现</a:t>
            </a:r>
            <a:r>
              <a:rPr lang="en-US" altLang="zh-CN" i="1" smtClean="0">
                <a:cs typeface="Times New Roman" pitchFamily="18" charset="0"/>
              </a:rPr>
              <a:t>x</a:t>
            </a:r>
            <a:r>
              <a:rPr lang="en-US" altLang="zh-CN" baseline="-25000" smtClean="0">
                <a:cs typeface="Times New Roman" pitchFamily="18" charset="0"/>
              </a:rPr>
              <a:t>i</a:t>
            </a:r>
            <a:r>
              <a:rPr lang="zh-CN" altLang="en-US" smtClean="0">
                <a:latin typeface="宋体" pitchFamily="2" charset="-122"/>
              </a:rPr>
              <a:t>与端点</a:t>
            </a:r>
            <a:r>
              <a:rPr lang="en-US" altLang="zh-CN" i="1" smtClean="0">
                <a:cs typeface="Times New Roman" pitchFamily="18" charset="0"/>
              </a:rPr>
              <a:t>x</a:t>
            </a:r>
            <a:r>
              <a:rPr lang="en-US" altLang="zh-CN" baseline="-25000" smtClean="0">
                <a:cs typeface="Times New Roman" pitchFamily="18" charset="0"/>
              </a:rPr>
              <a:t>0</a:t>
            </a:r>
            <a:r>
              <a:rPr lang="zh-CN" altLang="en-US" smtClean="0">
                <a:latin typeface="宋体" pitchFamily="2" charset="-122"/>
              </a:rPr>
              <a:t>的函数值异号，则得到一个缩小的有根子区间［</a:t>
            </a:r>
            <a:r>
              <a:rPr lang="en-US" altLang="zh-CN" i="1" smtClean="0">
                <a:cs typeface="Times New Roman" pitchFamily="18" charset="0"/>
              </a:rPr>
              <a:t>x</a:t>
            </a:r>
            <a:r>
              <a:rPr lang="en-US" altLang="zh-CN" i="1" baseline="-25000" smtClean="0">
                <a:cs typeface="Times New Roman" pitchFamily="18" charset="0"/>
              </a:rPr>
              <a:t>i</a:t>
            </a:r>
            <a:r>
              <a:rPr lang="en-US" altLang="zh-CN" baseline="-25000" smtClean="0">
                <a:cs typeface="Times New Roman" pitchFamily="18" charset="0"/>
              </a:rPr>
              <a:t>-1</a:t>
            </a:r>
            <a:r>
              <a:rPr lang="en-US" altLang="zh-CN" smtClean="0">
                <a:latin typeface="宋体" pitchFamily="2" charset="-122"/>
              </a:rPr>
              <a:t>,</a:t>
            </a:r>
            <a:r>
              <a:rPr lang="en-US" altLang="zh-CN" i="1" smtClean="0">
                <a:cs typeface="Times New Roman" pitchFamily="18" charset="0"/>
              </a:rPr>
              <a:t>x</a:t>
            </a:r>
            <a:r>
              <a:rPr lang="en-US" altLang="zh-CN" i="1" baseline="-25000" smtClean="0">
                <a:cs typeface="Times New Roman" pitchFamily="18" charset="0"/>
              </a:rPr>
              <a:t>i</a:t>
            </a:r>
            <a:r>
              <a:rPr lang="en-US" altLang="zh-CN" smtClean="0">
                <a:latin typeface="宋体" pitchFamily="2" charset="-122"/>
              </a:rPr>
              <a:t>］。</a:t>
            </a:r>
            <a:endParaRPr lang="zh-CN" altLang="en-US" smtClean="0">
              <a:latin typeface="宋体" pitchFamily="2" charset="-122"/>
            </a:endParaRPr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838200" y="3962400"/>
            <a:ext cx="7315200" cy="2438400"/>
            <a:chOff x="384" y="2352"/>
            <a:chExt cx="4608" cy="1536"/>
          </a:xfrm>
        </p:grpSpPr>
        <p:grpSp>
          <p:nvGrpSpPr>
            <p:cNvPr id="71699" name="Group 4"/>
            <p:cNvGrpSpPr>
              <a:grpSpLocks/>
            </p:cNvGrpSpPr>
            <p:nvPr/>
          </p:nvGrpSpPr>
          <p:grpSpPr bwMode="auto">
            <a:xfrm>
              <a:off x="1008" y="2352"/>
              <a:ext cx="388" cy="1536"/>
              <a:chOff x="1436" y="1226"/>
              <a:chExt cx="388" cy="2566"/>
            </a:xfrm>
          </p:grpSpPr>
          <p:sp>
            <p:nvSpPr>
              <p:cNvPr id="71705" name="Line 5"/>
              <p:cNvSpPr>
                <a:spLocks noChangeShapeType="1"/>
              </p:cNvSpPr>
              <p:nvPr/>
            </p:nvSpPr>
            <p:spPr bwMode="auto">
              <a:xfrm flipV="1">
                <a:off x="1436" y="1301"/>
                <a:ext cx="0" cy="249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06" name="Text Box 6"/>
              <p:cNvSpPr txBox="1">
                <a:spLocks noChangeArrowheads="1"/>
              </p:cNvSpPr>
              <p:nvPr/>
            </p:nvSpPr>
            <p:spPr bwMode="auto">
              <a:xfrm>
                <a:off x="1440" y="1226"/>
                <a:ext cx="384" cy="5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3000" i="1"/>
                  <a:t>y</a:t>
                </a:r>
              </a:p>
            </p:txBody>
          </p:sp>
        </p:grpSp>
        <p:grpSp>
          <p:nvGrpSpPr>
            <p:cNvPr id="71700" name="Group 7"/>
            <p:cNvGrpSpPr>
              <a:grpSpLocks/>
            </p:cNvGrpSpPr>
            <p:nvPr/>
          </p:nvGrpSpPr>
          <p:grpSpPr bwMode="auto">
            <a:xfrm>
              <a:off x="384" y="3244"/>
              <a:ext cx="4608" cy="356"/>
              <a:chOff x="830" y="2832"/>
              <a:chExt cx="3682" cy="356"/>
            </a:xfrm>
          </p:grpSpPr>
          <p:sp>
            <p:nvSpPr>
              <p:cNvPr id="71702" name="Line 8"/>
              <p:cNvSpPr>
                <a:spLocks noChangeShapeType="1"/>
              </p:cNvSpPr>
              <p:nvPr/>
            </p:nvSpPr>
            <p:spPr bwMode="auto">
              <a:xfrm>
                <a:off x="830" y="2853"/>
                <a:ext cx="364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03" name="Text Box 9"/>
              <p:cNvSpPr txBox="1">
                <a:spLocks noChangeArrowheads="1"/>
              </p:cNvSpPr>
              <p:nvPr/>
            </p:nvSpPr>
            <p:spPr bwMode="auto">
              <a:xfrm>
                <a:off x="1056" y="2832"/>
                <a:ext cx="384" cy="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sz="3000"/>
                  <a:t>0</a:t>
                </a:r>
              </a:p>
            </p:txBody>
          </p:sp>
          <p:sp>
            <p:nvSpPr>
              <p:cNvPr id="71704" name="Text Box 10"/>
              <p:cNvSpPr txBox="1">
                <a:spLocks noChangeArrowheads="1"/>
              </p:cNvSpPr>
              <p:nvPr/>
            </p:nvSpPr>
            <p:spPr bwMode="auto">
              <a:xfrm>
                <a:off x="4128" y="2842"/>
                <a:ext cx="384" cy="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3000" i="1"/>
                  <a:t>x</a:t>
                </a:r>
              </a:p>
            </p:txBody>
          </p:sp>
        </p:grpSp>
        <p:sp>
          <p:nvSpPr>
            <p:cNvPr id="71701" name="Freeform 11"/>
            <p:cNvSpPr>
              <a:spLocks/>
            </p:cNvSpPr>
            <p:nvPr/>
          </p:nvSpPr>
          <p:spPr bwMode="auto">
            <a:xfrm>
              <a:off x="1296" y="2448"/>
              <a:ext cx="3024" cy="1224"/>
            </a:xfrm>
            <a:custGeom>
              <a:avLst/>
              <a:gdLst>
                <a:gd name="T0" fmla="*/ 0 w 3024"/>
                <a:gd name="T1" fmla="*/ 240 h 1224"/>
                <a:gd name="T2" fmla="*/ 192 w 3024"/>
                <a:gd name="T3" fmla="*/ 336 h 1224"/>
                <a:gd name="T4" fmla="*/ 336 w 3024"/>
                <a:gd name="T5" fmla="*/ 624 h 1224"/>
                <a:gd name="T6" fmla="*/ 384 w 3024"/>
                <a:gd name="T7" fmla="*/ 720 h 1224"/>
                <a:gd name="T8" fmla="*/ 576 w 3024"/>
                <a:gd name="T9" fmla="*/ 1008 h 1224"/>
                <a:gd name="T10" fmla="*/ 816 w 3024"/>
                <a:gd name="T11" fmla="*/ 1104 h 1224"/>
                <a:gd name="T12" fmla="*/ 1008 w 3024"/>
                <a:gd name="T13" fmla="*/ 912 h 1224"/>
                <a:gd name="T14" fmla="*/ 1056 w 3024"/>
                <a:gd name="T15" fmla="*/ 624 h 1224"/>
                <a:gd name="T16" fmla="*/ 1104 w 3024"/>
                <a:gd name="T17" fmla="*/ 384 h 1224"/>
                <a:gd name="T18" fmla="*/ 1200 w 3024"/>
                <a:gd name="T19" fmla="*/ 336 h 1224"/>
                <a:gd name="T20" fmla="*/ 1248 w 3024"/>
                <a:gd name="T21" fmla="*/ 432 h 1224"/>
                <a:gd name="T22" fmla="*/ 1296 w 3024"/>
                <a:gd name="T23" fmla="*/ 672 h 1224"/>
                <a:gd name="T24" fmla="*/ 1536 w 3024"/>
                <a:gd name="T25" fmla="*/ 1056 h 1224"/>
                <a:gd name="T26" fmla="*/ 1872 w 3024"/>
                <a:gd name="T27" fmla="*/ 1200 h 1224"/>
                <a:gd name="T28" fmla="*/ 2016 w 3024"/>
                <a:gd name="T29" fmla="*/ 912 h 1224"/>
                <a:gd name="T30" fmla="*/ 2112 w 3024"/>
                <a:gd name="T31" fmla="*/ 432 h 1224"/>
                <a:gd name="T32" fmla="*/ 2256 w 3024"/>
                <a:gd name="T33" fmla="*/ 144 h 1224"/>
                <a:gd name="T34" fmla="*/ 2400 w 3024"/>
                <a:gd name="T35" fmla="*/ 480 h 1224"/>
                <a:gd name="T36" fmla="*/ 2400 w 3024"/>
                <a:gd name="T37" fmla="*/ 768 h 1224"/>
                <a:gd name="T38" fmla="*/ 2544 w 3024"/>
                <a:gd name="T39" fmla="*/ 960 h 1224"/>
                <a:gd name="T40" fmla="*/ 2688 w 3024"/>
                <a:gd name="T41" fmla="*/ 768 h 1224"/>
                <a:gd name="T42" fmla="*/ 2832 w 3024"/>
                <a:gd name="T43" fmla="*/ 288 h 1224"/>
                <a:gd name="T44" fmla="*/ 3024 w 3024"/>
                <a:gd name="T45" fmla="*/ 0 h 122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3024"/>
                <a:gd name="T70" fmla="*/ 0 h 1224"/>
                <a:gd name="T71" fmla="*/ 3024 w 3024"/>
                <a:gd name="T72" fmla="*/ 1224 h 1224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3024" h="1224">
                  <a:moveTo>
                    <a:pt x="0" y="240"/>
                  </a:moveTo>
                  <a:cubicBezTo>
                    <a:pt x="68" y="256"/>
                    <a:pt x="136" y="272"/>
                    <a:pt x="192" y="336"/>
                  </a:cubicBezTo>
                  <a:cubicBezTo>
                    <a:pt x="248" y="400"/>
                    <a:pt x="304" y="560"/>
                    <a:pt x="336" y="624"/>
                  </a:cubicBezTo>
                  <a:cubicBezTo>
                    <a:pt x="368" y="688"/>
                    <a:pt x="344" y="656"/>
                    <a:pt x="384" y="720"/>
                  </a:cubicBezTo>
                  <a:cubicBezTo>
                    <a:pt x="424" y="784"/>
                    <a:pt x="504" y="944"/>
                    <a:pt x="576" y="1008"/>
                  </a:cubicBezTo>
                  <a:cubicBezTo>
                    <a:pt x="648" y="1072"/>
                    <a:pt x="744" y="1120"/>
                    <a:pt x="816" y="1104"/>
                  </a:cubicBezTo>
                  <a:cubicBezTo>
                    <a:pt x="888" y="1088"/>
                    <a:pt x="968" y="992"/>
                    <a:pt x="1008" y="912"/>
                  </a:cubicBezTo>
                  <a:cubicBezTo>
                    <a:pt x="1048" y="832"/>
                    <a:pt x="1040" y="712"/>
                    <a:pt x="1056" y="624"/>
                  </a:cubicBezTo>
                  <a:cubicBezTo>
                    <a:pt x="1072" y="536"/>
                    <a:pt x="1080" y="432"/>
                    <a:pt x="1104" y="384"/>
                  </a:cubicBezTo>
                  <a:cubicBezTo>
                    <a:pt x="1128" y="336"/>
                    <a:pt x="1176" y="328"/>
                    <a:pt x="1200" y="336"/>
                  </a:cubicBezTo>
                  <a:cubicBezTo>
                    <a:pt x="1224" y="344"/>
                    <a:pt x="1232" y="376"/>
                    <a:pt x="1248" y="432"/>
                  </a:cubicBezTo>
                  <a:cubicBezTo>
                    <a:pt x="1264" y="488"/>
                    <a:pt x="1248" y="568"/>
                    <a:pt x="1296" y="672"/>
                  </a:cubicBezTo>
                  <a:cubicBezTo>
                    <a:pt x="1344" y="776"/>
                    <a:pt x="1440" y="968"/>
                    <a:pt x="1536" y="1056"/>
                  </a:cubicBezTo>
                  <a:cubicBezTo>
                    <a:pt x="1632" y="1144"/>
                    <a:pt x="1792" y="1224"/>
                    <a:pt x="1872" y="1200"/>
                  </a:cubicBezTo>
                  <a:cubicBezTo>
                    <a:pt x="1952" y="1176"/>
                    <a:pt x="1976" y="1040"/>
                    <a:pt x="2016" y="912"/>
                  </a:cubicBezTo>
                  <a:cubicBezTo>
                    <a:pt x="2056" y="784"/>
                    <a:pt x="2072" y="560"/>
                    <a:pt x="2112" y="432"/>
                  </a:cubicBezTo>
                  <a:cubicBezTo>
                    <a:pt x="2152" y="304"/>
                    <a:pt x="2208" y="136"/>
                    <a:pt x="2256" y="144"/>
                  </a:cubicBezTo>
                  <a:cubicBezTo>
                    <a:pt x="2304" y="152"/>
                    <a:pt x="2376" y="376"/>
                    <a:pt x="2400" y="480"/>
                  </a:cubicBezTo>
                  <a:cubicBezTo>
                    <a:pt x="2424" y="584"/>
                    <a:pt x="2376" y="688"/>
                    <a:pt x="2400" y="768"/>
                  </a:cubicBezTo>
                  <a:cubicBezTo>
                    <a:pt x="2424" y="848"/>
                    <a:pt x="2496" y="960"/>
                    <a:pt x="2544" y="960"/>
                  </a:cubicBezTo>
                  <a:cubicBezTo>
                    <a:pt x="2592" y="960"/>
                    <a:pt x="2640" y="880"/>
                    <a:pt x="2688" y="768"/>
                  </a:cubicBezTo>
                  <a:cubicBezTo>
                    <a:pt x="2736" y="656"/>
                    <a:pt x="2776" y="416"/>
                    <a:pt x="2832" y="288"/>
                  </a:cubicBezTo>
                  <a:cubicBezTo>
                    <a:pt x="2888" y="160"/>
                    <a:pt x="2984" y="48"/>
                    <a:pt x="3024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8604" name="Text Box 12"/>
          <p:cNvSpPr txBox="1">
            <a:spLocks noChangeArrowheads="1"/>
          </p:cNvSpPr>
          <p:nvPr/>
        </p:nvSpPr>
        <p:spPr bwMode="auto">
          <a:xfrm>
            <a:off x="1981200" y="5470527"/>
            <a:ext cx="6096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00">
                <a:solidFill>
                  <a:srgbClr val="0000FF"/>
                </a:solidFill>
              </a:rPr>
              <a:t>A</a:t>
            </a:r>
          </a:p>
        </p:txBody>
      </p:sp>
      <p:sp>
        <p:nvSpPr>
          <p:cNvPr id="238606" name="Line 14"/>
          <p:cNvSpPr>
            <a:spLocks noChangeShapeType="1"/>
          </p:cNvSpPr>
          <p:nvPr/>
        </p:nvSpPr>
        <p:spPr bwMode="auto">
          <a:xfrm>
            <a:off x="2286000" y="4495800"/>
            <a:ext cx="0" cy="914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8607" name="Text Box 15"/>
          <p:cNvSpPr txBox="1">
            <a:spLocks noChangeArrowheads="1"/>
          </p:cNvSpPr>
          <p:nvPr/>
        </p:nvSpPr>
        <p:spPr bwMode="auto">
          <a:xfrm>
            <a:off x="6705600" y="5410202"/>
            <a:ext cx="6096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00">
                <a:solidFill>
                  <a:srgbClr val="0000FF"/>
                </a:solidFill>
              </a:rPr>
              <a:t>B</a:t>
            </a:r>
          </a:p>
        </p:txBody>
      </p:sp>
      <p:sp>
        <p:nvSpPr>
          <p:cNvPr id="238608" name="Line 16"/>
          <p:cNvSpPr>
            <a:spLocks noChangeShapeType="1"/>
          </p:cNvSpPr>
          <p:nvPr/>
        </p:nvSpPr>
        <p:spPr bwMode="auto">
          <a:xfrm>
            <a:off x="7010400" y="4267200"/>
            <a:ext cx="0" cy="11430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" name="Group 21"/>
          <p:cNvGrpSpPr>
            <a:grpSpLocks/>
          </p:cNvGrpSpPr>
          <p:nvPr/>
        </p:nvGrpSpPr>
        <p:grpSpPr bwMode="auto">
          <a:xfrm>
            <a:off x="2514600" y="4953000"/>
            <a:ext cx="1143000" cy="1295400"/>
            <a:chOff x="1440" y="2976"/>
            <a:chExt cx="720" cy="816"/>
          </a:xfrm>
        </p:grpSpPr>
        <p:sp>
          <p:nvSpPr>
            <p:cNvPr id="71696" name="AutoShape 17"/>
            <p:cNvSpPr>
              <a:spLocks noChangeArrowheads="1"/>
            </p:cNvSpPr>
            <p:nvPr/>
          </p:nvSpPr>
          <p:spPr bwMode="auto">
            <a:xfrm>
              <a:off x="1584" y="2976"/>
              <a:ext cx="336" cy="480"/>
            </a:xfrm>
            <a:prstGeom prst="bracketPair">
              <a:avLst>
                <a:gd name="adj" fmla="val 16667"/>
              </a:avLst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697" name="Text Box 19"/>
            <p:cNvSpPr txBox="1">
              <a:spLocks noChangeArrowheads="1"/>
            </p:cNvSpPr>
            <p:nvPr/>
          </p:nvSpPr>
          <p:spPr bwMode="auto">
            <a:xfrm>
              <a:off x="1440" y="3446"/>
              <a:ext cx="384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00" i="1">
                  <a:solidFill>
                    <a:srgbClr val="FF3300"/>
                  </a:solidFill>
                </a:rPr>
                <a:t>a</a:t>
              </a:r>
              <a:r>
                <a:rPr lang="en-US" altLang="zh-CN" sz="3000" i="1" baseline="-2500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71698" name="Text Box 20"/>
            <p:cNvSpPr txBox="1">
              <a:spLocks noChangeArrowheads="1"/>
            </p:cNvSpPr>
            <p:nvPr/>
          </p:nvSpPr>
          <p:spPr bwMode="auto">
            <a:xfrm>
              <a:off x="1776" y="3446"/>
              <a:ext cx="384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00" i="1">
                  <a:solidFill>
                    <a:srgbClr val="FF3300"/>
                  </a:solidFill>
                </a:rPr>
                <a:t>b</a:t>
              </a:r>
              <a:r>
                <a:rPr lang="en-US" altLang="zh-CN" sz="3000" i="1" baseline="-25000">
                  <a:solidFill>
                    <a:srgbClr val="FF3300"/>
                  </a:solidFill>
                </a:rPr>
                <a:t>1</a:t>
              </a:r>
            </a:p>
          </p:txBody>
        </p:sp>
      </p:grpSp>
      <p:grpSp>
        <p:nvGrpSpPr>
          <p:cNvPr id="6" name="Group 22"/>
          <p:cNvGrpSpPr>
            <a:grpSpLocks/>
          </p:cNvGrpSpPr>
          <p:nvPr/>
        </p:nvGrpSpPr>
        <p:grpSpPr bwMode="auto">
          <a:xfrm>
            <a:off x="3429000" y="4953000"/>
            <a:ext cx="1143000" cy="1295400"/>
            <a:chOff x="1440" y="2976"/>
            <a:chExt cx="720" cy="816"/>
          </a:xfrm>
        </p:grpSpPr>
        <p:sp>
          <p:nvSpPr>
            <p:cNvPr id="71693" name="AutoShape 23"/>
            <p:cNvSpPr>
              <a:spLocks noChangeArrowheads="1"/>
            </p:cNvSpPr>
            <p:nvPr/>
          </p:nvSpPr>
          <p:spPr bwMode="auto">
            <a:xfrm>
              <a:off x="1584" y="2976"/>
              <a:ext cx="336" cy="480"/>
            </a:xfrm>
            <a:prstGeom prst="bracketPair">
              <a:avLst>
                <a:gd name="adj" fmla="val 16667"/>
              </a:avLst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694" name="Text Box 24"/>
            <p:cNvSpPr txBox="1">
              <a:spLocks noChangeArrowheads="1"/>
            </p:cNvSpPr>
            <p:nvPr/>
          </p:nvSpPr>
          <p:spPr bwMode="auto">
            <a:xfrm>
              <a:off x="1440" y="3446"/>
              <a:ext cx="384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00" i="1">
                  <a:solidFill>
                    <a:srgbClr val="FF3300"/>
                  </a:solidFill>
                </a:rPr>
                <a:t>a</a:t>
              </a:r>
              <a:r>
                <a:rPr lang="en-US" altLang="zh-CN" sz="3000" i="1" baseline="-25000">
                  <a:solidFill>
                    <a:srgbClr val="FF3300"/>
                  </a:solidFill>
                </a:rPr>
                <a:t>2</a:t>
              </a:r>
            </a:p>
          </p:txBody>
        </p:sp>
        <p:sp>
          <p:nvSpPr>
            <p:cNvPr id="71695" name="Text Box 25"/>
            <p:cNvSpPr txBox="1">
              <a:spLocks noChangeArrowheads="1"/>
            </p:cNvSpPr>
            <p:nvPr/>
          </p:nvSpPr>
          <p:spPr bwMode="auto">
            <a:xfrm>
              <a:off x="1776" y="3446"/>
              <a:ext cx="384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00" i="1">
                  <a:solidFill>
                    <a:srgbClr val="FF3300"/>
                  </a:solidFill>
                </a:rPr>
                <a:t>b</a:t>
              </a:r>
              <a:r>
                <a:rPr lang="en-US" altLang="zh-CN" sz="3000" i="1" baseline="-25000">
                  <a:solidFill>
                    <a:srgbClr val="FF3300"/>
                  </a:solidFill>
                </a:rPr>
                <a:t>2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238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238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500"/>
                                        <p:tgtEl>
                                          <p:spTgt spid="238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4" dur="500"/>
                                        <p:tgtEl>
                                          <p:spTgt spid="238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8604" grpId="0" autoUpdateAnimBg="0"/>
      <p:bldP spid="238606" grpId="0" animBg="1"/>
      <p:bldP spid="238607" grpId="0" autoUpdateAnimBg="0"/>
      <p:bldP spid="23860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EB2D8C-C595-4C75-A410-92E615560A69}" type="slidenum">
              <a:rPr lang="zh-CN" altLang="en-US" smtClean="0"/>
              <a:pPr>
                <a:defRPr/>
              </a:pPr>
              <a:t>13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F4F2C565-DEEA-484F-99D9-2BCC1484ACAF}" type="datetime1">
              <a:rPr lang="zh-CN" altLang="en-US" smtClean="0"/>
              <a:pPr>
                <a:defRPr/>
              </a:pPr>
              <a:t>2024/9/22</a:t>
            </a:fld>
            <a:endParaRPr lang="en-US" altLang="zh-CN" sz="1000"/>
          </a:p>
        </p:txBody>
      </p:sp>
      <p:sp>
        <p:nvSpPr>
          <p:cNvPr id="6" name="Line 2"/>
          <p:cNvSpPr>
            <a:spLocks noChangeShapeType="1"/>
          </p:cNvSpPr>
          <p:nvPr/>
        </p:nvSpPr>
        <p:spPr bwMode="auto">
          <a:xfrm>
            <a:off x="1844675" y="3052986"/>
            <a:ext cx="5105400" cy="0"/>
          </a:xfrm>
          <a:prstGeom prst="line">
            <a:avLst/>
          </a:prstGeom>
          <a:noFill/>
          <a:ln w="12700" cmpd="sng">
            <a:solidFill>
              <a:schemeClr val="tx1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未知"/>
          <p:cNvSpPr>
            <a:spLocks/>
          </p:cNvSpPr>
          <p:nvPr/>
        </p:nvSpPr>
        <p:spPr bwMode="auto">
          <a:xfrm>
            <a:off x="2530475" y="1681386"/>
            <a:ext cx="3048000" cy="2057400"/>
          </a:xfrm>
          <a:custGeom>
            <a:avLst/>
            <a:gdLst>
              <a:gd name="T0" fmla="*/ 0 w 1920"/>
              <a:gd name="T1" fmla="*/ 1296 h 1296"/>
              <a:gd name="T2" fmla="*/ 672 w 1920"/>
              <a:gd name="T3" fmla="*/ 1152 h 1296"/>
              <a:gd name="T4" fmla="*/ 1248 w 1920"/>
              <a:gd name="T5" fmla="*/ 960 h 1296"/>
              <a:gd name="T6" fmla="*/ 1536 w 1920"/>
              <a:gd name="T7" fmla="*/ 768 h 1296"/>
              <a:gd name="T8" fmla="*/ 1776 w 1920"/>
              <a:gd name="T9" fmla="*/ 384 h 1296"/>
              <a:gd name="T10" fmla="*/ 1920 w 1920"/>
              <a:gd name="T11" fmla="*/ 0 h 1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920" h="1296">
                <a:moveTo>
                  <a:pt x="0" y="1296"/>
                </a:moveTo>
                <a:cubicBezTo>
                  <a:pt x="232" y="1252"/>
                  <a:pt x="464" y="1208"/>
                  <a:pt x="672" y="1152"/>
                </a:cubicBezTo>
                <a:cubicBezTo>
                  <a:pt x="880" y="1096"/>
                  <a:pt x="1104" y="1024"/>
                  <a:pt x="1248" y="960"/>
                </a:cubicBezTo>
                <a:cubicBezTo>
                  <a:pt x="1392" y="896"/>
                  <a:pt x="1448" y="864"/>
                  <a:pt x="1536" y="768"/>
                </a:cubicBezTo>
                <a:cubicBezTo>
                  <a:pt x="1624" y="672"/>
                  <a:pt x="1712" y="512"/>
                  <a:pt x="1776" y="384"/>
                </a:cubicBezTo>
                <a:cubicBezTo>
                  <a:pt x="1840" y="256"/>
                  <a:pt x="1880" y="128"/>
                  <a:pt x="1920" y="0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Line 4"/>
          <p:cNvSpPr>
            <a:spLocks noChangeShapeType="1"/>
          </p:cNvSpPr>
          <p:nvPr/>
        </p:nvSpPr>
        <p:spPr bwMode="auto">
          <a:xfrm>
            <a:off x="3140075" y="3052986"/>
            <a:ext cx="0" cy="533400"/>
          </a:xfrm>
          <a:prstGeom prst="line">
            <a:avLst/>
          </a:prstGeom>
          <a:noFill/>
          <a:ln w="12700" cmpd="sng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Oval 5"/>
          <p:cNvSpPr>
            <a:spLocks noChangeArrowheads="1"/>
          </p:cNvSpPr>
          <p:nvPr/>
        </p:nvSpPr>
        <p:spPr bwMode="auto">
          <a:xfrm>
            <a:off x="4740277" y="3010126"/>
            <a:ext cx="111125" cy="111125"/>
          </a:xfrm>
          <a:prstGeom prst="ellipse">
            <a:avLst/>
          </a:prstGeom>
          <a:solidFill>
            <a:srgbClr val="FF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" name="Group 6"/>
          <p:cNvGrpSpPr>
            <a:grpSpLocks/>
          </p:cNvGrpSpPr>
          <p:nvPr/>
        </p:nvGrpSpPr>
        <p:grpSpPr bwMode="auto">
          <a:xfrm>
            <a:off x="2362200" y="2789461"/>
            <a:ext cx="304800" cy="990600"/>
            <a:chOff x="0" y="0"/>
            <a:chExt cx="192" cy="624"/>
          </a:xfrm>
        </p:grpSpPr>
        <p:sp>
          <p:nvSpPr>
            <p:cNvPr id="11" name="Line 7"/>
            <p:cNvSpPr>
              <a:spLocks noChangeShapeType="1"/>
            </p:cNvSpPr>
            <p:nvPr/>
          </p:nvSpPr>
          <p:spPr bwMode="auto">
            <a:xfrm flipV="1">
              <a:off x="96" y="192"/>
              <a:ext cx="0" cy="432"/>
            </a:xfrm>
            <a:prstGeom prst="line">
              <a:avLst/>
            </a:prstGeom>
            <a:noFill/>
            <a:ln w="12700" cmpd="sng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Text Box 8"/>
            <p:cNvSpPr txBox="1">
              <a:spLocks noChangeArrowheads="1"/>
            </p:cNvSpPr>
            <p:nvPr/>
          </p:nvSpPr>
          <p:spPr bwMode="auto">
            <a:xfrm>
              <a:off x="0" y="0"/>
              <a:ext cx="19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zh-CN" i="1">
                  <a:latin typeface="Times New Roman" pitchFamily="18" charset="0"/>
                </a:rPr>
                <a:t>a</a:t>
              </a:r>
            </a:p>
          </p:txBody>
        </p:sp>
      </p:grpSp>
      <p:grpSp>
        <p:nvGrpSpPr>
          <p:cNvPr id="13" name="Group 9"/>
          <p:cNvGrpSpPr>
            <a:grpSpLocks/>
          </p:cNvGrpSpPr>
          <p:nvPr/>
        </p:nvGrpSpPr>
        <p:grpSpPr bwMode="auto">
          <a:xfrm>
            <a:off x="5426075" y="1681388"/>
            <a:ext cx="304800" cy="1771651"/>
            <a:chOff x="0" y="0"/>
            <a:chExt cx="192" cy="1116"/>
          </a:xfrm>
        </p:grpSpPr>
        <p:sp>
          <p:nvSpPr>
            <p:cNvPr id="14" name="Line 10"/>
            <p:cNvSpPr>
              <a:spLocks noChangeShapeType="1"/>
            </p:cNvSpPr>
            <p:nvPr/>
          </p:nvSpPr>
          <p:spPr bwMode="auto">
            <a:xfrm>
              <a:off x="96" y="0"/>
              <a:ext cx="0" cy="864"/>
            </a:xfrm>
            <a:prstGeom prst="line">
              <a:avLst/>
            </a:prstGeom>
            <a:noFill/>
            <a:ln w="12700" cmpd="sng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 Box 11"/>
            <p:cNvSpPr txBox="1">
              <a:spLocks noChangeArrowheads="1"/>
            </p:cNvSpPr>
            <p:nvPr/>
          </p:nvSpPr>
          <p:spPr bwMode="auto">
            <a:xfrm>
              <a:off x="0" y="864"/>
              <a:ext cx="19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zh-CN" i="1">
                  <a:latin typeface="Times New Roman" pitchFamily="18" charset="0"/>
                </a:rPr>
                <a:t>b</a:t>
              </a:r>
            </a:p>
          </p:txBody>
        </p:sp>
      </p:grpSp>
      <p:sp>
        <p:nvSpPr>
          <p:cNvPr id="16" name="Text Box 12"/>
          <p:cNvSpPr txBox="1">
            <a:spLocks noChangeArrowheads="1"/>
          </p:cNvSpPr>
          <p:nvPr/>
        </p:nvSpPr>
        <p:spPr bwMode="auto">
          <a:xfrm>
            <a:off x="4587875" y="2671986"/>
            <a:ext cx="457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i="1">
                <a:solidFill>
                  <a:srgbClr val="FF3300"/>
                </a:solidFill>
                <a:latin typeface="Times New Roman" pitchFamily="18" charset="0"/>
              </a:rPr>
              <a:t>x*</a:t>
            </a:r>
          </a:p>
        </p:txBody>
      </p:sp>
      <p:sp>
        <p:nvSpPr>
          <p:cNvPr id="17" name="Text Box 13"/>
          <p:cNvSpPr txBox="1">
            <a:spLocks noChangeArrowheads="1"/>
          </p:cNvSpPr>
          <p:nvPr/>
        </p:nvSpPr>
        <p:spPr bwMode="auto">
          <a:xfrm>
            <a:off x="4780647" y="1494063"/>
            <a:ext cx="6463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zh-CN" sz="2400" i="1">
                <a:latin typeface="Times New Roman" pitchFamily="18" charset="0"/>
              </a:rPr>
              <a:t>f(x)</a:t>
            </a:r>
          </a:p>
        </p:txBody>
      </p:sp>
      <p:graphicFrame>
        <p:nvGraphicFramePr>
          <p:cNvPr id="1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2367070"/>
              </p:ext>
            </p:extLst>
          </p:nvPr>
        </p:nvGraphicFramePr>
        <p:xfrm>
          <a:off x="1828800" y="2789461"/>
          <a:ext cx="509588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32" r:id="rId5" imgW="304853" imgH="228719" progId="Equation.3">
                  <p:embed/>
                </p:oleObj>
              </mc:Choice>
              <mc:Fallback>
                <p:oleObj r:id="rId5" imgW="304853" imgH="2287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789461"/>
                        <a:ext cx="509588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15"/>
          <p:cNvSpPr txBox="1">
            <a:spLocks noChangeArrowheads="1"/>
          </p:cNvSpPr>
          <p:nvPr/>
        </p:nvSpPr>
        <p:spPr bwMode="auto">
          <a:xfrm>
            <a:off x="523881" y="1052736"/>
            <a:ext cx="851228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zh-CN" sz="2800" dirty="0">
                <a:latin typeface="Times New Roman" pitchFamily="18" charset="0"/>
              </a:rPr>
              <a:t>1</a:t>
            </a:r>
            <a:r>
              <a:rPr lang="en-US" altLang="zh-CN" sz="2800" dirty="0">
                <a:latin typeface="Times New Roman" pitchFamily="18" charset="0"/>
              </a:rPr>
              <a:t>.</a:t>
            </a:r>
            <a:r>
              <a:rPr lang="zh-CN" altLang="en-US" sz="2800" dirty="0">
                <a:latin typeface="楷体_GB2312" pitchFamily="1" charset="-122"/>
                <a:ea typeface="楷体_GB2312" pitchFamily="1" charset="-122"/>
              </a:rPr>
              <a:t>画出 </a:t>
            </a:r>
            <a:r>
              <a:rPr lang="zh-CN" altLang="zh-CN" sz="2800" i="1" dirty="0">
                <a:latin typeface="Times New Roman" pitchFamily="18" charset="0"/>
                <a:ea typeface="楷体_GB2312" pitchFamily="1" charset="-122"/>
              </a:rPr>
              <a:t>f(x) </a:t>
            </a:r>
            <a:r>
              <a:rPr lang="zh-CN" altLang="en-US" sz="2800" dirty="0">
                <a:latin typeface="楷体_GB2312" pitchFamily="1" charset="-122"/>
                <a:ea typeface="楷体_GB2312" pitchFamily="1" charset="-122"/>
              </a:rPr>
              <a:t>的略图，看出曲线与</a:t>
            </a:r>
            <a:r>
              <a:rPr lang="zh-CN" altLang="zh-CN" sz="2800" i="1" dirty="0">
                <a:latin typeface="Times New Roman" pitchFamily="18" charset="0"/>
                <a:ea typeface="楷体_GB2312" pitchFamily="1" charset="-122"/>
              </a:rPr>
              <a:t>x </a:t>
            </a:r>
            <a:r>
              <a:rPr lang="zh-CN" altLang="en-US" sz="2800" dirty="0">
                <a:latin typeface="楷体_GB2312" pitchFamily="1" charset="-122"/>
                <a:ea typeface="楷体_GB2312" pitchFamily="1" charset="-122"/>
              </a:rPr>
              <a:t>轴交点的位置。</a:t>
            </a:r>
          </a:p>
        </p:txBody>
      </p:sp>
      <p:sp>
        <p:nvSpPr>
          <p:cNvPr id="20" name="Text Box 16"/>
          <p:cNvSpPr txBox="1">
            <a:spLocks noChangeArrowheads="1"/>
          </p:cNvSpPr>
          <p:nvPr/>
        </p:nvSpPr>
        <p:spPr bwMode="auto">
          <a:xfrm>
            <a:off x="539554" y="3932463"/>
            <a:ext cx="8203407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zh-CN" altLang="zh-CN" sz="2800" dirty="0">
                <a:latin typeface="Times New Roman" pitchFamily="18" charset="0"/>
              </a:rPr>
              <a:t>2</a:t>
            </a:r>
            <a:r>
              <a:rPr lang="zh-CN" altLang="en-US" sz="2800" dirty="0">
                <a:latin typeface="Times New Roman" pitchFamily="18" charset="0"/>
              </a:rPr>
              <a:t>．</a:t>
            </a:r>
            <a:r>
              <a:rPr lang="zh-CN" altLang="en-US" sz="2800" dirty="0">
                <a:latin typeface="楷体_GB2312" pitchFamily="1" charset="-122"/>
                <a:ea typeface="楷体_GB2312" pitchFamily="1" charset="-122"/>
              </a:rPr>
              <a:t>从左端点</a:t>
            </a:r>
            <a:r>
              <a:rPr lang="zh-CN" altLang="zh-CN" sz="2800" i="1" dirty="0">
                <a:latin typeface="Times New Roman" pitchFamily="18" charset="0"/>
                <a:ea typeface="楷体_GB2312" pitchFamily="1" charset="-122"/>
              </a:rPr>
              <a:t>x</a:t>
            </a:r>
            <a:r>
              <a:rPr lang="zh-CN" altLang="zh-CN" sz="2800" dirty="0">
                <a:latin typeface="Times New Roman" pitchFamily="18" charset="0"/>
                <a:ea typeface="楷体_GB2312" pitchFamily="1" charset="-122"/>
              </a:rPr>
              <a:t> = </a:t>
            </a:r>
            <a:r>
              <a:rPr lang="zh-CN" altLang="zh-CN" sz="2800" i="1" dirty="0">
                <a:latin typeface="Times New Roman" pitchFamily="18" charset="0"/>
                <a:ea typeface="楷体_GB2312" pitchFamily="1" charset="-122"/>
              </a:rPr>
              <a:t>a</a:t>
            </a:r>
            <a:r>
              <a:rPr lang="zh-CN" altLang="en-US" sz="2800" dirty="0">
                <a:latin typeface="楷体_GB2312" pitchFamily="1" charset="-122"/>
                <a:ea typeface="楷体_GB2312" pitchFamily="1" charset="-122"/>
              </a:rPr>
              <a:t>出发，按某个预先选定的步长</a:t>
            </a:r>
            <a:r>
              <a:rPr lang="zh-CN" altLang="zh-CN" sz="2800" i="1" dirty="0">
                <a:latin typeface="Times New Roman" pitchFamily="18" charset="0"/>
                <a:ea typeface="楷体_GB2312" pitchFamily="1" charset="-122"/>
              </a:rPr>
              <a:t>h</a:t>
            </a:r>
            <a:r>
              <a:rPr lang="en-US" altLang="zh-CN" sz="2800" i="1" dirty="0">
                <a:latin typeface="Times New Roman" pitchFamily="18" charset="0"/>
                <a:ea typeface="楷体_GB2312" pitchFamily="1" charset="-122"/>
              </a:rPr>
              <a:t> </a:t>
            </a:r>
            <a:r>
              <a:rPr lang="zh-CN" altLang="en-US" sz="2800" dirty="0">
                <a:latin typeface="楷体_GB2312" pitchFamily="1" charset="-122"/>
                <a:ea typeface="楷体_GB2312" pitchFamily="1" charset="-122"/>
              </a:rPr>
              <a:t>一步一步地向右跨，每跨一步都检验每步起点</a:t>
            </a:r>
            <a:r>
              <a:rPr lang="zh-CN" altLang="zh-CN" sz="2800" i="1" dirty="0">
                <a:latin typeface="Times New Roman" pitchFamily="18" charset="0"/>
                <a:ea typeface="楷体_GB2312" pitchFamily="1" charset="-122"/>
              </a:rPr>
              <a:t>x</a:t>
            </a:r>
            <a:r>
              <a:rPr lang="zh-CN" altLang="zh-CN" sz="2800" baseline="-30000" dirty="0">
                <a:latin typeface="Times New Roman" pitchFamily="18" charset="0"/>
                <a:ea typeface="楷体_GB2312" pitchFamily="1" charset="-122"/>
              </a:rPr>
              <a:t>0</a:t>
            </a:r>
            <a:r>
              <a:rPr lang="en-US" altLang="zh-CN" sz="2800" baseline="-30000" dirty="0">
                <a:latin typeface="Times New Roman" pitchFamily="18" charset="0"/>
                <a:ea typeface="楷体_GB2312" pitchFamily="1" charset="-122"/>
              </a:rPr>
              <a:t> </a:t>
            </a:r>
            <a:r>
              <a:rPr lang="zh-CN" altLang="en-US" sz="2800" dirty="0">
                <a:latin typeface="楷体_GB2312" pitchFamily="1" charset="-122"/>
                <a:ea typeface="楷体_GB2312" pitchFamily="1" charset="-122"/>
              </a:rPr>
              <a:t>和终点</a:t>
            </a:r>
            <a:r>
              <a:rPr lang="zh-CN" altLang="zh-CN" sz="2800" i="1" dirty="0">
                <a:latin typeface="Times New Roman" pitchFamily="18" charset="0"/>
                <a:ea typeface="楷体_GB2312" pitchFamily="1" charset="-122"/>
              </a:rPr>
              <a:t>x</a:t>
            </a:r>
            <a:r>
              <a:rPr lang="zh-CN" altLang="zh-CN" sz="2800" baseline="-30000" dirty="0">
                <a:latin typeface="Times New Roman" pitchFamily="18" charset="0"/>
                <a:ea typeface="楷体_GB2312" pitchFamily="1" charset="-122"/>
              </a:rPr>
              <a:t>0</a:t>
            </a:r>
            <a:r>
              <a:rPr lang="zh-CN" altLang="zh-CN" sz="2800" dirty="0">
                <a:latin typeface="Times New Roman" pitchFamily="18" charset="0"/>
                <a:ea typeface="楷体_GB2312" pitchFamily="1" charset="-122"/>
              </a:rPr>
              <a:t> + </a:t>
            </a:r>
            <a:r>
              <a:rPr lang="zh-CN" altLang="zh-CN" sz="2800" i="1" dirty="0">
                <a:latin typeface="Times New Roman" pitchFamily="18" charset="0"/>
                <a:ea typeface="楷体_GB2312" pitchFamily="1" charset="-122"/>
              </a:rPr>
              <a:t>h</a:t>
            </a:r>
            <a:r>
              <a:rPr lang="zh-CN" altLang="en-US" sz="2800" dirty="0">
                <a:latin typeface="楷体_GB2312" pitchFamily="1" charset="-122"/>
                <a:ea typeface="楷体_GB2312" pitchFamily="1" charset="-122"/>
              </a:rPr>
              <a:t>的函数值，若</a:t>
            </a:r>
          </a:p>
        </p:txBody>
      </p:sp>
      <p:graphicFrame>
        <p:nvGraphicFramePr>
          <p:cNvPr id="2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3733095"/>
              </p:ext>
            </p:extLst>
          </p:nvPr>
        </p:nvGraphicFramePr>
        <p:xfrm>
          <a:off x="4127500" y="4787233"/>
          <a:ext cx="290195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33" r:id="rId7" imgW="1257617" imgH="228917" progId="Equation.3">
                  <p:embed/>
                </p:oleObj>
              </mc:Choice>
              <mc:Fallback>
                <p:oleObj r:id="rId7" imgW="1257617" imgH="22891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0" y="4787233"/>
                        <a:ext cx="2901950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mpd="sng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18"/>
          <p:cNvSpPr txBox="1">
            <a:spLocks noChangeArrowheads="1"/>
          </p:cNvSpPr>
          <p:nvPr/>
        </p:nvSpPr>
        <p:spPr bwMode="auto">
          <a:xfrm>
            <a:off x="523880" y="5317458"/>
            <a:ext cx="8414744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zh-CN" altLang="en-US" sz="2800" dirty="0">
                <a:latin typeface="楷体_GB2312" pitchFamily="1" charset="-122"/>
                <a:ea typeface="楷体_GB2312" pitchFamily="1" charset="-122"/>
              </a:rPr>
              <a:t>那么所求的根</a:t>
            </a:r>
            <a:r>
              <a:rPr lang="zh-CN" altLang="zh-CN" sz="2800" i="1" dirty="0">
                <a:latin typeface="Times New Roman" pitchFamily="18" charset="0"/>
                <a:ea typeface="楷体_GB2312" pitchFamily="1" charset="-122"/>
              </a:rPr>
              <a:t>x</a:t>
            </a:r>
            <a:r>
              <a:rPr lang="zh-CN" altLang="zh-CN" sz="2800" baseline="30000" dirty="0">
                <a:latin typeface="Times New Roman" pitchFamily="18" charset="0"/>
                <a:ea typeface="楷体_GB2312" pitchFamily="1" charset="-122"/>
              </a:rPr>
              <a:t>*</a:t>
            </a:r>
            <a:r>
              <a:rPr lang="zh-CN" altLang="en-US" sz="2800" dirty="0">
                <a:latin typeface="楷体_GB2312" pitchFamily="1" charset="-122"/>
                <a:ea typeface="楷体_GB2312" pitchFamily="1" charset="-122"/>
              </a:rPr>
              <a:t>必在</a:t>
            </a:r>
            <a:r>
              <a:rPr lang="zh-CN" altLang="zh-CN" sz="2800" i="1" dirty="0">
                <a:latin typeface="Times New Roman" pitchFamily="18" charset="0"/>
                <a:ea typeface="楷体_GB2312" pitchFamily="1" charset="-122"/>
              </a:rPr>
              <a:t>x</a:t>
            </a:r>
            <a:r>
              <a:rPr lang="zh-CN" altLang="zh-CN" sz="2800" baseline="-30000" dirty="0">
                <a:latin typeface="Times New Roman" pitchFamily="18" charset="0"/>
                <a:ea typeface="楷体_GB2312" pitchFamily="1" charset="-122"/>
              </a:rPr>
              <a:t>0</a:t>
            </a:r>
            <a:r>
              <a:rPr lang="zh-CN" altLang="en-US" sz="2800" dirty="0">
                <a:latin typeface="楷体_GB2312" pitchFamily="1" charset="-122"/>
                <a:ea typeface="楷体_GB2312" pitchFamily="1" charset="-122"/>
              </a:rPr>
              <a:t>与</a:t>
            </a:r>
            <a:r>
              <a:rPr lang="zh-CN" altLang="zh-CN" sz="2800" i="1" dirty="0">
                <a:latin typeface="Times New Roman" pitchFamily="18" charset="0"/>
                <a:ea typeface="楷体_GB2312" pitchFamily="1" charset="-122"/>
              </a:rPr>
              <a:t>x</a:t>
            </a:r>
            <a:r>
              <a:rPr lang="zh-CN" altLang="zh-CN" sz="2800" baseline="-30000" dirty="0">
                <a:latin typeface="Times New Roman" pitchFamily="18" charset="0"/>
                <a:ea typeface="楷体_GB2312" pitchFamily="1" charset="-122"/>
              </a:rPr>
              <a:t>0</a:t>
            </a:r>
            <a:r>
              <a:rPr lang="zh-CN" altLang="zh-CN" sz="2800" dirty="0">
                <a:latin typeface="Times New Roman" pitchFamily="18" charset="0"/>
                <a:ea typeface="楷体_GB2312" pitchFamily="1" charset="-122"/>
              </a:rPr>
              <a:t>+</a:t>
            </a:r>
            <a:r>
              <a:rPr lang="zh-CN" altLang="zh-CN" sz="2800" i="1" dirty="0">
                <a:latin typeface="Times New Roman" pitchFamily="18" charset="0"/>
                <a:ea typeface="楷体_GB2312" pitchFamily="1" charset="-122"/>
              </a:rPr>
              <a:t>h</a:t>
            </a:r>
            <a:r>
              <a:rPr lang="zh-CN" altLang="en-US" sz="2800" dirty="0">
                <a:latin typeface="楷体_GB2312" pitchFamily="1" charset="-122"/>
                <a:ea typeface="楷体_GB2312" pitchFamily="1" charset="-122"/>
              </a:rPr>
              <a:t>之间，这里可取</a:t>
            </a:r>
            <a:r>
              <a:rPr lang="zh-CN" altLang="zh-CN" sz="2800" i="1" dirty="0">
                <a:latin typeface="Times New Roman" pitchFamily="18" charset="0"/>
                <a:ea typeface="楷体_GB2312" pitchFamily="1" charset="-122"/>
              </a:rPr>
              <a:t>x</a:t>
            </a:r>
            <a:r>
              <a:rPr lang="zh-CN" altLang="zh-CN" sz="2800" baseline="-30000" dirty="0">
                <a:latin typeface="Times New Roman" pitchFamily="18" charset="0"/>
                <a:ea typeface="楷体_GB2312" pitchFamily="1" charset="-122"/>
              </a:rPr>
              <a:t>0</a:t>
            </a:r>
            <a:r>
              <a:rPr lang="zh-CN" altLang="en-US" sz="2800" dirty="0">
                <a:latin typeface="楷体_GB2312" pitchFamily="1" charset="-122"/>
                <a:ea typeface="楷体_GB2312" pitchFamily="1" charset="-122"/>
              </a:rPr>
              <a:t>或</a:t>
            </a:r>
            <a:r>
              <a:rPr lang="zh-CN" altLang="zh-CN" sz="2800" i="1" dirty="0">
                <a:latin typeface="Times New Roman" pitchFamily="18" charset="0"/>
                <a:ea typeface="楷体_GB2312" pitchFamily="1" charset="-122"/>
              </a:rPr>
              <a:t>x</a:t>
            </a:r>
            <a:r>
              <a:rPr lang="zh-CN" altLang="zh-CN" sz="2800" baseline="-30000" dirty="0">
                <a:latin typeface="Times New Roman" pitchFamily="18" charset="0"/>
                <a:ea typeface="楷体_GB2312" pitchFamily="1" charset="-122"/>
              </a:rPr>
              <a:t>0</a:t>
            </a:r>
            <a:r>
              <a:rPr lang="zh-CN" altLang="zh-CN" sz="2800" dirty="0">
                <a:latin typeface="Times New Roman" pitchFamily="18" charset="0"/>
                <a:ea typeface="楷体_GB2312" pitchFamily="1" charset="-122"/>
              </a:rPr>
              <a:t>+</a:t>
            </a:r>
            <a:r>
              <a:rPr lang="zh-CN" altLang="zh-CN" sz="2800" i="1" dirty="0">
                <a:latin typeface="Times New Roman" pitchFamily="18" charset="0"/>
                <a:ea typeface="楷体_GB2312" pitchFamily="1" charset="-122"/>
              </a:rPr>
              <a:t>h</a:t>
            </a:r>
            <a:r>
              <a:rPr lang="zh-CN" altLang="en-US" sz="2800" dirty="0">
                <a:latin typeface="楷体_GB2312" pitchFamily="1" charset="-122"/>
                <a:ea typeface="楷体_GB2312" pitchFamily="1" charset="-122"/>
              </a:rPr>
              <a:t>作为根的初始近似。</a:t>
            </a:r>
          </a:p>
        </p:txBody>
      </p:sp>
      <p:graphicFrame>
        <p:nvGraphicFramePr>
          <p:cNvPr id="2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0775108"/>
              </p:ext>
            </p:extLst>
          </p:nvPr>
        </p:nvGraphicFramePr>
        <p:xfrm>
          <a:off x="2819400" y="2789463"/>
          <a:ext cx="68580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34" r:id="rId9" imgW="393846" imgH="228818" progId="Equation.3">
                  <p:embed/>
                </p:oleObj>
              </mc:Choice>
              <mc:Fallback>
                <p:oleObj r:id="rId9" imgW="393846" imgH="2288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2789463"/>
                        <a:ext cx="685800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20265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6" grpId="0" autoUpdateAnimBg="0"/>
      <p:bldP spid="17" grpId="0" autoUpdateAnimBg="0"/>
      <p:bldP spid="19" grpId="0" autoUpdateAnimBg="0"/>
      <p:bldP spid="20" grpId="0" autoUpdateAnimBg="0"/>
      <p:bldP spid="22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EB2D8C-C595-4C75-A410-92E615560A69}" type="slidenum">
              <a:rPr lang="zh-CN" altLang="en-US" smtClean="0"/>
              <a:pPr>
                <a:defRPr/>
              </a:pPr>
              <a:t>14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F4F2C565-DEEA-484F-99D9-2BCC1484ACAF}" type="datetime1">
              <a:rPr lang="zh-CN" altLang="en-US" smtClean="0"/>
              <a:pPr>
                <a:defRPr/>
              </a:pPr>
              <a:t>2024/9/22</a:t>
            </a:fld>
            <a:endParaRPr lang="en-US" altLang="zh-CN" sz="1000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2693545" y="1281428"/>
            <a:ext cx="2292441" cy="342750"/>
          </a:xfrm>
          <a:prstGeom prst="rect">
            <a:avLst/>
          </a:prstGeom>
          <a:solidFill>
            <a:srgbClr val="B5BEE3"/>
          </a:solidFill>
          <a:ln w="9525" cmpd="sng">
            <a:solidFill>
              <a:srgbClr val="000000"/>
            </a:solidFill>
            <a:miter lim="800000"/>
            <a:headEnd/>
            <a:tailEnd/>
          </a:ln>
        </p:spPr>
        <p:txBody>
          <a:bodyPr tIns="0" bIns="0"/>
          <a:lstStyle/>
          <a:p>
            <a:pPr algn="ctr"/>
            <a:r>
              <a:rPr lang="zh-CN" altLang="en-US" sz="2400">
                <a:latin typeface="Times New Roman" pitchFamily="18" charset="0"/>
              </a:rPr>
              <a:t>读入</a:t>
            </a:r>
            <a:r>
              <a:rPr lang="zh-CN" altLang="zh-CN" sz="2400" i="1">
                <a:latin typeface="Times New Roman" pitchFamily="18" charset="0"/>
              </a:rPr>
              <a:t>a, h</a:t>
            </a:r>
            <a:endParaRPr lang="zh-CN" altLang="zh-CN" sz="2400">
              <a:latin typeface="Times New Roman" pitchFamily="18" charset="0"/>
            </a:endParaRPr>
          </a:p>
          <a:p>
            <a:pPr eaLnBrk="0" hangingPunct="0"/>
            <a:endParaRPr lang="zh-CN" altLang="zh-CN" sz="2400">
              <a:latin typeface="Times New Roman" pitchFamily="18" charset="0"/>
            </a:endParaRP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2693545" y="1987427"/>
            <a:ext cx="2292441" cy="855352"/>
          </a:xfrm>
          <a:prstGeom prst="rect">
            <a:avLst/>
          </a:prstGeom>
          <a:solidFill>
            <a:srgbClr val="B5BEE3"/>
          </a:solidFill>
          <a:ln w="9525" cmpd="sng">
            <a:solidFill>
              <a:srgbClr val="000000"/>
            </a:solidFill>
            <a:miter lim="800000"/>
            <a:headEnd/>
            <a:tailEnd/>
          </a:ln>
        </p:spPr>
        <p:txBody>
          <a:bodyPr tIns="0" bIns="0"/>
          <a:lstStyle/>
          <a:p>
            <a:pPr algn="ctr"/>
            <a:r>
              <a:rPr lang="zh-CN" altLang="zh-CN" sz="2400" i="1" dirty="0">
                <a:latin typeface="Times New Roman" pitchFamily="18" charset="0"/>
              </a:rPr>
              <a:t>a</a:t>
            </a:r>
            <a:r>
              <a:rPr lang="zh-CN" altLang="zh-CN" sz="2400" dirty="0">
                <a:latin typeface="Times New Roman" pitchFamily="18" charset="0"/>
              </a:rPr>
              <a:t> </a:t>
            </a:r>
            <a:r>
              <a:rPr lang="zh-CN" altLang="zh-CN" sz="2400" dirty="0">
                <a:latin typeface="Times New Roman" pitchFamily="18" charset="0"/>
                <a:sym typeface="Symbol" pitchFamily="18" charset="2"/>
              </a:rPr>
              <a:t></a:t>
            </a:r>
            <a:r>
              <a:rPr lang="zh-CN" altLang="zh-CN" sz="2400" dirty="0">
                <a:latin typeface="Times New Roman" pitchFamily="18" charset="0"/>
              </a:rPr>
              <a:t> </a:t>
            </a:r>
            <a:r>
              <a:rPr lang="zh-CN" altLang="zh-CN" sz="2400" i="1" dirty="0">
                <a:latin typeface="Times New Roman" pitchFamily="18" charset="0"/>
                <a:sym typeface="Symbol" pitchFamily="18" charset="2"/>
              </a:rPr>
              <a:t>x</a:t>
            </a:r>
            <a:r>
              <a:rPr lang="zh-CN" altLang="zh-CN" sz="2400" baseline="-30000" dirty="0">
                <a:latin typeface="Times New Roman" pitchFamily="18" charset="0"/>
                <a:sym typeface="Symbol" pitchFamily="18" charset="2"/>
              </a:rPr>
              <a:t>0</a:t>
            </a:r>
            <a:endParaRPr lang="zh-CN" altLang="zh-CN" sz="2400" dirty="0">
              <a:latin typeface="Times New Roman" pitchFamily="18" charset="0"/>
              <a:sym typeface="Symbol" pitchFamily="18" charset="2"/>
            </a:endParaRPr>
          </a:p>
          <a:p>
            <a:pPr algn="ctr" eaLnBrk="0" hangingPunct="0"/>
            <a:r>
              <a:rPr lang="zh-CN" altLang="zh-CN" sz="2400" i="1" dirty="0">
                <a:latin typeface="Times New Roman" pitchFamily="18" charset="0"/>
                <a:sym typeface="Symbol" pitchFamily="18" charset="2"/>
              </a:rPr>
              <a:t>f </a:t>
            </a:r>
            <a:r>
              <a:rPr lang="zh-CN" altLang="zh-CN" sz="2400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zh-CN" altLang="zh-CN" sz="2400" i="1" dirty="0">
                <a:latin typeface="Times New Roman" pitchFamily="18" charset="0"/>
                <a:sym typeface="Symbol" pitchFamily="18" charset="2"/>
              </a:rPr>
              <a:t>x</a:t>
            </a:r>
            <a:r>
              <a:rPr lang="zh-CN" altLang="zh-CN" sz="2400" baseline="-30000" dirty="0">
                <a:latin typeface="Times New Roman" pitchFamily="18" charset="0"/>
                <a:sym typeface="Symbol" pitchFamily="18" charset="2"/>
              </a:rPr>
              <a:t>0</a:t>
            </a:r>
            <a:r>
              <a:rPr lang="zh-CN" altLang="zh-CN" sz="2400" dirty="0">
                <a:latin typeface="Times New Roman" pitchFamily="18" charset="0"/>
                <a:sym typeface="Symbol" pitchFamily="18" charset="2"/>
              </a:rPr>
              <a:t>) </a:t>
            </a:r>
            <a:r>
              <a:rPr lang="zh-CN" altLang="zh-CN" sz="2400" dirty="0">
                <a:latin typeface="Times New Roman" pitchFamily="18" charset="0"/>
              </a:rPr>
              <a:t> </a:t>
            </a:r>
            <a:r>
              <a:rPr lang="zh-CN" altLang="zh-CN" sz="2400" i="1" dirty="0">
                <a:latin typeface="Times New Roman" pitchFamily="18" charset="0"/>
                <a:sym typeface="Symbol" pitchFamily="18" charset="2"/>
              </a:rPr>
              <a:t>y</a:t>
            </a:r>
            <a:r>
              <a:rPr lang="zh-CN" altLang="zh-CN" sz="2400" baseline="-30000" dirty="0">
                <a:latin typeface="Times New Roman" pitchFamily="18" charset="0"/>
                <a:sym typeface="Symbol" pitchFamily="18" charset="2"/>
              </a:rPr>
              <a:t>0</a:t>
            </a:r>
            <a:endParaRPr lang="zh-CN" altLang="zh-CN" sz="2400" dirty="0">
              <a:latin typeface="Times New Roman" pitchFamily="18" charset="0"/>
              <a:sym typeface="Symbol" pitchFamily="18" charset="2"/>
            </a:endParaRPr>
          </a:p>
          <a:p>
            <a:pPr eaLnBrk="0" hangingPunct="0"/>
            <a:endParaRPr lang="zh-CN" altLang="zh-CN" sz="2400" dirty="0"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2693545" y="3337930"/>
            <a:ext cx="2292441" cy="342750"/>
          </a:xfrm>
          <a:prstGeom prst="rect">
            <a:avLst/>
          </a:prstGeom>
          <a:solidFill>
            <a:srgbClr val="B5BEE3"/>
          </a:solidFill>
          <a:ln w="9525">
            <a:solidFill>
              <a:srgbClr val="000000"/>
            </a:solidFill>
            <a:miter lim="800000"/>
            <a:headEnd/>
            <a:tailEnd/>
          </a:ln>
          <a:extLst/>
        </p:spPr>
        <p:txBody>
          <a:bodyPr tIns="0" bIns="0"/>
          <a:lstStyle/>
          <a:p>
            <a:pPr algn="ctr"/>
            <a:r>
              <a:rPr lang="zh-CN" altLang="zh-CN" sz="2400" i="1" dirty="0">
                <a:latin typeface="Times New Roman" pitchFamily="18" charset="0"/>
              </a:rPr>
              <a:t>x</a:t>
            </a:r>
            <a:r>
              <a:rPr lang="zh-CN" altLang="zh-CN" sz="2400" baseline="-30000" dirty="0">
                <a:latin typeface="Times New Roman" pitchFamily="18" charset="0"/>
              </a:rPr>
              <a:t>0</a:t>
            </a:r>
            <a:r>
              <a:rPr lang="zh-CN" altLang="zh-CN" sz="2400" dirty="0">
                <a:latin typeface="Times New Roman" pitchFamily="18" charset="0"/>
              </a:rPr>
              <a:t> + </a:t>
            </a:r>
            <a:r>
              <a:rPr lang="zh-CN" altLang="zh-CN" sz="2400" i="1" dirty="0">
                <a:latin typeface="Times New Roman" pitchFamily="18" charset="0"/>
              </a:rPr>
              <a:t>h</a:t>
            </a:r>
            <a:r>
              <a:rPr lang="zh-CN" altLang="zh-CN" sz="2400" dirty="0">
                <a:latin typeface="Times New Roman" pitchFamily="18" charset="0"/>
              </a:rPr>
              <a:t> </a:t>
            </a:r>
            <a:r>
              <a:rPr lang="zh-CN" altLang="zh-CN" sz="2400" dirty="0">
                <a:latin typeface="Times New Roman" pitchFamily="18" charset="0"/>
                <a:sym typeface="Symbol" pitchFamily="18" charset="2"/>
              </a:rPr>
              <a:t></a:t>
            </a:r>
            <a:r>
              <a:rPr lang="zh-CN" altLang="zh-CN" sz="2400" i="1" dirty="0">
                <a:latin typeface="Times New Roman" pitchFamily="18" charset="0"/>
              </a:rPr>
              <a:t>x</a:t>
            </a:r>
            <a:r>
              <a:rPr lang="zh-CN" altLang="zh-CN" sz="2400" baseline="-30000" dirty="0">
                <a:latin typeface="Times New Roman" pitchFamily="18" charset="0"/>
                <a:sym typeface="Symbol" pitchFamily="18" charset="2"/>
              </a:rPr>
              <a:t>0</a:t>
            </a:r>
            <a:endParaRPr lang="zh-CN" altLang="zh-CN" sz="2400" dirty="0">
              <a:latin typeface="Times New Roman" pitchFamily="18" charset="0"/>
              <a:sym typeface="Symbol" pitchFamily="18" charset="2"/>
            </a:endParaRPr>
          </a:p>
          <a:p>
            <a:pPr eaLnBrk="0" hangingPunct="0"/>
            <a:endParaRPr lang="zh-CN" altLang="zh-CN" sz="2400" dirty="0"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11" name="AutoShape 8"/>
          <p:cNvSpPr>
            <a:spLocks noChangeArrowheads="1"/>
          </p:cNvSpPr>
          <p:nvPr/>
        </p:nvSpPr>
        <p:spPr bwMode="auto">
          <a:xfrm>
            <a:off x="2438829" y="4198101"/>
            <a:ext cx="3056587" cy="685501"/>
          </a:xfrm>
          <a:prstGeom prst="diamond">
            <a:avLst/>
          </a:prstGeom>
          <a:solidFill>
            <a:srgbClr val="B5BEE3"/>
          </a:solidFill>
          <a:ln w="9525" cmpd="sng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 algn="just"/>
            <a:r>
              <a:rPr lang="zh-CN" altLang="zh-CN" sz="2400" i="1">
                <a:latin typeface="Times New Roman" pitchFamily="18" charset="0"/>
              </a:rPr>
              <a:t>f </a:t>
            </a:r>
            <a:r>
              <a:rPr lang="zh-CN" altLang="zh-CN" sz="2400">
                <a:latin typeface="Times New Roman" pitchFamily="18" charset="0"/>
              </a:rPr>
              <a:t>(</a:t>
            </a:r>
            <a:r>
              <a:rPr lang="zh-CN" altLang="zh-CN" sz="2400" i="1">
                <a:latin typeface="Times New Roman" pitchFamily="18" charset="0"/>
              </a:rPr>
              <a:t>x</a:t>
            </a:r>
            <a:r>
              <a:rPr lang="zh-CN" altLang="zh-CN" sz="2400" baseline="-30000">
                <a:latin typeface="Times New Roman" pitchFamily="18" charset="0"/>
              </a:rPr>
              <a:t>0</a:t>
            </a:r>
            <a:r>
              <a:rPr lang="zh-CN" altLang="zh-CN" sz="2400">
                <a:latin typeface="Times New Roman" pitchFamily="18" charset="0"/>
              </a:rPr>
              <a:t>) </a:t>
            </a:r>
            <a:r>
              <a:rPr lang="zh-CN" altLang="zh-CN" sz="2400">
                <a:latin typeface="Times New Roman" pitchFamily="18" charset="0"/>
                <a:sym typeface="Symbol" pitchFamily="18" charset="2"/>
              </a:rPr>
              <a:t></a:t>
            </a:r>
            <a:r>
              <a:rPr lang="zh-CN" altLang="zh-CN" sz="2400">
                <a:latin typeface="Times New Roman" pitchFamily="18" charset="0"/>
              </a:rPr>
              <a:t> </a:t>
            </a:r>
            <a:r>
              <a:rPr lang="zh-CN" altLang="zh-CN" sz="2400" i="1">
                <a:latin typeface="Times New Roman" pitchFamily="18" charset="0"/>
                <a:sym typeface="Symbol" pitchFamily="18" charset="2"/>
              </a:rPr>
              <a:t>y</a:t>
            </a:r>
            <a:r>
              <a:rPr lang="zh-CN" altLang="zh-CN" sz="2400" baseline="-30000">
                <a:latin typeface="Times New Roman" pitchFamily="18" charset="0"/>
                <a:sym typeface="Symbol" pitchFamily="18" charset="2"/>
              </a:rPr>
              <a:t>0</a:t>
            </a:r>
            <a:r>
              <a:rPr lang="zh-CN" altLang="zh-CN" sz="2400">
                <a:latin typeface="Times New Roman" pitchFamily="18" charset="0"/>
                <a:sym typeface="Symbol" pitchFamily="18" charset="2"/>
              </a:rPr>
              <a:t>&gt;0</a:t>
            </a:r>
          </a:p>
          <a:p>
            <a:pPr eaLnBrk="0" hangingPunct="0"/>
            <a:endParaRPr lang="zh-CN" altLang="zh-CN" sz="2400"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2693546" y="5397727"/>
            <a:ext cx="2445270" cy="325184"/>
          </a:xfrm>
          <a:prstGeom prst="rect">
            <a:avLst/>
          </a:prstGeom>
          <a:solidFill>
            <a:srgbClr val="B5BEE3"/>
          </a:solidFill>
          <a:ln w="9525" cmpd="sng">
            <a:solidFill>
              <a:srgbClr val="000000"/>
            </a:solidFill>
            <a:miter lim="800000"/>
            <a:headEnd/>
            <a:tailEnd/>
          </a:ln>
        </p:spPr>
        <p:txBody>
          <a:bodyPr tIns="0" bIns="0"/>
          <a:lstStyle/>
          <a:p>
            <a:pPr algn="ctr"/>
            <a:r>
              <a:rPr lang="zh-CN" altLang="en-US" sz="2400">
                <a:latin typeface="Times New Roman" pitchFamily="18" charset="0"/>
              </a:rPr>
              <a:t>打  印</a:t>
            </a:r>
          </a:p>
          <a:p>
            <a:pPr eaLnBrk="0" hangingPunct="0"/>
            <a:endParaRPr lang="zh-CN" altLang="zh-CN" sz="2400">
              <a:latin typeface="Times New Roman" pitchFamily="18" charset="0"/>
            </a:endParaRPr>
          </a:p>
        </p:txBody>
      </p:sp>
      <p:sp>
        <p:nvSpPr>
          <p:cNvPr id="14" name="Line 11"/>
          <p:cNvSpPr>
            <a:spLocks noChangeShapeType="1"/>
          </p:cNvSpPr>
          <p:nvPr/>
        </p:nvSpPr>
        <p:spPr bwMode="auto">
          <a:xfrm>
            <a:off x="3984104" y="5740477"/>
            <a:ext cx="0" cy="514125"/>
          </a:xfrm>
          <a:prstGeom prst="line">
            <a:avLst/>
          </a:prstGeom>
          <a:noFill/>
          <a:ln w="9525" cmpd="sng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3200"/>
          </a:p>
        </p:txBody>
      </p:sp>
      <p:sp>
        <p:nvSpPr>
          <p:cNvPr id="15" name="Line 12"/>
          <p:cNvSpPr>
            <a:spLocks noChangeShapeType="1"/>
          </p:cNvSpPr>
          <p:nvPr/>
        </p:nvSpPr>
        <p:spPr bwMode="auto">
          <a:xfrm>
            <a:off x="3967123" y="4883602"/>
            <a:ext cx="0" cy="514125"/>
          </a:xfrm>
          <a:prstGeom prst="line">
            <a:avLst/>
          </a:prstGeom>
          <a:noFill/>
          <a:ln w="9525" cmpd="sng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3200"/>
          </a:p>
        </p:txBody>
      </p:sp>
      <p:sp>
        <p:nvSpPr>
          <p:cNvPr id="16" name="Line 13"/>
          <p:cNvSpPr>
            <a:spLocks noChangeShapeType="1"/>
          </p:cNvSpPr>
          <p:nvPr/>
        </p:nvSpPr>
        <p:spPr bwMode="auto">
          <a:xfrm>
            <a:off x="3967123" y="3683976"/>
            <a:ext cx="0" cy="514125"/>
          </a:xfrm>
          <a:prstGeom prst="line">
            <a:avLst/>
          </a:prstGeom>
          <a:noFill/>
          <a:ln w="9525" cmpd="sng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3200"/>
          </a:p>
        </p:txBody>
      </p:sp>
      <p:sp>
        <p:nvSpPr>
          <p:cNvPr id="17" name="Line 14"/>
          <p:cNvSpPr>
            <a:spLocks noChangeShapeType="1"/>
          </p:cNvSpPr>
          <p:nvPr/>
        </p:nvSpPr>
        <p:spPr bwMode="auto">
          <a:xfrm>
            <a:off x="3967123" y="2827100"/>
            <a:ext cx="0" cy="514125"/>
          </a:xfrm>
          <a:prstGeom prst="line">
            <a:avLst/>
          </a:prstGeom>
          <a:noFill/>
          <a:ln w="9525" cmpd="sng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3200"/>
          </a:p>
        </p:txBody>
      </p:sp>
      <p:sp>
        <p:nvSpPr>
          <p:cNvPr id="18" name="Line 15"/>
          <p:cNvSpPr>
            <a:spLocks noChangeShapeType="1"/>
          </p:cNvSpPr>
          <p:nvPr/>
        </p:nvSpPr>
        <p:spPr bwMode="auto">
          <a:xfrm flipH="1">
            <a:off x="3967122" y="1627475"/>
            <a:ext cx="1" cy="355134"/>
          </a:xfrm>
          <a:prstGeom prst="line">
            <a:avLst/>
          </a:prstGeom>
          <a:noFill/>
          <a:ln w="9525" cmpd="sng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3200"/>
          </a:p>
        </p:txBody>
      </p:sp>
      <p:sp>
        <p:nvSpPr>
          <p:cNvPr id="19" name="Line 16"/>
          <p:cNvSpPr>
            <a:spLocks noChangeShapeType="1"/>
          </p:cNvSpPr>
          <p:nvPr/>
        </p:nvSpPr>
        <p:spPr bwMode="auto">
          <a:xfrm>
            <a:off x="3967123" y="770598"/>
            <a:ext cx="0" cy="514125"/>
          </a:xfrm>
          <a:prstGeom prst="line">
            <a:avLst/>
          </a:prstGeom>
          <a:noFill/>
          <a:ln w="9525" cmpd="sng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3200"/>
          </a:p>
        </p:txBody>
      </p:sp>
      <p:sp>
        <p:nvSpPr>
          <p:cNvPr id="20" name="Text Box 17"/>
          <p:cNvSpPr txBox="1">
            <a:spLocks noChangeArrowheads="1"/>
          </p:cNvSpPr>
          <p:nvPr/>
        </p:nvSpPr>
        <p:spPr bwMode="auto">
          <a:xfrm>
            <a:off x="3967122" y="4888421"/>
            <a:ext cx="254716" cy="34275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just"/>
            <a:r>
              <a:rPr lang="zh-CN" altLang="en-US" sz="2400" dirty="0">
                <a:latin typeface="Times New Roman" pitchFamily="18" charset="0"/>
              </a:rPr>
              <a:t>否</a:t>
            </a:r>
          </a:p>
          <a:p>
            <a:pPr eaLnBrk="0" hangingPunct="0"/>
            <a:endParaRPr lang="zh-CN" altLang="zh-CN" sz="2400" dirty="0">
              <a:latin typeface="Times New Roman" pitchFamily="18" charset="0"/>
            </a:endParaRPr>
          </a:p>
        </p:txBody>
      </p:sp>
      <p:sp>
        <p:nvSpPr>
          <p:cNvPr id="21" name="Line 18"/>
          <p:cNvSpPr>
            <a:spLocks noChangeShapeType="1"/>
          </p:cNvSpPr>
          <p:nvPr/>
        </p:nvSpPr>
        <p:spPr bwMode="auto">
          <a:xfrm>
            <a:off x="5495416" y="4540851"/>
            <a:ext cx="2037725" cy="0"/>
          </a:xfrm>
          <a:prstGeom prst="line">
            <a:avLst/>
          </a:prstGeom>
          <a:noFill/>
          <a:ln w="9525" cmpd="sng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3200"/>
          </a:p>
        </p:txBody>
      </p:sp>
      <p:sp>
        <p:nvSpPr>
          <p:cNvPr id="22" name="Line 19"/>
          <p:cNvSpPr>
            <a:spLocks noChangeShapeType="1"/>
          </p:cNvSpPr>
          <p:nvPr/>
        </p:nvSpPr>
        <p:spPr bwMode="auto">
          <a:xfrm flipV="1">
            <a:off x="7533141" y="2998475"/>
            <a:ext cx="0" cy="1542376"/>
          </a:xfrm>
          <a:prstGeom prst="line">
            <a:avLst/>
          </a:prstGeom>
          <a:noFill/>
          <a:ln w="9525" cmpd="sng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3200"/>
          </a:p>
        </p:txBody>
      </p:sp>
      <p:sp>
        <p:nvSpPr>
          <p:cNvPr id="23" name="Line 20"/>
          <p:cNvSpPr>
            <a:spLocks noChangeShapeType="1"/>
          </p:cNvSpPr>
          <p:nvPr/>
        </p:nvSpPr>
        <p:spPr bwMode="auto">
          <a:xfrm flipH="1">
            <a:off x="3967123" y="2998475"/>
            <a:ext cx="3566019" cy="0"/>
          </a:xfrm>
          <a:prstGeom prst="line">
            <a:avLst/>
          </a:prstGeom>
          <a:noFill/>
          <a:ln w="9525" cmpd="sng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3200"/>
          </a:p>
        </p:txBody>
      </p:sp>
      <p:sp>
        <p:nvSpPr>
          <p:cNvPr id="24" name="Text Box 21"/>
          <p:cNvSpPr txBox="1">
            <a:spLocks noChangeArrowheads="1"/>
          </p:cNvSpPr>
          <p:nvPr/>
        </p:nvSpPr>
        <p:spPr bwMode="auto">
          <a:xfrm>
            <a:off x="5495417" y="4206890"/>
            <a:ext cx="254716" cy="34275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just"/>
            <a:r>
              <a:rPr lang="zh-CN" altLang="en-US" sz="2400" dirty="0">
                <a:latin typeface="Times New Roman" pitchFamily="18" charset="0"/>
              </a:rPr>
              <a:t>是</a:t>
            </a:r>
          </a:p>
          <a:p>
            <a:pPr eaLnBrk="0" hangingPunct="0"/>
            <a:endParaRPr lang="zh-CN" altLang="zh-CN" sz="2400" dirty="0">
              <a:latin typeface="Times New Roman" pitchFamily="18" charset="0"/>
            </a:endParaRPr>
          </a:p>
        </p:txBody>
      </p:sp>
      <p:sp>
        <p:nvSpPr>
          <p:cNvPr id="25" name="Text Box 22"/>
          <p:cNvSpPr txBox="1">
            <a:spLocks noChangeArrowheads="1"/>
          </p:cNvSpPr>
          <p:nvPr/>
        </p:nvSpPr>
        <p:spPr bwMode="auto">
          <a:xfrm>
            <a:off x="6228431" y="4206890"/>
            <a:ext cx="1528294" cy="34275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just"/>
            <a:r>
              <a:rPr lang="zh-CN" altLang="en-US" sz="2400" dirty="0">
                <a:latin typeface="Times New Roman" pitchFamily="18" charset="0"/>
              </a:rPr>
              <a:t>继续扫描</a:t>
            </a:r>
          </a:p>
          <a:p>
            <a:pPr eaLnBrk="0" hangingPunct="0"/>
            <a:endParaRPr lang="zh-CN" altLang="zh-CN" sz="2400" dirty="0">
              <a:latin typeface="Times New Roman" pitchFamily="18" charset="0"/>
            </a:endParaRPr>
          </a:p>
        </p:txBody>
      </p:sp>
      <p:sp>
        <p:nvSpPr>
          <p:cNvPr id="26" name="圆角矩形 25"/>
          <p:cNvSpPr/>
          <p:nvPr/>
        </p:nvSpPr>
        <p:spPr bwMode="auto">
          <a:xfrm>
            <a:off x="3131840" y="446415"/>
            <a:ext cx="1656184" cy="317592"/>
          </a:xfrm>
          <a:prstGeom prst="roundRect">
            <a:avLst>
              <a:gd name="adj" fmla="val 50000"/>
            </a:avLst>
          </a:prstGeom>
          <a:solidFill>
            <a:srgbClr val="B5BEE3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>
                <a:latin typeface="Arial" pitchFamily="34" charset="0"/>
              </a:rPr>
              <a:t>开始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27" name="圆角矩形 26"/>
          <p:cNvSpPr/>
          <p:nvPr/>
        </p:nvSpPr>
        <p:spPr bwMode="auto">
          <a:xfrm>
            <a:off x="3131840" y="6237036"/>
            <a:ext cx="1656184" cy="317592"/>
          </a:xfrm>
          <a:prstGeom prst="roundRect">
            <a:avLst>
              <a:gd name="adj" fmla="val 50000"/>
            </a:avLst>
          </a:prstGeom>
          <a:solidFill>
            <a:srgbClr val="B5BEE3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>
                <a:latin typeface="Arial" pitchFamily="34" charset="0"/>
              </a:rPr>
              <a:t>结束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01437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A23D68EA-504D-4A0F-84D2-799070D3D35F}" type="slidenum">
              <a:rPr lang="zh-CN" altLang="en-US"/>
              <a:pPr/>
              <a:t>15</a:t>
            </a:fld>
            <a:endParaRPr lang="en-US" altLang="zh-CN"/>
          </a:p>
        </p:txBody>
      </p:sp>
      <p:sp>
        <p:nvSpPr>
          <p:cNvPr id="72707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4A9B838B-50C4-4581-BEA7-BAA46933A754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240642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304800"/>
            <a:ext cx="8142288" cy="617538"/>
          </a:xfrm>
        </p:spPr>
        <p:txBody>
          <a:bodyPr/>
          <a:lstStyle/>
          <a:p>
            <a:pPr>
              <a:defRPr/>
            </a:pPr>
            <a:r>
              <a:rPr lang="zh-CN" altLang="en-US" sz="4500">
                <a:latin typeface="Times New Roman" pitchFamily="18" charset="0"/>
              </a:rPr>
              <a:t>2.1.2   扫描法</a:t>
            </a:r>
          </a:p>
        </p:txBody>
      </p:sp>
      <p:sp>
        <p:nvSpPr>
          <p:cNvPr id="727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0715" y="1143002"/>
            <a:ext cx="8142287" cy="384175"/>
          </a:xfrm>
        </p:spPr>
        <p:txBody>
          <a:bodyPr/>
          <a:lstStyle/>
          <a:p>
            <a:pPr lvl="1"/>
            <a:r>
              <a:rPr lang="en-US" altLang="zh-CN" i="1" smtClean="0"/>
              <a:t>h</a:t>
            </a:r>
            <a:r>
              <a:rPr lang="zh-CN" altLang="en-US" smtClean="0">
                <a:latin typeface="宋体" pitchFamily="2" charset="-122"/>
              </a:rPr>
              <a:t>过大则可能会漏掉根</a:t>
            </a:r>
            <a:endParaRPr lang="zh-CN" altLang="en-US" smtClean="0"/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620838" y="1524002"/>
            <a:ext cx="7086600" cy="1844675"/>
            <a:chOff x="1008" y="2112"/>
            <a:chExt cx="2928" cy="1162"/>
          </a:xfrm>
        </p:grpSpPr>
        <p:sp>
          <p:nvSpPr>
            <p:cNvPr id="72713" name="Text Box 5"/>
            <p:cNvSpPr txBox="1">
              <a:spLocks noChangeArrowheads="1"/>
            </p:cNvSpPr>
            <p:nvPr/>
          </p:nvSpPr>
          <p:spPr bwMode="auto">
            <a:xfrm>
              <a:off x="2486" y="2650"/>
              <a:ext cx="1450" cy="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/>
              <a:r>
                <a:rPr lang="en-US" altLang="zh-CN" sz="2800" i="1">
                  <a:latin typeface="Times New Roman" pitchFamily="18" charset="0"/>
                </a:rPr>
                <a:t>a+(k+1)h</a:t>
              </a:r>
              <a:endParaRPr lang="en-US" altLang="zh-CN" sz="2800">
                <a:latin typeface="Times New Roman" pitchFamily="18" charset="0"/>
              </a:endParaRPr>
            </a:p>
          </p:txBody>
        </p:sp>
        <p:sp>
          <p:nvSpPr>
            <p:cNvPr id="72714" name="Line 6"/>
            <p:cNvSpPr>
              <a:spLocks noChangeShapeType="1"/>
            </p:cNvSpPr>
            <p:nvPr/>
          </p:nvSpPr>
          <p:spPr bwMode="auto">
            <a:xfrm>
              <a:off x="1032" y="2664"/>
              <a:ext cx="218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15" name="Freeform 7"/>
            <p:cNvSpPr>
              <a:spLocks/>
            </p:cNvSpPr>
            <p:nvPr/>
          </p:nvSpPr>
          <p:spPr bwMode="auto">
            <a:xfrm>
              <a:off x="1008" y="2112"/>
              <a:ext cx="1963" cy="823"/>
            </a:xfrm>
            <a:custGeom>
              <a:avLst/>
              <a:gdLst>
                <a:gd name="T0" fmla="*/ 0 w 2916"/>
                <a:gd name="T1" fmla="*/ 823 h 775"/>
                <a:gd name="T2" fmla="*/ 293 w 2916"/>
                <a:gd name="T3" fmla="*/ 441 h 775"/>
                <a:gd name="T4" fmla="*/ 509 w 2916"/>
                <a:gd name="T5" fmla="*/ 331 h 775"/>
                <a:gd name="T6" fmla="*/ 670 w 2916"/>
                <a:gd name="T7" fmla="*/ 331 h 775"/>
                <a:gd name="T8" fmla="*/ 913 w 2916"/>
                <a:gd name="T9" fmla="*/ 552 h 775"/>
                <a:gd name="T10" fmla="*/ 1074 w 2916"/>
                <a:gd name="T11" fmla="*/ 773 h 775"/>
                <a:gd name="T12" fmla="*/ 1317 w 2916"/>
                <a:gd name="T13" fmla="*/ 442 h 775"/>
                <a:gd name="T14" fmla="*/ 1559 w 2916"/>
                <a:gd name="T15" fmla="*/ 221 h 775"/>
                <a:gd name="T16" fmla="*/ 1963 w 2916"/>
                <a:gd name="T17" fmla="*/ 0 h 77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916"/>
                <a:gd name="T28" fmla="*/ 0 h 775"/>
                <a:gd name="T29" fmla="*/ 2916 w 2916"/>
                <a:gd name="T30" fmla="*/ 775 h 77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916" h="775">
                  <a:moveTo>
                    <a:pt x="0" y="775"/>
                  </a:moveTo>
                  <a:cubicBezTo>
                    <a:pt x="72" y="715"/>
                    <a:pt x="309" y="492"/>
                    <a:pt x="435" y="415"/>
                  </a:cubicBezTo>
                  <a:cubicBezTo>
                    <a:pt x="561" y="338"/>
                    <a:pt x="663" y="329"/>
                    <a:pt x="756" y="312"/>
                  </a:cubicBezTo>
                  <a:cubicBezTo>
                    <a:pt x="849" y="295"/>
                    <a:pt x="896" y="277"/>
                    <a:pt x="996" y="312"/>
                  </a:cubicBezTo>
                  <a:cubicBezTo>
                    <a:pt x="1096" y="347"/>
                    <a:pt x="1256" y="451"/>
                    <a:pt x="1356" y="520"/>
                  </a:cubicBezTo>
                  <a:cubicBezTo>
                    <a:pt x="1456" y="589"/>
                    <a:pt x="1496" y="745"/>
                    <a:pt x="1596" y="728"/>
                  </a:cubicBezTo>
                  <a:cubicBezTo>
                    <a:pt x="1696" y="711"/>
                    <a:pt x="1836" y="503"/>
                    <a:pt x="1956" y="416"/>
                  </a:cubicBezTo>
                  <a:cubicBezTo>
                    <a:pt x="2076" y="329"/>
                    <a:pt x="2156" y="277"/>
                    <a:pt x="2316" y="208"/>
                  </a:cubicBezTo>
                  <a:cubicBezTo>
                    <a:pt x="2476" y="139"/>
                    <a:pt x="2816" y="35"/>
                    <a:pt x="2916" y="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16" name="Line 8"/>
            <p:cNvSpPr>
              <a:spLocks noChangeShapeType="1"/>
            </p:cNvSpPr>
            <p:nvPr/>
          </p:nvSpPr>
          <p:spPr bwMode="auto">
            <a:xfrm>
              <a:off x="1596" y="2443"/>
              <a:ext cx="0" cy="22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17" name="Text Box 9"/>
            <p:cNvSpPr txBox="1">
              <a:spLocks noChangeArrowheads="1"/>
            </p:cNvSpPr>
            <p:nvPr/>
          </p:nvSpPr>
          <p:spPr bwMode="auto">
            <a:xfrm>
              <a:off x="1344" y="2616"/>
              <a:ext cx="647" cy="5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/>
              <a:r>
                <a:rPr lang="en-US" altLang="zh-CN" sz="2800" i="1">
                  <a:latin typeface="Times New Roman" pitchFamily="18" charset="0"/>
                </a:rPr>
                <a:t>a+kh</a:t>
              </a:r>
            </a:p>
          </p:txBody>
        </p:sp>
        <p:sp>
          <p:nvSpPr>
            <p:cNvPr id="72718" name="Line 10"/>
            <p:cNvSpPr>
              <a:spLocks noChangeShapeType="1"/>
            </p:cNvSpPr>
            <p:nvPr/>
          </p:nvSpPr>
          <p:spPr bwMode="auto">
            <a:xfrm>
              <a:off x="2890" y="2222"/>
              <a:ext cx="0" cy="44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19" name="Line 11"/>
            <p:cNvSpPr>
              <a:spLocks noChangeShapeType="1"/>
            </p:cNvSpPr>
            <p:nvPr/>
          </p:nvSpPr>
          <p:spPr bwMode="auto">
            <a:xfrm>
              <a:off x="1596" y="2995"/>
              <a:ext cx="0" cy="22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20" name="Line 12"/>
            <p:cNvSpPr>
              <a:spLocks noChangeShapeType="1"/>
            </p:cNvSpPr>
            <p:nvPr/>
          </p:nvSpPr>
          <p:spPr bwMode="auto">
            <a:xfrm>
              <a:off x="2890" y="2995"/>
              <a:ext cx="0" cy="22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21" name="Line 13"/>
            <p:cNvSpPr>
              <a:spLocks noChangeShapeType="1"/>
            </p:cNvSpPr>
            <p:nvPr/>
          </p:nvSpPr>
          <p:spPr bwMode="auto">
            <a:xfrm flipH="1">
              <a:off x="1596" y="3106"/>
              <a:ext cx="64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22" name="Text Box 14"/>
            <p:cNvSpPr txBox="1">
              <a:spLocks noChangeArrowheads="1"/>
            </p:cNvSpPr>
            <p:nvPr/>
          </p:nvSpPr>
          <p:spPr bwMode="auto">
            <a:xfrm>
              <a:off x="2208" y="2832"/>
              <a:ext cx="323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/>
              <a:r>
                <a:rPr lang="en-US" altLang="zh-CN" sz="2800" b="0">
                  <a:latin typeface="Times New Roman" pitchFamily="18" charset="0"/>
                </a:rPr>
                <a:t>h</a:t>
              </a:r>
            </a:p>
          </p:txBody>
        </p:sp>
        <p:sp>
          <p:nvSpPr>
            <p:cNvPr id="72723" name="Line 15"/>
            <p:cNvSpPr>
              <a:spLocks noChangeShapeType="1"/>
            </p:cNvSpPr>
            <p:nvPr/>
          </p:nvSpPr>
          <p:spPr bwMode="auto">
            <a:xfrm>
              <a:off x="2406" y="3106"/>
              <a:ext cx="48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0658" name="Rectangle 18"/>
          <p:cNvSpPr>
            <a:spLocks noChangeArrowheads="1"/>
          </p:cNvSpPr>
          <p:nvPr/>
        </p:nvSpPr>
        <p:spPr bwMode="auto">
          <a:xfrm>
            <a:off x="457200" y="3638550"/>
            <a:ext cx="8229600" cy="177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lvl="1" algn="l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FontTx/>
              <a:buChar char="–"/>
            </a:pPr>
            <a:r>
              <a:rPr lang="en-US" altLang="zh-CN" sz="2800" i="1">
                <a:latin typeface="Times New Roman" pitchFamily="18" charset="0"/>
              </a:rPr>
              <a:t> h</a:t>
            </a:r>
            <a:r>
              <a:rPr lang="zh-CN" altLang="en-US" sz="2800">
                <a:latin typeface="宋体" pitchFamily="2" charset="-122"/>
              </a:rPr>
              <a:t>过小则计算量很大</a:t>
            </a:r>
          </a:p>
          <a:p>
            <a:pPr lvl="2" algn="l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FontTx/>
              <a:buChar char="–"/>
            </a:pPr>
            <a:r>
              <a:rPr lang="zh-CN" altLang="en-US" sz="2800">
                <a:latin typeface="宋体" pitchFamily="2" charset="-122"/>
              </a:rPr>
              <a:t> 如要求精度达到</a:t>
            </a:r>
            <a:r>
              <a:rPr lang="zh-CN" altLang="en-US" sz="2800">
                <a:latin typeface="Times New Roman" pitchFamily="18" charset="0"/>
              </a:rPr>
              <a:t>0.001,</a:t>
            </a:r>
            <a:r>
              <a:rPr lang="zh-CN" altLang="en-US" sz="2800">
                <a:latin typeface="宋体" pitchFamily="2" charset="-122"/>
              </a:rPr>
              <a:t>则在长度为</a:t>
            </a:r>
            <a:r>
              <a:rPr lang="zh-CN" altLang="en-US" sz="2800">
                <a:latin typeface="Times New Roman" pitchFamily="18" charset="0"/>
              </a:rPr>
              <a:t>1</a:t>
            </a:r>
            <a:r>
              <a:rPr lang="zh-CN" altLang="en-US" sz="2800">
                <a:latin typeface="宋体" pitchFamily="2" charset="-122"/>
              </a:rPr>
              <a:t>的搜索区间中</a:t>
            </a:r>
            <a:r>
              <a:rPr lang="zh-CN" altLang="en-US" sz="2800">
                <a:latin typeface="Times New Roman" pitchFamily="18" charset="0"/>
              </a:rPr>
              <a:t>,</a:t>
            </a:r>
            <a:r>
              <a:rPr lang="zh-CN" altLang="en-US" sz="2800">
                <a:latin typeface="宋体" pitchFamily="2" charset="-122"/>
              </a:rPr>
              <a:t>要计算</a:t>
            </a:r>
            <a:r>
              <a:rPr lang="zh-CN" altLang="en-US" sz="2800">
                <a:latin typeface="Times New Roman" pitchFamily="18" charset="0"/>
              </a:rPr>
              <a:t>1000</a:t>
            </a:r>
            <a:r>
              <a:rPr lang="zh-CN" altLang="en-US" sz="2800">
                <a:latin typeface="宋体" pitchFamily="2" charset="-122"/>
              </a:rPr>
              <a:t>个函数值</a:t>
            </a:r>
            <a:r>
              <a:rPr lang="zh-CN" altLang="en-US" sz="2800">
                <a:latin typeface="Times New Roman" pitchFamily="18" charset="0"/>
              </a:rPr>
              <a:t>, </a:t>
            </a:r>
            <a:r>
              <a:rPr lang="zh-CN" altLang="en-US" sz="2800">
                <a:latin typeface="宋体" pitchFamily="2" charset="-122"/>
              </a:rPr>
              <a:t>欲使精度提高一倍</a:t>
            </a:r>
            <a:r>
              <a:rPr lang="zh-CN" altLang="en-US" sz="2800">
                <a:latin typeface="Times New Roman" pitchFamily="18" charset="0"/>
              </a:rPr>
              <a:t>, </a:t>
            </a:r>
            <a:r>
              <a:rPr lang="zh-CN" altLang="en-US" sz="2800">
                <a:latin typeface="宋体" pitchFamily="2" charset="-122"/>
              </a:rPr>
              <a:t>计算量就要增加</a:t>
            </a:r>
            <a:r>
              <a:rPr lang="zh-CN" altLang="en-US" sz="2800">
                <a:latin typeface="Times New Roman" pitchFamily="18" charset="0"/>
              </a:rPr>
              <a:t>10</a:t>
            </a:r>
            <a:r>
              <a:rPr lang="zh-CN" altLang="en-US" sz="2800">
                <a:latin typeface="宋体" pitchFamily="2" charset="-122"/>
              </a:rPr>
              <a:t>倍</a:t>
            </a:r>
          </a:p>
        </p:txBody>
      </p:sp>
      <p:sp>
        <p:nvSpPr>
          <p:cNvPr id="240660" name="Rectangle 20" descr="蓝色砂纸"/>
          <p:cNvSpPr>
            <a:spLocks noChangeArrowheads="1"/>
          </p:cNvSpPr>
          <p:nvPr/>
        </p:nvSpPr>
        <p:spPr bwMode="auto">
          <a:xfrm>
            <a:off x="2590800" y="5791200"/>
            <a:ext cx="3086100" cy="476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None/>
            </a:pPr>
            <a:r>
              <a:rPr lang="zh-CN" altLang="en-US" sz="2800" b="0">
                <a:latin typeface="黑体" pitchFamily="49" charset="-122"/>
                <a:ea typeface="黑体" pitchFamily="49" charset="-122"/>
              </a:rPr>
              <a:t>关键是选取步长</a:t>
            </a:r>
            <a:r>
              <a:rPr lang="en-US" altLang="zh-CN" sz="2800" b="0">
                <a:latin typeface="黑体" pitchFamily="49" charset="-122"/>
                <a:ea typeface="黑体" pitchFamily="49" charset="-122"/>
              </a:rPr>
              <a:t>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406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406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406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406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2" presetClass="entr" presetSubtype="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06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0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0658" grpId="0" autoUpdateAnimBg="0"/>
      <p:bldP spid="240660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A9A3B300-A1B6-4FBE-BD29-CFF4658BD896}" type="slidenum">
              <a:rPr lang="zh-CN" altLang="en-US"/>
              <a:pPr/>
              <a:t>16</a:t>
            </a:fld>
            <a:endParaRPr lang="en-US" altLang="zh-CN"/>
          </a:p>
        </p:txBody>
      </p:sp>
      <p:sp>
        <p:nvSpPr>
          <p:cNvPr id="73731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ECC3F879-81F7-4616-B40E-DD38D114728E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435202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296865"/>
            <a:ext cx="8142288" cy="617537"/>
          </a:xfrm>
        </p:spPr>
        <p:txBody>
          <a:bodyPr/>
          <a:lstStyle/>
          <a:p>
            <a:pPr>
              <a:defRPr/>
            </a:pPr>
            <a:r>
              <a:rPr lang="zh-CN" altLang="en-US" sz="4500">
                <a:latin typeface="Times New Roman" pitchFamily="18" charset="0"/>
              </a:rPr>
              <a:t>2.1.3   对分法</a:t>
            </a:r>
          </a:p>
        </p:txBody>
      </p:sp>
      <p:sp>
        <p:nvSpPr>
          <p:cNvPr id="737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292227"/>
            <a:ext cx="8142288" cy="258286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smtClean="0">
                <a:latin typeface="宋体" pitchFamily="2" charset="-122"/>
              </a:rPr>
              <a:t>设</a:t>
            </a:r>
            <a:r>
              <a:rPr lang="zh-CN" altLang="en-US" smtClean="0">
                <a:cs typeface="Times New Roman" pitchFamily="18" charset="0"/>
              </a:rPr>
              <a:t>[</a:t>
            </a:r>
            <a:r>
              <a:rPr lang="en-US" altLang="zh-CN" i="1" smtClean="0">
                <a:cs typeface="Times New Roman" pitchFamily="18" charset="0"/>
              </a:rPr>
              <a:t>x</a:t>
            </a:r>
            <a:r>
              <a:rPr lang="en-US" altLang="zh-CN" i="1" baseline="-25000" smtClean="0">
                <a:cs typeface="Times New Roman" pitchFamily="18" charset="0"/>
              </a:rPr>
              <a:t>k-1</a:t>
            </a:r>
            <a:r>
              <a:rPr lang="en-US" altLang="zh-CN" i="1" smtClean="0">
                <a:cs typeface="Times New Roman" pitchFamily="18" charset="0"/>
              </a:rPr>
              <a:t>,x</a:t>
            </a:r>
            <a:r>
              <a:rPr lang="en-US" altLang="zh-CN" i="1" baseline="-25000" smtClean="0">
                <a:cs typeface="Times New Roman" pitchFamily="18" charset="0"/>
              </a:rPr>
              <a:t>k</a:t>
            </a:r>
            <a:r>
              <a:rPr lang="en-US" altLang="zh-CN" smtClean="0">
                <a:cs typeface="Times New Roman" pitchFamily="18" charset="0"/>
              </a:rPr>
              <a:t>]</a:t>
            </a:r>
            <a:r>
              <a:rPr lang="zh-CN" altLang="en-US" smtClean="0">
                <a:latin typeface="宋体" pitchFamily="2" charset="-122"/>
              </a:rPr>
              <a:t>为含根子区间，初值对于根的误差要求为</a:t>
            </a:r>
            <a:r>
              <a:rPr lang="zh-CN" altLang="en-US" smtClean="0">
                <a:latin typeface="宋体" pitchFamily="2" charset="-122"/>
                <a:sym typeface="Symbol" pitchFamily="18" charset="2"/>
              </a:rPr>
              <a:t></a:t>
            </a:r>
            <a:r>
              <a:rPr lang="en-US" altLang="zh-CN" smtClean="0">
                <a:latin typeface="宋体" pitchFamily="2" charset="-122"/>
              </a:rPr>
              <a:t>,</a:t>
            </a:r>
            <a:r>
              <a:rPr lang="zh-CN" altLang="en-US" smtClean="0">
                <a:latin typeface="宋体" pitchFamily="2" charset="-122"/>
              </a:rPr>
              <a:t>令</a:t>
            </a:r>
            <a:r>
              <a:rPr lang="en-US" altLang="zh-CN" i="1" smtClean="0">
                <a:cs typeface="Times New Roman" pitchFamily="18" charset="0"/>
              </a:rPr>
              <a:t>a</a:t>
            </a:r>
            <a:r>
              <a:rPr lang="en-US" altLang="zh-CN" smtClean="0">
                <a:cs typeface="Times New Roman" pitchFamily="18" charset="0"/>
              </a:rPr>
              <a:t>= </a:t>
            </a:r>
            <a:r>
              <a:rPr lang="en-US" altLang="zh-CN" i="1" smtClean="0">
                <a:cs typeface="Times New Roman" pitchFamily="18" charset="0"/>
              </a:rPr>
              <a:t>x</a:t>
            </a:r>
            <a:r>
              <a:rPr lang="en-US" altLang="zh-CN" i="1" baseline="-25000" smtClean="0">
                <a:cs typeface="Times New Roman" pitchFamily="18" charset="0"/>
              </a:rPr>
              <a:t>k-1</a:t>
            </a:r>
            <a:r>
              <a:rPr lang="en-US" altLang="zh-CN" smtClean="0">
                <a:latin typeface="宋体" pitchFamily="2" charset="-122"/>
              </a:rPr>
              <a:t>,</a:t>
            </a:r>
            <a:r>
              <a:rPr lang="en-US" altLang="zh-CN" i="1" smtClean="0">
                <a:cs typeface="Times New Roman" pitchFamily="18" charset="0"/>
              </a:rPr>
              <a:t>b</a:t>
            </a:r>
            <a:r>
              <a:rPr lang="en-US" altLang="zh-CN" smtClean="0">
                <a:cs typeface="Times New Roman" pitchFamily="18" charset="0"/>
              </a:rPr>
              <a:t>= </a:t>
            </a:r>
            <a:r>
              <a:rPr lang="en-US" altLang="zh-CN" i="1" smtClean="0">
                <a:cs typeface="Times New Roman" pitchFamily="18" charset="0"/>
              </a:rPr>
              <a:t>x</a:t>
            </a:r>
            <a:r>
              <a:rPr lang="en-US" altLang="zh-CN" i="1" baseline="-25000" smtClean="0">
                <a:cs typeface="Times New Roman" pitchFamily="18" charset="0"/>
              </a:rPr>
              <a:t>k</a:t>
            </a:r>
            <a:r>
              <a:rPr lang="en-US" altLang="zh-CN" smtClean="0">
                <a:latin typeface="宋体" pitchFamily="2" charset="-122"/>
              </a:rPr>
              <a:t>,</a:t>
            </a:r>
            <a:r>
              <a:rPr lang="zh-CN" altLang="en-US" smtClean="0">
                <a:latin typeface="宋体" pitchFamily="2" charset="-122"/>
              </a:rPr>
              <a:t>计算出</a:t>
            </a:r>
            <a:r>
              <a:rPr lang="en-US" altLang="zh-CN" i="1" smtClean="0">
                <a:cs typeface="Times New Roman" pitchFamily="18" charset="0"/>
              </a:rPr>
              <a:t>f (a)</a:t>
            </a:r>
            <a:r>
              <a:rPr lang="en-US" altLang="zh-CN" smtClean="0">
                <a:latin typeface="宋体" pitchFamily="2" charset="-122"/>
              </a:rPr>
              <a:t>,</a:t>
            </a:r>
            <a:r>
              <a:rPr lang="en-US" altLang="zh-CN" i="1" smtClean="0">
                <a:cs typeface="Times New Roman" pitchFamily="18" charset="0"/>
              </a:rPr>
              <a:t>f (b)</a:t>
            </a:r>
            <a:r>
              <a:rPr lang="zh-CN" altLang="en-US" smtClean="0">
                <a:latin typeface="宋体" pitchFamily="2" charset="-122"/>
              </a:rPr>
              <a:t>后进行如下:</a:t>
            </a:r>
          </a:p>
          <a:p>
            <a:pPr lvl="1">
              <a:lnSpc>
                <a:spcPct val="100000"/>
              </a:lnSpc>
            </a:pPr>
            <a:r>
              <a:rPr lang="zh-CN" altLang="en-US" smtClean="0">
                <a:latin typeface="宋体" pitchFamily="2" charset="-122"/>
              </a:rPr>
              <a:t>1) 取[</a:t>
            </a:r>
            <a:r>
              <a:rPr lang="en-US" altLang="zh-CN" i="1" smtClean="0"/>
              <a:t>a</a:t>
            </a:r>
            <a:r>
              <a:rPr lang="en-US" altLang="zh-CN" smtClean="0">
                <a:latin typeface="宋体" pitchFamily="2" charset="-122"/>
              </a:rPr>
              <a:t>,</a:t>
            </a:r>
            <a:r>
              <a:rPr lang="en-US" altLang="zh-CN" i="1" smtClean="0"/>
              <a:t>b</a:t>
            </a:r>
            <a:r>
              <a:rPr lang="en-US" altLang="zh-CN" smtClean="0">
                <a:latin typeface="宋体" pitchFamily="2" charset="-122"/>
              </a:rPr>
              <a:t>]</a:t>
            </a:r>
            <a:r>
              <a:rPr lang="zh-CN" altLang="en-US" smtClean="0">
                <a:latin typeface="宋体" pitchFamily="2" charset="-122"/>
              </a:rPr>
              <a:t>的中点</a:t>
            </a:r>
            <a:r>
              <a:rPr lang="en-US" altLang="zh-CN" i="1" smtClean="0"/>
              <a:t>r </a:t>
            </a:r>
            <a:r>
              <a:rPr lang="en-US" altLang="zh-CN" smtClean="0">
                <a:latin typeface="宋体" pitchFamily="2" charset="-122"/>
              </a:rPr>
              <a:t>=(</a:t>
            </a:r>
            <a:r>
              <a:rPr lang="en-US" altLang="zh-CN" i="1" smtClean="0"/>
              <a:t>a</a:t>
            </a:r>
            <a:r>
              <a:rPr lang="en-US" altLang="zh-CN" smtClean="0">
                <a:latin typeface="宋体" pitchFamily="2" charset="-122"/>
              </a:rPr>
              <a:t>+</a:t>
            </a:r>
            <a:r>
              <a:rPr lang="en-US" altLang="zh-CN" i="1" smtClean="0"/>
              <a:t>b</a:t>
            </a:r>
            <a:r>
              <a:rPr lang="en-US" altLang="zh-CN" smtClean="0">
                <a:latin typeface="宋体" pitchFamily="2" charset="-122"/>
              </a:rPr>
              <a:t>)/2，</a:t>
            </a:r>
            <a:r>
              <a:rPr lang="zh-CN" altLang="en-US" smtClean="0">
                <a:latin typeface="宋体" pitchFamily="2" charset="-122"/>
              </a:rPr>
              <a:t>计算</a:t>
            </a:r>
            <a:r>
              <a:rPr lang="en-US" altLang="zh-CN" i="1" smtClean="0"/>
              <a:t>f </a:t>
            </a:r>
            <a:r>
              <a:rPr lang="en-US" altLang="zh-CN" smtClean="0">
                <a:latin typeface="宋体" pitchFamily="2" charset="-122"/>
              </a:rPr>
              <a:t>(</a:t>
            </a:r>
            <a:r>
              <a:rPr lang="en-US" altLang="zh-CN" i="1" smtClean="0"/>
              <a:t>r </a:t>
            </a:r>
            <a:r>
              <a:rPr lang="en-US" altLang="zh-CN" smtClean="0">
                <a:latin typeface="宋体" pitchFamily="2" charset="-122"/>
              </a:rPr>
              <a:t>)</a:t>
            </a:r>
          </a:p>
          <a:p>
            <a:pPr lvl="1">
              <a:lnSpc>
                <a:spcPct val="100000"/>
              </a:lnSpc>
            </a:pPr>
            <a:r>
              <a:rPr lang="en-US" altLang="zh-CN" smtClean="0">
                <a:latin typeface="宋体" pitchFamily="2" charset="-122"/>
              </a:rPr>
              <a:t>2) </a:t>
            </a:r>
            <a:r>
              <a:rPr lang="zh-CN" altLang="en-US" smtClean="0">
                <a:latin typeface="宋体" pitchFamily="2" charset="-122"/>
              </a:rPr>
              <a:t>若</a:t>
            </a:r>
            <a:r>
              <a:rPr lang="en-US" altLang="zh-CN" i="1" smtClean="0"/>
              <a:t>f </a:t>
            </a:r>
            <a:r>
              <a:rPr lang="en-US" altLang="zh-CN" smtClean="0">
                <a:latin typeface="宋体" pitchFamily="2" charset="-122"/>
              </a:rPr>
              <a:t>(</a:t>
            </a:r>
            <a:r>
              <a:rPr lang="en-US" altLang="zh-CN" i="1" smtClean="0"/>
              <a:t>r </a:t>
            </a:r>
            <a:r>
              <a:rPr lang="en-US" altLang="zh-CN" smtClean="0">
                <a:latin typeface="宋体" pitchFamily="2" charset="-122"/>
              </a:rPr>
              <a:t>)</a:t>
            </a:r>
            <a:r>
              <a:rPr lang="en-US" altLang="zh-CN" smtClean="0"/>
              <a:t>·</a:t>
            </a:r>
            <a:r>
              <a:rPr lang="en-US" altLang="zh-CN" smtClean="0">
                <a:latin typeface="宋体" pitchFamily="2" charset="-122"/>
              </a:rPr>
              <a:t> </a:t>
            </a:r>
            <a:r>
              <a:rPr lang="en-US" altLang="zh-CN" i="1" smtClean="0">
                <a:cs typeface="Times New Roman" pitchFamily="18" charset="0"/>
              </a:rPr>
              <a:t>f (a)</a:t>
            </a:r>
            <a:r>
              <a:rPr lang="en-US" altLang="zh-CN" smtClean="0">
                <a:latin typeface="宋体" pitchFamily="2" charset="-122"/>
              </a:rPr>
              <a:t>&gt;0，</a:t>
            </a:r>
            <a:r>
              <a:rPr lang="zh-CN" altLang="en-US" smtClean="0">
                <a:latin typeface="宋体" pitchFamily="2" charset="-122"/>
              </a:rPr>
              <a:t>取</a:t>
            </a:r>
            <a:r>
              <a:rPr lang="en-US" altLang="zh-CN" i="1" smtClean="0"/>
              <a:t>a </a:t>
            </a:r>
            <a:r>
              <a:rPr lang="en-US" altLang="zh-CN" smtClean="0">
                <a:latin typeface="宋体" pitchFamily="2" charset="-122"/>
              </a:rPr>
              <a:t>=</a:t>
            </a:r>
            <a:r>
              <a:rPr lang="en-US" altLang="zh-CN" i="1" smtClean="0"/>
              <a:t>r</a:t>
            </a:r>
            <a:r>
              <a:rPr lang="en-US" altLang="zh-CN" smtClean="0">
                <a:latin typeface="宋体" pitchFamily="2" charset="-122"/>
              </a:rPr>
              <a:t>；</a:t>
            </a:r>
            <a:r>
              <a:rPr lang="zh-CN" altLang="en-US" smtClean="0">
                <a:latin typeface="宋体" pitchFamily="2" charset="-122"/>
              </a:rPr>
              <a:t>否则取</a:t>
            </a:r>
            <a:r>
              <a:rPr lang="en-US" altLang="zh-CN" i="1" smtClean="0"/>
              <a:t>b</a:t>
            </a:r>
            <a:r>
              <a:rPr lang="en-US" altLang="zh-CN" smtClean="0">
                <a:latin typeface="宋体" pitchFamily="2" charset="-122"/>
              </a:rPr>
              <a:t>=</a:t>
            </a:r>
            <a:r>
              <a:rPr lang="en-US" altLang="zh-CN" i="1" smtClean="0"/>
              <a:t>r</a:t>
            </a:r>
            <a:r>
              <a:rPr lang="en-US" altLang="zh-CN" smtClean="0">
                <a:latin typeface="宋体" pitchFamily="2" charset="-122"/>
              </a:rPr>
              <a:t>.</a:t>
            </a:r>
          </a:p>
          <a:p>
            <a:pPr lvl="1">
              <a:lnSpc>
                <a:spcPct val="100000"/>
              </a:lnSpc>
            </a:pPr>
            <a:r>
              <a:rPr lang="en-US" altLang="zh-CN" smtClean="0">
                <a:latin typeface="宋体" pitchFamily="2" charset="-122"/>
              </a:rPr>
              <a:t>3) </a:t>
            </a:r>
            <a:r>
              <a:rPr lang="zh-CN" altLang="en-US" smtClean="0">
                <a:latin typeface="宋体" pitchFamily="2" charset="-122"/>
              </a:rPr>
              <a:t>若</a:t>
            </a:r>
            <a:r>
              <a:rPr lang="en-US" altLang="zh-CN" i="1" smtClean="0">
                <a:cs typeface="Times New Roman" pitchFamily="18" charset="0"/>
              </a:rPr>
              <a:t>b</a:t>
            </a:r>
            <a:r>
              <a:rPr lang="en-US" altLang="zh-CN" smtClean="0">
                <a:latin typeface="宋体" pitchFamily="2" charset="-122"/>
              </a:rPr>
              <a:t> - </a:t>
            </a:r>
            <a:r>
              <a:rPr lang="en-US" altLang="zh-CN" i="1" smtClean="0"/>
              <a:t>a</a:t>
            </a:r>
            <a:r>
              <a:rPr lang="en-US" altLang="zh-CN" smtClean="0">
                <a:latin typeface="宋体" pitchFamily="2" charset="-122"/>
              </a:rPr>
              <a:t> &gt; </a:t>
            </a:r>
            <a:r>
              <a:rPr lang="zh-CN" altLang="en-US" smtClean="0">
                <a:latin typeface="宋体" pitchFamily="2" charset="-122"/>
                <a:sym typeface="Symbol" pitchFamily="18" charset="2"/>
              </a:rPr>
              <a:t></a:t>
            </a:r>
            <a:r>
              <a:rPr lang="en-US" altLang="zh-CN" smtClean="0">
                <a:latin typeface="宋体" pitchFamily="2" charset="-122"/>
              </a:rPr>
              <a:t> ，</a:t>
            </a:r>
            <a:r>
              <a:rPr lang="zh-CN" altLang="en-US" smtClean="0">
                <a:latin typeface="宋体" pitchFamily="2" charset="-122"/>
              </a:rPr>
              <a:t>转向1)；否则结束 </a:t>
            </a:r>
            <a:endParaRPr lang="zh-CN" altLang="en-US" smtClean="0"/>
          </a:p>
        </p:txBody>
      </p:sp>
      <p:grpSp>
        <p:nvGrpSpPr>
          <p:cNvPr id="2" name="Group 40"/>
          <p:cNvGrpSpPr>
            <a:grpSpLocks/>
          </p:cNvGrpSpPr>
          <p:nvPr/>
        </p:nvGrpSpPr>
        <p:grpSpPr bwMode="auto">
          <a:xfrm>
            <a:off x="1143000" y="3962400"/>
            <a:ext cx="7315200" cy="2133600"/>
            <a:chOff x="720" y="2496"/>
            <a:chExt cx="4608" cy="1344"/>
          </a:xfrm>
        </p:grpSpPr>
        <p:grpSp>
          <p:nvGrpSpPr>
            <p:cNvPr id="73745" name="Group 22"/>
            <p:cNvGrpSpPr>
              <a:grpSpLocks/>
            </p:cNvGrpSpPr>
            <p:nvPr/>
          </p:nvGrpSpPr>
          <p:grpSpPr bwMode="auto">
            <a:xfrm>
              <a:off x="1344" y="2496"/>
              <a:ext cx="388" cy="1344"/>
              <a:chOff x="1436" y="1226"/>
              <a:chExt cx="388" cy="2566"/>
            </a:xfrm>
          </p:grpSpPr>
          <p:sp>
            <p:nvSpPr>
              <p:cNvPr id="73751" name="Line 23"/>
              <p:cNvSpPr>
                <a:spLocks noChangeShapeType="1"/>
              </p:cNvSpPr>
              <p:nvPr/>
            </p:nvSpPr>
            <p:spPr bwMode="auto">
              <a:xfrm flipV="1">
                <a:off x="1436" y="1301"/>
                <a:ext cx="0" cy="249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752" name="Text Box 24"/>
              <p:cNvSpPr txBox="1">
                <a:spLocks noChangeArrowheads="1"/>
              </p:cNvSpPr>
              <p:nvPr/>
            </p:nvSpPr>
            <p:spPr bwMode="auto">
              <a:xfrm>
                <a:off x="1440" y="1226"/>
                <a:ext cx="384" cy="6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3000" i="1"/>
                  <a:t>y</a:t>
                </a:r>
              </a:p>
            </p:txBody>
          </p:sp>
        </p:grpSp>
        <p:grpSp>
          <p:nvGrpSpPr>
            <p:cNvPr id="73746" name="Group 25"/>
            <p:cNvGrpSpPr>
              <a:grpSpLocks/>
            </p:cNvGrpSpPr>
            <p:nvPr/>
          </p:nvGrpSpPr>
          <p:grpSpPr bwMode="auto">
            <a:xfrm>
              <a:off x="720" y="3238"/>
              <a:ext cx="4608" cy="356"/>
              <a:chOff x="830" y="2832"/>
              <a:chExt cx="3682" cy="356"/>
            </a:xfrm>
          </p:grpSpPr>
          <p:sp>
            <p:nvSpPr>
              <p:cNvPr id="73748" name="Line 26"/>
              <p:cNvSpPr>
                <a:spLocks noChangeShapeType="1"/>
              </p:cNvSpPr>
              <p:nvPr/>
            </p:nvSpPr>
            <p:spPr bwMode="auto">
              <a:xfrm>
                <a:off x="830" y="2853"/>
                <a:ext cx="364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749" name="Text Box 27"/>
              <p:cNvSpPr txBox="1">
                <a:spLocks noChangeArrowheads="1"/>
              </p:cNvSpPr>
              <p:nvPr/>
            </p:nvSpPr>
            <p:spPr bwMode="auto">
              <a:xfrm>
                <a:off x="1056" y="2832"/>
                <a:ext cx="384" cy="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sz="3000"/>
                  <a:t>0</a:t>
                </a:r>
              </a:p>
            </p:txBody>
          </p:sp>
          <p:sp>
            <p:nvSpPr>
              <p:cNvPr id="73750" name="Text Box 28"/>
              <p:cNvSpPr txBox="1">
                <a:spLocks noChangeArrowheads="1"/>
              </p:cNvSpPr>
              <p:nvPr/>
            </p:nvSpPr>
            <p:spPr bwMode="auto">
              <a:xfrm>
                <a:off x="4128" y="2842"/>
                <a:ext cx="384" cy="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3000" i="1"/>
                  <a:t>x</a:t>
                </a:r>
              </a:p>
            </p:txBody>
          </p:sp>
        </p:grpSp>
        <p:sp>
          <p:nvSpPr>
            <p:cNvPr id="73747" name="Freeform 29"/>
            <p:cNvSpPr>
              <a:spLocks/>
            </p:cNvSpPr>
            <p:nvPr/>
          </p:nvSpPr>
          <p:spPr bwMode="auto">
            <a:xfrm>
              <a:off x="1632" y="2640"/>
              <a:ext cx="2112" cy="1000"/>
            </a:xfrm>
            <a:custGeom>
              <a:avLst/>
              <a:gdLst>
                <a:gd name="T0" fmla="*/ 0 w 2112"/>
                <a:gd name="T1" fmla="*/ 976 h 1000"/>
                <a:gd name="T2" fmla="*/ 288 w 2112"/>
                <a:gd name="T3" fmla="*/ 976 h 1000"/>
                <a:gd name="T4" fmla="*/ 624 w 2112"/>
                <a:gd name="T5" fmla="*/ 832 h 1000"/>
                <a:gd name="T6" fmla="*/ 912 w 2112"/>
                <a:gd name="T7" fmla="*/ 544 h 1000"/>
                <a:gd name="T8" fmla="*/ 1152 w 2112"/>
                <a:gd name="T9" fmla="*/ 256 h 1000"/>
                <a:gd name="T10" fmla="*/ 1344 w 2112"/>
                <a:gd name="T11" fmla="*/ 112 h 1000"/>
                <a:gd name="T12" fmla="*/ 1728 w 2112"/>
                <a:gd name="T13" fmla="*/ 16 h 1000"/>
                <a:gd name="T14" fmla="*/ 1872 w 2112"/>
                <a:gd name="T15" fmla="*/ 16 h 1000"/>
                <a:gd name="T16" fmla="*/ 2112 w 2112"/>
                <a:gd name="T17" fmla="*/ 16 h 1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112"/>
                <a:gd name="T28" fmla="*/ 0 h 1000"/>
                <a:gd name="T29" fmla="*/ 2112 w 2112"/>
                <a:gd name="T30" fmla="*/ 1000 h 1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112" h="1000">
                  <a:moveTo>
                    <a:pt x="0" y="976"/>
                  </a:moveTo>
                  <a:cubicBezTo>
                    <a:pt x="92" y="988"/>
                    <a:pt x="184" y="1000"/>
                    <a:pt x="288" y="976"/>
                  </a:cubicBezTo>
                  <a:cubicBezTo>
                    <a:pt x="392" y="952"/>
                    <a:pt x="520" y="904"/>
                    <a:pt x="624" y="832"/>
                  </a:cubicBezTo>
                  <a:cubicBezTo>
                    <a:pt x="728" y="760"/>
                    <a:pt x="824" y="640"/>
                    <a:pt x="912" y="544"/>
                  </a:cubicBezTo>
                  <a:cubicBezTo>
                    <a:pt x="1000" y="448"/>
                    <a:pt x="1080" y="328"/>
                    <a:pt x="1152" y="256"/>
                  </a:cubicBezTo>
                  <a:cubicBezTo>
                    <a:pt x="1224" y="184"/>
                    <a:pt x="1248" y="152"/>
                    <a:pt x="1344" y="112"/>
                  </a:cubicBezTo>
                  <a:cubicBezTo>
                    <a:pt x="1440" y="72"/>
                    <a:pt x="1640" y="32"/>
                    <a:pt x="1728" y="16"/>
                  </a:cubicBezTo>
                  <a:cubicBezTo>
                    <a:pt x="1816" y="0"/>
                    <a:pt x="1808" y="16"/>
                    <a:pt x="1872" y="16"/>
                  </a:cubicBezTo>
                  <a:cubicBezTo>
                    <a:pt x="1936" y="16"/>
                    <a:pt x="2024" y="16"/>
                    <a:pt x="2112" y="16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35230" name="Text Box 30"/>
          <p:cNvSpPr txBox="1">
            <a:spLocks noChangeArrowheads="1"/>
          </p:cNvSpPr>
          <p:nvPr/>
        </p:nvSpPr>
        <p:spPr bwMode="auto">
          <a:xfrm>
            <a:off x="2286000" y="4667252"/>
            <a:ext cx="6096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00"/>
              <a:t>a</a:t>
            </a:r>
          </a:p>
        </p:txBody>
      </p:sp>
      <p:sp>
        <p:nvSpPr>
          <p:cNvPr id="435231" name="Line 31"/>
          <p:cNvSpPr>
            <a:spLocks noChangeShapeType="1"/>
          </p:cNvSpPr>
          <p:nvPr/>
        </p:nvSpPr>
        <p:spPr bwMode="auto">
          <a:xfrm>
            <a:off x="2590800" y="5140325"/>
            <a:ext cx="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5232" name="Text Box 32"/>
          <p:cNvSpPr txBox="1">
            <a:spLocks noChangeArrowheads="1"/>
          </p:cNvSpPr>
          <p:nvPr/>
        </p:nvSpPr>
        <p:spPr bwMode="auto">
          <a:xfrm>
            <a:off x="5638800" y="5140327"/>
            <a:ext cx="6096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00"/>
              <a:t>b</a:t>
            </a:r>
          </a:p>
        </p:txBody>
      </p:sp>
      <p:sp>
        <p:nvSpPr>
          <p:cNvPr id="435233" name="Text Box 33"/>
          <p:cNvSpPr txBox="1">
            <a:spLocks noChangeArrowheads="1"/>
          </p:cNvSpPr>
          <p:nvPr/>
        </p:nvSpPr>
        <p:spPr bwMode="auto">
          <a:xfrm>
            <a:off x="3657600" y="5140327"/>
            <a:ext cx="16002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zh-CN" sz="3000"/>
              <a:t>(</a:t>
            </a:r>
            <a:r>
              <a:rPr lang="en-US" altLang="zh-CN" sz="3000"/>
              <a:t>a+b)/2</a:t>
            </a:r>
          </a:p>
        </p:txBody>
      </p:sp>
      <p:sp>
        <p:nvSpPr>
          <p:cNvPr id="435234" name="Line 34"/>
          <p:cNvSpPr>
            <a:spLocks noChangeShapeType="1"/>
          </p:cNvSpPr>
          <p:nvPr/>
        </p:nvSpPr>
        <p:spPr bwMode="auto">
          <a:xfrm>
            <a:off x="5867400" y="4225925"/>
            <a:ext cx="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5235" name="Line 35"/>
          <p:cNvSpPr>
            <a:spLocks noChangeShapeType="1"/>
          </p:cNvSpPr>
          <p:nvPr/>
        </p:nvSpPr>
        <p:spPr bwMode="auto">
          <a:xfrm>
            <a:off x="4419600" y="4683125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" name="Group 36"/>
          <p:cNvGrpSpPr>
            <a:grpSpLocks/>
          </p:cNvGrpSpPr>
          <p:nvPr/>
        </p:nvGrpSpPr>
        <p:grpSpPr bwMode="auto">
          <a:xfrm>
            <a:off x="1828800" y="4530727"/>
            <a:ext cx="3810000" cy="1717675"/>
            <a:chOff x="1440" y="2976"/>
            <a:chExt cx="720" cy="692"/>
          </a:xfrm>
        </p:grpSpPr>
        <p:sp>
          <p:nvSpPr>
            <p:cNvPr id="73742" name="AutoShape 37"/>
            <p:cNvSpPr>
              <a:spLocks noChangeArrowheads="1"/>
            </p:cNvSpPr>
            <p:nvPr/>
          </p:nvSpPr>
          <p:spPr bwMode="auto">
            <a:xfrm>
              <a:off x="1584" y="2976"/>
              <a:ext cx="336" cy="480"/>
            </a:xfrm>
            <a:prstGeom prst="bracketPair">
              <a:avLst>
                <a:gd name="adj" fmla="val 16667"/>
              </a:avLst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743" name="Text Box 38"/>
            <p:cNvSpPr txBox="1">
              <a:spLocks noChangeArrowheads="1"/>
            </p:cNvSpPr>
            <p:nvPr/>
          </p:nvSpPr>
          <p:spPr bwMode="auto">
            <a:xfrm>
              <a:off x="1440" y="3446"/>
              <a:ext cx="384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00" i="1">
                  <a:solidFill>
                    <a:srgbClr val="FF3300"/>
                  </a:solidFill>
                </a:rPr>
                <a:t>a</a:t>
              </a:r>
              <a:r>
                <a:rPr lang="en-US" altLang="zh-CN" sz="3000" i="1" baseline="-2500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73744" name="Text Box 39"/>
            <p:cNvSpPr txBox="1">
              <a:spLocks noChangeArrowheads="1"/>
            </p:cNvSpPr>
            <p:nvPr/>
          </p:nvSpPr>
          <p:spPr bwMode="auto">
            <a:xfrm>
              <a:off x="1776" y="3446"/>
              <a:ext cx="384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00" i="1">
                  <a:solidFill>
                    <a:srgbClr val="FF3300"/>
                  </a:solidFill>
                </a:rPr>
                <a:t>b</a:t>
              </a:r>
              <a:r>
                <a:rPr lang="en-US" altLang="zh-CN" sz="3000" i="1" baseline="-25000">
                  <a:solidFill>
                    <a:srgbClr val="FF3300"/>
                  </a:solidFill>
                </a:rPr>
                <a:t>1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435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435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435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5" dur="500"/>
                                        <p:tgtEl>
                                          <p:spTgt spid="435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9" dur="500"/>
                                        <p:tgtEl>
                                          <p:spTgt spid="435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3" dur="500"/>
                                        <p:tgtEl>
                                          <p:spTgt spid="435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5230" grpId="0" autoUpdateAnimBg="0"/>
      <p:bldP spid="435231" grpId="0" animBg="1"/>
      <p:bldP spid="435232" grpId="0" autoUpdateAnimBg="0"/>
      <p:bldP spid="435233" grpId="0" autoUpdateAnimBg="0"/>
      <p:bldP spid="435234" grpId="0" animBg="1"/>
      <p:bldP spid="43523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灯片编号占位符 4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45CB54AA-B307-4AB4-9EA3-41BA63918636}" type="slidenum">
              <a:rPr lang="zh-CN" altLang="en-US"/>
              <a:pPr/>
              <a:t>17</a:t>
            </a:fld>
            <a:endParaRPr lang="en-US" altLang="zh-CN"/>
          </a:p>
        </p:txBody>
      </p:sp>
      <p:sp>
        <p:nvSpPr>
          <p:cNvPr id="74755" name="日期占位符 5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B9E77116-0EA7-443E-8ED8-244E66FEB630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346114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296865"/>
            <a:ext cx="8142288" cy="617537"/>
          </a:xfrm>
        </p:spPr>
        <p:txBody>
          <a:bodyPr/>
          <a:lstStyle/>
          <a:p>
            <a:pPr>
              <a:defRPr/>
            </a:pPr>
            <a:r>
              <a:rPr lang="zh-CN" altLang="en-US" sz="4500">
                <a:latin typeface="Times New Roman" pitchFamily="18" charset="0"/>
              </a:rPr>
              <a:t>2.1.3   对分法</a:t>
            </a:r>
          </a:p>
        </p:txBody>
      </p:sp>
      <p:sp>
        <p:nvSpPr>
          <p:cNvPr id="7475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0075" y="1292225"/>
            <a:ext cx="3994150" cy="342900"/>
          </a:xfrm>
        </p:spPr>
        <p:txBody>
          <a:bodyPr/>
          <a:lstStyle/>
          <a:p>
            <a:r>
              <a:rPr lang="zh-CN" altLang="en-US" sz="2500">
                <a:latin typeface="宋体" pitchFamily="2" charset="-122"/>
              </a:rPr>
              <a:t>其几何意义如图</a:t>
            </a:r>
            <a:r>
              <a:rPr lang="zh-CN" altLang="en-US" sz="2500"/>
              <a:t>: </a:t>
            </a:r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4217988" y="3268663"/>
            <a:ext cx="2139950" cy="1689100"/>
            <a:chOff x="2736" y="2016"/>
            <a:chExt cx="1348" cy="1064"/>
          </a:xfrm>
        </p:grpSpPr>
        <p:sp>
          <p:nvSpPr>
            <p:cNvPr id="74781" name="Line 14"/>
            <p:cNvSpPr>
              <a:spLocks noChangeShapeType="1"/>
            </p:cNvSpPr>
            <p:nvPr/>
          </p:nvSpPr>
          <p:spPr bwMode="auto">
            <a:xfrm flipH="1" flipV="1">
              <a:off x="2928" y="2016"/>
              <a:ext cx="32" cy="69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82" name="Text Box 17"/>
            <p:cNvSpPr txBox="1">
              <a:spLocks noChangeArrowheads="1"/>
            </p:cNvSpPr>
            <p:nvPr/>
          </p:nvSpPr>
          <p:spPr bwMode="auto">
            <a:xfrm>
              <a:off x="2736" y="2688"/>
              <a:ext cx="1348" cy="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/>
              <a:r>
                <a:rPr lang="en-US" altLang="zh-CN" sz="2400" i="1">
                  <a:latin typeface="Times New Roman" pitchFamily="18" charset="0"/>
                </a:rPr>
                <a:t>b</a:t>
              </a:r>
              <a:r>
                <a:rPr lang="en-US" altLang="zh-CN" sz="2400" i="1" baseline="-25000">
                  <a:latin typeface="Times New Roman" pitchFamily="18" charset="0"/>
                </a:rPr>
                <a:t>1</a:t>
              </a:r>
              <a:r>
                <a:rPr lang="en-US" altLang="zh-CN" sz="2400" i="1">
                  <a:latin typeface="Times New Roman" pitchFamily="18" charset="0"/>
                </a:rPr>
                <a:t>=(a+b)/2</a:t>
              </a:r>
            </a:p>
          </p:txBody>
        </p:sp>
      </p:grp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3684590" y="3873502"/>
            <a:ext cx="2497137" cy="1452563"/>
            <a:chOff x="2400" y="2397"/>
            <a:chExt cx="1573" cy="915"/>
          </a:xfrm>
        </p:grpSpPr>
        <p:sp>
          <p:nvSpPr>
            <p:cNvPr id="74779" name="Line 15"/>
            <p:cNvSpPr>
              <a:spLocks noChangeShapeType="1"/>
            </p:cNvSpPr>
            <p:nvPr/>
          </p:nvSpPr>
          <p:spPr bwMode="auto">
            <a:xfrm flipH="1" flipV="1">
              <a:off x="2640" y="2397"/>
              <a:ext cx="0" cy="2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80" name="Text Box 18"/>
            <p:cNvSpPr txBox="1">
              <a:spLocks noChangeArrowheads="1"/>
            </p:cNvSpPr>
            <p:nvPr/>
          </p:nvSpPr>
          <p:spPr bwMode="auto">
            <a:xfrm>
              <a:off x="2400" y="2842"/>
              <a:ext cx="1573" cy="4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/>
              <a:r>
                <a:rPr lang="en-US" altLang="zh-CN" sz="2400" i="1">
                  <a:latin typeface="Times New Roman" pitchFamily="18" charset="0"/>
                </a:rPr>
                <a:t>b</a:t>
              </a:r>
              <a:r>
                <a:rPr lang="en-US" altLang="zh-CN" sz="2400" i="1" baseline="-25000">
                  <a:latin typeface="Times New Roman" pitchFamily="18" charset="0"/>
                </a:rPr>
                <a:t>2</a:t>
              </a:r>
              <a:r>
                <a:rPr lang="en-US" altLang="zh-CN" sz="2400" i="1">
                  <a:latin typeface="Times New Roman" pitchFamily="18" charset="0"/>
                </a:rPr>
                <a:t>=(a+b</a:t>
              </a:r>
              <a:r>
                <a:rPr lang="en-US" altLang="zh-CN" sz="2400" i="1" baseline="-25000">
                  <a:latin typeface="Times New Roman" pitchFamily="18" charset="0"/>
                </a:rPr>
                <a:t>1</a:t>
              </a:r>
              <a:r>
                <a:rPr lang="en-US" altLang="zh-CN" sz="2400" i="1">
                  <a:latin typeface="Times New Roman" pitchFamily="18" charset="0"/>
                </a:rPr>
                <a:t>)/2</a:t>
              </a:r>
              <a:endParaRPr lang="en-US" altLang="zh-CN" sz="2400" b="0">
                <a:latin typeface="Times New Roman" pitchFamily="18" charset="0"/>
              </a:endParaRPr>
            </a:p>
          </p:txBody>
        </p:sp>
      </p:grpSp>
      <p:grpSp>
        <p:nvGrpSpPr>
          <p:cNvPr id="4" name="Group 26"/>
          <p:cNvGrpSpPr>
            <a:grpSpLocks/>
          </p:cNvGrpSpPr>
          <p:nvPr/>
        </p:nvGrpSpPr>
        <p:grpSpPr bwMode="auto">
          <a:xfrm>
            <a:off x="3209927" y="4246563"/>
            <a:ext cx="2676525" cy="1397000"/>
            <a:chOff x="2101" y="2632"/>
            <a:chExt cx="1686" cy="880"/>
          </a:xfrm>
        </p:grpSpPr>
        <p:sp>
          <p:nvSpPr>
            <p:cNvPr id="74777" name="Text Box 19"/>
            <p:cNvSpPr txBox="1">
              <a:spLocks noChangeArrowheads="1"/>
            </p:cNvSpPr>
            <p:nvPr/>
          </p:nvSpPr>
          <p:spPr bwMode="auto">
            <a:xfrm>
              <a:off x="2101" y="3120"/>
              <a:ext cx="1686" cy="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/>
              <a:r>
                <a:rPr lang="en-US" altLang="zh-CN" sz="2400" i="1">
                  <a:latin typeface="Times New Roman" pitchFamily="18" charset="0"/>
                </a:rPr>
                <a:t>b</a:t>
              </a:r>
              <a:r>
                <a:rPr lang="en-US" altLang="zh-CN" sz="2400" i="1" baseline="-25000">
                  <a:latin typeface="Times New Roman" pitchFamily="18" charset="0"/>
                </a:rPr>
                <a:t>3</a:t>
              </a:r>
              <a:r>
                <a:rPr lang="en-US" altLang="zh-CN" sz="2400" i="1">
                  <a:latin typeface="Times New Roman" pitchFamily="18" charset="0"/>
                </a:rPr>
                <a:t>=(a+b</a:t>
              </a:r>
              <a:r>
                <a:rPr lang="en-US" altLang="zh-CN" sz="2400" i="1" baseline="-25000">
                  <a:latin typeface="Times New Roman" pitchFamily="18" charset="0"/>
                </a:rPr>
                <a:t>2</a:t>
              </a:r>
              <a:r>
                <a:rPr lang="en-US" altLang="zh-CN" sz="2400" i="1">
                  <a:latin typeface="Times New Roman" pitchFamily="18" charset="0"/>
                </a:rPr>
                <a:t>)/2</a:t>
              </a:r>
              <a:endParaRPr lang="en-US" altLang="zh-CN" sz="2400" b="0">
                <a:latin typeface="Times New Roman" pitchFamily="18" charset="0"/>
              </a:endParaRPr>
            </a:p>
          </p:txBody>
        </p:sp>
        <p:sp>
          <p:nvSpPr>
            <p:cNvPr id="74778" name="Line 20"/>
            <p:cNvSpPr>
              <a:spLocks noChangeShapeType="1"/>
            </p:cNvSpPr>
            <p:nvPr/>
          </p:nvSpPr>
          <p:spPr bwMode="auto">
            <a:xfrm flipH="1" flipV="1">
              <a:off x="2439" y="2632"/>
              <a:ext cx="9" cy="15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24"/>
          <p:cNvGrpSpPr>
            <a:grpSpLocks/>
          </p:cNvGrpSpPr>
          <p:nvPr/>
        </p:nvGrpSpPr>
        <p:grpSpPr bwMode="auto">
          <a:xfrm>
            <a:off x="2319340" y="3497263"/>
            <a:ext cx="2497137" cy="1143000"/>
            <a:chOff x="1540" y="2160"/>
            <a:chExt cx="1573" cy="720"/>
          </a:xfrm>
        </p:grpSpPr>
        <p:sp>
          <p:nvSpPr>
            <p:cNvPr id="74775" name="Line 16"/>
            <p:cNvSpPr>
              <a:spLocks noChangeShapeType="1"/>
            </p:cNvSpPr>
            <p:nvPr/>
          </p:nvSpPr>
          <p:spPr bwMode="auto">
            <a:xfrm>
              <a:off x="2208" y="2688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76" name="Text Box 21"/>
            <p:cNvSpPr txBox="1">
              <a:spLocks noChangeArrowheads="1"/>
            </p:cNvSpPr>
            <p:nvPr/>
          </p:nvSpPr>
          <p:spPr bwMode="auto">
            <a:xfrm>
              <a:off x="1540" y="2160"/>
              <a:ext cx="1573" cy="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/>
              <a:r>
                <a:rPr lang="en-US" altLang="zh-CN" sz="2400" i="1">
                  <a:latin typeface="Times New Roman" pitchFamily="18" charset="0"/>
                </a:rPr>
                <a:t>a</a:t>
              </a:r>
              <a:r>
                <a:rPr lang="en-US" altLang="zh-CN" sz="2400" i="1" baseline="-25000">
                  <a:latin typeface="Times New Roman" pitchFamily="18" charset="0"/>
                </a:rPr>
                <a:t>1</a:t>
              </a:r>
              <a:r>
                <a:rPr lang="en-US" altLang="zh-CN" sz="2400" i="1">
                  <a:latin typeface="Times New Roman" pitchFamily="18" charset="0"/>
                </a:rPr>
                <a:t>=(a+b</a:t>
              </a:r>
              <a:r>
                <a:rPr lang="en-US" altLang="zh-CN" sz="2400" i="1" baseline="-25000">
                  <a:latin typeface="Times New Roman" pitchFamily="18" charset="0"/>
                </a:rPr>
                <a:t>2</a:t>
              </a:r>
              <a:r>
                <a:rPr lang="en-US" altLang="zh-CN" sz="2400" i="1">
                  <a:latin typeface="Times New Roman" pitchFamily="18" charset="0"/>
                </a:rPr>
                <a:t>)/2</a:t>
              </a:r>
            </a:p>
          </p:txBody>
        </p:sp>
      </p:grpSp>
      <p:grpSp>
        <p:nvGrpSpPr>
          <p:cNvPr id="74762" name="Group 28"/>
          <p:cNvGrpSpPr>
            <a:grpSpLocks/>
          </p:cNvGrpSpPr>
          <p:nvPr/>
        </p:nvGrpSpPr>
        <p:grpSpPr bwMode="auto">
          <a:xfrm>
            <a:off x="712788" y="908052"/>
            <a:ext cx="7315200" cy="6018213"/>
            <a:chOff x="528" y="529"/>
            <a:chExt cx="4608" cy="3791"/>
          </a:xfrm>
        </p:grpSpPr>
        <p:grpSp>
          <p:nvGrpSpPr>
            <p:cNvPr id="74764" name="Group 27"/>
            <p:cNvGrpSpPr>
              <a:grpSpLocks/>
            </p:cNvGrpSpPr>
            <p:nvPr/>
          </p:nvGrpSpPr>
          <p:grpSpPr bwMode="auto">
            <a:xfrm>
              <a:off x="528" y="529"/>
              <a:ext cx="4608" cy="3791"/>
              <a:chOff x="528" y="529"/>
              <a:chExt cx="4608" cy="3791"/>
            </a:xfrm>
          </p:grpSpPr>
          <p:sp>
            <p:nvSpPr>
              <p:cNvPr id="74766" name="Line 5"/>
              <p:cNvSpPr>
                <a:spLocks noChangeShapeType="1"/>
              </p:cNvSpPr>
              <p:nvPr/>
            </p:nvSpPr>
            <p:spPr bwMode="auto">
              <a:xfrm>
                <a:off x="528" y="2710"/>
                <a:ext cx="438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stealth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767" name="Line 6"/>
              <p:cNvSpPr>
                <a:spLocks noChangeShapeType="1"/>
              </p:cNvSpPr>
              <p:nvPr/>
            </p:nvSpPr>
            <p:spPr bwMode="auto">
              <a:xfrm flipV="1">
                <a:off x="865" y="1222"/>
                <a:ext cx="0" cy="266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stealth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768" name="Arc 7"/>
              <p:cNvSpPr>
                <a:spLocks/>
              </p:cNvSpPr>
              <p:nvPr/>
            </p:nvSpPr>
            <p:spPr bwMode="auto">
              <a:xfrm rot="7726132" flipH="1" flipV="1">
                <a:off x="989" y="2132"/>
                <a:ext cx="3791" cy="585"/>
              </a:xfrm>
              <a:custGeom>
                <a:avLst/>
                <a:gdLst>
                  <a:gd name="T0" fmla="*/ 0 w 20160"/>
                  <a:gd name="T1" fmla="*/ 0 h 21600"/>
                  <a:gd name="T2" fmla="*/ 713 w 20160"/>
                  <a:gd name="T3" fmla="*/ 10 h 21600"/>
                  <a:gd name="T4" fmla="*/ 0 w 20160"/>
                  <a:gd name="T5" fmla="*/ 16 h 21600"/>
                  <a:gd name="T6" fmla="*/ 0 60000 65536"/>
                  <a:gd name="T7" fmla="*/ 0 60000 65536"/>
                  <a:gd name="T8" fmla="*/ 0 60000 65536"/>
                  <a:gd name="T9" fmla="*/ 0 w 20160"/>
                  <a:gd name="T10" fmla="*/ 0 h 21600"/>
                  <a:gd name="T11" fmla="*/ 20160 w 2016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160" h="21600" fill="none" extrusionOk="0">
                    <a:moveTo>
                      <a:pt x="-1" y="0"/>
                    </a:moveTo>
                    <a:cubicBezTo>
                      <a:pt x="8937" y="0"/>
                      <a:pt x="16951" y="5504"/>
                      <a:pt x="20160" y="13845"/>
                    </a:cubicBezTo>
                  </a:path>
                  <a:path w="20160" h="21600" stroke="0" extrusionOk="0">
                    <a:moveTo>
                      <a:pt x="-1" y="0"/>
                    </a:moveTo>
                    <a:cubicBezTo>
                      <a:pt x="8937" y="0"/>
                      <a:pt x="16951" y="5504"/>
                      <a:pt x="20160" y="13845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769" name="Text Box 8"/>
              <p:cNvSpPr txBox="1">
                <a:spLocks noChangeArrowheads="1"/>
              </p:cNvSpPr>
              <p:nvPr/>
            </p:nvSpPr>
            <p:spPr bwMode="auto">
              <a:xfrm>
                <a:off x="978" y="1142"/>
                <a:ext cx="449" cy="3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l"/>
                <a:r>
                  <a:rPr lang="en-US" altLang="zh-CN" sz="2800" i="1">
                    <a:latin typeface="Times New Roman" pitchFamily="18" charset="0"/>
                  </a:rPr>
                  <a:t>Y</a:t>
                </a:r>
              </a:p>
            </p:txBody>
          </p:sp>
          <p:sp>
            <p:nvSpPr>
              <p:cNvPr id="74770" name="Text Box 9"/>
              <p:cNvSpPr txBox="1">
                <a:spLocks noChangeArrowheads="1"/>
              </p:cNvSpPr>
              <p:nvPr/>
            </p:nvSpPr>
            <p:spPr bwMode="auto">
              <a:xfrm>
                <a:off x="4462" y="2710"/>
                <a:ext cx="674" cy="4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just"/>
                <a:r>
                  <a:rPr lang="en-US" altLang="zh-CN" sz="2400" i="1">
                    <a:latin typeface="Times New Roman" pitchFamily="18" charset="0"/>
                  </a:rPr>
                  <a:t>X</a:t>
                </a:r>
              </a:p>
            </p:txBody>
          </p:sp>
          <p:sp>
            <p:nvSpPr>
              <p:cNvPr id="74771" name="Text Box 10"/>
              <p:cNvSpPr txBox="1">
                <a:spLocks noChangeArrowheads="1"/>
              </p:cNvSpPr>
              <p:nvPr/>
            </p:nvSpPr>
            <p:spPr bwMode="auto">
              <a:xfrm>
                <a:off x="1202" y="2397"/>
                <a:ext cx="787" cy="4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just"/>
                <a:r>
                  <a:rPr lang="en-US" altLang="zh-CN" sz="2400" i="1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74772" name="Text Box 11"/>
              <p:cNvSpPr txBox="1">
                <a:spLocks noChangeArrowheads="1"/>
              </p:cNvSpPr>
              <p:nvPr/>
            </p:nvSpPr>
            <p:spPr bwMode="auto">
              <a:xfrm>
                <a:off x="4124" y="2397"/>
                <a:ext cx="562" cy="3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just"/>
                <a:r>
                  <a:rPr lang="en-US" altLang="zh-CN" sz="2400" i="1">
                    <a:latin typeface="Times New Roman" pitchFamily="18" charset="0"/>
                  </a:rPr>
                  <a:t>b</a:t>
                </a:r>
              </a:p>
            </p:txBody>
          </p:sp>
          <p:sp>
            <p:nvSpPr>
              <p:cNvPr id="74773" name="Line 12"/>
              <p:cNvSpPr>
                <a:spLocks noChangeShapeType="1"/>
              </p:cNvSpPr>
              <p:nvPr/>
            </p:nvSpPr>
            <p:spPr bwMode="auto">
              <a:xfrm flipH="1">
                <a:off x="1488" y="2710"/>
                <a:ext cx="0" cy="103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774" name="Line 13"/>
              <p:cNvSpPr>
                <a:spLocks noChangeShapeType="1"/>
              </p:cNvSpPr>
              <p:nvPr/>
            </p:nvSpPr>
            <p:spPr bwMode="auto">
              <a:xfrm flipV="1">
                <a:off x="4124" y="1056"/>
                <a:ext cx="4" cy="165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4765" name="Text Box 22"/>
            <p:cNvSpPr txBox="1">
              <a:spLocks noChangeArrowheads="1"/>
            </p:cNvSpPr>
            <p:nvPr/>
          </p:nvSpPr>
          <p:spPr bwMode="auto">
            <a:xfrm>
              <a:off x="2160" y="2392"/>
              <a:ext cx="384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/>
              <a:r>
                <a:rPr lang="en-US" altLang="zh-CN" sz="2400" i="1">
                  <a:latin typeface="Times New Roman" pitchFamily="18" charset="0"/>
                </a:rPr>
                <a:t>x*</a:t>
              </a:r>
            </a:p>
          </p:txBody>
        </p:sp>
      </p:grpSp>
      <p:pic>
        <p:nvPicPr>
          <p:cNvPr id="346141" name="Picture 29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11413" y="1700215"/>
            <a:ext cx="5689600" cy="4135437"/>
          </a:xfr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46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5CA037C1-AE19-4A36-B5FC-96B6973DBA0C}" type="slidenum">
              <a:rPr lang="zh-CN" altLang="en-US"/>
              <a:pPr/>
              <a:t>18</a:t>
            </a:fld>
            <a:endParaRPr lang="en-US" altLang="zh-CN"/>
          </a:p>
        </p:txBody>
      </p:sp>
      <p:sp>
        <p:nvSpPr>
          <p:cNvPr id="2055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EA6959CF-C516-4B3C-8AA8-2A5E33B2D715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241666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296865"/>
            <a:ext cx="8142288" cy="617537"/>
          </a:xfrm>
        </p:spPr>
        <p:txBody>
          <a:bodyPr/>
          <a:lstStyle/>
          <a:p>
            <a:pPr>
              <a:defRPr/>
            </a:pPr>
            <a:r>
              <a:rPr lang="zh-CN" altLang="en-US" sz="4500" dirty="0">
                <a:latin typeface="Times New Roman" pitchFamily="18" charset="0"/>
              </a:rPr>
              <a:t>2.1.3   对分法</a:t>
            </a:r>
          </a:p>
        </p:txBody>
      </p:sp>
      <p:sp>
        <p:nvSpPr>
          <p:cNvPr id="205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143002"/>
            <a:ext cx="8142288" cy="384175"/>
          </a:xfrm>
        </p:spPr>
        <p:txBody>
          <a:bodyPr/>
          <a:lstStyle/>
          <a:p>
            <a:r>
              <a:rPr lang="zh-CN" altLang="en-US" smtClean="0">
                <a:latin typeface="宋体" pitchFamily="2" charset="-122"/>
              </a:rPr>
              <a:t>误差分析</a:t>
            </a:r>
            <a:r>
              <a:rPr lang="zh-CN" altLang="en-US" smtClean="0"/>
              <a:t> </a:t>
            </a:r>
          </a:p>
        </p:txBody>
      </p:sp>
      <p:grpSp>
        <p:nvGrpSpPr>
          <p:cNvPr id="2" name="Group 46"/>
          <p:cNvGrpSpPr>
            <a:grpSpLocks/>
          </p:cNvGrpSpPr>
          <p:nvPr/>
        </p:nvGrpSpPr>
        <p:grpSpPr bwMode="auto">
          <a:xfrm>
            <a:off x="827584" y="1772816"/>
            <a:ext cx="7598486" cy="990600"/>
            <a:chOff x="1200" y="812"/>
            <a:chExt cx="3367" cy="419"/>
          </a:xfrm>
        </p:grpSpPr>
        <p:sp>
          <p:nvSpPr>
            <p:cNvPr id="2062" name="Text Box 47"/>
            <p:cNvSpPr txBox="1">
              <a:spLocks noChangeArrowheads="1"/>
            </p:cNvSpPr>
            <p:nvPr/>
          </p:nvSpPr>
          <p:spPr bwMode="auto">
            <a:xfrm>
              <a:off x="1200" y="912"/>
              <a:ext cx="1248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zh-CN" altLang="en-US" sz="2800" dirty="0">
                  <a:latin typeface="Times New Roman" pitchFamily="18" charset="0"/>
                  <a:ea typeface="黑体" pitchFamily="49" charset="-122"/>
                </a:rPr>
                <a:t>第1步产生的</a:t>
              </a:r>
            </a:p>
          </p:txBody>
        </p:sp>
        <p:graphicFrame>
          <p:nvGraphicFramePr>
            <p:cNvPr id="2052" name="Object 48"/>
            <p:cNvGraphicFramePr>
              <a:graphicFrameLocks noChangeAspect="1"/>
            </p:cNvGraphicFramePr>
            <p:nvPr/>
          </p:nvGraphicFramePr>
          <p:xfrm>
            <a:off x="2352" y="816"/>
            <a:ext cx="617" cy="4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2" name="Equation" r:id="rId6" imgW="672840" imgH="393480" progId="Equation.3">
                    <p:embed/>
                  </p:oleObj>
                </mc:Choice>
                <mc:Fallback>
                  <p:oleObj name="Equation" r:id="rId6" imgW="672840" imgH="393480" progId="Equation.3">
                    <p:embed/>
                    <p:pic>
                      <p:nvPicPr>
                        <p:cNvPr id="0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2" y="816"/>
                          <a:ext cx="617" cy="4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63" name="Text Box 49"/>
            <p:cNvSpPr txBox="1">
              <a:spLocks noChangeArrowheads="1"/>
            </p:cNvSpPr>
            <p:nvPr/>
          </p:nvSpPr>
          <p:spPr bwMode="auto">
            <a:xfrm>
              <a:off x="2976" y="912"/>
              <a:ext cx="960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/>
              <a:r>
                <a:rPr kumimoji="1" lang="zh-CN" altLang="en-US" sz="2800" dirty="0">
                  <a:latin typeface="Times New Roman" pitchFamily="18" charset="0"/>
                  <a:ea typeface="黑体" pitchFamily="49" charset="-122"/>
                </a:rPr>
                <a:t>有误差</a:t>
              </a:r>
            </a:p>
          </p:txBody>
        </p:sp>
        <p:graphicFrame>
          <p:nvGraphicFramePr>
            <p:cNvPr id="2053" name="Object 5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90603218"/>
                </p:ext>
              </p:extLst>
            </p:nvPr>
          </p:nvGraphicFramePr>
          <p:xfrm>
            <a:off x="3613" y="812"/>
            <a:ext cx="954" cy="4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3" name="Equation" r:id="rId8" imgW="1002960" imgH="393480" progId="Equation.3">
                    <p:embed/>
                  </p:oleObj>
                </mc:Choice>
                <mc:Fallback>
                  <p:oleObj name="Equation" r:id="rId8" imgW="1002960" imgH="393480" progId="Equation.3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13" y="812"/>
                          <a:ext cx="954" cy="4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1715" name="Text Box 51"/>
          <p:cNvSpPr txBox="1">
            <a:spLocks noChangeArrowheads="1"/>
          </p:cNvSpPr>
          <p:nvPr/>
        </p:nvSpPr>
        <p:spPr bwMode="auto">
          <a:xfrm>
            <a:off x="683568" y="3501008"/>
            <a:ext cx="4038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1" lang="zh-CN" altLang="en-US" sz="2800" dirty="0">
                <a:latin typeface="Times New Roman" pitchFamily="18" charset="0"/>
                <a:ea typeface="黑体" pitchFamily="49" charset="-122"/>
              </a:rPr>
              <a:t>第 </a:t>
            </a:r>
            <a:r>
              <a:rPr kumimoji="1" lang="en-US" altLang="zh-CN" sz="2800" dirty="0">
                <a:latin typeface="Times New Roman" pitchFamily="18" charset="0"/>
                <a:ea typeface="黑体" pitchFamily="49" charset="-122"/>
              </a:rPr>
              <a:t>n</a:t>
            </a:r>
            <a:r>
              <a:rPr kumimoji="1" lang="en-US" altLang="zh-CN" sz="2800" i="1" dirty="0">
                <a:latin typeface="Times New Roman" pitchFamily="18" charset="0"/>
                <a:ea typeface="黑体" pitchFamily="49" charset="-122"/>
              </a:rPr>
              <a:t> </a:t>
            </a:r>
            <a:r>
              <a:rPr kumimoji="1" lang="zh-CN" altLang="en-US" sz="2800" dirty="0">
                <a:latin typeface="Times New Roman" pitchFamily="18" charset="0"/>
                <a:ea typeface="黑体" pitchFamily="49" charset="-122"/>
              </a:rPr>
              <a:t>步产生的 </a:t>
            </a:r>
            <a:r>
              <a:rPr kumimoji="1" lang="en-US" altLang="zh-CN" sz="2800" i="1" dirty="0" err="1">
                <a:latin typeface="Times New Roman" pitchFamily="18" charset="0"/>
                <a:ea typeface="黑体" pitchFamily="49" charset="-122"/>
              </a:rPr>
              <a:t>x</a:t>
            </a:r>
            <a:r>
              <a:rPr kumimoji="1" lang="en-US" altLang="zh-CN" sz="2800" i="1" baseline="-25000" dirty="0" err="1">
                <a:latin typeface="Times New Roman" pitchFamily="18" charset="0"/>
                <a:ea typeface="黑体" pitchFamily="49" charset="-122"/>
              </a:rPr>
              <a:t>k</a:t>
            </a:r>
            <a:r>
              <a:rPr kumimoji="1" lang="en-US" altLang="zh-CN" sz="2800" i="1" baseline="-25000" dirty="0">
                <a:latin typeface="Times New Roman" pitchFamily="18" charset="0"/>
                <a:ea typeface="黑体" pitchFamily="49" charset="-122"/>
              </a:rPr>
              <a:t> </a:t>
            </a:r>
            <a:r>
              <a:rPr kumimoji="1" lang="en-US" altLang="zh-CN" sz="2800" i="1" dirty="0">
                <a:latin typeface="Times New Roman" pitchFamily="18" charset="0"/>
                <a:ea typeface="黑体" pitchFamily="49" charset="-122"/>
              </a:rPr>
              <a:t> </a:t>
            </a:r>
            <a:r>
              <a:rPr kumimoji="1" lang="zh-CN" altLang="en-US" sz="2800" dirty="0">
                <a:latin typeface="Times New Roman" pitchFamily="18" charset="0"/>
                <a:ea typeface="黑体" pitchFamily="49" charset="-122"/>
              </a:rPr>
              <a:t>有误差</a:t>
            </a:r>
          </a:p>
        </p:txBody>
      </p:sp>
      <p:graphicFrame>
        <p:nvGraphicFramePr>
          <p:cNvPr id="241716" name="Object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1207489"/>
              </p:ext>
            </p:extLst>
          </p:nvPr>
        </p:nvGraphicFramePr>
        <p:xfrm>
          <a:off x="5020464" y="3268216"/>
          <a:ext cx="2667000" cy="96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4" name="Equation" r:id="rId10" imgW="1015920" imgH="393480" progId="Equation.3">
                  <p:embed/>
                </p:oleObj>
              </mc:Choice>
              <mc:Fallback>
                <p:oleObj name="Equation" r:id="rId10" imgW="1015920" imgH="393480" progId="Equation.3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0464" y="3268216"/>
                        <a:ext cx="2667000" cy="963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1717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2701775"/>
              </p:ext>
            </p:extLst>
          </p:nvPr>
        </p:nvGraphicFramePr>
        <p:xfrm>
          <a:off x="1674168" y="4365104"/>
          <a:ext cx="6096000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5" name="Equation" r:id="rId12" imgW="2273040" imgH="393480" progId="Equation.3">
                  <p:embed/>
                </p:oleObj>
              </mc:Choice>
              <mc:Fallback>
                <p:oleObj name="Equation" r:id="rId12" imgW="2273040" imgH="393480" progId="Equation.3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4168" y="4365104"/>
                        <a:ext cx="6096000" cy="839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17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417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2417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715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5CA037C1-AE19-4A36-B5FC-96B6973DBA0C}" type="slidenum">
              <a:rPr lang="zh-CN" altLang="en-US"/>
              <a:pPr/>
              <a:t>19</a:t>
            </a:fld>
            <a:endParaRPr lang="en-US" altLang="zh-CN"/>
          </a:p>
        </p:txBody>
      </p:sp>
      <p:sp>
        <p:nvSpPr>
          <p:cNvPr id="2055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EA6959CF-C516-4B3C-8AA8-2A5E33B2D715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241666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296865"/>
            <a:ext cx="8142288" cy="617537"/>
          </a:xfrm>
        </p:spPr>
        <p:txBody>
          <a:bodyPr/>
          <a:lstStyle/>
          <a:p>
            <a:pPr>
              <a:defRPr/>
            </a:pPr>
            <a:r>
              <a:rPr lang="zh-CN" altLang="en-US" sz="4500">
                <a:latin typeface="Times New Roman" pitchFamily="18" charset="0"/>
              </a:rPr>
              <a:t>2.1.3   对分法</a:t>
            </a:r>
          </a:p>
        </p:txBody>
      </p:sp>
      <p:sp>
        <p:nvSpPr>
          <p:cNvPr id="241718" name="Text Box 54"/>
          <p:cNvSpPr txBox="1">
            <a:spLocks noChangeArrowheads="1"/>
          </p:cNvSpPr>
          <p:nvPr/>
        </p:nvSpPr>
        <p:spPr bwMode="auto">
          <a:xfrm>
            <a:off x="1512888" y="2314490"/>
            <a:ext cx="7239000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90000"/>
              </a:lnSpc>
            </a:pPr>
            <a:r>
              <a:rPr kumimoji="1" lang="zh-CN" altLang="en-US" sz="3200" dirty="0">
                <a:latin typeface="Times New Roman" pitchFamily="18" charset="0"/>
                <a:ea typeface="黑体" pitchFamily="49" charset="-122"/>
              </a:rPr>
              <a:t>①计算简单;  </a:t>
            </a:r>
          </a:p>
          <a:p>
            <a:pPr algn="l" eaLnBrk="1" hangingPunct="1">
              <a:lnSpc>
                <a:spcPct val="90000"/>
              </a:lnSpc>
            </a:pPr>
            <a:r>
              <a:rPr kumimoji="1" lang="zh-CN" altLang="en-US" sz="3200" dirty="0">
                <a:latin typeface="Times New Roman" pitchFamily="18" charset="0"/>
                <a:ea typeface="黑体" pitchFamily="49" charset="-122"/>
              </a:rPr>
              <a:t>② 对</a:t>
            </a:r>
            <a:r>
              <a:rPr kumimoji="1" lang="en-US" altLang="zh-CN" sz="3200" i="1" dirty="0">
                <a:latin typeface="Times New Roman" pitchFamily="18" charset="0"/>
                <a:ea typeface="黑体" pitchFamily="49" charset="-122"/>
              </a:rPr>
              <a:t>f </a:t>
            </a:r>
            <a:r>
              <a:rPr kumimoji="1" lang="en-US" altLang="zh-CN" sz="3200" dirty="0">
                <a:latin typeface="Times New Roman" pitchFamily="18" charset="0"/>
                <a:ea typeface="黑体" pitchFamily="49" charset="-122"/>
              </a:rPr>
              <a:t>(</a:t>
            </a:r>
            <a:r>
              <a:rPr kumimoji="1" lang="en-US" altLang="zh-CN" sz="3200" i="1" dirty="0">
                <a:latin typeface="Times New Roman" pitchFamily="18" charset="0"/>
                <a:ea typeface="黑体" pitchFamily="49" charset="-122"/>
              </a:rPr>
              <a:t>x</a:t>
            </a:r>
            <a:r>
              <a:rPr kumimoji="1" lang="en-US" altLang="zh-CN" sz="3200" dirty="0">
                <a:latin typeface="Times New Roman" pitchFamily="18" charset="0"/>
                <a:ea typeface="黑体" pitchFamily="49" charset="-122"/>
              </a:rPr>
              <a:t>)</a:t>
            </a:r>
            <a:r>
              <a:rPr kumimoji="1" lang="en-US" altLang="zh-CN" sz="3200" i="1" dirty="0">
                <a:latin typeface="Times New Roman" pitchFamily="18" charset="0"/>
                <a:ea typeface="黑体" pitchFamily="49" charset="-122"/>
              </a:rPr>
              <a:t> </a:t>
            </a:r>
            <a:r>
              <a:rPr kumimoji="1" lang="zh-CN" altLang="en-US" sz="3200" dirty="0">
                <a:latin typeface="Times New Roman" pitchFamily="18" charset="0"/>
                <a:ea typeface="黑体" pitchFamily="49" charset="-122"/>
              </a:rPr>
              <a:t>要求不高(只要连续即可) .</a:t>
            </a:r>
          </a:p>
        </p:txBody>
      </p:sp>
      <p:sp>
        <p:nvSpPr>
          <p:cNvPr id="241719" name="Text Box 55"/>
          <p:cNvSpPr txBox="1">
            <a:spLocks noChangeArrowheads="1"/>
          </p:cNvSpPr>
          <p:nvPr/>
        </p:nvSpPr>
        <p:spPr bwMode="auto">
          <a:xfrm>
            <a:off x="1512888" y="4155578"/>
            <a:ext cx="6248400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90000"/>
              </a:lnSpc>
            </a:pPr>
            <a:r>
              <a:rPr kumimoji="1" lang="zh-CN" altLang="en-US" sz="3200" dirty="0">
                <a:latin typeface="Times New Roman" pitchFamily="18" charset="0"/>
                <a:ea typeface="黑体" pitchFamily="49" charset="-122"/>
              </a:rPr>
              <a:t>①无法求复根及偶重根  </a:t>
            </a:r>
          </a:p>
          <a:p>
            <a:pPr algn="l" eaLnBrk="1" hangingPunct="1">
              <a:lnSpc>
                <a:spcPct val="90000"/>
              </a:lnSpc>
            </a:pPr>
            <a:r>
              <a:rPr kumimoji="1" lang="zh-CN" altLang="en-US" sz="3200" dirty="0">
                <a:latin typeface="Times New Roman" pitchFamily="18" charset="0"/>
                <a:ea typeface="黑体" pitchFamily="49" charset="-122"/>
              </a:rPr>
              <a:t>② 收敛慢 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0075" y="1292227"/>
            <a:ext cx="8142288" cy="926407"/>
          </a:xfrm>
        </p:spPr>
        <p:txBody>
          <a:bodyPr/>
          <a:lstStyle/>
          <a:p>
            <a:r>
              <a:rPr lang="zh-CN" altLang="en-US" dirty="0"/>
              <a:t>二分法的优缺点</a:t>
            </a:r>
          </a:p>
          <a:p>
            <a:endParaRPr lang="zh-CN" altLang="en-US" dirty="0"/>
          </a:p>
        </p:txBody>
      </p:sp>
      <p:grpSp>
        <p:nvGrpSpPr>
          <p:cNvPr id="17" name="Group 4"/>
          <p:cNvGrpSpPr>
            <a:grpSpLocks/>
          </p:cNvGrpSpPr>
          <p:nvPr/>
        </p:nvGrpSpPr>
        <p:grpSpPr bwMode="auto">
          <a:xfrm flipV="1">
            <a:off x="755650" y="2420938"/>
            <a:ext cx="685800" cy="838200"/>
            <a:chOff x="0" y="0"/>
            <a:chExt cx="649" cy="841"/>
          </a:xfrm>
        </p:grpSpPr>
        <p:sp>
          <p:nvSpPr>
            <p:cNvPr id="18" name="未知"/>
            <p:cNvSpPr>
              <a:spLocks/>
            </p:cNvSpPr>
            <p:nvPr/>
          </p:nvSpPr>
          <p:spPr bwMode="auto">
            <a:xfrm>
              <a:off x="0" y="0"/>
              <a:ext cx="649" cy="841"/>
            </a:xfrm>
            <a:custGeom>
              <a:avLst/>
              <a:gdLst>
                <a:gd name="T0" fmla="*/ 150 w 649"/>
                <a:gd name="T1" fmla="*/ 6 h 841"/>
                <a:gd name="T2" fmla="*/ 204 w 649"/>
                <a:gd name="T3" fmla="*/ 6 h 841"/>
                <a:gd name="T4" fmla="*/ 282 w 649"/>
                <a:gd name="T5" fmla="*/ 18 h 841"/>
                <a:gd name="T6" fmla="*/ 385 w 649"/>
                <a:gd name="T7" fmla="*/ 54 h 841"/>
                <a:gd name="T8" fmla="*/ 529 w 649"/>
                <a:gd name="T9" fmla="*/ 114 h 841"/>
                <a:gd name="T10" fmla="*/ 565 w 649"/>
                <a:gd name="T11" fmla="*/ 144 h 841"/>
                <a:gd name="T12" fmla="*/ 619 w 649"/>
                <a:gd name="T13" fmla="*/ 240 h 841"/>
                <a:gd name="T14" fmla="*/ 649 w 649"/>
                <a:gd name="T15" fmla="*/ 300 h 841"/>
                <a:gd name="T16" fmla="*/ 619 w 649"/>
                <a:gd name="T17" fmla="*/ 342 h 841"/>
                <a:gd name="T18" fmla="*/ 619 w 649"/>
                <a:gd name="T19" fmla="*/ 372 h 841"/>
                <a:gd name="T20" fmla="*/ 643 w 649"/>
                <a:gd name="T21" fmla="*/ 420 h 841"/>
                <a:gd name="T22" fmla="*/ 637 w 649"/>
                <a:gd name="T23" fmla="*/ 462 h 841"/>
                <a:gd name="T24" fmla="*/ 595 w 649"/>
                <a:gd name="T25" fmla="*/ 492 h 841"/>
                <a:gd name="T26" fmla="*/ 607 w 649"/>
                <a:gd name="T27" fmla="*/ 528 h 841"/>
                <a:gd name="T28" fmla="*/ 589 w 649"/>
                <a:gd name="T29" fmla="*/ 577 h 841"/>
                <a:gd name="T30" fmla="*/ 529 w 649"/>
                <a:gd name="T31" fmla="*/ 595 h 841"/>
                <a:gd name="T32" fmla="*/ 505 w 649"/>
                <a:gd name="T33" fmla="*/ 631 h 841"/>
                <a:gd name="T34" fmla="*/ 457 w 649"/>
                <a:gd name="T35" fmla="*/ 649 h 841"/>
                <a:gd name="T36" fmla="*/ 360 w 649"/>
                <a:gd name="T37" fmla="*/ 655 h 841"/>
                <a:gd name="T38" fmla="*/ 300 w 649"/>
                <a:gd name="T39" fmla="*/ 637 h 841"/>
                <a:gd name="T40" fmla="*/ 258 w 649"/>
                <a:gd name="T41" fmla="*/ 589 h 841"/>
                <a:gd name="T42" fmla="*/ 222 w 649"/>
                <a:gd name="T43" fmla="*/ 528 h 841"/>
                <a:gd name="T44" fmla="*/ 240 w 649"/>
                <a:gd name="T45" fmla="*/ 504 h 841"/>
                <a:gd name="T46" fmla="*/ 276 w 649"/>
                <a:gd name="T47" fmla="*/ 498 h 841"/>
                <a:gd name="T48" fmla="*/ 306 w 649"/>
                <a:gd name="T49" fmla="*/ 522 h 841"/>
                <a:gd name="T50" fmla="*/ 282 w 649"/>
                <a:gd name="T51" fmla="*/ 498 h 841"/>
                <a:gd name="T52" fmla="*/ 270 w 649"/>
                <a:gd name="T53" fmla="*/ 492 h 841"/>
                <a:gd name="T54" fmla="*/ 246 w 649"/>
                <a:gd name="T55" fmla="*/ 474 h 841"/>
                <a:gd name="T56" fmla="*/ 204 w 649"/>
                <a:gd name="T57" fmla="*/ 486 h 841"/>
                <a:gd name="T58" fmla="*/ 198 w 649"/>
                <a:gd name="T59" fmla="*/ 516 h 841"/>
                <a:gd name="T60" fmla="*/ 204 w 649"/>
                <a:gd name="T61" fmla="*/ 607 h 841"/>
                <a:gd name="T62" fmla="*/ 228 w 649"/>
                <a:gd name="T63" fmla="*/ 703 h 841"/>
                <a:gd name="T64" fmla="*/ 228 w 649"/>
                <a:gd name="T65" fmla="*/ 793 h 841"/>
                <a:gd name="T66" fmla="*/ 204 w 649"/>
                <a:gd name="T67" fmla="*/ 829 h 841"/>
                <a:gd name="T68" fmla="*/ 150 w 649"/>
                <a:gd name="T69" fmla="*/ 835 h 841"/>
                <a:gd name="T70" fmla="*/ 132 w 649"/>
                <a:gd name="T71" fmla="*/ 775 h 841"/>
                <a:gd name="T72" fmla="*/ 108 w 649"/>
                <a:gd name="T73" fmla="*/ 709 h 841"/>
                <a:gd name="T74" fmla="*/ 96 w 649"/>
                <a:gd name="T75" fmla="*/ 685 h 841"/>
                <a:gd name="T76" fmla="*/ 84 w 649"/>
                <a:gd name="T77" fmla="*/ 655 h 841"/>
                <a:gd name="T78" fmla="*/ 48 w 649"/>
                <a:gd name="T79" fmla="*/ 522 h 841"/>
                <a:gd name="T80" fmla="*/ 18 w 649"/>
                <a:gd name="T81" fmla="*/ 366 h 841"/>
                <a:gd name="T82" fmla="*/ 0 w 649"/>
                <a:gd name="T83" fmla="*/ 270 h 8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49" h="841">
                  <a:moveTo>
                    <a:pt x="108" y="0"/>
                  </a:moveTo>
                  <a:lnTo>
                    <a:pt x="132" y="6"/>
                  </a:lnTo>
                  <a:lnTo>
                    <a:pt x="150" y="6"/>
                  </a:lnTo>
                  <a:lnTo>
                    <a:pt x="168" y="12"/>
                  </a:lnTo>
                  <a:lnTo>
                    <a:pt x="180" y="12"/>
                  </a:lnTo>
                  <a:lnTo>
                    <a:pt x="204" y="6"/>
                  </a:lnTo>
                  <a:lnTo>
                    <a:pt x="228" y="6"/>
                  </a:lnTo>
                  <a:lnTo>
                    <a:pt x="252" y="12"/>
                  </a:lnTo>
                  <a:lnTo>
                    <a:pt x="282" y="18"/>
                  </a:lnTo>
                  <a:lnTo>
                    <a:pt x="312" y="24"/>
                  </a:lnTo>
                  <a:lnTo>
                    <a:pt x="342" y="36"/>
                  </a:lnTo>
                  <a:lnTo>
                    <a:pt x="385" y="54"/>
                  </a:lnTo>
                  <a:lnTo>
                    <a:pt x="427" y="72"/>
                  </a:lnTo>
                  <a:lnTo>
                    <a:pt x="481" y="96"/>
                  </a:lnTo>
                  <a:lnTo>
                    <a:pt x="529" y="114"/>
                  </a:lnTo>
                  <a:lnTo>
                    <a:pt x="547" y="120"/>
                  </a:lnTo>
                  <a:lnTo>
                    <a:pt x="559" y="132"/>
                  </a:lnTo>
                  <a:lnTo>
                    <a:pt x="565" y="144"/>
                  </a:lnTo>
                  <a:lnTo>
                    <a:pt x="577" y="162"/>
                  </a:lnTo>
                  <a:lnTo>
                    <a:pt x="595" y="192"/>
                  </a:lnTo>
                  <a:lnTo>
                    <a:pt x="619" y="240"/>
                  </a:lnTo>
                  <a:lnTo>
                    <a:pt x="637" y="264"/>
                  </a:lnTo>
                  <a:lnTo>
                    <a:pt x="643" y="288"/>
                  </a:lnTo>
                  <a:lnTo>
                    <a:pt x="649" y="300"/>
                  </a:lnTo>
                  <a:lnTo>
                    <a:pt x="643" y="318"/>
                  </a:lnTo>
                  <a:lnTo>
                    <a:pt x="631" y="336"/>
                  </a:lnTo>
                  <a:lnTo>
                    <a:pt x="619" y="342"/>
                  </a:lnTo>
                  <a:lnTo>
                    <a:pt x="613" y="348"/>
                  </a:lnTo>
                  <a:lnTo>
                    <a:pt x="613" y="360"/>
                  </a:lnTo>
                  <a:lnTo>
                    <a:pt x="619" y="372"/>
                  </a:lnTo>
                  <a:lnTo>
                    <a:pt x="625" y="384"/>
                  </a:lnTo>
                  <a:lnTo>
                    <a:pt x="637" y="402"/>
                  </a:lnTo>
                  <a:lnTo>
                    <a:pt x="643" y="420"/>
                  </a:lnTo>
                  <a:lnTo>
                    <a:pt x="643" y="432"/>
                  </a:lnTo>
                  <a:lnTo>
                    <a:pt x="643" y="450"/>
                  </a:lnTo>
                  <a:lnTo>
                    <a:pt x="637" y="462"/>
                  </a:lnTo>
                  <a:lnTo>
                    <a:pt x="625" y="474"/>
                  </a:lnTo>
                  <a:lnTo>
                    <a:pt x="607" y="486"/>
                  </a:lnTo>
                  <a:lnTo>
                    <a:pt x="595" y="492"/>
                  </a:lnTo>
                  <a:lnTo>
                    <a:pt x="595" y="504"/>
                  </a:lnTo>
                  <a:lnTo>
                    <a:pt x="601" y="516"/>
                  </a:lnTo>
                  <a:lnTo>
                    <a:pt x="607" y="528"/>
                  </a:lnTo>
                  <a:lnTo>
                    <a:pt x="601" y="546"/>
                  </a:lnTo>
                  <a:lnTo>
                    <a:pt x="601" y="565"/>
                  </a:lnTo>
                  <a:lnTo>
                    <a:pt x="589" y="577"/>
                  </a:lnTo>
                  <a:lnTo>
                    <a:pt x="577" y="583"/>
                  </a:lnTo>
                  <a:lnTo>
                    <a:pt x="553" y="589"/>
                  </a:lnTo>
                  <a:lnTo>
                    <a:pt x="529" y="595"/>
                  </a:lnTo>
                  <a:lnTo>
                    <a:pt x="517" y="595"/>
                  </a:lnTo>
                  <a:lnTo>
                    <a:pt x="511" y="619"/>
                  </a:lnTo>
                  <a:lnTo>
                    <a:pt x="505" y="631"/>
                  </a:lnTo>
                  <a:lnTo>
                    <a:pt x="493" y="643"/>
                  </a:lnTo>
                  <a:lnTo>
                    <a:pt x="475" y="649"/>
                  </a:lnTo>
                  <a:lnTo>
                    <a:pt x="457" y="649"/>
                  </a:lnTo>
                  <a:lnTo>
                    <a:pt x="433" y="649"/>
                  </a:lnTo>
                  <a:lnTo>
                    <a:pt x="403" y="655"/>
                  </a:lnTo>
                  <a:lnTo>
                    <a:pt x="360" y="655"/>
                  </a:lnTo>
                  <a:lnTo>
                    <a:pt x="342" y="655"/>
                  </a:lnTo>
                  <a:lnTo>
                    <a:pt x="324" y="649"/>
                  </a:lnTo>
                  <a:lnTo>
                    <a:pt x="300" y="637"/>
                  </a:lnTo>
                  <a:lnTo>
                    <a:pt x="282" y="625"/>
                  </a:lnTo>
                  <a:lnTo>
                    <a:pt x="270" y="607"/>
                  </a:lnTo>
                  <a:lnTo>
                    <a:pt x="258" y="589"/>
                  </a:lnTo>
                  <a:lnTo>
                    <a:pt x="240" y="565"/>
                  </a:lnTo>
                  <a:lnTo>
                    <a:pt x="228" y="540"/>
                  </a:lnTo>
                  <a:lnTo>
                    <a:pt x="222" y="528"/>
                  </a:lnTo>
                  <a:lnTo>
                    <a:pt x="228" y="522"/>
                  </a:lnTo>
                  <a:lnTo>
                    <a:pt x="234" y="510"/>
                  </a:lnTo>
                  <a:lnTo>
                    <a:pt x="240" y="504"/>
                  </a:lnTo>
                  <a:lnTo>
                    <a:pt x="252" y="498"/>
                  </a:lnTo>
                  <a:lnTo>
                    <a:pt x="264" y="498"/>
                  </a:lnTo>
                  <a:lnTo>
                    <a:pt x="276" y="498"/>
                  </a:lnTo>
                  <a:lnTo>
                    <a:pt x="288" y="510"/>
                  </a:lnTo>
                  <a:lnTo>
                    <a:pt x="300" y="516"/>
                  </a:lnTo>
                  <a:lnTo>
                    <a:pt x="306" y="522"/>
                  </a:lnTo>
                  <a:lnTo>
                    <a:pt x="318" y="528"/>
                  </a:lnTo>
                  <a:lnTo>
                    <a:pt x="306" y="516"/>
                  </a:lnTo>
                  <a:lnTo>
                    <a:pt x="282" y="498"/>
                  </a:lnTo>
                  <a:lnTo>
                    <a:pt x="288" y="492"/>
                  </a:lnTo>
                  <a:lnTo>
                    <a:pt x="282" y="492"/>
                  </a:lnTo>
                  <a:lnTo>
                    <a:pt x="270" y="492"/>
                  </a:lnTo>
                  <a:lnTo>
                    <a:pt x="264" y="486"/>
                  </a:lnTo>
                  <a:lnTo>
                    <a:pt x="252" y="480"/>
                  </a:lnTo>
                  <a:lnTo>
                    <a:pt x="246" y="474"/>
                  </a:lnTo>
                  <a:lnTo>
                    <a:pt x="228" y="474"/>
                  </a:lnTo>
                  <a:lnTo>
                    <a:pt x="216" y="474"/>
                  </a:lnTo>
                  <a:lnTo>
                    <a:pt x="204" y="486"/>
                  </a:lnTo>
                  <a:lnTo>
                    <a:pt x="198" y="492"/>
                  </a:lnTo>
                  <a:lnTo>
                    <a:pt x="198" y="504"/>
                  </a:lnTo>
                  <a:lnTo>
                    <a:pt x="198" y="516"/>
                  </a:lnTo>
                  <a:lnTo>
                    <a:pt x="198" y="546"/>
                  </a:lnTo>
                  <a:lnTo>
                    <a:pt x="198" y="577"/>
                  </a:lnTo>
                  <a:lnTo>
                    <a:pt x="204" y="607"/>
                  </a:lnTo>
                  <a:lnTo>
                    <a:pt x="204" y="637"/>
                  </a:lnTo>
                  <a:lnTo>
                    <a:pt x="216" y="679"/>
                  </a:lnTo>
                  <a:lnTo>
                    <a:pt x="228" y="703"/>
                  </a:lnTo>
                  <a:lnTo>
                    <a:pt x="234" y="721"/>
                  </a:lnTo>
                  <a:lnTo>
                    <a:pt x="234" y="763"/>
                  </a:lnTo>
                  <a:lnTo>
                    <a:pt x="228" y="793"/>
                  </a:lnTo>
                  <a:lnTo>
                    <a:pt x="222" y="811"/>
                  </a:lnTo>
                  <a:lnTo>
                    <a:pt x="216" y="823"/>
                  </a:lnTo>
                  <a:lnTo>
                    <a:pt x="204" y="829"/>
                  </a:lnTo>
                  <a:lnTo>
                    <a:pt x="186" y="835"/>
                  </a:lnTo>
                  <a:lnTo>
                    <a:pt x="168" y="841"/>
                  </a:lnTo>
                  <a:lnTo>
                    <a:pt x="150" y="835"/>
                  </a:lnTo>
                  <a:lnTo>
                    <a:pt x="144" y="829"/>
                  </a:lnTo>
                  <a:lnTo>
                    <a:pt x="138" y="787"/>
                  </a:lnTo>
                  <a:lnTo>
                    <a:pt x="132" y="775"/>
                  </a:lnTo>
                  <a:lnTo>
                    <a:pt x="132" y="769"/>
                  </a:lnTo>
                  <a:lnTo>
                    <a:pt x="126" y="745"/>
                  </a:lnTo>
                  <a:lnTo>
                    <a:pt x="108" y="709"/>
                  </a:lnTo>
                  <a:lnTo>
                    <a:pt x="102" y="697"/>
                  </a:lnTo>
                  <a:lnTo>
                    <a:pt x="102" y="685"/>
                  </a:lnTo>
                  <a:lnTo>
                    <a:pt x="96" y="685"/>
                  </a:lnTo>
                  <a:lnTo>
                    <a:pt x="96" y="679"/>
                  </a:lnTo>
                  <a:lnTo>
                    <a:pt x="96" y="673"/>
                  </a:lnTo>
                  <a:lnTo>
                    <a:pt x="84" y="655"/>
                  </a:lnTo>
                  <a:lnTo>
                    <a:pt x="78" y="613"/>
                  </a:lnTo>
                  <a:lnTo>
                    <a:pt x="60" y="571"/>
                  </a:lnTo>
                  <a:lnTo>
                    <a:pt x="48" y="522"/>
                  </a:lnTo>
                  <a:lnTo>
                    <a:pt x="30" y="468"/>
                  </a:lnTo>
                  <a:lnTo>
                    <a:pt x="24" y="426"/>
                  </a:lnTo>
                  <a:lnTo>
                    <a:pt x="18" y="366"/>
                  </a:lnTo>
                  <a:lnTo>
                    <a:pt x="18" y="306"/>
                  </a:lnTo>
                  <a:lnTo>
                    <a:pt x="18" y="300"/>
                  </a:lnTo>
                  <a:lnTo>
                    <a:pt x="0" y="270"/>
                  </a:lnTo>
                  <a:lnTo>
                    <a:pt x="72" y="204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rgbClr val="FFBD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未知"/>
            <p:cNvSpPr>
              <a:spLocks/>
            </p:cNvSpPr>
            <p:nvPr/>
          </p:nvSpPr>
          <p:spPr bwMode="auto">
            <a:xfrm>
              <a:off x="102" y="0"/>
              <a:ext cx="445" cy="132"/>
            </a:xfrm>
            <a:custGeom>
              <a:avLst/>
              <a:gdLst>
                <a:gd name="T0" fmla="*/ 24 w 445"/>
                <a:gd name="T1" fmla="*/ 0 h 132"/>
                <a:gd name="T2" fmla="*/ 42 w 445"/>
                <a:gd name="T3" fmla="*/ 6 h 132"/>
                <a:gd name="T4" fmla="*/ 60 w 445"/>
                <a:gd name="T5" fmla="*/ 6 h 132"/>
                <a:gd name="T6" fmla="*/ 72 w 445"/>
                <a:gd name="T7" fmla="*/ 12 h 132"/>
                <a:gd name="T8" fmla="*/ 90 w 445"/>
                <a:gd name="T9" fmla="*/ 6 h 132"/>
                <a:gd name="T10" fmla="*/ 102 w 445"/>
                <a:gd name="T11" fmla="*/ 6 h 132"/>
                <a:gd name="T12" fmla="*/ 120 w 445"/>
                <a:gd name="T13" fmla="*/ 6 h 132"/>
                <a:gd name="T14" fmla="*/ 144 w 445"/>
                <a:gd name="T15" fmla="*/ 6 h 132"/>
                <a:gd name="T16" fmla="*/ 174 w 445"/>
                <a:gd name="T17" fmla="*/ 18 h 132"/>
                <a:gd name="T18" fmla="*/ 210 w 445"/>
                <a:gd name="T19" fmla="*/ 24 h 132"/>
                <a:gd name="T20" fmla="*/ 246 w 445"/>
                <a:gd name="T21" fmla="*/ 36 h 132"/>
                <a:gd name="T22" fmla="*/ 289 w 445"/>
                <a:gd name="T23" fmla="*/ 54 h 132"/>
                <a:gd name="T24" fmla="*/ 337 w 445"/>
                <a:gd name="T25" fmla="*/ 72 h 132"/>
                <a:gd name="T26" fmla="*/ 379 w 445"/>
                <a:gd name="T27" fmla="*/ 96 h 132"/>
                <a:gd name="T28" fmla="*/ 409 w 445"/>
                <a:gd name="T29" fmla="*/ 108 h 132"/>
                <a:gd name="T30" fmla="*/ 427 w 445"/>
                <a:gd name="T31" fmla="*/ 114 h 132"/>
                <a:gd name="T32" fmla="*/ 445 w 445"/>
                <a:gd name="T33" fmla="*/ 126 h 132"/>
                <a:gd name="T34" fmla="*/ 433 w 445"/>
                <a:gd name="T35" fmla="*/ 120 h 132"/>
                <a:gd name="T36" fmla="*/ 421 w 445"/>
                <a:gd name="T37" fmla="*/ 120 h 132"/>
                <a:gd name="T38" fmla="*/ 409 w 445"/>
                <a:gd name="T39" fmla="*/ 126 h 132"/>
                <a:gd name="T40" fmla="*/ 403 w 445"/>
                <a:gd name="T41" fmla="*/ 126 h 132"/>
                <a:gd name="T42" fmla="*/ 385 w 445"/>
                <a:gd name="T43" fmla="*/ 120 h 132"/>
                <a:gd name="T44" fmla="*/ 367 w 445"/>
                <a:gd name="T45" fmla="*/ 108 h 132"/>
                <a:gd name="T46" fmla="*/ 349 w 445"/>
                <a:gd name="T47" fmla="*/ 96 h 132"/>
                <a:gd name="T48" fmla="*/ 325 w 445"/>
                <a:gd name="T49" fmla="*/ 84 h 132"/>
                <a:gd name="T50" fmla="*/ 301 w 445"/>
                <a:gd name="T51" fmla="*/ 72 h 132"/>
                <a:gd name="T52" fmla="*/ 271 w 445"/>
                <a:gd name="T53" fmla="*/ 60 h 132"/>
                <a:gd name="T54" fmla="*/ 246 w 445"/>
                <a:gd name="T55" fmla="*/ 54 h 132"/>
                <a:gd name="T56" fmla="*/ 222 w 445"/>
                <a:gd name="T57" fmla="*/ 42 h 132"/>
                <a:gd name="T58" fmla="*/ 204 w 445"/>
                <a:gd name="T59" fmla="*/ 36 h 132"/>
                <a:gd name="T60" fmla="*/ 186 w 445"/>
                <a:gd name="T61" fmla="*/ 36 h 132"/>
                <a:gd name="T62" fmla="*/ 174 w 445"/>
                <a:gd name="T63" fmla="*/ 30 h 132"/>
                <a:gd name="T64" fmla="*/ 150 w 445"/>
                <a:gd name="T65" fmla="*/ 30 h 132"/>
                <a:gd name="T66" fmla="*/ 126 w 445"/>
                <a:gd name="T67" fmla="*/ 30 h 132"/>
                <a:gd name="T68" fmla="*/ 102 w 445"/>
                <a:gd name="T69" fmla="*/ 30 h 132"/>
                <a:gd name="T70" fmla="*/ 84 w 445"/>
                <a:gd name="T71" fmla="*/ 36 h 132"/>
                <a:gd name="T72" fmla="*/ 66 w 445"/>
                <a:gd name="T73" fmla="*/ 42 h 132"/>
                <a:gd name="T74" fmla="*/ 54 w 445"/>
                <a:gd name="T75" fmla="*/ 60 h 132"/>
                <a:gd name="T76" fmla="*/ 42 w 445"/>
                <a:gd name="T77" fmla="*/ 72 h 132"/>
                <a:gd name="T78" fmla="*/ 30 w 445"/>
                <a:gd name="T79" fmla="*/ 90 h 132"/>
                <a:gd name="T80" fmla="*/ 18 w 445"/>
                <a:gd name="T81" fmla="*/ 108 h 132"/>
                <a:gd name="T82" fmla="*/ 12 w 445"/>
                <a:gd name="T83" fmla="*/ 120 h 132"/>
                <a:gd name="T84" fmla="*/ 0 w 445"/>
                <a:gd name="T85" fmla="*/ 132 h 132"/>
                <a:gd name="T86" fmla="*/ 24 w 445"/>
                <a:gd name="T87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45" h="132">
                  <a:moveTo>
                    <a:pt x="24" y="0"/>
                  </a:moveTo>
                  <a:lnTo>
                    <a:pt x="42" y="6"/>
                  </a:lnTo>
                  <a:lnTo>
                    <a:pt x="60" y="6"/>
                  </a:lnTo>
                  <a:lnTo>
                    <a:pt x="72" y="12"/>
                  </a:lnTo>
                  <a:lnTo>
                    <a:pt x="90" y="6"/>
                  </a:lnTo>
                  <a:lnTo>
                    <a:pt x="102" y="6"/>
                  </a:lnTo>
                  <a:lnTo>
                    <a:pt x="120" y="6"/>
                  </a:lnTo>
                  <a:lnTo>
                    <a:pt x="144" y="6"/>
                  </a:lnTo>
                  <a:lnTo>
                    <a:pt x="174" y="18"/>
                  </a:lnTo>
                  <a:lnTo>
                    <a:pt x="210" y="24"/>
                  </a:lnTo>
                  <a:lnTo>
                    <a:pt x="246" y="36"/>
                  </a:lnTo>
                  <a:lnTo>
                    <a:pt x="289" y="54"/>
                  </a:lnTo>
                  <a:lnTo>
                    <a:pt x="337" y="72"/>
                  </a:lnTo>
                  <a:lnTo>
                    <a:pt x="379" y="96"/>
                  </a:lnTo>
                  <a:lnTo>
                    <a:pt x="409" y="108"/>
                  </a:lnTo>
                  <a:lnTo>
                    <a:pt x="427" y="114"/>
                  </a:lnTo>
                  <a:lnTo>
                    <a:pt x="445" y="126"/>
                  </a:lnTo>
                  <a:lnTo>
                    <a:pt x="433" y="120"/>
                  </a:lnTo>
                  <a:lnTo>
                    <a:pt x="421" y="120"/>
                  </a:lnTo>
                  <a:lnTo>
                    <a:pt x="409" y="126"/>
                  </a:lnTo>
                  <a:lnTo>
                    <a:pt x="403" y="126"/>
                  </a:lnTo>
                  <a:lnTo>
                    <a:pt x="385" y="120"/>
                  </a:lnTo>
                  <a:lnTo>
                    <a:pt x="367" y="108"/>
                  </a:lnTo>
                  <a:lnTo>
                    <a:pt x="349" y="96"/>
                  </a:lnTo>
                  <a:lnTo>
                    <a:pt x="325" y="84"/>
                  </a:lnTo>
                  <a:lnTo>
                    <a:pt x="301" y="72"/>
                  </a:lnTo>
                  <a:lnTo>
                    <a:pt x="271" y="60"/>
                  </a:lnTo>
                  <a:lnTo>
                    <a:pt x="246" y="54"/>
                  </a:lnTo>
                  <a:lnTo>
                    <a:pt x="222" y="42"/>
                  </a:lnTo>
                  <a:lnTo>
                    <a:pt x="204" y="36"/>
                  </a:lnTo>
                  <a:lnTo>
                    <a:pt x="186" y="36"/>
                  </a:lnTo>
                  <a:lnTo>
                    <a:pt x="174" y="30"/>
                  </a:lnTo>
                  <a:lnTo>
                    <a:pt x="150" y="30"/>
                  </a:lnTo>
                  <a:lnTo>
                    <a:pt x="126" y="30"/>
                  </a:lnTo>
                  <a:lnTo>
                    <a:pt x="102" y="30"/>
                  </a:lnTo>
                  <a:lnTo>
                    <a:pt x="84" y="36"/>
                  </a:lnTo>
                  <a:lnTo>
                    <a:pt x="66" y="42"/>
                  </a:lnTo>
                  <a:lnTo>
                    <a:pt x="54" y="60"/>
                  </a:lnTo>
                  <a:lnTo>
                    <a:pt x="42" y="72"/>
                  </a:lnTo>
                  <a:lnTo>
                    <a:pt x="30" y="90"/>
                  </a:lnTo>
                  <a:lnTo>
                    <a:pt x="18" y="108"/>
                  </a:lnTo>
                  <a:lnTo>
                    <a:pt x="12" y="120"/>
                  </a:lnTo>
                  <a:lnTo>
                    <a:pt x="0" y="132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FCA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未知"/>
            <p:cNvSpPr>
              <a:spLocks/>
            </p:cNvSpPr>
            <p:nvPr/>
          </p:nvSpPr>
          <p:spPr bwMode="auto">
            <a:xfrm>
              <a:off x="529" y="234"/>
              <a:ext cx="96" cy="114"/>
            </a:xfrm>
            <a:custGeom>
              <a:avLst/>
              <a:gdLst>
                <a:gd name="T0" fmla="*/ 90 w 96"/>
                <a:gd name="T1" fmla="*/ 108 h 114"/>
                <a:gd name="T2" fmla="*/ 96 w 96"/>
                <a:gd name="T3" fmla="*/ 96 h 114"/>
                <a:gd name="T4" fmla="*/ 96 w 96"/>
                <a:gd name="T5" fmla="*/ 84 h 114"/>
                <a:gd name="T6" fmla="*/ 90 w 96"/>
                <a:gd name="T7" fmla="*/ 66 h 114"/>
                <a:gd name="T8" fmla="*/ 78 w 96"/>
                <a:gd name="T9" fmla="*/ 54 h 114"/>
                <a:gd name="T10" fmla="*/ 66 w 96"/>
                <a:gd name="T11" fmla="*/ 36 h 114"/>
                <a:gd name="T12" fmla="*/ 42 w 96"/>
                <a:gd name="T13" fmla="*/ 24 h 114"/>
                <a:gd name="T14" fmla="*/ 24 w 96"/>
                <a:gd name="T15" fmla="*/ 12 h 114"/>
                <a:gd name="T16" fmla="*/ 0 w 96"/>
                <a:gd name="T17" fmla="*/ 0 h 114"/>
                <a:gd name="T18" fmla="*/ 24 w 96"/>
                <a:gd name="T19" fmla="*/ 18 h 114"/>
                <a:gd name="T20" fmla="*/ 30 w 96"/>
                <a:gd name="T21" fmla="*/ 24 h 114"/>
                <a:gd name="T22" fmla="*/ 42 w 96"/>
                <a:gd name="T23" fmla="*/ 30 h 114"/>
                <a:gd name="T24" fmla="*/ 54 w 96"/>
                <a:gd name="T25" fmla="*/ 42 h 114"/>
                <a:gd name="T26" fmla="*/ 60 w 96"/>
                <a:gd name="T27" fmla="*/ 48 h 114"/>
                <a:gd name="T28" fmla="*/ 72 w 96"/>
                <a:gd name="T29" fmla="*/ 60 h 114"/>
                <a:gd name="T30" fmla="*/ 78 w 96"/>
                <a:gd name="T31" fmla="*/ 72 h 114"/>
                <a:gd name="T32" fmla="*/ 84 w 96"/>
                <a:gd name="T33" fmla="*/ 90 h 114"/>
                <a:gd name="T34" fmla="*/ 84 w 96"/>
                <a:gd name="T35" fmla="*/ 102 h 114"/>
                <a:gd name="T36" fmla="*/ 84 w 96"/>
                <a:gd name="T37" fmla="*/ 114 h 114"/>
                <a:gd name="T38" fmla="*/ 90 w 96"/>
                <a:gd name="T39" fmla="*/ 108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6" h="114">
                  <a:moveTo>
                    <a:pt x="90" y="108"/>
                  </a:moveTo>
                  <a:lnTo>
                    <a:pt x="96" y="96"/>
                  </a:lnTo>
                  <a:lnTo>
                    <a:pt x="96" y="84"/>
                  </a:lnTo>
                  <a:lnTo>
                    <a:pt x="90" y="66"/>
                  </a:lnTo>
                  <a:lnTo>
                    <a:pt x="78" y="54"/>
                  </a:lnTo>
                  <a:lnTo>
                    <a:pt x="66" y="36"/>
                  </a:lnTo>
                  <a:lnTo>
                    <a:pt x="42" y="24"/>
                  </a:lnTo>
                  <a:lnTo>
                    <a:pt x="24" y="12"/>
                  </a:lnTo>
                  <a:lnTo>
                    <a:pt x="0" y="0"/>
                  </a:lnTo>
                  <a:lnTo>
                    <a:pt x="24" y="18"/>
                  </a:lnTo>
                  <a:lnTo>
                    <a:pt x="30" y="24"/>
                  </a:lnTo>
                  <a:lnTo>
                    <a:pt x="42" y="30"/>
                  </a:lnTo>
                  <a:lnTo>
                    <a:pt x="54" y="42"/>
                  </a:lnTo>
                  <a:lnTo>
                    <a:pt x="60" y="48"/>
                  </a:lnTo>
                  <a:lnTo>
                    <a:pt x="72" y="60"/>
                  </a:lnTo>
                  <a:lnTo>
                    <a:pt x="78" y="72"/>
                  </a:lnTo>
                  <a:lnTo>
                    <a:pt x="84" y="90"/>
                  </a:lnTo>
                  <a:lnTo>
                    <a:pt x="84" y="102"/>
                  </a:lnTo>
                  <a:lnTo>
                    <a:pt x="84" y="114"/>
                  </a:lnTo>
                  <a:lnTo>
                    <a:pt x="90" y="108"/>
                  </a:lnTo>
                  <a:close/>
                </a:path>
              </a:pathLst>
            </a:custGeom>
            <a:solidFill>
              <a:srgbClr val="FCA4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未知"/>
            <p:cNvSpPr>
              <a:spLocks/>
            </p:cNvSpPr>
            <p:nvPr/>
          </p:nvSpPr>
          <p:spPr bwMode="auto">
            <a:xfrm>
              <a:off x="493" y="354"/>
              <a:ext cx="114" cy="138"/>
            </a:xfrm>
            <a:custGeom>
              <a:avLst/>
              <a:gdLst>
                <a:gd name="T0" fmla="*/ 108 w 114"/>
                <a:gd name="T1" fmla="*/ 132 h 138"/>
                <a:gd name="T2" fmla="*/ 114 w 114"/>
                <a:gd name="T3" fmla="*/ 114 h 138"/>
                <a:gd name="T4" fmla="*/ 108 w 114"/>
                <a:gd name="T5" fmla="*/ 96 h 138"/>
                <a:gd name="T6" fmla="*/ 108 w 114"/>
                <a:gd name="T7" fmla="*/ 84 h 138"/>
                <a:gd name="T8" fmla="*/ 96 w 114"/>
                <a:gd name="T9" fmla="*/ 66 h 138"/>
                <a:gd name="T10" fmla="*/ 90 w 114"/>
                <a:gd name="T11" fmla="*/ 54 h 138"/>
                <a:gd name="T12" fmla="*/ 72 w 114"/>
                <a:gd name="T13" fmla="*/ 42 h 138"/>
                <a:gd name="T14" fmla="*/ 54 w 114"/>
                <a:gd name="T15" fmla="*/ 30 h 138"/>
                <a:gd name="T16" fmla="*/ 30 w 114"/>
                <a:gd name="T17" fmla="*/ 18 h 138"/>
                <a:gd name="T18" fmla="*/ 0 w 114"/>
                <a:gd name="T19" fmla="*/ 0 h 138"/>
                <a:gd name="T20" fmla="*/ 18 w 114"/>
                <a:gd name="T21" fmla="*/ 12 h 138"/>
                <a:gd name="T22" fmla="*/ 30 w 114"/>
                <a:gd name="T23" fmla="*/ 24 h 138"/>
                <a:gd name="T24" fmla="*/ 48 w 114"/>
                <a:gd name="T25" fmla="*/ 36 h 138"/>
                <a:gd name="T26" fmla="*/ 60 w 114"/>
                <a:gd name="T27" fmla="*/ 48 h 138"/>
                <a:gd name="T28" fmla="*/ 72 w 114"/>
                <a:gd name="T29" fmla="*/ 60 h 138"/>
                <a:gd name="T30" fmla="*/ 84 w 114"/>
                <a:gd name="T31" fmla="*/ 78 h 138"/>
                <a:gd name="T32" fmla="*/ 90 w 114"/>
                <a:gd name="T33" fmla="*/ 96 h 138"/>
                <a:gd name="T34" fmla="*/ 96 w 114"/>
                <a:gd name="T35" fmla="*/ 120 h 138"/>
                <a:gd name="T36" fmla="*/ 102 w 114"/>
                <a:gd name="T37" fmla="*/ 138 h 138"/>
                <a:gd name="T38" fmla="*/ 108 w 114"/>
                <a:gd name="T39" fmla="*/ 13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4" h="138">
                  <a:moveTo>
                    <a:pt x="108" y="132"/>
                  </a:moveTo>
                  <a:lnTo>
                    <a:pt x="114" y="114"/>
                  </a:lnTo>
                  <a:lnTo>
                    <a:pt x="108" y="96"/>
                  </a:lnTo>
                  <a:lnTo>
                    <a:pt x="108" y="84"/>
                  </a:lnTo>
                  <a:lnTo>
                    <a:pt x="96" y="66"/>
                  </a:lnTo>
                  <a:lnTo>
                    <a:pt x="90" y="54"/>
                  </a:lnTo>
                  <a:lnTo>
                    <a:pt x="72" y="42"/>
                  </a:lnTo>
                  <a:lnTo>
                    <a:pt x="54" y="30"/>
                  </a:lnTo>
                  <a:lnTo>
                    <a:pt x="30" y="18"/>
                  </a:lnTo>
                  <a:lnTo>
                    <a:pt x="0" y="0"/>
                  </a:lnTo>
                  <a:lnTo>
                    <a:pt x="18" y="12"/>
                  </a:lnTo>
                  <a:lnTo>
                    <a:pt x="30" y="24"/>
                  </a:lnTo>
                  <a:lnTo>
                    <a:pt x="48" y="36"/>
                  </a:lnTo>
                  <a:lnTo>
                    <a:pt x="60" y="48"/>
                  </a:lnTo>
                  <a:lnTo>
                    <a:pt x="72" y="60"/>
                  </a:lnTo>
                  <a:lnTo>
                    <a:pt x="84" y="78"/>
                  </a:lnTo>
                  <a:lnTo>
                    <a:pt x="90" y="96"/>
                  </a:lnTo>
                  <a:lnTo>
                    <a:pt x="96" y="120"/>
                  </a:lnTo>
                  <a:lnTo>
                    <a:pt x="102" y="138"/>
                  </a:lnTo>
                  <a:lnTo>
                    <a:pt x="108" y="132"/>
                  </a:lnTo>
                  <a:close/>
                </a:path>
              </a:pathLst>
            </a:custGeom>
            <a:solidFill>
              <a:srgbClr val="FCA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未知"/>
            <p:cNvSpPr>
              <a:spLocks/>
            </p:cNvSpPr>
            <p:nvPr/>
          </p:nvSpPr>
          <p:spPr bwMode="auto">
            <a:xfrm>
              <a:off x="439" y="492"/>
              <a:ext cx="90" cy="103"/>
            </a:xfrm>
            <a:custGeom>
              <a:avLst/>
              <a:gdLst>
                <a:gd name="T0" fmla="*/ 0 w 90"/>
                <a:gd name="T1" fmla="*/ 0 h 103"/>
                <a:gd name="T2" fmla="*/ 24 w 90"/>
                <a:gd name="T3" fmla="*/ 12 h 103"/>
                <a:gd name="T4" fmla="*/ 48 w 90"/>
                <a:gd name="T5" fmla="*/ 24 h 103"/>
                <a:gd name="T6" fmla="*/ 66 w 90"/>
                <a:gd name="T7" fmla="*/ 36 h 103"/>
                <a:gd name="T8" fmla="*/ 78 w 90"/>
                <a:gd name="T9" fmla="*/ 48 h 103"/>
                <a:gd name="T10" fmla="*/ 84 w 90"/>
                <a:gd name="T11" fmla="*/ 67 h 103"/>
                <a:gd name="T12" fmla="*/ 90 w 90"/>
                <a:gd name="T13" fmla="*/ 85 h 103"/>
                <a:gd name="T14" fmla="*/ 90 w 90"/>
                <a:gd name="T15" fmla="*/ 103 h 103"/>
                <a:gd name="T16" fmla="*/ 84 w 90"/>
                <a:gd name="T17" fmla="*/ 103 h 103"/>
                <a:gd name="T18" fmla="*/ 72 w 90"/>
                <a:gd name="T19" fmla="*/ 103 h 103"/>
                <a:gd name="T20" fmla="*/ 72 w 90"/>
                <a:gd name="T21" fmla="*/ 91 h 103"/>
                <a:gd name="T22" fmla="*/ 66 w 90"/>
                <a:gd name="T23" fmla="*/ 73 h 103"/>
                <a:gd name="T24" fmla="*/ 60 w 90"/>
                <a:gd name="T25" fmla="*/ 54 h 103"/>
                <a:gd name="T26" fmla="*/ 48 w 90"/>
                <a:gd name="T27" fmla="*/ 36 h 103"/>
                <a:gd name="T28" fmla="*/ 30 w 90"/>
                <a:gd name="T29" fmla="*/ 24 h 103"/>
                <a:gd name="T30" fmla="*/ 18 w 90"/>
                <a:gd name="T31" fmla="*/ 12 h 103"/>
                <a:gd name="T32" fmla="*/ 0 w 90"/>
                <a:gd name="T33" fmla="*/ 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0" h="103">
                  <a:moveTo>
                    <a:pt x="0" y="0"/>
                  </a:moveTo>
                  <a:lnTo>
                    <a:pt x="24" y="12"/>
                  </a:lnTo>
                  <a:lnTo>
                    <a:pt x="48" y="24"/>
                  </a:lnTo>
                  <a:lnTo>
                    <a:pt x="66" y="36"/>
                  </a:lnTo>
                  <a:lnTo>
                    <a:pt x="78" y="48"/>
                  </a:lnTo>
                  <a:lnTo>
                    <a:pt x="84" y="67"/>
                  </a:lnTo>
                  <a:lnTo>
                    <a:pt x="90" y="85"/>
                  </a:lnTo>
                  <a:lnTo>
                    <a:pt x="90" y="103"/>
                  </a:lnTo>
                  <a:lnTo>
                    <a:pt x="84" y="103"/>
                  </a:lnTo>
                  <a:lnTo>
                    <a:pt x="72" y="103"/>
                  </a:lnTo>
                  <a:lnTo>
                    <a:pt x="72" y="91"/>
                  </a:lnTo>
                  <a:lnTo>
                    <a:pt x="66" y="73"/>
                  </a:lnTo>
                  <a:lnTo>
                    <a:pt x="60" y="54"/>
                  </a:lnTo>
                  <a:lnTo>
                    <a:pt x="48" y="36"/>
                  </a:lnTo>
                  <a:lnTo>
                    <a:pt x="30" y="24"/>
                  </a:lnTo>
                  <a:lnTo>
                    <a:pt x="18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CA4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未知"/>
            <p:cNvSpPr>
              <a:spLocks/>
            </p:cNvSpPr>
            <p:nvPr/>
          </p:nvSpPr>
          <p:spPr bwMode="auto">
            <a:xfrm>
              <a:off x="222" y="498"/>
              <a:ext cx="235" cy="151"/>
            </a:xfrm>
            <a:custGeom>
              <a:avLst/>
              <a:gdLst>
                <a:gd name="T0" fmla="*/ 84 w 235"/>
                <a:gd name="T1" fmla="*/ 24 h 151"/>
                <a:gd name="T2" fmla="*/ 120 w 235"/>
                <a:gd name="T3" fmla="*/ 30 h 151"/>
                <a:gd name="T4" fmla="*/ 157 w 235"/>
                <a:gd name="T5" fmla="*/ 42 h 151"/>
                <a:gd name="T6" fmla="*/ 175 w 235"/>
                <a:gd name="T7" fmla="*/ 54 h 151"/>
                <a:gd name="T8" fmla="*/ 199 w 235"/>
                <a:gd name="T9" fmla="*/ 73 h 151"/>
                <a:gd name="T10" fmla="*/ 217 w 235"/>
                <a:gd name="T11" fmla="*/ 91 h 151"/>
                <a:gd name="T12" fmla="*/ 235 w 235"/>
                <a:gd name="T13" fmla="*/ 109 h 151"/>
                <a:gd name="T14" fmla="*/ 205 w 235"/>
                <a:gd name="T15" fmla="*/ 85 h 151"/>
                <a:gd name="T16" fmla="*/ 175 w 235"/>
                <a:gd name="T17" fmla="*/ 67 h 151"/>
                <a:gd name="T18" fmla="*/ 157 w 235"/>
                <a:gd name="T19" fmla="*/ 48 h 151"/>
                <a:gd name="T20" fmla="*/ 132 w 235"/>
                <a:gd name="T21" fmla="*/ 48 h 151"/>
                <a:gd name="T22" fmla="*/ 114 w 235"/>
                <a:gd name="T23" fmla="*/ 42 h 151"/>
                <a:gd name="T24" fmla="*/ 102 w 235"/>
                <a:gd name="T25" fmla="*/ 36 h 151"/>
                <a:gd name="T26" fmla="*/ 108 w 235"/>
                <a:gd name="T27" fmla="*/ 54 h 151"/>
                <a:gd name="T28" fmla="*/ 108 w 235"/>
                <a:gd name="T29" fmla="*/ 73 h 151"/>
                <a:gd name="T30" fmla="*/ 114 w 235"/>
                <a:gd name="T31" fmla="*/ 91 h 151"/>
                <a:gd name="T32" fmla="*/ 120 w 235"/>
                <a:gd name="T33" fmla="*/ 109 h 151"/>
                <a:gd name="T34" fmla="*/ 126 w 235"/>
                <a:gd name="T35" fmla="*/ 127 h 151"/>
                <a:gd name="T36" fmla="*/ 132 w 235"/>
                <a:gd name="T37" fmla="*/ 133 h 151"/>
                <a:gd name="T38" fmla="*/ 138 w 235"/>
                <a:gd name="T39" fmla="*/ 151 h 151"/>
                <a:gd name="T40" fmla="*/ 126 w 235"/>
                <a:gd name="T41" fmla="*/ 133 h 151"/>
                <a:gd name="T42" fmla="*/ 120 w 235"/>
                <a:gd name="T43" fmla="*/ 115 h 151"/>
                <a:gd name="T44" fmla="*/ 108 w 235"/>
                <a:gd name="T45" fmla="*/ 97 h 151"/>
                <a:gd name="T46" fmla="*/ 102 w 235"/>
                <a:gd name="T47" fmla="*/ 85 h 151"/>
                <a:gd name="T48" fmla="*/ 96 w 235"/>
                <a:gd name="T49" fmla="*/ 67 h 151"/>
                <a:gd name="T50" fmla="*/ 96 w 235"/>
                <a:gd name="T51" fmla="*/ 54 h 151"/>
                <a:gd name="T52" fmla="*/ 84 w 235"/>
                <a:gd name="T53" fmla="*/ 42 h 151"/>
                <a:gd name="T54" fmla="*/ 78 w 235"/>
                <a:gd name="T55" fmla="*/ 30 h 151"/>
                <a:gd name="T56" fmla="*/ 66 w 235"/>
                <a:gd name="T57" fmla="*/ 18 h 151"/>
                <a:gd name="T58" fmla="*/ 54 w 235"/>
                <a:gd name="T59" fmla="*/ 12 h 151"/>
                <a:gd name="T60" fmla="*/ 36 w 235"/>
                <a:gd name="T61" fmla="*/ 12 h 151"/>
                <a:gd name="T62" fmla="*/ 18 w 235"/>
                <a:gd name="T63" fmla="*/ 18 h 151"/>
                <a:gd name="T64" fmla="*/ 12 w 235"/>
                <a:gd name="T65" fmla="*/ 30 h 151"/>
                <a:gd name="T66" fmla="*/ 30 w 235"/>
                <a:gd name="T67" fmla="*/ 42 h 151"/>
                <a:gd name="T68" fmla="*/ 36 w 235"/>
                <a:gd name="T69" fmla="*/ 54 h 151"/>
                <a:gd name="T70" fmla="*/ 42 w 235"/>
                <a:gd name="T71" fmla="*/ 79 h 151"/>
                <a:gd name="T72" fmla="*/ 42 w 235"/>
                <a:gd name="T73" fmla="*/ 91 h 151"/>
                <a:gd name="T74" fmla="*/ 42 w 235"/>
                <a:gd name="T75" fmla="*/ 79 h 151"/>
                <a:gd name="T76" fmla="*/ 36 w 235"/>
                <a:gd name="T77" fmla="*/ 67 h 151"/>
                <a:gd name="T78" fmla="*/ 30 w 235"/>
                <a:gd name="T79" fmla="*/ 54 h 151"/>
                <a:gd name="T80" fmla="*/ 24 w 235"/>
                <a:gd name="T81" fmla="*/ 42 h 151"/>
                <a:gd name="T82" fmla="*/ 12 w 235"/>
                <a:gd name="T83" fmla="*/ 36 h 151"/>
                <a:gd name="T84" fmla="*/ 0 w 235"/>
                <a:gd name="T85" fmla="*/ 36 h 151"/>
                <a:gd name="T86" fmla="*/ 6 w 235"/>
                <a:gd name="T87" fmla="*/ 24 h 151"/>
                <a:gd name="T88" fmla="*/ 6 w 235"/>
                <a:gd name="T89" fmla="*/ 18 h 151"/>
                <a:gd name="T90" fmla="*/ 12 w 235"/>
                <a:gd name="T91" fmla="*/ 6 h 151"/>
                <a:gd name="T92" fmla="*/ 24 w 235"/>
                <a:gd name="T93" fmla="*/ 6 h 151"/>
                <a:gd name="T94" fmla="*/ 36 w 235"/>
                <a:gd name="T95" fmla="*/ 0 h 151"/>
                <a:gd name="T96" fmla="*/ 54 w 235"/>
                <a:gd name="T97" fmla="*/ 0 h 151"/>
                <a:gd name="T98" fmla="*/ 72 w 235"/>
                <a:gd name="T99" fmla="*/ 12 h 151"/>
                <a:gd name="T100" fmla="*/ 84 w 235"/>
                <a:gd name="T101" fmla="*/ 24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35" h="151">
                  <a:moveTo>
                    <a:pt x="84" y="24"/>
                  </a:moveTo>
                  <a:lnTo>
                    <a:pt x="120" y="30"/>
                  </a:lnTo>
                  <a:lnTo>
                    <a:pt x="157" y="42"/>
                  </a:lnTo>
                  <a:lnTo>
                    <a:pt x="175" y="54"/>
                  </a:lnTo>
                  <a:lnTo>
                    <a:pt x="199" y="73"/>
                  </a:lnTo>
                  <a:lnTo>
                    <a:pt x="217" y="91"/>
                  </a:lnTo>
                  <a:lnTo>
                    <a:pt x="235" y="109"/>
                  </a:lnTo>
                  <a:lnTo>
                    <a:pt x="205" y="85"/>
                  </a:lnTo>
                  <a:lnTo>
                    <a:pt x="175" y="67"/>
                  </a:lnTo>
                  <a:lnTo>
                    <a:pt x="157" y="48"/>
                  </a:lnTo>
                  <a:lnTo>
                    <a:pt x="132" y="48"/>
                  </a:lnTo>
                  <a:lnTo>
                    <a:pt x="114" y="42"/>
                  </a:lnTo>
                  <a:lnTo>
                    <a:pt x="102" y="36"/>
                  </a:lnTo>
                  <a:lnTo>
                    <a:pt x="108" y="54"/>
                  </a:lnTo>
                  <a:lnTo>
                    <a:pt x="108" y="73"/>
                  </a:lnTo>
                  <a:lnTo>
                    <a:pt x="114" y="91"/>
                  </a:lnTo>
                  <a:lnTo>
                    <a:pt x="120" y="109"/>
                  </a:lnTo>
                  <a:lnTo>
                    <a:pt x="126" y="127"/>
                  </a:lnTo>
                  <a:lnTo>
                    <a:pt x="132" y="133"/>
                  </a:lnTo>
                  <a:lnTo>
                    <a:pt x="138" y="151"/>
                  </a:lnTo>
                  <a:lnTo>
                    <a:pt x="126" y="133"/>
                  </a:lnTo>
                  <a:lnTo>
                    <a:pt x="120" y="115"/>
                  </a:lnTo>
                  <a:lnTo>
                    <a:pt x="108" y="97"/>
                  </a:lnTo>
                  <a:lnTo>
                    <a:pt x="102" y="85"/>
                  </a:lnTo>
                  <a:lnTo>
                    <a:pt x="96" y="67"/>
                  </a:lnTo>
                  <a:lnTo>
                    <a:pt x="96" y="54"/>
                  </a:lnTo>
                  <a:lnTo>
                    <a:pt x="84" y="42"/>
                  </a:lnTo>
                  <a:lnTo>
                    <a:pt x="78" y="30"/>
                  </a:lnTo>
                  <a:lnTo>
                    <a:pt x="66" y="18"/>
                  </a:lnTo>
                  <a:lnTo>
                    <a:pt x="54" y="12"/>
                  </a:lnTo>
                  <a:lnTo>
                    <a:pt x="36" y="12"/>
                  </a:lnTo>
                  <a:lnTo>
                    <a:pt x="18" y="18"/>
                  </a:lnTo>
                  <a:lnTo>
                    <a:pt x="12" y="30"/>
                  </a:lnTo>
                  <a:lnTo>
                    <a:pt x="30" y="42"/>
                  </a:lnTo>
                  <a:lnTo>
                    <a:pt x="36" y="54"/>
                  </a:lnTo>
                  <a:lnTo>
                    <a:pt x="42" y="79"/>
                  </a:lnTo>
                  <a:lnTo>
                    <a:pt x="42" y="91"/>
                  </a:lnTo>
                  <a:lnTo>
                    <a:pt x="42" y="79"/>
                  </a:lnTo>
                  <a:lnTo>
                    <a:pt x="36" y="67"/>
                  </a:lnTo>
                  <a:lnTo>
                    <a:pt x="30" y="54"/>
                  </a:lnTo>
                  <a:lnTo>
                    <a:pt x="24" y="42"/>
                  </a:lnTo>
                  <a:lnTo>
                    <a:pt x="12" y="36"/>
                  </a:lnTo>
                  <a:lnTo>
                    <a:pt x="0" y="36"/>
                  </a:lnTo>
                  <a:lnTo>
                    <a:pt x="6" y="24"/>
                  </a:lnTo>
                  <a:lnTo>
                    <a:pt x="6" y="18"/>
                  </a:lnTo>
                  <a:lnTo>
                    <a:pt x="12" y="6"/>
                  </a:lnTo>
                  <a:lnTo>
                    <a:pt x="24" y="6"/>
                  </a:lnTo>
                  <a:lnTo>
                    <a:pt x="36" y="0"/>
                  </a:lnTo>
                  <a:lnTo>
                    <a:pt x="54" y="0"/>
                  </a:lnTo>
                  <a:lnTo>
                    <a:pt x="72" y="12"/>
                  </a:lnTo>
                  <a:lnTo>
                    <a:pt x="84" y="24"/>
                  </a:lnTo>
                  <a:close/>
                </a:path>
              </a:pathLst>
            </a:custGeom>
            <a:solidFill>
              <a:srgbClr val="FCA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未知"/>
            <p:cNvSpPr>
              <a:spLocks/>
            </p:cNvSpPr>
            <p:nvPr/>
          </p:nvSpPr>
          <p:spPr bwMode="auto">
            <a:xfrm>
              <a:off x="288" y="468"/>
              <a:ext cx="48" cy="42"/>
            </a:xfrm>
            <a:custGeom>
              <a:avLst/>
              <a:gdLst>
                <a:gd name="T0" fmla="*/ 6 w 48"/>
                <a:gd name="T1" fmla="*/ 42 h 42"/>
                <a:gd name="T2" fmla="*/ 12 w 48"/>
                <a:gd name="T3" fmla="*/ 30 h 42"/>
                <a:gd name="T4" fmla="*/ 12 w 48"/>
                <a:gd name="T5" fmla="*/ 18 h 42"/>
                <a:gd name="T6" fmla="*/ 24 w 48"/>
                <a:gd name="T7" fmla="*/ 12 h 42"/>
                <a:gd name="T8" fmla="*/ 30 w 48"/>
                <a:gd name="T9" fmla="*/ 6 h 42"/>
                <a:gd name="T10" fmla="*/ 48 w 48"/>
                <a:gd name="T11" fmla="*/ 0 h 42"/>
                <a:gd name="T12" fmla="*/ 36 w 48"/>
                <a:gd name="T13" fmla="*/ 0 h 42"/>
                <a:gd name="T14" fmla="*/ 18 w 48"/>
                <a:gd name="T15" fmla="*/ 6 h 42"/>
                <a:gd name="T16" fmla="*/ 6 w 48"/>
                <a:gd name="T17" fmla="*/ 18 h 42"/>
                <a:gd name="T18" fmla="*/ 0 w 48"/>
                <a:gd name="T19" fmla="*/ 30 h 42"/>
                <a:gd name="T20" fmla="*/ 6 w 48"/>
                <a:gd name="T21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8" h="42">
                  <a:moveTo>
                    <a:pt x="6" y="42"/>
                  </a:moveTo>
                  <a:lnTo>
                    <a:pt x="12" y="30"/>
                  </a:lnTo>
                  <a:lnTo>
                    <a:pt x="12" y="18"/>
                  </a:lnTo>
                  <a:lnTo>
                    <a:pt x="24" y="12"/>
                  </a:lnTo>
                  <a:lnTo>
                    <a:pt x="30" y="6"/>
                  </a:lnTo>
                  <a:lnTo>
                    <a:pt x="48" y="0"/>
                  </a:lnTo>
                  <a:lnTo>
                    <a:pt x="36" y="0"/>
                  </a:lnTo>
                  <a:lnTo>
                    <a:pt x="18" y="6"/>
                  </a:lnTo>
                  <a:lnTo>
                    <a:pt x="6" y="18"/>
                  </a:lnTo>
                  <a:lnTo>
                    <a:pt x="0" y="30"/>
                  </a:lnTo>
                  <a:lnTo>
                    <a:pt x="6" y="42"/>
                  </a:lnTo>
                  <a:close/>
                </a:path>
              </a:pathLst>
            </a:custGeom>
            <a:solidFill>
              <a:srgbClr val="FCA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未知"/>
            <p:cNvSpPr>
              <a:spLocks/>
            </p:cNvSpPr>
            <p:nvPr/>
          </p:nvSpPr>
          <p:spPr bwMode="auto">
            <a:xfrm>
              <a:off x="264" y="438"/>
              <a:ext cx="18" cy="48"/>
            </a:xfrm>
            <a:custGeom>
              <a:avLst/>
              <a:gdLst>
                <a:gd name="T0" fmla="*/ 0 w 18"/>
                <a:gd name="T1" fmla="*/ 48 h 48"/>
                <a:gd name="T2" fmla="*/ 0 w 18"/>
                <a:gd name="T3" fmla="*/ 36 h 48"/>
                <a:gd name="T4" fmla="*/ 0 w 18"/>
                <a:gd name="T5" fmla="*/ 24 h 48"/>
                <a:gd name="T6" fmla="*/ 12 w 18"/>
                <a:gd name="T7" fmla="*/ 18 h 48"/>
                <a:gd name="T8" fmla="*/ 18 w 18"/>
                <a:gd name="T9" fmla="*/ 6 h 48"/>
                <a:gd name="T10" fmla="*/ 12 w 18"/>
                <a:gd name="T11" fmla="*/ 0 h 48"/>
                <a:gd name="T12" fmla="*/ 0 w 18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48">
                  <a:moveTo>
                    <a:pt x="0" y="48"/>
                  </a:moveTo>
                  <a:lnTo>
                    <a:pt x="0" y="36"/>
                  </a:lnTo>
                  <a:lnTo>
                    <a:pt x="0" y="24"/>
                  </a:lnTo>
                  <a:lnTo>
                    <a:pt x="12" y="18"/>
                  </a:lnTo>
                  <a:lnTo>
                    <a:pt x="18" y="6"/>
                  </a:lnTo>
                  <a:lnTo>
                    <a:pt x="12" y="0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FCA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未知"/>
            <p:cNvSpPr>
              <a:spLocks/>
            </p:cNvSpPr>
            <p:nvPr/>
          </p:nvSpPr>
          <p:spPr bwMode="auto">
            <a:xfrm>
              <a:off x="168" y="444"/>
              <a:ext cx="72" cy="193"/>
            </a:xfrm>
            <a:custGeom>
              <a:avLst/>
              <a:gdLst>
                <a:gd name="T0" fmla="*/ 30 w 72"/>
                <a:gd name="T1" fmla="*/ 193 h 193"/>
                <a:gd name="T2" fmla="*/ 36 w 72"/>
                <a:gd name="T3" fmla="*/ 169 h 193"/>
                <a:gd name="T4" fmla="*/ 30 w 72"/>
                <a:gd name="T5" fmla="*/ 139 h 193"/>
                <a:gd name="T6" fmla="*/ 30 w 72"/>
                <a:gd name="T7" fmla="*/ 102 h 193"/>
                <a:gd name="T8" fmla="*/ 30 w 72"/>
                <a:gd name="T9" fmla="*/ 66 h 193"/>
                <a:gd name="T10" fmla="*/ 30 w 72"/>
                <a:gd name="T11" fmla="*/ 54 h 193"/>
                <a:gd name="T12" fmla="*/ 36 w 72"/>
                <a:gd name="T13" fmla="*/ 42 h 193"/>
                <a:gd name="T14" fmla="*/ 48 w 72"/>
                <a:gd name="T15" fmla="*/ 36 h 193"/>
                <a:gd name="T16" fmla="*/ 60 w 72"/>
                <a:gd name="T17" fmla="*/ 30 h 193"/>
                <a:gd name="T18" fmla="*/ 66 w 72"/>
                <a:gd name="T19" fmla="*/ 24 h 193"/>
                <a:gd name="T20" fmla="*/ 66 w 72"/>
                <a:gd name="T21" fmla="*/ 12 h 193"/>
                <a:gd name="T22" fmla="*/ 72 w 72"/>
                <a:gd name="T23" fmla="*/ 0 h 193"/>
                <a:gd name="T24" fmla="*/ 60 w 72"/>
                <a:gd name="T25" fmla="*/ 12 h 193"/>
                <a:gd name="T26" fmla="*/ 60 w 72"/>
                <a:gd name="T27" fmla="*/ 24 h 193"/>
                <a:gd name="T28" fmla="*/ 48 w 72"/>
                <a:gd name="T29" fmla="*/ 24 h 193"/>
                <a:gd name="T30" fmla="*/ 36 w 72"/>
                <a:gd name="T31" fmla="*/ 30 h 193"/>
                <a:gd name="T32" fmla="*/ 30 w 72"/>
                <a:gd name="T33" fmla="*/ 36 h 193"/>
                <a:gd name="T34" fmla="*/ 24 w 72"/>
                <a:gd name="T35" fmla="*/ 42 h 193"/>
                <a:gd name="T36" fmla="*/ 12 w 72"/>
                <a:gd name="T37" fmla="*/ 36 h 193"/>
                <a:gd name="T38" fmla="*/ 6 w 72"/>
                <a:gd name="T39" fmla="*/ 24 h 193"/>
                <a:gd name="T40" fmla="*/ 6 w 72"/>
                <a:gd name="T41" fmla="*/ 12 h 193"/>
                <a:gd name="T42" fmla="*/ 0 w 72"/>
                <a:gd name="T43" fmla="*/ 6 h 193"/>
                <a:gd name="T44" fmla="*/ 0 w 72"/>
                <a:gd name="T45" fmla="*/ 18 h 193"/>
                <a:gd name="T46" fmla="*/ 0 w 72"/>
                <a:gd name="T47" fmla="*/ 36 h 193"/>
                <a:gd name="T48" fmla="*/ 0 w 72"/>
                <a:gd name="T49" fmla="*/ 48 h 193"/>
                <a:gd name="T50" fmla="*/ 6 w 72"/>
                <a:gd name="T51" fmla="*/ 60 h 193"/>
                <a:gd name="T52" fmla="*/ 0 w 72"/>
                <a:gd name="T53" fmla="*/ 72 h 193"/>
                <a:gd name="T54" fmla="*/ 6 w 72"/>
                <a:gd name="T55" fmla="*/ 90 h 193"/>
                <a:gd name="T56" fmla="*/ 12 w 72"/>
                <a:gd name="T57" fmla="*/ 102 h 193"/>
                <a:gd name="T58" fmla="*/ 12 w 72"/>
                <a:gd name="T59" fmla="*/ 115 h 193"/>
                <a:gd name="T60" fmla="*/ 18 w 72"/>
                <a:gd name="T61" fmla="*/ 127 h 193"/>
                <a:gd name="T62" fmla="*/ 18 w 72"/>
                <a:gd name="T63" fmla="*/ 139 h 193"/>
                <a:gd name="T64" fmla="*/ 12 w 72"/>
                <a:gd name="T65" fmla="*/ 145 h 193"/>
                <a:gd name="T66" fmla="*/ 0 w 72"/>
                <a:gd name="T67" fmla="*/ 139 h 193"/>
                <a:gd name="T68" fmla="*/ 6 w 72"/>
                <a:gd name="T69" fmla="*/ 151 h 193"/>
                <a:gd name="T70" fmla="*/ 12 w 72"/>
                <a:gd name="T71" fmla="*/ 163 h 193"/>
                <a:gd name="T72" fmla="*/ 12 w 72"/>
                <a:gd name="T73" fmla="*/ 175 h 193"/>
                <a:gd name="T74" fmla="*/ 18 w 72"/>
                <a:gd name="T75" fmla="*/ 187 h 193"/>
                <a:gd name="T76" fmla="*/ 30 w 72"/>
                <a:gd name="T77" fmla="*/ 193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2" h="193">
                  <a:moveTo>
                    <a:pt x="30" y="193"/>
                  </a:moveTo>
                  <a:lnTo>
                    <a:pt x="36" y="169"/>
                  </a:lnTo>
                  <a:lnTo>
                    <a:pt x="30" y="139"/>
                  </a:lnTo>
                  <a:lnTo>
                    <a:pt x="30" y="102"/>
                  </a:lnTo>
                  <a:lnTo>
                    <a:pt x="30" y="66"/>
                  </a:lnTo>
                  <a:lnTo>
                    <a:pt x="30" y="54"/>
                  </a:lnTo>
                  <a:lnTo>
                    <a:pt x="36" y="42"/>
                  </a:lnTo>
                  <a:lnTo>
                    <a:pt x="48" y="36"/>
                  </a:lnTo>
                  <a:lnTo>
                    <a:pt x="60" y="30"/>
                  </a:lnTo>
                  <a:lnTo>
                    <a:pt x="66" y="24"/>
                  </a:lnTo>
                  <a:lnTo>
                    <a:pt x="66" y="12"/>
                  </a:lnTo>
                  <a:lnTo>
                    <a:pt x="72" y="0"/>
                  </a:lnTo>
                  <a:lnTo>
                    <a:pt x="60" y="12"/>
                  </a:lnTo>
                  <a:lnTo>
                    <a:pt x="60" y="24"/>
                  </a:lnTo>
                  <a:lnTo>
                    <a:pt x="48" y="24"/>
                  </a:lnTo>
                  <a:lnTo>
                    <a:pt x="36" y="30"/>
                  </a:lnTo>
                  <a:lnTo>
                    <a:pt x="30" y="36"/>
                  </a:lnTo>
                  <a:lnTo>
                    <a:pt x="24" y="42"/>
                  </a:lnTo>
                  <a:lnTo>
                    <a:pt x="12" y="36"/>
                  </a:lnTo>
                  <a:lnTo>
                    <a:pt x="6" y="24"/>
                  </a:lnTo>
                  <a:lnTo>
                    <a:pt x="6" y="12"/>
                  </a:lnTo>
                  <a:lnTo>
                    <a:pt x="0" y="6"/>
                  </a:lnTo>
                  <a:lnTo>
                    <a:pt x="0" y="18"/>
                  </a:lnTo>
                  <a:lnTo>
                    <a:pt x="0" y="36"/>
                  </a:lnTo>
                  <a:lnTo>
                    <a:pt x="0" y="48"/>
                  </a:lnTo>
                  <a:lnTo>
                    <a:pt x="6" y="60"/>
                  </a:lnTo>
                  <a:lnTo>
                    <a:pt x="0" y="72"/>
                  </a:lnTo>
                  <a:lnTo>
                    <a:pt x="6" y="90"/>
                  </a:lnTo>
                  <a:lnTo>
                    <a:pt x="12" y="102"/>
                  </a:lnTo>
                  <a:lnTo>
                    <a:pt x="12" y="115"/>
                  </a:lnTo>
                  <a:lnTo>
                    <a:pt x="18" y="127"/>
                  </a:lnTo>
                  <a:lnTo>
                    <a:pt x="18" y="139"/>
                  </a:lnTo>
                  <a:lnTo>
                    <a:pt x="12" y="145"/>
                  </a:lnTo>
                  <a:lnTo>
                    <a:pt x="0" y="139"/>
                  </a:lnTo>
                  <a:lnTo>
                    <a:pt x="6" y="151"/>
                  </a:lnTo>
                  <a:lnTo>
                    <a:pt x="12" y="163"/>
                  </a:lnTo>
                  <a:lnTo>
                    <a:pt x="12" y="175"/>
                  </a:lnTo>
                  <a:lnTo>
                    <a:pt x="18" y="187"/>
                  </a:lnTo>
                  <a:lnTo>
                    <a:pt x="30" y="193"/>
                  </a:lnTo>
                  <a:close/>
                </a:path>
              </a:pathLst>
            </a:custGeom>
            <a:solidFill>
              <a:srgbClr val="FCA4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未知"/>
            <p:cNvSpPr>
              <a:spLocks/>
            </p:cNvSpPr>
            <p:nvPr/>
          </p:nvSpPr>
          <p:spPr bwMode="auto">
            <a:xfrm>
              <a:off x="66" y="595"/>
              <a:ext cx="36" cy="36"/>
            </a:xfrm>
            <a:custGeom>
              <a:avLst/>
              <a:gdLst>
                <a:gd name="T0" fmla="*/ 6 w 36"/>
                <a:gd name="T1" fmla="*/ 12 h 36"/>
                <a:gd name="T2" fmla="*/ 12 w 36"/>
                <a:gd name="T3" fmla="*/ 12 h 36"/>
                <a:gd name="T4" fmla="*/ 24 w 36"/>
                <a:gd name="T5" fmla="*/ 12 h 36"/>
                <a:gd name="T6" fmla="*/ 30 w 36"/>
                <a:gd name="T7" fmla="*/ 18 h 36"/>
                <a:gd name="T8" fmla="*/ 36 w 36"/>
                <a:gd name="T9" fmla="*/ 36 h 36"/>
                <a:gd name="T10" fmla="*/ 36 w 36"/>
                <a:gd name="T11" fmla="*/ 24 h 36"/>
                <a:gd name="T12" fmla="*/ 30 w 36"/>
                <a:gd name="T13" fmla="*/ 12 h 36"/>
                <a:gd name="T14" fmla="*/ 24 w 36"/>
                <a:gd name="T15" fmla="*/ 6 h 36"/>
                <a:gd name="T16" fmla="*/ 12 w 36"/>
                <a:gd name="T17" fmla="*/ 0 h 36"/>
                <a:gd name="T18" fmla="*/ 0 w 36"/>
                <a:gd name="T19" fmla="*/ 0 h 36"/>
                <a:gd name="T20" fmla="*/ 6 w 36"/>
                <a:gd name="T21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36">
                  <a:moveTo>
                    <a:pt x="6" y="12"/>
                  </a:moveTo>
                  <a:lnTo>
                    <a:pt x="12" y="12"/>
                  </a:lnTo>
                  <a:lnTo>
                    <a:pt x="24" y="12"/>
                  </a:lnTo>
                  <a:lnTo>
                    <a:pt x="30" y="18"/>
                  </a:lnTo>
                  <a:lnTo>
                    <a:pt x="36" y="36"/>
                  </a:lnTo>
                  <a:lnTo>
                    <a:pt x="36" y="24"/>
                  </a:lnTo>
                  <a:lnTo>
                    <a:pt x="30" y="12"/>
                  </a:lnTo>
                  <a:lnTo>
                    <a:pt x="24" y="6"/>
                  </a:lnTo>
                  <a:lnTo>
                    <a:pt x="12" y="0"/>
                  </a:lnTo>
                  <a:lnTo>
                    <a:pt x="0" y="0"/>
                  </a:lnTo>
                  <a:lnTo>
                    <a:pt x="6" y="12"/>
                  </a:lnTo>
                  <a:close/>
                </a:path>
              </a:pathLst>
            </a:custGeom>
            <a:solidFill>
              <a:srgbClr val="FCA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未知"/>
            <p:cNvSpPr>
              <a:spLocks/>
            </p:cNvSpPr>
            <p:nvPr/>
          </p:nvSpPr>
          <p:spPr bwMode="auto">
            <a:xfrm>
              <a:off x="0" y="222"/>
              <a:ext cx="60" cy="108"/>
            </a:xfrm>
            <a:custGeom>
              <a:avLst/>
              <a:gdLst>
                <a:gd name="T0" fmla="*/ 0 w 60"/>
                <a:gd name="T1" fmla="*/ 42 h 108"/>
                <a:gd name="T2" fmla="*/ 6 w 60"/>
                <a:gd name="T3" fmla="*/ 54 h 108"/>
                <a:gd name="T4" fmla="*/ 12 w 60"/>
                <a:gd name="T5" fmla="*/ 66 h 108"/>
                <a:gd name="T6" fmla="*/ 18 w 60"/>
                <a:gd name="T7" fmla="*/ 72 h 108"/>
                <a:gd name="T8" fmla="*/ 24 w 60"/>
                <a:gd name="T9" fmla="*/ 78 h 108"/>
                <a:gd name="T10" fmla="*/ 30 w 60"/>
                <a:gd name="T11" fmla="*/ 96 h 108"/>
                <a:gd name="T12" fmla="*/ 36 w 60"/>
                <a:gd name="T13" fmla="*/ 108 h 108"/>
                <a:gd name="T14" fmla="*/ 36 w 60"/>
                <a:gd name="T15" fmla="*/ 90 h 108"/>
                <a:gd name="T16" fmla="*/ 30 w 60"/>
                <a:gd name="T17" fmla="*/ 78 h 108"/>
                <a:gd name="T18" fmla="*/ 24 w 60"/>
                <a:gd name="T19" fmla="*/ 66 h 108"/>
                <a:gd name="T20" fmla="*/ 18 w 60"/>
                <a:gd name="T21" fmla="*/ 54 h 108"/>
                <a:gd name="T22" fmla="*/ 30 w 60"/>
                <a:gd name="T23" fmla="*/ 48 h 108"/>
                <a:gd name="T24" fmla="*/ 36 w 60"/>
                <a:gd name="T25" fmla="*/ 42 h 108"/>
                <a:gd name="T26" fmla="*/ 42 w 60"/>
                <a:gd name="T27" fmla="*/ 36 h 108"/>
                <a:gd name="T28" fmla="*/ 54 w 60"/>
                <a:gd name="T29" fmla="*/ 18 h 108"/>
                <a:gd name="T30" fmla="*/ 60 w 60"/>
                <a:gd name="T31" fmla="*/ 0 h 108"/>
                <a:gd name="T32" fmla="*/ 0 w 60"/>
                <a:gd name="T33" fmla="*/ 42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0" h="108">
                  <a:moveTo>
                    <a:pt x="0" y="42"/>
                  </a:moveTo>
                  <a:lnTo>
                    <a:pt x="6" y="54"/>
                  </a:lnTo>
                  <a:lnTo>
                    <a:pt x="12" y="66"/>
                  </a:lnTo>
                  <a:lnTo>
                    <a:pt x="18" y="72"/>
                  </a:lnTo>
                  <a:lnTo>
                    <a:pt x="24" y="78"/>
                  </a:lnTo>
                  <a:lnTo>
                    <a:pt x="30" y="96"/>
                  </a:lnTo>
                  <a:lnTo>
                    <a:pt x="36" y="108"/>
                  </a:lnTo>
                  <a:lnTo>
                    <a:pt x="36" y="90"/>
                  </a:lnTo>
                  <a:lnTo>
                    <a:pt x="30" y="78"/>
                  </a:lnTo>
                  <a:lnTo>
                    <a:pt x="24" y="66"/>
                  </a:lnTo>
                  <a:lnTo>
                    <a:pt x="18" y="54"/>
                  </a:lnTo>
                  <a:lnTo>
                    <a:pt x="30" y="48"/>
                  </a:lnTo>
                  <a:lnTo>
                    <a:pt x="36" y="42"/>
                  </a:lnTo>
                  <a:lnTo>
                    <a:pt x="42" y="36"/>
                  </a:lnTo>
                  <a:lnTo>
                    <a:pt x="54" y="18"/>
                  </a:lnTo>
                  <a:lnTo>
                    <a:pt x="60" y="0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FCA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未知"/>
            <p:cNvSpPr>
              <a:spLocks/>
            </p:cNvSpPr>
            <p:nvPr/>
          </p:nvSpPr>
          <p:spPr bwMode="auto">
            <a:xfrm>
              <a:off x="132" y="769"/>
              <a:ext cx="42" cy="72"/>
            </a:xfrm>
            <a:custGeom>
              <a:avLst/>
              <a:gdLst>
                <a:gd name="T0" fmla="*/ 0 w 42"/>
                <a:gd name="T1" fmla="*/ 6 h 72"/>
                <a:gd name="T2" fmla="*/ 12 w 42"/>
                <a:gd name="T3" fmla="*/ 0 h 72"/>
                <a:gd name="T4" fmla="*/ 18 w 42"/>
                <a:gd name="T5" fmla="*/ 0 h 72"/>
                <a:gd name="T6" fmla="*/ 30 w 42"/>
                <a:gd name="T7" fmla="*/ 0 h 72"/>
                <a:gd name="T8" fmla="*/ 36 w 42"/>
                <a:gd name="T9" fmla="*/ 6 h 72"/>
                <a:gd name="T10" fmla="*/ 42 w 42"/>
                <a:gd name="T11" fmla="*/ 12 h 72"/>
                <a:gd name="T12" fmla="*/ 42 w 42"/>
                <a:gd name="T13" fmla="*/ 24 h 72"/>
                <a:gd name="T14" fmla="*/ 42 w 42"/>
                <a:gd name="T15" fmla="*/ 42 h 72"/>
                <a:gd name="T16" fmla="*/ 42 w 42"/>
                <a:gd name="T17" fmla="*/ 54 h 72"/>
                <a:gd name="T18" fmla="*/ 42 w 42"/>
                <a:gd name="T19" fmla="*/ 60 h 72"/>
                <a:gd name="T20" fmla="*/ 36 w 42"/>
                <a:gd name="T21" fmla="*/ 72 h 72"/>
                <a:gd name="T22" fmla="*/ 30 w 42"/>
                <a:gd name="T23" fmla="*/ 72 h 72"/>
                <a:gd name="T24" fmla="*/ 18 w 42"/>
                <a:gd name="T25" fmla="*/ 72 h 72"/>
                <a:gd name="T26" fmla="*/ 12 w 42"/>
                <a:gd name="T27" fmla="*/ 66 h 72"/>
                <a:gd name="T28" fmla="*/ 12 w 42"/>
                <a:gd name="T29" fmla="*/ 60 h 72"/>
                <a:gd name="T30" fmla="*/ 6 w 42"/>
                <a:gd name="T31" fmla="*/ 42 h 72"/>
                <a:gd name="T32" fmla="*/ 6 w 42"/>
                <a:gd name="T33" fmla="*/ 36 h 72"/>
                <a:gd name="T34" fmla="*/ 6 w 42"/>
                <a:gd name="T35" fmla="*/ 18 h 72"/>
                <a:gd name="T36" fmla="*/ 0 w 42"/>
                <a:gd name="T37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2" h="72">
                  <a:moveTo>
                    <a:pt x="0" y="6"/>
                  </a:moveTo>
                  <a:lnTo>
                    <a:pt x="12" y="0"/>
                  </a:lnTo>
                  <a:lnTo>
                    <a:pt x="18" y="0"/>
                  </a:lnTo>
                  <a:lnTo>
                    <a:pt x="30" y="0"/>
                  </a:lnTo>
                  <a:lnTo>
                    <a:pt x="36" y="6"/>
                  </a:lnTo>
                  <a:lnTo>
                    <a:pt x="42" y="12"/>
                  </a:lnTo>
                  <a:lnTo>
                    <a:pt x="42" y="24"/>
                  </a:lnTo>
                  <a:lnTo>
                    <a:pt x="42" y="42"/>
                  </a:lnTo>
                  <a:lnTo>
                    <a:pt x="42" y="54"/>
                  </a:lnTo>
                  <a:lnTo>
                    <a:pt x="42" y="60"/>
                  </a:lnTo>
                  <a:lnTo>
                    <a:pt x="36" y="72"/>
                  </a:lnTo>
                  <a:lnTo>
                    <a:pt x="30" y="72"/>
                  </a:lnTo>
                  <a:lnTo>
                    <a:pt x="18" y="72"/>
                  </a:lnTo>
                  <a:lnTo>
                    <a:pt x="12" y="66"/>
                  </a:lnTo>
                  <a:lnTo>
                    <a:pt x="12" y="60"/>
                  </a:lnTo>
                  <a:lnTo>
                    <a:pt x="6" y="42"/>
                  </a:lnTo>
                  <a:lnTo>
                    <a:pt x="6" y="36"/>
                  </a:lnTo>
                  <a:lnTo>
                    <a:pt x="6" y="18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CA4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未知"/>
            <p:cNvSpPr>
              <a:spLocks/>
            </p:cNvSpPr>
            <p:nvPr/>
          </p:nvSpPr>
          <p:spPr bwMode="auto">
            <a:xfrm>
              <a:off x="84" y="649"/>
              <a:ext cx="84" cy="60"/>
            </a:xfrm>
            <a:custGeom>
              <a:avLst/>
              <a:gdLst>
                <a:gd name="T0" fmla="*/ 0 w 84"/>
                <a:gd name="T1" fmla="*/ 0 h 60"/>
                <a:gd name="T2" fmla="*/ 0 w 84"/>
                <a:gd name="T3" fmla="*/ 12 h 60"/>
                <a:gd name="T4" fmla="*/ 6 w 84"/>
                <a:gd name="T5" fmla="*/ 18 h 60"/>
                <a:gd name="T6" fmla="*/ 6 w 84"/>
                <a:gd name="T7" fmla="*/ 24 h 60"/>
                <a:gd name="T8" fmla="*/ 12 w 84"/>
                <a:gd name="T9" fmla="*/ 24 h 60"/>
                <a:gd name="T10" fmla="*/ 18 w 84"/>
                <a:gd name="T11" fmla="*/ 30 h 60"/>
                <a:gd name="T12" fmla="*/ 12 w 84"/>
                <a:gd name="T13" fmla="*/ 30 h 60"/>
                <a:gd name="T14" fmla="*/ 12 w 84"/>
                <a:gd name="T15" fmla="*/ 36 h 60"/>
                <a:gd name="T16" fmla="*/ 18 w 84"/>
                <a:gd name="T17" fmla="*/ 42 h 60"/>
                <a:gd name="T18" fmla="*/ 18 w 84"/>
                <a:gd name="T19" fmla="*/ 48 h 60"/>
                <a:gd name="T20" fmla="*/ 18 w 84"/>
                <a:gd name="T21" fmla="*/ 54 h 60"/>
                <a:gd name="T22" fmla="*/ 24 w 84"/>
                <a:gd name="T23" fmla="*/ 60 h 60"/>
                <a:gd name="T24" fmla="*/ 30 w 84"/>
                <a:gd name="T25" fmla="*/ 54 h 60"/>
                <a:gd name="T26" fmla="*/ 36 w 84"/>
                <a:gd name="T27" fmla="*/ 48 h 60"/>
                <a:gd name="T28" fmla="*/ 42 w 84"/>
                <a:gd name="T29" fmla="*/ 42 h 60"/>
                <a:gd name="T30" fmla="*/ 54 w 84"/>
                <a:gd name="T31" fmla="*/ 42 h 60"/>
                <a:gd name="T32" fmla="*/ 60 w 84"/>
                <a:gd name="T33" fmla="*/ 42 h 60"/>
                <a:gd name="T34" fmla="*/ 72 w 84"/>
                <a:gd name="T35" fmla="*/ 48 h 60"/>
                <a:gd name="T36" fmla="*/ 60 w 84"/>
                <a:gd name="T37" fmla="*/ 42 h 60"/>
                <a:gd name="T38" fmla="*/ 48 w 84"/>
                <a:gd name="T39" fmla="*/ 36 h 60"/>
                <a:gd name="T40" fmla="*/ 36 w 84"/>
                <a:gd name="T41" fmla="*/ 36 h 60"/>
                <a:gd name="T42" fmla="*/ 30 w 84"/>
                <a:gd name="T43" fmla="*/ 42 h 60"/>
                <a:gd name="T44" fmla="*/ 24 w 84"/>
                <a:gd name="T45" fmla="*/ 48 h 60"/>
                <a:gd name="T46" fmla="*/ 18 w 84"/>
                <a:gd name="T47" fmla="*/ 42 h 60"/>
                <a:gd name="T48" fmla="*/ 24 w 84"/>
                <a:gd name="T49" fmla="*/ 36 h 60"/>
                <a:gd name="T50" fmla="*/ 30 w 84"/>
                <a:gd name="T51" fmla="*/ 30 h 60"/>
                <a:gd name="T52" fmla="*/ 36 w 84"/>
                <a:gd name="T53" fmla="*/ 30 h 60"/>
                <a:gd name="T54" fmla="*/ 42 w 84"/>
                <a:gd name="T55" fmla="*/ 30 h 60"/>
                <a:gd name="T56" fmla="*/ 36 w 84"/>
                <a:gd name="T57" fmla="*/ 24 h 60"/>
                <a:gd name="T58" fmla="*/ 24 w 84"/>
                <a:gd name="T59" fmla="*/ 24 h 60"/>
                <a:gd name="T60" fmla="*/ 18 w 84"/>
                <a:gd name="T61" fmla="*/ 30 h 60"/>
                <a:gd name="T62" fmla="*/ 18 w 84"/>
                <a:gd name="T63" fmla="*/ 24 h 60"/>
                <a:gd name="T64" fmla="*/ 30 w 84"/>
                <a:gd name="T65" fmla="*/ 18 h 60"/>
                <a:gd name="T66" fmla="*/ 42 w 84"/>
                <a:gd name="T67" fmla="*/ 18 h 60"/>
                <a:gd name="T68" fmla="*/ 54 w 84"/>
                <a:gd name="T69" fmla="*/ 18 h 60"/>
                <a:gd name="T70" fmla="*/ 72 w 84"/>
                <a:gd name="T71" fmla="*/ 18 h 60"/>
                <a:gd name="T72" fmla="*/ 84 w 84"/>
                <a:gd name="T73" fmla="*/ 24 h 60"/>
                <a:gd name="T74" fmla="*/ 72 w 84"/>
                <a:gd name="T75" fmla="*/ 18 h 60"/>
                <a:gd name="T76" fmla="*/ 54 w 84"/>
                <a:gd name="T77" fmla="*/ 12 h 60"/>
                <a:gd name="T78" fmla="*/ 48 w 84"/>
                <a:gd name="T79" fmla="*/ 12 h 60"/>
                <a:gd name="T80" fmla="*/ 36 w 84"/>
                <a:gd name="T81" fmla="*/ 12 h 60"/>
                <a:gd name="T82" fmla="*/ 24 w 84"/>
                <a:gd name="T83" fmla="*/ 12 h 60"/>
                <a:gd name="T84" fmla="*/ 12 w 84"/>
                <a:gd name="T85" fmla="*/ 12 h 60"/>
                <a:gd name="T86" fmla="*/ 6 w 84"/>
                <a:gd name="T87" fmla="*/ 6 h 60"/>
                <a:gd name="T88" fmla="*/ 0 w 84"/>
                <a:gd name="T89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4" h="60">
                  <a:moveTo>
                    <a:pt x="0" y="0"/>
                  </a:moveTo>
                  <a:lnTo>
                    <a:pt x="0" y="12"/>
                  </a:lnTo>
                  <a:lnTo>
                    <a:pt x="6" y="18"/>
                  </a:lnTo>
                  <a:lnTo>
                    <a:pt x="6" y="24"/>
                  </a:lnTo>
                  <a:lnTo>
                    <a:pt x="12" y="24"/>
                  </a:lnTo>
                  <a:lnTo>
                    <a:pt x="18" y="30"/>
                  </a:lnTo>
                  <a:lnTo>
                    <a:pt x="12" y="30"/>
                  </a:lnTo>
                  <a:lnTo>
                    <a:pt x="12" y="36"/>
                  </a:lnTo>
                  <a:lnTo>
                    <a:pt x="18" y="42"/>
                  </a:lnTo>
                  <a:lnTo>
                    <a:pt x="18" y="48"/>
                  </a:lnTo>
                  <a:lnTo>
                    <a:pt x="18" y="54"/>
                  </a:lnTo>
                  <a:lnTo>
                    <a:pt x="24" y="60"/>
                  </a:lnTo>
                  <a:lnTo>
                    <a:pt x="30" y="54"/>
                  </a:lnTo>
                  <a:lnTo>
                    <a:pt x="36" y="48"/>
                  </a:lnTo>
                  <a:lnTo>
                    <a:pt x="42" y="42"/>
                  </a:lnTo>
                  <a:lnTo>
                    <a:pt x="54" y="42"/>
                  </a:lnTo>
                  <a:lnTo>
                    <a:pt x="60" y="42"/>
                  </a:lnTo>
                  <a:lnTo>
                    <a:pt x="72" y="48"/>
                  </a:lnTo>
                  <a:lnTo>
                    <a:pt x="60" y="42"/>
                  </a:lnTo>
                  <a:lnTo>
                    <a:pt x="48" y="36"/>
                  </a:lnTo>
                  <a:lnTo>
                    <a:pt x="36" y="36"/>
                  </a:lnTo>
                  <a:lnTo>
                    <a:pt x="30" y="42"/>
                  </a:lnTo>
                  <a:lnTo>
                    <a:pt x="24" y="48"/>
                  </a:lnTo>
                  <a:lnTo>
                    <a:pt x="18" y="42"/>
                  </a:lnTo>
                  <a:lnTo>
                    <a:pt x="24" y="36"/>
                  </a:lnTo>
                  <a:lnTo>
                    <a:pt x="30" y="30"/>
                  </a:lnTo>
                  <a:lnTo>
                    <a:pt x="36" y="30"/>
                  </a:lnTo>
                  <a:lnTo>
                    <a:pt x="42" y="30"/>
                  </a:lnTo>
                  <a:lnTo>
                    <a:pt x="36" y="24"/>
                  </a:lnTo>
                  <a:lnTo>
                    <a:pt x="24" y="24"/>
                  </a:lnTo>
                  <a:lnTo>
                    <a:pt x="18" y="30"/>
                  </a:lnTo>
                  <a:lnTo>
                    <a:pt x="18" y="24"/>
                  </a:lnTo>
                  <a:lnTo>
                    <a:pt x="30" y="18"/>
                  </a:lnTo>
                  <a:lnTo>
                    <a:pt x="42" y="18"/>
                  </a:lnTo>
                  <a:lnTo>
                    <a:pt x="54" y="18"/>
                  </a:lnTo>
                  <a:lnTo>
                    <a:pt x="72" y="18"/>
                  </a:lnTo>
                  <a:lnTo>
                    <a:pt x="84" y="24"/>
                  </a:lnTo>
                  <a:lnTo>
                    <a:pt x="72" y="18"/>
                  </a:lnTo>
                  <a:lnTo>
                    <a:pt x="54" y="12"/>
                  </a:lnTo>
                  <a:lnTo>
                    <a:pt x="48" y="12"/>
                  </a:lnTo>
                  <a:lnTo>
                    <a:pt x="36" y="12"/>
                  </a:lnTo>
                  <a:lnTo>
                    <a:pt x="24" y="12"/>
                  </a:lnTo>
                  <a:lnTo>
                    <a:pt x="12" y="12"/>
                  </a:lnTo>
                  <a:lnTo>
                    <a:pt x="6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CA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未知"/>
            <p:cNvSpPr>
              <a:spLocks/>
            </p:cNvSpPr>
            <p:nvPr/>
          </p:nvSpPr>
          <p:spPr bwMode="auto">
            <a:xfrm>
              <a:off x="120" y="733"/>
              <a:ext cx="24" cy="18"/>
            </a:xfrm>
            <a:custGeom>
              <a:avLst/>
              <a:gdLst>
                <a:gd name="T0" fmla="*/ 0 w 24"/>
                <a:gd name="T1" fmla="*/ 0 h 18"/>
                <a:gd name="T2" fmla="*/ 0 w 24"/>
                <a:gd name="T3" fmla="*/ 6 h 18"/>
                <a:gd name="T4" fmla="*/ 6 w 24"/>
                <a:gd name="T5" fmla="*/ 12 h 18"/>
                <a:gd name="T6" fmla="*/ 6 w 24"/>
                <a:gd name="T7" fmla="*/ 18 h 18"/>
                <a:gd name="T8" fmla="*/ 12 w 24"/>
                <a:gd name="T9" fmla="*/ 18 h 18"/>
                <a:gd name="T10" fmla="*/ 18 w 24"/>
                <a:gd name="T11" fmla="*/ 12 h 18"/>
                <a:gd name="T12" fmla="*/ 24 w 24"/>
                <a:gd name="T13" fmla="*/ 12 h 18"/>
                <a:gd name="T14" fmla="*/ 18 w 24"/>
                <a:gd name="T15" fmla="*/ 12 h 18"/>
                <a:gd name="T16" fmla="*/ 12 w 24"/>
                <a:gd name="T17" fmla="*/ 12 h 18"/>
                <a:gd name="T18" fmla="*/ 0 w 24"/>
                <a:gd name="T1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18">
                  <a:moveTo>
                    <a:pt x="0" y="0"/>
                  </a:moveTo>
                  <a:lnTo>
                    <a:pt x="0" y="6"/>
                  </a:lnTo>
                  <a:lnTo>
                    <a:pt x="6" y="12"/>
                  </a:lnTo>
                  <a:lnTo>
                    <a:pt x="6" y="18"/>
                  </a:lnTo>
                  <a:lnTo>
                    <a:pt x="12" y="18"/>
                  </a:lnTo>
                  <a:lnTo>
                    <a:pt x="18" y="12"/>
                  </a:lnTo>
                  <a:lnTo>
                    <a:pt x="24" y="12"/>
                  </a:lnTo>
                  <a:lnTo>
                    <a:pt x="18" y="12"/>
                  </a:lnTo>
                  <a:lnTo>
                    <a:pt x="12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CA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2" name="Group 19"/>
          <p:cNvGrpSpPr>
            <a:grpSpLocks/>
          </p:cNvGrpSpPr>
          <p:nvPr/>
        </p:nvGrpSpPr>
        <p:grpSpPr bwMode="auto">
          <a:xfrm>
            <a:off x="827088" y="4221163"/>
            <a:ext cx="685800" cy="762000"/>
            <a:chOff x="0" y="0"/>
            <a:chExt cx="649" cy="841"/>
          </a:xfrm>
        </p:grpSpPr>
        <p:sp>
          <p:nvSpPr>
            <p:cNvPr id="33" name="未知"/>
            <p:cNvSpPr>
              <a:spLocks/>
            </p:cNvSpPr>
            <p:nvPr/>
          </p:nvSpPr>
          <p:spPr bwMode="auto">
            <a:xfrm>
              <a:off x="0" y="0"/>
              <a:ext cx="649" cy="841"/>
            </a:xfrm>
            <a:custGeom>
              <a:avLst/>
              <a:gdLst>
                <a:gd name="T0" fmla="*/ 150 w 649"/>
                <a:gd name="T1" fmla="*/ 6 h 841"/>
                <a:gd name="T2" fmla="*/ 204 w 649"/>
                <a:gd name="T3" fmla="*/ 6 h 841"/>
                <a:gd name="T4" fmla="*/ 282 w 649"/>
                <a:gd name="T5" fmla="*/ 18 h 841"/>
                <a:gd name="T6" fmla="*/ 385 w 649"/>
                <a:gd name="T7" fmla="*/ 54 h 841"/>
                <a:gd name="T8" fmla="*/ 529 w 649"/>
                <a:gd name="T9" fmla="*/ 114 h 841"/>
                <a:gd name="T10" fmla="*/ 565 w 649"/>
                <a:gd name="T11" fmla="*/ 144 h 841"/>
                <a:gd name="T12" fmla="*/ 619 w 649"/>
                <a:gd name="T13" fmla="*/ 240 h 841"/>
                <a:gd name="T14" fmla="*/ 649 w 649"/>
                <a:gd name="T15" fmla="*/ 300 h 841"/>
                <a:gd name="T16" fmla="*/ 619 w 649"/>
                <a:gd name="T17" fmla="*/ 342 h 841"/>
                <a:gd name="T18" fmla="*/ 619 w 649"/>
                <a:gd name="T19" fmla="*/ 372 h 841"/>
                <a:gd name="T20" fmla="*/ 643 w 649"/>
                <a:gd name="T21" fmla="*/ 420 h 841"/>
                <a:gd name="T22" fmla="*/ 637 w 649"/>
                <a:gd name="T23" fmla="*/ 462 h 841"/>
                <a:gd name="T24" fmla="*/ 595 w 649"/>
                <a:gd name="T25" fmla="*/ 492 h 841"/>
                <a:gd name="T26" fmla="*/ 607 w 649"/>
                <a:gd name="T27" fmla="*/ 528 h 841"/>
                <a:gd name="T28" fmla="*/ 589 w 649"/>
                <a:gd name="T29" fmla="*/ 577 h 841"/>
                <a:gd name="T30" fmla="*/ 529 w 649"/>
                <a:gd name="T31" fmla="*/ 595 h 841"/>
                <a:gd name="T32" fmla="*/ 505 w 649"/>
                <a:gd name="T33" fmla="*/ 631 h 841"/>
                <a:gd name="T34" fmla="*/ 457 w 649"/>
                <a:gd name="T35" fmla="*/ 649 h 841"/>
                <a:gd name="T36" fmla="*/ 360 w 649"/>
                <a:gd name="T37" fmla="*/ 655 h 841"/>
                <a:gd name="T38" fmla="*/ 300 w 649"/>
                <a:gd name="T39" fmla="*/ 637 h 841"/>
                <a:gd name="T40" fmla="*/ 258 w 649"/>
                <a:gd name="T41" fmla="*/ 589 h 841"/>
                <a:gd name="T42" fmla="*/ 222 w 649"/>
                <a:gd name="T43" fmla="*/ 528 h 841"/>
                <a:gd name="T44" fmla="*/ 240 w 649"/>
                <a:gd name="T45" fmla="*/ 504 h 841"/>
                <a:gd name="T46" fmla="*/ 276 w 649"/>
                <a:gd name="T47" fmla="*/ 498 h 841"/>
                <a:gd name="T48" fmla="*/ 306 w 649"/>
                <a:gd name="T49" fmla="*/ 522 h 841"/>
                <a:gd name="T50" fmla="*/ 282 w 649"/>
                <a:gd name="T51" fmla="*/ 498 h 841"/>
                <a:gd name="T52" fmla="*/ 270 w 649"/>
                <a:gd name="T53" fmla="*/ 492 h 841"/>
                <a:gd name="T54" fmla="*/ 246 w 649"/>
                <a:gd name="T55" fmla="*/ 474 h 841"/>
                <a:gd name="T56" fmla="*/ 204 w 649"/>
                <a:gd name="T57" fmla="*/ 486 h 841"/>
                <a:gd name="T58" fmla="*/ 198 w 649"/>
                <a:gd name="T59" fmla="*/ 516 h 841"/>
                <a:gd name="T60" fmla="*/ 204 w 649"/>
                <a:gd name="T61" fmla="*/ 607 h 841"/>
                <a:gd name="T62" fmla="*/ 228 w 649"/>
                <a:gd name="T63" fmla="*/ 703 h 841"/>
                <a:gd name="T64" fmla="*/ 228 w 649"/>
                <a:gd name="T65" fmla="*/ 793 h 841"/>
                <a:gd name="T66" fmla="*/ 204 w 649"/>
                <a:gd name="T67" fmla="*/ 829 h 841"/>
                <a:gd name="T68" fmla="*/ 150 w 649"/>
                <a:gd name="T69" fmla="*/ 835 h 841"/>
                <a:gd name="T70" fmla="*/ 132 w 649"/>
                <a:gd name="T71" fmla="*/ 775 h 841"/>
                <a:gd name="T72" fmla="*/ 108 w 649"/>
                <a:gd name="T73" fmla="*/ 709 h 841"/>
                <a:gd name="T74" fmla="*/ 96 w 649"/>
                <a:gd name="T75" fmla="*/ 685 h 841"/>
                <a:gd name="T76" fmla="*/ 84 w 649"/>
                <a:gd name="T77" fmla="*/ 655 h 841"/>
                <a:gd name="T78" fmla="*/ 48 w 649"/>
                <a:gd name="T79" fmla="*/ 522 h 841"/>
                <a:gd name="T80" fmla="*/ 18 w 649"/>
                <a:gd name="T81" fmla="*/ 366 h 841"/>
                <a:gd name="T82" fmla="*/ 0 w 649"/>
                <a:gd name="T83" fmla="*/ 270 h 8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49" h="841">
                  <a:moveTo>
                    <a:pt x="108" y="0"/>
                  </a:moveTo>
                  <a:lnTo>
                    <a:pt x="132" y="6"/>
                  </a:lnTo>
                  <a:lnTo>
                    <a:pt x="150" y="6"/>
                  </a:lnTo>
                  <a:lnTo>
                    <a:pt x="168" y="12"/>
                  </a:lnTo>
                  <a:lnTo>
                    <a:pt x="180" y="12"/>
                  </a:lnTo>
                  <a:lnTo>
                    <a:pt x="204" y="6"/>
                  </a:lnTo>
                  <a:lnTo>
                    <a:pt x="228" y="6"/>
                  </a:lnTo>
                  <a:lnTo>
                    <a:pt x="252" y="12"/>
                  </a:lnTo>
                  <a:lnTo>
                    <a:pt x="282" y="18"/>
                  </a:lnTo>
                  <a:lnTo>
                    <a:pt x="312" y="24"/>
                  </a:lnTo>
                  <a:lnTo>
                    <a:pt x="342" y="36"/>
                  </a:lnTo>
                  <a:lnTo>
                    <a:pt x="385" y="54"/>
                  </a:lnTo>
                  <a:lnTo>
                    <a:pt x="427" y="72"/>
                  </a:lnTo>
                  <a:lnTo>
                    <a:pt x="481" y="96"/>
                  </a:lnTo>
                  <a:lnTo>
                    <a:pt x="529" y="114"/>
                  </a:lnTo>
                  <a:lnTo>
                    <a:pt x="547" y="120"/>
                  </a:lnTo>
                  <a:lnTo>
                    <a:pt x="559" y="132"/>
                  </a:lnTo>
                  <a:lnTo>
                    <a:pt x="565" y="144"/>
                  </a:lnTo>
                  <a:lnTo>
                    <a:pt x="577" y="162"/>
                  </a:lnTo>
                  <a:lnTo>
                    <a:pt x="595" y="192"/>
                  </a:lnTo>
                  <a:lnTo>
                    <a:pt x="619" y="240"/>
                  </a:lnTo>
                  <a:lnTo>
                    <a:pt x="637" y="264"/>
                  </a:lnTo>
                  <a:lnTo>
                    <a:pt x="643" y="288"/>
                  </a:lnTo>
                  <a:lnTo>
                    <a:pt x="649" y="300"/>
                  </a:lnTo>
                  <a:lnTo>
                    <a:pt x="643" y="318"/>
                  </a:lnTo>
                  <a:lnTo>
                    <a:pt x="631" y="336"/>
                  </a:lnTo>
                  <a:lnTo>
                    <a:pt x="619" y="342"/>
                  </a:lnTo>
                  <a:lnTo>
                    <a:pt x="613" y="348"/>
                  </a:lnTo>
                  <a:lnTo>
                    <a:pt x="613" y="360"/>
                  </a:lnTo>
                  <a:lnTo>
                    <a:pt x="619" y="372"/>
                  </a:lnTo>
                  <a:lnTo>
                    <a:pt x="625" y="384"/>
                  </a:lnTo>
                  <a:lnTo>
                    <a:pt x="637" y="402"/>
                  </a:lnTo>
                  <a:lnTo>
                    <a:pt x="643" y="420"/>
                  </a:lnTo>
                  <a:lnTo>
                    <a:pt x="643" y="432"/>
                  </a:lnTo>
                  <a:lnTo>
                    <a:pt x="643" y="450"/>
                  </a:lnTo>
                  <a:lnTo>
                    <a:pt x="637" y="462"/>
                  </a:lnTo>
                  <a:lnTo>
                    <a:pt x="625" y="474"/>
                  </a:lnTo>
                  <a:lnTo>
                    <a:pt x="607" y="486"/>
                  </a:lnTo>
                  <a:lnTo>
                    <a:pt x="595" y="492"/>
                  </a:lnTo>
                  <a:lnTo>
                    <a:pt x="595" y="504"/>
                  </a:lnTo>
                  <a:lnTo>
                    <a:pt x="601" y="516"/>
                  </a:lnTo>
                  <a:lnTo>
                    <a:pt x="607" y="528"/>
                  </a:lnTo>
                  <a:lnTo>
                    <a:pt x="601" y="546"/>
                  </a:lnTo>
                  <a:lnTo>
                    <a:pt x="601" y="565"/>
                  </a:lnTo>
                  <a:lnTo>
                    <a:pt x="589" y="577"/>
                  </a:lnTo>
                  <a:lnTo>
                    <a:pt x="577" y="583"/>
                  </a:lnTo>
                  <a:lnTo>
                    <a:pt x="553" y="589"/>
                  </a:lnTo>
                  <a:lnTo>
                    <a:pt x="529" y="595"/>
                  </a:lnTo>
                  <a:lnTo>
                    <a:pt x="517" y="595"/>
                  </a:lnTo>
                  <a:lnTo>
                    <a:pt x="511" y="619"/>
                  </a:lnTo>
                  <a:lnTo>
                    <a:pt x="505" y="631"/>
                  </a:lnTo>
                  <a:lnTo>
                    <a:pt x="493" y="643"/>
                  </a:lnTo>
                  <a:lnTo>
                    <a:pt x="475" y="649"/>
                  </a:lnTo>
                  <a:lnTo>
                    <a:pt x="457" y="649"/>
                  </a:lnTo>
                  <a:lnTo>
                    <a:pt x="433" y="649"/>
                  </a:lnTo>
                  <a:lnTo>
                    <a:pt x="403" y="655"/>
                  </a:lnTo>
                  <a:lnTo>
                    <a:pt x="360" y="655"/>
                  </a:lnTo>
                  <a:lnTo>
                    <a:pt x="342" y="655"/>
                  </a:lnTo>
                  <a:lnTo>
                    <a:pt x="324" y="649"/>
                  </a:lnTo>
                  <a:lnTo>
                    <a:pt x="300" y="637"/>
                  </a:lnTo>
                  <a:lnTo>
                    <a:pt x="282" y="625"/>
                  </a:lnTo>
                  <a:lnTo>
                    <a:pt x="270" y="607"/>
                  </a:lnTo>
                  <a:lnTo>
                    <a:pt x="258" y="589"/>
                  </a:lnTo>
                  <a:lnTo>
                    <a:pt x="240" y="565"/>
                  </a:lnTo>
                  <a:lnTo>
                    <a:pt x="228" y="540"/>
                  </a:lnTo>
                  <a:lnTo>
                    <a:pt x="222" y="528"/>
                  </a:lnTo>
                  <a:lnTo>
                    <a:pt x="228" y="522"/>
                  </a:lnTo>
                  <a:lnTo>
                    <a:pt x="234" y="510"/>
                  </a:lnTo>
                  <a:lnTo>
                    <a:pt x="240" y="504"/>
                  </a:lnTo>
                  <a:lnTo>
                    <a:pt x="252" y="498"/>
                  </a:lnTo>
                  <a:lnTo>
                    <a:pt x="264" y="498"/>
                  </a:lnTo>
                  <a:lnTo>
                    <a:pt x="276" y="498"/>
                  </a:lnTo>
                  <a:lnTo>
                    <a:pt x="288" y="510"/>
                  </a:lnTo>
                  <a:lnTo>
                    <a:pt x="300" y="516"/>
                  </a:lnTo>
                  <a:lnTo>
                    <a:pt x="306" y="522"/>
                  </a:lnTo>
                  <a:lnTo>
                    <a:pt x="318" y="528"/>
                  </a:lnTo>
                  <a:lnTo>
                    <a:pt x="306" y="516"/>
                  </a:lnTo>
                  <a:lnTo>
                    <a:pt x="282" y="498"/>
                  </a:lnTo>
                  <a:lnTo>
                    <a:pt x="288" y="492"/>
                  </a:lnTo>
                  <a:lnTo>
                    <a:pt x="282" y="492"/>
                  </a:lnTo>
                  <a:lnTo>
                    <a:pt x="270" y="492"/>
                  </a:lnTo>
                  <a:lnTo>
                    <a:pt x="264" y="486"/>
                  </a:lnTo>
                  <a:lnTo>
                    <a:pt x="252" y="480"/>
                  </a:lnTo>
                  <a:lnTo>
                    <a:pt x="246" y="474"/>
                  </a:lnTo>
                  <a:lnTo>
                    <a:pt x="228" y="474"/>
                  </a:lnTo>
                  <a:lnTo>
                    <a:pt x="216" y="474"/>
                  </a:lnTo>
                  <a:lnTo>
                    <a:pt x="204" y="486"/>
                  </a:lnTo>
                  <a:lnTo>
                    <a:pt x="198" y="492"/>
                  </a:lnTo>
                  <a:lnTo>
                    <a:pt x="198" y="504"/>
                  </a:lnTo>
                  <a:lnTo>
                    <a:pt x="198" y="516"/>
                  </a:lnTo>
                  <a:lnTo>
                    <a:pt x="198" y="546"/>
                  </a:lnTo>
                  <a:lnTo>
                    <a:pt x="198" y="577"/>
                  </a:lnTo>
                  <a:lnTo>
                    <a:pt x="204" y="607"/>
                  </a:lnTo>
                  <a:lnTo>
                    <a:pt x="204" y="637"/>
                  </a:lnTo>
                  <a:lnTo>
                    <a:pt x="216" y="679"/>
                  </a:lnTo>
                  <a:lnTo>
                    <a:pt x="228" y="703"/>
                  </a:lnTo>
                  <a:lnTo>
                    <a:pt x="234" y="721"/>
                  </a:lnTo>
                  <a:lnTo>
                    <a:pt x="234" y="763"/>
                  </a:lnTo>
                  <a:lnTo>
                    <a:pt x="228" y="793"/>
                  </a:lnTo>
                  <a:lnTo>
                    <a:pt x="222" y="811"/>
                  </a:lnTo>
                  <a:lnTo>
                    <a:pt x="216" y="823"/>
                  </a:lnTo>
                  <a:lnTo>
                    <a:pt x="204" y="829"/>
                  </a:lnTo>
                  <a:lnTo>
                    <a:pt x="186" y="835"/>
                  </a:lnTo>
                  <a:lnTo>
                    <a:pt x="168" y="841"/>
                  </a:lnTo>
                  <a:lnTo>
                    <a:pt x="150" y="835"/>
                  </a:lnTo>
                  <a:lnTo>
                    <a:pt x="144" y="829"/>
                  </a:lnTo>
                  <a:lnTo>
                    <a:pt x="138" y="787"/>
                  </a:lnTo>
                  <a:lnTo>
                    <a:pt x="132" y="775"/>
                  </a:lnTo>
                  <a:lnTo>
                    <a:pt x="132" y="769"/>
                  </a:lnTo>
                  <a:lnTo>
                    <a:pt x="126" y="745"/>
                  </a:lnTo>
                  <a:lnTo>
                    <a:pt x="108" y="709"/>
                  </a:lnTo>
                  <a:lnTo>
                    <a:pt x="102" y="697"/>
                  </a:lnTo>
                  <a:lnTo>
                    <a:pt x="102" y="685"/>
                  </a:lnTo>
                  <a:lnTo>
                    <a:pt x="96" y="685"/>
                  </a:lnTo>
                  <a:lnTo>
                    <a:pt x="96" y="679"/>
                  </a:lnTo>
                  <a:lnTo>
                    <a:pt x="96" y="673"/>
                  </a:lnTo>
                  <a:lnTo>
                    <a:pt x="84" y="655"/>
                  </a:lnTo>
                  <a:lnTo>
                    <a:pt x="78" y="613"/>
                  </a:lnTo>
                  <a:lnTo>
                    <a:pt x="60" y="571"/>
                  </a:lnTo>
                  <a:lnTo>
                    <a:pt x="48" y="522"/>
                  </a:lnTo>
                  <a:lnTo>
                    <a:pt x="30" y="468"/>
                  </a:lnTo>
                  <a:lnTo>
                    <a:pt x="24" y="426"/>
                  </a:lnTo>
                  <a:lnTo>
                    <a:pt x="18" y="366"/>
                  </a:lnTo>
                  <a:lnTo>
                    <a:pt x="18" y="306"/>
                  </a:lnTo>
                  <a:lnTo>
                    <a:pt x="18" y="300"/>
                  </a:lnTo>
                  <a:lnTo>
                    <a:pt x="0" y="270"/>
                  </a:lnTo>
                  <a:lnTo>
                    <a:pt x="72" y="204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rgbClr val="FFBD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未知"/>
            <p:cNvSpPr>
              <a:spLocks/>
            </p:cNvSpPr>
            <p:nvPr/>
          </p:nvSpPr>
          <p:spPr bwMode="auto">
            <a:xfrm>
              <a:off x="102" y="0"/>
              <a:ext cx="445" cy="132"/>
            </a:xfrm>
            <a:custGeom>
              <a:avLst/>
              <a:gdLst>
                <a:gd name="T0" fmla="*/ 24 w 445"/>
                <a:gd name="T1" fmla="*/ 0 h 132"/>
                <a:gd name="T2" fmla="*/ 42 w 445"/>
                <a:gd name="T3" fmla="*/ 6 h 132"/>
                <a:gd name="T4" fmla="*/ 60 w 445"/>
                <a:gd name="T5" fmla="*/ 6 h 132"/>
                <a:gd name="T6" fmla="*/ 72 w 445"/>
                <a:gd name="T7" fmla="*/ 12 h 132"/>
                <a:gd name="T8" fmla="*/ 90 w 445"/>
                <a:gd name="T9" fmla="*/ 6 h 132"/>
                <a:gd name="T10" fmla="*/ 102 w 445"/>
                <a:gd name="T11" fmla="*/ 6 h 132"/>
                <a:gd name="T12" fmla="*/ 120 w 445"/>
                <a:gd name="T13" fmla="*/ 6 h 132"/>
                <a:gd name="T14" fmla="*/ 144 w 445"/>
                <a:gd name="T15" fmla="*/ 6 h 132"/>
                <a:gd name="T16" fmla="*/ 174 w 445"/>
                <a:gd name="T17" fmla="*/ 18 h 132"/>
                <a:gd name="T18" fmla="*/ 210 w 445"/>
                <a:gd name="T19" fmla="*/ 24 h 132"/>
                <a:gd name="T20" fmla="*/ 246 w 445"/>
                <a:gd name="T21" fmla="*/ 36 h 132"/>
                <a:gd name="T22" fmla="*/ 289 w 445"/>
                <a:gd name="T23" fmla="*/ 54 h 132"/>
                <a:gd name="T24" fmla="*/ 337 w 445"/>
                <a:gd name="T25" fmla="*/ 72 h 132"/>
                <a:gd name="T26" fmla="*/ 379 w 445"/>
                <a:gd name="T27" fmla="*/ 96 h 132"/>
                <a:gd name="T28" fmla="*/ 409 w 445"/>
                <a:gd name="T29" fmla="*/ 108 h 132"/>
                <a:gd name="T30" fmla="*/ 427 w 445"/>
                <a:gd name="T31" fmla="*/ 114 h 132"/>
                <a:gd name="T32" fmla="*/ 445 w 445"/>
                <a:gd name="T33" fmla="*/ 126 h 132"/>
                <a:gd name="T34" fmla="*/ 433 w 445"/>
                <a:gd name="T35" fmla="*/ 120 h 132"/>
                <a:gd name="T36" fmla="*/ 421 w 445"/>
                <a:gd name="T37" fmla="*/ 120 h 132"/>
                <a:gd name="T38" fmla="*/ 409 w 445"/>
                <a:gd name="T39" fmla="*/ 126 h 132"/>
                <a:gd name="T40" fmla="*/ 403 w 445"/>
                <a:gd name="T41" fmla="*/ 126 h 132"/>
                <a:gd name="T42" fmla="*/ 385 w 445"/>
                <a:gd name="T43" fmla="*/ 120 h 132"/>
                <a:gd name="T44" fmla="*/ 367 w 445"/>
                <a:gd name="T45" fmla="*/ 108 h 132"/>
                <a:gd name="T46" fmla="*/ 349 w 445"/>
                <a:gd name="T47" fmla="*/ 96 h 132"/>
                <a:gd name="T48" fmla="*/ 325 w 445"/>
                <a:gd name="T49" fmla="*/ 84 h 132"/>
                <a:gd name="T50" fmla="*/ 301 w 445"/>
                <a:gd name="T51" fmla="*/ 72 h 132"/>
                <a:gd name="T52" fmla="*/ 271 w 445"/>
                <a:gd name="T53" fmla="*/ 60 h 132"/>
                <a:gd name="T54" fmla="*/ 246 w 445"/>
                <a:gd name="T55" fmla="*/ 54 h 132"/>
                <a:gd name="T56" fmla="*/ 222 w 445"/>
                <a:gd name="T57" fmla="*/ 42 h 132"/>
                <a:gd name="T58" fmla="*/ 204 w 445"/>
                <a:gd name="T59" fmla="*/ 36 h 132"/>
                <a:gd name="T60" fmla="*/ 186 w 445"/>
                <a:gd name="T61" fmla="*/ 36 h 132"/>
                <a:gd name="T62" fmla="*/ 174 w 445"/>
                <a:gd name="T63" fmla="*/ 30 h 132"/>
                <a:gd name="T64" fmla="*/ 150 w 445"/>
                <a:gd name="T65" fmla="*/ 30 h 132"/>
                <a:gd name="T66" fmla="*/ 126 w 445"/>
                <a:gd name="T67" fmla="*/ 30 h 132"/>
                <a:gd name="T68" fmla="*/ 102 w 445"/>
                <a:gd name="T69" fmla="*/ 30 h 132"/>
                <a:gd name="T70" fmla="*/ 84 w 445"/>
                <a:gd name="T71" fmla="*/ 36 h 132"/>
                <a:gd name="T72" fmla="*/ 66 w 445"/>
                <a:gd name="T73" fmla="*/ 42 h 132"/>
                <a:gd name="T74" fmla="*/ 54 w 445"/>
                <a:gd name="T75" fmla="*/ 60 h 132"/>
                <a:gd name="T76" fmla="*/ 42 w 445"/>
                <a:gd name="T77" fmla="*/ 72 h 132"/>
                <a:gd name="T78" fmla="*/ 30 w 445"/>
                <a:gd name="T79" fmla="*/ 90 h 132"/>
                <a:gd name="T80" fmla="*/ 18 w 445"/>
                <a:gd name="T81" fmla="*/ 108 h 132"/>
                <a:gd name="T82" fmla="*/ 12 w 445"/>
                <a:gd name="T83" fmla="*/ 120 h 132"/>
                <a:gd name="T84" fmla="*/ 0 w 445"/>
                <a:gd name="T85" fmla="*/ 132 h 132"/>
                <a:gd name="T86" fmla="*/ 24 w 445"/>
                <a:gd name="T87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45" h="132">
                  <a:moveTo>
                    <a:pt x="24" y="0"/>
                  </a:moveTo>
                  <a:lnTo>
                    <a:pt x="42" y="6"/>
                  </a:lnTo>
                  <a:lnTo>
                    <a:pt x="60" y="6"/>
                  </a:lnTo>
                  <a:lnTo>
                    <a:pt x="72" y="12"/>
                  </a:lnTo>
                  <a:lnTo>
                    <a:pt x="90" y="6"/>
                  </a:lnTo>
                  <a:lnTo>
                    <a:pt x="102" y="6"/>
                  </a:lnTo>
                  <a:lnTo>
                    <a:pt x="120" y="6"/>
                  </a:lnTo>
                  <a:lnTo>
                    <a:pt x="144" y="6"/>
                  </a:lnTo>
                  <a:lnTo>
                    <a:pt x="174" y="18"/>
                  </a:lnTo>
                  <a:lnTo>
                    <a:pt x="210" y="24"/>
                  </a:lnTo>
                  <a:lnTo>
                    <a:pt x="246" y="36"/>
                  </a:lnTo>
                  <a:lnTo>
                    <a:pt x="289" y="54"/>
                  </a:lnTo>
                  <a:lnTo>
                    <a:pt x="337" y="72"/>
                  </a:lnTo>
                  <a:lnTo>
                    <a:pt x="379" y="96"/>
                  </a:lnTo>
                  <a:lnTo>
                    <a:pt x="409" y="108"/>
                  </a:lnTo>
                  <a:lnTo>
                    <a:pt x="427" y="114"/>
                  </a:lnTo>
                  <a:lnTo>
                    <a:pt x="445" y="126"/>
                  </a:lnTo>
                  <a:lnTo>
                    <a:pt x="433" y="120"/>
                  </a:lnTo>
                  <a:lnTo>
                    <a:pt x="421" y="120"/>
                  </a:lnTo>
                  <a:lnTo>
                    <a:pt x="409" y="126"/>
                  </a:lnTo>
                  <a:lnTo>
                    <a:pt x="403" y="126"/>
                  </a:lnTo>
                  <a:lnTo>
                    <a:pt x="385" y="120"/>
                  </a:lnTo>
                  <a:lnTo>
                    <a:pt x="367" y="108"/>
                  </a:lnTo>
                  <a:lnTo>
                    <a:pt x="349" y="96"/>
                  </a:lnTo>
                  <a:lnTo>
                    <a:pt x="325" y="84"/>
                  </a:lnTo>
                  <a:lnTo>
                    <a:pt x="301" y="72"/>
                  </a:lnTo>
                  <a:lnTo>
                    <a:pt x="271" y="60"/>
                  </a:lnTo>
                  <a:lnTo>
                    <a:pt x="246" y="54"/>
                  </a:lnTo>
                  <a:lnTo>
                    <a:pt x="222" y="42"/>
                  </a:lnTo>
                  <a:lnTo>
                    <a:pt x="204" y="36"/>
                  </a:lnTo>
                  <a:lnTo>
                    <a:pt x="186" y="36"/>
                  </a:lnTo>
                  <a:lnTo>
                    <a:pt x="174" y="30"/>
                  </a:lnTo>
                  <a:lnTo>
                    <a:pt x="150" y="30"/>
                  </a:lnTo>
                  <a:lnTo>
                    <a:pt x="126" y="30"/>
                  </a:lnTo>
                  <a:lnTo>
                    <a:pt x="102" y="30"/>
                  </a:lnTo>
                  <a:lnTo>
                    <a:pt x="84" y="36"/>
                  </a:lnTo>
                  <a:lnTo>
                    <a:pt x="66" y="42"/>
                  </a:lnTo>
                  <a:lnTo>
                    <a:pt x="54" y="60"/>
                  </a:lnTo>
                  <a:lnTo>
                    <a:pt x="42" y="72"/>
                  </a:lnTo>
                  <a:lnTo>
                    <a:pt x="30" y="90"/>
                  </a:lnTo>
                  <a:lnTo>
                    <a:pt x="18" y="108"/>
                  </a:lnTo>
                  <a:lnTo>
                    <a:pt x="12" y="120"/>
                  </a:lnTo>
                  <a:lnTo>
                    <a:pt x="0" y="132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FCA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未知"/>
            <p:cNvSpPr>
              <a:spLocks/>
            </p:cNvSpPr>
            <p:nvPr/>
          </p:nvSpPr>
          <p:spPr bwMode="auto">
            <a:xfrm>
              <a:off x="529" y="234"/>
              <a:ext cx="96" cy="114"/>
            </a:xfrm>
            <a:custGeom>
              <a:avLst/>
              <a:gdLst>
                <a:gd name="T0" fmla="*/ 90 w 96"/>
                <a:gd name="T1" fmla="*/ 108 h 114"/>
                <a:gd name="T2" fmla="*/ 96 w 96"/>
                <a:gd name="T3" fmla="*/ 96 h 114"/>
                <a:gd name="T4" fmla="*/ 96 w 96"/>
                <a:gd name="T5" fmla="*/ 84 h 114"/>
                <a:gd name="T6" fmla="*/ 90 w 96"/>
                <a:gd name="T7" fmla="*/ 66 h 114"/>
                <a:gd name="T8" fmla="*/ 78 w 96"/>
                <a:gd name="T9" fmla="*/ 54 h 114"/>
                <a:gd name="T10" fmla="*/ 66 w 96"/>
                <a:gd name="T11" fmla="*/ 36 h 114"/>
                <a:gd name="T12" fmla="*/ 42 w 96"/>
                <a:gd name="T13" fmla="*/ 24 h 114"/>
                <a:gd name="T14" fmla="*/ 24 w 96"/>
                <a:gd name="T15" fmla="*/ 12 h 114"/>
                <a:gd name="T16" fmla="*/ 0 w 96"/>
                <a:gd name="T17" fmla="*/ 0 h 114"/>
                <a:gd name="T18" fmla="*/ 24 w 96"/>
                <a:gd name="T19" fmla="*/ 18 h 114"/>
                <a:gd name="T20" fmla="*/ 30 w 96"/>
                <a:gd name="T21" fmla="*/ 24 h 114"/>
                <a:gd name="T22" fmla="*/ 42 w 96"/>
                <a:gd name="T23" fmla="*/ 30 h 114"/>
                <a:gd name="T24" fmla="*/ 54 w 96"/>
                <a:gd name="T25" fmla="*/ 42 h 114"/>
                <a:gd name="T26" fmla="*/ 60 w 96"/>
                <a:gd name="T27" fmla="*/ 48 h 114"/>
                <a:gd name="T28" fmla="*/ 72 w 96"/>
                <a:gd name="T29" fmla="*/ 60 h 114"/>
                <a:gd name="T30" fmla="*/ 78 w 96"/>
                <a:gd name="T31" fmla="*/ 72 h 114"/>
                <a:gd name="T32" fmla="*/ 84 w 96"/>
                <a:gd name="T33" fmla="*/ 90 h 114"/>
                <a:gd name="T34" fmla="*/ 84 w 96"/>
                <a:gd name="T35" fmla="*/ 102 h 114"/>
                <a:gd name="T36" fmla="*/ 84 w 96"/>
                <a:gd name="T37" fmla="*/ 114 h 114"/>
                <a:gd name="T38" fmla="*/ 90 w 96"/>
                <a:gd name="T39" fmla="*/ 108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6" h="114">
                  <a:moveTo>
                    <a:pt x="90" y="108"/>
                  </a:moveTo>
                  <a:lnTo>
                    <a:pt x="96" y="96"/>
                  </a:lnTo>
                  <a:lnTo>
                    <a:pt x="96" y="84"/>
                  </a:lnTo>
                  <a:lnTo>
                    <a:pt x="90" y="66"/>
                  </a:lnTo>
                  <a:lnTo>
                    <a:pt x="78" y="54"/>
                  </a:lnTo>
                  <a:lnTo>
                    <a:pt x="66" y="36"/>
                  </a:lnTo>
                  <a:lnTo>
                    <a:pt x="42" y="24"/>
                  </a:lnTo>
                  <a:lnTo>
                    <a:pt x="24" y="12"/>
                  </a:lnTo>
                  <a:lnTo>
                    <a:pt x="0" y="0"/>
                  </a:lnTo>
                  <a:lnTo>
                    <a:pt x="24" y="18"/>
                  </a:lnTo>
                  <a:lnTo>
                    <a:pt x="30" y="24"/>
                  </a:lnTo>
                  <a:lnTo>
                    <a:pt x="42" y="30"/>
                  </a:lnTo>
                  <a:lnTo>
                    <a:pt x="54" y="42"/>
                  </a:lnTo>
                  <a:lnTo>
                    <a:pt x="60" y="48"/>
                  </a:lnTo>
                  <a:lnTo>
                    <a:pt x="72" y="60"/>
                  </a:lnTo>
                  <a:lnTo>
                    <a:pt x="78" y="72"/>
                  </a:lnTo>
                  <a:lnTo>
                    <a:pt x="84" y="90"/>
                  </a:lnTo>
                  <a:lnTo>
                    <a:pt x="84" y="102"/>
                  </a:lnTo>
                  <a:lnTo>
                    <a:pt x="84" y="114"/>
                  </a:lnTo>
                  <a:lnTo>
                    <a:pt x="90" y="108"/>
                  </a:lnTo>
                  <a:close/>
                </a:path>
              </a:pathLst>
            </a:custGeom>
            <a:solidFill>
              <a:srgbClr val="FCA4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未知"/>
            <p:cNvSpPr>
              <a:spLocks/>
            </p:cNvSpPr>
            <p:nvPr/>
          </p:nvSpPr>
          <p:spPr bwMode="auto">
            <a:xfrm>
              <a:off x="493" y="354"/>
              <a:ext cx="114" cy="138"/>
            </a:xfrm>
            <a:custGeom>
              <a:avLst/>
              <a:gdLst>
                <a:gd name="T0" fmla="*/ 108 w 114"/>
                <a:gd name="T1" fmla="*/ 132 h 138"/>
                <a:gd name="T2" fmla="*/ 114 w 114"/>
                <a:gd name="T3" fmla="*/ 114 h 138"/>
                <a:gd name="T4" fmla="*/ 108 w 114"/>
                <a:gd name="T5" fmla="*/ 96 h 138"/>
                <a:gd name="T6" fmla="*/ 108 w 114"/>
                <a:gd name="T7" fmla="*/ 84 h 138"/>
                <a:gd name="T8" fmla="*/ 96 w 114"/>
                <a:gd name="T9" fmla="*/ 66 h 138"/>
                <a:gd name="T10" fmla="*/ 90 w 114"/>
                <a:gd name="T11" fmla="*/ 54 h 138"/>
                <a:gd name="T12" fmla="*/ 72 w 114"/>
                <a:gd name="T13" fmla="*/ 42 h 138"/>
                <a:gd name="T14" fmla="*/ 54 w 114"/>
                <a:gd name="T15" fmla="*/ 30 h 138"/>
                <a:gd name="T16" fmla="*/ 30 w 114"/>
                <a:gd name="T17" fmla="*/ 18 h 138"/>
                <a:gd name="T18" fmla="*/ 0 w 114"/>
                <a:gd name="T19" fmla="*/ 0 h 138"/>
                <a:gd name="T20" fmla="*/ 18 w 114"/>
                <a:gd name="T21" fmla="*/ 12 h 138"/>
                <a:gd name="T22" fmla="*/ 30 w 114"/>
                <a:gd name="T23" fmla="*/ 24 h 138"/>
                <a:gd name="T24" fmla="*/ 48 w 114"/>
                <a:gd name="T25" fmla="*/ 36 h 138"/>
                <a:gd name="T26" fmla="*/ 60 w 114"/>
                <a:gd name="T27" fmla="*/ 48 h 138"/>
                <a:gd name="T28" fmla="*/ 72 w 114"/>
                <a:gd name="T29" fmla="*/ 60 h 138"/>
                <a:gd name="T30" fmla="*/ 84 w 114"/>
                <a:gd name="T31" fmla="*/ 78 h 138"/>
                <a:gd name="T32" fmla="*/ 90 w 114"/>
                <a:gd name="T33" fmla="*/ 96 h 138"/>
                <a:gd name="T34" fmla="*/ 96 w 114"/>
                <a:gd name="T35" fmla="*/ 120 h 138"/>
                <a:gd name="T36" fmla="*/ 102 w 114"/>
                <a:gd name="T37" fmla="*/ 138 h 138"/>
                <a:gd name="T38" fmla="*/ 108 w 114"/>
                <a:gd name="T39" fmla="*/ 13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4" h="138">
                  <a:moveTo>
                    <a:pt x="108" y="132"/>
                  </a:moveTo>
                  <a:lnTo>
                    <a:pt x="114" y="114"/>
                  </a:lnTo>
                  <a:lnTo>
                    <a:pt x="108" y="96"/>
                  </a:lnTo>
                  <a:lnTo>
                    <a:pt x="108" y="84"/>
                  </a:lnTo>
                  <a:lnTo>
                    <a:pt x="96" y="66"/>
                  </a:lnTo>
                  <a:lnTo>
                    <a:pt x="90" y="54"/>
                  </a:lnTo>
                  <a:lnTo>
                    <a:pt x="72" y="42"/>
                  </a:lnTo>
                  <a:lnTo>
                    <a:pt x="54" y="30"/>
                  </a:lnTo>
                  <a:lnTo>
                    <a:pt x="30" y="18"/>
                  </a:lnTo>
                  <a:lnTo>
                    <a:pt x="0" y="0"/>
                  </a:lnTo>
                  <a:lnTo>
                    <a:pt x="18" y="12"/>
                  </a:lnTo>
                  <a:lnTo>
                    <a:pt x="30" y="24"/>
                  </a:lnTo>
                  <a:lnTo>
                    <a:pt x="48" y="36"/>
                  </a:lnTo>
                  <a:lnTo>
                    <a:pt x="60" y="48"/>
                  </a:lnTo>
                  <a:lnTo>
                    <a:pt x="72" y="60"/>
                  </a:lnTo>
                  <a:lnTo>
                    <a:pt x="84" y="78"/>
                  </a:lnTo>
                  <a:lnTo>
                    <a:pt x="90" y="96"/>
                  </a:lnTo>
                  <a:lnTo>
                    <a:pt x="96" y="120"/>
                  </a:lnTo>
                  <a:lnTo>
                    <a:pt x="102" y="138"/>
                  </a:lnTo>
                  <a:lnTo>
                    <a:pt x="108" y="132"/>
                  </a:lnTo>
                  <a:close/>
                </a:path>
              </a:pathLst>
            </a:custGeom>
            <a:solidFill>
              <a:srgbClr val="FCA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未知"/>
            <p:cNvSpPr>
              <a:spLocks/>
            </p:cNvSpPr>
            <p:nvPr/>
          </p:nvSpPr>
          <p:spPr bwMode="auto">
            <a:xfrm>
              <a:off x="439" y="492"/>
              <a:ext cx="90" cy="103"/>
            </a:xfrm>
            <a:custGeom>
              <a:avLst/>
              <a:gdLst>
                <a:gd name="T0" fmla="*/ 0 w 90"/>
                <a:gd name="T1" fmla="*/ 0 h 103"/>
                <a:gd name="T2" fmla="*/ 24 w 90"/>
                <a:gd name="T3" fmla="*/ 12 h 103"/>
                <a:gd name="T4" fmla="*/ 48 w 90"/>
                <a:gd name="T5" fmla="*/ 24 h 103"/>
                <a:gd name="T6" fmla="*/ 66 w 90"/>
                <a:gd name="T7" fmla="*/ 36 h 103"/>
                <a:gd name="T8" fmla="*/ 78 w 90"/>
                <a:gd name="T9" fmla="*/ 48 h 103"/>
                <a:gd name="T10" fmla="*/ 84 w 90"/>
                <a:gd name="T11" fmla="*/ 67 h 103"/>
                <a:gd name="T12" fmla="*/ 90 w 90"/>
                <a:gd name="T13" fmla="*/ 85 h 103"/>
                <a:gd name="T14" fmla="*/ 90 w 90"/>
                <a:gd name="T15" fmla="*/ 103 h 103"/>
                <a:gd name="T16" fmla="*/ 84 w 90"/>
                <a:gd name="T17" fmla="*/ 103 h 103"/>
                <a:gd name="T18" fmla="*/ 72 w 90"/>
                <a:gd name="T19" fmla="*/ 103 h 103"/>
                <a:gd name="T20" fmla="*/ 72 w 90"/>
                <a:gd name="T21" fmla="*/ 91 h 103"/>
                <a:gd name="T22" fmla="*/ 66 w 90"/>
                <a:gd name="T23" fmla="*/ 73 h 103"/>
                <a:gd name="T24" fmla="*/ 60 w 90"/>
                <a:gd name="T25" fmla="*/ 54 h 103"/>
                <a:gd name="T26" fmla="*/ 48 w 90"/>
                <a:gd name="T27" fmla="*/ 36 h 103"/>
                <a:gd name="T28" fmla="*/ 30 w 90"/>
                <a:gd name="T29" fmla="*/ 24 h 103"/>
                <a:gd name="T30" fmla="*/ 18 w 90"/>
                <a:gd name="T31" fmla="*/ 12 h 103"/>
                <a:gd name="T32" fmla="*/ 0 w 90"/>
                <a:gd name="T33" fmla="*/ 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0" h="103">
                  <a:moveTo>
                    <a:pt x="0" y="0"/>
                  </a:moveTo>
                  <a:lnTo>
                    <a:pt x="24" y="12"/>
                  </a:lnTo>
                  <a:lnTo>
                    <a:pt x="48" y="24"/>
                  </a:lnTo>
                  <a:lnTo>
                    <a:pt x="66" y="36"/>
                  </a:lnTo>
                  <a:lnTo>
                    <a:pt x="78" y="48"/>
                  </a:lnTo>
                  <a:lnTo>
                    <a:pt x="84" y="67"/>
                  </a:lnTo>
                  <a:lnTo>
                    <a:pt x="90" y="85"/>
                  </a:lnTo>
                  <a:lnTo>
                    <a:pt x="90" y="103"/>
                  </a:lnTo>
                  <a:lnTo>
                    <a:pt x="84" y="103"/>
                  </a:lnTo>
                  <a:lnTo>
                    <a:pt x="72" y="103"/>
                  </a:lnTo>
                  <a:lnTo>
                    <a:pt x="72" y="91"/>
                  </a:lnTo>
                  <a:lnTo>
                    <a:pt x="66" y="73"/>
                  </a:lnTo>
                  <a:lnTo>
                    <a:pt x="60" y="54"/>
                  </a:lnTo>
                  <a:lnTo>
                    <a:pt x="48" y="36"/>
                  </a:lnTo>
                  <a:lnTo>
                    <a:pt x="30" y="24"/>
                  </a:lnTo>
                  <a:lnTo>
                    <a:pt x="18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CA4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未知"/>
            <p:cNvSpPr>
              <a:spLocks/>
            </p:cNvSpPr>
            <p:nvPr/>
          </p:nvSpPr>
          <p:spPr bwMode="auto">
            <a:xfrm>
              <a:off x="222" y="498"/>
              <a:ext cx="235" cy="151"/>
            </a:xfrm>
            <a:custGeom>
              <a:avLst/>
              <a:gdLst>
                <a:gd name="T0" fmla="*/ 84 w 235"/>
                <a:gd name="T1" fmla="*/ 24 h 151"/>
                <a:gd name="T2" fmla="*/ 120 w 235"/>
                <a:gd name="T3" fmla="*/ 30 h 151"/>
                <a:gd name="T4" fmla="*/ 157 w 235"/>
                <a:gd name="T5" fmla="*/ 42 h 151"/>
                <a:gd name="T6" fmla="*/ 175 w 235"/>
                <a:gd name="T7" fmla="*/ 54 h 151"/>
                <a:gd name="T8" fmla="*/ 199 w 235"/>
                <a:gd name="T9" fmla="*/ 73 h 151"/>
                <a:gd name="T10" fmla="*/ 217 w 235"/>
                <a:gd name="T11" fmla="*/ 91 h 151"/>
                <a:gd name="T12" fmla="*/ 235 w 235"/>
                <a:gd name="T13" fmla="*/ 109 h 151"/>
                <a:gd name="T14" fmla="*/ 205 w 235"/>
                <a:gd name="T15" fmla="*/ 85 h 151"/>
                <a:gd name="T16" fmla="*/ 175 w 235"/>
                <a:gd name="T17" fmla="*/ 67 h 151"/>
                <a:gd name="T18" fmla="*/ 157 w 235"/>
                <a:gd name="T19" fmla="*/ 48 h 151"/>
                <a:gd name="T20" fmla="*/ 132 w 235"/>
                <a:gd name="T21" fmla="*/ 48 h 151"/>
                <a:gd name="T22" fmla="*/ 114 w 235"/>
                <a:gd name="T23" fmla="*/ 42 h 151"/>
                <a:gd name="T24" fmla="*/ 102 w 235"/>
                <a:gd name="T25" fmla="*/ 36 h 151"/>
                <a:gd name="T26" fmla="*/ 108 w 235"/>
                <a:gd name="T27" fmla="*/ 54 h 151"/>
                <a:gd name="T28" fmla="*/ 108 w 235"/>
                <a:gd name="T29" fmla="*/ 73 h 151"/>
                <a:gd name="T30" fmla="*/ 114 w 235"/>
                <a:gd name="T31" fmla="*/ 91 h 151"/>
                <a:gd name="T32" fmla="*/ 120 w 235"/>
                <a:gd name="T33" fmla="*/ 109 h 151"/>
                <a:gd name="T34" fmla="*/ 126 w 235"/>
                <a:gd name="T35" fmla="*/ 127 h 151"/>
                <a:gd name="T36" fmla="*/ 132 w 235"/>
                <a:gd name="T37" fmla="*/ 133 h 151"/>
                <a:gd name="T38" fmla="*/ 138 w 235"/>
                <a:gd name="T39" fmla="*/ 151 h 151"/>
                <a:gd name="T40" fmla="*/ 126 w 235"/>
                <a:gd name="T41" fmla="*/ 133 h 151"/>
                <a:gd name="T42" fmla="*/ 120 w 235"/>
                <a:gd name="T43" fmla="*/ 115 h 151"/>
                <a:gd name="T44" fmla="*/ 108 w 235"/>
                <a:gd name="T45" fmla="*/ 97 h 151"/>
                <a:gd name="T46" fmla="*/ 102 w 235"/>
                <a:gd name="T47" fmla="*/ 85 h 151"/>
                <a:gd name="T48" fmla="*/ 96 w 235"/>
                <a:gd name="T49" fmla="*/ 67 h 151"/>
                <a:gd name="T50" fmla="*/ 96 w 235"/>
                <a:gd name="T51" fmla="*/ 54 h 151"/>
                <a:gd name="T52" fmla="*/ 84 w 235"/>
                <a:gd name="T53" fmla="*/ 42 h 151"/>
                <a:gd name="T54" fmla="*/ 78 w 235"/>
                <a:gd name="T55" fmla="*/ 30 h 151"/>
                <a:gd name="T56" fmla="*/ 66 w 235"/>
                <a:gd name="T57" fmla="*/ 18 h 151"/>
                <a:gd name="T58" fmla="*/ 54 w 235"/>
                <a:gd name="T59" fmla="*/ 12 h 151"/>
                <a:gd name="T60" fmla="*/ 36 w 235"/>
                <a:gd name="T61" fmla="*/ 12 h 151"/>
                <a:gd name="T62" fmla="*/ 18 w 235"/>
                <a:gd name="T63" fmla="*/ 18 h 151"/>
                <a:gd name="T64" fmla="*/ 12 w 235"/>
                <a:gd name="T65" fmla="*/ 30 h 151"/>
                <a:gd name="T66" fmla="*/ 30 w 235"/>
                <a:gd name="T67" fmla="*/ 42 h 151"/>
                <a:gd name="T68" fmla="*/ 36 w 235"/>
                <a:gd name="T69" fmla="*/ 54 h 151"/>
                <a:gd name="T70" fmla="*/ 42 w 235"/>
                <a:gd name="T71" fmla="*/ 79 h 151"/>
                <a:gd name="T72" fmla="*/ 42 w 235"/>
                <a:gd name="T73" fmla="*/ 91 h 151"/>
                <a:gd name="T74" fmla="*/ 42 w 235"/>
                <a:gd name="T75" fmla="*/ 79 h 151"/>
                <a:gd name="T76" fmla="*/ 36 w 235"/>
                <a:gd name="T77" fmla="*/ 67 h 151"/>
                <a:gd name="T78" fmla="*/ 30 w 235"/>
                <a:gd name="T79" fmla="*/ 54 h 151"/>
                <a:gd name="T80" fmla="*/ 24 w 235"/>
                <a:gd name="T81" fmla="*/ 42 h 151"/>
                <a:gd name="T82" fmla="*/ 12 w 235"/>
                <a:gd name="T83" fmla="*/ 36 h 151"/>
                <a:gd name="T84" fmla="*/ 0 w 235"/>
                <a:gd name="T85" fmla="*/ 36 h 151"/>
                <a:gd name="T86" fmla="*/ 6 w 235"/>
                <a:gd name="T87" fmla="*/ 24 h 151"/>
                <a:gd name="T88" fmla="*/ 6 w 235"/>
                <a:gd name="T89" fmla="*/ 18 h 151"/>
                <a:gd name="T90" fmla="*/ 12 w 235"/>
                <a:gd name="T91" fmla="*/ 6 h 151"/>
                <a:gd name="T92" fmla="*/ 24 w 235"/>
                <a:gd name="T93" fmla="*/ 6 h 151"/>
                <a:gd name="T94" fmla="*/ 36 w 235"/>
                <a:gd name="T95" fmla="*/ 0 h 151"/>
                <a:gd name="T96" fmla="*/ 54 w 235"/>
                <a:gd name="T97" fmla="*/ 0 h 151"/>
                <a:gd name="T98" fmla="*/ 72 w 235"/>
                <a:gd name="T99" fmla="*/ 12 h 151"/>
                <a:gd name="T100" fmla="*/ 84 w 235"/>
                <a:gd name="T101" fmla="*/ 24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35" h="151">
                  <a:moveTo>
                    <a:pt x="84" y="24"/>
                  </a:moveTo>
                  <a:lnTo>
                    <a:pt x="120" y="30"/>
                  </a:lnTo>
                  <a:lnTo>
                    <a:pt x="157" y="42"/>
                  </a:lnTo>
                  <a:lnTo>
                    <a:pt x="175" y="54"/>
                  </a:lnTo>
                  <a:lnTo>
                    <a:pt x="199" y="73"/>
                  </a:lnTo>
                  <a:lnTo>
                    <a:pt x="217" y="91"/>
                  </a:lnTo>
                  <a:lnTo>
                    <a:pt x="235" y="109"/>
                  </a:lnTo>
                  <a:lnTo>
                    <a:pt x="205" y="85"/>
                  </a:lnTo>
                  <a:lnTo>
                    <a:pt x="175" y="67"/>
                  </a:lnTo>
                  <a:lnTo>
                    <a:pt x="157" y="48"/>
                  </a:lnTo>
                  <a:lnTo>
                    <a:pt x="132" y="48"/>
                  </a:lnTo>
                  <a:lnTo>
                    <a:pt x="114" y="42"/>
                  </a:lnTo>
                  <a:lnTo>
                    <a:pt x="102" y="36"/>
                  </a:lnTo>
                  <a:lnTo>
                    <a:pt x="108" y="54"/>
                  </a:lnTo>
                  <a:lnTo>
                    <a:pt x="108" y="73"/>
                  </a:lnTo>
                  <a:lnTo>
                    <a:pt x="114" y="91"/>
                  </a:lnTo>
                  <a:lnTo>
                    <a:pt x="120" y="109"/>
                  </a:lnTo>
                  <a:lnTo>
                    <a:pt x="126" y="127"/>
                  </a:lnTo>
                  <a:lnTo>
                    <a:pt x="132" y="133"/>
                  </a:lnTo>
                  <a:lnTo>
                    <a:pt x="138" y="151"/>
                  </a:lnTo>
                  <a:lnTo>
                    <a:pt x="126" y="133"/>
                  </a:lnTo>
                  <a:lnTo>
                    <a:pt x="120" y="115"/>
                  </a:lnTo>
                  <a:lnTo>
                    <a:pt x="108" y="97"/>
                  </a:lnTo>
                  <a:lnTo>
                    <a:pt x="102" y="85"/>
                  </a:lnTo>
                  <a:lnTo>
                    <a:pt x="96" y="67"/>
                  </a:lnTo>
                  <a:lnTo>
                    <a:pt x="96" y="54"/>
                  </a:lnTo>
                  <a:lnTo>
                    <a:pt x="84" y="42"/>
                  </a:lnTo>
                  <a:lnTo>
                    <a:pt x="78" y="30"/>
                  </a:lnTo>
                  <a:lnTo>
                    <a:pt x="66" y="18"/>
                  </a:lnTo>
                  <a:lnTo>
                    <a:pt x="54" y="12"/>
                  </a:lnTo>
                  <a:lnTo>
                    <a:pt x="36" y="12"/>
                  </a:lnTo>
                  <a:lnTo>
                    <a:pt x="18" y="18"/>
                  </a:lnTo>
                  <a:lnTo>
                    <a:pt x="12" y="30"/>
                  </a:lnTo>
                  <a:lnTo>
                    <a:pt x="30" y="42"/>
                  </a:lnTo>
                  <a:lnTo>
                    <a:pt x="36" y="54"/>
                  </a:lnTo>
                  <a:lnTo>
                    <a:pt x="42" y="79"/>
                  </a:lnTo>
                  <a:lnTo>
                    <a:pt x="42" y="91"/>
                  </a:lnTo>
                  <a:lnTo>
                    <a:pt x="42" y="79"/>
                  </a:lnTo>
                  <a:lnTo>
                    <a:pt x="36" y="67"/>
                  </a:lnTo>
                  <a:lnTo>
                    <a:pt x="30" y="54"/>
                  </a:lnTo>
                  <a:lnTo>
                    <a:pt x="24" y="42"/>
                  </a:lnTo>
                  <a:lnTo>
                    <a:pt x="12" y="36"/>
                  </a:lnTo>
                  <a:lnTo>
                    <a:pt x="0" y="36"/>
                  </a:lnTo>
                  <a:lnTo>
                    <a:pt x="6" y="24"/>
                  </a:lnTo>
                  <a:lnTo>
                    <a:pt x="6" y="18"/>
                  </a:lnTo>
                  <a:lnTo>
                    <a:pt x="12" y="6"/>
                  </a:lnTo>
                  <a:lnTo>
                    <a:pt x="24" y="6"/>
                  </a:lnTo>
                  <a:lnTo>
                    <a:pt x="36" y="0"/>
                  </a:lnTo>
                  <a:lnTo>
                    <a:pt x="54" y="0"/>
                  </a:lnTo>
                  <a:lnTo>
                    <a:pt x="72" y="12"/>
                  </a:lnTo>
                  <a:lnTo>
                    <a:pt x="84" y="24"/>
                  </a:lnTo>
                  <a:close/>
                </a:path>
              </a:pathLst>
            </a:custGeom>
            <a:solidFill>
              <a:srgbClr val="FCA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未知"/>
            <p:cNvSpPr>
              <a:spLocks/>
            </p:cNvSpPr>
            <p:nvPr/>
          </p:nvSpPr>
          <p:spPr bwMode="auto">
            <a:xfrm>
              <a:off x="288" y="468"/>
              <a:ext cx="48" cy="42"/>
            </a:xfrm>
            <a:custGeom>
              <a:avLst/>
              <a:gdLst>
                <a:gd name="T0" fmla="*/ 6 w 48"/>
                <a:gd name="T1" fmla="*/ 42 h 42"/>
                <a:gd name="T2" fmla="*/ 12 w 48"/>
                <a:gd name="T3" fmla="*/ 30 h 42"/>
                <a:gd name="T4" fmla="*/ 12 w 48"/>
                <a:gd name="T5" fmla="*/ 18 h 42"/>
                <a:gd name="T6" fmla="*/ 24 w 48"/>
                <a:gd name="T7" fmla="*/ 12 h 42"/>
                <a:gd name="T8" fmla="*/ 30 w 48"/>
                <a:gd name="T9" fmla="*/ 6 h 42"/>
                <a:gd name="T10" fmla="*/ 48 w 48"/>
                <a:gd name="T11" fmla="*/ 0 h 42"/>
                <a:gd name="T12" fmla="*/ 36 w 48"/>
                <a:gd name="T13" fmla="*/ 0 h 42"/>
                <a:gd name="T14" fmla="*/ 18 w 48"/>
                <a:gd name="T15" fmla="*/ 6 h 42"/>
                <a:gd name="T16" fmla="*/ 6 w 48"/>
                <a:gd name="T17" fmla="*/ 18 h 42"/>
                <a:gd name="T18" fmla="*/ 0 w 48"/>
                <a:gd name="T19" fmla="*/ 30 h 42"/>
                <a:gd name="T20" fmla="*/ 6 w 48"/>
                <a:gd name="T21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8" h="42">
                  <a:moveTo>
                    <a:pt x="6" y="42"/>
                  </a:moveTo>
                  <a:lnTo>
                    <a:pt x="12" y="30"/>
                  </a:lnTo>
                  <a:lnTo>
                    <a:pt x="12" y="18"/>
                  </a:lnTo>
                  <a:lnTo>
                    <a:pt x="24" y="12"/>
                  </a:lnTo>
                  <a:lnTo>
                    <a:pt x="30" y="6"/>
                  </a:lnTo>
                  <a:lnTo>
                    <a:pt x="48" y="0"/>
                  </a:lnTo>
                  <a:lnTo>
                    <a:pt x="36" y="0"/>
                  </a:lnTo>
                  <a:lnTo>
                    <a:pt x="18" y="6"/>
                  </a:lnTo>
                  <a:lnTo>
                    <a:pt x="6" y="18"/>
                  </a:lnTo>
                  <a:lnTo>
                    <a:pt x="0" y="30"/>
                  </a:lnTo>
                  <a:lnTo>
                    <a:pt x="6" y="42"/>
                  </a:lnTo>
                  <a:close/>
                </a:path>
              </a:pathLst>
            </a:custGeom>
            <a:solidFill>
              <a:srgbClr val="FCA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未知"/>
            <p:cNvSpPr>
              <a:spLocks/>
            </p:cNvSpPr>
            <p:nvPr/>
          </p:nvSpPr>
          <p:spPr bwMode="auto">
            <a:xfrm>
              <a:off x="264" y="438"/>
              <a:ext cx="18" cy="48"/>
            </a:xfrm>
            <a:custGeom>
              <a:avLst/>
              <a:gdLst>
                <a:gd name="T0" fmla="*/ 0 w 18"/>
                <a:gd name="T1" fmla="*/ 48 h 48"/>
                <a:gd name="T2" fmla="*/ 0 w 18"/>
                <a:gd name="T3" fmla="*/ 36 h 48"/>
                <a:gd name="T4" fmla="*/ 0 w 18"/>
                <a:gd name="T5" fmla="*/ 24 h 48"/>
                <a:gd name="T6" fmla="*/ 12 w 18"/>
                <a:gd name="T7" fmla="*/ 18 h 48"/>
                <a:gd name="T8" fmla="*/ 18 w 18"/>
                <a:gd name="T9" fmla="*/ 6 h 48"/>
                <a:gd name="T10" fmla="*/ 12 w 18"/>
                <a:gd name="T11" fmla="*/ 0 h 48"/>
                <a:gd name="T12" fmla="*/ 0 w 18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48">
                  <a:moveTo>
                    <a:pt x="0" y="48"/>
                  </a:moveTo>
                  <a:lnTo>
                    <a:pt x="0" y="36"/>
                  </a:lnTo>
                  <a:lnTo>
                    <a:pt x="0" y="24"/>
                  </a:lnTo>
                  <a:lnTo>
                    <a:pt x="12" y="18"/>
                  </a:lnTo>
                  <a:lnTo>
                    <a:pt x="18" y="6"/>
                  </a:lnTo>
                  <a:lnTo>
                    <a:pt x="12" y="0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FCA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未知"/>
            <p:cNvSpPr>
              <a:spLocks/>
            </p:cNvSpPr>
            <p:nvPr/>
          </p:nvSpPr>
          <p:spPr bwMode="auto">
            <a:xfrm>
              <a:off x="168" y="444"/>
              <a:ext cx="72" cy="193"/>
            </a:xfrm>
            <a:custGeom>
              <a:avLst/>
              <a:gdLst>
                <a:gd name="T0" fmla="*/ 30 w 72"/>
                <a:gd name="T1" fmla="*/ 193 h 193"/>
                <a:gd name="T2" fmla="*/ 36 w 72"/>
                <a:gd name="T3" fmla="*/ 169 h 193"/>
                <a:gd name="T4" fmla="*/ 30 w 72"/>
                <a:gd name="T5" fmla="*/ 139 h 193"/>
                <a:gd name="T6" fmla="*/ 30 w 72"/>
                <a:gd name="T7" fmla="*/ 102 h 193"/>
                <a:gd name="T8" fmla="*/ 30 w 72"/>
                <a:gd name="T9" fmla="*/ 66 h 193"/>
                <a:gd name="T10" fmla="*/ 30 w 72"/>
                <a:gd name="T11" fmla="*/ 54 h 193"/>
                <a:gd name="T12" fmla="*/ 36 w 72"/>
                <a:gd name="T13" fmla="*/ 42 h 193"/>
                <a:gd name="T14" fmla="*/ 48 w 72"/>
                <a:gd name="T15" fmla="*/ 36 h 193"/>
                <a:gd name="T16" fmla="*/ 60 w 72"/>
                <a:gd name="T17" fmla="*/ 30 h 193"/>
                <a:gd name="T18" fmla="*/ 66 w 72"/>
                <a:gd name="T19" fmla="*/ 24 h 193"/>
                <a:gd name="T20" fmla="*/ 66 w 72"/>
                <a:gd name="T21" fmla="*/ 12 h 193"/>
                <a:gd name="T22" fmla="*/ 72 w 72"/>
                <a:gd name="T23" fmla="*/ 0 h 193"/>
                <a:gd name="T24" fmla="*/ 60 w 72"/>
                <a:gd name="T25" fmla="*/ 12 h 193"/>
                <a:gd name="T26" fmla="*/ 60 w 72"/>
                <a:gd name="T27" fmla="*/ 24 h 193"/>
                <a:gd name="T28" fmla="*/ 48 w 72"/>
                <a:gd name="T29" fmla="*/ 24 h 193"/>
                <a:gd name="T30" fmla="*/ 36 w 72"/>
                <a:gd name="T31" fmla="*/ 30 h 193"/>
                <a:gd name="T32" fmla="*/ 30 w 72"/>
                <a:gd name="T33" fmla="*/ 36 h 193"/>
                <a:gd name="T34" fmla="*/ 24 w 72"/>
                <a:gd name="T35" fmla="*/ 42 h 193"/>
                <a:gd name="T36" fmla="*/ 12 w 72"/>
                <a:gd name="T37" fmla="*/ 36 h 193"/>
                <a:gd name="T38" fmla="*/ 6 w 72"/>
                <a:gd name="T39" fmla="*/ 24 h 193"/>
                <a:gd name="T40" fmla="*/ 6 w 72"/>
                <a:gd name="T41" fmla="*/ 12 h 193"/>
                <a:gd name="T42" fmla="*/ 0 w 72"/>
                <a:gd name="T43" fmla="*/ 6 h 193"/>
                <a:gd name="T44" fmla="*/ 0 w 72"/>
                <a:gd name="T45" fmla="*/ 18 h 193"/>
                <a:gd name="T46" fmla="*/ 0 w 72"/>
                <a:gd name="T47" fmla="*/ 36 h 193"/>
                <a:gd name="T48" fmla="*/ 0 w 72"/>
                <a:gd name="T49" fmla="*/ 48 h 193"/>
                <a:gd name="T50" fmla="*/ 6 w 72"/>
                <a:gd name="T51" fmla="*/ 60 h 193"/>
                <a:gd name="T52" fmla="*/ 0 w 72"/>
                <a:gd name="T53" fmla="*/ 72 h 193"/>
                <a:gd name="T54" fmla="*/ 6 w 72"/>
                <a:gd name="T55" fmla="*/ 90 h 193"/>
                <a:gd name="T56" fmla="*/ 12 w 72"/>
                <a:gd name="T57" fmla="*/ 102 h 193"/>
                <a:gd name="T58" fmla="*/ 12 w 72"/>
                <a:gd name="T59" fmla="*/ 115 h 193"/>
                <a:gd name="T60" fmla="*/ 18 w 72"/>
                <a:gd name="T61" fmla="*/ 127 h 193"/>
                <a:gd name="T62" fmla="*/ 18 w 72"/>
                <a:gd name="T63" fmla="*/ 139 h 193"/>
                <a:gd name="T64" fmla="*/ 12 w 72"/>
                <a:gd name="T65" fmla="*/ 145 h 193"/>
                <a:gd name="T66" fmla="*/ 0 w 72"/>
                <a:gd name="T67" fmla="*/ 139 h 193"/>
                <a:gd name="T68" fmla="*/ 6 w 72"/>
                <a:gd name="T69" fmla="*/ 151 h 193"/>
                <a:gd name="T70" fmla="*/ 12 w 72"/>
                <a:gd name="T71" fmla="*/ 163 h 193"/>
                <a:gd name="T72" fmla="*/ 12 w 72"/>
                <a:gd name="T73" fmla="*/ 175 h 193"/>
                <a:gd name="T74" fmla="*/ 18 w 72"/>
                <a:gd name="T75" fmla="*/ 187 h 193"/>
                <a:gd name="T76" fmla="*/ 30 w 72"/>
                <a:gd name="T77" fmla="*/ 193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2" h="193">
                  <a:moveTo>
                    <a:pt x="30" y="193"/>
                  </a:moveTo>
                  <a:lnTo>
                    <a:pt x="36" y="169"/>
                  </a:lnTo>
                  <a:lnTo>
                    <a:pt x="30" y="139"/>
                  </a:lnTo>
                  <a:lnTo>
                    <a:pt x="30" y="102"/>
                  </a:lnTo>
                  <a:lnTo>
                    <a:pt x="30" y="66"/>
                  </a:lnTo>
                  <a:lnTo>
                    <a:pt x="30" y="54"/>
                  </a:lnTo>
                  <a:lnTo>
                    <a:pt x="36" y="42"/>
                  </a:lnTo>
                  <a:lnTo>
                    <a:pt x="48" y="36"/>
                  </a:lnTo>
                  <a:lnTo>
                    <a:pt x="60" y="30"/>
                  </a:lnTo>
                  <a:lnTo>
                    <a:pt x="66" y="24"/>
                  </a:lnTo>
                  <a:lnTo>
                    <a:pt x="66" y="12"/>
                  </a:lnTo>
                  <a:lnTo>
                    <a:pt x="72" y="0"/>
                  </a:lnTo>
                  <a:lnTo>
                    <a:pt x="60" y="12"/>
                  </a:lnTo>
                  <a:lnTo>
                    <a:pt x="60" y="24"/>
                  </a:lnTo>
                  <a:lnTo>
                    <a:pt x="48" y="24"/>
                  </a:lnTo>
                  <a:lnTo>
                    <a:pt x="36" y="30"/>
                  </a:lnTo>
                  <a:lnTo>
                    <a:pt x="30" y="36"/>
                  </a:lnTo>
                  <a:lnTo>
                    <a:pt x="24" y="42"/>
                  </a:lnTo>
                  <a:lnTo>
                    <a:pt x="12" y="36"/>
                  </a:lnTo>
                  <a:lnTo>
                    <a:pt x="6" y="24"/>
                  </a:lnTo>
                  <a:lnTo>
                    <a:pt x="6" y="12"/>
                  </a:lnTo>
                  <a:lnTo>
                    <a:pt x="0" y="6"/>
                  </a:lnTo>
                  <a:lnTo>
                    <a:pt x="0" y="18"/>
                  </a:lnTo>
                  <a:lnTo>
                    <a:pt x="0" y="36"/>
                  </a:lnTo>
                  <a:lnTo>
                    <a:pt x="0" y="48"/>
                  </a:lnTo>
                  <a:lnTo>
                    <a:pt x="6" y="60"/>
                  </a:lnTo>
                  <a:lnTo>
                    <a:pt x="0" y="72"/>
                  </a:lnTo>
                  <a:lnTo>
                    <a:pt x="6" y="90"/>
                  </a:lnTo>
                  <a:lnTo>
                    <a:pt x="12" y="102"/>
                  </a:lnTo>
                  <a:lnTo>
                    <a:pt x="12" y="115"/>
                  </a:lnTo>
                  <a:lnTo>
                    <a:pt x="18" y="127"/>
                  </a:lnTo>
                  <a:lnTo>
                    <a:pt x="18" y="139"/>
                  </a:lnTo>
                  <a:lnTo>
                    <a:pt x="12" y="145"/>
                  </a:lnTo>
                  <a:lnTo>
                    <a:pt x="0" y="139"/>
                  </a:lnTo>
                  <a:lnTo>
                    <a:pt x="6" y="151"/>
                  </a:lnTo>
                  <a:lnTo>
                    <a:pt x="12" y="163"/>
                  </a:lnTo>
                  <a:lnTo>
                    <a:pt x="12" y="175"/>
                  </a:lnTo>
                  <a:lnTo>
                    <a:pt x="18" y="187"/>
                  </a:lnTo>
                  <a:lnTo>
                    <a:pt x="30" y="193"/>
                  </a:lnTo>
                  <a:close/>
                </a:path>
              </a:pathLst>
            </a:custGeom>
            <a:solidFill>
              <a:srgbClr val="FCA4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未知"/>
            <p:cNvSpPr>
              <a:spLocks/>
            </p:cNvSpPr>
            <p:nvPr/>
          </p:nvSpPr>
          <p:spPr bwMode="auto">
            <a:xfrm>
              <a:off x="66" y="595"/>
              <a:ext cx="36" cy="36"/>
            </a:xfrm>
            <a:custGeom>
              <a:avLst/>
              <a:gdLst>
                <a:gd name="T0" fmla="*/ 6 w 36"/>
                <a:gd name="T1" fmla="*/ 12 h 36"/>
                <a:gd name="T2" fmla="*/ 12 w 36"/>
                <a:gd name="T3" fmla="*/ 12 h 36"/>
                <a:gd name="T4" fmla="*/ 24 w 36"/>
                <a:gd name="T5" fmla="*/ 12 h 36"/>
                <a:gd name="T6" fmla="*/ 30 w 36"/>
                <a:gd name="T7" fmla="*/ 18 h 36"/>
                <a:gd name="T8" fmla="*/ 36 w 36"/>
                <a:gd name="T9" fmla="*/ 36 h 36"/>
                <a:gd name="T10" fmla="*/ 36 w 36"/>
                <a:gd name="T11" fmla="*/ 24 h 36"/>
                <a:gd name="T12" fmla="*/ 30 w 36"/>
                <a:gd name="T13" fmla="*/ 12 h 36"/>
                <a:gd name="T14" fmla="*/ 24 w 36"/>
                <a:gd name="T15" fmla="*/ 6 h 36"/>
                <a:gd name="T16" fmla="*/ 12 w 36"/>
                <a:gd name="T17" fmla="*/ 0 h 36"/>
                <a:gd name="T18" fmla="*/ 0 w 36"/>
                <a:gd name="T19" fmla="*/ 0 h 36"/>
                <a:gd name="T20" fmla="*/ 6 w 36"/>
                <a:gd name="T21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36">
                  <a:moveTo>
                    <a:pt x="6" y="12"/>
                  </a:moveTo>
                  <a:lnTo>
                    <a:pt x="12" y="12"/>
                  </a:lnTo>
                  <a:lnTo>
                    <a:pt x="24" y="12"/>
                  </a:lnTo>
                  <a:lnTo>
                    <a:pt x="30" y="18"/>
                  </a:lnTo>
                  <a:lnTo>
                    <a:pt x="36" y="36"/>
                  </a:lnTo>
                  <a:lnTo>
                    <a:pt x="36" y="24"/>
                  </a:lnTo>
                  <a:lnTo>
                    <a:pt x="30" y="12"/>
                  </a:lnTo>
                  <a:lnTo>
                    <a:pt x="24" y="6"/>
                  </a:lnTo>
                  <a:lnTo>
                    <a:pt x="12" y="0"/>
                  </a:lnTo>
                  <a:lnTo>
                    <a:pt x="0" y="0"/>
                  </a:lnTo>
                  <a:lnTo>
                    <a:pt x="6" y="12"/>
                  </a:lnTo>
                  <a:close/>
                </a:path>
              </a:pathLst>
            </a:custGeom>
            <a:solidFill>
              <a:srgbClr val="FCA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未知"/>
            <p:cNvSpPr>
              <a:spLocks/>
            </p:cNvSpPr>
            <p:nvPr/>
          </p:nvSpPr>
          <p:spPr bwMode="auto">
            <a:xfrm>
              <a:off x="0" y="222"/>
              <a:ext cx="60" cy="108"/>
            </a:xfrm>
            <a:custGeom>
              <a:avLst/>
              <a:gdLst>
                <a:gd name="T0" fmla="*/ 0 w 60"/>
                <a:gd name="T1" fmla="*/ 42 h 108"/>
                <a:gd name="T2" fmla="*/ 6 w 60"/>
                <a:gd name="T3" fmla="*/ 54 h 108"/>
                <a:gd name="T4" fmla="*/ 12 w 60"/>
                <a:gd name="T5" fmla="*/ 66 h 108"/>
                <a:gd name="T6" fmla="*/ 18 w 60"/>
                <a:gd name="T7" fmla="*/ 72 h 108"/>
                <a:gd name="T8" fmla="*/ 24 w 60"/>
                <a:gd name="T9" fmla="*/ 78 h 108"/>
                <a:gd name="T10" fmla="*/ 30 w 60"/>
                <a:gd name="T11" fmla="*/ 96 h 108"/>
                <a:gd name="T12" fmla="*/ 36 w 60"/>
                <a:gd name="T13" fmla="*/ 108 h 108"/>
                <a:gd name="T14" fmla="*/ 36 w 60"/>
                <a:gd name="T15" fmla="*/ 90 h 108"/>
                <a:gd name="T16" fmla="*/ 30 w 60"/>
                <a:gd name="T17" fmla="*/ 78 h 108"/>
                <a:gd name="T18" fmla="*/ 24 w 60"/>
                <a:gd name="T19" fmla="*/ 66 h 108"/>
                <a:gd name="T20" fmla="*/ 18 w 60"/>
                <a:gd name="T21" fmla="*/ 54 h 108"/>
                <a:gd name="T22" fmla="*/ 30 w 60"/>
                <a:gd name="T23" fmla="*/ 48 h 108"/>
                <a:gd name="T24" fmla="*/ 36 w 60"/>
                <a:gd name="T25" fmla="*/ 42 h 108"/>
                <a:gd name="T26" fmla="*/ 42 w 60"/>
                <a:gd name="T27" fmla="*/ 36 h 108"/>
                <a:gd name="T28" fmla="*/ 54 w 60"/>
                <a:gd name="T29" fmla="*/ 18 h 108"/>
                <a:gd name="T30" fmla="*/ 60 w 60"/>
                <a:gd name="T31" fmla="*/ 0 h 108"/>
                <a:gd name="T32" fmla="*/ 0 w 60"/>
                <a:gd name="T33" fmla="*/ 42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0" h="108">
                  <a:moveTo>
                    <a:pt x="0" y="42"/>
                  </a:moveTo>
                  <a:lnTo>
                    <a:pt x="6" y="54"/>
                  </a:lnTo>
                  <a:lnTo>
                    <a:pt x="12" y="66"/>
                  </a:lnTo>
                  <a:lnTo>
                    <a:pt x="18" y="72"/>
                  </a:lnTo>
                  <a:lnTo>
                    <a:pt x="24" y="78"/>
                  </a:lnTo>
                  <a:lnTo>
                    <a:pt x="30" y="96"/>
                  </a:lnTo>
                  <a:lnTo>
                    <a:pt x="36" y="108"/>
                  </a:lnTo>
                  <a:lnTo>
                    <a:pt x="36" y="90"/>
                  </a:lnTo>
                  <a:lnTo>
                    <a:pt x="30" y="78"/>
                  </a:lnTo>
                  <a:lnTo>
                    <a:pt x="24" y="66"/>
                  </a:lnTo>
                  <a:lnTo>
                    <a:pt x="18" y="54"/>
                  </a:lnTo>
                  <a:lnTo>
                    <a:pt x="30" y="48"/>
                  </a:lnTo>
                  <a:lnTo>
                    <a:pt x="36" y="42"/>
                  </a:lnTo>
                  <a:lnTo>
                    <a:pt x="42" y="36"/>
                  </a:lnTo>
                  <a:lnTo>
                    <a:pt x="54" y="18"/>
                  </a:lnTo>
                  <a:lnTo>
                    <a:pt x="60" y="0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FCA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未知"/>
            <p:cNvSpPr>
              <a:spLocks/>
            </p:cNvSpPr>
            <p:nvPr/>
          </p:nvSpPr>
          <p:spPr bwMode="auto">
            <a:xfrm>
              <a:off x="132" y="769"/>
              <a:ext cx="42" cy="72"/>
            </a:xfrm>
            <a:custGeom>
              <a:avLst/>
              <a:gdLst>
                <a:gd name="T0" fmla="*/ 0 w 42"/>
                <a:gd name="T1" fmla="*/ 6 h 72"/>
                <a:gd name="T2" fmla="*/ 12 w 42"/>
                <a:gd name="T3" fmla="*/ 0 h 72"/>
                <a:gd name="T4" fmla="*/ 18 w 42"/>
                <a:gd name="T5" fmla="*/ 0 h 72"/>
                <a:gd name="T6" fmla="*/ 30 w 42"/>
                <a:gd name="T7" fmla="*/ 0 h 72"/>
                <a:gd name="T8" fmla="*/ 36 w 42"/>
                <a:gd name="T9" fmla="*/ 6 h 72"/>
                <a:gd name="T10" fmla="*/ 42 w 42"/>
                <a:gd name="T11" fmla="*/ 12 h 72"/>
                <a:gd name="T12" fmla="*/ 42 w 42"/>
                <a:gd name="T13" fmla="*/ 24 h 72"/>
                <a:gd name="T14" fmla="*/ 42 w 42"/>
                <a:gd name="T15" fmla="*/ 42 h 72"/>
                <a:gd name="T16" fmla="*/ 42 w 42"/>
                <a:gd name="T17" fmla="*/ 54 h 72"/>
                <a:gd name="T18" fmla="*/ 42 w 42"/>
                <a:gd name="T19" fmla="*/ 60 h 72"/>
                <a:gd name="T20" fmla="*/ 36 w 42"/>
                <a:gd name="T21" fmla="*/ 72 h 72"/>
                <a:gd name="T22" fmla="*/ 30 w 42"/>
                <a:gd name="T23" fmla="*/ 72 h 72"/>
                <a:gd name="T24" fmla="*/ 18 w 42"/>
                <a:gd name="T25" fmla="*/ 72 h 72"/>
                <a:gd name="T26" fmla="*/ 12 w 42"/>
                <a:gd name="T27" fmla="*/ 66 h 72"/>
                <a:gd name="T28" fmla="*/ 12 w 42"/>
                <a:gd name="T29" fmla="*/ 60 h 72"/>
                <a:gd name="T30" fmla="*/ 6 w 42"/>
                <a:gd name="T31" fmla="*/ 42 h 72"/>
                <a:gd name="T32" fmla="*/ 6 w 42"/>
                <a:gd name="T33" fmla="*/ 36 h 72"/>
                <a:gd name="T34" fmla="*/ 6 w 42"/>
                <a:gd name="T35" fmla="*/ 18 h 72"/>
                <a:gd name="T36" fmla="*/ 0 w 42"/>
                <a:gd name="T37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2" h="72">
                  <a:moveTo>
                    <a:pt x="0" y="6"/>
                  </a:moveTo>
                  <a:lnTo>
                    <a:pt x="12" y="0"/>
                  </a:lnTo>
                  <a:lnTo>
                    <a:pt x="18" y="0"/>
                  </a:lnTo>
                  <a:lnTo>
                    <a:pt x="30" y="0"/>
                  </a:lnTo>
                  <a:lnTo>
                    <a:pt x="36" y="6"/>
                  </a:lnTo>
                  <a:lnTo>
                    <a:pt x="42" y="12"/>
                  </a:lnTo>
                  <a:lnTo>
                    <a:pt x="42" y="24"/>
                  </a:lnTo>
                  <a:lnTo>
                    <a:pt x="42" y="42"/>
                  </a:lnTo>
                  <a:lnTo>
                    <a:pt x="42" y="54"/>
                  </a:lnTo>
                  <a:lnTo>
                    <a:pt x="42" y="60"/>
                  </a:lnTo>
                  <a:lnTo>
                    <a:pt x="36" y="72"/>
                  </a:lnTo>
                  <a:lnTo>
                    <a:pt x="30" y="72"/>
                  </a:lnTo>
                  <a:lnTo>
                    <a:pt x="18" y="72"/>
                  </a:lnTo>
                  <a:lnTo>
                    <a:pt x="12" y="66"/>
                  </a:lnTo>
                  <a:lnTo>
                    <a:pt x="12" y="60"/>
                  </a:lnTo>
                  <a:lnTo>
                    <a:pt x="6" y="42"/>
                  </a:lnTo>
                  <a:lnTo>
                    <a:pt x="6" y="36"/>
                  </a:lnTo>
                  <a:lnTo>
                    <a:pt x="6" y="18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CA4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未知"/>
            <p:cNvSpPr>
              <a:spLocks/>
            </p:cNvSpPr>
            <p:nvPr/>
          </p:nvSpPr>
          <p:spPr bwMode="auto">
            <a:xfrm>
              <a:off x="84" y="649"/>
              <a:ext cx="84" cy="60"/>
            </a:xfrm>
            <a:custGeom>
              <a:avLst/>
              <a:gdLst>
                <a:gd name="T0" fmla="*/ 0 w 84"/>
                <a:gd name="T1" fmla="*/ 0 h 60"/>
                <a:gd name="T2" fmla="*/ 0 w 84"/>
                <a:gd name="T3" fmla="*/ 12 h 60"/>
                <a:gd name="T4" fmla="*/ 6 w 84"/>
                <a:gd name="T5" fmla="*/ 18 h 60"/>
                <a:gd name="T6" fmla="*/ 6 w 84"/>
                <a:gd name="T7" fmla="*/ 24 h 60"/>
                <a:gd name="T8" fmla="*/ 12 w 84"/>
                <a:gd name="T9" fmla="*/ 24 h 60"/>
                <a:gd name="T10" fmla="*/ 18 w 84"/>
                <a:gd name="T11" fmla="*/ 30 h 60"/>
                <a:gd name="T12" fmla="*/ 12 w 84"/>
                <a:gd name="T13" fmla="*/ 30 h 60"/>
                <a:gd name="T14" fmla="*/ 12 w 84"/>
                <a:gd name="T15" fmla="*/ 36 h 60"/>
                <a:gd name="T16" fmla="*/ 18 w 84"/>
                <a:gd name="T17" fmla="*/ 42 h 60"/>
                <a:gd name="T18" fmla="*/ 18 w 84"/>
                <a:gd name="T19" fmla="*/ 48 h 60"/>
                <a:gd name="T20" fmla="*/ 18 w 84"/>
                <a:gd name="T21" fmla="*/ 54 h 60"/>
                <a:gd name="T22" fmla="*/ 24 w 84"/>
                <a:gd name="T23" fmla="*/ 60 h 60"/>
                <a:gd name="T24" fmla="*/ 30 w 84"/>
                <a:gd name="T25" fmla="*/ 54 h 60"/>
                <a:gd name="T26" fmla="*/ 36 w 84"/>
                <a:gd name="T27" fmla="*/ 48 h 60"/>
                <a:gd name="T28" fmla="*/ 42 w 84"/>
                <a:gd name="T29" fmla="*/ 42 h 60"/>
                <a:gd name="T30" fmla="*/ 54 w 84"/>
                <a:gd name="T31" fmla="*/ 42 h 60"/>
                <a:gd name="T32" fmla="*/ 60 w 84"/>
                <a:gd name="T33" fmla="*/ 42 h 60"/>
                <a:gd name="T34" fmla="*/ 72 w 84"/>
                <a:gd name="T35" fmla="*/ 48 h 60"/>
                <a:gd name="T36" fmla="*/ 60 w 84"/>
                <a:gd name="T37" fmla="*/ 42 h 60"/>
                <a:gd name="T38" fmla="*/ 48 w 84"/>
                <a:gd name="T39" fmla="*/ 36 h 60"/>
                <a:gd name="T40" fmla="*/ 36 w 84"/>
                <a:gd name="T41" fmla="*/ 36 h 60"/>
                <a:gd name="T42" fmla="*/ 30 w 84"/>
                <a:gd name="T43" fmla="*/ 42 h 60"/>
                <a:gd name="T44" fmla="*/ 24 w 84"/>
                <a:gd name="T45" fmla="*/ 48 h 60"/>
                <a:gd name="T46" fmla="*/ 18 w 84"/>
                <a:gd name="T47" fmla="*/ 42 h 60"/>
                <a:gd name="T48" fmla="*/ 24 w 84"/>
                <a:gd name="T49" fmla="*/ 36 h 60"/>
                <a:gd name="T50" fmla="*/ 30 w 84"/>
                <a:gd name="T51" fmla="*/ 30 h 60"/>
                <a:gd name="T52" fmla="*/ 36 w 84"/>
                <a:gd name="T53" fmla="*/ 30 h 60"/>
                <a:gd name="T54" fmla="*/ 42 w 84"/>
                <a:gd name="T55" fmla="*/ 30 h 60"/>
                <a:gd name="T56" fmla="*/ 36 w 84"/>
                <a:gd name="T57" fmla="*/ 24 h 60"/>
                <a:gd name="T58" fmla="*/ 24 w 84"/>
                <a:gd name="T59" fmla="*/ 24 h 60"/>
                <a:gd name="T60" fmla="*/ 18 w 84"/>
                <a:gd name="T61" fmla="*/ 30 h 60"/>
                <a:gd name="T62" fmla="*/ 18 w 84"/>
                <a:gd name="T63" fmla="*/ 24 h 60"/>
                <a:gd name="T64" fmla="*/ 30 w 84"/>
                <a:gd name="T65" fmla="*/ 18 h 60"/>
                <a:gd name="T66" fmla="*/ 42 w 84"/>
                <a:gd name="T67" fmla="*/ 18 h 60"/>
                <a:gd name="T68" fmla="*/ 54 w 84"/>
                <a:gd name="T69" fmla="*/ 18 h 60"/>
                <a:gd name="T70" fmla="*/ 72 w 84"/>
                <a:gd name="T71" fmla="*/ 18 h 60"/>
                <a:gd name="T72" fmla="*/ 84 w 84"/>
                <a:gd name="T73" fmla="*/ 24 h 60"/>
                <a:gd name="T74" fmla="*/ 72 w 84"/>
                <a:gd name="T75" fmla="*/ 18 h 60"/>
                <a:gd name="T76" fmla="*/ 54 w 84"/>
                <a:gd name="T77" fmla="*/ 12 h 60"/>
                <a:gd name="T78" fmla="*/ 48 w 84"/>
                <a:gd name="T79" fmla="*/ 12 h 60"/>
                <a:gd name="T80" fmla="*/ 36 w 84"/>
                <a:gd name="T81" fmla="*/ 12 h 60"/>
                <a:gd name="T82" fmla="*/ 24 w 84"/>
                <a:gd name="T83" fmla="*/ 12 h 60"/>
                <a:gd name="T84" fmla="*/ 12 w 84"/>
                <a:gd name="T85" fmla="*/ 12 h 60"/>
                <a:gd name="T86" fmla="*/ 6 w 84"/>
                <a:gd name="T87" fmla="*/ 6 h 60"/>
                <a:gd name="T88" fmla="*/ 0 w 84"/>
                <a:gd name="T89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4" h="60">
                  <a:moveTo>
                    <a:pt x="0" y="0"/>
                  </a:moveTo>
                  <a:lnTo>
                    <a:pt x="0" y="12"/>
                  </a:lnTo>
                  <a:lnTo>
                    <a:pt x="6" y="18"/>
                  </a:lnTo>
                  <a:lnTo>
                    <a:pt x="6" y="24"/>
                  </a:lnTo>
                  <a:lnTo>
                    <a:pt x="12" y="24"/>
                  </a:lnTo>
                  <a:lnTo>
                    <a:pt x="18" y="30"/>
                  </a:lnTo>
                  <a:lnTo>
                    <a:pt x="12" y="30"/>
                  </a:lnTo>
                  <a:lnTo>
                    <a:pt x="12" y="36"/>
                  </a:lnTo>
                  <a:lnTo>
                    <a:pt x="18" y="42"/>
                  </a:lnTo>
                  <a:lnTo>
                    <a:pt x="18" y="48"/>
                  </a:lnTo>
                  <a:lnTo>
                    <a:pt x="18" y="54"/>
                  </a:lnTo>
                  <a:lnTo>
                    <a:pt x="24" y="60"/>
                  </a:lnTo>
                  <a:lnTo>
                    <a:pt x="30" y="54"/>
                  </a:lnTo>
                  <a:lnTo>
                    <a:pt x="36" y="48"/>
                  </a:lnTo>
                  <a:lnTo>
                    <a:pt x="42" y="42"/>
                  </a:lnTo>
                  <a:lnTo>
                    <a:pt x="54" y="42"/>
                  </a:lnTo>
                  <a:lnTo>
                    <a:pt x="60" y="42"/>
                  </a:lnTo>
                  <a:lnTo>
                    <a:pt x="72" y="48"/>
                  </a:lnTo>
                  <a:lnTo>
                    <a:pt x="60" y="42"/>
                  </a:lnTo>
                  <a:lnTo>
                    <a:pt x="48" y="36"/>
                  </a:lnTo>
                  <a:lnTo>
                    <a:pt x="36" y="36"/>
                  </a:lnTo>
                  <a:lnTo>
                    <a:pt x="30" y="42"/>
                  </a:lnTo>
                  <a:lnTo>
                    <a:pt x="24" y="48"/>
                  </a:lnTo>
                  <a:lnTo>
                    <a:pt x="18" y="42"/>
                  </a:lnTo>
                  <a:lnTo>
                    <a:pt x="24" y="36"/>
                  </a:lnTo>
                  <a:lnTo>
                    <a:pt x="30" y="30"/>
                  </a:lnTo>
                  <a:lnTo>
                    <a:pt x="36" y="30"/>
                  </a:lnTo>
                  <a:lnTo>
                    <a:pt x="42" y="30"/>
                  </a:lnTo>
                  <a:lnTo>
                    <a:pt x="36" y="24"/>
                  </a:lnTo>
                  <a:lnTo>
                    <a:pt x="24" y="24"/>
                  </a:lnTo>
                  <a:lnTo>
                    <a:pt x="18" y="30"/>
                  </a:lnTo>
                  <a:lnTo>
                    <a:pt x="18" y="24"/>
                  </a:lnTo>
                  <a:lnTo>
                    <a:pt x="30" y="18"/>
                  </a:lnTo>
                  <a:lnTo>
                    <a:pt x="42" y="18"/>
                  </a:lnTo>
                  <a:lnTo>
                    <a:pt x="54" y="18"/>
                  </a:lnTo>
                  <a:lnTo>
                    <a:pt x="72" y="18"/>
                  </a:lnTo>
                  <a:lnTo>
                    <a:pt x="84" y="24"/>
                  </a:lnTo>
                  <a:lnTo>
                    <a:pt x="72" y="18"/>
                  </a:lnTo>
                  <a:lnTo>
                    <a:pt x="54" y="12"/>
                  </a:lnTo>
                  <a:lnTo>
                    <a:pt x="48" y="12"/>
                  </a:lnTo>
                  <a:lnTo>
                    <a:pt x="36" y="12"/>
                  </a:lnTo>
                  <a:lnTo>
                    <a:pt x="24" y="12"/>
                  </a:lnTo>
                  <a:lnTo>
                    <a:pt x="12" y="12"/>
                  </a:lnTo>
                  <a:lnTo>
                    <a:pt x="6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CA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未知"/>
            <p:cNvSpPr>
              <a:spLocks/>
            </p:cNvSpPr>
            <p:nvPr/>
          </p:nvSpPr>
          <p:spPr bwMode="auto">
            <a:xfrm>
              <a:off x="120" y="733"/>
              <a:ext cx="24" cy="18"/>
            </a:xfrm>
            <a:custGeom>
              <a:avLst/>
              <a:gdLst>
                <a:gd name="T0" fmla="*/ 0 w 24"/>
                <a:gd name="T1" fmla="*/ 0 h 18"/>
                <a:gd name="T2" fmla="*/ 0 w 24"/>
                <a:gd name="T3" fmla="*/ 6 h 18"/>
                <a:gd name="T4" fmla="*/ 6 w 24"/>
                <a:gd name="T5" fmla="*/ 12 h 18"/>
                <a:gd name="T6" fmla="*/ 6 w 24"/>
                <a:gd name="T7" fmla="*/ 18 h 18"/>
                <a:gd name="T8" fmla="*/ 12 w 24"/>
                <a:gd name="T9" fmla="*/ 18 h 18"/>
                <a:gd name="T10" fmla="*/ 18 w 24"/>
                <a:gd name="T11" fmla="*/ 12 h 18"/>
                <a:gd name="T12" fmla="*/ 24 w 24"/>
                <a:gd name="T13" fmla="*/ 12 h 18"/>
                <a:gd name="T14" fmla="*/ 18 w 24"/>
                <a:gd name="T15" fmla="*/ 12 h 18"/>
                <a:gd name="T16" fmla="*/ 12 w 24"/>
                <a:gd name="T17" fmla="*/ 12 h 18"/>
                <a:gd name="T18" fmla="*/ 0 w 24"/>
                <a:gd name="T1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18">
                  <a:moveTo>
                    <a:pt x="0" y="0"/>
                  </a:moveTo>
                  <a:lnTo>
                    <a:pt x="0" y="6"/>
                  </a:lnTo>
                  <a:lnTo>
                    <a:pt x="6" y="12"/>
                  </a:lnTo>
                  <a:lnTo>
                    <a:pt x="6" y="18"/>
                  </a:lnTo>
                  <a:lnTo>
                    <a:pt x="12" y="18"/>
                  </a:lnTo>
                  <a:lnTo>
                    <a:pt x="18" y="12"/>
                  </a:lnTo>
                  <a:lnTo>
                    <a:pt x="24" y="12"/>
                  </a:lnTo>
                  <a:lnTo>
                    <a:pt x="18" y="12"/>
                  </a:lnTo>
                  <a:lnTo>
                    <a:pt x="12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CA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71340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417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417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718" grpId="0" autoUpdateAnimBg="0"/>
      <p:bldP spid="241719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0075" y="305002"/>
            <a:ext cx="8142288" cy="609398"/>
          </a:xfrm>
        </p:spPr>
        <p:txBody>
          <a:bodyPr/>
          <a:lstStyle/>
          <a:p>
            <a:r>
              <a:rPr lang="zh-CN" altLang="en-US" dirty="0">
                <a:latin typeface="Times New Roman" pitchFamily="18" charset="0"/>
              </a:rPr>
              <a:t>2.2  迭代法求解过程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EB2D8C-C595-4C75-A410-92E615560A69}" type="slidenum">
              <a:rPr lang="zh-CN" altLang="en-US" smtClean="0"/>
              <a:pPr>
                <a:defRPr/>
              </a:pPr>
              <a:t>20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F4F2C565-DEEA-484F-99D9-2BCC1484ACAF}" type="datetime1">
              <a:rPr lang="zh-CN" altLang="en-US" smtClean="0"/>
              <a:pPr>
                <a:defRPr/>
              </a:pPr>
              <a:t>2024/9/22</a:t>
            </a:fld>
            <a:endParaRPr lang="en-US" altLang="zh-CN" sz="1000"/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395288" y="1341438"/>
            <a:ext cx="8229600" cy="2728912"/>
          </a:xfrm>
          <a:prstGeom prst="rect">
            <a:avLst/>
          </a:prstGeom>
          <a:solidFill>
            <a:srgbClr val="EAEAEA"/>
          </a:solidFill>
          <a:ln w="9525" cmpd="sng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lvl="1">
              <a:lnSpc>
                <a:spcPct val="144000"/>
              </a:lnSpc>
            </a:pPr>
            <a:r>
              <a:rPr lang="zh-CN" altLang="zh-CN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1" charset="-122"/>
                <a:ea typeface="楷体_GB2312" pitchFamily="1" charset="-122"/>
                <a:sym typeface="Wingdings" pitchFamily="2" charset="2"/>
              </a:rPr>
              <a:t></a:t>
            </a:r>
            <a:r>
              <a:rPr lang="zh-CN" altLang="zh-CN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问题 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1" charset="-122"/>
                <a:ea typeface="楷体_GB2312" pitchFamily="1" charset="-122"/>
                <a:sym typeface="Wingdings" pitchFamily="2" charset="2"/>
              </a:rPr>
              <a:t></a:t>
            </a:r>
            <a:endParaRPr lang="zh-CN" altLang="en-US" sz="2400" dirty="0">
              <a:effectLst>
                <a:outerShdw blurRad="38100" dist="38100" dir="2700000" algn="tl">
                  <a:srgbClr val="000000"/>
                </a:outerShdw>
              </a:effectLst>
              <a:latin typeface="楷体_GB2312" pitchFamily="1" charset="-122"/>
              <a:ea typeface="楷体_GB2312" pitchFamily="1" charset="-122"/>
            </a:endParaRPr>
          </a:p>
          <a:p>
            <a:pPr lvl="1" algn="l">
              <a:lnSpc>
                <a:spcPct val="144000"/>
              </a:lnSpc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虽然二分法计算简单，能够保证收敛，但是它对于方程单根存在区域信息要求太高，一般情况下很难实现，并且不能求偶重根、复根和虚根。</a:t>
            </a:r>
            <a:r>
              <a:rPr lang="zh-CN" altLang="en-US" sz="2400" dirty="0">
                <a:solidFill>
                  <a:srgbClr val="0000FF"/>
                </a:solidFill>
                <a:latin typeface="楷体_GB2312" pitchFamily="1" charset="-122"/>
                <a:ea typeface="楷体_GB2312" pitchFamily="1" charset="-122"/>
              </a:rPr>
              <a:t>在实际应用中，用来求解方程根的主要方法是迭代法。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840655" y="4195411"/>
            <a:ext cx="7338869" cy="21605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indent="298450" algn="l">
              <a:lnSpc>
                <a:spcPct val="120000"/>
              </a:lnSpc>
            </a:pPr>
            <a:r>
              <a:rPr lang="zh-CN" altLang="en-US" sz="2800" dirty="0">
                <a:ea typeface="楷体_GB2312" pitchFamily="1" charset="-122"/>
              </a:rPr>
              <a:t>使用迭代法求解非线性代数方程的步骤为：</a:t>
            </a:r>
          </a:p>
          <a:p>
            <a:pPr indent="298450" algn="l">
              <a:lnSpc>
                <a:spcPct val="120000"/>
              </a:lnSpc>
            </a:pPr>
            <a:r>
              <a:rPr lang="zh-CN" altLang="zh-CN" sz="2800" dirty="0">
                <a:ea typeface="楷体_GB2312" pitchFamily="1" charset="-122"/>
              </a:rPr>
              <a:t>(1) </a:t>
            </a:r>
            <a:r>
              <a:rPr lang="zh-CN" altLang="en-US" sz="2800" dirty="0">
                <a:ea typeface="楷体_GB2312" pitchFamily="1" charset="-122"/>
              </a:rPr>
              <a:t>迭代格式的构造；</a:t>
            </a:r>
          </a:p>
          <a:p>
            <a:pPr indent="298450" algn="l">
              <a:lnSpc>
                <a:spcPct val="120000"/>
              </a:lnSpc>
            </a:pPr>
            <a:r>
              <a:rPr lang="zh-CN" altLang="zh-CN" sz="2800" dirty="0">
                <a:ea typeface="楷体_GB2312" pitchFamily="1" charset="-122"/>
              </a:rPr>
              <a:t>(2) </a:t>
            </a:r>
            <a:r>
              <a:rPr lang="zh-CN" altLang="en-US" sz="2800" dirty="0">
                <a:ea typeface="楷体_GB2312" pitchFamily="1" charset="-122"/>
              </a:rPr>
              <a:t>迭代格式的收敛性分析；</a:t>
            </a:r>
          </a:p>
          <a:p>
            <a:pPr indent="298450" algn="l">
              <a:lnSpc>
                <a:spcPct val="120000"/>
              </a:lnSpc>
            </a:pPr>
            <a:r>
              <a:rPr lang="zh-CN" altLang="zh-CN" sz="2800" dirty="0">
                <a:ea typeface="楷体_GB2312" pitchFamily="1" charset="-122"/>
              </a:rPr>
              <a:t>(3) </a:t>
            </a:r>
            <a:r>
              <a:rPr lang="zh-CN" altLang="en-US" sz="2800" dirty="0">
                <a:ea typeface="楷体_GB2312" pitchFamily="1" charset="-122"/>
              </a:rPr>
              <a:t>迭代格式的收敛速度与误差分析。 </a:t>
            </a:r>
          </a:p>
        </p:txBody>
      </p:sp>
    </p:spTree>
    <p:extLst>
      <p:ext uri="{BB962C8B-B14F-4D97-AF65-F5344CB8AC3E}">
        <p14:creationId xmlns:p14="http://schemas.microsoft.com/office/powerpoint/2010/main" val="793155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 autoUpdateAnimBg="0"/>
      <p:bldP spid="8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3E0D62EE-10E8-46A3-95B7-33C9F620242B}" type="slidenum">
              <a:rPr lang="zh-CN" altLang="en-US"/>
              <a:pPr/>
              <a:t>21</a:t>
            </a:fld>
            <a:endParaRPr lang="en-US" altLang="zh-CN"/>
          </a:p>
        </p:txBody>
      </p:sp>
      <p:sp>
        <p:nvSpPr>
          <p:cNvPr id="75779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D2A78905-1464-44AE-A37C-F65C14BFA974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 smtClean="0">
                <a:latin typeface="Times New Roman" pitchFamily="18" charset="0"/>
              </a:rPr>
              <a:t>2.2  迭代法求解过程</a:t>
            </a:r>
          </a:p>
        </p:txBody>
      </p:sp>
      <p:sp>
        <p:nvSpPr>
          <p:cNvPr id="7578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447800"/>
            <a:ext cx="8142288" cy="42703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smtClean="0">
                <a:latin typeface="宋体" pitchFamily="2" charset="-122"/>
              </a:rPr>
              <a:t>2.2.1 建立迭代公式。</a:t>
            </a:r>
          </a:p>
        </p:txBody>
      </p:sp>
      <p:sp>
        <p:nvSpPr>
          <p:cNvPr id="75782" name="Rectangle 7"/>
          <p:cNvSpPr>
            <a:spLocks noChangeArrowheads="1"/>
          </p:cNvSpPr>
          <p:nvPr/>
        </p:nvSpPr>
        <p:spPr bwMode="auto">
          <a:xfrm>
            <a:off x="990600" y="3124202"/>
            <a:ext cx="7543800" cy="244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lvl="1" algn="l">
              <a:spcBef>
                <a:spcPct val="50000"/>
              </a:spcBef>
              <a:buClr>
                <a:srgbClr val="27305F"/>
              </a:buClr>
              <a:buFontTx/>
              <a:buChar char="–"/>
            </a:pPr>
            <a:r>
              <a:rPr lang="zh-CN" altLang="en-US" sz="2800">
                <a:latin typeface="宋体" pitchFamily="2" charset="-122"/>
              </a:rPr>
              <a:t>例如：</a:t>
            </a:r>
            <a:r>
              <a:rPr lang="en-US" altLang="zh-CN" sz="2800" i="1">
                <a:latin typeface="Times New Roman" pitchFamily="18" charset="0"/>
              </a:rPr>
              <a:t>f(x) = x</a:t>
            </a:r>
            <a:r>
              <a:rPr lang="en-US" altLang="zh-CN" sz="2800" i="1" baseline="30000">
                <a:latin typeface="Times New Roman" pitchFamily="18" charset="0"/>
              </a:rPr>
              <a:t>3</a:t>
            </a:r>
            <a:r>
              <a:rPr lang="en-US" altLang="zh-CN" sz="2800" i="1">
                <a:latin typeface="Times New Roman" pitchFamily="18" charset="0"/>
              </a:rPr>
              <a:t>+2x</a:t>
            </a:r>
            <a:r>
              <a:rPr lang="en-US" altLang="zh-CN" sz="2800" i="1" baseline="30000">
                <a:latin typeface="Times New Roman" pitchFamily="18" charset="0"/>
              </a:rPr>
              <a:t>2</a:t>
            </a:r>
            <a:r>
              <a:rPr lang="en-US" altLang="zh-CN" sz="2800">
                <a:latin typeface="Times New Roman" pitchFamily="18" charset="0"/>
              </a:rPr>
              <a:t>-4</a:t>
            </a:r>
            <a:r>
              <a:rPr lang="en-US" altLang="zh-CN" sz="2800">
                <a:latin typeface="宋体" pitchFamily="2" charset="-122"/>
              </a:rPr>
              <a:t> = 0 </a:t>
            </a:r>
            <a:r>
              <a:rPr lang="zh-CN" altLang="en-US" sz="2800">
                <a:latin typeface="宋体" pitchFamily="2" charset="-122"/>
              </a:rPr>
              <a:t> 可以分解为</a:t>
            </a:r>
          </a:p>
          <a:p>
            <a:pPr lvl="1" algn="l">
              <a:spcBef>
                <a:spcPct val="50000"/>
              </a:spcBef>
              <a:buClr>
                <a:srgbClr val="27305F"/>
              </a:buClr>
            </a:pPr>
            <a:r>
              <a:rPr lang="zh-CN" altLang="zh-CN" sz="2800">
                <a:latin typeface="宋体" pitchFamily="2" charset="-122"/>
              </a:rPr>
              <a:t>			</a:t>
            </a:r>
            <a:r>
              <a:rPr lang="en-US" altLang="zh-CN" sz="2800" i="1">
                <a:latin typeface="Times New Roman" pitchFamily="18" charset="0"/>
              </a:rPr>
              <a:t>x = x+f</a:t>
            </a:r>
            <a:r>
              <a:rPr lang="en-US" altLang="zh-CN" sz="2800">
                <a:latin typeface="Times New Roman" pitchFamily="18" charset="0"/>
              </a:rPr>
              <a:t>(</a:t>
            </a:r>
            <a:r>
              <a:rPr lang="en-US" altLang="zh-CN" sz="2800" i="1">
                <a:latin typeface="Times New Roman" pitchFamily="18" charset="0"/>
              </a:rPr>
              <a:t>x</a:t>
            </a:r>
            <a:r>
              <a:rPr lang="en-US" altLang="zh-CN" sz="2800">
                <a:latin typeface="Times New Roman" pitchFamily="18" charset="0"/>
              </a:rPr>
              <a:t>) </a:t>
            </a:r>
            <a:r>
              <a:rPr lang="en-US" altLang="zh-CN" sz="2800" i="1">
                <a:latin typeface="Times New Roman" pitchFamily="18" charset="0"/>
              </a:rPr>
              <a:t>= x</a:t>
            </a:r>
            <a:r>
              <a:rPr lang="en-US" altLang="zh-CN" sz="2800" baseline="30000">
                <a:latin typeface="Times New Roman" pitchFamily="18" charset="0"/>
              </a:rPr>
              <a:t>3</a:t>
            </a:r>
            <a:r>
              <a:rPr lang="en-US" altLang="zh-CN" sz="2800" i="1">
                <a:latin typeface="Times New Roman" pitchFamily="18" charset="0"/>
              </a:rPr>
              <a:t>+</a:t>
            </a:r>
            <a:r>
              <a:rPr lang="en-US" altLang="zh-CN" sz="2800">
                <a:latin typeface="Times New Roman" pitchFamily="18" charset="0"/>
              </a:rPr>
              <a:t>2</a:t>
            </a:r>
            <a:r>
              <a:rPr lang="en-US" altLang="zh-CN" sz="2800" i="1">
                <a:latin typeface="Times New Roman" pitchFamily="18" charset="0"/>
              </a:rPr>
              <a:t>x</a:t>
            </a:r>
            <a:r>
              <a:rPr lang="en-US" altLang="zh-CN" sz="2800" baseline="30000">
                <a:latin typeface="Times New Roman" pitchFamily="18" charset="0"/>
              </a:rPr>
              <a:t>2</a:t>
            </a:r>
            <a:r>
              <a:rPr lang="en-US" altLang="zh-CN" sz="2800" i="1">
                <a:latin typeface="Times New Roman" pitchFamily="18" charset="0"/>
              </a:rPr>
              <a:t>+x</a:t>
            </a:r>
            <a:r>
              <a:rPr lang="en-US" altLang="zh-CN" sz="2800">
                <a:latin typeface="Times New Roman" pitchFamily="18" charset="0"/>
              </a:rPr>
              <a:t>-4</a:t>
            </a:r>
            <a:r>
              <a:rPr lang="en-US" altLang="zh-CN" sz="2800">
                <a:latin typeface="宋体" pitchFamily="2" charset="-122"/>
              </a:rPr>
              <a:t>;</a:t>
            </a:r>
          </a:p>
          <a:p>
            <a:pPr lvl="1" algn="l">
              <a:spcBef>
                <a:spcPct val="50000"/>
              </a:spcBef>
              <a:buClr>
                <a:srgbClr val="27305F"/>
              </a:buClr>
            </a:pPr>
            <a:r>
              <a:rPr lang="en-US" altLang="zh-CN" sz="2800">
                <a:latin typeface="宋体" pitchFamily="2" charset="-122"/>
              </a:rPr>
              <a:t>			</a:t>
            </a:r>
            <a:r>
              <a:rPr lang="en-US" altLang="zh-CN" sz="2800" i="1">
                <a:latin typeface="Times New Roman" pitchFamily="18" charset="0"/>
              </a:rPr>
              <a:t>x = </a:t>
            </a:r>
            <a:r>
              <a:rPr lang="en-US" altLang="zh-CN" sz="2800">
                <a:latin typeface="Times New Roman" pitchFamily="18" charset="0"/>
              </a:rPr>
              <a:t>2(1/(2</a:t>
            </a:r>
            <a:r>
              <a:rPr lang="en-US" altLang="zh-CN" sz="2800" i="1">
                <a:latin typeface="Times New Roman" pitchFamily="18" charset="0"/>
              </a:rPr>
              <a:t>+x</a:t>
            </a:r>
            <a:r>
              <a:rPr lang="en-US" altLang="zh-CN" sz="2800">
                <a:latin typeface="Times New Roman" pitchFamily="18" charset="0"/>
              </a:rPr>
              <a:t>))</a:t>
            </a:r>
            <a:r>
              <a:rPr lang="en-US" altLang="zh-CN" sz="2800" baseline="30000">
                <a:latin typeface="Times New Roman" pitchFamily="18" charset="0"/>
              </a:rPr>
              <a:t>1/2</a:t>
            </a:r>
          </a:p>
          <a:p>
            <a:pPr lvl="1" algn="l">
              <a:spcBef>
                <a:spcPct val="50000"/>
              </a:spcBef>
              <a:buClr>
                <a:srgbClr val="27305F"/>
              </a:buClr>
            </a:pPr>
            <a:r>
              <a:rPr lang="en-US" altLang="zh-CN" sz="2800" i="1">
                <a:latin typeface="Times New Roman" pitchFamily="18" charset="0"/>
              </a:rPr>
              <a:t>			x = x</a:t>
            </a:r>
            <a:r>
              <a:rPr lang="en-US" altLang="zh-CN" sz="2800">
                <a:latin typeface="Times New Roman" pitchFamily="18" charset="0"/>
              </a:rPr>
              <a:t>-(</a:t>
            </a:r>
            <a:r>
              <a:rPr lang="en-US" altLang="zh-CN" sz="2800" i="1">
                <a:latin typeface="Times New Roman" pitchFamily="18" charset="0"/>
              </a:rPr>
              <a:t>x</a:t>
            </a:r>
            <a:r>
              <a:rPr lang="en-US" altLang="zh-CN" sz="2800" baseline="30000">
                <a:latin typeface="Times New Roman" pitchFamily="18" charset="0"/>
              </a:rPr>
              <a:t>3</a:t>
            </a:r>
            <a:r>
              <a:rPr lang="en-US" altLang="zh-CN" sz="2800" i="1">
                <a:latin typeface="Times New Roman" pitchFamily="18" charset="0"/>
              </a:rPr>
              <a:t>+</a:t>
            </a:r>
            <a:r>
              <a:rPr lang="en-US" altLang="zh-CN" sz="2800">
                <a:latin typeface="Times New Roman" pitchFamily="18" charset="0"/>
              </a:rPr>
              <a:t>2</a:t>
            </a:r>
            <a:r>
              <a:rPr lang="en-US" altLang="zh-CN" sz="2800" i="1">
                <a:latin typeface="Times New Roman" pitchFamily="18" charset="0"/>
              </a:rPr>
              <a:t>x</a:t>
            </a:r>
            <a:r>
              <a:rPr lang="en-US" altLang="zh-CN" sz="2800" baseline="30000">
                <a:latin typeface="Times New Roman" pitchFamily="18" charset="0"/>
              </a:rPr>
              <a:t>2</a:t>
            </a:r>
            <a:r>
              <a:rPr lang="en-US" altLang="zh-CN" sz="2800">
                <a:latin typeface="Times New Roman" pitchFamily="18" charset="0"/>
              </a:rPr>
              <a:t>-4)/(3</a:t>
            </a:r>
            <a:r>
              <a:rPr lang="en-US" altLang="zh-CN" sz="2800" i="1">
                <a:latin typeface="Times New Roman" pitchFamily="18" charset="0"/>
              </a:rPr>
              <a:t>x</a:t>
            </a:r>
            <a:r>
              <a:rPr lang="en-US" altLang="zh-CN" sz="2800" baseline="30000">
                <a:latin typeface="Times New Roman" pitchFamily="18" charset="0"/>
              </a:rPr>
              <a:t>2</a:t>
            </a:r>
            <a:r>
              <a:rPr lang="en-US" altLang="zh-CN" sz="2800">
                <a:latin typeface="Times New Roman" pitchFamily="18" charset="0"/>
              </a:rPr>
              <a:t>-4</a:t>
            </a:r>
            <a:r>
              <a:rPr lang="en-US" altLang="zh-CN" sz="2800" i="1">
                <a:latin typeface="Times New Roman" pitchFamily="18" charset="0"/>
              </a:rPr>
              <a:t>x</a:t>
            </a:r>
            <a:r>
              <a:rPr lang="en-US" altLang="zh-CN" sz="2800">
                <a:latin typeface="Times New Roman" pitchFamily="18" charset="0"/>
              </a:rPr>
              <a:t>)</a:t>
            </a:r>
          </a:p>
        </p:txBody>
      </p:sp>
      <p:grpSp>
        <p:nvGrpSpPr>
          <p:cNvPr id="75783" name="Group 8"/>
          <p:cNvGrpSpPr>
            <a:grpSpLocks/>
          </p:cNvGrpSpPr>
          <p:nvPr/>
        </p:nvGrpSpPr>
        <p:grpSpPr bwMode="auto">
          <a:xfrm>
            <a:off x="2133600" y="2057402"/>
            <a:ext cx="4724400" cy="747713"/>
            <a:chOff x="1296" y="912"/>
            <a:chExt cx="2976" cy="471"/>
          </a:xfrm>
        </p:grpSpPr>
        <p:sp>
          <p:nvSpPr>
            <p:cNvPr id="75785" name="Text Box 9"/>
            <p:cNvSpPr txBox="1">
              <a:spLocks noChangeArrowheads="1"/>
            </p:cNvSpPr>
            <p:nvPr/>
          </p:nvSpPr>
          <p:spPr bwMode="auto">
            <a:xfrm>
              <a:off x="1296" y="1056"/>
              <a:ext cx="124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i="1">
                  <a:latin typeface="Times New Roman" pitchFamily="18" charset="0"/>
                </a:rPr>
                <a:t>f</a:t>
              </a:r>
              <a:r>
                <a:rPr lang="en-US" altLang="zh-CN" sz="2800">
                  <a:latin typeface="Times New Roman" pitchFamily="18" charset="0"/>
                </a:rPr>
                <a:t> (</a:t>
              </a:r>
              <a:r>
                <a:rPr lang="en-US" altLang="zh-CN" sz="2800" i="1">
                  <a:latin typeface="Times New Roman" pitchFamily="18" charset="0"/>
                </a:rPr>
                <a:t>x</a:t>
              </a:r>
              <a:r>
                <a:rPr lang="en-US" altLang="zh-CN" sz="2800">
                  <a:latin typeface="Times New Roman" pitchFamily="18" charset="0"/>
                </a:rPr>
                <a:t>) = 0</a:t>
              </a:r>
              <a:endParaRPr lang="en-US" altLang="zh-CN" sz="2800" i="1">
                <a:latin typeface="Times New Roman" pitchFamily="18" charset="0"/>
              </a:endParaRPr>
            </a:p>
          </p:txBody>
        </p:sp>
        <p:sp>
          <p:nvSpPr>
            <p:cNvPr id="75786" name="Text Box 10"/>
            <p:cNvSpPr txBox="1">
              <a:spLocks noChangeArrowheads="1"/>
            </p:cNvSpPr>
            <p:nvPr/>
          </p:nvSpPr>
          <p:spPr bwMode="auto">
            <a:xfrm>
              <a:off x="3024" y="1056"/>
              <a:ext cx="124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i="1">
                  <a:latin typeface="Times New Roman" pitchFamily="18" charset="0"/>
                </a:rPr>
                <a:t>x</a:t>
              </a:r>
              <a:r>
                <a:rPr lang="en-US" altLang="zh-CN" sz="2800">
                  <a:latin typeface="Times New Roman" pitchFamily="18" charset="0"/>
                </a:rPr>
                <a:t> = </a:t>
              </a:r>
              <a:r>
                <a:rPr lang="en-US" altLang="zh-CN" sz="2800" i="1">
                  <a:latin typeface="Times New Roman" pitchFamily="18" charset="0"/>
                  <a:cs typeface="Times New Roman" pitchFamily="18" charset="0"/>
                </a:rPr>
                <a:t>φ</a:t>
              </a:r>
              <a:r>
                <a:rPr lang="en-US" altLang="zh-CN" sz="2800">
                  <a:latin typeface="Times New Roman" pitchFamily="18" charset="0"/>
                </a:rPr>
                <a:t>(</a:t>
              </a:r>
              <a:r>
                <a:rPr lang="en-US" altLang="zh-CN" sz="2800" i="1">
                  <a:latin typeface="Times New Roman" pitchFamily="18" charset="0"/>
                </a:rPr>
                <a:t>x</a:t>
              </a:r>
              <a:r>
                <a:rPr lang="en-US" altLang="zh-CN" sz="2800">
                  <a:latin typeface="Times New Roman" pitchFamily="18" charset="0"/>
                </a:rPr>
                <a:t>)</a:t>
              </a:r>
            </a:p>
          </p:txBody>
        </p:sp>
        <p:sp>
          <p:nvSpPr>
            <p:cNvPr id="75787" name="AutoShape 11"/>
            <p:cNvSpPr>
              <a:spLocks noChangeArrowheads="1"/>
            </p:cNvSpPr>
            <p:nvPr/>
          </p:nvSpPr>
          <p:spPr bwMode="auto">
            <a:xfrm>
              <a:off x="2352" y="1152"/>
              <a:ext cx="912" cy="192"/>
            </a:xfrm>
            <a:prstGeom prst="leftRightArrow">
              <a:avLst>
                <a:gd name="adj1" fmla="val 50000"/>
                <a:gd name="adj2" fmla="val 95000"/>
              </a:avLst>
            </a:prstGeom>
            <a:gradFill rotWithShape="0">
              <a:gsLst>
                <a:gs pos="0">
                  <a:srgbClr val="FFFFFF"/>
                </a:gs>
                <a:gs pos="100000">
                  <a:srgbClr val="ED5F2D"/>
                </a:gs>
              </a:gsLst>
              <a:path path="rect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788" name="Text Box 12"/>
            <p:cNvSpPr txBox="1">
              <a:spLocks noChangeArrowheads="1"/>
            </p:cNvSpPr>
            <p:nvPr/>
          </p:nvSpPr>
          <p:spPr bwMode="auto">
            <a:xfrm>
              <a:off x="2304" y="912"/>
              <a:ext cx="9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>
                  <a:solidFill>
                    <a:srgbClr val="5D7232"/>
                  </a:solidFill>
                  <a:latin typeface="Times New Roman" pitchFamily="18" charset="0"/>
                  <a:ea typeface="楷体_GB2312" pitchFamily="49" charset="-122"/>
                </a:rPr>
                <a:t>等价变换</a:t>
              </a:r>
            </a:p>
          </p:txBody>
        </p:sp>
      </p:grpSp>
      <p:sp>
        <p:nvSpPr>
          <p:cNvPr id="75784" name="AutoShape 13"/>
          <p:cNvSpPr>
            <a:spLocks noChangeArrowheads="1"/>
          </p:cNvSpPr>
          <p:nvPr/>
        </p:nvSpPr>
        <p:spPr bwMode="auto">
          <a:xfrm>
            <a:off x="6019802" y="1447800"/>
            <a:ext cx="2314575" cy="579438"/>
          </a:xfrm>
          <a:prstGeom prst="wedgeEllipseCallout">
            <a:avLst>
              <a:gd name="adj1" fmla="val -38065"/>
              <a:gd name="adj2" fmla="val 114111"/>
            </a:avLst>
          </a:prstGeom>
          <a:solidFill>
            <a:srgbClr val="FFFF99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kumimoji="1" lang="zh-CN" altLang="en-US" sz="2800">
                <a:latin typeface="Times New Roman" pitchFamily="18" charset="0"/>
                <a:ea typeface="华文细黑" pitchFamily="2" charset="-122"/>
              </a:rPr>
              <a:t>迭代函数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10742472-A092-4524-8274-FAC21222E7D6}" type="slidenum">
              <a:rPr lang="zh-CN" altLang="en-US"/>
              <a:pPr/>
              <a:t>22</a:t>
            </a:fld>
            <a:endParaRPr lang="en-US" altLang="zh-CN"/>
          </a:p>
        </p:txBody>
      </p:sp>
      <p:sp>
        <p:nvSpPr>
          <p:cNvPr id="3078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19487033-6F9C-47F7-A73A-FE3E27462EBE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243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>
                <a:latin typeface="Times New Roman" pitchFamily="18" charset="0"/>
              </a:rPr>
              <a:t>2.2  迭代法求解过程</a:t>
            </a:r>
          </a:p>
        </p:txBody>
      </p:sp>
      <p:sp>
        <p:nvSpPr>
          <p:cNvPr id="30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219202"/>
            <a:ext cx="8142288" cy="3051175"/>
          </a:xfrm>
        </p:spPr>
        <p:txBody>
          <a:bodyPr/>
          <a:lstStyle/>
          <a:p>
            <a:r>
              <a:rPr lang="zh-CN" altLang="en-US" smtClean="0">
                <a:latin typeface="宋体" pitchFamily="2" charset="-122"/>
              </a:rPr>
              <a:t>2.2.2 进行迭代计算</a:t>
            </a:r>
          </a:p>
          <a:p>
            <a:pPr lvl="1"/>
            <a:r>
              <a:rPr lang="en-US" altLang="zh-CN" i="1" smtClean="0">
                <a:cs typeface="Times New Roman" pitchFamily="18" charset="0"/>
              </a:rPr>
              <a:t>x</a:t>
            </a:r>
            <a:r>
              <a:rPr lang="en-US" altLang="zh-CN" i="1" baseline="-25000" smtClean="0">
                <a:cs typeface="Times New Roman" pitchFamily="18" charset="0"/>
              </a:rPr>
              <a:t>1</a:t>
            </a:r>
            <a:r>
              <a:rPr lang="en-US" altLang="zh-CN" i="1" smtClean="0">
                <a:cs typeface="Times New Roman" pitchFamily="18" charset="0"/>
              </a:rPr>
              <a:t>= </a:t>
            </a:r>
            <a:r>
              <a:rPr lang="zh-CN" altLang="en-US" i="1" smtClean="0">
                <a:sym typeface="Symbol" pitchFamily="18" charset="2"/>
              </a:rPr>
              <a:t></a:t>
            </a:r>
            <a:r>
              <a:rPr lang="en-US" altLang="zh-CN" smtClean="0">
                <a:cs typeface="Times New Roman" pitchFamily="18" charset="0"/>
              </a:rPr>
              <a:t>(</a:t>
            </a:r>
            <a:r>
              <a:rPr lang="en-US" altLang="zh-CN" i="1" smtClean="0">
                <a:cs typeface="Times New Roman" pitchFamily="18" charset="0"/>
              </a:rPr>
              <a:t>x</a:t>
            </a:r>
            <a:r>
              <a:rPr lang="en-US" altLang="zh-CN" i="1" baseline="-25000" smtClean="0">
                <a:cs typeface="Times New Roman" pitchFamily="18" charset="0"/>
              </a:rPr>
              <a:t>0</a:t>
            </a:r>
            <a:r>
              <a:rPr lang="en-US" altLang="zh-CN" smtClean="0">
                <a:cs typeface="Times New Roman" pitchFamily="18" charset="0"/>
              </a:rPr>
              <a:t>)</a:t>
            </a:r>
          </a:p>
          <a:p>
            <a:pPr lvl="1"/>
            <a:r>
              <a:rPr lang="en-US" altLang="zh-CN" i="1" smtClean="0">
                <a:cs typeface="Times New Roman" pitchFamily="18" charset="0"/>
              </a:rPr>
              <a:t>x</a:t>
            </a:r>
            <a:r>
              <a:rPr lang="en-US" altLang="zh-CN" i="1" baseline="-25000" smtClean="0">
                <a:cs typeface="Times New Roman" pitchFamily="18" charset="0"/>
              </a:rPr>
              <a:t>2</a:t>
            </a:r>
            <a:r>
              <a:rPr lang="en-US" altLang="zh-CN" i="1" smtClean="0">
                <a:cs typeface="Times New Roman" pitchFamily="18" charset="0"/>
              </a:rPr>
              <a:t>= </a:t>
            </a:r>
            <a:r>
              <a:rPr lang="zh-CN" altLang="en-US" i="1" smtClean="0">
                <a:sym typeface="Symbol" pitchFamily="18" charset="2"/>
              </a:rPr>
              <a:t></a:t>
            </a:r>
            <a:r>
              <a:rPr lang="en-US" altLang="zh-CN" smtClean="0">
                <a:cs typeface="Times New Roman" pitchFamily="18" charset="0"/>
              </a:rPr>
              <a:t>(</a:t>
            </a:r>
            <a:r>
              <a:rPr lang="en-US" altLang="zh-CN" i="1" smtClean="0">
                <a:cs typeface="Times New Roman" pitchFamily="18" charset="0"/>
              </a:rPr>
              <a:t>x</a:t>
            </a:r>
            <a:r>
              <a:rPr lang="en-US" altLang="zh-CN" i="1" baseline="-25000" smtClean="0">
                <a:cs typeface="Times New Roman" pitchFamily="18" charset="0"/>
              </a:rPr>
              <a:t>1</a:t>
            </a:r>
            <a:r>
              <a:rPr lang="en-US" altLang="zh-CN" smtClean="0">
                <a:cs typeface="Times New Roman" pitchFamily="18" charset="0"/>
              </a:rPr>
              <a:t>)</a:t>
            </a:r>
            <a:endParaRPr lang="zh-CN" altLang="en-US" smtClean="0">
              <a:cs typeface="Times New Roman" pitchFamily="18" charset="0"/>
            </a:endParaRPr>
          </a:p>
          <a:p>
            <a:pPr lvl="1"/>
            <a:r>
              <a:rPr lang="en-US" altLang="zh-CN" i="1" smtClean="0">
                <a:cs typeface="Times New Roman" pitchFamily="18" charset="0"/>
              </a:rPr>
              <a:t>x</a:t>
            </a:r>
            <a:r>
              <a:rPr lang="en-US" altLang="zh-CN" i="1" baseline="-25000" smtClean="0">
                <a:cs typeface="Times New Roman" pitchFamily="18" charset="0"/>
              </a:rPr>
              <a:t>n+1</a:t>
            </a:r>
            <a:r>
              <a:rPr lang="en-US" altLang="zh-CN" i="1" smtClean="0">
                <a:cs typeface="Times New Roman" pitchFamily="18" charset="0"/>
              </a:rPr>
              <a:t>= </a:t>
            </a:r>
            <a:r>
              <a:rPr lang="zh-CN" altLang="en-US" i="1" smtClean="0">
                <a:sym typeface="Symbol" pitchFamily="18" charset="2"/>
              </a:rPr>
              <a:t></a:t>
            </a:r>
            <a:r>
              <a:rPr lang="en-US" altLang="zh-CN" smtClean="0">
                <a:cs typeface="Times New Roman" pitchFamily="18" charset="0"/>
              </a:rPr>
              <a:t>(</a:t>
            </a:r>
            <a:r>
              <a:rPr lang="en-US" altLang="zh-CN" i="1" smtClean="0">
                <a:cs typeface="Times New Roman" pitchFamily="18" charset="0"/>
              </a:rPr>
              <a:t>x</a:t>
            </a:r>
            <a:r>
              <a:rPr lang="en-US" altLang="zh-CN" i="1" baseline="-25000" smtClean="0">
                <a:cs typeface="Times New Roman" pitchFamily="18" charset="0"/>
              </a:rPr>
              <a:t>n</a:t>
            </a:r>
            <a:r>
              <a:rPr lang="en-US" altLang="zh-CN" smtClean="0">
                <a:cs typeface="Times New Roman" pitchFamily="18" charset="0"/>
              </a:rPr>
              <a:t>)   </a:t>
            </a:r>
            <a:r>
              <a:rPr lang="en-US" altLang="zh-CN" smtClean="0">
                <a:latin typeface="宋体" pitchFamily="2" charset="-122"/>
              </a:rPr>
              <a:t>（</a:t>
            </a:r>
            <a:r>
              <a:rPr lang="en-US" altLang="zh-CN" i="1" smtClean="0">
                <a:cs typeface="Times New Roman" pitchFamily="18" charset="0"/>
              </a:rPr>
              <a:t>n</a:t>
            </a:r>
            <a:r>
              <a:rPr lang="en-US" altLang="zh-CN" smtClean="0">
                <a:cs typeface="Times New Roman" pitchFamily="18" charset="0"/>
              </a:rPr>
              <a:t>=0,1,2,</a:t>
            </a:r>
            <a:r>
              <a:rPr lang="en-US" altLang="zh-CN" smtClean="0"/>
              <a:t>…</a:t>
            </a:r>
            <a:r>
              <a:rPr lang="en-US" altLang="zh-CN" smtClean="0">
                <a:latin typeface="宋体" pitchFamily="2" charset="-122"/>
              </a:rPr>
              <a:t>）</a:t>
            </a:r>
            <a:r>
              <a:rPr lang="zh-CN" altLang="en-US" smtClean="0">
                <a:latin typeface="宋体" pitchFamily="2" charset="-122"/>
              </a:rPr>
              <a:t>称为</a:t>
            </a:r>
            <a:r>
              <a:rPr lang="zh-CN" altLang="en-US" u="sng" smtClean="0">
                <a:latin typeface="宋体" pitchFamily="2" charset="-122"/>
              </a:rPr>
              <a:t>迭代公式</a:t>
            </a:r>
            <a:endParaRPr lang="zh-CN" altLang="en-US" smtClean="0">
              <a:latin typeface="宋体" pitchFamily="2" charset="-122"/>
            </a:endParaRPr>
          </a:p>
          <a:p>
            <a:pPr lvl="1"/>
            <a:r>
              <a:rPr lang="en-US" altLang="zh-CN" i="1" smtClean="0"/>
              <a:t>x</a:t>
            </a:r>
            <a:r>
              <a:rPr lang="en-US" altLang="zh-CN" i="1" baseline="-25000" smtClean="0">
                <a:cs typeface="Times New Roman" pitchFamily="18" charset="0"/>
              </a:rPr>
              <a:t>0 </a:t>
            </a:r>
            <a:r>
              <a:rPr lang="en-US" altLang="zh-CN" smtClean="0"/>
              <a:t>, </a:t>
            </a:r>
            <a:r>
              <a:rPr lang="en-US" altLang="zh-CN" i="1" smtClean="0"/>
              <a:t>x</a:t>
            </a:r>
            <a:r>
              <a:rPr lang="en-US" altLang="zh-CN" i="1" baseline="-25000" smtClean="0">
                <a:cs typeface="Times New Roman" pitchFamily="18" charset="0"/>
              </a:rPr>
              <a:t>1 </a:t>
            </a:r>
            <a:r>
              <a:rPr lang="en-US" altLang="zh-CN" smtClean="0"/>
              <a:t>,</a:t>
            </a:r>
            <a:r>
              <a:rPr lang="en-US" altLang="zh-CN" i="1" smtClean="0"/>
              <a:t> x</a:t>
            </a:r>
            <a:r>
              <a:rPr lang="en-US" altLang="zh-CN" i="1" baseline="-25000" smtClean="0">
                <a:cs typeface="Times New Roman" pitchFamily="18" charset="0"/>
              </a:rPr>
              <a:t>2 </a:t>
            </a:r>
            <a:r>
              <a:rPr lang="en-US" altLang="zh-CN" smtClean="0">
                <a:latin typeface="宋体" pitchFamily="2" charset="-122"/>
              </a:rPr>
              <a:t>,</a:t>
            </a:r>
            <a:r>
              <a:rPr lang="en-US" altLang="zh-CN" i="1" smtClean="0"/>
              <a:t>…</a:t>
            </a:r>
            <a:r>
              <a:rPr lang="en-US" altLang="zh-CN" smtClean="0">
                <a:latin typeface="宋体" pitchFamily="2" charset="-122"/>
              </a:rPr>
              <a:t>　</a:t>
            </a:r>
            <a:r>
              <a:rPr lang="zh-CN" altLang="en-US" smtClean="0">
                <a:latin typeface="宋体" pitchFamily="2" charset="-122"/>
              </a:rPr>
              <a:t>称为</a:t>
            </a:r>
            <a:r>
              <a:rPr lang="zh-CN" altLang="en-US" u="sng" smtClean="0">
                <a:latin typeface="宋体" pitchFamily="2" charset="-122"/>
              </a:rPr>
              <a:t>迭代序列</a:t>
            </a:r>
            <a:endParaRPr lang="zh-CN" altLang="en-US" smtClean="0">
              <a:latin typeface="宋体" pitchFamily="2" charset="-122"/>
            </a:endParaRPr>
          </a:p>
          <a:p>
            <a:pPr lvl="1"/>
            <a:r>
              <a:rPr lang="zh-CN" altLang="en-US" smtClean="0">
                <a:latin typeface="宋体" pitchFamily="2" charset="-122"/>
              </a:rPr>
              <a:t>序列的计算过程称为</a:t>
            </a:r>
            <a:r>
              <a:rPr lang="zh-CN" altLang="en-US" u="sng" smtClean="0">
                <a:latin typeface="宋体" pitchFamily="2" charset="-122"/>
              </a:rPr>
              <a:t>迭代过程</a:t>
            </a:r>
            <a:r>
              <a:rPr lang="zh-CN" altLang="en-US" smtClean="0">
                <a:latin typeface="宋体" pitchFamily="2" charset="-122"/>
              </a:rPr>
              <a:t> </a:t>
            </a: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609600" y="4343400"/>
            <a:ext cx="8142288" cy="533400"/>
            <a:chOff x="391" y="2640"/>
            <a:chExt cx="5129" cy="336"/>
          </a:xfrm>
        </p:grpSpPr>
        <p:graphicFrame>
          <p:nvGraphicFramePr>
            <p:cNvPr id="3076" name="Object 13"/>
            <p:cNvGraphicFramePr>
              <a:graphicFrameLocks noChangeAspect="1"/>
            </p:cNvGraphicFramePr>
            <p:nvPr/>
          </p:nvGraphicFramePr>
          <p:xfrm>
            <a:off x="3793" y="2640"/>
            <a:ext cx="239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1" name="Equation" r:id="rId4" imgW="152280" imgH="215640" progId="Equation.3">
                    <p:embed/>
                  </p:oleObj>
                </mc:Choice>
                <mc:Fallback>
                  <p:oleObj name="Equation" r:id="rId4" imgW="152280" imgH="21564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3" y="2640"/>
                          <a:ext cx="239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2" name="Rectangle 17"/>
            <p:cNvSpPr>
              <a:spLocks noChangeArrowheads="1"/>
            </p:cNvSpPr>
            <p:nvPr/>
          </p:nvSpPr>
          <p:spPr bwMode="auto">
            <a:xfrm>
              <a:off x="391" y="2734"/>
              <a:ext cx="5129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marL="649288" lvl="1" indent="-261938" algn="l" defTabSz="814388">
                <a:lnSpc>
                  <a:spcPct val="90000"/>
                </a:lnSpc>
                <a:spcBef>
                  <a:spcPct val="35000"/>
                </a:spcBef>
                <a:buClr>
                  <a:srgbClr val="27305F"/>
                </a:buClr>
                <a:buFontTx/>
                <a:buChar char="–"/>
              </a:pPr>
              <a:r>
                <a:rPr lang="zh-CN" altLang="en-US" sz="2800">
                  <a:latin typeface="黑体" pitchFamily="49" charset="-122"/>
                  <a:ea typeface="黑体" pitchFamily="49" charset="-122"/>
                </a:rPr>
                <a:t>如果序列</a:t>
              </a:r>
              <a:r>
                <a:rPr lang="en-US" altLang="zh-CN" sz="2800" i="1">
                  <a:latin typeface="Times New Roman" pitchFamily="18" charset="0"/>
                  <a:ea typeface="黑体" pitchFamily="49" charset="-122"/>
                </a:rPr>
                <a:t>x</a:t>
              </a:r>
              <a:r>
                <a:rPr lang="en-US" altLang="zh-CN" sz="2800" i="1" baseline="-25000">
                  <a:latin typeface="Times New Roman" pitchFamily="18" charset="0"/>
                  <a:ea typeface="黑体" pitchFamily="49" charset="-122"/>
                </a:rPr>
                <a:t>0 </a:t>
              </a:r>
              <a:r>
                <a:rPr lang="en-US" altLang="zh-CN" sz="2800" i="1">
                  <a:latin typeface="Times New Roman" pitchFamily="18" charset="0"/>
                  <a:ea typeface="黑体" pitchFamily="49" charset="-122"/>
                </a:rPr>
                <a:t>, x</a:t>
              </a:r>
              <a:r>
                <a:rPr lang="en-US" altLang="zh-CN" sz="2800" i="1" baseline="-25000">
                  <a:latin typeface="Times New Roman" pitchFamily="18" charset="0"/>
                  <a:ea typeface="黑体" pitchFamily="49" charset="-122"/>
                </a:rPr>
                <a:t>1 </a:t>
              </a:r>
              <a:r>
                <a:rPr lang="en-US" altLang="zh-CN" sz="2800" i="1">
                  <a:latin typeface="Times New Roman" pitchFamily="18" charset="0"/>
                  <a:ea typeface="黑体" pitchFamily="49" charset="-122"/>
                </a:rPr>
                <a:t>, x</a:t>
              </a:r>
              <a:r>
                <a:rPr lang="en-US" altLang="zh-CN" sz="2800" i="1" baseline="-25000">
                  <a:latin typeface="Times New Roman" pitchFamily="18" charset="0"/>
                  <a:ea typeface="黑体" pitchFamily="49" charset="-122"/>
                </a:rPr>
                <a:t>2 </a:t>
              </a:r>
              <a:r>
                <a:rPr lang="en-US" altLang="zh-CN" sz="2800" i="1">
                  <a:latin typeface="Times New Roman" pitchFamily="18" charset="0"/>
                  <a:ea typeface="黑体" pitchFamily="49" charset="-122"/>
                </a:rPr>
                <a:t>,</a:t>
              </a:r>
              <a:r>
                <a:rPr lang="en-US" altLang="zh-CN" sz="2800">
                  <a:latin typeface="Times New Roman" pitchFamily="18" charset="0"/>
                  <a:ea typeface="黑体" pitchFamily="49" charset="-122"/>
                </a:rPr>
                <a:t>…    </a:t>
              </a:r>
              <a:r>
                <a:rPr lang="zh-CN" altLang="en-US" sz="2800">
                  <a:latin typeface="黑体" pitchFamily="49" charset="-122"/>
                  <a:ea typeface="黑体" pitchFamily="49" charset="-122"/>
                </a:rPr>
                <a:t>收敛于　,即 </a:t>
              </a:r>
              <a:r>
                <a:rPr lang="zh-CN" altLang="zh-CN" sz="2800">
                  <a:latin typeface="黑体" pitchFamily="49" charset="-122"/>
                  <a:ea typeface="黑体" pitchFamily="49" charset="-122"/>
                </a:rPr>
                <a:t> </a:t>
              </a:r>
              <a:endParaRPr lang="zh-CN" altLang="en-US" sz="2800">
                <a:latin typeface="黑体" pitchFamily="49" charset="-122"/>
                <a:ea typeface="黑体" pitchFamily="49" charset="-122"/>
              </a:endParaRPr>
            </a:p>
          </p:txBody>
        </p:sp>
      </p:grpSp>
      <p:graphicFrame>
        <p:nvGraphicFramePr>
          <p:cNvPr id="243731" name="Object 19"/>
          <p:cNvGraphicFramePr>
            <a:graphicFrameLocks noChangeAspect="1"/>
          </p:cNvGraphicFramePr>
          <p:nvPr/>
        </p:nvGraphicFramePr>
        <p:xfrm>
          <a:off x="7010400" y="4344988"/>
          <a:ext cx="1828800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" name="Equation" r:id="rId6" imgW="761760" imgH="380880" progId="Equation.3">
                  <p:embed/>
                </p:oleObj>
              </mc:Choice>
              <mc:Fallback>
                <p:oleObj name="Equation" r:id="rId6" imgW="761760" imgH="38088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4344988"/>
                        <a:ext cx="1828800" cy="931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3732" name="Object 20"/>
          <p:cNvGraphicFramePr>
            <a:graphicFrameLocks noChangeAspect="1"/>
          </p:cNvGraphicFramePr>
          <p:nvPr/>
        </p:nvGraphicFramePr>
        <p:xfrm>
          <a:off x="1600200" y="5029202"/>
          <a:ext cx="5691188" cy="147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3" name="Equation" r:id="rId8" imgW="2044440" imgH="507960" progId="Equation.3">
                  <p:embed/>
                </p:oleObj>
              </mc:Choice>
              <mc:Fallback>
                <p:oleObj name="Equation" r:id="rId8" imgW="2044440" imgH="50796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5029202"/>
                        <a:ext cx="5691188" cy="1476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4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4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5DC617B5-C54D-4DFD-AC61-20585B1D7E12}" type="slidenum">
              <a:rPr lang="zh-CN" altLang="en-US"/>
              <a:pPr/>
              <a:t>23</a:t>
            </a:fld>
            <a:endParaRPr lang="en-US" altLang="zh-CN"/>
          </a:p>
        </p:txBody>
      </p:sp>
      <p:sp>
        <p:nvSpPr>
          <p:cNvPr id="76803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CC3C6D33-7ACB-4698-A84F-A8590153C715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248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>
                <a:latin typeface="Times New Roman" pitchFamily="18" charset="0"/>
              </a:rPr>
              <a:t>2.3  迭代解法的几何意义</a:t>
            </a:r>
            <a:endParaRPr lang="zh-CN" altLang="en-US" smtClean="0"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680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130302"/>
            <a:ext cx="8142288" cy="886397"/>
          </a:xfrm>
        </p:spPr>
        <p:txBody>
          <a:bodyPr/>
          <a:lstStyle/>
          <a:p>
            <a:r>
              <a:rPr lang="zh-CN" altLang="en-US" sz="3200"/>
              <a:t>把求根问题转化为求</a:t>
            </a:r>
            <a:r>
              <a:rPr lang="en-US" altLang="zh-CN" sz="3200" i="1"/>
              <a:t>y</a:t>
            </a:r>
            <a:r>
              <a:rPr lang="en-US" altLang="zh-CN" sz="3200"/>
              <a:t>(</a:t>
            </a:r>
            <a:r>
              <a:rPr lang="en-US" altLang="zh-CN" sz="3200" i="1"/>
              <a:t>x</a:t>
            </a:r>
            <a:r>
              <a:rPr lang="en-US" altLang="zh-CN" sz="3200"/>
              <a:t>)=</a:t>
            </a:r>
            <a:r>
              <a:rPr lang="en-US" altLang="zh-CN" sz="3200" i="1"/>
              <a:t>x</a:t>
            </a:r>
            <a:r>
              <a:rPr lang="en-US" altLang="zh-CN" sz="3200"/>
              <a:t>, </a:t>
            </a:r>
            <a:r>
              <a:rPr lang="en-US" altLang="zh-CN" sz="3200" i="1"/>
              <a:t>y</a:t>
            </a:r>
            <a:r>
              <a:rPr lang="en-US" altLang="zh-CN" sz="3200"/>
              <a:t>(</a:t>
            </a:r>
            <a:r>
              <a:rPr lang="en-US" altLang="zh-CN" sz="3200" i="1"/>
              <a:t>x</a:t>
            </a:r>
            <a:r>
              <a:rPr lang="en-US" altLang="zh-CN" sz="3200"/>
              <a:t>)=</a:t>
            </a:r>
            <a:r>
              <a:rPr lang="en-US" altLang="zh-CN" sz="3200" i="1">
                <a:sym typeface="Symbol" pitchFamily="18" charset="2"/>
              </a:rPr>
              <a:t></a:t>
            </a:r>
            <a:r>
              <a:rPr lang="en-US" altLang="zh-CN" sz="3200"/>
              <a:t>(</a:t>
            </a:r>
            <a:r>
              <a:rPr lang="en-US" altLang="zh-CN" sz="3200" i="1"/>
              <a:t>x</a:t>
            </a:r>
            <a:r>
              <a:rPr lang="en-US" altLang="zh-CN" sz="3200"/>
              <a:t>)</a:t>
            </a:r>
            <a:r>
              <a:rPr lang="zh-CN" altLang="en-US" sz="3200"/>
              <a:t> 的交点，交点的横坐标</a:t>
            </a:r>
            <a:r>
              <a:rPr lang="en-US" altLang="zh-CN" sz="3200">
                <a:sym typeface="Symbol" pitchFamily="18" charset="2"/>
              </a:rPr>
              <a:t></a:t>
            </a:r>
            <a:r>
              <a:rPr lang="zh-CN" altLang="en-US" sz="3200"/>
              <a:t>即为方程的根。</a:t>
            </a:r>
          </a:p>
        </p:txBody>
      </p:sp>
      <p:sp>
        <p:nvSpPr>
          <p:cNvPr id="248874" name="Line 42"/>
          <p:cNvSpPr>
            <a:spLocks noChangeShapeType="1"/>
          </p:cNvSpPr>
          <p:nvPr/>
        </p:nvSpPr>
        <p:spPr bwMode="auto">
          <a:xfrm flipH="1">
            <a:off x="3100390" y="4560888"/>
            <a:ext cx="8905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80"/>
          <p:cNvGrpSpPr>
            <a:grpSpLocks/>
          </p:cNvGrpSpPr>
          <p:nvPr/>
        </p:nvGrpSpPr>
        <p:grpSpPr bwMode="auto">
          <a:xfrm>
            <a:off x="3971925" y="3911602"/>
            <a:ext cx="19050" cy="1731963"/>
            <a:chOff x="2502" y="2512"/>
            <a:chExt cx="12" cy="1091"/>
          </a:xfrm>
        </p:grpSpPr>
        <p:sp>
          <p:nvSpPr>
            <p:cNvPr id="76837" name="Line 44"/>
            <p:cNvSpPr>
              <a:spLocks noChangeShapeType="1"/>
            </p:cNvSpPr>
            <p:nvPr/>
          </p:nvSpPr>
          <p:spPr bwMode="auto">
            <a:xfrm>
              <a:off x="2502" y="2921"/>
              <a:ext cx="0" cy="68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38" name="Line 45"/>
            <p:cNvSpPr>
              <a:spLocks noChangeShapeType="1"/>
            </p:cNvSpPr>
            <p:nvPr/>
          </p:nvSpPr>
          <p:spPr bwMode="auto">
            <a:xfrm>
              <a:off x="2514" y="2512"/>
              <a:ext cx="0" cy="40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8885" name="Line 53"/>
          <p:cNvSpPr>
            <a:spLocks noChangeShapeType="1"/>
          </p:cNvSpPr>
          <p:nvPr/>
        </p:nvSpPr>
        <p:spPr bwMode="auto">
          <a:xfrm>
            <a:off x="2801938" y="4994275"/>
            <a:ext cx="0" cy="649288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8890" name="Line 58"/>
          <p:cNvSpPr>
            <a:spLocks noChangeShapeType="1"/>
          </p:cNvSpPr>
          <p:nvPr/>
        </p:nvSpPr>
        <p:spPr bwMode="auto">
          <a:xfrm flipV="1">
            <a:off x="5160963" y="3917952"/>
            <a:ext cx="0" cy="17319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" name="Group 81"/>
          <p:cNvGrpSpPr>
            <a:grpSpLocks/>
          </p:cNvGrpSpPr>
          <p:nvPr/>
        </p:nvGrpSpPr>
        <p:grpSpPr bwMode="auto">
          <a:xfrm>
            <a:off x="3182940" y="4589463"/>
            <a:ext cx="7937" cy="1085850"/>
            <a:chOff x="2005" y="2939"/>
            <a:chExt cx="5" cy="684"/>
          </a:xfrm>
        </p:grpSpPr>
        <p:sp>
          <p:nvSpPr>
            <p:cNvPr id="76835" name="Line 43"/>
            <p:cNvSpPr>
              <a:spLocks noChangeShapeType="1"/>
            </p:cNvSpPr>
            <p:nvPr/>
          </p:nvSpPr>
          <p:spPr bwMode="auto">
            <a:xfrm>
              <a:off x="2005" y="3078"/>
              <a:ext cx="0" cy="54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36" name="Line 60"/>
            <p:cNvSpPr>
              <a:spLocks noChangeShapeType="1"/>
            </p:cNvSpPr>
            <p:nvPr/>
          </p:nvSpPr>
          <p:spPr bwMode="auto">
            <a:xfrm>
              <a:off x="2010" y="2939"/>
              <a:ext cx="0" cy="181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8893" name="Line 61"/>
          <p:cNvSpPr>
            <a:spLocks noChangeShapeType="1"/>
          </p:cNvSpPr>
          <p:nvPr/>
        </p:nvSpPr>
        <p:spPr bwMode="auto">
          <a:xfrm flipH="1">
            <a:off x="3975102" y="3946525"/>
            <a:ext cx="1109663" cy="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" name="Group 79"/>
          <p:cNvGrpSpPr>
            <a:grpSpLocks/>
          </p:cNvGrpSpPr>
          <p:nvPr/>
        </p:nvGrpSpPr>
        <p:grpSpPr bwMode="auto">
          <a:xfrm>
            <a:off x="1295400" y="2209800"/>
            <a:ext cx="5105400" cy="3962400"/>
            <a:chOff x="816" y="1440"/>
            <a:chExt cx="3216" cy="2496"/>
          </a:xfrm>
        </p:grpSpPr>
        <p:grpSp>
          <p:nvGrpSpPr>
            <p:cNvPr id="76828" name="Group 78"/>
            <p:cNvGrpSpPr>
              <a:grpSpLocks/>
            </p:cNvGrpSpPr>
            <p:nvPr/>
          </p:nvGrpSpPr>
          <p:grpSpPr bwMode="auto">
            <a:xfrm>
              <a:off x="816" y="1440"/>
              <a:ext cx="3216" cy="2496"/>
              <a:chOff x="816" y="1440"/>
              <a:chExt cx="3216" cy="2496"/>
            </a:xfrm>
          </p:grpSpPr>
          <p:grpSp>
            <p:nvGrpSpPr>
              <p:cNvPr id="76830" name="Group 71"/>
              <p:cNvGrpSpPr>
                <a:grpSpLocks/>
              </p:cNvGrpSpPr>
              <p:nvPr/>
            </p:nvGrpSpPr>
            <p:grpSpPr bwMode="auto">
              <a:xfrm>
                <a:off x="816" y="1557"/>
                <a:ext cx="3185" cy="2182"/>
                <a:chOff x="816" y="1557"/>
                <a:chExt cx="3185" cy="2182"/>
              </a:xfrm>
            </p:grpSpPr>
            <p:sp>
              <p:nvSpPr>
                <p:cNvPr id="76833" name="Line 31"/>
                <p:cNvSpPr>
                  <a:spLocks noChangeShapeType="1"/>
                </p:cNvSpPr>
                <p:nvPr/>
              </p:nvSpPr>
              <p:spPr bwMode="auto">
                <a:xfrm>
                  <a:off x="816" y="3602"/>
                  <a:ext cx="3185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6834" name="Line 32"/>
                <p:cNvSpPr>
                  <a:spLocks noChangeShapeType="1"/>
                </p:cNvSpPr>
                <p:nvPr/>
              </p:nvSpPr>
              <p:spPr bwMode="auto">
                <a:xfrm flipV="1">
                  <a:off x="1203" y="1557"/>
                  <a:ext cx="0" cy="218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76831" name="Text Box 62"/>
              <p:cNvSpPr txBox="1">
                <a:spLocks noChangeArrowheads="1"/>
              </p:cNvSpPr>
              <p:nvPr/>
            </p:nvSpPr>
            <p:spPr bwMode="auto">
              <a:xfrm>
                <a:off x="1248" y="1440"/>
                <a:ext cx="384" cy="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3000"/>
                  <a:t>y</a:t>
                </a:r>
              </a:p>
            </p:txBody>
          </p:sp>
          <p:sp>
            <p:nvSpPr>
              <p:cNvPr id="76832" name="Text Box 63"/>
              <p:cNvSpPr txBox="1">
                <a:spLocks noChangeArrowheads="1"/>
              </p:cNvSpPr>
              <p:nvPr/>
            </p:nvSpPr>
            <p:spPr bwMode="auto">
              <a:xfrm>
                <a:off x="3648" y="3590"/>
                <a:ext cx="384" cy="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3000" i="1">
                    <a:latin typeface="Times New Roman" pitchFamily="18" charset="0"/>
                  </a:rPr>
                  <a:t>x</a:t>
                </a:r>
              </a:p>
            </p:txBody>
          </p:sp>
        </p:grpSp>
        <p:sp>
          <p:nvSpPr>
            <p:cNvPr id="76829" name="Text Box 64"/>
            <p:cNvSpPr txBox="1">
              <a:spLocks noChangeArrowheads="1"/>
            </p:cNvSpPr>
            <p:nvPr/>
          </p:nvSpPr>
          <p:spPr bwMode="auto">
            <a:xfrm>
              <a:off x="816" y="3590"/>
              <a:ext cx="384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zh-CN" sz="3000"/>
                <a:t>0</a:t>
              </a:r>
            </a:p>
          </p:txBody>
        </p:sp>
      </p:grpSp>
      <p:sp>
        <p:nvSpPr>
          <p:cNvPr id="248897" name="Text Box 65"/>
          <p:cNvSpPr txBox="1">
            <a:spLocks noChangeArrowheads="1"/>
          </p:cNvSpPr>
          <p:nvPr/>
        </p:nvSpPr>
        <p:spPr bwMode="auto">
          <a:xfrm>
            <a:off x="2514600" y="5562602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>
                <a:latin typeface="Times New Roman" pitchFamily="18" charset="0"/>
                <a:sym typeface="Symbol" pitchFamily="18" charset="2"/>
              </a:rPr>
              <a:t></a:t>
            </a:r>
          </a:p>
        </p:txBody>
      </p:sp>
      <p:sp>
        <p:nvSpPr>
          <p:cNvPr id="248898" name="Text Box 66"/>
          <p:cNvSpPr txBox="1">
            <a:spLocks noChangeArrowheads="1"/>
          </p:cNvSpPr>
          <p:nvPr/>
        </p:nvSpPr>
        <p:spPr bwMode="auto">
          <a:xfrm>
            <a:off x="2895600" y="5562602"/>
            <a:ext cx="6096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00" i="1">
                <a:latin typeface="Times New Roman" pitchFamily="18" charset="0"/>
              </a:rPr>
              <a:t>x</a:t>
            </a:r>
            <a:r>
              <a:rPr lang="en-US" altLang="zh-CN" sz="3000" baseline="-25000"/>
              <a:t>2</a:t>
            </a:r>
          </a:p>
        </p:txBody>
      </p:sp>
      <p:sp>
        <p:nvSpPr>
          <p:cNvPr id="248899" name="Text Box 67"/>
          <p:cNvSpPr txBox="1">
            <a:spLocks noChangeArrowheads="1"/>
          </p:cNvSpPr>
          <p:nvPr/>
        </p:nvSpPr>
        <p:spPr bwMode="auto">
          <a:xfrm>
            <a:off x="3657600" y="5562602"/>
            <a:ext cx="6096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00" i="1">
                <a:latin typeface="Times New Roman" pitchFamily="18" charset="0"/>
              </a:rPr>
              <a:t>x</a:t>
            </a:r>
            <a:r>
              <a:rPr lang="en-US" altLang="zh-CN" sz="3000" baseline="-25000"/>
              <a:t>1</a:t>
            </a:r>
          </a:p>
        </p:txBody>
      </p:sp>
      <p:sp>
        <p:nvSpPr>
          <p:cNvPr id="248900" name="Text Box 68"/>
          <p:cNvSpPr txBox="1">
            <a:spLocks noChangeArrowheads="1"/>
          </p:cNvSpPr>
          <p:nvPr/>
        </p:nvSpPr>
        <p:spPr bwMode="auto">
          <a:xfrm>
            <a:off x="4876800" y="5562602"/>
            <a:ext cx="6096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00" i="1">
                <a:latin typeface="Times New Roman" pitchFamily="18" charset="0"/>
              </a:rPr>
              <a:t>x</a:t>
            </a:r>
            <a:r>
              <a:rPr lang="en-US" altLang="zh-CN" sz="3000" baseline="-25000"/>
              <a:t>0</a:t>
            </a:r>
          </a:p>
        </p:txBody>
      </p:sp>
      <p:grpSp>
        <p:nvGrpSpPr>
          <p:cNvPr id="7" name="Group 72"/>
          <p:cNvGrpSpPr>
            <a:grpSpLocks/>
          </p:cNvGrpSpPr>
          <p:nvPr/>
        </p:nvGrpSpPr>
        <p:grpSpPr bwMode="auto">
          <a:xfrm>
            <a:off x="1919288" y="2057402"/>
            <a:ext cx="5472112" cy="3586163"/>
            <a:chOff x="1209" y="1344"/>
            <a:chExt cx="3447" cy="2259"/>
          </a:xfrm>
        </p:grpSpPr>
        <p:sp>
          <p:nvSpPr>
            <p:cNvPr id="76826" name="Line 47"/>
            <p:cNvSpPr>
              <a:spLocks noChangeShapeType="1"/>
            </p:cNvSpPr>
            <p:nvPr/>
          </p:nvSpPr>
          <p:spPr bwMode="auto">
            <a:xfrm flipV="1">
              <a:off x="1209" y="1557"/>
              <a:ext cx="2434" cy="2046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27" name="Text Box 69"/>
            <p:cNvSpPr txBox="1">
              <a:spLocks noChangeArrowheads="1"/>
            </p:cNvSpPr>
            <p:nvPr/>
          </p:nvSpPr>
          <p:spPr bwMode="auto">
            <a:xfrm>
              <a:off x="3600" y="1344"/>
              <a:ext cx="1056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00" i="1">
                  <a:solidFill>
                    <a:srgbClr val="FF3300"/>
                  </a:solidFill>
                  <a:latin typeface="Times New Roman" pitchFamily="18" charset="0"/>
                </a:rPr>
                <a:t>y</a:t>
              </a:r>
              <a:r>
                <a:rPr lang="en-US" altLang="zh-CN" sz="3000" baseline="-25000">
                  <a:solidFill>
                    <a:srgbClr val="FF3300"/>
                  </a:solidFill>
                </a:rPr>
                <a:t>1</a:t>
              </a:r>
              <a:r>
                <a:rPr lang="en-US" altLang="zh-CN" sz="3000">
                  <a:solidFill>
                    <a:srgbClr val="FF3300"/>
                  </a:solidFill>
                </a:rPr>
                <a:t>(</a:t>
              </a:r>
              <a:r>
                <a:rPr lang="en-US" altLang="zh-CN" sz="3000" i="1">
                  <a:solidFill>
                    <a:srgbClr val="FF3300"/>
                  </a:solidFill>
                  <a:latin typeface="Times New Roman" pitchFamily="18" charset="0"/>
                </a:rPr>
                <a:t>x</a:t>
              </a:r>
              <a:r>
                <a:rPr lang="en-US" altLang="zh-CN" sz="3000">
                  <a:solidFill>
                    <a:srgbClr val="FF3300"/>
                  </a:solidFill>
                </a:rPr>
                <a:t>)=</a:t>
              </a:r>
              <a:r>
                <a:rPr lang="en-US" altLang="zh-CN" sz="3000" i="1">
                  <a:solidFill>
                    <a:srgbClr val="FF3300"/>
                  </a:solidFill>
                  <a:latin typeface="Times New Roman" pitchFamily="18" charset="0"/>
                </a:rPr>
                <a:t>x</a:t>
              </a:r>
              <a:endParaRPr lang="en-US" altLang="zh-CN" sz="3000" i="1">
                <a:latin typeface="Times New Roman" pitchFamily="18" charset="0"/>
              </a:endParaRPr>
            </a:p>
          </p:txBody>
        </p:sp>
      </p:grpSp>
      <p:grpSp>
        <p:nvGrpSpPr>
          <p:cNvPr id="8" name="Group 73"/>
          <p:cNvGrpSpPr>
            <a:grpSpLocks/>
          </p:cNvGrpSpPr>
          <p:nvPr/>
        </p:nvGrpSpPr>
        <p:grpSpPr bwMode="auto">
          <a:xfrm>
            <a:off x="2016127" y="2895602"/>
            <a:ext cx="6442075" cy="2144713"/>
            <a:chOff x="1270" y="1872"/>
            <a:chExt cx="4058" cy="1351"/>
          </a:xfrm>
        </p:grpSpPr>
        <p:sp>
          <p:nvSpPr>
            <p:cNvPr id="76824" name="Freeform 50"/>
            <p:cNvSpPr>
              <a:spLocks/>
            </p:cNvSpPr>
            <p:nvPr/>
          </p:nvSpPr>
          <p:spPr bwMode="auto">
            <a:xfrm>
              <a:off x="1270" y="2086"/>
              <a:ext cx="2561" cy="1137"/>
            </a:xfrm>
            <a:custGeom>
              <a:avLst/>
              <a:gdLst>
                <a:gd name="T0" fmla="*/ 0 w 2520"/>
                <a:gd name="T1" fmla="*/ 1092 h 1300"/>
                <a:gd name="T2" fmla="*/ 366 w 2520"/>
                <a:gd name="T3" fmla="*/ 1092 h 1300"/>
                <a:gd name="T4" fmla="*/ 1281 w 2520"/>
                <a:gd name="T5" fmla="*/ 819 h 1300"/>
                <a:gd name="T6" fmla="*/ 2195 w 2520"/>
                <a:gd name="T7" fmla="*/ 273 h 1300"/>
                <a:gd name="T8" fmla="*/ 2561 w 2520"/>
                <a:gd name="T9" fmla="*/ 0 h 13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0"/>
                <a:gd name="T16" fmla="*/ 0 h 1300"/>
                <a:gd name="T17" fmla="*/ 2520 w 2520"/>
                <a:gd name="T18" fmla="*/ 1300 h 13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0" h="1300">
                  <a:moveTo>
                    <a:pt x="0" y="1248"/>
                  </a:moveTo>
                  <a:cubicBezTo>
                    <a:pt x="75" y="1274"/>
                    <a:pt x="150" y="1300"/>
                    <a:pt x="360" y="1248"/>
                  </a:cubicBezTo>
                  <a:cubicBezTo>
                    <a:pt x="570" y="1196"/>
                    <a:pt x="960" y="1092"/>
                    <a:pt x="1260" y="936"/>
                  </a:cubicBezTo>
                  <a:cubicBezTo>
                    <a:pt x="1560" y="780"/>
                    <a:pt x="1950" y="468"/>
                    <a:pt x="2160" y="312"/>
                  </a:cubicBezTo>
                  <a:cubicBezTo>
                    <a:pt x="2370" y="156"/>
                    <a:pt x="2445" y="78"/>
                    <a:pt x="2520" y="0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25" name="Text Box 70"/>
            <p:cNvSpPr txBox="1">
              <a:spLocks noChangeArrowheads="1"/>
            </p:cNvSpPr>
            <p:nvPr/>
          </p:nvSpPr>
          <p:spPr bwMode="auto">
            <a:xfrm>
              <a:off x="3744" y="1872"/>
              <a:ext cx="158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200" i="1">
                  <a:solidFill>
                    <a:srgbClr val="0000FF"/>
                  </a:solidFill>
                  <a:latin typeface="Times New Roman" pitchFamily="18" charset="0"/>
                </a:rPr>
                <a:t>y</a:t>
              </a:r>
              <a:r>
                <a:rPr lang="en-US" altLang="zh-CN" sz="3200" baseline="-25000">
                  <a:solidFill>
                    <a:srgbClr val="0000FF"/>
                  </a:solidFill>
                </a:rPr>
                <a:t>2</a:t>
              </a:r>
              <a:r>
                <a:rPr lang="en-US" altLang="zh-CN" sz="3200">
                  <a:solidFill>
                    <a:srgbClr val="0000FF"/>
                  </a:solidFill>
                </a:rPr>
                <a:t>(</a:t>
              </a:r>
              <a:r>
                <a:rPr lang="en-US" altLang="zh-CN" sz="3200" i="1">
                  <a:solidFill>
                    <a:srgbClr val="0000FF"/>
                  </a:solidFill>
                  <a:latin typeface="Times New Roman" pitchFamily="18" charset="0"/>
                </a:rPr>
                <a:t>x</a:t>
              </a:r>
              <a:r>
                <a:rPr lang="en-US" altLang="zh-CN" sz="3200">
                  <a:solidFill>
                    <a:srgbClr val="0000FF"/>
                  </a:solidFill>
                </a:rPr>
                <a:t>)=</a:t>
              </a:r>
              <a:r>
                <a:rPr lang="en-US" altLang="zh-CN" sz="2800" i="1">
                  <a:solidFill>
                    <a:srgbClr val="0000FF"/>
                  </a:solidFill>
                  <a:latin typeface="Times New Roman" pitchFamily="18" charset="0"/>
                  <a:sym typeface="Symbol" pitchFamily="18" charset="2"/>
                </a:rPr>
                <a:t></a:t>
              </a:r>
              <a:r>
                <a:rPr lang="en-US" altLang="zh-CN" sz="3200">
                  <a:solidFill>
                    <a:srgbClr val="0000FF"/>
                  </a:solidFill>
                  <a:latin typeface="Times New Roman" pitchFamily="18" charset="0"/>
                </a:rPr>
                <a:t>(</a:t>
              </a:r>
              <a:r>
                <a:rPr lang="en-US" altLang="zh-CN" sz="3200" i="1">
                  <a:solidFill>
                    <a:srgbClr val="0000FF"/>
                  </a:solidFill>
                  <a:latin typeface="Times New Roman" pitchFamily="18" charset="0"/>
                </a:rPr>
                <a:t>x</a:t>
              </a:r>
              <a:r>
                <a:rPr lang="en-US" altLang="zh-CN" sz="3200">
                  <a:solidFill>
                    <a:srgbClr val="0000FF"/>
                  </a:solidFill>
                  <a:latin typeface="Times New Roman" pitchFamily="18" charset="0"/>
                </a:rPr>
                <a:t>)</a:t>
              </a:r>
            </a:p>
          </p:txBody>
        </p:sp>
      </p:grpSp>
      <p:sp>
        <p:nvSpPr>
          <p:cNvPr id="248906" name="Text Box 74"/>
          <p:cNvSpPr txBox="1">
            <a:spLocks noChangeArrowheads="1"/>
          </p:cNvSpPr>
          <p:nvPr/>
        </p:nvSpPr>
        <p:spPr bwMode="auto">
          <a:xfrm>
            <a:off x="5181600" y="3657602"/>
            <a:ext cx="23622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000"/>
              <a:t>A</a:t>
            </a:r>
            <a:r>
              <a:rPr lang="en-US" altLang="zh-CN" sz="3000" baseline="-25000"/>
              <a:t>0 </a:t>
            </a:r>
            <a:r>
              <a:rPr lang="en-US" altLang="zh-CN" sz="3000"/>
              <a:t>[x</a:t>
            </a:r>
            <a:r>
              <a:rPr lang="en-US" altLang="zh-CN" sz="3000" baseline="-25000"/>
              <a:t>0</a:t>
            </a:r>
            <a:r>
              <a:rPr lang="en-US" altLang="zh-CN" sz="3000"/>
              <a:t>,</a:t>
            </a:r>
            <a:r>
              <a:rPr lang="en-US" altLang="zh-CN" sz="2800">
                <a:latin typeface="Times New Roman" pitchFamily="18" charset="0"/>
                <a:sym typeface="Symbol" pitchFamily="18" charset="2"/>
              </a:rPr>
              <a:t></a:t>
            </a:r>
            <a:r>
              <a:rPr lang="en-US" altLang="zh-CN" sz="3000">
                <a:latin typeface="Times New Roman" pitchFamily="18" charset="0"/>
              </a:rPr>
              <a:t>(</a:t>
            </a:r>
            <a:r>
              <a:rPr lang="en-US" altLang="zh-CN" sz="3000"/>
              <a:t>x</a:t>
            </a:r>
            <a:r>
              <a:rPr lang="en-US" altLang="zh-CN" sz="3000" baseline="-25000"/>
              <a:t>0</a:t>
            </a:r>
            <a:r>
              <a:rPr lang="en-US" altLang="zh-CN" sz="3000">
                <a:latin typeface="Times New Roman" pitchFamily="18" charset="0"/>
              </a:rPr>
              <a:t>)</a:t>
            </a:r>
            <a:r>
              <a:rPr lang="en-US" altLang="zh-CN" sz="3000"/>
              <a:t>]</a:t>
            </a:r>
          </a:p>
        </p:txBody>
      </p:sp>
      <p:sp>
        <p:nvSpPr>
          <p:cNvPr id="248907" name="Text Box 75"/>
          <p:cNvSpPr txBox="1">
            <a:spLocks noChangeArrowheads="1"/>
          </p:cNvSpPr>
          <p:nvPr/>
        </p:nvSpPr>
        <p:spPr bwMode="auto">
          <a:xfrm>
            <a:off x="3276600" y="3657602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/>
              <a:t>A</a:t>
            </a:r>
            <a:r>
              <a:rPr lang="en-US" altLang="zh-CN" sz="2800" baseline="-25000"/>
              <a:t>0</a:t>
            </a:r>
            <a:r>
              <a:rPr lang="en-US" altLang="zh-CN" sz="2800"/>
              <a:t>’</a:t>
            </a:r>
            <a:endParaRPr lang="en-US" altLang="zh-CN" sz="3000"/>
          </a:p>
        </p:txBody>
      </p:sp>
      <p:sp>
        <p:nvSpPr>
          <p:cNvPr id="248908" name="Text Box 76"/>
          <p:cNvSpPr txBox="1">
            <a:spLocks noChangeArrowheads="1"/>
          </p:cNvSpPr>
          <p:nvPr/>
        </p:nvSpPr>
        <p:spPr bwMode="auto">
          <a:xfrm>
            <a:off x="2514600" y="4129088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/>
              <a:t>A</a:t>
            </a:r>
            <a:r>
              <a:rPr lang="en-US" altLang="zh-CN" sz="2800" baseline="-25000"/>
              <a:t>1</a:t>
            </a:r>
            <a:r>
              <a:rPr lang="en-US" altLang="zh-CN" sz="2800"/>
              <a:t>’</a:t>
            </a:r>
            <a:endParaRPr lang="en-US" altLang="zh-CN" sz="3000"/>
          </a:p>
        </p:txBody>
      </p:sp>
      <p:sp>
        <p:nvSpPr>
          <p:cNvPr id="248909" name="Text Box 77"/>
          <p:cNvSpPr txBox="1">
            <a:spLocks noChangeArrowheads="1"/>
          </p:cNvSpPr>
          <p:nvPr/>
        </p:nvSpPr>
        <p:spPr bwMode="auto">
          <a:xfrm>
            <a:off x="4038600" y="4267202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/>
              <a:t>A</a:t>
            </a:r>
            <a:r>
              <a:rPr lang="en-US" altLang="zh-CN" sz="2800" baseline="-25000"/>
              <a:t>1</a:t>
            </a:r>
            <a:endParaRPr lang="en-US" altLang="zh-CN" sz="3000"/>
          </a:p>
        </p:txBody>
      </p:sp>
      <p:sp>
        <p:nvSpPr>
          <p:cNvPr id="248914" name="Text Box 82"/>
          <p:cNvSpPr txBox="1">
            <a:spLocks noChangeArrowheads="1"/>
          </p:cNvSpPr>
          <p:nvPr/>
        </p:nvSpPr>
        <p:spPr bwMode="auto">
          <a:xfrm>
            <a:off x="2209800" y="4495802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/>
              <a:t>A</a:t>
            </a:r>
            <a:endParaRPr lang="en-US" altLang="zh-CN" sz="300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9" presetID="1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13" presetID="1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17" presetID="12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9" dur="500"/>
                                        <p:tgtEl>
                                          <p:spTgt spid="248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248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8" dur="500"/>
                                        <p:tgtEl>
                                          <p:spTgt spid="248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248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7" dur="500"/>
                                        <p:tgtEl>
                                          <p:spTgt spid="248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2" dur="500"/>
                                        <p:tgtEl>
                                          <p:spTgt spid="248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6" dur="500"/>
                                        <p:tgtEl>
                                          <p:spTgt spid="248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5" dur="500"/>
                                        <p:tgtEl>
                                          <p:spTgt spid="248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9" dur="500"/>
                                        <p:tgtEl>
                                          <p:spTgt spid="248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4" dur="500"/>
                                        <p:tgtEl>
                                          <p:spTgt spid="248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8" dur="500"/>
                                        <p:tgtEl>
                                          <p:spTgt spid="248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7" dur="500"/>
                                        <p:tgtEl>
                                          <p:spTgt spid="248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1" dur="500"/>
                                        <p:tgtEl>
                                          <p:spTgt spid="24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874" grpId="0" animBg="1"/>
      <p:bldP spid="248885" grpId="0" animBg="1"/>
      <p:bldP spid="248890" grpId="0" animBg="1"/>
      <p:bldP spid="248893" grpId="0" animBg="1"/>
      <p:bldP spid="248897" grpId="0" autoUpdateAnimBg="0"/>
      <p:bldP spid="248898" grpId="0" autoUpdateAnimBg="0"/>
      <p:bldP spid="248899" grpId="0" autoUpdateAnimBg="0"/>
      <p:bldP spid="248900" grpId="0" autoUpdateAnimBg="0"/>
      <p:bldP spid="248906" grpId="0" autoUpdateAnimBg="0"/>
      <p:bldP spid="248907" grpId="0" autoUpdateAnimBg="0"/>
      <p:bldP spid="248908" grpId="0" autoUpdateAnimBg="0"/>
      <p:bldP spid="248909" grpId="0" autoUpdateAnimBg="0"/>
      <p:bldP spid="248914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0075" y="1292225"/>
            <a:ext cx="8142288" cy="2520690"/>
          </a:xfrm>
        </p:spPr>
        <p:txBody>
          <a:bodyPr/>
          <a:lstStyle/>
          <a:p>
            <a:pPr indent="298450">
              <a:lnSpc>
                <a:spcPct val="120000"/>
              </a:lnSpc>
            </a:pPr>
            <a:r>
              <a:rPr lang="zh-CN" altLang="zh-CN" dirty="0">
                <a:ea typeface="楷体_GB2312" pitchFamily="1" charset="-122"/>
              </a:rPr>
              <a:t>使用迭代法求解非线性代数方程</a:t>
            </a:r>
            <a:r>
              <a:rPr lang="zh-CN" altLang="zh-CN" dirty="0" smtClean="0">
                <a:ea typeface="楷体_GB2312" pitchFamily="1" charset="-122"/>
              </a:rPr>
              <a:t>的</a:t>
            </a:r>
            <a:r>
              <a:rPr lang="zh-CN" altLang="en-US" dirty="0" smtClean="0">
                <a:ea typeface="楷体_GB2312" pitchFamily="1" charset="-122"/>
              </a:rPr>
              <a:t>内容包括</a:t>
            </a:r>
            <a:r>
              <a:rPr lang="zh-CN" altLang="zh-CN" dirty="0" smtClean="0">
                <a:ea typeface="楷体_GB2312" pitchFamily="1" charset="-122"/>
              </a:rPr>
              <a:t>：</a:t>
            </a:r>
            <a:endParaRPr lang="zh-CN" altLang="zh-CN" dirty="0">
              <a:ea typeface="楷体_GB2312" pitchFamily="1" charset="-122"/>
            </a:endParaRPr>
          </a:p>
          <a:p>
            <a:pPr lvl="1" indent="298450">
              <a:lnSpc>
                <a:spcPct val="120000"/>
              </a:lnSpc>
            </a:pPr>
            <a:r>
              <a:rPr lang="zh-CN" altLang="zh-CN" dirty="0">
                <a:ea typeface="楷体_GB2312" pitchFamily="1" charset="-122"/>
              </a:rPr>
              <a:t>(1) 迭代格式的构造；</a:t>
            </a:r>
          </a:p>
          <a:p>
            <a:pPr lvl="1" indent="298450">
              <a:lnSpc>
                <a:spcPct val="120000"/>
              </a:lnSpc>
            </a:pPr>
            <a:r>
              <a:rPr lang="zh-CN" altLang="zh-CN" dirty="0">
                <a:ea typeface="楷体_GB2312" pitchFamily="1" charset="-122"/>
              </a:rPr>
              <a:t>(2) 迭代格式的收敛性分析；</a:t>
            </a:r>
          </a:p>
          <a:p>
            <a:pPr lvl="1" indent="298450">
              <a:lnSpc>
                <a:spcPct val="120000"/>
              </a:lnSpc>
            </a:pPr>
            <a:r>
              <a:rPr lang="zh-CN" altLang="zh-CN" dirty="0">
                <a:ea typeface="楷体_GB2312" pitchFamily="1" charset="-122"/>
              </a:rPr>
              <a:t>(3) 迭代格式的收敛速度与误差分析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EB2D8C-C595-4C75-A410-92E615560A69}" type="slidenum">
              <a:rPr lang="zh-CN" altLang="en-US" smtClean="0"/>
              <a:pPr>
                <a:defRPr/>
              </a:pPr>
              <a:t>24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F4F2C565-DEEA-484F-99D9-2BCC1484ACAF}" type="datetime1">
              <a:rPr lang="zh-CN" altLang="en-US" smtClean="0"/>
              <a:pPr>
                <a:defRPr/>
              </a:pPr>
              <a:t>2024/9/22</a:t>
            </a:fld>
            <a:endParaRPr lang="en-US" altLang="zh-CN" sz="1000"/>
          </a:p>
        </p:txBody>
      </p:sp>
    </p:spTree>
    <p:extLst>
      <p:ext uri="{BB962C8B-B14F-4D97-AF65-F5344CB8AC3E}">
        <p14:creationId xmlns:p14="http://schemas.microsoft.com/office/powerpoint/2010/main" val="3480382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04F59075-EC9B-4F38-AAA6-28A2E14D043D}" type="slidenum">
              <a:rPr lang="zh-CN" altLang="en-US"/>
              <a:pPr/>
              <a:t>25</a:t>
            </a:fld>
            <a:endParaRPr lang="en-US" altLang="zh-CN"/>
          </a:p>
        </p:txBody>
      </p:sp>
      <p:sp>
        <p:nvSpPr>
          <p:cNvPr id="77827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71C57E64-AB48-43DC-9B6A-F654997E2A62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244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>
                <a:latin typeface="Times New Roman" pitchFamily="18" charset="0"/>
              </a:rPr>
              <a:t>2.2  迭代法求解过程</a:t>
            </a:r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123952"/>
            <a:ext cx="8142288" cy="5211763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mtClean="0">
                <a:latin typeface="宋体" pitchFamily="2" charset="-122"/>
              </a:rPr>
              <a:t>例2.3　用迭代法求方程 </a:t>
            </a:r>
            <a:r>
              <a:rPr lang="en-US" altLang="zh-CN" i="1" smtClean="0"/>
              <a:t>f</a:t>
            </a:r>
            <a:r>
              <a:rPr lang="en-US" altLang="zh-CN" smtClean="0"/>
              <a:t>(</a:t>
            </a:r>
            <a:r>
              <a:rPr lang="en-US" altLang="zh-CN" i="1" smtClean="0"/>
              <a:t>x</a:t>
            </a:r>
            <a:r>
              <a:rPr lang="en-US" altLang="zh-CN" smtClean="0"/>
              <a:t>)</a:t>
            </a:r>
            <a:r>
              <a:rPr lang="en-US" altLang="zh-CN" i="1" smtClean="0"/>
              <a:t>=x</a:t>
            </a:r>
            <a:r>
              <a:rPr lang="en-US" altLang="zh-CN" baseline="30000" smtClean="0"/>
              <a:t>3</a:t>
            </a:r>
            <a:r>
              <a:rPr lang="en-US" altLang="zh-CN" smtClean="0"/>
              <a:t>- </a:t>
            </a:r>
            <a:r>
              <a:rPr lang="en-US" altLang="zh-CN" i="1" smtClean="0"/>
              <a:t>x </a:t>
            </a:r>
            <a:r>
              <a:rPr lang="en-US" altLang="zh-CN" smtClean="0"/>
              <a:t>-1</a:t>
            </a:r>
            <a:r>
              <a:rPr lang="en-US" altLang="zh-CN" i="1" smtClean="0"/>
              <a:t>=</a:t>
            </a:r>
            <a:r>
              <a:rPr lang="en-US" altLang="zh-CN" smtClean="0"/>
              <a:t>0</a:t>
            </a:r>
            <a:r>
              <a:rPr lang="en-US" altLang="zh-CN" smtClean="0">
                <a:latin typeface="宋体" pitchFamily="2" charset="-122"/>
              </a:rPr>
              <a:t> </a:t>
            </a:r>
            <a:r>
              <a:rPr lang="zh-CN" altLang="en-US" smtClean="0">
                <a:latin typeface="宋体" pitchFamily="2" charset="-122"/>
              </a:rPr>
              <a:t>在</a:t>
            </a:r>
            <a:r>
              <a:rPr lang="en-US" altLang="zh-CN" i="1" smtClean="0"/>
              <a:t>x</a:t>
            </a:r>
            <a:r>
              <a:rPr lang="en-US" altLang="zh-CN" baseline="-25000" smtClean="0"/>
              <a:t>0</a:t>
            </a:r>
            <a:r>
              <a:rPr lang="en-US" altLang="zh-CN" smtClean="0">
                <a:cs typeface="Times New Roman" pitchFamily="18" charset="0"/>
              </a:rPr>
              <a:t>=1.5</a:t>
            </a:r>
            <a:r>
              <a:rPr lang="zh-CN" altLang="en-US" smtClean="0">
                <a:latin typeface="宋体" pitchFamily="2" charset="-122"/>
              </a:rPr>
              <a:t>附近的根</a:t>
            </a:r>
            <a:r>
              <a:rPr lang="zh-CN" altLang="en-US" smtClean="0"/>
              <a:t> </a:t>
            </a:r>
          </a:p>
          <a:p>
            <a:pPr>
              <a:lnSpc>
                <a:spcPct val="120000"/>
              </a:lnSpc>
            </a:pPr>
            <a:r>
              <a:rPr lang="zh-CN" altLang="en-US" smtClean="0">
                <a:latin typeface="宋体" pitchFamily="2" charset="-122"/>
              </a:rPr>
              <a:t>解：将方程改写为</a:t>
            </a:r>
            <a:r>
              <a:rPr lang="zh-CN" altLang="en-US" smtClean="0"/>
              <a:t> </a:t>
            </a:r>
            <a:r>
              <a:rPr lang="en-US" altLang="zh-CN" i="1" smtClean="0"/>
              <a:t>x=</a:t>
            </a:r>
            <a:r>
              <a:rPr lang="en-US" altLang="zh-CN" smtClean="0"/>
              <a:t>(1</a:t>
            </a:r>
            <a:r>
              <a:rPr lang="en-US" altLang="zh-CN" i="1" smtClean="0"/>
              <a:t>+x</a:t>
            </a:r>
            <a:r>
              <a:rPr lang="en-US" altLang="zh-CN" smtClean="0"/>
              <a:t>)</a:t>
            </a:r>
            <a:r>
              <a:rPr lang="en-US" altLang="zh-CN" baseline="30000" smtClean="0"/>
              <a:t>1/3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mtClean="0">
                <a:latin typeface="宋体" pitchFamily="2" charset="-122"/>
              </a:rPr>
              <a:t>		按上式建立迭代公式</a:t>
            </a:r>
            <a:r>
              <a:rPr lang="zh-CN" altLang="en-US" smtClean="0"/>
              <a:t> </a:t>
            </a:r>
            <a:r>
              <a:rPr lang="en-US" altLang="zh-CN" i="1" smtClean="0"/>
              <a:t>x</a:t>
            </a:r>
            <a:r>
              <a:rPr lang="en-US" altLang="zh-CN" i="1" baseline="-25000" smtClean="0"/>
              <a:t>n+</a:t>
            </a:r>
            <a:r>
              <a:rPr lang="en-US" altLang="zh-CN" baseline="-25000" smtClean="0"/>
              <a:t>1</a:t>
            </a:r>
            <a:r>
              <a:rPr lang="en-US" altLang="zh-CN" i="1" smtClean="0"/>
              <a:t>=</a:t>
            </a:r>
            <a:r>
              <a:rPr lang="en-US" altLang="zh-CN" smtClean="0"/>
              <a:t>(1</a:t>
            </a:r>
            <a:r>
              <a:rPr lang="en-US" altLang="zh-CN" i="1" smtClean="0"/>
              <a:t>+x</a:t>
            </a:r>
            <a:r>
              <a:rPr lang="en-US" altLang="zh-CN" i="1" baseline="-25000" smtClean="0"/>
              <a:t>n</a:t>
            </a:r>
            <a:r>
              <a:rPr lang="en-US" altLang="zh-CN" smtClean="0"/>
              <a:t>)</a:t>
            </a:r>
            <a:r>
              <a:rPr lang="en-US" altLang="zh-CN" baseline="30000" smtClean="0"/>
              <a:t>1/3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mtClean="0">
                <a:latin typeface="宋体" pitchFamily="2" charset="-122"/>
              </a:rPr>
              <a:t>		取</a:t>
            </a:r>
            <a:r>
              <a:rPr lang="en-US" altLang="zh-CN" i="1" smtClean="0"/>
              <a:t>x</a:t>
            </a:r>
            <a:r>
              <a:rPr lang="en-US" altLang="zh-CN" baseline="-25000" smtClean="0"/>
              <a:t>0</a:t>
            </a:r>
            <a:r>
              <a:rPr lang="en-US" altLang="zh-CN" smtClean="0">
                <a:cs typeface="Times New Roman" pitchFamily="18" charset="0"/>
              </a:rPr>
              <a:t>=1.5</a:t>
            </a:r>
            <a:r>
              <a:rPr lang="zh-CN" altLang="en-US" smtClean="0">
                <a:latin typeface="宋体" pitchFamily="2" charset="-122"/>
              </a:rPr>
              <a:t>逐次迭代得</a:t>
            </a:r>
            <a:r>
              <a:rPr lang="en-US" altLang="zh-CN" i="1" smtClean="0"/>
              <a:t>x</a:t>
            </a:r>
            <a:r>
              <a:rPr lang="en-US" altLang="zh-CN" baseline="-25000" smtClean="0"/>
              <a:t>0</a:t>
            </a:r>
            <a:r>
              <a:rPr lang="en-US" altLang="zh-CN" smtClean="0">
                <a:latin typeface="宋体" pitchFamily="2" charset="-122"/>
              </a:rPr>
              <a:t>=1.5,</a:t>
            </a:r>
            <a:r>
              <a:rPr lang="en-US" altLang="zh-CN" i="1" smtClean="0"/>
              <a:t>x</a:t>
            </a:r>
            <a:r>
              <a:rPr lang="en-US" altLang="zh-CN" baseline="-25000" smtClean="0"/>
              <a:t>1</a:t>
            </a:r>
            <a:r>
              <a:rPr lang="en-US" altLang="zh-CN" smtClean="0">
                <a:latin typeface="宋体" pitchFamily="2" charset="-122"/>
              </a:rPr>
              <a:t>=1.35721, </a:t>
            </a:r>
            <a:r>
              <a:rPr lang="en-US" altLang="zh-CN" i="1" smtClean="0"/>
              <a:t>x</a:t>
            </a:r>
            <a:r>
              <a:rPr lang="en-US" altLang="zh-CN" baseline="-25000" smtClean="0"/>
              <a:t>2</a:t>
            </a:r>
            <a:r>
              <a:rPr lang="en-US" altLang="zh-CN" smtClean="0">
                <a:latin typeface="宋体" pitchFamily="2" charset="-122"/>
              </a:rPr>
              <a:t>=1.33086, </a:t>
            </a:r>
            <a:r>
              <a:rPr lang="en-US" altLang="zh-CN" i="1" smtClean="0"/>
              <a:t>x</a:t>
            </a:r>
            <a:r>
              <a:rPr lang="en-US" altLang="zh-CN" baseline="-25000" smtClean="0"/>
              <a:t>3</a:t>
            </a:r>
            <a:r>
              <a:rPr lang="en-US" altLang="zh-CN" smtClean="0">
                <a:latin typeface="宋体" pitchFamily="2" charset="-122"/>
              </a:rPr>
              <a:t>=1.32588, </a:t>
            </a:r>
            <a:r>
              <a:rPr lang="en-US" altLang="zh-CN" i="1" smtClean="0"/>
              <a:t>x</a:t>
            </a:r>
            <a:r>
              <a:rPr lang="en-US" altLang="zh-CN" baseline="-25000" smtClean="0"/>
              <a:t>4</a:t>
            </a:r>
            <a:r>
              <a:rPr lang="en-US" altLang="zh-CN" smtClean="0">
                <a:latin typeface="宋体" pitchFamily="2" charset="-122"/>
              </a:rPr>
              <a:t>=1.32494, </a:t>
            </a:r>
            <a:r>
              <a:rPr lang="en-US" altLang="zh-CN" i="1" smtClean="0"/>
              <a:t>x</a:t>
            </a:r>
            <a:r>
              <a:rPr lang="en-US" altLang="zh-CN" baseline="-25000" smtClean="0"/>
              <a:t>5</a:t>
            </a:r>
            <a:r>
              <a:rPr lang="en-US" altLang="zh-CN" smtClean="0">
                <a:latin typeface="宋体" pitchFamily="2" charset="-122"/>
              </a:rPr>
              <a:t>=1.32476, </a:t>
            </a:r>
            <a:r>
              <a:rPr lang="en-US" altLang="zh-CN" i="1" smtClean="0"/>
              <a:t>x</a:t>
            </a:r>
            <a:r>
              <a:rPr lang="en-US" altLang="zh-CN" baseline="-25000" smtClean="0"/>
              <a:t>6</a:t>
            </a:r>
            <a:r>
              <a:rPr lang="en-US" altLang="zh-CN" smtClean="0">
                <a:latin typeface="宋体" pitchFamily="2" charset="-122"/>
              </a:rPr>
              <a:t>=1.32473, </a:t>
            </a:r>
            <a:r>
              <a:rPr lang="en-US" altLang="zh-CN" i="1" smtClean="0"/>
              <a:t>x</a:t>
            </a:r>
            <a:r>
              <a:rPr lang="en-US" altLang="zh-CN" baseline="-25000" smtClean="0"/>
              <a:t>7</a:t>
            </a:r>
            <a:r>
              <a:rPr lang="en-US" altLang="zh-CN" smtClean="0">
                <a:latin typeface="宋体" pitchFamily="2" charset="-122"/>
              </a:rPr>
              <a:t>=1.32472, </a:t>
            </a:r>
            <a:r>
              <a:rPr lang="en-US" altLang="zh-CN" i="1" smtClean="0"/>
              <a:t>x</a:t>
            </a:r>
            <a:r>
              <a:rPr lang="en-US" altLang="zh-CN" baseline="-25000" smtClean="0"/>
              <a:t>8</a:t>
            </a:r>
            <a:r>
              <a:rPr lang="en-US" altLang="zh-CN" smtClean="0">
                <a:latin typeface="宋体" pitchFamily="2" charset="-122"/>
              </a:rPr>
              <a:t>=1.32472 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mtClean="0">
                <a:latin typeface="宋体" pitchFamily="2" charset="-122"/>
              </a:rPr>
              <a:t>    </a:t>
            </a:r>
            <a:r>
              <a:rPr lang="en-US" altLang="zh-CN" i="1" smtClean="0"/>
              <a:t>x</a:t>
            </a:r>
            <a:r>
              <a:rPr lang="en-US" altLang="zh-CN" smtClean="0">
                <a:latin typeface="宋体" pitchFamily="2" charset="-122"/>
              </a:rPr>
              <a:t>=1.32472</a:t>
            </a:r>
            <a:endParaRPr lang="zh-CN" altLang="zh-CN" smtClean="0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44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44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44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44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44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739" grpId="0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73B92CE2-2E44-40F0-A437-69BD94F0AE66}" type="slidenum">
              <a:rPr lang="zh-CN" altLang="en-US"/>
              <a:pPr/>
              <a:t>26</a:t>
            </a:fld>
            <a:endParaRPr lang="en-US" altLang="zh-CN"/>
          </a:p>
        </p:txBody>
      </p:sp>
      <p:sp>
        <p:nvSpPr>
          <p:cNvPr id="78851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DB95CE92-B76D-4752-A269-E849629EA1A6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>
                <a:latin typeface="Times New Roman" pitchFamily="18" charset="0"/>
              </a:rPr>
              <a:t>2.2  迭代法求解过程</a:t>
            </a:r>
          </a:p>
        </p:txBody>
      </p:sp>
      <p:sp>
        <p:nvSpPr>
          <p:cNvPr id="245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219200"/>
            <a:ext cx="8142288" cy="459105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 smtClean="0">
                <a:latin typeface="宋体" pitchFamily="2" charset="-122"/>
              </a:rPr>
              <a:t>例2.3　用迭代法求方程 </a:t>
            </a:r>
            <a:r>
              <a:rPr lang="en-US" altLang="zh-CN" i="1" dirty="0" smtClean="0"/>
              <a:t>f(x)=x</a:t>
            </a:r>
            <a:r>
              <a:rPr lang="en-US" altLang="zh-CN" baseline="30000" dirty="0" smtClean="0"/>
              <a:t>3</a:t>
            </a:r>
            <a:r>
              <a:rPr lang="en-US" altLang="zh-CN" dirty="0" smtClean="0"/>
              <a:t>- </a:t>
            </a:r>
            <a:r>
              <a:rPr lang="en-US" altLang="zh-CN" i="1" dirty="0" smtClean="0"/>
              <a:t>x </a:t>
            </a:r>
            <a:r>
              <a:rPr lang="en-US" altLang="zh-CN" dirty="0" smtClean="0"/>
              <a:t>-1</a:t>
            </a:r>
            <a:r>
              <a:rPr lang="en-US" altLang="zh-CN" i="1" dirty="0" smtClean="0"/>
              <a:t>=</a:t>
            </a:r>
            <a:r>
              <a:rPr lang="en-US" altLang="zh-CN" dirty="0" smtClean="0"/>
              <a:t>0</a:t>
            </a:r>
            <a:r>
              <a:rPr lang="en-US" altLang="zh-CN" dirty="0" smtClean="0">
                <a:latin typeface="宋体" pitchFamily="2" charset="-122"/>
              </a:rPr>
              <a:t> </a:t>
            </a:r>
            <a:r>
              <a:rPr lang="zh-CN" altLang="en-US" dirty="0" smtClean="0">
                <a:latin typeface="宋体" pitchFamily="2" charset="-122"/>
              </a:rPr>
              <a:t>在</a:t>
            </a:r>
            <a:r>
              <a:rPr lang="en-US" altLang="zh-CN" i="1" dirty="0" smtClean="0"/>
              <a:t>x</a:t>
            </a:r>
            <a:r>
              <a:rPr lang="en-US" altLang="zh-CN" baseline="-25000" dirty="0" smtClean="0"/>
              <a:t>0</a:t>
            </a:r>
            <a:r>
              <a:rPr lang="en-US" altLang="zh-CN" dirty="0" smtClean="0">
                <a:cs typeface="Times New Roman" pitchFamily="18" charset="0"/>
              </a:rPr>
              <a:t>=1.5</a:t>
            </a:r>
            <a:r>
              <a:rPr lang="zh-CN" altLang="en-US" dirty="0" smtClean="0">
                <a:latin typeface="宋体" pitchFamily="2" charset="-122"/>
              </a:rPr>
              <a:t>附近的根</a:t>
            </a:r>
            <a:endParaRPr lang="zh-CN" altLang="en-US" dirty="0" smtClean="0"/>
          </a:p>
          <a:p>
            <a:pPr>
              <a:lnSpc>
                <a:spcPct val="110000"/>
              </a:lnSpc>
            </a:pPr>
            <a:r>
              <a:rPr lang="zh-CN" altLang="en-US" dirty="0" smtClean="0">
                <a:latin typeface="宋体" pitchFamily="2" charset="-122"/>
              </a:rPr>
              <a:t>&lt;解法二&gt;将方程改写为</a:t>
            </a:r>
            <a:r>
              <a:rPr lang="zh-CN" altLang="en-US" dirty="0" smtClean="0"/>
              <a:t> </a:t>
            </a:r>
            <a:r>
              <a:rPr lang="en-US" altLang="zh-CN" i="1" dirty="0" smtClean="0"/>
              <a:t>x</a:t>
            </a:r>
            <a:r>
              <a:rPr lang="en-US" altLang="zh-CN" dirty="0" smtClean="0"/>
              <a:t>=</a:t>
            </a:r>
            <a:r>
              <a:rPr lang="en-US" altLang="zh-CN" i="1" dirty="0" smtClean="0"/>
              <a:t>x</a:t>
            </a:r>
            <a:r>
              <a:rPr lang="en-US" altLang="zh-CN" baseline="30000" dirty="0" smtClean="0"/>
              <a:t>3</a:t>
            </a:r>
            <a:r>
              <a:rPr lang="en-US" altLang="zh-CN" dirty="0" smtClean="0"/>
              <a:t>-1，</a:t>
            </a:r>
            <a:r>
              <a:rPr lang="zh-CN" altLang="en-US" dirty="0" smtClean="0"/>
              <a:t>建立迭代公式            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dirty="0" smtClean="0"/>
              <a:t>           </a:t>
            </a:r>
            <a:r>
              <a:rPr lang="en-US" altLang="zh-CN" i="1" dirty="0" smtClean="0"/>
              <a:t>x</a:t>
            </a:r>
            <a:r>
              <a:rPr lang="en-US" altLang="zh-CN" baseline="-25000" dirty="0" smtClean="0"/>
              <a:t>n+1</a:t>
            </a:r>
            <a:r>
              <a:rPr lang="en-US" altLang="zh-CN" dirty="0" smtClean="0"/>
              <a:t>=</a:t>
            </a:r>
            <a:r>
              <a:rPr lang="en-US" altLang="zh-CN" i="1" dirty="0" smtClean="0"/>
              <a:t>x</a:t>
            </a:r>
            <a:r>
              <a:rPr lang="en-US" altLang="zh-CN" baseline="-25000" dirty="0" smtClean="0"/>
              <a:t>n</a:t>
            </a:r>
            <a:r>
              <a:rPr lang="en-US" altLang="zh-CN" baseline="30000" dirty="0" smtClean="0"/>
              <a:t>3</a:t>
            </a:r>
            <a:r>
              <a:rPr lang="en-US" altLang="zh-CN" dirty="0" smtClean="0"/>
              <a:t>-1，</a:t>
            </a:r>
            <a:endParaRPr lang="zh-CN" altLang="en-US" dirty="0" smtClean="0"/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dirty="0" smtClean="0"/>
              <a:t>           </a:t>
            </a:r>
            <a:r>
              <a:rPr lang="en-US" altLang="zh-CN" i="1" dirty="0" smtClean="0"/>
              <a:t>x</a:t>
            </a:r>
            <a:r>
              <a:rPr lang="en-US" altLang="zh-CN" baseline="-25000" dirty="0" smtClean="0"/>
              <a:t>0</a:t>
            </a:r>
            <a:r>
              <a:rPr lang="en-US" altLang="zh-CN" dirty="0" smtClean="0">
                <a:latin typeface="宋体" pitchFamily="2" charset="-122"/>
              </a:rPr>
              <a:t>=1.5, </a:t>
            </a:r>
            <a:r>
              <a:rPr lang="en-US" altLang="zh-CN" i="1" dirty="0" smtClean="0"/>
              <a:t>x</a:t>
            </a:r>
            <a:r>
              <a:rPr lang="en-US" altLang="zh-CN" baseline="-25000" dirty="0" smtClean="0"/>
              <a:t>1</a:t>
            </a:r>
            <a:r>
              <a:rPr lang="en-US" altLang="zh-CN" dirty="0" smtClean="0">
                <a:latin typeface="宋体" pitchFamily="2" charset="-122"/>
              </a:rPr>
              <a:t>=2.375, </a:t>
            </a:r>
            <a:r>
              <a:rPr lang="en-US" altLang="zh-CN" i="1" dirty="0" smtClean="0"/>
              <a:t>x</a:t>
            </a:r>
            <a:r>
              <a:rPr lang="en-US" altLang="zh-CN" baseline="-25000" dirty="0" smtClean="0"/>
              <a:t>2</a:t>
            </a:r>
            <a:r>
              <a:rPr lang="en-US" altLang="zh-CN" dirty="0" smtClean="0">
                <a:latin typeface="宋体" pitchFamily="2" charset="-122"/>
              </a:rPr>
              <a:t>=12.39,</a:t>
            </a:r>
            <a:r>
              <a:rPr lang="en-US" altLang="zh-CN" dirty="0" smtClean="0"/>
              <a:t>……</a:t>
            </a:r>
            <a:endParaRPr lang="en-US" altLang="zh-CN" dirty="0" smtClean="0">
              <a:latin typeface="宋体" pitchFamily="2" charset="-122"/>
            </a:endParaRPr>
          </a:p>
          <a:p>
            <a:pPr>
              <a:lnSpc>
                <a:spcPct val="110000"/>
              </a:lnSpc>
            </a:pPr>
            <a:r>
              <a:rPr lang="zh-CN" altLang="en-US" dirty="0" smtClean="0">
                <a:latin typeface="宋体" pitchFamily="2" charset="-122"/>
              </a:rPr>
              <a:t>迭代法失效。</a:t>
            </a:r>
          </a:p>
          <a:p>
            <a:pPr>
              <a:lnSpc>
                <a:spcPct val="110000"/>
              </a:lnSpc>
            </a:pPr>
            <a:r>
              <a:rPr lang="zh-CN" altLang="en-US" dirty="0" smtClean="0">
                <a:latin typeface="宋体" pitchFamily="2" charset="-122"/>
              </a:rPr>
              <a:t>迭代序列有极限存在的迭代过程称为收敛的迭代过程；否则就是发散的。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45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45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45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45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45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457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63" grpId="0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7F296BE7-B540-4E33-A3DF-B7281A1C08AF}" type="slidenum">
              <a:rPr lang="zh-CN" altLang="en-US"/>
              <a:pPr/>
              <a:t>27</a:t>
            </a:fld>
            <a:endParaRPr lang="en-US" altLang="zh-CN"/>
          </a:p>
        </p:txBody>
      </p:sp>
      <p:sp>
        <p:nvSpPr>
          <p:cNvPr id="79875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C8DF1C4E-3A5C-4DE7-A7E0-658FFE2E3909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222452"/>
            <a:ext cx="8142288" cy="609398"/>
          </a:xfrm>
        </p:spPr>
        <p:txBody>
          <a:bodyPr/>
          <a:lstStyle/>
          <a:p>
            <a:pPr>
              <a:defRPr/>
            </a:pPr>
            <a:r>
              <a:rPr lang="zh-CN" altLang="en-US" smtClean="0">
                <a:latin typeface="Times New Roman" pitchFamily="18" charset="0"/>
              </a:rPr>
              <a:t>2.3  迭代解法的几何意义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914400" y="852488"/>
            <a:ext cx="3505200" cy="2971800"/>
            <a:chOff x="1296" y="1056"/>
            <a:chExt cx="2208" cy="1872"/>
          </a:xfrm>
        </p:grpSpPr>
        <p:sp>
          <p:nvSpPr>
            <p:cNvPr id="79977" name="Line 5"/>
            <p:cNvSpPr>
              <a:spLocks noChangeShapeType="1"/>
            </p:cNvSpPr>
            <p:nvPr/>
          </p:nvSpPr>
          <p:spPr bwMode="auto">
            <a:xfrm>
              <a:off x="1296" y="2784"/>
              <a:ext cx="22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78" name="Line 6"/>
            <p:cNvSpPr>
              <a:spLocks noChangeShapeType="1"/>
            </p:cNvSpPr>
            <p:nvPr/>
          </p:nvSpPr>
          <p:spPr bwMode="auto">
            <a:xfrm flipV="1">
              <a:off x="1344" y="1104"/>
              <a:ext cx="0" cy="18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79" name="Text Box 7"/>
            <p:cNvSpPr txBox="1">
              <a:spLocks noChangeArrowheads="1"/>
            </p:cNvSpPr>
            <p:nvPr/>
          </p:nvSpPr>
          <p:spPr bwMode="auto">
            <a:xfrm>
              <a:off x="3312" y="2592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sz="1800" i="1">
                  <a:latin typeface="Times New Roman" pitchFamily="18" charset="0"/>
                </a:rPr>
                <a:t>x</a:t>
              </a:r>
            </a:p>
          </p:txBody>
        </p:sp>
        <p:sp>
          <p:nvSpPr>
            <p:cNvPr id="79980" name="Text Box 8"/>
            <p:cNvSpPr txBox="1">
              <a:spLocks noChangeArrowheads="1"/>
            </p:cNvSpPr>
            <p:nvPr/>
          </p:nvSpPr>
          <p:spPr bwMode="auto">
            <a:xfrm>
              <a:off x="1344" y="105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sz="1800" i="1">
                  <a:latin typeface="Times New Roman" pitchFamily="18" charset="0"/>
                </a:rPr>
                <a:t>y</a:t>
              </a:r>
            </a:p>
          </p:txBody>
        </p:sp>
        <p:sp>
          <p:nvSpPr>
            <p:cNvPr id="79981" name="Line 9"/>
            <p:cNvSpPr>
              <a:spLocks noChangeShapeType="1"/>
            </p:cNvSpPr>
            <p:nvPr/>
          </p:nvSpPr>
          <p:spPr bwMode="auto">
            <a:xfrm flipV="1">
              <a:off x="1344" y="1296"/>
              <a:ext cx="1488" cy="148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82" name="Text Box 10"/>
            <p:cNvSpPr txBox="1">
              <a:spLocks noChangeArrowheads="1"/>
            </p:cNvSpPr>
            <p:nvPr/>
          </p:nvSpPr>
          <p:spPr bwMode="auto">
            <a:xfrm>
              <a:off x="2832" y="1104"/>
              <a:ext cx="43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i="1">
                  <a:latin typeface="Times New Roman" pitchFamily="18" charset="0"/>
                </a:rPr>
                <a:t>y = x</a:t>
              </a:r>
            </a:p>
          </p:txBody>
        </p:sp>
      </p:grp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5105400" y="3748088"/>
            <a:ext cx="3505200" cy="2971800"/>
            <a:chOff x="1296" y="1056"/>
            <a:chExt cx="2208" cy="1872"/>
          </a:xfrm>
        </p:grpSpPr>
        <p:sp>
          <p:nvSpPr>
            <p:cNvPr id="79971" name="Line 12"/>
            <p:cNvSpPr>
              <a:spLocks noChangeShapeType="1"/>
            </p:cNvSpPr>
            <p:nvPr/>
          </p:nvSpPr>
          <p:spPr bwMode="auto">
            <a:xfrm>
              <a:off x="1296" y="2784"/>
              <a:ext cx="22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72" name="Line 13"/>
            <p:cNvSpPr>
              <a:spLocks noChangeShapeType="1"/>
            </p:cNvSpPr>
            <p:nvPr/>
          </p:nvSpPr>
          <p:spPr bwMode="auto">
            <a:xfrm flipV="1">
              <a:off x="1344" y="1104"/>
              <a:ext cx="0" cy="18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73" name="Text Box 14"/>
            <p:cNvSpPr txBox="1">
              <a:spLocks noChangeArrowheads="1"/>
            </p:cNvSpPr>
            <p:nvPr/>
          </p:nvSpPr>
          <p:spPr bwMode="auto">
            <a:xfrm>
              <a:off x="3312" y="2592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sz="1800" i="1">
                  <a:latin typeface="Times New Roman" pitchFamily="18" charset="0"/>
                </a:rPr>
                <a:t>x</a:t>
              </a:r>
            </a:p>
          </p:txBody>
        </p:sp>
        <p:sp>
          <p:nvSpPr>
            <p:cNvPr id="79974" name="Text Box 15"/>
            <p:cNvSpPr txBox="1">
              <a:spLocks noChangeArrowheads="1"/>
            </p:cNvSpPr>
            <p:nvPr/>
          </p:nvSpPr>
          <p:spPr bwMode="auto">
            <a:xfrm>
              <a:off x="1344" y="105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sz="1800" i="1">
                  <a:latin typeface="Times New Roman" pitchFamily="18" charset="0"/>
                </a:rPr>
                <a:t>y</a:t>
              </a:r>
            </a:p>
          </p:txBody>
        </p:sp>
        <p:sp>
          <p:nvSpPr>
            <p:cNvPr id="79975" name="Line 16"/>
            <p:cNvSpPr>
              <a:spLocks noChangeShapeType="1"/>
            </p:cNvSpPr>
            <p:nvPr/>
          </p:nvSpPr>
          <p:spPr bwMode="auto">
            <a:xfrm flipV="1">
              <a:off x="1344" y="1296"/>
              <a:ext cx="1488" cy="148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76" name="Text Box 17"/>
            <p:cNvSpPr txBox="1">
              <a:spLocks noChangeArrowheads="1"/>
            </p:cNvSpPr>
            <p:nvPr/>
          </p:nvSpPr>
          <p:spPr bwMode="auto">
            <a:xfrm>
              <a:off x="2832" y="1104"/>
              <a:ext cx="43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i="1">
                  <a:latin typeface="Times New Roman" pitchFamily="18" charset="0"/>
                </a:rPr>
                <a:t>y = x</a:t>
              </a:r>
            </a:p>
          </p:txBody>
        </p:sp>
      </p:grp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5029200" y="852488"/>
            <a:ext cx="3505200" cy="2971800"/>
            <a:chOff x="1296" y="1056"/>
            <a:chExt cx="2208" cy="1872"/>
          </a:xfrm>
        </p:grpSpPr>
        <p:sp>
          <p:nvSpPr>
            <p:cNvPr id="79965" name="Line 19"/>
            <p:cNvSpPr>
              <a:spLocks noChangeShapeType="1"/>
            </p:cNvSpPr>
            <p:nvPr/>
          </p:nvSpPr>
          <p:spPr bwMode="auto">
            <a:xfrm>
              <a:off x="1296" y="2784"/>
              <a:ext cx="22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66" name="Line 20"/>
            <p:cNvSpPr>
              <a:spLocks noChangeShapeType="1"/>
            </p:cNvSpPr>
            <p:nvPr/>
          </p:nvSpPr>
          <p:spPr bwMode="auto">
            <a:xfrm flipV="1">
              <a:off x="1344" y="1104"/>
              <a:ext cx="0" cy="18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67" name="Text Box 21"/>
            <p:cNvSpPr txBox="1">
              <a:spLocks noChangeArrowheads="1"/>
            </p:cNvSpPr>
            <p:nvPr/>
          </p:nvSpPr>
          <p:spPr bwMode="auto">
            <a:xfrm>
              <a:off x="3312" y="2592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sz="1800" i="1">
                  <a:latin typeface="Times New Roman" pitchFamily="18" charset="0"/>
                </a:rPr>
                <a:t>x</a:t>
              </a:r>
            </a:p>
          </p:txBody>
        </p:sp>
        <p:sp>
          <p:nvSpPr>
            <p:cNvPr id="79968" name="Text Box 22"/>
            <p:cNvSpPr txBox="1">
              <a:spLocks noChangeArrowheads="1"/>
            </p:cNvSpPr>
            <p:nvPr/>
          </p:nvSpPr>
          <p:spPr bwMode="auto">
            <a:xfrm>
              <a:off x="1344" y="105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sz="1800" i="1">
                  <a:latin typeface="Times New Roman" pitchFamily="18" charset="0"/>
                </a:rPr>
                <a:t>y</a:t>
              </a:r>
            </a:p>
          </p:txBody>
        </p:sp>
        <p:sp>
          <p:nvSpPr>
            <p:cNvPr id="79969" name="Line 23"/>
            <p:cNvSpPr>
              <a:spLocks noChangeShapeType="1"/>
            </p:cNvSpPr>
            <p:nvPr/>
          </p:nvSpPr>
          <p:spPr bwMode="auto">
            <a:xfrm flipV="1">
              <a:off x="1344" y="1296"/>
              <a:ext cx="1488" cy="148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70" name="Text Box 24"/>
            <p:cNvSpPr txBox="1">
              <a:spLocks noChangeArrowheads="1"/>
            </p:cNvSpPr>
            <p:nvPr/>
          </p:nvSpPr>
          <p:spPr bwMode="auto">
            <a:xfrm>
              <a:off x="2832" y="1104"/>
              <a:ext cx="43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i="1">
                  <a:latin typeface="Times New Roman" pitchFamily="18" charset="0"/>
                </a:rPr>
                <a:t>y = x</a:t>
              </a:r>
            </a:p>
          </p:txBody>
        </p:sp>
      </p:grpSp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914400" y="3748088"/>
            <a:ext cx="3505200" cy="2971800"/>
            <a:chOff x="1296" y="1056"/>
            <a:chExt cx="2208" cy="1872"/>
          </a:xfrm>
        </p:grpSpPr>
        <p:sp>
          <p:nvSpPr>
            <p:cNvPr id="79959" name="Line 26"/>
            <p:cNvSpPr>
              <a:spLocks noChangeShapeType="1"/>
            </p:cNvSpPr>
            <p:nvPr/>
          </p:nvSpPr>
          <p:spPr bwMode="auto">
            <a:xfrm>
              <a:off x="1296" y="2784"/>
              <a:ext cx="22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60" name="Line 27"/>
            <p:cNvSpPr>
              <a:spLocks noChangeShapeType="1"/>
            </p:cNvSpPr>
            <p:nvPr/>
          </p:nvSpPr>
          <p:spPr bwMode="auto">
            <a:xfrm flipV="1">
              <a:off x="1344" y="1104"/>
              <a:ext cx="0" cy="18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61" name="Text Box 28"/>
            <p:cNvSpPr txBox="1">
              <a:spLocks noChangeArrowheads="1"/>
            </p:cNvSpPr>
            <p:nvPr/>
          </p:nvSpPr>
          <p:spPr bwMode="auto">
            <a:xfrm>
              <a:off x="3312" y="2592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sz="1800" i="1">
                  <a:latin typeface="Times New Roman" pitchFamily="18" charset="0"/>
                </a:rPr>
                <a:t>x</a:t>
              </a:r>
            </a:p>
          </p:txBody>
        </p:sp>
        <p:sp>
          <p:nvSpPr>
            <p:cNvPr id="79962" name="Text Box 29"/>
            <p:cNvSpPr txBox="1">
              <a:spLocks noChangeArrowheads="1"/>
            </p:cNvSpPr>
            <p:nvPr/>
          </p:nvSpPr>
          <p:spPr bwMode="auto">
            <a:xfrm>
              <a:off x="1344" y="105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sz="1800" i="1">
                  <a:latin typeface="Times New Roman" pitchFamily="18" charset="0"/>
                </a:rPr>
                <a:t>y</a:t>
              </a:r>
            </a:p>
          </p:txBody>
        </p:sp>
        <p:sp>
          <p:nvSpPr>
            <p:cNvPr id="79963" name="Line 30"/>
            <p:cNvSpPr>
              <a:spLocks noChangeShapeType="1"/>
            </p:cNvSpPr>
            <p:nvPr/>
          </p:nvSpPr>
          <p:spPr bwMode="auto">
            <a:xfrm flipV="1">
              <a:off x="1344" y="1296"/>
              <a:ext cx="1488" cy="148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64" name="Text Box 31"/>
            <p:cNvSpPr txBox="1">
              <a:spLocks noChangeArrowheads="1"/>
            </p:cNvSpPr>
            <p:nvPr/>
          </p:nvSpPr>
          <p:spPr bwMode="auto">
            <a:xfrm>
              <a:off x="2832" y="1104"/>
              <a:ext cx="43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i="1">
                  <a:latin typeface="Times New Roman" pitchFamily="18" charset="0"/>
                </a:rPr>
                <a:t>y = x</a:t>
              </a:r>
            </a:p>
          </p:txBody>
        </p:sp>
      </p:grpSp>
      <p:grpSp>
        <p:nvGrpSpPr>
          <p:cNvPr id="6" name="Group 32"/>
          <p:cNvGrpSpPr>
            <a:grpSpLocks/>
          </p:cNvGrpSpPr>
          <p:nvPr/>
        </p:nvGrpSpPr>
        <p:grpSpPr bwMode="auto">
          <a:xfrm>
            <a:off x="2819400" y="1538288"/>
            <a:ext cx="533400" cy="2347912"/>
            <a:chOff x="1536" y="624"/>
            <a:chExt cx="336" cy="1479"/>
          </a:xfrm>
        </p:grpSpPr>
        <p:sp>
          <p:nvSpPr>
            <p:cNvPr id="79957" name="Line 33"/>
            <p:cNvSpPr>
              <a:spLocks noChangeShapeType="1"/>
            </p:cNvSpPr>
            <p:nvPr/>
          </p:nvSpPr>
          <p:spPr bwMode="auto">
            <a:xfrm>
              <a:off x="1680" y="624"/>
              <a:ext cx="0" cy="129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58" name="Text Box 34"/>
            <p:cNvSpPr txBox="1">
              <a:spLocks noChangeArrowheads="1"/>
            </p:cNvSpPr>
            <p:nvPr/>
          </p:nvSpPr>
          <p:spPr bwMode="auto">
            <a:xfrm>
              <a:off x="1536" y="1872"/>
              <a:ext cx="3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i="1">
                  <a:solidFill>
                    <a:srgbClr val="FF3300"/>
                  </a:solidFill>
                  <a:latin typeface="Times New Roman" pitchFamily="18" charset="0"/>
                </a:rPr>
                <a:t>x*</a:t>
              </a:r>
            </a:p>
          </p:txBody>
        </p:sp>
      </p:grpSp>
      <p:grpSp>
        <p:nvGrpSpPr>
          <p:cNvPr id="7" name="Group 35"/>
          <p:cNvGrpSpPr>
            <a:grpSpLocks/>
          </p:cNvGrpSpPr>
          <p:nvPr/>
        </p:nvGrpSpPr>
        <p:grpSpPr bwMode="auto">
          <a:xfrm>
            <a:off x="6096000" y="2376488"/>
            <a:ext cx="533400" cy="1509712"/>
            <a:chOff x="3888" y="1152"/>
            <a:chExt cx="336" cy="951"/>
          </a:xfrm>
        </p:grpSpPr>
        <p:sp>
          <p:nvSpPr>
            <p:cNvPr id="79955" name="Line 36"/>
            <p:cNvSpPr>
              <a:spLocks noChangeShapeType="1"/>
            </p:cNvSpPr>
            <p:nvPr/>
          </p:nvSpPr>
          <p:spPr bwMode="auto">
            <a:xfrm>
              <a:off x="4055" y="1152"/>
              <a:ext cx="0" cy="768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56" name="Text Box 37"/>
            <p:cNvSpPr txBox="1">
              <a:spLocks noChangeArrowheads="1"/>
            </p:cNvSpPr>
            <p:nvPr/>
          </p:nvSpPr>
          <p:spPr bwMode="auto">
            <a:xfrm>
              <a:off x="3888" y="1872"/>
              <a:ext cx="3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i="1">
                  <a:solidFill>
                    <a:srgbClr val="FF3300"/>
                  </a:solidFill>
                  <a:latin typeface="Times New Roman" pitchFamily="18" charset="0"/>
                </a:rPr>
                <a:t>x*</a:t>
              </a:r>
            </a:p>
          </p:txBody>
        </p:sp>
      </p:grpSp>
      <p:grpSp>
        <p:nvGrpSpPr>
          <p:cNvPr id="8" name="Group 38"/>
          <p:cNvGrpSpPr>
            <a:grpSpLocks/>
          </p:cNvGrpSpPr>
          <p:nvPr/>
        </p:nvGrpSpPr>
        <p:grpSpPr bwMode="auto">
          <a:xfrm>
            <a:off x="2784475" y="4433888"/>
            <a:ext cx="533400" cy="2347912"/>
            <a:chOff x="1536" y="624"/>
            <a:chExt cx="336" cy="1479"/>
          </a:xfrm>
        </p:grpSpPr>
        <p:sp>
          <p:nvSpPr>
            <p:cNvPr id="79953" name="Line 39"/>
            <p:cNvSpPr>
              <a:spLocks noChangeShapeType="1"/>
            </p:cNvSpPr>
            <p:nvPr/>
          </p:nvSpPr>
          <p:spPr bwMode="auto">
            <a:xfrm>
              <a:off x="1680" y="624"/>
              <a:ext cx="0" cy="129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54" name="Text Box 40"/>
            <p:cNvSpPr txBox="1">
              <a:spLocks noChangeArrowheads="1"/>
            </p:cNvSpPr>
            <p:nvPr/>
          </p:nvSpPr>
          <p:spPr bwMode="auto">
            <a:xfrm>
              <a:off x="1536" y="1872"/>
              <a:ext cx="3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i="1">
                  <a:solidFill>
                    <a:srgbClr val="FF3300"/>
                  </a:solidFill>
                  <a:latin typeface="Times New Roman" pitchFamily="18" charset="0"/>
                </a:rPr>
                <a:t>x*</a:t>
              </a:r>
            </a:p>
          </p:txBody>
        </p:sp>
      </p:grpSp>
      <p:grpSp>
        <p:nvGrpSpPr>
          <p:cNvPr id="9" name="Group 41"/>
          <p:cNvGrpSpPr>
            <a:grpSpLocks/>
          </p:cNvGrpSpPr>
          <p:nvPr/>
        </p:nvGrpSpPr>
        <p:grpSpPr bwMode="auto">
          <a:xfrm>
            <a:off x="6248400" y="5195888"/>
            <a:ext cx="533400" cy="1585912"/>
            <a:chOff x="3984" y="3168"/>
            <a:chExt cx="336" cy="999"/>
          </a:xfrm>
        </p:grpSpPr>
        <p:sp>
          <p:nvSpPr>
            <p:cNvPr id="79951" name="Line 42"/>
            <p:cNvSpPr>
              <a:spLocks noChangeShapeType="1"/>
            </p:cNvSpPr>
            <p:nvPr/>
          </p:nvSpPr>
          <p:spPr bwMode="auto">
            <a:xfrm>
              <a:off x="4128" y="3168"/>
              <a:ext cx="0" cy="81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52" name="Text Box 43"/>
            <p:cNvSpPr txBox="1">
              <a:spLocks noChangeArrowheads="1"/>
            </p:cNvSpPr>
            <p:nvPr/>
          </p:nvSpPr>
          <p:spPr bwMode="auto">
            <a:xfrm>
              <a:off x="3984" y="3936"/>
              <a:ext cx="3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i="1">
                  <a:solidFill>
                    <a:srgbClr val="FF3300"/>
                  </a:solidFill>
                  <a:latin typeface="Times New Roman" pitchFamily="18" charset="0"/>
                </a:rPr>
                <a:t>x*</a:t>
              </a:r>
            </a:p>
          </p:txBody>
        </p:sp>
      </p:grpSp>
      <p:grpSp>
        <p:nvGrpSpPr>
          <p:cNvPr id="10" name="Group 44"/>
          <p:cNvGrpSpPr>
            <a:grpSpLocks/>
          </p:cNvGrpSpPr>
          <p:nvPr/>
        </p:nvGrpSpPr>
        <p:grpSpPr bwMode="auto">
          <a:xfrm>
            <a:off x="762000" y="1462088"/>
            <a:ext cx="3505200" cy="1143000"/>
            <a:chOff x="240" y="576"/>
            <a:chExt cx="2208" cy="720"/>
          </a:xfrm>
        </p:grpSpPr>
        <p:sp>
          <p:nvSpPr>
            <p:cNvPr id="79949" name="Freeform 45"/>
            <p:cNvSpPr>
              <a:spLocks/>
            </p:cNvSpPr>
            <p:nvPr/>
          </p:nvSpPr>
          <p:spPr bwMode="auto">
            <a:xfrm>
              <a:off x="240" y="616"/>
              <a:ext cx="2016" cy="680"/>
            </a:xfrm>
            <a:custGeom>
              <a:avLst/>
              <a:gdLst>
                <a:gd name="T0" fmla="*/ 0 w 2016"/>
                <a:gd name="T1" fmla="*/ 680 h 680"/>
                <a:gd name="T2" fmla="*/ 336 w 2016"/>
                <a:gd name="T3" fmla="*/ 392 h 680"/>
                <a:gd name="T4" fmla="*/ 720 w 2016"/>
                <a:gd name="T5" fmla="*/ 200 h 680"/>
                <a:gd name="T6" fmla="*/ 1200 w 2016"/>
                <a:gd name="T7" fmla="*/ 56 h 680"/>
                <a:gd name="T8" fmla="*/ 1584 w 2016"/>
                <a:gd name="T9" fmla="*/ 8 h 680"/>
                <a:gd name="T10" fmla="*/ 2016 w 2016"/>
                <a:gd name="T11" fmla="*/ 8 h 68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016"/>
                <a:gd name="T19" fmla="*/ 0 h 680"/>
                <a:gd name="T20" fmla="*/ 2016 w 2016"/>
                <a:gd name="T21" fmla="*/ 680 h 68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016" h="680">
                  <a:moveTo>
                    <a:pt x="0" y="680"/>
                  </a:moveTo>
                  <a:cubicBezTo>
                    <a:pt x="108" y="576"/>
                    <a:pt x="216" y="472"/>
                    <a:pt x="336" y="392"/>
                  </a:cubicBezTo>
                  <a:cubicBezTo>
                    <a:pt x="456" y="312"/>
                    <a:pt x="576" y="256"/>
                    <a:pt x="720" y="200"/>
                  </a:cubicBezTo>
                  <a:cubicBezTo>
                    <a:pt x="864" y="144"/>
                    <a:pt x="1056" y="88"/>
                    <a:pt x="1200" y="56"/>
                  </a:cubicBezTo>
                  <a:cubicBezTo>
                    <a:pt x="1344" y="24"/>
                    <a:pt x="1448" y="16"/>
                    <a:pt x="1584" y="8"/>
                  </a:cubicBezTo>
                  <a:cubicBezTo>
                    <a:pt x="1720" y="0"/>
                    <a:pt x="1868" y="4"/>
                    <a:pt x="2016" y="8"/>
                  </a:cubicBezTo>
                </a:path>
              </a:pathLst>
            </a:cu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50" name="Text Box 46"/>
            <p:cNvSpPr txBox="1">
              <a:spLocks noChangeArrowheads="1"/>
            </p:cNvSpPr>
            <p:nvPr/>
          </p:nvSpPr>
          <p:spPr bwMode="auto">
            <a:xfrm>
              <a:off x="1872" y="576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i="1">
                  <a:latin typeface="Times New Roman" pitchFamily="18" charset="0"/>
                </a:rPr>
                <a:t>y= </a:t>
              </a:r>
              <a:r>
                <a:rPr lang="en-US" altLang="zh-CN" sz="1800" i="1">
                  <a:latin typeface="Times New Roman" pitchFamily="18" charset="0"/>
                  <a:cs typeface="Times New Roman" pitchFamily="18" charset="0"/>
                </a:rPr>
                <a:t>φ</a:t>
              </a:r>
              <a:r>
                <a:rPr lang="en-US" altLang="zh-CN" sz="1800">
                  <a:latin typeface="Times New Roman" pitchFamily="18" charset="0"/>
                </a:rPr>
                <a:t>(</a:t>
              </a:r>
              <a:r>
                <a:rPr lang="en-US" altLang="zh-CN" sz="1800" i="1">
                  <a:latin typeface="Times New Roman" pitchFamily="18" charset="0"/>
                </a:rPr>
                <a:t>x</a:t>
              </a:r>
              <a:r>
                <a:rPr lang="en-US" altLang="zh-CN" sz="1800">
                  <a:latin typeface="Times New Roman" pitchFamily="18" charset="0"/>
                </a:rPr>
                <a:t>)</a:t>
              </a:r>
            </a:p>
          </p:txBody>
        </p:sp>
      </p:grpSp>
      <p:grpSp>
        <p:nvGrpSpPr>
          <p:cNvPr id="11" name="Group 47"/>
          <p:cNvGrpSpPr>
            <a:grpSpLocks/>
          </p:cNvGrpSpPr>
          <p:nvPr/>
        </p:nvGrpSpPr>
        <p:grpSpPr bwMode="auto">
          <a:xfrm>
            <a:off x="5486400" y="1462090"/>
            <a:ext cx="3048000" cy="1284287"/>
            <a:chOff x="3504" y="624"/>
            <a:chExt cx="1920" cy="739"/>
          </a:xfrm>
        </p:grpSpPr>
        <p:sp>
          <p:nvSpPr>
            <p:cNvPr id="79947" name="Freeform 48"/>
            <p:cNvSpPr>
              <a:spLocks/>
            </p:cNvSpPr>
            <p:nvPr/>
          </p:nvSpPr>
          <p:spPr bwMode="auto">
            <a:xfrm>
              <a:off x="3504" y="624"/>
              <a:ext cx="1632" cy="720"/>
            </a:xfrm>
            <a:custGeom>
              <a:avLst/>
              <a:gdLst>
                <a:gd name="T0" fmla="*/ 0 w 1632"/>
                <a:gd name="T1" fmla="*/ 0 h 720"/>
                <a:gd name="T2" fmla="*/ 144 w 1632"/>
                <a:gd name="T3" fmla="*/ 240 h 720"/>
                <a:gd name="T4" fmla="*/ 384 w 1632"/>
                <a:gd name="T5" fmla="*/ 432 h 720"/>
                <a:gd name="T6" fmla="*/ 720 w 1632"/>
                <a:gd name="T7" fmla="*/ 576 h 720"/>
                <a:gd name="T8" fmla="*/ 1104 w 1632"/>
                <a:gd name="T9" fmla="*/ 672 h 720"/>
                <a:gd name="T10" fmla="*/ 1632 w 1632"/>
                <a:gd name="T11" fmla="*/ 720 h 7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632"/>
                <a:gd name="T19" fmla="*/ 0 h 720"/>
                <a:gd name="T20" fmla="*/ 1632 w 1632"/>
                <a:gd name="T21" fmla="*/ 720 h 72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632" h="720">
                  <a:moveTo>
                    <a:pt x="0" y="0"/>
                  </a:moveTo>
                  <a:cubicBezTo>
                    <a:pt x="40" y="84"/>
                    <a:pt x="80" y="168"/>
                    <a:pt x="144" y="240"/>
                  </a:cubicBezTo>
                  <a:cubicBezTo>
                    <a:pt x="208" y="312"/>
                    <a:pt x="288" y="376"/>
                    <a:pt x="384" y="432"/>
                  </a:cubicBezTo>
                  <a:cubicBezTo>
                    <a:pt x="480" y="488"/>
                    <a:pt x="600" y="536"/>
                    <a:pt x="720" y="576"/>
                  </a:cubicBezTo>
                  <a:cubicBezTo>
                    <a:pt x="840" y="616"/>
                    <a:pt x="952" y="648"/>
                    <a:pt x="1104" y="672"/>
                  </a:cubicBezTo>
                  <a:cubicBezTo>
                    <a:pt x="1256" y="696"/>
                    <a:pt x="1444" y="708"/>
                    <a:pt x="1632" y="720"/>
                  </a:cubicBezTo>
                </a:path>
              </a:pathLst>
            </a:cu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48" name="Text Box 49"/>
            <p:cNvSpPr txBox="1">
              <a:spLocks noChangeArrowheads="1"/>
            </p:cNvSpPr>
            <p:nvPr/>
          </p:nvSpPr>
          <p:spPr bwMode="auto">
            <a:xfrm>
              <a:off x="4848" y="1152"/>
              <a:ext cx="576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i="1">
                  <a:latin typeface="Times New Roman" pitchFamily="18" charset="0"/>
                </a:rPr>
                <a:t>y= </a:t>
              </a:r>
              <a:r>
                <a:rPr lang="en-US" altLang="zh-CN" sz="1800" i="1">
                  <a:latin typeface="Times New Roman" pitchFamily="18" charset="0"/>
                  <a:cs typeface="Times New Roman" pitchFamily="18" charset="0"/>
                </a:rPr>
                <a:t>φ</a:t>
              </a:r>
              <a:r>
                <a:rPr lang="en-US" altLang="zh-CN" sz="1800">
                  <a:latin typeface="Times New Roman" pitchFamily="18" charset="0"/>
                </a:rPr>
                <a:t>(</a:t>
              </a:r>
              <a:r>
                <a:rPr lang="en-US" altLang="zh-CN" sz="1800" i="1">
                  <a:latin typeface="Times New Roman" pitchFamily="18" charset="0"/>
                </a:rPr>
                <a:t>x</a:t>
              </a:r>
              <a:r>
                <a:rPr lang="en-US" altLang="zh-CN" sz="1800">
                  <a:latin typeface="Times New Roman" pitchFamily="18" charset="0"/>
                </a:rPr>
                <a:t>)</a:t>
              </a:r>
            </a:p>
          </p:txBody>
        </p:sp>
      </p:grpSp>
      <p:grpSp>
        <p:nvGrpSpPr>
          <p:cNvPr id="12" name="Group 50"/>
          <p:cNvGrpSpPr>
            <a:grpSpLocks/>
          </p:cNvGrpSpPr>
          <p:nvPr/>
        </p:nvGrpSpPr>
        <p:grpSpPr bwMode="auto">
          <a:xfrm>
            <a:off x="990600" y="3976688"/>
            <a:ext cx="2286000" cy="2743200"/>
            <a:chOff x="384" y="2400"/>
            <a:chExt cx="1440" cy="1728"/>
          </a:xfrm>
        </p:grpSpPr>
        <p:sp>
          <p:nvSpPr>
            <p:cNvPr id="79945" name="Freeform 51"/>
            <p:cNvSpPr>
              <a:spLocks/>
            </p:cNvSpPr>
            <p:nvPr/>
          </p:nvSpPr>
          <p:spPr bwMode="auto">
            <a:xfrm>
              <a:off x="384" y="2400"/>
              <a:ext cx="1392" cy="1728"/>
            </a:xfrm>
            <a:custGeom>
              <a:avLst/>
              <a:gdLst>
                <a:gd name="T0" fmla="*/ 0 w 1392"/>
                <a:gd name="T1" fmla="*/ 1728 h 1728"/>
                <a:gd name="T2" fmla="*/ 432 w 1392"/>
                <a:gd name="T3" fmla="*/ 1536 h 1728"/>
                <a:gd name="T4" fmla="*/ 816 w 1392"/>
                <a:gd name="T5" fmla="*/ 1104 h 1728"/>
                <a:gd name="T6" fmla="*/ 1152 w 1392"/>
                <a:gd name="T7" fmla="*/ 576 h 1728"/>
                <a:gd name="T8" fmla="*/ 1392 w 1392"/>
                <a:gd name="T9" fmla="*/ 0 h 17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92"/>
                <a:gd name="T16" fmla="*/ 0 h 1728"/>
                <a:gd name="T17" fmla="*/ 1392 w 1392"/>
                <a:gd name="T18" fmla="*/ 1728 h 17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92" h="1728">
                  <a:moveTo>
                    <a:pt x="0" y="1728"/>
                  </a:moveTo>
                  <a:cubicBezTo>
                    <a:pt x="148" y="1684"/>
                    <a:pt x="296" y="1640"/>
                    <a:pt x="432" y="1536"/>
                  </a:cubicBezTo>
                  <a:cubicBezTo>
                    <a:pt x="568" y="1432"/>
                    <a:pt x="696" y="1264"/>
                    <a:pt x="816" y="1104"/>
                  </a:cubicBezTo>
                  <a:cubicBezTo>
                    <a:pt x="936" y="944"/>
                    <a:pt x="1056" y="760"/>
                    <a:pt x="1152" y="576"/>
                  </a:cubicBezTo>
                  <a:cubicBezTo>
                    <a:pt x="1248" y="392"/>
                    <a:pt x="1320" y="196"/>
                    <a:pt x="1392" y="0"/>
                  </a:cubicBezTo>
                </a:path>
              </a:pathLst>
            </a:cu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46" name="Text Box 52"/>
            <p:cNvSpPr txBox="1">
              <a:spLocks noChangeArrowheads="1"/>
            </p:cNvSpPr>
            <p:nvPr/>
          </p:nvSpPr>
          <p:spPr bwMode="auto">
            <a:xfrm>
              <a:off x="1248" y="2400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i="1">
                  <a:latin typeface="Times New Roman" pitchFamily="18" charset="0"/>
                </a:rPr>
                <a:t>y= </a:t>
              </a:r>
              <a:r>
                <a:rPr lang="en-US" altLang="zh-CN" sz="1800" i="1">
                  <a:latin typeface="Times New Roman" pitchFamily="18" charset="0"/>
                  <a:cs typeface="Times New Roman" pitchFamily="18" charset="0"/>
                </a:rPr>
                <a:t>φ</a:t>
              </a:r>
              <a:r>
                <a:rPr lang="en-US" altLang="zh-CN" sz="1800">
                  <a:latin typeface="Times New Roman" pitchFamily="18" charset="0"/>
                </a:rPr>
                <a:t>(</a:t>
              </a:r>
              <a:r>
                <a:rPr lang="en-US" altLang="zh-CN" sz="1800" i="1">
                  <a:latin typeface="Times New Roman" pitchFamily="18" charset="0"/>
                </a:rPr>
                <a:t>x</a:t>
              </a:r>
              <a:r>
                <a:rPr lang="en-US" altLang="zh-CN" sz="1800">
                  <a:latin typeface="Times New Roman" pitchFamily="18" charset="0"/>
                </a:rPr>
                <a:t>)</a:t>
              </a:r>
            </a:p>
          </p:txBody>
        </p:sp>
      </p:grpSp>
      <p:grpSp>
        <p:nvGrpSpPr>
          <p:cNvPr id="13" name="Group 53"/>
          <p:cNvGrpSpPr>
            <a:grpSpLocks/>
          </p:cNvGrpSpPr>
          <p:nvPr/>
        </p:nvGrpSpPr>
        <p:grpSpPr bwMode="auto">
          <a:xfrm>
            <a:off x="5334000" y="3976688"/>
            <a:ext cx="2514600" cy="2057400"/>
            <a:chOff x="3408" y="2400"/>
            <a:chExt cx="1584" cy="1296"/>
          </a:xfrm>
        </p:grpSpPr>
        <p:sp>
          <p:nvSpPr>
            <p:cNvPr id="79943" name="Freeform 54"/>
            <p:cNvSpPr>
              <a:spLocks/>
            </p:cNvSpPr>
            <p:nvPr/>
          </p:nvSpPr>
          <p:spPr bwMode="auto">
            <a:xfrm>
              <a:off x="3888" y="2400"/>
              <a:ext cx="1104" cy="1296"/>
            </a:xfrm>
            <a:custGeom>
              <a:avLst/>
              <a:gdLst>
                <a:gd name="T0" fmla="*/ 0 w 1104"/>
                <a:gd name="T1" fmla="*/ 0 h 1296"/>
                <a:gd name="T2" fmla="*/ 96 w 1104"/>
                <a:gd name="T3" fmla="*/ 528 h 1296"/>
                <a:gd name="T4" fmla="*/ 336 w 1104"/>
                <a:gd name="T5" fmla="*/ 864 h 1296"/>
                <a:gd name="T6" fmla="*/ 672 w 1104"/>
                <a:gd name="T7" fmla="*/ 1152 h 1296"/>
                <a:gd name="T8" fmla="*/ 1104 w 1104"/>
                <a:gd name="T9" fmla="*/ 1296 h 12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04"/>
                <a:gd name="T16" fmla="*/ 0 h 1296"/>
                <a:gd name="T17" fmla="*/ 1104 w 1104"/>
                <a:gd name="T18" fmla="*/ 1296 h 129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04" h="1296">
                  <a:moveTo>
                    <a:pt x="0" y="0"/>
                  </a:moveTo>
                  <a:cubicBezTo>
                    <a:pt x="20" y="192"/>
                    <a:pt x="40" y="384"/>
                    <a:pt x="96" y="528"/>
                  </a:cubicBezTo>
                  <a:cubicBezTo>
                    <a:pt x="152" y="672"/>
                    <a:pt x="240" y="760"/>
                    <a:pt x="336" y="864"/>
                  </a:cubicBezTo>
                  <a:cubicBezTo>
                    <a:pt x="432" y="968"/>
                    <a:pt x="544" y="1080"/>
                    <a:pt x="672" y="1152"/>
                  </a:cubicBezTo>
                  <a:cubicBezTo>
                    <a:pt x="800" y="1224"/>
                    <a:pt x="952" y="1260"/>
                    <a:pt x="1104" y="1296"/>
                  </a:cubicBezTo>
                </a:path>
              </a:pathLst>
            </a:cu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44" name="Text Box 55"/>
            <p:cNvSpPr txBox="1">
              <a:spLocks noChangeArrowheads="1"/>
            </p:cNvSpPr>
            <p:nvPr/>
          </p:nvSpPr>
          <p:spPr bwMode="auto">
            <a:xfrm>
              <a:off x="3408" y="2496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i="1">
                  <a:latin typeface="Times New Roman" pitchFamily="18" charset="0"/>
                </a:rPr>
                <a:t>y= </a:t>
              </a:r>
              <a:r>
                <a:rPr lang="en-US" altLang="zh-CN" sz="1800" i="1">
                  <a:latin typeface="Times New Roman" pitchFamily="18" charset="0"/>
                  <a:cs typeface="Times New Roman" pitchFamily="18" charset="0"/>
                </a:rPr>
                <a:t>φ</a:t>
              </a:r>
              <a:r>
                <a:rPr lang="en-US" altLang="zh-CN" sz="1800">
                  <a:latin typeface="Times New Roman" pitchFamily="18" charset="0"/>
                </a:rPr>
                <a:t>(</a:t>
              </a:r>
              <a:r>
                <a:rPr lang="en-US" altLang="zh-CN" sz="1800" i="1">
                  <a:latin typeface="Times New Roman" pitchFamily="18" charset="0"/>
                </a:rPr>
                <a:t>x</a:t>
              </a:r>
              <a:r>
                <a:rPr lang="en-US" altLang="zh-CN" sz="1800">
                  <a:latin typeface="Times New Roman" pitchFamily="18" charset="0"/>
                </a:rPr>
                <a:t>)</a:t>
              </a:r>
            </a:p>
          </p:txBody>
        </p:sp>
      </p:grpSp>
      <p:grpSp>
        <p:nvGrpSpPr>
          <p:cNvPr id="14" name="Group 56"/>
          <p:cNvGrpSpPr>
            <a:grpSpLocks/>
          </p:cNvGrpSpPr>
          <p:nvPr/>
        </p:nvGrpSpPr>
        <p:grpSpPr bwMode="auto">
          <a:xfrm>
            <a:off x="1066800" y="1766888"/>
            <a:ext cx="457200" cy="2119312"/>
            <a:chOff x="432" y="768"/>
            <a:chExt cx="288" cy="1335"/>
          </a:xfrm>
        </p:grpSpPr>
        <p:sp>
          <p:nvSpPr>
            <p:cNvPr id="79940" name="Line 57"/>
            <p:cNvSpPr>
              <a:spLocks noChangeShapeType="1"/>
            </p:cNvSpPr>
            <p:nvPr/>
          </p:nvSpPr>
          <p:spPr bwMode="auto">
            <a:xfrm>
              <a:off x="576" y="1008"/>
              <a:ext cx="0" cy="9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41" name="Text Box 58"/>
            <p:cNvSpPr txBox="1">
              <a:spLocks noChangeArrowheads="1"/>
            </p:cNvSpPr>
            <p:nvPr/>
          </p:nvSpPr>
          <p:spPr bwMode="auto">
            <a:xfrm>
              <a:off x="480" y="1872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i="1">
                  <a:latin typeface="Times New Roman" pitchFamily="18" charset="0"/>
                </a:rPr>
                <a:t>x</a:t>
              </a:r>
              <a:r>
                <a:rPr lang="en-US" altLang="zh-CN" sz="1800" baseline="-25000">
                  <a:latin typeface="Times New Roman" pitchFamily="18" charset="0"/>
                </a:rPr>
                <a:t>0</a:t>
              </a:r>
              <a:endParaRPr lang="en-US" altLang="zh-CN" sz="1800" i="1">
                <a:latin typeface="Times New Roman" pitchFamily="18" charset="0"/>
              </a:endParaRPr>
            </a:p>
          </p:txBody>
        </p:sp>
        <p:sp>
          <p:nvSpPr>
            <p:cNvPr id="79942" name="Text Box 59"/>
            <p:cNvSpPr txBox="1">
              <a:spLocks noChangeArrowheads="1"/>
            </p:cNvSpPr>
            <p:nvPr/>
          </p:nvSpPr>
          <p:spPr bwMode="auto">
            <a:xfrm>
              <a:off x="432" y="768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i="1">
                  <a:latin typeface="Times New Roman" pitchFamily="18" charset="0"/>
                </a:rPr>
                <a:t>p</a:t>
              </a:r>
              <a:r>
                <a:rPr lang="en-US" altLang="zh-CN" sz="1800" baseline="-25000">
                  <a:latin typeface="Times New Roman" pitchFamily="18" charset="0"/>
                </a:rPr>
                <a:t>0</a:t>
              </a:r>
              <a:endParaRPr lang="en-US" altLang="zh-CN" sz="1800" i="1">
                <a:latin typeface="Times New Roman" pitchFamily="18" charset="0"/>
              </a:endParaRPr>
            </a:p>
          </p:txBody>
        </p:sp>
      </p:grpSp>
      <p:grpSp>
        <p:nvGrpSpPr>
          <p:cNvPr id="15" name="Group 60"/>
          <p:cNvGrpSpPr>
            <a:grpSpLocks/>
          </p:cNvGrpSpPr>
          <p:nvPr/>
        </p:nvGrpSpPr>
        <p:grpSpPr bwMode="auto">
          <a:xfrm>
            <a:off x="1295400" y="2147888"/>
            <a:ext cx="1371600" cy="1738312"/>
            <a:chOff x="576" y="1008"/>
            <a:chExt cx="864" cy="1095"/>
          </a:xfrm>
        </p:grpSpPr>
        <p:sp>
          <p:nvSpPr>
            <p:cNvPr id="79937" name="Line 61"/>
            <p:cNvSpPr>
              <a:spLocks noChangeShapeType="1"/>
            </p:cNvSpPr>
            <p:nvPr/>
          </p:nvSpPr>
          <p:spPr bwMode="auto">
            <a:xfrm>
              <a:off x="576" y="1008"/>
              <a:ext cx="7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38" name="Line 62"/>
            <p:cNvSpPr>
              <a:spLocks noChangeShapeType="1"/>
            </p:cNvSpPr>
            <p:nvPr/>
          </p:nvSpPr>
          <p:spPr bwMode="auto">
            <a:xfrm>
              <a:off x="1296" y="1008"/>
              <a:ext cx="0" cy="9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39" name="Text Box 63"/>
            <p:cNvSpPr txBox="1">
              <a:spLocks noChangeArrowheads="1"/>
            </p:cNvSpPr>
            <p:nvPr/>
          </p:nvSpPr>
          <p:spPr bwMode="auto">
            <a:xfrm>
              <a:off x="1200" y="1872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i="1">
                  <a:latin typeface="Times New Roman" pitchFamily="18" charset="0"/>
                </a:rPr>
                <a:t>x</a:t>
              </a:r>
              <a:r>
                <a:rPr lang="en-US" altLang="zh-CN" sz="1800" baseline="-25000">
                  <a:latin typeface="Times New Roman" pitchFamily="18" charset="0"/>
                </a:rPr>
                <a:t>1</a:t>
              </a:r>
              <a:endParaRPr lang="en-US" altLang="zh-CN" sz="1800" i="1">
                <a:latin typeface="Times New Roman" pitchFamily="18" charset="0"/>
              </a:endParaRPr>
            </a:p>
          </p:txBody>
        </p:sp>
      </p:grpSp>
      <p:grpSp>
        <p:nvGrpSpPr>
          <p:cNvPr id="16" name="Group 64"/>
          <p:cNvGrpSpPr>
            <a:grpSpLocks/>
          </p:cNvGrpSpPr>
          <p:nvPr/>
        </p:nvGrpSpPr>
        <p:grpSpPr bwMode="auto">
          <a:xfrm>
            <a:off x="2209800" y="1309688"/>
            <a:ext cx="381000" cy="838200"/>
            <a:chOff x="1152" y="480"/>
            <a:chExt cx="240" cy="528"/>
          </a:xfrm>
        </p:grpSpPr>
        <p:sp>
          <p:nvSpPr>
            <p:cNvPr id="79935" name="Text Box 65"/>
            <p:cNvSpPr txBox="1">
              <a:spLocks noChangeArrowheads="1"/>
            </p:cNvSpPr>
            <p:nvPr/>
          </p:nvSpPr>
          <p:spPr bwMode="auto">
            <a:xfrm>
              <a:off x="1152" y="480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i="1">
                  <a:latin typeface="Times New Roman" pitchFamily="18" charset="0"/>
                </a:rPr>
                <a:t>p</a:t>
              </a:r>
              <a:r>
                <a:rPr lang="en-US" altLang="zh-CN" sz="1800" baseline="-25000">
                  <a:latin typeface="Times New Roman" pitchFamily="18" charset="0"/>
                </a:rPr>
                <a:t>1</a:t>
              </a:r>
              <a:endParaRPr lang="en-US" altLang="zh-CN" sz="1800" i="1">
                <a:latin typeface="Times New Roman" pitchFamily="18" charset="0"/>
              </a:endParaRPr>
            </a:p>
          </p:txBody>
        </p:sp>
        <p:sp>
          <p:nvSpPr>
            <p:cNvPr id="79936" name="Line 66"/>
            <p:cNvSpPr>
              <a:spLocks noChangeShapeType="1"/>
            </p:cNvSpPr>
            <p:nvPr/>
          </p:nvSpPr>
          <p:spPr bwMode="auto">
            <a:xfrm flipV="1">
              <a:off x="1296" y="720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" name="Group 67"/>
          <p:cNvGrpSpPr>
            <a:grpSpLocks/>
          </p:cNvGrpSpPr>
          <p:nvPr/>
        </p:nvGrpSpPr>
        <p:grpSpPr bwMode="auto">
          <a:xfrm>
            <a:off x="2438400" y="1690688"/>
            <a:ext cx="457200" cy="1905000"/>
            <a:chOff x="1296" y="720"/>
            <a:chExt cx="288" cy="1200"/>
          </a:xfrm>
        </p:grpSpPr>
        <p:sp>
          <p:nvSpPr>
            <p:cNvPr id="79933" name="Line 68"/>
            <p:cNvSpPr>
              <a:spLocks noChangeShapeType="1"/>
            </p:cNvSpPr>
            <p:nvPr/>
          </p:nvSpPr>
          <p:spPr bwMode="auto">
            <a:xfrm>
              <a:off x="1296" y="720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34" name="Line 69"/>
            <p:cNvSpPr>
              <a:spLocks noChangeShapeType="1"/>
            </p:cNvSpPr>
            <p:nvPr/>
          </p:nvSpPr>
          <p:spPr bwMode="auto">
            <a:xfrm>
              <a:off x="1584" y="720"/>
              <a:ext cx="0" cy="12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06950" name="Text Box 70"/>
          <p:cNvSpPr txBox="1">
            <a:spLocks noChangeArrowheads="1"/>
          </p:cNvSpPr>
          <p:nvPr/>
        </p:nvSpPr>
        <p:spPr bwMode="auto">
          <a:xfrm>
            <a:off x="3352800" y="2147888"/>
            <a:ext cx="914400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4800">
                <a:solidFill>
                  <a:srgbClr val="FF3300"/>
                </a:solidFill>
                <a:latin typeface="Times New Roman" pitchFamily="18" charset="0"/>
                <a:sym typeface="Wingdings" pitchFamily="2" charset="2"/>
              </a:rPr>
              <a:t></a:t>
            </a:r>
            <a:endParaRPr lang="zh-CN" altLang="en-US" sz="4800">
              <a:solidFill>
                <a:srgbClr val="FF3300"/>
              </a:solidFill>
              <a:latin typeface="Times New Roman" pitchFamily="18" charset="0"/>
            </a:endParaRPr>
          </a:p>
        </p:txBody>
      </p:sp>
      <p:grpSp>
        <p:nvGrpSpPr>
          <p:cNvPr id="18" name="Group 71"/>
          <p:cNvGrpSpPr>
            <a:grpSpLocks/>
          </p:cNvGrpSpPr>
          <p:nvPr/>
        </p:nvGrpSpPr>
        <p:grpSpPr bwMode="auto">
          <a:xfrm>
            <a:off x="5410200" y="1233488"/>
            <a:ext cx="457200" cy="2652712"/>
            <a:chOff x="3456" y="432"/>
            <a:chExt cx="288" cy="1671"/>
          </a:xfrm>
        </p:grpSpPr>
        <p:sp>
          <p:nvSpPr>
            <p:cNvPr id="79930" name="Line 72"/>
            <p:cNvSpPr>
              <a:spLocks noChangeShapeType="1"/>
            </p:cNvSpPr>
            <p:nvPr/>
          </p:nvSpPr>
          <p:spPr bwMode="auto">
            <a:xfrm>
              <a:off x="3552" y="672"/>
              <a:ext cx="0" cy="12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31" name="Text Box 73"/>
            <p:cNvSpPr txBox="1">
              <a:spLocks noChangeArrowheads="1"/>
            </p:cNvSpPr>
            <p:nvPr/>
          </p:nvSpPr>
          <p:spPr bwMode="auto">
            <a:xfrm>
              <a:off x="3456" y="1872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i="1">
                  <a:latin typeface="Times New Roman" pitchFamily="18" charset="0"/>
                </a:rPr>
                <a:t>x</a:t>
              </a:r>
              <a:r>
                <a:rPr lang="en-US" altLang="zh-CN" sz="1800" baseline="-25000">
                  <a:latin typeface="Times New Roman" pitchFamily="18" charset="0"/>
                </a:rPr>
                <a:t>0</a:t>
              </a:r>
              <a:endParaRPr lang="en-US" altLang="zh-CN" sz="1800" i="1">
                <a:latin typeface="Times New Roman" pitchFamily="18" charset="0"/>
              </a:endParaRPr>
            </a:p>
          </p:txBody>
        </p:sp>
        <p:sp>
          <p:nvSpPr>
            <p:cNvPr id="79932" name="Text Box 74"/>
            <p:cNvSpPr txBox="1">
              <a:spLocks noChangeArrowheads="1"/>
            </p:cNvSpPr>
            <p:nvPr/>
          </p:nvSpPr>
          <p:spPr bwMode="auto">
            <a:xfrm>
              <a:off x="3504" y="432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i="1">
                  <a:latin typeface="Times New Roman" pitchFamily="18" charset="0"/>
                </a:rPr>
                <a:t>p</a:t>
              </a:r>
              <a:r>
                <a:rPr lang="en-US" altLang="zh-CN" sz="1800" baseline="-25000">
                  <a:latin typeface="Times New Roman" pitchFamily="18" charset="0"/>
                </a:rPr>
                <a:t>0</a:t>
              </a:r>
              <a:endParaRPr lang="en-US" altLang="zh-CN" sz="1800" i="1">
                <a:latin typeface="Times New Roman" pitchFamily="18" charset="0"/>
              </a:endParaRPr>
            </a:p>
          </p:txBody>
        </p:sp>
      </p:grpSp>
      <p:sp>
        <p:nvSpPr>
          <p:cNvPr id="506955" name="Line 75"/>
          <p:cNvSpPr>
            <a:spLocks noChangeShapeType="1"/>
          </p:cNvSpPr>
          <p:nvPr/>
        </p:nvSpPr>
        <p:spPr bwMode="auto">
          <a:xfrm>
            <a:off x="5562600" y="1614488"/>
            <a:ext cx="1524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9" name="Group 76"/>
          <p:cNvGrpSpPr>
            <a:grpSpLocks/>
          </p:cNvGrpSpPr>
          <p:nvPr/>
        </p:nvGrpSpPr>
        <p:grpSpPr bwMode="auto">
          <a:xfrm>
            <a:off x="6934200" y="1614488"/>
            <a:ext cx="381000" cy="2271712"/>
            <a:chOff x="4416" y="672"/>
            <a:chExt cx="240" cy="1431"/>
          </a:xfrm>
        </p:grpSpPr>
        <p:sp>
          <p:nvSpPr>
            <p:cNvPr id="79928" name="Line 77"/>
            <p:cNvSpPr>
              <a:spLocks noChangeShapeType="1"/>
            </p:cNvSpPr>
            <p:nvPr/>
          </p:nvSpPr>
          <p:spPr bwMode="auto">
            <a:xfrm>
              <a:off x="4512" y="672"/>
              <a:ext cx="0" cy="12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29" name="Text Box 78"/>
            <p:cNvSpPr txBox="1">
              <a:spLocks noChangeArrowheads="1"/>
            </p:cNvSpPr>
            <p:nvPr/>
          </p:nvSpPr>
          <p:spPr bwMode="auto">
            <a:xfrm>
              <a:off x="4416" y="1872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i="1">
                  <a:latin typeface="Times New Roman" pitchFamily="18" charset="0"/>
                </a:rPr>
                <a:t>x</a:t>
              </a:r>
              <a:r>
                <a:rPr lang="en-US" altLang="zh-CN" sz="1800" baseline="-25000">
                  <a:latin typeface="Times New Roman" pitchFamily="18" charset="0"/>
                </a:rPr>
                <a:t>1</a:t>
              </a:r>
              <a:endParaRPr lang="en-US" altLang="zh-CN" sz="1800" i="1">
                <a:latin typeface="Times New Roman" pitchFamily="18" charset="0"/>
              </a:endParaRPr>
            </a:p>
          </p:txBody>
        </p:sp>
      </p:grpSp>
      <p:grpSp>
        <p:nvGrpSpPr>
          <p:cNvPr id="20" name="Group 79"/>
          <p:cNvGrpSpPr>
            <a:grpSpLocks/>
          </p:cNvGrpSpPr>
          <p:nvPr/>
        </p:nvGrpSpPr>
        <p:grpSpPr bwMode="auto">
          <a:xfrm>
            <a:off x="6096000" y="2528888"/>
            <a:ext cx="1371600" cy="1066800"/>
            <a:chOff x="3888" y="1248"/>
            <a:chExt cx="864" cy="672"/>
          </a:xfrm>
        </p:grpSpPr>
        <p:sp>
          <p:nvSpPr>
            <p:cNvPr id="79925" name="Text Box 80"/>
            <p:cNvSpPr txBox="1">
              <a:spLocks noChangeArrowheads="1"/>
            </p:cNvSpPr>
            <p:nvPr/>
          </p:nvSpPr>
          <p:spPr bwMode="auto">
            <a:xfrm>
              <a:off x="4512" y="1248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i="1">
                  <a:latin typeface="Times New Roman" pitchFamily="18" charset="0"/>
                </a:rPr>
                <a:t>p</a:t>
              </a:r>
              <a:r>
                <a:rPr lang="en-US" altLang="zh-CN" sz="1800" baseline="-25000">
                  <a:latin typeface="Times New Roman" pitchFamily="18" charset="0"/>
                </a:rPr>
                <a:t>1</a:t>
              </a:r>
              <a:endParaRPr lang="en-US" altLang="zh-CN" sz="1800" i="1">
                <a:latin typeface="Times New Roman" pitchFamily="18" charset="0"/>
              </a:endParaRPr>
            </a:p>
          </p:txBody>
        </p:sp>
        <p:sp>
          <p:nvSpPr>
            <p:cNvPr id="79926" name="Line 81"/>
            <p:cNvSpPr>
              <a:spLocks noChangeShapeType="1"/>
            </p:cNvSpPr>
            <p:nvPr/>
          </p:nvSpPr>
          <p:spPr bwMode="auto">
            <a:xfrm flipH="1">
              <a:off x="3888" y="1296"/>
              <a:ext cx="6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27" name="Line 82"/>
            <p:cNvSpPr>
              <a:spLocks noChangeShapeType="1"/>
            </p:cNvSpPr>
            <p:nvPr/>
          </p:nvSpPr>
          <p:spPr bwMode="auto">
            <a:xfrm>
              <a:off x="3888" y="1296"/>
              <a:ext cx="0" cy="6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06963" name="Text Box 83"/>
          <p:cNvSpPr txBox="1">
            <a:spLocks noChangeArrowheads="1"/>
          </p:cNvSpPr>
          <p:nvPr/>
        </p:nvSpPr>
        <p:spPr bwMode="auto">
          <a:xfrm>
            <a:off x="7391400" y="1538288"/>
            <a:ext cx="914400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4800">
                <a:solidFill>
                  <a:srgbClr val="FF3300"/>
                </a:solidFill>
                <a:latin typeface="Times New Roman" pitchFamily="18" charset="0"/>
                <a:sym typeface="Wingdings" pitchFamily="2" charset="2"/>
              </a:rPr>
              <a:t></a:t>
            </a:r>
            <a:endParaRPr lang="zh-CN" altLang="en-US" sz="4800">
              <a:solidFill>
                <a:srgbClr val="FF3300"/>
              </a:solidFill>
              <a:latin typeface="Times New Roman" pitchFamily="18" charset="0"/>
            </a:endParaRPr>
          </a:p>
        </p:txBody>
      </p:sp>
      <p:grpSp>
        <p:nvGrpSpPr>
          <p:cNvPr id="21" name="Group 84"/>
          <p:cNvGrpSpPr>
            <a:grpSpLocks/>
          </p:cNvGrpSpPr>
          <p:nvPr/>
        </p:nvGrpSpPr>
        <p:grpSpPr bwMode="auto">
          <a:xfrm>
            <a:off x="2438400" y="5043488"/>
            <a:ext cx="533400" cy="1738312"/>
            <a:chOff x="1296" y="3072"/>
            <a:chExt cx="336" cy="1095"/>
          </a:xfrm>
        </p:grpSpPr>
        <p:sp>
          <p:nvSpPr>
            <p:cNvPr id="79922" name="Text Box 85"/>
            <p:cNvSpPr txBox="1">
              <a:spLocks noChangeArrowheads="1"/>
            </p:cNvSpPr>
            <p:nvPr/>
          </p:nvSpPr>
          <p:spPr bwMode="auto">
            <a:xfrm>
              <a:off x="1296" y="3936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i="1">
                  <a:latin typeface="Times New Roman" pitchFamily="18" charset="0"/>
                </a:rPr>
                <a:t>x</a:t>
              </a:r>
              <a:r>
                <a:rPr lang="en-US" altLang="zh-CN" sz="1800" baseline="-25000">
                  <a:latin typeface="Times New Roman" pitchFamily="18" charset="0"/>
                </a:rPr>
                <a:t>0</a:t>
              </a:r>
              <a:endParaRPr lang="en-US" altLang="zh-CN" sz="1800" i="1">
                <a:latin typeface="Times New Roman" pitchFamily="18" charset="0"/>
              </a:endParaRPr>
            </a:p>
          </p:txBody>
        </p:sp>
        <p:sp>
          <p:nvSpPr>
            <p:cNvPr id="79923" name="Line 86"/>
            <p:cNvSpPr>
              <a:spLocks noChangeShapeType="1"/>
            </p:cNvSpPr>
            <p:nvPr/>
          </p:nvSpPr>
          <p:spPr bwMode="auto">
            <a:xfrm flipV="1">
              <a:off x="1392" y="3216"/>
              <a:ext cx="0" cy="7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24" name="Text Box 87"/>
            <p:cNvSpPr txBox="1">
              <a:spLocks noChangeArrowheads="1"/>
            </p:cNvSpPr>
            <p:nvPr/>
          </p:nvSpPr>
          <p:spPr bwMode="auto">
            <a:xfrm>
              <a:off x="1392" y="3072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i="1">
                  <a:latin typeface="Times New Roman" pitchFamily="18" charset="0"/>
                </a:rPr>
                <a:t>p</a:t>
              </a:r>
              <a:r>
                <a:rPr lang="en-US" altLang="zh-CN" sz="1800" baseline="-25000">
                  <a:latin typeface="Times New Roman" pitchFamily="18" charset="0"/>
                </a:rPr>
                <a:t>0</a:t>
              </a:r>
              <a:endParaRPr lang="en-US" altLang="zh-CN" sz="1800" i="1">
                <a:latin typeface="Times New Roman" pitchFamily="18" charset="0"/>
              </a:endParaRPr>
            </a:p>
          </p:txBody>
        </p:sp>
      </p:grpSp>
      <p:grpSp>
        <p:nvGrpSpPr>
          <p:cNvPr id="22" name="Group 88"/>
          <p:cNvGrpSpPr>
            <a:grpSpLocks/>
          </p:cNvGrpSpPr>
          <p:nvPr/>
        </p:nvGrpSpPr>
        <p:grpSpPr bwMode="auto">
          <a:xfrm>
            <a:off x="2057400" y="5272088"/>
            <a:ext cx="533400" cy="1509712"/>
            <a:chOff x="1056" y="3216"/>
            <a:chExt cx="336" cy="951"/>
          </a:xfrm>
        </p:grpSpPr>
        <p:sp>
          <p:nvSpPr>
            <p:cNvPr id="79919" name="Line 89"/>
            <p:cNvSpPr>
              <a:spLocks noChangeShapeType="1"/>
            </p:cNvSpPr>
            <p:nvPr/>
          </p:nvSpPr>
          <p:spPr bwMode="auto">
            <a:xfrm flipH="1">
              <a:off x="1152" y="3216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20" name="Line 90"/>
            <p:cNvSpPr>
              <a:spLocks noChangeShapeType="1"/>
            </p:cNvSpPr>
            <p:nvPr/>
          </p:nvSpPr>
          <p:spPr bwMode="auto">
            <a:xfrm>
              <a:off x="1152" y="3216"/>
              <a:ext cx="0" cy="7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21" name="Text Box 91"/>
            <p:cNvSpPr txBox="1">
              <a:spLocks noChangeArrowheads="1"/>
            </p:cNvSpPr>
            <p:nvPr/>
          </p:nvSpPr>
          <p:spPr bwMode="auto">
            <a:xfrm>
              <a:off x="1056" y="3936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i="1">
                  <a:latin typeface="Times New Roman" pitchFamily="18" charset="0"/>
                </a:rPr>
                <a:t>x</a:t>
              </a:r>
              <a:r>
                <a:rPr lang="en-US" altLang="zh-CN" sz="1800" baseline="-25000">
                  <a:latin typeface="Times New Roman" pitchFamily="18" charset="0"/>
                </a:rPr>
                <a:t>1</a:t>
              </a:r>
              <a:endParaRPr lang="en-US" altLang="zh-CN" sz="1800" i="1">
                <a:latin typeface="Times New Roman" pitchFamily="18" charset="0"/>
              </a:endParaRPr>
            </a:p>
          </p:txBody>
        </p:sp>
      </p:grpSp>
      <p:grpSp>
        <p:nvGrpSpPr>
          <p:cNvPr id="23" name="Group 92"/>
          <p:cNvGrpSpPr>
            <a:grpSpLocks/>
          </p:cNvGrpSpPr>
          <p:nvPr/>
        </p:nvGrpSpPr>
        <p:grpSpPr bwMode="auto">
          <a:xfrm>
            <a:off x="1676400" y="5653088"/>
            <a:ext cx="914400" cy="838200"/>
            <a:chOff x="816" y="3456"/>
            <a:chExt cx="576" cy="528"/>
          </a:xfrm>
        </p:grpSpPr>
        <p:sp>
          <p:nvSpPr>
            <p:cNvPr id="79916" name="Text Box 93"/>
            <p:cNvSpPr txBox="1">
              <a:spLocks noChangeArrowheads="1"/>
            </p:cNvSpPr>
            <p:nvPr/>
          </p:nvSpPr>
          <p:spPr bwMode="auto">
            <a:xfrm>
              <a:off x="1152" y="3456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i="1">
                  <a:latin typeface="Times New Roman" pitchFamily="18" charset="0"/>
                </a:rPr>
                <a:t>p</a:t>
              </a:r>
              <a:r>
                <a:rPr lang="en-US" altLang="zh-CN" sz="1800" baseline="-25000">
                  <a:latin typeface="Times New Roman" pitchFamily="18" charset="0"/>
                </a:rPr>
                <a:t>1</a:t>
              </a:r>
              <a:endParaRPr lang="en-US" altLang="zh-CN" sz="1800" i="1">
                <a:latin typeface="Times New Roman" pitchFamily="18" charset="0"/>
              </a:endParaRPr>
            </a:p>
          </p:txBody>
        </p:sp>
        <p:sp>
          <p:nvSpPr>
            <p:cNvPr id="79917" name="Line 94"/>
            <p:cNvSpPr>
              <a:spLocks noChangeShapeType="1"/>
            </p:cNvSpPr>
            <p:nvPr/>
          </p:nvSpPr>
          <p:spPr bwMode="auto">
            <a:xfrm flipH="1">
              <a:off x="816" y="3552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18" name="Line 95"/>
            <p:cNvSpPr>
              <a:spLocks noChangeShapeType="1"/>
            </p:cNvSpPr>
            <p:nvPr/>
          </p:nvSpPr>
          <p:spPr bwMode="auto">
            <a:xfrm>
              <a:off x="816" y="3552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06976" name="Text Box 96"/>
          <p:cNvSpPr txBox="1">
            <a:spLocks noChangeArrowheads="1"/>
          </p:cNvSpPr>
          <p:nvPr/>
        </p:nvSpPr>
        <p:spPr bwMode="auto">
          <a:xfrm>
            <a:off x="3352800" y="4891088"/>
            <a:ext cx="914400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4800" b="0">
                <a:solidFill>
                  <a:srgbClr val="FF3300"/>
                </a:solidFill>
                <a:latin typeface="Times New Roman" pitchFamily="18" charset="0"/>
                <a:sym typeface="Webdings" pitchFamily="18" charset="2"/>
              </a:rPr>
              <a:t></a:t>
            </a:r>
            <a:endParaRPr lang="zh-CN" altLang="en-US" sz="4800" b="0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506977" name="Line 97"/>
          <p:cNvSpPr>
            <a:spLocks noChangeShapeType="1"/>
          </p:cNvSpPr>
          <p:nvPr/>
        </p:nvSpPr>
        <p:spPr bwMode="auto">
          <a:xfrm>
            <a:off x="6172200" y="4586288"/>
            <a:ext cx="9144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4" name="Group 98"/>
          <p:cNvGrpSpPr>
            <a:grpSpLocks/>
          </p:cNvGrpSpPr>
          <p:nvPr/>
        </p:nvGrpSpPr>
        <p:grpSpPr bwMode="auto">
          <a:xfrm>
            <a:off x="5867400" y="4357688"/>
            <a:ext cx="533400" cy="2424112"/>
            <a:chOff x="3744" y="2640"/>
            <a:chExt cx="336" cy="1527"/>
          </a:xfrm>
        </p:grpSpPr>
        <p:sp>
          <p:nvSpPr>
            <p:cNvPr id="79913" name="Text Box 99"/>
            <p:cNvSpPr txBox="1">
              <a:spLocks noChangeArrowheads="1"/>
            </p:cNvSpPr>
            <p:nvPr/>
          </p:nvSpPr>
          <p:spPr bwMode="auto">
            <a:xfrm>
              <a:off x="3840" y="3936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i="1">
                  <a:latin typeface="Times New Roman" pitchFamily="18" charset="0"/>
                </a:rPr>
                <a:t>x</a:t>
              </a:r>
              <a:r>
                <a:rPr lang="en-US" altLang="zh-CN" sz="1800" baseline="-25000">
                  <a:latin typeface="Times New Roman" pitchFamily="18" charset="0"/>
                </a:rPr>
                <a:t>0</a:t>
              </a:r>
              <a:endParaRPr lang="en-US" altLang="zh-CN" sz="1800" i="1">
                <a:latin typeface="Times New Roman" pitchFamily="18" charset="0"/>
              </a:endParaRPr>
            </a:p>
          </p:txBody>
        </p:sp>
        <p:sp>
          <p:nvSpPr>
            <p:cNvPr id="79914" name="Line 100"/>
            <p:cNvSpPr>
              <a:spLocks noChangeShapeType="1"/>
            </p:cNvSpPr>
            <p:nvPr/>
          </p:nvSpPr>
          <p:spPr bwMode="auto">
            <a:xfrm flipV="1">
              <a:off x="3936" y="2784"/>
              <a:ext cx="0" cy="12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15" name="Text Box 101"/>
            <p:cNvSpPr txBox="1">
              <a:spLocks noChangeArrowheads="1"/>
            </p:cNvSpPr>
            <p:nvPr/>
          </p:nvSpPr>
          <p:spPr bwMode="auto">
            <a:xfrm>
              <a:off x="3744" y="2640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i="1">
                  <a:latin typeface="Times New Roman" pitchFamily="18" charset="0"/>
                </a:rPr>
                <a:t>p</a:t>
              </a:r>
              <a:r>
                <a:rPr lang="en-US" altLang="zh-CN" sz="1800" baseline="-25000">
                  <a:latin typeface="Times New Roman" pitchFamily="18" charset="0"/>
                </a:rPr>
                <a:t>0</a:t>
              </a:r>
              <a:endParaRPr lang="en-US" altLang="zh-CN" sz="1800" i="1">
                <a:latin typeface="Times New Roman" pitchFamily="18" charset="0"/>
              </a:endParaRPr>
            </a:p>
          </p:txBody>
        </p:sp>
      </p:grpSp>
      <p:grpSp>
        <p:nvGrpSpPr>
          <p:cNvPr id="25" name="Group 102"/>
          <p:cNvGrpSpPr>
            <a:grpSpLocks/>
          </p:cNvGrpSpPr>
          <p:nvPr/>
        </p:nvGrpSpPr>
        <p:grpSpPr bwMode="auto">
          <a:xfrm>
            <a:off x="6934200" y="4586288"/>
            <a:ext cx="381000" cy="2195512"/>
            <a:chOff x="4416" y="2784"/>
            <a:chExt cx="240" cy="1383"/>
          </a:xfrm>
        </p:grpSpPr>
        <p:sp>
          <p:nvSpPr>
            <p:cNvPr id="79911" name="Line 103"/>
            <p:cNvSpPr>
              <a:spLocks noChangeShapeType="1"/>
            </p:cNvSpPr>
            <p:nvPr/>
          </p:nvSpPr>
          <p:spPr bwMode="auto">
            <a:xfrm>
              <a:off x="4512" y="2784"/>
              <a:ext cx="0" cy="12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12" name="Text Box 104"/>
            <p:cNvSpPr txBox="1">
              <a:spLocks noChangeArrowheads="1"/>
            </p:cNvSpPr>
            <p:nvPr/>
          </p:nvSpPr>
          <p:spPr bwMode="auto">
            <a:xfrm>
              <a:off x="4416" y="3936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i="1">
                  <a:latin typeface="Times New Roman" pitchFamily="18" charset="0"/>
                </a:rPr>
                <a:t>x</a:t>
              </a:r>
              <a:r>
                <a:rPr lang="en-US" altLang="zh-CN" sz="1800" baseline="-25000">
                  <a:latin typeface="Times New Roman" pitchFamily="18" charset="0"/>
                </a:rPr>
                <a:t>1</a:t>
              </a:r>
              <a:endParaRPr lang="en-US" altLang="zh-CN" sz="1800" i="1">
                <a:latin typeface="Times New Roman" pitchFamily="18" charset="0"/>
              </a:endParaRPr>
            </a:p>
          </p:txBody>
        </p:sp>
      </p:grpSp>
      <p:grpSp>
        <p:nvGrpSpPr>
          <p:cNvPr id="26" name="Group 105"/>
          <p:cNvGrpSpPr>
            <a:grpSpLocks/>
          </p:cNvGrpSpPr>
          <p:nvPr/>
        </p:nvGrpSpPr>
        <p:grpSpPr bwMode="auto">
          <a:xfrm>
            <a:off x="5943600" y="5424488"/>
            <a:ext cx="1524000" cy="1066800"/>
            <a:chOff x="3792" y="3312"/>
            <a:chExt cx="960" cy="672"/>
          </a:xfrm>
        </p:grpSpPr>
        <p:sp>
          <p:nvSpPr>
            <p:cNvPr id="79908" name="Text Box 106"/>
            <p:cNvSpPr txBox="1">
              <a:spLocks noChangeArrowheads="1"/>
            </p:cNvSpPr>
            <p:nvPr/>
          </p:nvSpPr>
          <p:spPr bwMode="auto">
            <a:xfrm>
              <a:off x="4512" y="3312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i="1">
                  <a:latin typeface="Times New Roman" pitchFamily="18" charset="0"/>
                </a:rPr>
                <a:t>p</a:t>
              </a:r>
              <a:r>
                <a:rPr lang="en-US" altLang="zh-CN" sz="1800" baseline="-25000">
                  <a:latin typeface="Times New Roman" pitchFamily="18" charset="0"/>
                </a:rPr>
                <a:t>1</a:t>
              </a:r>
              <a:endParaRPr lang="en-US" altLang="zh-CN" sz="1800" i="1">
                <a:latin typeface="Times New Roman" pitchFamily="18" charset="0"/>
              </a:endParaRPr>
            </a:p>
          </p:txBody>
        </p:sp>
        <p:sp>
          <p:nvSpPr>
            <p:cNvPr id="79909" name="Line 107"/>
            <p:cNvSpPr>
              <a:spLocks noChangeShapeType="1"/>
            </p:cNvSpPr>
            <p:nvPr/>
          </p:nvSpPr>
          <p:spPr bwMode="auto">
            <a:xfrm flipH="1">
              <a:off x="3792" y="3513"/>
              <a:ext cx="69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10" name="Line 108"/>
            <p:cNvSpPr>
              <a:spLocks noChangeShapeType="1"/>
            </p:cNvSpPr>
            <p:nvPr/>
          </p:nvSpPr>
          <p:spPr bwMode="auto">
            <a:xfrm>
              <a:off x="3792" y="3504"/>
              <a:ext cx="0" cy="4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06989" name="Text Box 109"/>
          <p:cNvSpPr txBox="1">
            <a:spLocks noChangeArrowheads="1"/>
          </p:cNvSpPr>
          <p:nvPr/>
        </p:nvSpPr>
        <p:spPr bwMode="auto">
          <a:xfrm>
            <a:off x="7467600" y="4814888"/>
            <a:ext cx="914400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4800" b="0">
                <a:solidFill>
                  <a:srgbClr val="FF3300"/>
                </a:solidFill>
                <a:latin typeface="Times New Roman" pitchFamily="18" charset="0"/>
                <a:sym typeface="Webdings" pitchFamily="18" charset="2"/>
              </a:rPr>
              <a:t></a:t>
            </a:r>
            <a:endParaRPr lang="zh-CN" altLang="en-US" sz="4800" b="0">
              <a:solidFill>
                <a:srgbClr val="FF3300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506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06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506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5069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5069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506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5069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5069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6950" grpId="0" autoUpdateAnimBg="0"/>
      <p:bldP spid="506955" grpId="0" animBg="1"/>
      <p:bldP spid="506963" grpId="0" autoUpdateAnimBg="0"/>
      <p:bldP spid="506976" grpId="0" autoUpdateAnimBg="0"/>
      <p:bldP spid="506977" grpId="0" animBg="1"/>
      <p:bldP spid="506989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4840411C-4F60-453F-BE72-3C61860FD939}" type="slidenum">
              <a:rPr lang="zh-CN" altLang="en-US"/>
              <a:pPr/>
              <a:t>28</a:t>
            </a:fld>
            <a:endParaRPr lang="en-US" altLang="zh-CN"/>
          </a:p>
        </p:txBody>
      </p:sp>
      <p:sp>
        <p:nvSpPr>
          <p:cNvPr id="80899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44485894-D883-4C26-9845-1CF9C419A36E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>
                <a:latin typeface="Times New Roman" pitchFamily="18" charset="0"/>
              </a:rPr>
              <a:t>2.4  迭代法的收敛性</a:t>
            </a:r>
            <a:endParaRPr lang="zh-CN" altLang="en-US" smtClean="0"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51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143001"/>
            <a:ext cx="8142288" cy="5343001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mtClean="0"/>
              <a:t>影响迭代法收敛性的要素</a:t>
            </a:r>
          </a:p>
          <a:p>
            <a:pPr lvl="1">
              <a:lnSpc>
                <a:spcPct val="80000"/>
              </a:lnSpc>
            </a:pPr>
            <a:r>
              <a:rPr lang="zh-CN" altLang="en-US" smtClean="0"/>
              <a:t>迭代函数在根近旁的性态</a:t>
            </a:r>
          </a:p>
          <a:p>
            <a:pPr lvl="1">
              <a:lnSpc>
                <a:spcPct val="80000"/>
              </a:lnSpc>
            </a:pPr>
            <a:r>
              <a:rPr lang="zh-CN" altLang="en-US" smtClean="0"/>
              <a:t>初值的选取范围</a:t>
            </a:r>
          </a:p>
          <a:p>
            <a:pPr>
              <a:lnSpc>
                <a:spcPct val="80000"/>
              </a:lnSpc>
            </a:pPr>
            <a:r>
              <a:rPr lang="zh-CN" altLang="en-US" smtClean="0"/>
              <a:t>迭代法收敛的类型</a:t>
            </a:r>
          </a:p>
          <a:p>
            <a:pPr lvl="1">
              <a:lnSpc>
                <a:spcPct val="80000"/>
              </a:lnSpc>
            </a:pPr>
            <a:r>
              <a:rPr lang="zh-CN" altLang="en-US" u="sng" smtClean="0">
                <a:solidFill>
                  <a:srgbClr val="FF3300"/>
                </a:solidFill>
              </a:rPr>
              <a:t>大范围收敛: </a:t>
            </a:r>
            <a:r>
              <a:rPr lang="zh-CN" altLang="en-US" smtClean="0"/>
              <a:t>从任何可取初值出发都能保证收敛</a:t>
            </a:r>
          </a:p>
          <a:p>
            <a:pPr lvl="1">
              <a:lnSpc>
                <a:spcPct val="80000"/>
              </a:lnSpc>
            </a:pPr>
            <a:r>
              <a:rPr lang="zh-CN" altLang="en-US" u="sng" smtClean="0">
                <a:solidFill>
                  <a:srgbClr val="FF3300"/>
                </a:solidFill>
              </a:rPr>
              <a:t>局部收敛: </a:t>
            </a:r>
            <a:r>
              <a:rPr lang="zh-CN" altLang="en-US" smtClean="0"/>
              <a:t>为了保证收敛性必须选取初值充分接近于所要求的根。</a:t>
            </a:r>
          </a:p>
          <a:p>
            <a:pPr lvl="1">
              <a:lnSpc>
                <a:spcPct val="80000"/>
              </a:lnSpc>
            </a:pPr>
            <a:r>
              <a:rPr lang="zh-CN" altLang="en-US" smtClean="0"/>
              <a:t>局部收敛方法比大范围收敛方法收敛得快</a:t>
            </a:r>
          </a:p>
          <a:p>
            <a:pPr>
              <a:lnSpc>
                <a:spcPct val="80000"/>
              </a:lnSpc>
            </a:pPr>
            <a:r>
              <a:rPr lang="zh-CN" altLang="en-US" smtClean="0"/>
              <a:t>合理的求根算法</a:t>
            </a:r>
          </a:p>
          <a:p>
            <a:pPr lvl="1">
              <a:lnSpc>
                <a:spcPct val="80000"/>
              </a:lnSpc>
            </a:pPr>
            <a:r>
              <a:rPr lang="zh-CN" altLang="en-US" smtClean="0"/>
              <a:t>先用一种大范围收敛方法求得接近于根的近似值(如对分法),再以其作为新的初值使用局部收敛法(如迭代法)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1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51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51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51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51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51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51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51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519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907" grpId="0" build="p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5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9154624F-622C-4C89-A91F-F7107D7F9BA2}" type="slidenum">
              <a:rPr lang="zh-CN" altLang="en-US"/>
              <a:pPr/>
              <a:t>29</a:t>
            </a:fld>
            <a:endParaRPr lang="en-US" altLang="zh-CN"/>
          </a:p>
        </p:txBody>
      </p:sp>
      <p:sp>
        <p:nvSpPr>
          <p:cNvPr id="7176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EDEDC654-423B-4C46-8240-CBA2FCC76869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>
                <a:latin typeface="Times New Roman" pitchFamily="18" charset="0"/>
              </a:rPr>
              <a:t>2.4  迭代法的收敛性</a:t>
            </a:r>
          </a:p>
        </p:txBody>
      </p:sp>
      <p:graphicFrame>
        <p:nvGraphicFramePr>
          <p:cNvPr id="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4930426"/>
              </p:ext>
            </p:extLst>
          </p:nvPr>
        </p:nvGraphicFramePr>
        <p:xfrm>
          <a:off x="2213248" y="1662115"/>
          <a:ext cx="312420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38" r:id="rId6" imgW="1511617" imgH="254317" progId="Equation.DSMT4">
                  <p:embed/>
                </p:oleObj>
              </mc:Choice>
              <mc:Fallback>
                <p:oleObj r:id="rId6" imgW="1511617" imgH="25431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3248" y="1662115"/>
                        <a:ext cx="3124200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mpd="sng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747189"/>
              </p:ext>
            </p:extLst>
          </p:nvPr>
        </p:nvGraphicFramePr>
        <p:xfrm>
          <a:off x="5794648" y="1662113"/>
          <a:ext cx="914400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39" r:id="rId8" imgW="406365" imgH="254097" progId="Equation.DSMT4">
                  <p:embed/>
                </p:oleObj>
              </mc:Choice>
              <mc:Fallback>
                <p:oleObj r:id="rId8" imgW="406365" imgH="25409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4648" y="1662113"/>
                        <a:ext cx="914400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mpd="sng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4691553"/>
              </p:ext>
            </p:extLst>
          </p:nvPr>
        </p:nvGraphicFramePr>
        <p:xfrm>
          <a:off x="7699650" y="1509713"/>
          <a:ext cx="49371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40" r:id="rId10" imgW="165274" imgH="203341" progId="Equation.DSMT4">
                  <p:embed/>
                </p:oleObj>
              </mc:Choice>
              <mc:Fallback>
                <p:oleObj r:id="rId10" imgW="165274" imgH="20334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9650" y="1509713"/>
                        <a:ext cx="493713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mpd="sng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5"/>
          <p:cNvSpPr>
            <a:spLocks noChangeArrowheads="1"/>
          </p:cNvSpPr>
          <p:nvPr/>
        </p:nvSpPr>
        <p:spPr bwMode="auto">
          <a:xfrm>
            <a:off x="994050" y="1662115"/>
            <a:ext cx="14208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zh-CN" altLang="en-US" sz="2800">
                <a:solidFill>
                  <a:srgbClr val="000066"/>
                </a:solidFill>
                <a:latin typeface="楷体_GB2312" pitchFamily="1" charset="-122"/>
                <a:ea typeface="楷体_GB2312" pitchFamily="1" charset="-122"/>
              </a:rPr>
              <a:t>求方程</a:t>
            </a:r>
          </a:p>
        </p:txBody>
      </p:sp>
      <p:sp>
        <p:nvSpPr>
          <p:cNvPr id="30" name="Rectangle 6"/>
          <p:cNvSpPr>
            <a:spLocks noChangeArrowheads="1"/>
          </p:cNvSpPr>
          <p:nvPr/>
        </p:nvSpPr>
        <p:spPr bwMode="auto">
          <a:xfrm>
            <a:off x="5337448" y="1585915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zh-CN" altLang="en-US" sz="2800">
                <a:solidFill>
                  <a:srgbClr val="000066"/>
                </a:solidFill>
                <a:latin typeface="楷体_GB2312" pitchFamily="1" charset="-122"/>
                <a:ea typeface="楷体_GB2312" pitchFamily="1" charset="-122"/>
              </a:rPr>
              <a:t>在</a:t>
            </a:r>
          </a:p>
        </p:txBody>
      </p:sp>
      <p:sp>
        <p:nvSpPr>
          <p:cNvPr id="31" name="Rectangle 7"/>
          <p:cNvSpPr>
            <a:spLocks noChangeArrowheads="1"/>
          </p:cNvSpPr>
          <p:nvPr/>
        </p:nvSpPr>
        <p:spPr bwMode="auto">
          <a:xfrm>
            <a:off x="6556648" y="1585915"/>
            <a:ext cx="137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zh-CN" altLang="en-US" sz="2800">
                <a:solidFill>
                  <a:srgbClr val="000066"/>
                </a:solidFill>
                <a:latin typeface="宋体" pitchFamily="2" charset="-122"/>
                <a:ea typeface="楷体_GB2312" pitchFamily="1" charset="-122"/>
              </a:rPr>
              <a:t>内的根</a:t>
            </a:r>
            <a:endParaRPr lang="zh-CN" altLang="en-US" sz="2800">
              <a:solidFill>
                <a:srgbClr val="000066"/>
              </a:solidFill>
              <a:latin typeface="Arial" pitchFamily="34" charset="0"/>
              <a:ea typeface="楷体_GB2312" pitchFamily="1" charset="-122"/>
            </a:endParaRPr>
          </a:p>
        </p:txBody>
      </p:sp>
      <p:sp>
        <p:nvSpPr>
          <p:cNvPr id="32" name="Text Box 8"/>
          <p:cNvSpPr txBox="1">
            <a:spLocks noChangeArrowheads="1"/>
          </p:cNvSpPr>
          <p:nvPr/>
        </p:nvSpPr>
        <p:spPr bwMode="auto">
          <a:xfrm>
            <a:off x="1070248" y="1128713"/>
            <a:ext cx="1143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3200">
                <a:solidFill>
                  <a:srgbClr val="FF0032"/>
                </a:solidFill>
                <a:latin typeface="楷体_GB2312" pitchFamily="1" charset="-122"/>
                <a:ea typeface="楷体_GB2312" pitchFamily="1" charset="-122"/>
              </a:rPr>
              <a:t>例：</a:t>
            </a:r>
          </a:p>
        </p:txBody>
      </p:sp>
      <p:sp>
        <p:nvSpPr>
          <p:cNvPr id="33" name="Text Box 9"/>
          <p:cNvSpPr txBox="1">
            <a:spLocks noChangeArrowheads="1"/>
          </p:cNvSpPr>
          <p:nvPr/>
        </p:nvSpPr>
        <p:spPr bwMode="auto">
          <a:xfrm>
            <a:off x="8080648" y="1662115"/>
            <a:ext cx="609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1800">
                <a:solidFill>
                  <a:srgbClr val="0033CC"/>
                </a:solidFill>
                <a:latin typeface="Arial" pitchFamily="34" charset="0"/>
              </a:rPr>
              <a:t>。</a:t>
            </a:r>
          </a:p>
        </p:txBody>
      </p:sp>
      <p:sp>
        <p:nvSpPr>
          <p:cNvPr id="34" name="Text Box 10"/>
          <p:cNvSpPr txBox="1">
            <a:spLocks noChangeArrowheads="1"/>
          </p:cNvSpPr>
          <p:nvPr/>
        </p:nvSpPr>
        <p:spPr bwMode="auto">
          <a:xfrm>
            <a:off x="613048" y="2195515"/>
            <a:ext cx="91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800">
                <a:solidFill>
                  <a:srgbClr val="FF0000"/>
                </a:solidFill>
                <a:latin typeface="Arial" pitchFamily="34" charset="0"/>
                <a:ea typeface="楷体_GB2312" pitchFamily="1" charset="-122"/>
              </a:rPr>
              <a:t>解：</a:t>
            </a:r>
          </a:p>
        </p:txBody>
      </p:sp>
      <p:sp>
        <p:nvSpPr>
          <p:cNvPr id="35" name="Text Box 11"/>
          <p:cNvSpPr txBox="1">
            <a:spLocks noChangeArrowheads="1"/>
          </p:cNvSpPr>
          <p:nvPr/>
        </p:nvSpPr>
        <p:spPr bwMode="auto">
          <a:xfrm>
            <a:off x="1070248" y="2805113"/>
            <a:ext cx="6172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400">
                <a:solidFill>
                  <a:srgbClr val="0033CC"/>
                </a:solidFill>
                <a:latin typeface="Arial" pitchFamily="34" charset="0"/>
                <a:ea typeface="楷体_GB2312" pitchFamily="1" charset="-122"/>
              </a:rPr>
              <a:t>原方程可以等价变形为下列三个迭代格式</a:t>
            </a:r>
          </a:p>
        </p:txBody>
      </p:sp>
      <p:sp>
        <p:nvSpPr>
          <p:cNvPr id="36" name="Rectangle 12"/>
          <p:cNvSpPr>
            <a:spLocks noChangeArrowheads="1"/>
          </p:cNvSpPr>
          <p:nvPr/>
        </p:nvSpPr>
        <p:spPr bwMode="auto">
          <a:xfrm>
            <a:off x="3450" y="301573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endParaRPr lang="zh-CN" altLang="en-US" sz="1800" b="0">
              <a:solidFill>
                <a:srgbClr val="0033CC"/>
              </a:solidFill>
              <a:latin typeface="Arial" pitchFamily="34" charset="0"/>
            </a:endParaRPr>
          </a:p>
        </p:txBody>
      </p:sp>
      <p:graphicFrame>
        <p:nvGraphicFramePr>
          <p:cNvPr id="3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7263572"/>
              </p:ext>
            </p:extLst>
          </p:nvPr>
        </p:nvGraphicFramePr>
        <p:xfrm>
          <a:off x="1146448" y="3719515"/>
          <a:ext cx="6553200" cy="2632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41" r:id="rId12" imgW="2870517" imgH="1156017" progId="Equation.DSMT4">
                  <p:embed/>
                </p:oleObj>
              </mc:Choice>
              <mc:Fallback>
                <p:oleObj r:id="rId12" imgW="2870517" imgH="115601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6448" y="3719515"/>
                        <a:ext cx="6553200" cy="2632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mpd="sng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" name="Picture 14" descr="MCj04348590000[1]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048" y="1204913"/>
            <a:ext cx="990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utoUpdateAnimBg="0"/>
      <p:bldP spid="30" grpId="0" autoUpdateAnimBg="0"/>
      <p:bldP spid="31" grpId="0" autoUpdateAnimBg="0"/>
      <p:bldP spid="32" grpId="0" autoUpdateAnimBg="0"/>
      <p:bldP spid="33" grpId="0" autoUpdateAnimBg="0"/>
      <p:bldP spid="34" grpId="0" autoUpdateAnimBg="0"/>
      <p:bldP spid="35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EB2D8C-C595-4C75-A410-92E615560A69}" type="slidenum">
              <a:rPr lang="zh-CN" altLang="en-US" smtClean="0"/>
              <a:pPr>
                <a:defRPr/>
              </a:pPr>
              <a:t>30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F4F2C565-DEEA-484F-99D9-2BCC1484ACAF}" type="datetime1">
              <a:rPr lang="zh-CN" altLang="en-US" smtClean="0"/>
              <a:pPr>
                <a:defRPr/>
              </a:pPr>
              <a:t>2024/9/22</a:t>
            </a:fld>
            <a:endParaRPr lang="en-US" altLang="zh-CN" sz="1000"/>
          </a:p>
        </p:txBody>
      </p:sp>
      <p:sp>
        <p:nvSpPr>
          <p:cNvPr id="30" name="Rectangle 2"/>
          <p:cNvSpPr>
            <a:spLocks noChangeArrowheads="1"/>
          </p:cNvSpPr>
          <p:nvPr/>
        </p:nvSpPr>
        <p:spPr bwMode="auto">
          <a:xfrm>
            <a:off x="609602" y="1196752"/>
            <a:ext cx="2600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zh-CN" altLang="en-US" sz="2400">
                <a:solidFill>
                  <a:srgbClr val="0033CC"/>
                </a:solidFill>
                <a:latin typeface="Times New Roman" pitchFamily="18" charset="0"/>
                <a:ea typeface="楷体_GB2312" pitchFamily="1" charset="-122"/>
              </a:rPr>
              <a:t>由迭代格式 （</a:t>
            </a:r>
            <a:r>
              <a:rPr lang="zh-CN" altLang="zh-CN" sz="2400">
                <a:solidFill>
                  <a:srgbClr val="0033CC"/>
                </a:solidFill>
                <a:latin typeface="Times New Roman" pitchFamily="18" charset="0"/>
                <a:ea typeface="楷体_GB2312" pitchFamily="1" charset="-122"/>
              </a:rPr>
              <a:t>1</a:t>
            </a:r>
            <a:r>
              <a:rPr lang="zh-CN" altLang="en-US" sz="2400">
                <a:solidFill>
                  <a:srgbClr val="0033CC"/>
                </a:solidFill>
                <a:latin typeface="Times New Roman" pitchFamily="18" charset="0"/>
                <a:ea typeface="楷体_GB2312" pitchFamily="1" charset="-122"/>
              </a:rPr>
              <a:t>）</a:t>
            </a:r>
            <a:r>
              <a:rPr lang="zh-CN" altLang="en-US" sz="1200" b="0">
                <a:solidFill>
                  <a:srgbClr val="0033CC"/>
                </a:solidFill>
                <a:latin typeface="Arial" pitchFamily="34" charset="0"/>
              </a:rPr>
              <a:t> </a:t>
            </a:r>
            <a:endParaRPr lang="zh-CN" altLang="en-US" sz="1800" b="0">
              <a:solidFill>
                <a:srgbClr val="0033CC"/>
              </a:solidFill>
              <a:latin typeface="Arial" pitchFamily="34" charset="0"/>
            </a:endParaRPr>
          </a:p>
        </p:txBody>
      </p:sp>
      <p:graphicFrame>
        <p:nvGraphicFramePr>
          <p:cNvPr id="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6915835"/>
              </p:ext>
            </p:extLst>
          </p:nvPr>
        </p:nvGraphicFramePr>
        <p:xfrm>
          <a:off x="1981200" y="1730154"/>
          <a:ext cx="4038600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3" r:id="rId5" imgW="1536350" imgH="241512" progId="Equation.DSMT4">
                  <p:embed/>
                </p:oleObj>
              </mc:Choice>
              <mc:Fallback>
                <p:oleObj r:id="rId5" imgW="1536350" imgH="2415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730154"/>
                        <a:ext cx="4038600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mpd="sng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933474"/>
              </p:ext>
            </p:extLst>
          </p:nvPr>
        </p:nvGraphicFramePr>
        <p:xfrm>
          <a:off x="1905000" y="2644552"/>
          <a:ext cx="1295400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4" r:id="rId7" imgW="584264" imgH="228818" progId="Equation.DSMT4">
                  <p:embed/>
                </p:oleObj>
              </mc:Choice>
              <mc:Fallback>
                <p:oleObj r:id="rId7" imgW="584264" imgH="22881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644552"/>
                        <a:ext cx="1295400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mpd="sng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Rectangle 5"/>
          <p:cNvSpPr>
            <a:spLocks noChangeArrowheads="1"/>
          </p:cNvSpPr>
          <p:nvPr/>
        </p:nvSpPr>
        <p:spPr bwMode="auto">
          <a:xfrm>
            <a:off x="457200" y="2644552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zh-CN" altLang="zh-CN" sz="2400">
                <a:solidFill>
                  <a:srgbClr val="0033CC"/>
                </a:solidFill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>
                <a:solidFill>
                  <a:srgbClr val="0033CC"/>
                </a:solidFill>
                <a:latin typeface="楷体_GB2312" pitchFamily="1" charset="-122"/>
                <a:ea typeface="楷体_GB2312" pitchFamily="1" charset="-122"/>
              </a:rPr>
              <a:t>取初值</a:t>
            </a:r>
          </a:p>
        </p:txBody>
      </p:sp>
      <p:sp>
        <p:nvSpPr>
          <p:cNvPr id="34" name="Rectangle 6"/>
          <p:cNvSpPr>
            <a:spLocks noChangeArrowheads="1"/>
          </p:cNvSpPr>
          <p:nvPr/>
        </p:nvSpPr>
        <p:spPr bwMode="auto">
          <a:xfrm>
            <a:off x="3429002" y="2641270"/>
            <a:ext cx="70403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zh-CN" altLang="en-US" sz="2400">
                <a:solidFill>
                  <a:srgbClr val="0033CC"/>
                </a:solidFill>
                <a:latin typeface="Times New Roman" pitchFamily="18" charset="0"/>
                <a:ea typeface="楷体_GB2312" pitchFamily="1" charset="-122"/>
              </a:rPr>
              <a:t>得</a:t>
            </a:r>
            <a:endParaRPr lang="zh-CN" altLang="en-US" sz="2400">
              <a:solidFill>
                <a:srgbClr val="0033CC"/>
              </a:solidFill>
              <a:latin typeface="楷体_GB2312" pitchFamily="1" charset="-122"/>
              <a:ea typeface="楷体_GB2312" pitchFamily="1" charset="-122"/>
            </a:endParaRPr>
          </a:p>
          <a:p>
            <a:pPr algn="l"/>
            <a:r>
              <a:rPr lang="zh-CN" altLang="en-US" sz="1200" b="0">
                <a:solidFill>
                  <a:srgbClr val="0033CC"/>
                </a:solidFill>
                <a:latin typeface="Arial" pitchFamily="34" charset="0"/>
              </a:rPr>
              <a:t>            </a:t>
            </a:r>
            <a:endParaRPr lang="zh-CN" altLang="en-US" sz="1800" b="0">
              <a:solidFill>
                <a:srgbClr val="0033CC"/>
              </a:solidFill>
              <a:latin typeface="Arial" pitchFamily="34" charset="0"/>
            </a:endParaRPr>
          </a:p>
        </p:txBody>
      </p:sp>
      <p:graphicFrame>
        <p:nvGraphicFramePr>
          <p:cNvPr id="3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5140035"/>
              </p:ext>
            </p:extLst>
          </p:nvPr>
        </p:nvGraphicFramePr>
        <p:xfrm>
          <a:off x="1905000" y="3406552"/>
          <a:ext cx="2743200" cy="1265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5" r:id="rId9" imgW="990487" imgH="457319" progId="Equation.DSMT4">
                  <p:embed/>
                </p:oleObj>
              </mc:Choice>
              <mc:Fallback>
                <p:oleObj r:id="rId9" imgW="990487" imgH="45731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406552"/>
                        <a:ext cx="2743200" cy="1265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6" name="Picture 8" descr="MCj04344030000[1]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2" y="3482752"/>
            <a:ext cx="2124075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AutoShape 9"/>
          <p:cNvSpPr>
            <a:spLocks noChangeArrowheads="1"/>
          </p:cNvSpPr>
          <p:nvPr/>
        </p:nvSpPr>
        <p:spPr bwMode="auto">
          <a:xfrm>
            <a:off x="1295400" y="4473352"/>
            <a:ext cx="4876800" cy="2057400"/>
          </a:xfrm>
          <a:prstGeom prst="cloudCallout">
            <a:avLst>
              <a:gd name="adj1" fmla="val 58051"/>
              <a:gd name="adj2" fmla="val 35185"/>
            </a:avLst>
          </a:prstGeom>
          <a:gradFill rotWithShape="1">
            <a:gsLst>
              <a:gs pos="0">
                <a:srgbClr val="CCECFF"/>
              </a:gs>
              <a:gs pos="100000">
                <a:srgbClr val="FFFFFF"/>
              </a:gs>
            </a:gsLst>
            <a:lin ang="5400000" scaled="1"/>
          </a:gradFill>
          <a:ln w="9525" cmpd="sng">
            <a:solidFill>
              <a:srgbClr val="0033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indent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b="0" kern="0" dirty="0">
                <a:solidFill>
                  <a:srgbClr val="CC0066"/>
                </a:solidFill>
                <a:latin typeface="楷体_GB2312" pitchFamily="1" charset="-122"/>
                <a:ea typeface="楷体_GB2312" pitchFamily="1" charset="-122"/>
              </a:rPr>
              <a:t>结果是发散的？！</a:t>
            </a:r>
          </a:p>
        </p:txBody>
      </p:sp>
    </p:spTree>
    <p:extLst>
      <p:ext uri="{BB962C8B-B14F-4D97-AF65-F5344CB8AC3E}">
        <p14:creationId xmlns:p14="http://schemas.microsoft.com/office/powerpoint/2010/main" val="4049092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utoUpdateAnimBg="0"/>
      <p:bldP spid="33" grpId="0" autoUpdateAnimBg="0"/>
      <p:bldP spid="34" grpId="0" autoUpdateAnimBg="0"/>
      <p:bldP spid="37" grpId="0" animBg="1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EB2D8C-C595-4C75-A410-92E615560A69}" type="slidenum">
              <a:rPr lang="zh-CN" altLang="en-US" smtClean="0"/>
              <a:pPr>
                <a:defRPr/>
              </a:pPr>
              <a:t>31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F4F2C565-DEEA-484F-99D9-2BCC1484ACAF}" type="datetime1">
              <a:rPr lang="zh-CN" altLang="en-US" smtClean="0"/>
              <a:pPr>
                <a:defRPr/>
              </a:pPr>
              <a:t>2024/9/22</a:t>
            </a:fld>
            <a:endParaRPr lang="en-US" altLang="zh-CN" sz="1000"/>
          </a:p>
        </p:txBody>
      </p:sp>
      <p:graphicFrame>
        <p:nvGraphicFramePr>
          <p:cNvPr id="1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1994294"/>
              </p:ext>
            </p:extLst>
          </p:nvPr>
        </p:nvGraphicFramePr>
        <p:xfrm>
          <a:off x="3033396" y="1017589"/>
          <a:ext cx="3505200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14" r:id="rId6" imgW="1625917" imgH="394017" progId="Equation.DSMT4">
                  <p:embed/>
                </p:oleObj>
              </mc:Choice>
              <mc:Fallback>
                <p:oleObj r:id="rId6" imgW="1625917" imgH="39401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3396" y="1017589"/>
                        <a:ext cx="3505200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mpd="sng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3"/>
          <p:cNvGraphicFramePr>
            <a:graphicFrameLocks noChangeAspect="1"/>
          </p:cNvGraphicFramePr>
          <p:nvPr/>
        </p:nvGraphicFramePr>
        <p:xfrm>
          <a:off x="1905000" y="2057400"/>
          <a:ext cx="1295400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15" r:id="rId8" imgW="584264" imgH="228818" progId="Equation.DSMT4">
                  <p:embed/>
                </p:oleObj>
              </mc:Choice>
              <mc:Fallback>
                <p:oleObj r:id="rId8" imgW="584264" imgH="22881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057400"/>
                        <a:ext cx="1295400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mpd="sng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6287333"/>
              </p:ext>
            </p:extLst>
          </p:nvPr>
        </p:nvGraphicFramePr>
        <p:xfrm>
          <a:off x="1115616" y="2566988"/>
          <a:ext cx="6248400" cy="286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16" r:id="rId10" imgW="2767716" imgH="1269766" progId="Equation.DSMT4">
                  <p:embed/>
                </p:oleObj>
              </mc:Choice>
              <mc:Fallback>
                <p:oleObj r:id="rId10" imgW="2767716" imgH="126976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2566988"/>
                        <a:ext cx="6248400" cy="286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mpd="sng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5"/>
          <p:cNvGraphicFramePr>
            <a:graphicFrameLocks noChangeAspect="1"/>
          </p:cNvGraphicFramePr>
          <p:nvPr/>
        </p:nvGraphicFramePr>
        <p:xfrm>
          <a:off x="5257802" y="5791200"/>
          <a:ext cx="46672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17" r:id="rId12" imgW="203429" imgH="228818" progId="Equation.DSMT4">
                  <p:embed/>
                </p:oleObj>
              </mc:Choice>
              <mc:Fallback>
                <p:oleObj r:id="rId12" imgW="203429" imgH="22881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2" y="5791200"/>
                        <a:ext cx="46672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mpd="sng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6"/>
          <p:cNvSpPr>
            <a:spLocks noChangeArrowheads="1"/>
          </p:cNvSpPr>
          <p:nvPr/>
        </p:nvSpPr>
        <p:spPr bwMode="auto">
          <a:xfrm>
            <a:off x="607722" y="1209675"/>
            <a:ext cx="2600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zh-CN" altLang="en-US" sz="2400" dirty="0">
                <a:latin typeface="Times New Roman" pitchFamily="18" charset="0"/>
                <a:ea typeface="楷体_GB2312" pitchFamily="1" charset="-122"/>
              </a:rPr>
              <a:t>由迭代格式 （</a:t>
            </a:r>
            <a:r>
              <a:rPr lang="zh-CN" altLang="zh-CN" sz="2400" dirty="0">
                <a:latin typeface="Times New Roman" pitchFamily="18" charset="0"/>
                <a:ea typeface="楷体_GB2312" pitchFamily="1" charset="-122"/>
              </a:rPr>
              <a:t>2</a:t>
            </a:r>
            <a:r>
              <a:rPr lang="zh-CN" altLang="en-US" sz="2400" dirty="0">
                <a:latin typeface="Times New Roman" pitchFamily="18" charset="0"/>
                <a:ea typeface="楷体_GB2312" pitchFamily="1" charset="-122"/>
              </a:rPr>
              <a:t>）</a:t>
            </a:r>
            <a:r>
              <a:rPr lang="zh-CN" altLang="en-US" sz="1200" b="0" dirty="0">
                <a:latin typeface="Arial" pitchFamily="34" charset="0"/>
              </a:rPr>
              <a:t> </a:t>
            </a:r>
            <a:endParaRPr lang="zh-CN" altLang="en-US" sz="1800" b="0" dirty="0">
              <a:latin typeface="Arial" pitchFamily="34" charset="0"/>
            </a:endParaRPr>
          </a:p>
        </p:txBody>
      </p:sp>
      <p:sp>
        <p:nvSpPr>
          <p:cNvPr id="23" name="Rectangle 7"/>
          <p:cNvSpPr>
            <a:spLocks noChangeArrowheads="1"/>
          </p:cNvSpPr>
          <p:nvPr/>
        </p:nvSpPr>
        <p:spPr bwMode="auto">
          <a:xfrm>
            <a:off x="457200" y="20574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zh-CN" altLang="zh-CN" sz="240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>
                <a:latin typeface="楷体_GB2312" pitchFamily="1" charset="-122"/>
                <a:ea typeface="楷体_GB2312" pitchFamily="1" charset="-122"/>
              </a:rPr>
              <a:t>取初值</a:t>
            </a:r>
          </a:p>
        </p:txBody>
      </p:sp>
      <p:sp>
        <p:nvSpPr>
          <p:cNvPr id="24" name="Rectangle 8"/>
          <p:cNvSpPr>
            <a:spLocks noChangeArrowheads="1"/>
          </p:cNvSpPr>
          <p:nvPr/>
        </p:nvSpPr>
        <p:spPr bwMode="auto">
          <a:xfrm>
            <a:off x="3429002" y="2054118"/>
            <a:ext cx="70403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zh-CN" altLang="en-US" sz="2400">
                <a:latin typeface="Times New Roman" pitchFamily="18" charset="0"/>
                <a:ea typeface="楷体_GB2312" pitchFamily="1" charset="-122"/>
              </a:rPr>
              <a:t>得</a:t>
            </a:r>
            <a:endParaRPr lang="zh-CN" altLang="en-US" sz="2400">
              <a:latin typeface="楷体_GB2312" pitchFamily="1" charset="-122"/>
              <a:ea typeface="楷体_GB2312" pitchFamily="1" charset="-122"/>
            </a:endParaRPr>
          </a:p>
          <a:p>
            <a:pPr algn="l"/>
            <a:r>
              <a:rPr lang="zh-CN" altLang="en-US" sz="1200" b="0">
                <a:latin typeface="Arial" pitchFamily="34" charset="0"/>
              </a:rPr>
              <a:t>            </a:t>
            </a:r>
            <a:endParaRPr lang="zh-CN" altLang="en-US" sz="1800" b="0">
              <a:latin typeface="Arial" pitchFamily="34" charset="0"/>
            </a:endParaRPr>
          </a:p>
        </p:txBody>
      </p:sp>
      <p:sp>
        <p:nvSpPr>
          <p:cNvPr id="25" name="Rectangle 9"/>
          <p:cNvSpPr>
            <a:spLocks noChangeArrowheads="1"/>
          </p:cNvSpPr>
          <p:nvPr/>
        </p:nvSpPr>
        <p:spPr bwMode="auto">
          <a:xfrm>
            <a:off x="533402" y="5791200"/>
            <a:ext cx="4779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结果精确到四位有效数字，迭代到</a:t>
            </a:r>
          </a:p>
        </p:txBody>
      </p:sp>
      <p:sp>
        <p:nvSpPr>
          <p:cNvPr id="26" name="Rectangle 10"/>
          <p:cNvSpPr>
            <a:spLocks noChangeArrowheads="1"/>
          </p:cNvSpPr>
          <p:nvPr/>
        </p:nvSpPr>
        <p:spPr bwMode="auto">
          <a:xfrm>
            <a:off x="5791202" y="5791200"/>
            <a:ext cx="2398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zh-CN" altLang="en-US" sz="2400">
                <a:latin typeface="楷体_GB2312" pitchFamily="1" charset="-122"/>
                <a:ea typeface="楷体_GB2312" pitchFamily="1" charset="-122"/>
              </a:rPr>
              <a:t>得到收敛结果。</a:t>
            </a:r>
            <a:r>
              <a:rPr lang="zh-CN" altLang="en-US" sz="1100" b="0">
                <a:latin typeface="楷体_GB2312" pitchFamily="1" charset="-122"/>
                <a:ea typeface="楷体_GB2312" pitchFamily="1" charset="-122"/>
              </a:rPr>
              <a:t> </a:t>
            </a:r>
            <a:endParaRPr lang="zh-CN" altLang="en-US" sz="1800" b="0">
              <a:latin typeface="Arial" pitchFamily="34" charset="0"/>
              <a:ea typeface="楷体_GB2312" pitchFamily="1" charset="-122"/>
            </a:endParaRPr>
          </a:p>
        </p:txBody>
      </p:sp>
      <p:pic>
        <p:nvPicPr>
          <p:cNvPr id="28" name="Picture 12" descr="MCj04344110000[1]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4343400"/>
            <a:ext cx="19685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AutoShape 13"/>
          <p:cNvSpPr>
            <a:spLocks noChangeArrowheads="1"/>
          </p:cNvSpPr>
          <p:nvPr/>
        </p:nvSpPr>
        <p:spPr bwMode="auto">
          <a:xfrm>
            <a:off x="3132138" y="3860800"/>
            <a:ext cx="3962400" cy="2057400"/>
          </a:xfrm>
          <a:prstGeom prst="cloudCallout">
            <a:avLst>
              <a:gd name="adj1" fmla="val 58051"/>
              <a:gd name="adj2" fmla="val 35185"/>
            </a:avLst>
          </a:prstGeom>
          <a:gradFill rotWithShape="1">
            <a:gsLst>
              <a:gs pos="0">
                <a:srgbClr val="CCECFF"/>
              </a:gs>
              <a:gs pos="100000">
                <a:srgbClr val="FFFFFF"/>
              </a:gs>
            </a:gsLst>
            <a:lin ang="5400000" scaled="1"/>
          </a:gradFill>
          <a:ln w="9525" cmpd="sng">
            <a:solidFill>
              <a:srgbClr val="0033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indent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0" kern="0">
                <a:solidFill>
                  <a:srgbClr val="CC0066"/>
                </a:solidFill>
                <a:latin typeface="楷体_GB2312" pitchFamily="1" charset="-122"/>
                <a:ea typeface="楷体_GB2312" pitchFamily="1" charset="-122"/>
              </a:rPr>
              <a:t>十步才能得到收敛的结果！</a:t>
            </a:r>
          </a:p>
        </p:txBody>
      </p:sp>
    </p:spTree>
    <p:extLst>
      <p:ext uri="{BB962C8B-B14F-4D97-AF65-F5344CB8AC3E}">
        <p14:creationId xmlns:p14="http://schemas.microsoft.com/office/powerpoint/2010/main" val="833598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utoUpdateAnimBg="0"/>
      <p:bldP spid="24" grpId="0" autoUpdateAnimBg="0"/>
      <p:bldP spid="25" grpId="0" autoUpdateAnimBg="0"/>
      <p:bldP spid="26" grpId="0" autoUpdateAnimBg="0"/>
      <p:bldP spid="29" grpId="0" animBg="1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11" descr="MCj04377930000[1]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1217" y="4509120"/>
            <a:ext cx="1895475" cy="163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EB2D8C-C595-4C75-A410-92E615560A69}" type="slidenum">
              <a:rPr lang="zh-CN" altLang="en-US" smtClean="0"/>
              <a:pPr>
                <a:defRPr/>
              </a:pPr>
              <a:t>32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F4F2C565-DEEA-484F-99D9-2BCC1484ACAF}" type="datetime1">
              <a:rPr lang="zh-CN" altLang="en-US" smtClean="0"/>
              <a:pPr>
                <a:defRPr/>
              </a:pPr>
              <a:t>2024/9/22</a:t>
            </a:fld>
            <a:endParaRPr lang="en-US" altLang="zh-CN" sz="1000"/>
          </a:p>
        </p:txBody>
      </p:sp>
      <p:graphicFrame>
        <p:nvGraphicFramePr>
          <p:cNvPr id="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2695623"/>
              </p:ext>
            </p:extLst>
          </p:nvPr>
        </p:nvGraphicFramePr>
        <p:xfrm>
          <a:off x="3746500" y="1208192"/>
          <a:ext cx="274320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38" r:id="rId7" imgW="1371917" imgH="444817" progId="Equation.DSMT4">
                  <p:embed/>
                </p:oleObj>
              </mc:Choice>
              <mc:Fallback>
                <p:oleObj r:id="rId7" imgW="1371917" imgH="44481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6500" y="1208192"/>
                        <a:ext cx="2743200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mpd="sng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0950952"/>
              </p:ext>
            </p:extLst>
          </p:nvPr>
        </p:nvGraphicFramePr>
        <p:xfrm>
          <a:off x="1917700" y="2427394"/>
          <a:ext cx="12192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39" r:id="rId9" imgW="584264" imgH="228818" progId="Equation.DSMT4">
                  <p:embed/>
                </p:oleObj>
              </mc:Choice>
              <mc:Fallback>
                <p:oleObj r:id="rId9" imgW="584264" imgH="22881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7700" y="2427394"/>
                        <a:ext cx="121920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mpd="sng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2750045"/>
              </p:ext>
            </p:extLst>
          </p:nvPr>
        </p:nvGraphicFramePr>
        <p:xfrm>
          <a:off x="2298700" y="2781302"/>
          <a:ext cx="3048000" cy="234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40" r:id="rId11" imgW="1321117" imgH="1016317" progId="Equation.DSMT4">
                  <p:embed/>
                </p:oleObj>
              </mc:Choice>
              <mc:Fallback>
                <p:oleObj r:id="rId11" imgW="1321117" imgH="101631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8700" y="2781302"/>
                        <a:ext cx="3048000" cy="234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mpd="sng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9578826"/>
              </p:ext>
            </p:extLst>
          </p:nvPr>
        </p:nvGraphicFramePr>
        <p:xfrm>
          <a:off x="5118100" y="5524500"/>
          <a:ext cx="3238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41" r:id="rId13" imgW="165345" imgH="228818" progId="Equation.DSMT4">
                  <p:embed/>
                </p:oleObj>
              </mc:Choice>
              <mc:Fallback>
                <p:oleObj r:id="rId13" imgW="165345" imgH="22881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8100" y="5524500"/>
                        <a:ext cx="32385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mpd="sng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6"/>
          <p:cNvSpPr>
            <a:spLocks noChangeArrowheads="1"/>
          </p:cNvSpPr>
          <p:nvPr/>
        </p:nvSpPr>
        <p:spPr bwMode="auto">
          <a:xfrm>
            <a:off x="546100" y="1284392"/>
            <a:ext cx="2878138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zh-CN" altLang="zh-CN" sz="1000" b="0" dirty="0">
                <a:latin typeface="Arial" pitchFamily="34" charset="0"/>
              </a:rPr>
              <a:t>       </a:t>
            </a:r>
            <a:endParaRPr lang="zh-CN" altLang="zh-CN" sz="1100" b="0" dirty="0">
              <a:latin typeface="楷体_GB2312" pitchFamily="1" charset="-122"/>
              <a:ea typeface="楷体_GB2312" pitchFamily="1" charset="-122"/>
            </a:endParaRPr>
          </a:p>
          <a:p>
            <a:pPr algn="l"/>
            <a:r>
              <a:rPr lang="zh-CN" altLang="zh-CN" sz="1000" dirty="0">
                <a:latin typeface="Arial" pitchFamily="34" charset="0"/>
              </a:rPr>
              <a:t>       </a:t>
            </a:r>
            <a:r>
              <a:rPr lang="zh-CN" altLang="en-US" sz="2400" dirty="0">
                <a:latin typeface="Times New Roman" pitchFamily="18" charset="0"/>
                <a:ea typeface="楷体_GB2312" pitchFamily="1" charset="-122"/>
              </a:rPr>
              <a:t>由迭代格式（</a:t>
            </a:r>
            <a:r>
              <a:rPr lang="zh-CN" altLang="zh-CN" sz="2400" dirty="0">
                <a:latin typeface="Times New Roman" pitchFamily="18" charset="0"/>
                <a:ea typeface="楷体_GB2312" pitchFamily="1" charset="-122"/>
              </a:rPr>
              <a:t>3</a:t>
            </a:r>
            <a:r>
              <a:rPr lang="zh-CN" altLang="en-US" sz="2400" dirty="0">
                <a:latin typeface="Times New Roman" pitchFamily="18" charset="0"/>
                <a:ea typeface="楷体_GB2312" pitchFamily="1" charset="-122"/>
              </a:rPr>
              <a:t>）</a:t>
            </a:r>
            <a:r>
              <a:rPr lang="zh-CN" altLang="en-US" sz="1200" b="0" dirty="0">
                <a:latin typeface="楷体_GB2312" pitchFamily="1" charset="-122"/>
              </a:rPr>
              <a:t>  </a:t>
            </a:r>
            <a:endParaRPr lang="zh-CN" altLang="en-US" sz="1800" b="0" dirty="0">
              <a:latin typeface="Arial" pitchFamily="34" charset="0"/>
            </a:endParaRPr>
          </a:p>
        </p:txBody>
      </p:sp>
      <p:sp>
        <p:nvSpPr>
          <p:cNvPr id="31" name="Rectangle 7"/>
          <p:cNvSpPr>
            <a:spLocks noChangeArrowheads="1"/>
          </p:cNvSpPr>
          <p:nvPr/>
        </p:nvSpPr>
        <p:spPr bwMode="auto">
          <a:xfrm>
            <a:off x="698500" y="2351192"/>
            <a:ext cx="1231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zh-CN" altLang="zh-CN" sz="1200" b="0">
                <a:latin typeface="Arial" pitchFamily="34" charset="0"/>
              </a:rPr>
              <a:t>   </a:t>
            </a:r>
            <a:r>
              <a:rPr lang="zh-CN" altLang="en-US" sz="2400">
                <a:latin typeface="Times New Roman" pitchFamily="18" charset="0"/>
                <a:ea typeface="楷体_GB2312" pitchFamily="1" charset="-122"/>
              </a:rPr>
              <a:t>取初值</a:t>
            </a:r>
            <a:endParaRPr lang="zh-CN" altLang="en-US" sz="2400">
              <a:latin typeface="Arial" pitchFamily="34" charset="0"/>
              <a:ea typeface="楷体_GB2312" pitchFamily="1" charset="-122"/>
            </a:endParaRPr>
          </a:p>
        </p:txBody>
      </p:sp>
      <p:sp>
        <p:nvSpPr>
          <p:cNvPr id="32" name="Rectangle 8"/>
          <p:cNvSpPr>
            <a:spLocks noChangeArrowheads="1"/>
          </p:cNvSpPr>
          <p:nvPr/>
        </p:nvSpPr>
        <p:spPr bwMode="auto">
          <a:xfrm>
            <a:off x="3136902" y="2347910"/>
            <a:ext cx="70403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zh-CN" altLang="en-US" sz="2400">
                <a:latin typeface="Times New Roman" pitchFamily="18" charset="0"/>
                <a:ea typeface="楷体_GB2312" pitchFamily="1" charset="-122"/>
              </a:rPr>
              <a:t>得</a:t>
            </a:r>
            <a:endParaRPr lang="zh-CN" altLang="en-US" sz="2400">
              <a:latin typeface="楷体_GB2312" pitchFamily="1" charset="-122"/>
              <a:ea typeface="楷体_GB2312" pitchFamily="1" charset="-122"/>
            </a:endParaRPr>
          </a:p>
          <a:p>
            <a:pPr algn="l"/>
            <a:r>
              <a:rPr lang="zh-CN" altLang="en-US" sz="1200" b="0">
                <a:latin typeface="Arial" pitchFamily="34" charset="0"/>
              </a:rPr>
              <a:t>            </a:t>
            </a:r>
            <a:endParaRPr lang="zh-CN" altLang="en-US" sz="1800" b="0">
              <a:latin typeface="Arial" pitchFamily="34" charset="0"/>
            </a:endParaRPr>
          </a:p>
        </p:txBody>
      </p:sp>
      <p:sp>
        <p:nvSpPr>
          <p:cNvPr id="33" name="Rectangle 9"/>
          <p:cNvSpPr>
            <a:spLocks noChangeArrowheads="1"/>
          </p:cNvSpPr>
          <p:nvPr/>
        </p:nvSpPr>
        <p:spPr bwMode="auto">
          <a:xfrm>
            <a:off x="393700" y="5522270"/>
            <a:ext cx="48253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zh-CN" altLang="en-US" sz="2400">
                <a:latin typeface="Times New Roman" pitchFamily="18" charset="0"/>
                <a:ea typeface="楷体_GB2312" pitchFamily="1" charset="-122"/>
              </a:rPr>
              <a:t>结果精确到四位有效数字，迭代到</a:t>
            </a:r>
            <a:endParaRPr lang="zh-CN" altLang="en-US" sz="2400">
              <a:latin typeface="Arial" pitchFamily="34" charset="0"/>
              <a:ea typeface="楷体_GB2312" pitchFamily="1" charset="-122"/>
            </a:endParaRPr>
          </a:p>
        </p:txBody>
      </p:sp>
      <p:sp>
        <p:nvSpPr>
          <p:cNvPr id="34" name="Rectangle 10"/>
          <p:cNvSpPr>
            <a:spLocks noChangeArrowheads="1"/>
          </p:cNvSpPr>
          <p:nvPr/>
        </p:nvSpPr>
        <p:spPr bwMode="auto">
          <a:xfrm>
            <a:off x="5575300" y="5524500"/>
            <a:ext cx="304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zh-CN" altLang="en-US" sz="2400">
                <a:latin typeface="Times New Roman" pitchFamily="18" charset="0"/>
                <a:ea typeface="楷体_GB2312" pitchFamily="1" charset="-122"/>
              </a:rPr>
              <a:t>得到收敛结果。</a:t>
            </a:r>
            <a:endParaRPr lang="zh-CN" altLang="en-US" sz="2400">
              <a:latin typeface="Arial" pitchFamily="34" charset="0"/>
              <a:ea typeface="楷体_GB2312" pitchFamily="1" charset="-122"/>
            </a:endParaRPr>
          </a:p>
        </p:txBody>
      </p:sp>
      <p:sp>
        <p:nvSpPr>
          <p:cNvPr id="35" name="AutoShape 12"/>
          <p:cNvSpPr>
            <a:spLocks noChangeArrowheads="1"/>
          </p:cNvSpPr>
          <p:nvPr/>
        </p:nvSpPr>
        <p:spPr bwMode="auto">
          <a:xfrm>
            <a:off x="4203700" y="3619500"/>
            <a:ext cx="3962400" cy="2057400"/>
          </a:xfrm>
          <a:prstGeom prst="cloudCallout">
            <a:avLst>
              <a:gd name="adj1" fmla="val 34977"/>
              <a:gd name="adj2" fmla="val 45986"/>
            </a:avLst>
          </a:prstGeom>
          <a:gradFill rotWithShape="1">
            <a:gsLst>
              <a:gs pos="0">
                <a:srgbClr val="CCECFF"/>
              </a:gs>
              <a:gs pos="100000">
                <a:srgbClr val="FFFFFF"/>
              </a:gs>
            </a:gsLst>
            <a:lin ang="5400000" scaled="1"/>
          </a:gradFill>
          <a:ln w="9525" cmpd="sng">
            <a:solidFill>
              <a:srgbClr val="0033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indent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0" kern="0">
                <a:solidFill>
                  <a:srgbClr val="CC0066"/>
                </a:solidFill>
                <a:latin typeface="楷体_GB2312" pitchFamily="1" charset="-122"/>
                <a:ea typeface="楷体_GB2312" pitchFamily="1" charset="-122"/>
              </a:rPr>
              <a:t>四步就能得到收敛的结果了！</a:t>
            </a:r>
          </a:p>
        </p:txBody>
      </p:sp>
    </p:spTree>
    <p:extLst>
      <p:ext uri="{BB962C8B-B14F-4D97-AF65-F5344CB8AC3E}">
        <p14:creationId xmlns:p14="http://schemas.microsoft.com/office/powerpoint/2010/main" val="3981686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utoUpdateAnimBg="0"/>
      <p:bldP spid="31" grpId="0" autoUpdateAnimBg="0"/>
      <p:bldP spid="32" grpId="0" autoUpdateAnimBg="0"/>
      <p:bldP spid="33" grpId="0" autoUpdateAnimBg="0"/>
      <p:bldP spid="34" grpId="0" autoUpdateAnimBg="0"/>
      <p:bldP spid="35" grpId="0" animBg="1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9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6660234" y="6231206"/>
            <a:ext cx="2309813" cy="527050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7C5404B8-23AC-4A9A-A1F8-E241D7BF0E55}" type="slidenum">
              <a:rPr lang="zh-CN" altLang="en-US"/>
              <a:pPr/>
              <a:t>33</a:t>
            </a:fld>
            <a:endParaRPr lang="en-US" altLang="zh-CN" dirty="0"/>
          </a:p>
        </p:txBody>
      </p:sp>
      <p:sp>
        <p:nvSpPr>
          <p:cNvPr id="8200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BF13AC9B-5338-4099-A6C5-BC77E327D284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3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3809346"/>
              </p:ext>
            </p:extLst>
          </p:nvPr>
        </p:nvGraphicFramePr>
        <p:xfrm>
          <a:off x="2355850" y="1796318"/>
          <a:ext cx="3581400" cy="62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1" r:id="rId6" imgW="1473517" imgH="254317" progId="Equation.DSMT4">
                  <p:embed/>
                </p:oleObj>
              </mc:Choice>
              <mc:Fallback>
                <p:oleObj r:id="rId6" imgW="1473517" imgH="25431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5850" y="1796318"/>
                        <a:ext cx="3581400" cy="623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mpd="sng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8296136"/>
              </p:ext>
            </p:extLst>
          </p:nvPr>
        </p:nvGraphicFramePr>
        <p:xfrm>
          <a:off x="3749677" y="2597738"/>
          <a:ext cx="2982913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2" r:id="rId8" imgW="1206294" imgH="254207" progId="Equation.DSMT4">
                  <p:embed/>
                </p:oleObj>
              </mc:Choice>
              <mc:Fallback>
                <p:oleObj r:id="rId8" imgW="1206294" imgH="2542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9677" y="2597738"/>
                        <a:ext cx="2982913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mpd="sng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3433430"/>
              </p:ext>
            </p:extLst>
          </p:nvPr>
        </p:nvGraphicFramePr>
        <p:xfrm>
          <a:off x="2454275" y="3512138"/>
          <a:ext cx="144780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3" r:id="rId10" imgW="647736" imgH="254207" progId="Equation.DSMT4">
                  <p:embed/>
                </p:oleObj>
              </mc:Choice>
              <mc:Fallback>
                <p:oleObj r:id="rId10" imgW="647736" imgH="2542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4275" y="3512138"/>
                        <a:ext cx="1447800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mpd="sng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8630504"/>
              </p:ext>
            </p:extLst>
          </p:nvPr>
        </p:nvGraphicFramePr>
        <p:xfrm>
          <a:off x="3444875" y="4426538"/>
          <a:ext cx="4343400" cy="68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4" r:id="rId12" imgW="1752917" imgH="279717" progId="Equation.DSMT4">
                  <p:embed/>
                </p:oleObj>
              </mc:Choice>
              <mc:Fallback>
                <p:oleObj r:id="rId12" imgW="1752917" imgH="27971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4875" y="4426538"/>
                        <a:ext cx="4343400" cy="684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mpd="sng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Rectangle 6"/>
          <p:cNvSpPr>
            <a:spLocks noChangeArrowheads="1"/>
          </p:cNvSpPr>
          <p:nvPr/>
        </p:nvSpPr>
        <p:spPr bwMode="auto">
          <a:xfrm>
            <a:off x="2114453" y="1146654"/>
            <a:ext cx="405271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迭代格式（</a:t>
            </a:r>
            <a:r>
              <a:rPr lang="zh-CN" altLang="zh-CN" sz="2400" dirty="0">
                <a:latin typeface="楷体_GB2312" pitchFamily="1" charset="-122"/>
                <a:ea typeface="楷体_GB2312" pitchFamily="1" charset="-122"/>
              </a:rPr>
              <a:t>1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）的迭代函数为</a:t>
            </a:r>
          </a:p>
          <a:p>
            <a:pPr algn="l"/>
            <a:r>
              <a:rPr lang="zh-CN" altLang="en-US" sz="1200" b="0" dirty="0">
                <a:latin typeface="宋体" pitchFamily="2" charset="-122"/>
                <a:ea typeface="楷体_GB2312" pitchFamily="1" charset="-122"/>
              </a:rPr>
              <a:t>      </a:t>
            </a:r>
            <a:endParaRPr lang="zh-CN" altLang="en-US" sz="1800" b="0" dirty="0">
              <a:latin typeface="Arial" pitchFamily="34" charset="0"/>
              <a:ea typeface="楷体_GB2312" pitchFamily="1" charset="-122"/>
            </a:endParaRPr>
          </a:p>
        </p:txBody>
      </p:sp>
      <p:sp>
        <p:nvSpPr>
          <p:cNvPr id="37" name="Rectangle 7"/>
          <p:cNvSpPr>
            <a:spLocks noChangeArrowheads="1"/>
          </p:cNvSpPr>
          <p:nvPr/>
        </p:nvSpPr>
        <p:spPr bwMode="auto">
          <a:xfrm>
            <a:off x="1962051" y="2673936"/>
            <a:ext cx="182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zh-CN" altLang="en-US" sz="2400">
                <a:latin typeface="楷体_GB2312" pitchFamily="1" charset="-122"/>
                <a:ea typeface="楷体_GB2312" pitchFamily="1" charset="-122"/>
              </a:rPr>
              <a:t>求导得</a:t>
            </a:r>
            <a:r>
              <a:rPr lang="zh-CN" altLang="en-US" sz="1200" b="0">
                <a:latin typeface="宋体" pitchFamily="2" charset="-122"/>
                <a:ea typeface="楷体_GB2312" pitchFamily="1" charset="-122"/>
              </a:rPr>
              <a:t>  </a:t>
            </a:r>
            <a:endParaRPr lang="zh-CN" altLang="en-US" sz="1800" b="0">
              <a:latin typeface="Arial" pitchFamily="34" charset="0"/>
              <a:ea typeface="楷体_GB2312" pitchFamily="1" charset="-122"/>
            </a:endParaRPr>
          </a:p>
        </p:txBody>
      </p:sp>
      <p:sp>
        <p:nvSpPr>
          <p:cNvPr id="38" name="Rectangle 8"/>
          <p:cNvSpPr>
            <a:spLocks noChangeArrowheads="1"/>
          </p:cNvSpPr>
          <p:nvPr/>
        </p:nvSpPr>
        <p:spPr bwMode="auto">
          <a:xfrm>
            <a:off x="1920875" y="3512136"/>
            <a:ext cx="793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zh-CN" altLang="en-US" sz="2400">
                <a:latin typeface="宋体" pitchFamily="2" charset="-122"/>
                <a:ea typeface="楷体_GB2312" pitchFamily="1" charset="-122"/>
              </a:rPr>
              <a:t>当</a:t>
            </a:r>
            <a:endParaRPr lang="zh-CN" altLang="en-US" sz="2400">
              <a:latin typeface="Arial" pitchFamily="34" charset="0"/>
              <a:ea typeface="楷体_GB2312" pitchFamily="1" charset="-122"/>
            </a:endParaRPr>
          </a:p>
        </p:txBody>
      </p:sp>
      <p:sp>
        <p:nvSpPr>
          <p:cNvPr id="39" name="Rectangle 9"/>
          <p:cNvSpPr>
            <a:spLocks noChangeArrowheads="1"/>
          </p:cNvSpPr>
          <p:nvPr/>
        </p:nvSpPr>
        <p:spPr bwMode="auto">
          <a:xfrm>
            <a:off x="3825875" y="3509906"/>
            <a:ext cx="49404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zh-CN" altLang="en-US" sz="2400">
                <a:latin typeface="楷体_GB2312" pitchFamily="1" charset="-122"/>
                <a:ea typeface="楷体_GB2312" pitchFamily="1" charset="-122"/>
              </a:rPr>
              <a:t>时</a:t>
            </a:r>
          </a:p>
        </p:txBody>
      </p:sp>
      <p:sp>
        <p:nvSpPr>
          <p:cNvPr id="40" name="Rectangle 10"/>
          <p:cNvSpPr>
            <a:spLocks noChangeArrowheads="1"/>
          </p:cNvSpPr>
          <p:nvPr/>
        </p:nvSpPr>
        <p:spPr bwMode="auto">
          <a:xfrm>
            <a:off x="2149477" y="5338706"/>
            <a:ext cx="40527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故迭代格式（</a:t>
            </a:r>
            <a:r>
              <a:rPr lang="zh-CN" altLang="zh-CN" sz="2400" dirty="0">
                <a:latin typeface="楷体_GB2312" pitchFamily="1" charset="-122"/>
                <a:ea typeface="楷体_GB2312" pitchFamily="1" charset="-122"/>
              </a:rPr>
              <a:t>1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）是发散的。</a:t>
            </a:r>
          </a:p>
        </p:txBody>
      </p:sp>
      <p:sp>
        <p:nvSpPr>
          <p:cNvPr id="41" name="Text Box 11"/>
          <p:cNvSpPr txBox="1">
            <a:spLocks noChangeArrowheads="1"/>
          </p:cNvSpPr>
          <p:nvPr/>
        </p:nvSpPr>
        <p:spPr bwMode="auto">
          <a:xfrm>
            <a:off x="320675" y="1084511"/>
            <a:ext cx="1828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4572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32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分析</a:t>
            </a:r>
            <a:r>
              <a:rPr lang="zh-CN" altLang="zh-CN" sz="32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utoUpdateAnimBg="0"/>
      <p:bldP spid="37" grpId="0" autoUpdateAnimBg="0"/>
      <p:bldP spid="38" grpId="0" autoUpdateAnimBg="0"/>
      <p:bldP spid="39" grpId="0" autoUpdateAnimBg="0"/>
      <p:bldP spid="40" grpId="0" autoUpdateAnimBg="0"/>
      <p:bldP spid="41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EB2D8C-C595-4C75-A410-92E615560A69}" type="slidenum">
              <a:rPr lang="zh-CN" altLang="en-US" smtClean="0"/>
              <a:pPr>
                <a:defRPr/>
              </a:pPr>
              <a:t>34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>
          <a:xfrm>
            <a:off x="107504" y="6379542"/>
            <a:ext cx="2120900" cy="577850"/>
          </a:xfrm>
        </p:spPr>
        <p:txBody>
          <a:bodyPr/>
          <a:lstStyle/>
          <a:p>
            <a:pPr>
              <a:defRPr/>
            </a:pPr>
            <a:fld id="{F4F2C565-DEEA-484F-99D9-2BCC1484ACAF}" type="datetime1">
              <a:rPr lang="zh-CN" altLang="en-US" smtClean="0"/>
              <a:pPr>
                <a:defRPr/>
              </a:pPr>
              <a:t>2024/9/22</a:t>
            </a:fld>
            <a:endParaRPr lang="en-US" altLang="zh-CN" sz="1000"/>
          </a:p>
        </p:txBody>
      </p:sp>
      <p:graphicFrame>
        <p:nvGraphicFramePr>
          <p:cNvPr id="1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3155685"/>
              </p:ext>
            </p:extLst>
          </p:nvPr>
        </p:nvGraphicFramePr>
        <p:xfrm>
          <a:off x="4652640" y="1102995"/>
          <a:ext cx="228600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36" r:id="rId5" imgW="1143317" imgH="394017" progId="Equation.DSMT4">
                  <p:embed/>
                </p:oleObj>
              </mc:Choice>
              <mc:Fallback>
                <p:oleObj r:id="rId5" imgW="1143317" imgH="39401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2640" y="1102995"/>
                        <a:ext cx="2286000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mpd="sng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051842"/>
              </p:ext>
            </p:extLst>
          </p:nvPr>
        </p:nvGraphicFramePr>
        <p:xfrm>
          <a:off x="1037432" y="1777008"/>
          <a:ext cx="1524000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37" r:id="rId7" imgW="647736" imgH="254207" progId="Equation.DSMT4">
                  <p:embed/>
                </p:oleObj>
              </mc:Choice>
              <mc:Fallback>
                <p:oleObj r:id="rId7" imgW="647736" imgH="2542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7432" y="1777008"/>
                        <a:ext cx="1524000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mpd="sng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9759340"/>
              </p:ext>
            </p:extLst>
          </p:nvPr>
        </p:nvGraphicFramePr>
        <p:xfrm>
          <a:off x="3076228" y="1777008"/>
          <a:ext cx="5791200" cy="1290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38" r:id="rId9" imgW="3073717" imgH="686117" progId="Equation.DSMT4">
                  <p:embed/>
                </p:oleObj>
              </mc:Choice>
              <mc:Fallback>
                <p:oleObj r:id="rId9" imgW="3073717" imgH="68611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6228" y="1777008"/>
                        <a:ext cx="5791200" cy="1290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mpd="sng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3836104"/>
              </p:ext>
            </p:extLst>
          </p:nvPr>
        </p:nvGraphicFramePr>
        <p:xfrm>
          <a:off x="1530028" y="2705696"/>
          <a:ext cx="3352800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39" r:id="rId11" imgW="1575117" imgH="457517" progId="Equation.DSMT4">
                  <p:embed/>
                </p:oleObj>
              </mc:Choice>
              <mc:Fallback>
                <p:oleObj r:id="rId11" imgW="1575117" imgH="45751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0028" y="2705696"/>
                        <a:ext cx="3352800" cy="976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1933228"/>
              </p:ext>
            </p:extLst>
          </p:nvPr>
        </p:nvGraphicFramePr>
        <p:xfrm>
          <a:off x="1425868" y="3573018"/>
          <a:ext cx="4800600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40" r:id="rId13" imgW="2311717" imgH="419417" progId="Equation.DSMT4">
                  <p:embed/>
                </p:oleObj>
              </mc:Choice>
              <mc:Fallback>
                <p:oleObj r:id="rId13" imgW="2311717" imgH="41941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5868" y="3573018"/>
                        <a:ext cx="4800600" cy="86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7"/>
          <p:cNvSpPr>
            <a:spLocks noChangeArrowheads="1"/>
          </p:cNvSpPr>
          <p:nvPr/>
        </p:nvSpPr>
        <p:spPr bwMode="auto">
          <a:xfrm>
            <a:off x="395536" y="1188720"/>
            <a:ext cx="4090988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zh-CN" altLang="zh-CN" sz="1200" b="0" dirty="0">
                <a:latin typeface="宋体" pitchFamily="2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迭代格式（</a:t>
            </a:r>
            <a:r>
              <a:rPr lang="zh-CN" altLang="zh-CN" sz="2400" dirty="0">
                <a:latin typeface="楷体_GB2312" pitchFamily="1" charset="-122"/>
                <a:ea typeface="楷体_GB2312" pitchFamily="1" charset="-122"/>
              </a:rPr>
              <a:t>2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）的迭代函数为</a:t>
            </a:r>
          </a:p>
          <a:p>
            <a:pPr algn="l"/>
            <a:r>
              <a:rPr lang="zh-CN" altLang="en-US" sz="1000" b="0" dirty="0">
                <a:latin typeface="Arial" pitchFamily="34" charset="0"/>
              </a:rPr>
              <a:t>        </a:t>
            </a:r>
            <a:endParaRPr lang="zh-CN" altLang="en-US" sz="1800" b="0" dirty="0">
              <a:latin typeface="Arial" pitchFamily="34" charset="0"/>
            </a:endParaRPr>
          </a:p>
        </p:txBody>
      </p:sp>
      <p:sp>
        <p:nvSpPr>
          <p:cNvPr id="22" name="Rectangle 8"/>
          <p:cNvSpPr>
            <a:spLocks noChangeArrowheads="1"/>
          </p:cNvSpPr>
          <p:nvPr/>
        </p:nvSpPr>
        <p:spPr bwMode="auto">
          <a:xfrm>
            <a:off x="539428" y="1777008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zh-CN" altLang="en-US" sz="2400">
                <a:latin typeface="楷体_GB2312" pitchFamily="1" charset="-122"/>
                <a:ea typeface="楷体_GB2312" pitchFamily="1" charset="-122"/>
              </a:rPr>
              <a:t>当</a:t>
            </a:r>
          </a:p>
        </p:txBody>
      </p:sp>
      <p:sp>
        <p:nvSpPr>
          <p:cNvPr id="23" name="Rectangle 9"/>
          <p:cNvSpPr>
            <a:spLocks noChangeArrowheads="1"/>
          </p:cNvSpPr>
          <p:nvPr/>
        </p:nvSpPr>
        <p:spPr bwMode="auto">
          <a:xfrm>
            <a:off x="2053880" y="1767523"/>
            <a:ext cx="1032655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indent="533400" algn="l" eaLnBrk="1" hangingPunct="1"/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时</a:t>
            </a:r>
          </a:p>
          <a:p>
            <a:pPr indent="533400" algn="l"/>
            <a:endParaRPr lang="zh-CN" altLang="zh-CN" sz="1800" b="0" dirty="0">
              <a:latin typeface="Arial" pitchFamily="34" charset="0"/>
            </a:endParaRPr>
          </a:p>
        </p:txBody>
      </p:sp>
      <p:sp>
        <p:nvSpPr>
          <p:cNvPr id="24" name="Rectangle 10"/>
          <p:cNvSpPr>
            <a:spLocks noChangeArrowheads="1"/>
          </p:cNvSpPr>
          <p:nvPr/>
        </p:nvSpPr>
        <p:spPr bwMode="auto">
          <a:xfrm>
            <a:off x="618258" y="2965251"/>
            <a:ext cx="1143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zh-CN" altLang="en-US" sz="2400">
                <a:latin typeface="宋体" pitchFamily="2" charset="-122"/>
                <a:ea typeface="楷体_GB2312" pitchFamily="1" charset="-122"/>
              </a:rPr>
              <a:t>由</a:t>
            </a:r>
            <a:endParaRPr lang="zh-CN" altLang="en-US" sz="2400">
              <a:latin typeface="Arial" pitchFamily="34" charset="0"/>
              <a:ea typeface="楷体_GB2312" pitchFamily="1" charset="-122"/>
            </a:endParaRPr>
          </a:p>
        </p:txBody>
      </p:sp>
      <p:graphicFrame>
        <p:nvGraphicFramePr>
          <p:cNvPr id="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9929871"/>
              </p:ext>
            </p:extLst>
          </p:nvPr>
        </p:nvGraphicFramePr>
        <p:xfrm>
          <a:off x="1307893" y="4461511"/>
          <a:ext cx="1371600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41" r:id="rId15" imgW="647736" imgH="254207" progId="Equation.DSMT4">
                  <p:embed/>
                </p:oleObj>
              </mc:Choice>
              <mc:Fallback>
                <p:oleObj r:id="rId15" imgW="647736" imgH="2542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7893" y="4461511"/>
                        <a:ext cx="1371600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mpd="sng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7659730"/>
              </p:ext>
            </p:extLst>
          </p:nvPr>
        </p:nvGraphicFramePr>
        <p:xfrm>
          <a:off x="1761258" y="4833621"/>
          <a:ext cx="5791200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42" r:id="rId16" imgW="2756217" imgH="457517" progId="Equation.DSMT4">
                  <p:embed/>
                </p:oleObj>
              </mc:Choice>
              <mc:Fallback>
                <p:oleObj r:id="rId16" imgW="2756217" imgH="45751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1258" y="4833621"/>
                        <a:ext cx="5791200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mpd="sng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348928" y="4505006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sz="2400" dirty="0">
                <a:latin typeface="Times New Roman" pitchFamily="18" charset="0"/>
                <a:ea typeface="楷体_GB2312" pitchFamily="1" charset="-122"/>
              </a:rPr>
              <a:t>知</a:t>
            </a:r>
            <a:r>
              <a:rPr lang="zh-CN" altLang="en-US" sz="2400" dirty="0">
                <a:latin typeface="宋体" pitchFamily="2" charset="-122"/>
                <a:ea typeface="楷体_GB2312" pitchFamily="1" charset="-122"/>
              </a:rPr>
              <a:t>当</a:t>
            </a:r>
            <a:endParaRPr lang="zh-CN" altLang="en-US" sz="2400" dirty="0">
              <a:ea typeface="楷体_GB2312" pitchFamily="1" charset="-122"/>
            </a:endParaRPr>
          </a:p>
        </p:txBody>
      </p:sp>
      <p:sp>
        <p:nvSpPr>
          <p:cNvPr id="29" name="Rectangle 5"/>
          <p:cNvSpPr>
            <a:spLocks noChangeArrowheads="1"/>
          </p:cNvSpPr>
          <p:nvPr/>
        </p:nvSpPr>
        <p:spPr bwMode="auto">
          <a:xfrm>
            <a:off x="2695370" y="4467859"/>
            <a:ext cx="796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>
                <a:latin typeface="楷体_GB2312" pitchFamily="1" charset="-122"/>
                <a:ea typeface="楷体_GB2312" pitchFamily="1" charset="-122"/>
              </a:rPr>
              <a:t>时，</a:t>
            </a:r>
          </a:p>
        </p:txBody>
      </p:sp>
      <p:sp>
        <p:nvSpPr>
          <p:cNvPr id="30" name="Rectangle 6"/>
          <p:cNvSpPr>
            <a:spLocks noChangeArrowheads="1"/>
          </p:cNvSpPr>
          <p:nvPr/>
        </p:nvSpPr>
        <p:spPr bwMode="auto">
          <a:xfrm>
            <a:off x="899592" y="5873774"/>
            <a:ext cx="48085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zh-CN" sz="1000" dirty="0">
                <a:latin typeface="楷体_GB2312" pitchFamily="1" charset="-122"/>
              </a:rPr>
              <a:t>       </a:t>
            </a:r>
            <a:r>
              <a:rPr lang="zh-CN" altLang="zh-CN" sz="1200" dirty="0"/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所以迭代格式（</a:t>
            </a:r>
            <a:r>
              <a:rPr lang="zh-CN" altLang="zh-CN" sz="2400" dirty="0">
                <a:latin typeface="楷体_GB2312" pitchFamily="1" charset="-122"/>
                <a:ea typeface="楷体_GB2312" pitchFamily="1" charset="-122"/>
              </a:rPr>
              <a:t>2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）是收敛的。</a:t>
            </a:r>
          </a:p>
        </p:txBody>
      </p:sp>
    </p:spTree>
    <p:extLst>
      <p:ext uri="{BB962C8B-B14F-4D97-AF65-F5344CB8AC3E}">
        <p14:creationId xmlns:p14="http://schemas.microsoft.com/office/powerpoint/2010/main" val="3399569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utoUpdateAnimBg="0"/>
      <p:bldP spid="22" grpId="0" autoUpdateAnimBg="0"/>
      <p:bldP spid="23" grpId="0" autoUpdateAnimBg="0"/>
      <p:bldP spid="24" grpId="0" autoUpdateAnimBg="0"/>
      <p:bldP spid="28" grpId="0" autoUpdateAnimBg="0"/>
      <p:bldP spid="29" grpId="0" autoUpdateAnimBg="0"/>
      <p:bldP spid="30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EB2D8C-C595-4C75-A410-92E615560A69}" type="slidenum">
              <a:rPr lang="zh-CN" altLang="en-US" smtClean="0"/>
              <a:pPr>
                <a:defRPr/>
              </a:pPr>
              <a:t>35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F4F2C565-DEEA-484F-99D9-2BCC1484ACAF}" type="datetime1">
              <a:rPr lang="zh-CN" altLang="en-US" smtClean="0"/>
              <a:pPr>
                <a:defRPr/>
              </a:pPr>
              <a:t>2024/9/22</a:t>
            </a:fld>
            <a:endParaRPr lang="en-US" altLang="zh-CN" sz="1000"/>
          </a:p>
        </p:txBody>
      </p:sp>
      <p:graphicFrame>
        <p:nvGraphicFramePr>
          <p:cNvPr id="1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4151083"/>
              </p:ext>
            </p:extLst>
          </p:nvPr>
        </p:nvGraphicFramePr>
        <p:xfrm>
          <a:off x="4860032" y="1127177"/>
          <a:ext cx="1828800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34" r:id="rId5" imgW="939709" imgH="444624" progId="Equation.DSMT4">
                  <p:embed/>
                </p:oleObj>
              </mc:Choice>
              <mc:Fallback>
                <p:oleObj r:id="rId5" imgW="939709" imgH="4446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0032" y="1127177"/>
                        <a:ext cx="1828800" cy="86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mpd="sng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0264968"/>
              </p:ext>
            </p:extLst>
          </p:nvPr>
        </p:nvGraphicFramePr>
        <p:xfrm>
          <a:off x="1140619" y="1852511"/>
          <a:ext cx="1371600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35" r:id="rId7" imgW="647736" imgH="254207" progId="Equation.DSMT4">
                  <p:embed/>
                </p:oleObj>
              </mc:Choice>
              <mc:Fallback>
                <p:oleObj r:id="rId7" imgW="647736" imgH="2542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0619" y="1852511"/>
                        <a:ext cx="1371600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mpd="sng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4596491"/>
              </p:ext>
            </p:extLst>
          </p:nvPr>
        </p:nvGraphicFramePr>
        <p:xfrm>
          <a:off x="1652588" y="2300191"/>
          <a:ext cx="5791200" cy="150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36" r:id="rId9" imgW="2934017" imgH="762317" progId="Equation.DSMT4">
                  <p:embed/>
                </p:oleObj>
              </mc:Choice>
              <mc:Fallback>
                <p:oleObj r:id="rId9" imgW="2934017" imgH="76231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2588" y="2300191"/>
                        <a:ext cx="5791200" cy="1503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mpd="sng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533400" y="1097439"/>
            <a:ext cx="4014788" cy="731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>
              <a:tabLst>
                <a:tab pos="790575" algn="l"/>
              </a:tabLst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迭代格式（</a:t>
            </a:r>
            <a:r>
              <a:rPr lang="zh-CN" altLang="zh-CN" sz="2400" dirty="0">
                <a:latin typeface="楷体_GB2312" pitchFamily="1" charset="-122"/>
                <a:ea typeface="楷体_GB2312" pitchFamily="1" charset="-122"/>
              </a:rPr>
              <a:t>3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）的迭代函数为</a:t>
            </a:r>
          </a:p>
          <a:p>
            <a:pPr algn="l">
              <a:tabLst>
                <a:tab pos="790575" algn="l"/>
              </a:tabLst>
            </a:pPr>
            <a:endParaRPr lang="zh-CN" altLang="zh-CN" sz="1800" b="0" dirty="0">
              <a:latin typeface="Arial" pitchFamily="34" charset="0"/>
            </a:endParaRPr>
          </a:p>
        </p:txBody>
      </p:sp>
      <p:sp>
        <p:nvSpPr>
          <p:cNvPr id="16" name="Rectangle 6"/>
          <p:cNvSpPr>
            <a:spLocks noChangeArrowheads="1"/>
          </p:cNvSpPr>
          <p:nvPr/>
        </p:nvSpPr>
        <p:spPr bwMode="auto">
          <a:xfrm>
            <a:off x="454819" y="1850279"/>
            <a:ext cx="49404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zh-CN" altLang="en-US" sz="2400">
                <a:latin typeface="楷体_GB2312" pitchFamily="1" charset="-122"/>
                <a:ea typeface="楷体_GB2312" pitchFamily="1" charset="-122"/>
              </a:rPr>
              <a:t>当</a:t>
            </a:r>
          </a:p>
        </p:txBody>
      </p:sp>
      <p:sp>
        <p:nvSpPr>
          <p:cNvPr id="17" name="Rectangle 7"/>
          <p:cNvSpPr>
            <a:spLocks noChangeArrowheads="1"/>
          </p:cNvSpPr>
          <p:nvPr/>
        </p:nvSpPr>
        <p:spPr bwMode="auto">
          <a:xfrm>
            <a:off x="2283619" y="1852509"/>
            <a:ext cx="75565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indent="304800" algn="l" eaLnBrk="1" hangingPunct="1"/>
            <a:r>
              <a:rPr lang="zh-CN" altLang="en-US" sz="2400">
                <a:latin typeface="宋体" pitchFamily="2" charset="-122"/>
                <a:ea typeface="楷体_GB2312" pitchFamily="1" charset="-122"/>
              </a:rPr>
              <a:t>时</a:t>
            </a:r>
            <a:endParaRPr lang="zh-CN" altLang="en-US" sz="2400">
              <a:latin typeface="楷体_GB2312" pitchFamily="1" charset="-122"/>
              <a:ea typeface="楷体_GB2312" pitchFamily="1" charset="-122"/>
            </a:endParaRPr>
          </a:p>
          <a:p>
            <a:pPr indent="304800" algn="l"/>
            <a:r>
              <a:rPr lang="zh-CN" altLang="en-US" sz="1000" b="0">
                <a:latin typeface="Arial" pitchFamily="34" charset="0"/>
              </a:rPr>
              <a:t>        </a:t>
            </a:r>
            <a:endParaRPr lang="zh-CN" altLang="en-US" sz="1800" b="0">
              <a:latin typeface="Arial" pitchFamily="34" charset="0"/>
            </a:endParaRPr>
          </a:p>
        </p:txBody>
      </p:sp>
      <p:graphicFrame>
        <p:nvGraphicFramePr>
          <p:cNvPr id="2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2648828"/>
              </p:ext>
            </p:extLst>
          </p:nvPr>
        </p:nvGraphicFramePr>
        <p:xfrm>
          <a:off x="533400" y="4038600"/>
          <a:ext cx="7239000" cy="79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37" r:id="rId11" imgW="3556317" imgH="394017" progId="Equation.DSMT4">
                  <p:embed/>
                </p:oleObj>
              </mc:Choice>
              <mc:Fallback>
                <p:oleObj r:id="rId11" imgW="3556317" imgH="39401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038600"/>
                        <a:ext cx="7239000" cy="795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mpd="sng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3"/>
          <p:cNvSpPr>
            <a:spLocks noChangeArrowheads="1"/>
          </p:cNvSpPr>
          <p:nvPr/>
        </p:nvSpPr>
        <p:spPr bwMode="auto">
          <a:xfrm>
            <a:off x="533400" y="3276600"/>
            <a:ext cx="946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zh-CN" altLang="en-US" sz="2400">
                <a:latin typeface="Times New Roman" pitchFamily="18" charset="0"/>
                <a:ea typeface="楷体_GB2312" pitchFamily="1" charset="-122"/>
              </a:rPr>
              <a:t>由</a:t>
            </a:r>
            <a:endParaRPr lang="zh-CN" altLang="en-US" sz="2400">
              <a:latin typeface="Arial" pitchFamily="34" charset="0"/>
              <a:ea typeface="楷体_GB2312" pitchFamily="1" charset="-122"/>
            </a:endParaRPr>
          </a:p>
        </p:txBody>
      </p:sp>
      <p:graphicFrame>
        <p:nvGraphicFramePr>
          <p:cNvPr id="2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5265749"/>
              </p:ext>
            </p:extLst>
          </p:nvPr>
        </p:nvGraphicFramePr>
        <p:xfrm>
          <a:off x="1143000" y="5181602"/>
          <a:ext cx="1371600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38" r:id="rId13" imgW="647736" imgH="254207" progId="Equation.DSMT4">
                  <p:embed/>
                </p:oleObj>
              </mc:Choice>
              <mc:Fallback>
                <p:oleObj r:id="rId13" imgW="647736" imgH="2542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181602"/>
                        <a:ext cx="1371600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mpd="sng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1794916"/>
              </p:ext>
            </p:extLst>
          </p:nvPr>
        </p:nvGraphicFramePr>
        <p:xfrm>
          <a:off x="3039269" y="4900612"/>
          <a:ext cx="6096000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39" r:id="rId14" imgW="2934017" imgH="432117" progId="Equation.DSMT4">
                  <p:embed/>
                </p:oleObj>
              </mc:Choice>
              <mc:Fallback>
                <p:oleObj r:id="rId14" imgW="2934017" imgH="43211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9269" y="4900612"/>
                        <a:ext cx="6096000" cy="890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mpd="sng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6"/>
          <p:cNvSpPr>
            <a:spLocks noChangeArrowheads="1"/>
          </p:cNvSpPr>
          <p:nvPr/>
        </p:nvSpPr>
        <p:spPr bwMode="auto">
          <a:xfrm>
            <a:off x="2438402" y="5178626"/>
            <a:ext cx="803425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zh-CN" altLang="en-US" sz="2400">
                <a:latin typeface="楷体_GB2312" pitchFamily="1" charset="-122"/>
                <a:ea typeface="楷体_GB2312" pitchFamily="1" charset="-122"/>
              </a:rPr>
              <a:t>时，</a:t>
            </a:r>
          </a:p>
          <a:p>
            <a:pPr algn="l"/>
            <a:r>
              <a:rPr lang="zh-CN" altLang="en-US" sz="1000" b="0">
                <a:latin typeface="Arial" pitchFamily="34" charset="0"/>
              </a:rPr>
              <a:t>       </a:t>
            </a:r>
            <a:endParaRPr lang="zh-CN" altLang="en-US" sz="1800" b="0">
              <a:latin typeface="Arial" pitchFamily="34" charset="0"/>
            </a:endParaRPr>
          </a:p>
        </p:txBody>
      </p:sp>
      <p:sp>
        <p:nvSpPr>
          <p:cNvPr id="30" name="Rectangle 7"/>
          <p:cNvSpPr>
            <a:spLocks noChangeArrowheads="1"/>
          </p:cNvSpPr>
          <p:nvPr/>
        </p:nvSpPr>
        <p:spPr bwMode="auto">
          <a:xfrm>
            <a:off x="457202" y="5179370"/>
            <a:ext cx="8034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zh-CN" altLang="en-US" sz="2400">
                <a:latin typeface="Times New Roman" pitchFamily="18" charset="0"/>
                <a:ea typeface="楷体_GB2312" pitchFamily="1" charset="-122"/>
              </a:rPr>
              <a:t>知</a:t>
            </a:r>
            <a:r>
              <a:rPr lang="zh-CN" altLang="en-US" sz="2400">
                <a:latin typeface="宋体" pitchFamily="2" charset="-122"/>
                <a:ea typeface="楷体_GB2312" pitchFamily="1" charset="-122"/>
              </a:rPr>
              <a:t>当</a:t>
            </a:r>
            <a:endParaRPr lang="zh-CN" altLang="en-US" sz="2400">
              <a:latin typeface="Arial" pitchFamily="34" charset="0"/>
              <a:ea typeface="楷体_GB2312" pitchFamily="1" charset="-122"/>
            </a:endParaRPr>
          </a:p>
        </p:txBody>
      </p:sp>
      <p:sp>
        <p:nvSpPr>
          <p:cNvPr id="31" name="Rectangle 8"/>
          <p:cNvSpPr>
            <a:spLocks noChangeArrowheads="1"/>
          </p:cNvSpPr>
          <p:nvPr/>
        </p:nvSpPr>
        <p:spPr bwMode="auto">
          <a:xfrm>
            <a:off x="1340011" y="5821680"/>
            <a:ext cx="50847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indent="457200" algn="l" eaLnBrk="1" hangingPunct="1"/>
            <a:r>
              <a:rPr lang="zh-CN" altLang="en-US" sz="2400">
                <a:latin typeface="楷体_GB2312" pitchFamily="1" charset="-122"/>
                <a:ea typeface="楷体_GB2312" pitchFamily="1" charset="-122"/>
              </a:rPr>
              <a:t>所以迭代格式（</a:t>
            </a:r>
            <a:r>
              <a:rPr lang="zh-CN" altLang="zh-CN" sz="2400">
                <a:latin typeface="楷体_GB2312" pitchFamily="1" charset="-122"/>
                <a:ea typeface="楷体_GB2312" pitchFamily="1" charset="-122"/>
              </a:rPr>
              <a:t>3</a:t>
            </a:r>
            <a:r>
              <a:rPr lang="zh-CN" altLang="en-US" sz="2400">
                <a:latin typeface="楷体_GB2312" pitchFamily="1" charset="-122"/>
                <a:ea typeface="楷体_GB2312" pitchFamily="1" charset="-122"/>
              </a:rPr>
              <a:t>）也是收敛的。</a:t>
            </a:r>
          </a:p>
        </p:txBody>
      </p:sp>
    </p:spTree>
    <p:extLst>
      <p:ext uri="{BB962C8B-B14F-4D97-AF65-F5344CB8AC3E}">
        <p14:creationId xmlns:p14="http://schemas.microsoft.com/office/powerpoint/2010/main" val="2291658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utoUpdateAnimBg="0"/>
      <p:bldP spid="16" grpId="0" autoUpdateAnimBg="0"/>
      <p:bldP spid="17" grpId="0" autoUpdateAnimBg="0"/>
      <p:bldP spid="26" grpId="0" autoUpdateAnimBg="0"/>
      <p:bldP spid="29" grpId="0" autoUpdateAnimBg="0"/>
      <p:bldP spid="30" grpId="0" autoUpdateAnimBg="0"/>
      <p:bldP spid="31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EB2D8C-C595-4C75-A410-92E615560A69}" type="slidenum">
              <a:rPr lang="zh-CN" altLang="en-US" smtClean="0"/>
              <a:pPr>
                <a:defRPr/>
              </a:pPr>
              <a:t>36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F4F2C565-DEEA-484F-99D9-2BCC1484ACAF}" type="datetime1">
              <a:rPr lang="zh-CN" altLang="en-US" smtClean="0"/>
              <a:pPr>
                <a:defRPr/>
              </a:pPr>
              <a:t>2024/9/22</a:t>
            </a:fld>
            <a:endParaRPr lang="en-US" altLang="zh-CN" sz="1000"/>
          </a:p>
        </p:txBody>
      </p:sp>
      <p:pic>
        <p:nvPicPr>
          <p:cNvPr id="15" name="Picture 2" descr="MCj04375610000[1]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4572002"/>
            <a:ext cx="2857500" cy="176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228600" y="1295400"/>
            <a:ext cx="1828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4572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320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结论</a:t>
            </a:r>
            <a:r>
              <a:rPr lang="zh-CN" altLang="zh-CN" sz="320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:</a:t>
            </a:r>
          </a:p>
        </p:txBody>
      </p:sp>
      <p:graphicFrame>
        <p:nvGraphicFramePr>
          <p:cNvPr id="1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3933143"/>
              </p:ext>
            </p:extLst>
          </p:nvPr>
        </p:nvGraphicFramePr>
        <p:xfrm>
          <a:off x="5943600" y="1981200"/>
          <a:ext cx="838200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56" r:id="rId6" imgW="355609" imgH="254097" progId="Equation.DSMT4">
                  <p:embed/>
                </p:oleObj>
              </mc:Choice>
              <mc:Fallback>
                <p:oleObj r:id="rId6" imgW="355609" imgH="25409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1981200"/>
                        <a:ext cx="838200" cy="61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mpd="sng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2150411"/>
              </p:ext>
            </p:extLst>
          </p:nvPr>
        </p:nvGraphicFramePr>
        <p:xfrm>
          <a:off x="2057400" y="2638427"/>
          <a:ext cx="838200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57" r:id="rId8" imgW="444431" imgH="355609" progId="Equation.DSMT4">
                  <p:embed/>
                </p:oleObj>
              </mc:Choice>
              <mc:Fallback>
                <p:oleObj r:id="rId8" imgW="444431" imgH="35560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638427"/>
                        <a:ext cx="838200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mpd="sng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6"/>
          <p:cNvSpPr>
            <a:spLocks noChangeArrowheads="1"/>
          </p:cNvSpPr>
          <p:nvPr/>
        </p:nvSpPr>
        <p:spPr bwMode="auto">
          <a:xfrm>
            <a:off x="1219202" y="2057400"/>
            <a:ext cx="4856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zh-CN" altLang="zh-CN" sz="1200" b="0">
                <a:latin typeface="宋体" pitchFamily="2" charset="-122"/>
              </a:rPr>
              <a:t> </a:t>
            </a:r>
            <a:r>
              <a:rPr lang="zh-CN" altLang="en-US" sz="2400">
                <a:latin typeface="宋体" pitchFamily="2" charset="-122"/>
                <a:ea typeface="楷体_GB2312" pitchFamily="1" charset="-122"/>
              </a:rPr>
              <a:t>通过以上算例可以看出对迭代函数</a:t>
            </a:r>
            <a:endParaRPr lang="zh-CN" altLang="en-US" sz="2400">
              <a:latin typeface="Arial" pitchFamily="34" charset="0"/>
              <a:ea typeface="楷体_GB2312" pitchFamily="1" charset="-122"/>
            </a:endParaRPr>
          </a:p>
        </p:txBody>
      </p:sp>
      <p:sp>
        <p:nvSpPr>
          <p:cNvPr id="20" name="Rectangle 7"/>
          <p:cNvSpPr>
            <a:spLocks noChangeArrowheads="1"/>
          </p:cNvSpPr>
          <p:nvPr/>
        </p:nvSpPr>
        <p:spPr bwMode="auto">
          <a:xfrm>
            <a:off x="609600" y="2743200"/>
            <a:ext cx="1409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zh-CN" altLang="en-US" sz="2400">
                <a:latin typeface="宋体" pitchFamily="2" charset="-122"/>
                <a:ea typeface="楷体_GB2312" pitchFamily="1" charset="-122"/>
              </a:rPr>
              <a:t>所得到的</a:t>
            </a:r>
            <a:endParaRPr lang="zh-CN" altLang="en-US" sz="2400">
              <a:latin typeface="Arial" pitchFamily="34" charset="0"/>
              <a:ea typeface="楷体_GB2312" pitchFamily="1" charset="-122"/>
            </a:endParaRPr>
          </a:p>
        </p:txBody>
      </p:sp>
      <p:sp>
        <p:nvSpPr>
          <p:cNvPr id="21" name="Rectangle 8"/>
          <p:cNvSpPr>
            <a:spLocks noChangeArrowheads="1"/>
          </p:cNvSpPr>
          <p:nvPr/>
        </p:nvSpPr>
        <p:spPr bwMode="auto">
          <a:xfrm>
            <a:off x="2859006" y="3315625"/>
            <a:ext cx="389722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且上界越小收敛速度越快。</a:t>
            </a:r>
          </a:p>
        </p:txBody>
      </p:sp>
      <p:sp>
        <p:nvSpPr>
          <p:cNvPr id="22" name="Rectangle 9"/>
          <p:cNvSpPr>
            <a:spLocks noChangeArrowheads="1"/>
          </p:cNvSpPr>
          <p:nvPr/>
        </p:nvSpPr>
        <p:spPr bwMode="auto">
          <a:xfrm>
            <a:off x="6324602" y="2057400"/>
            <a:ext cx="15605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indent="457200" algn="l" eaLnBrk="1" hangingPunct="1"/>
            <a:r>
              <a:rPr lang="zh-CN" altLang="en-US" sz="2400">
                <a:latin typeface="楷体_GB2312" pitchFamily="1" charset="-122"/>
                <a:ea typeface="楷体_GB2312" pitchFamily="1" charset="-122"/>
              </a:rPr>
              <a:t>求导，</a:t>
            </a:r>
          </a:p>
        </p:txBody>
      </p:sp>
      <p:sp>
        <p:nvSpPr>
          <p:cNvPr id="23" name="Rectangle 10"/>
          <p:cNvSpPr>
            <a:spLocks noChangeArrowheads="1"/>
          </p:cNvSpPr>
          <p:nvPr/>
        </p:nvSpPr>
        <p:spPr bwMode="auto">
          <a:xfrm>
            <a:off x="2362202" y="2743202"/>
            <a:ext cx="436048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indent="457200" algn="l" eaLnBrk="1" hangingPunct="1"/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的上界若小于</a:t>
            </a:r>
            <a:r>
              <a:rPr lang="zh-CN" altLang="zh-CN" sz="2400" dirty="0">
                <a:latin typeface="楷体_GB2312" pitchFamily="1" charset="-122"/>
                <a:ea typeface="楷体_GB2312" pitchFamily="1" charset="-122"/>
              </a:rPr>
              <a:t>1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，则收敛； </a:t>
            </a:r>
          </a:p>
        </p:txBody>
      </p:sp>
    </p:spTree>
    <p:extLst>
      <p:ext uri="{BB962C8B-B14F-4D97-AF65-F5344CB8AC3E}">
        <p14:creationId xmlns:p14="http://schemas.microsoft.com/office/powerpoint/2010/main" val="2816254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utoUpdateAnimBg="0"/>
      <p:bldP spid="19" grpId="0" autoUpdateAnimBg="0"/>
      <p:bldP spid="20" grpId="0" autoUpdateAnimBg="0"/>
      <p:bldP spid="21" grpId="0" autoUpdateAnimBg="0"/>
      <p:bldP spid="22" grpId="0" autoUpdateAnimBg="0"/>
      <p:bldP spid="23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7BFE8614-9636-4772-9702-EF5656F68415}" type="slidenum">
              <a:rPr lang="zh-CN" altLang="en-US"/>
              <a:pPr/>
              <a:t>37</a:t>
            </a:fld>
            <a:endParaRPr lang="en-US" altLang="zh-CN"/>
          </a:p>
        </p:txBody>
      </p:sp>
      <p:sp>
        <p:nvSpPr>
          <p:cNvPr id="4101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44FB1339-19FD-447D-8DE7-44B594EA09A3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437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>
                <a:latin typeface="Times New Roman" pitchFamily="18" charset="0"/>
              </a:rPr>
              <a:t>2.4  迭代法的收敛性</a:t>
            </a:r>
          </a:p>
        </p:txBody>
      </p:sp>
      <p:sp>
        <p:nvSpPr>
          <p:cNvPr id="437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292225"/>
            <a:ext cx="8142288" cy="768350"/>
          </a:xfrm>
        </p:spPr>
        <p:txBody>
          <a:bodyPr/>
          <a:lstStyle/>
          <a:p>
            <a:r>
              <a:rPr lang="zh-CN" altLang="en-US" smtClean="0"/>
              <a:t>定理2.2 设</a:t>
            </a:r>
            <a:r>
              <a:rPr lang="en-US" altLang="zh-CN" i="1" smtClean="0">
                <a:cs typeface="Times New Roman" pitchFamily="18" charset="0"/>
                <a:sym typeface="Symbol" pitchFamily="18" charset="2"/>
              </a:rPr>
              <a:t></a:t>
            </a:r>
            <a:r>
              <a:rPr lang="en-US" altLang="zh-CN" i="1" smtClean="0">
                <a:cs typeface="Times New Roman" pitchFamily="18" charset="0"/>
              </a:rPr>
              <a:t> </a:t>
            </a:r>
            <a:r>
              <a:rPr lang="en-US" altLang="zh-CN" smtClean="0"/>
              <a:t>(</a:t>
            </a:r>
            <a:r>
              <a:rPr lang="en-US" altLang="zh-CN" i="1" smtClean="0"/>
              <a:t>x</a:t>
            </a:r>
            <a:r>
              <a:rPr lang="en-US" altLang="zh-CN" smtClean="0"/>
              <a:t>)</a:t>
            </a:r>
            <a:r>
              <a:rPr lang="zh-CN" altLang="en-US" smtClean="0"/>
              <a:t>在包含根</a:t>
            </a:r>
            <a:r>
              <a:rPr lang="zh-CN" altLang="en-US" smtClean="0">
                <a:sym typeface="Symbol" pitchFamily="18" charset="2"/>
              </a:rPr>
              <a:t></a:t>
            </a:r>
            <a:r>
              <a:rPr lang="zh-CN" altLang="en-US" smtClean="0"/>
              <a:t>的区间[</a:t>
            </a:r>
            <a:r>
              <a:rPr lang="en-US" altLang="zh-CN" smtClean="0"/>
              <a:t>a,b]</a:t>
            </a:r>
            <a:r>
              <a:rPr lang="zh-CN" altLang="en-US" smtClean="0"/>
              <a:t>上可微，且满足条件</a:t>
            </a:r>
          </a:p>
        </p:txBody>
      </p:sp>
      <p:graphicFrame>
        <p:nvGraphicFramePr>
          <p:cNvPr id="437252" name="Object 4"/>
          <p:cNvGraphicFramePr>
            <a:graphicFrameLocks noChangeAspect="1"/>
          </p:cNvGraphicFramePr>
          <p:nvPr/>
        </p:nvGraphicFramePr>
        <p:xfrm>
          <a:off x="2941638" y="1905002"/>
          <a:ext cx="3687762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78" name="Equation" r:id="rId4" imgW="1600200" imgH="317160" progId="Equation.3">
                  <p:embed/>
                </p:oleObj>
              </mc:Choice>
              <mc:Fallback>
                <p:oleObj name="Equation" r:id="rId4" imgW="160020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1638" y="1905002"/>
                        <a:ext cx="3687762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7253" name="Rectangle 5"/>
          <p:cNvSpPr>
            <a:spLocks noChangeArrowheads="1"/>
          </p:cNvSpPr>
          <p:nvPr/>
        </p:nvSpPr>
        <p:spPr bwMode="auto">
          <a:xfrm>
            <a:off x="914400" y="2667002"/>
            <a:ext cx="18288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258763" indent="-258763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</a:pP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则对任何</a:t>
            </a:r>
          </a:p>
        </p:txBody>
      </p:sp>
      <p:graphicFrame>
        <p:nvGraphicFramePr>
          <p:cNvPr id="437254" name="Object 6"/>
          <p:cNvGraphicFramePr>
            <a:graphicFrameLocks noChangeAspect="1"/>
          </p:cNvGraphicFramePr>
          <p:nvPr/>
        </p:nvGraphicFramePr>
        <p:xfrm>
          <a:off x="2260600" y="2590802"/>
          <a:ext cx="1608138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79" name="Equation" r:id="rId6" imgW="698400" imgH="228600" progId="Equation.3">
                  <p:embed/>
                </p:oleObj>
              </mc:Choice>
              <mc:Fallback>
                <p:oleObj name="Equation" r:id="rId6" imgW="6984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0600" y="2590802"/>
                        <a:ext cx="1608138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7255" name="Rectangle 7"/>
          <p:cNvSpPr>
            <a:spLocks noChangeArrowheads="1"/>
          </p:cNvSpPr>
          <p:nvPr/>
        </p:nvSpPr>
        <p:spPr bwMode="auto">
          <a:xfrm>
            <a:off x="3810000" y="2584452"/>
            <a:ext cx="52466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迭代过程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2800" i="1" baseline="-25000">
                <a:latin typeface="Times New Roman" pitchFamily="18" charset="0"/>
                <a:ea typeface="黑体" pitchFamily="49" charset="-122"/>
              </a:rPr>
              <a:t>n+1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= 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  <a:cs typeface="Times New Roman" pitchFamily="18" charset="0"/>
                <a:sym typeface="Symbol" pitchFamily="18" charset="2"/>
              </a:rPr>
              <a:t>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(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2800" i="1" baseline="-25000">
                <a:latin typeface="Times New Roman" pitchFamily="18" charset="0"/>
                <a:ea typeface="黑体" pitchFamily="49" charset="-122"/>
              </a:rPr>
              <a:t>n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) </a:t>
            </a:r>
            <a:r>
              <a:rPr lang="en-US" altLang="zh-CN" sz="2800">
                <a:latin typeface="宋体" pitchFamily="2" charset="-122"/>
                <a:ea typeface="黑体" pitchFamily="49" charset="-122"/>
              </a:rPr>
              <a:t>(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n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=0,1,2,…</a:t>
            </a:r>
            <a:r>
              <a:rPr lang="en-US" altLang="zh-CN" sz="2800">
                <a:latin typeface="宋体" pitchFamily="2" charset="-122"/>
                <a:ea typeface="黑体" pitchFamily="49" charset="-122"/>
              </a:rPr>
              <a:t>)</a:t>
            </a:r>
            <a:endParaRPr lang="zh-CN" altLang="en-US" sz="2800">
              <a:latin typeface="宋体" pitchFamily="2" charset="-122"/>
              <a:ea typeface="黑体" pitchFamily="49" charset="-122"/>
            </a:endParaRPr>
          </a:p>
        </p:txBody>
      </p:sp>
      <p:sp>
        <p:nvSpPr>
          <p:cNvPr id="437256" name="Rectangle 8"/>
          <p:cNvSpPr>
            <a:spLocks noChangeArrowheads="1"/>
          </p:cNvSpPr>
          <p:nvPr/>
        </p:nvSpPr>
        <p:spPr bwMode="auto">
          <a:xfrm>
            <a:off x="914400" y="3273427"/>
            <a:ext cx="18288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258763" indent="-258763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</a:pP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一定收敛。</a:t>
            </a:r>
          </a:p>
        </p:txBody>
      </p:sp>
    </p:spTree>
    <p:extLst>
      <p:ext uri="{BB962C8B-B14F-4D97-AF65-F5344CB8AC3E}">
        <p14:creationId xmlns:p14="http://schemas.microsoft.com/office/powerpoint/2010/main" val="4292671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437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4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37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9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37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4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37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39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37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44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37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7251" grpId="0" build="p" bldLvl="2" autoUpdateAnimBg="0"/>
      <p:bldP spid="437253" grpId="0" autoUpdateAnimBg="0"/>
      <p:bldP spid="437255" grpId="0" autoUpdateAnimBg="0"/>
      <p:bldP spid="437256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0075" y="305002"/>
            <a:ext cx="8142288" cy="609398"/>
          </a:xfrm>
        </p:spPr>
        <p:txBody>
          <a:bodyPr/>
          <a:lstStyle/>
          <a:p>
            <a:r>
              <a:rPr lang="zh-CN" altLang="en-US" dirty="0">
                <a:latin typeface="Times New Roman" pitchFamily="18" charset="0"/>
              </a:rPr>
              <a:t>2.4  迭代法的收敛性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0075" y="1292225"/>
            <a:ext cx="8142288" cy="2542234"/>
          </a:xfrm>
        </p:spPr>
        <p:txBody>
          <a:bodyPr/>
          <a:lstStyle/>
          <a:p>
            <a:r>
              <a:rPr lang="en-US" altLang="zh-CN" dirty="0"/>
              <a:t>Lagrange</a:t>
            </a:r>
            <a:r>
              <a:rPr lang="zh-CN" altLang="en-US" dirty="0"/>
              <a:t>中值定理 设函数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)</a:t>
            </a:r>
            <a:r>
              <a:rPr lang="zh-CN" altLang="en-US" dirty="0"/>
              <a:t>满足如下条件： </a:t>
            </a:r>
          </a:p>
          <a:p>
            <a:pPr marL="0" indent="457200">
              <a:buNone/>
            </a:pPr>
            <a:r>
              <a:rPr lang="en-US" altLang="zh-CN" dirty="0"/>
              <a:t>(1)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) </a:t>
            </a:r>
            <a:r>
              <a:rPr lang="zh-CN" altLang="en-US" dirty="0"/>
              <a:t>在闭区间 </a:t>
            </a:r>
            <a:r>
              <a:rPr lang="en-US" altLang="zh-CN" dirty="0"/>
              <a:t>[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/>
              <a:t>]</a:t>
            </a:r>
            <a:r>
              <a:rPr lang="zh-CN" altLang="en-US" dirty="0"/>
              <a:t>上连续 </a:t>
            </a:r>
          </a:p>
          <a:p>
            <a:pPr marL="0" indent="457200">
              <a:buNone/>
            </a:pPr>
            <a:r>
              <a:rPr lang="en-US" altLang="zh-CN" dirty="0"/>
              <a:t>(2)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) </a:t>
            </a:r>
            <a:r>
              <a:rPr lang="zh-CN" altLang="en-US" dirty="0"/>
              <a:t>在开区间 </a:t>
            </a:r>
            <a:r>
              <a:rPr lang="en-US" altLang="zh-CN" dirty="0"/>
              <a:t>(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/>
              <a:t>)</a:t>
            </a:r>
            <a:r>
              <a:rPr lang="zh-CN" altLang="en-US" dirty="0"/>
              <a:t>上可导 </a:t>
            </a:r>
          </a:p>
          <a:p>
            <a:pPr marL="0" indent="457200">
              <a:buNone/>
            </a:pPr>
            <a:r>
              <a:rPr lang="zh-CN" altLang="en-US" dirty="0"/>
              <a:t>则</a:t>
            </a:r>
            <a:r>
              <a:rPr lang="en-US" altLang="zh-CN" dirty="0"/>
              <a:t>(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/>
              <a:t>) </a:t>
            </a:r>
            <a:r>
              <a:rPr lang="zh-CN" altLang="en-US" dirty="0"/>
              <a:t>上至少存在一点</a:t>
            </a:r>
            <a:r>
              <a:rPr lang="en-US" altLang="zh-CN" dirty="0"/>
              <a:t>ξ</a:t>
            </a:r>
            <a:r>
              <a:rPr lang="zh-CN" altLang="en-US" dirty="0"/>
              <a:t>，</a:t>
            </a:r>
            <a:r>
              <a:rPr lang="zh-CN" altLang="en-US" dirty="0" smtClean="0"/>
              <a:t>使得</a:t>
            </a:r>
            <a:endParaRPr lang="en-US" altLang="zh-CN" dirty="0" smtClean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EB2D8C-C595-4C75-A410-92E615560A69}" type="slidenum">
              <a:rPr lang="zh-CN" altLang="en-US" smtClean="0"/>
              <a:pPr>
                <a:defRPr/>
              </a:pPr>
              <a:t>38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F4F2C565-DEEA-484F-99D9-2BCC1484ACAF}" type="datetime1">
              <a:rPr lang="zh-CN" altLang="en-US" smtClean="0"/>
              <a:pPr>
                <a:defRPr/>
              </a:pPr>
              <a:t>2024/9/22</a:t>
            </a:fld>
            <a:endParaRPr lang="en-US" altLang="zh-CN" sz="1000"/>
          </a:p>
        </p:txBody>
      </p:sp>
      <p:pic>
        <p:nvPicPr>
          <p:cNvPr id="921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3645026"/>
            <a:ext cx="2628900" cy="922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104227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0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945AF25E-22B6-4838-82AC-3AEDDCC1AC24}" type="slidenum">
              <a:rPr lang="zh-CN" altLang="en-US"/>
              <a:pPr/>
              <a:t>39</a:t>
            </a:fld>
            <a:endParaRPr lang="en-US" altLang="zh-CN"/>
          </a:p>
        </p:txBody>
      </p:sp>
      <p:sp>
        <p:nvSpPr>
          <p:cNvPr id="5131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CC4B4797-5CB3-47F5-B527-25CBC083E6D0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252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 smtClean="0">
                <a:latin typeface="Times New Roman" pitchFamily="18" charset="0"/>
              </a:rPr>
              <a:t>2.4  迭代法的收敛性</a:t>
            </a:r>
          </a:p>
        </p:txBody>
      </p:sp>
      <p:sp>
        <p:nvSpPr>
          <p:cNvPr id="51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7" y="1133477"/>
            <a:ext cx="8543925" cy="384175"/>
          </a:xfrm>
        </p:spPr>
        <p:txBody>
          <a:bodyPr/>
          <a:lstStyle/>
          <a:p>
            <a:r>
              <a:rPr lang="zh-CN" altLang="en-US" smtClean="0">
                <a:ea typeface="宋体" pitchFamily="2" charset="-122"/>
              </a:rPr>
              <a:t>证明：</a:t>
            </a:r>
            <a:r>
              <a:rPr lang="zh-CN" altLang="en-US" smtClean="0"/>
              <a:t>设</a:t>
            </a:r>
            <a:r>
              <a:rPr lang="en-US" altLang="zh-CN" i="1" smtClean="0">
                <a:cs typeface="Times New Roman" pitchFamily="18" charset="0"/>
                <a:sym typeface="Symbol" pitchFamily="18" charset="2"/>
              </a:rPr>
              <a:t></a:t>
            </a:r>
            <a:r>
              <a:rPr lang="en-US" altLang="zh-CN" i="1" smtClean="0">
                <a:cs typeface="Times New Roman" pitchFamily="18" charset="0"/>
              </a:rPr>
              <a:t> </a:t>
            </a:r>
            <a:r>
              <a:rPr lang="en-US" altLang="zh-CN" smtClean="0"/>
              <a:t>(</a:t>
            </a:r>
            <a:r>
              <a:rPr lang="en-US" altLang="zh-CN" i="1" smtClean="0"/>
              <a:t>x</a:t>
            </a:r>
            <a:r>
              <a:rPr lang="en-US" altLang="zh-CN" smtClean="0"/>
              <a:t>)</a:t>
            </a:r>
            <a:r>
              <a:rPr lang="zh-CN" altLang="en-US" smtClean="0"/>
              <a:t>在包含根的区间内具有连续的一阶导数</a:t>
            </a:r>
          </a:p>
        </p:txBody>
      </p:sp>
      <p:graphicFrame>
        <p:nvGraphicFramePr>
          <p:cNvPr id="252933" name="Object 5"/>
          <p:cNvGraphicFramePr>
            <a:graphicFrameLocks noChangeAspect="1"/>
          </p:cNvGraphicFramePr>
          <p:nvPr/>
        </p:nvGraphicFramePr>
        <p:xfrm>
          <a:off x="1447802" y="1676400"/>
          <a:ext cx="634206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58" name="公式" r:id="rId4" imgW="2565360" imgH="253800" progId="Equation.3">
                  <p:embed/>
                </p:oleObj>
              </mc:Choice>
              <mc:Fallback>
                <p:oleObj name="公式" r:id="rId4" imgW="2565360" imgH="253800" progId="Equation.3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2" y="1676400"/>
                        <a:ext cx="6342063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34" name="Object 6"/>
          <p:cNvGraphicFramePr>
            <a:graphicFrameLocks noChangeAspect="1"/>
          </p:cNvGraphicFramePr>
          <p:nvPr/>
        </p:nvGraphicFramePr>
        <p:xfrm>
          <a:off x="1447802" y="2286000"/>
          <a:ext cx="634206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59" name="公式" r:id="rId6" imgW="2565360" imgH="253800" progId="Equation.3">
                  <p:embed/>
                </p:oleObj>
              </mc:Choice>
              <mc:Fallback>
                <p:oleObj name="公式" r:id="rId6" imgW="2565360" imgH="253800" progId="Equation.3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2" y="2286000"/>
                        <a:ext cx="6342063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35" name="Object 7"/>
          <p:cNvGraphicFramePr>
            <a:graphicFrameLocks noChangeAspect="1"/>
          </p:cNvGraphicFramePr>
          <p:nvPr/>
        </p:nvGraphicFramePr>
        <p:xfrm>
          <a:off x="1419225" y="3124200"/>
          <a:ext cx="64008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60" name="Equation" r:id="rId8" imgW="2819160" imgH="253800" progId="Equation.3">
                  <p:embed/>
                </p:oleObj>
              </mc:Choice>
              <mc:Fallback>
                <p:oleObj name="Equation" r:id="rId8" imgW="2819160" imgH="253800" progId="Equation.3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9225" y="3124200"/>
                        <a:ext cx="640080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2936" name="Text Box 8"/>
          <p:cNvSpPr txBox="1">
            <a:spLocks noChangeArrowheads="1"/>
          </p:cNvSpPr>
          <p:nvPr/>
        </p:nvSpPr>
        <p:spPr bwMode="auto">
          <a:xfrm>
            <a:off x="2508250" y="2667000"/>
            <a:ext cx="1612900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000">
                <a:latin typeface="Times New Roman" pitchFamily="18" charset="0"/>
              </a:rPr>
              <a:t>………...</a:t>
            </a:r>
          </a:p>
        </p:txBody>
      </p:sp>
      <p:graphicFrame>
        <p:nvGraphicFramePr>
          <p:cNvPr id="252938" name="Object 10"/>
          <p:cNvGraphicFramePr>
            <a:graphicFrameLocks noChangeAspect="1"/>
          </p:cNvGraphicFramePr>
          <p:nvPr/>
        </p:nvGraphicFramePr>
        <p:xfrm>
          <a:off x="990602" y="3810000"/>
          <a:ext cx="790892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61" name="Equation" r:id="rId10" imgW="3162240" imgH="253800" progId="Equation.3">
                  <p:embed/>
                </p:oleObj>
              </mc:Choice>
              <mc:Fallback>
                <p:oleObj name="Equation" r:id="rId10" imgW="3162240" imgH="253800" progId="Equation.3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2" y="3810000"/>
                        <a:ext cx="7908925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2941" name="Text Box 13"/>
          <p:cNvSpPr txBox="1">
            <a:spLocks noChangeArrowheads="1"/>
          </p:cNvSpPr>
          <p:nvPr/>
        </p:nvSpPr>
        <p:spPr bwMode="auto">
          <a:xfrm>
            <a:off x="5181602" y="4614863"/>
            <a:ext cx="898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itchFamily="18" charset="0"/>
              </a:rPr>
              <a:t>必有</a:t>
            </a:r>
            <a:endParaRPr lang="zh-CN" altLang="en-US" sz="2400" b="0">
              <a:latin typeface="Times New Roman" pitchFamily="18" charset="0"/>
            </a:endParaRPr>
          </a:p>
        </p:txBody>
      </p:sp>
      <p:sp>
        <p:nvSpPr>
          <p:cNvPr id="252939" name="Text Box 11"/>
          <p:cNvSpPr txBox="1">
            <a:spLocks noChangeArrowheads="1"/>
          </p:cNvSpPr>
          <p:nvPr/>
        </p:nvSpPr>
        <p:spPr bwMode="auto">
          <a:xfrm>
            <a:off x="533402" y="4600577"/>
            <a:ext cx="898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itchFamily="18" charset="0"/>
              </a:rPr>
              <a:t>若有</a:t>
            </a:r>
            <a:endParaRPr lang="zh-CN" altLang="en-US" sz="2400" b="0">
              <a:latin typeface="Times New Roman" pitchFamily="18" charset="0"/>
            </a:endParaRPr>
          </a:p>
        </p:txBody>
      </p:sp>
      <p:graphicFrame>
        <p:nvGraphicFramePr>
          <p:cNvPr id="252940" name="Object 12"/>
          <p:cNvGraphicFramePr>
            <a:graphicFrameLocks noChangeAspect="1"/>
          </p:cNvGraphicFramePr>
          <p:nvPr/>
        </p:nvGraphicFramePr>
        <p:xfrm>
          <a:off x="1524000" y="4600577"/>
          <a:ext cx="20193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62" name="公式" r:id="rId12" imgW="876240" imgH="253800" progId="Equation.3">
                  <p:embed/>
                </p:oleObj>
              </mc:Choice>
              <mc:Fallback>
                <p:oleObj name="公式" r:id="rId12" imgW="87624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600577"/>
                        <a:ext cx="2019300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42" name="Object 14"/>
          <p:cNvGraphicFramePr>
            <a:graphicFrameLocks noChangeAspect="1"/>
          </p:cNvGraphicFramePr>
          <p:nvPr/>
        </p:nvGraphicFramePr>
        <p:xfrm>
          <a:off x="3581402" y="4676775"/>
          <a:ext cx="1192213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63" name="公式" r:id="rId14" imgW="583920" imgH="215640" progId="Equation.3">
                  <p:embed/>
                </p:oleObj>
              </mc:Choice>
              <mc:Fallback>
                <p:oleObj name="公式" r:id="rId14" imgW="5839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2" y="4676775"/>
                        <a:ext cx="1192213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43" name="Object 15"/>
          <p:cNvGraphicFramePr>
            <a:graphicFrameLocks noChangeAspect="1"/>
          </p:cNvGraphicFramePr>
          <p:nvPr/>
        </p:nvGraphicFramePr>
        <p:xfrm>
          <a:off x="6019800" y="4600577"/>
          <a:ext cx="274320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64" name="公式" r:id="rId16" imgW="1422360" imgH="253800" progId="Equation.3">
                  <p:embed/>
                </p:oleObj>
              </mc:Choice>
              <mc:Fallback>
                <p:oleObj name="公式" r:id="rId16" imgW="142236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4600577"/>
                        <a:ext cx="2743200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48" name="Object 20"/>
          <p:cNvGraphicFramePr>
            <a:graphicFrameLocks noChangeAspect="1"/>
          </p:cNvGraphicFramePr>
          <p:nvPr/>
        </p:nvGraphicFramePr>
        <p:xfrm>
          <a:off x="1066800" y="5410200"/>
          <a:ext cx="7010400" cy="85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65" name="公式" r:id="rId18" imgW="2527200" imgH="317160" progId="Equation.3">
                  <p:embed/>
                </p:oleObj>
              </mc:Choice>
              <mc:Fallback>
                <p:oleObj name="公式" r:id="rId18" imgW="252720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5410200"/>
                        <a:ext cx="7010400" cy="858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39025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52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52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52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52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52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" dur="500"/>
                                        <p:tgtEl>
                                          <p:spTgt spid="252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52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52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52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52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529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529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936" grpId="0" autoUpdateAnimBg="0"/>
      <p:bldP spid="252941" grpId="0" autoUpdateAnimBg="0"/>
      <p:bldP spid="252939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9FBE3BCF-7CB8-4A23-9EA7-62869094F88B}" type="slidenum">
              <a:rPr lang="zh-CN" altLang="en-US"/>
              <a:pPr/>
              <a:t>40</a:t>
            </a:fld>
            <a:endParaRPr lang="en-US" altLang="zh-CN"/>
          </a:p>
        </p:txBody>
      </p:sp>
      <p:sp>
        <p:nvSpPr>
          <p:cNvPr id="6149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A7768DB2-C4A7-41F8-9C5F-B8106B4ABA8B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509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>
                <a:latin typeface="Times New Roman" pitchFamily="18" charset="0"/>
              </a:rPr>
              <a:t>2.4  迭代法的收敛性</a:t>
            </a:r>
          </a:p>
        </p:txBody>
      </p:sp>
      <p:sp>
        <p:nvSpPr>
          <p:cNvPr id="61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292225"/>
            <a:ext cx="8142288" cy="768350"/>
          </a:xfrm>
        </p:spPr>
        <p:txBody>
          <a:bodyPr/>
          <a:lstStyle/>
          <a:p>
            <a:r>
              <a:rPr lang="zh-CN" altLang="en-US" smtClean="0"/>
              <a:t>定理2.2 设</a:t>
            </a:r>
            <a:r>
              <a:rPr lang="en-US" altLang="zh-CN" i="1" smtClean="0">
                <a:cs typeface="Times New Roman" pitchFamily="18" charset="0"/>
                <a:sym typeface="Symbol" pitchFamily="18" charset="2"/>
              </a:rPr>
              <a:t></a:t>
            </a:r>
            <a:r>
              <a:rPr lang="en-US" altLang="zh-CN" i="1" smtClean="0">
                <a:cs typeface="Times New Roman" pitchFamily="18" charset="0"/>
              </a:rPr>
              <a:t> </a:t>
            </a:r>
            <a:r>
              <a:rPr lang="en-US" altLang="zh-CN" smtClean="0"/>
              <a:t>(</a:t>
            </a:r>
            <a:r>
              <a:rPr lang="en-US" altLang="zh-CN" i="1" smtClean="0"/>
              <a:t>x</a:t>
            </a:r>
            <a:r>
              <a:rPr lang="en-US" altLang="zh-CN" smtClean="0"/>
              <a:t>)</a:t>
            </a:r>
            <a:r>
              <a:rPr lang="zh-CN" altLang="en-US" smtClean="0"/>
              <a:t>在包含根</a:t>
            </a:r>
            <a:r>
              <a:rPr lang="zh-CN" altLang="en-US" smtClean="0">
                <a:sym typeface="Symbol" pitchFamily="18" charset="2"/>
              </a:rPr>
              <a:t></a:t>
            </a:r>
            <a:r>
              <a:rPr lang="zh-CN" altLang="en-US" smtClean="0"/>
              <a:t>的区间[</a:t>
            </a:r>
            <a:r>
              <a:rPr lang="en-US" altLang="zh-CN" smtClean="0"/>
              <a:t>a,b]</a:t>
            </a:r>
            <a:r>
              <a:rPr lang="zh-CN" altLang="en-US" smtClean="0"/>
              <a:t>上可微，且满足条件</a:t>
            </a:r>
          </a:p>
        </p:txBody>
      </p:sp>
      <p:graphicFrame>
        <p:nvGraphicFramePr>
          <p:cNvPr id="6146" name="Object 4"/>
          <p:cNvGraphicFramePr>
            <a:graphicFrameLocks noChangeAspect="1"/>
          </p:cNvGraphicFramePr>
          <p:nvPr/>
        </p:nvGraphicFramePr>
        <p:xfrm>
          <a:off x="2057402" y="2057402"/>
          <a:ext cx="3687763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28" name="Equation" r:id="rId4" imgW="1600200" imgH="317160" progId="Equation.3">
                  <p:embed/>
                </p:oleObj>
              </mc:Choice>
              <mc:Fallback>
                <p:oleObj name="Equation" r:id="rId4" imgW="160020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2" y="2057402"/>
                        <a:ext cx="3687763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2" name="Rectangle 5"/>
          <p:cNvSpPr>
            <a:spLocks noChangeArrowheads="1"/>
          </p:cNvSpPr>
          <p:nvPr/>
        </p:nvSpPr>
        <p:spPr bwMode="auto">
          <a:xfrm>
            <a:off x="914400" y="2667002"/>
            <a:ext cx="18288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258763" indent="-258763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</a:pP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则对任何</a:t>
            </a:r>
          </a:p>
        </p:txBody>
      </p:sp>
      <p:graphicFrame>
        <p:nvGraphicFramePr>
          <p:cNvPr id="6147" name="Object 6"/>
          <p:cNvGraphicFramePr>
            <a:graphicFrameLocks noChangeAspect="1"/>
          </p:cNvGraphicFramePr>
          <p:nvPr/>
        </p:nvGraphicFramePr>
        <p:xfrm>
          <a:off x="2260600" y="2590802"/>
          <a:ext cx="1608138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29" name="Equation" r:id="rId6" imgW="698400" imgH="228600" progId="Equation.3">
                  <p:embed/>
                </p:oleObj>
              </mc:Choice>
              <mc:Fallback>
                <p:oleObj name="Equation" r:id="rId6" imgW="6984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0600" y="2590802"/>
                        <a:ext cx="1608138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3" name="Rectangle 7"/>
          <p:cNvSpPr>
            <a:spLocks noChangeArrowheads="1"/>
          </p:cNvSpPr>
          <p:nvPr/>
        </p:nvSpPr>
        <p:spPr bwMode="auto">
          <a:xfrm>
            <a:off x="3810000" y="2584452"/>
            <a:ext cx="52466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迭代过程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2800" i="1" baseline="-25000">
                <a:latin typeface="Times New Roman" pitchFamily="18" charset="0"/>
                <a:ea typeface="黑体" pitchFamily="49" charset="-122"/>
              </a:rPr>
              <a:t>n+1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= 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  <a:cs typeface="Times New Roman" pitchFamily="18" charset="0"/>
                <a:sym typeface="Symbol" pitchFamily="18" charset="2"/>
              </a:rPr>
              <a:t>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(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2800" i="1" baseline="-25000">
                <a:latin typeface="Times New Roman" pitchFamily="18" charset="0"/>
                <a:ea typeface="黑体" pitchFamily="49" charset="-122"/>
              </a:rPr>
              <a:t>n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) </a:t>
            </a:r>
            <a:r>
              <a:rPr lang="en-US" altLang="zh-CN" sz="2800">
                <a:latin typeface="宋体" pitchFamily="2" charset="-122"/>
                <a:ea typeface="黑体" pitchFamily="49" charset="-122"/>
              </a:rPr>
              <a:t>(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n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=0,1,2,…</a:t>
            </a:r>
            <a:r>
              <a:rPr lang="en-US" altLang="zh-CN" sz="2800">
                <a:latin typeface="宋体" pitchFamily="2" charset="-122"/>
                <a:ea typeface="黑体" pitchFamily="49" charset="-122"/>
              </a:rPr>
              <a:t>)</a:t>
            </a:r>
            <a:endParaRPr lang="zh-CN" altLang="en-US" sz="2800">
              <a:latin typeface="宋体" pitchFamily="2" charset="-122"/>
              <a:ea typeface="黑体" pitchFamily="49" charset="-122"/>
            </a:endParaRPr>
          </a:p>
        </p:txBody>
      </p:sp>
      <p:sp>
        <p:nvSpPr>
          <p:cNvPr id="6154" name="Rectangle 8"/>
          <p:cNvSpPr>
            <a:spLocks noChangeArrowheads="1"/>
          </p:cNvSpPr>
          <p:nvPr/>
        </p:nvSpPr>
        <p:spPr bwMode="auto">
          <a:xfrm>
            <a:off x="914400" y="3273427"/>
            <a:ext cx="18288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258763" indent="-258763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</a:pP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一定收敛。</a:t>
            </a:r>
          </a:p>
        </p:txBody>
      </p:sp>
      <p:sp>
        <p:nvSpPr>
          <p:cNvPr id="6155" name="Rectangle 10"/>
          <p:cNvSpPr>
            <a:spLocks noChangeArrowheads="1"/>
          </p:cNvSpPr>
          <p:nvPr/>
        </p:nvSpPr>
        <p:spPr bwMode="auto">
          <a:xfrm>
            <a:off x="600077" y="3733802"/>
            <a:ext cx="8086725" cy="2690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258763" indent="-258763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</a:pPr>
            <a:r>
              <a:rPr lang="zh-CN" altLang="en-US" sz="2800" dirty="0">
                <a:latin typeface="宋体" pitchFamily="2" charset="-122"/>
                <a:ea typeface="黑体" pitchFamily="49" charset="-122"/>
              </a:rPr>
              <a:t>注意：</a:t>
            </a:r>
          </a:p>
          <a:p>
            <a:pPr marL="844550" lvl="1" indent="-457200" algn="l" defTabSz="814388" eaLnBrk="1" hangingPunct="1">
              <a:buClr>
                <a:srgbClr val="2C376C"/>
              </a:buClr>
              <a:buFont typeface="Wingdings" panose="05000000000000000000" pitchFamily="2" charset="2"/>
              <a:buChar char="Ø"/>
            </a:pPr>
            <a:r>
              <a:rPr kumimoji="1" lang="zh-CN" altLang="en-US" sz="2800" dirty="0">
                <a:latin typeface="宋体" pitchFamily="2" charset="-122"/>
                <a:ea typeface="黑体" pitchFamily="49" charset="-122"/>
              </a:rPr>
              <a:t>该定理的条件是充分条件</a:t>
            </a:r>
          </a:p>
          <a:p>
            <a:pPr marL="844550" lvl="1" indent="-457200" algn="l" defTabSz="814388" eaLnBrk="1" hangingPunct="1">
              <a:buClr>
                <a:srgbClr val="2C376C"/>
              </a:buClr>
              <a:buFont typeface="Wingdings" panose="05000000000000000000" pitchFamily="2" charset="2"/>
              <a:buChar char="Ø"/>
            </a:pPr>
            <a:r>
              <a:rPr kumimoji="1" lang="en-US" altLang="zh-CN" sz="2800" i="1" dirty="0">
                <a:latin typeface="宋体" pitchFamily="2" charset="-122"/>
                <a:ea typeface="黑体" pitchFamily="49" charset="-122"/>
              </a:rPr>
              <a:t>q</a:t>
            </a:r>
            <a:r>
              <a:rPr kumimoji="1" lang="zh-CN" altLang="en-US" sz="2800" dirty="0">
                <a:latin typeface="宋体" pitchFamily="2" charset="-122"/>
                <a:ea typeface="黑体" pitchFamily="49" charset="-122"/>
              </a:rPr>
              <a:t>值等于新旧迭代值之误差比,即对旧误差的缩小率. </a:t>
            </a:r>
            <a:r>
              <a:rPr kumimoji="1" lang="en-US" altLang="zh-CN" sz="2800" i="1" dirty="0">
                <a:latin typeface="宋体" pitchFamily="2" charset="-122"/>
                <a:ea typeface="黑体" pitchFamily="49" charset="-122"/>
              </a:rPr>
              <a:t>q</a:t>
            </a:r>
            <a:r>
              <a:rPr kumimoji="1" lang="zh-CN" altLang="en-US" sz="2800" dirty="0">
                <a:latin typeface="宋体" pitchFamily="2" charset="-122"/>
                <a:ea typeface="黑体" pitchFamily="49" charset="-122"/>
              </a:rPr>
              <a:t>愈小,新近似值逼近就愈快</a:t>
            </a:r>
          </a:p>
          <a:p>
            <a:pPr marL="844550" lvl="1" indent="-457200" algn="l" defTabSz="814388" eaLnBrk="1" hangingPunct="1">
              <a:lnSpc>
                <a:spcPct val="110000"/>
              </a:lnSpc>
              <a:spcBef>
                <a:spcPct val="20000"/>
              </a:spcBef>
              <a:buClr>
                <a:srgbClr val="2C376C"/>
              </a:buClr>
              <a:buFont typeface="Wingdings" panose="05000000000000000000" pitchFamily="2" charset="2"/>
              <a:buChar char="Ø"/>
            </a:pPr>
            <a:r>
              <a:rPr kumimoji="1" lang="zh-CN" altLang="en-US" sz="2800" dirty="0">
                <a:latin typeface="宋体" pitchFamily="2" charset="-122"/>
                <a:ea typeface="黑体" pitchFamily="49" charset="-122"/>
              </a:rPr>
              <a:t>在实际应用时,因</a:t>
            </a:r>
            <a:r>
              <a:rPr lang="en-US" altLang="zh-CN" sz="2800" i="1" dirty="0">
                <a:latin typeface="Times New Roman" pitchFamily="18" charset="0"/>
                <a:ea typeface="黑体" pitchFamily="49" charset="-122"/>
                <a:cs typeface="Times New Roman" pitchFamily="18" charset="0"/>
                <a:sym typeface="Symbol" pitchFamily="18" charset="2"/>
              </a:rPr>
              <a:t></a:t>
            </a:r>
            <a:r>
              <a:rPr lang="en-US" altLang="zh-CN" sz="2800" i="1" dirty="0">
                <a:latin typeface="Times New Roman" pitchFamily="18" charset="0"/>
                <a:ea typeface="黑体" pitchFamily="49" charset="-122"/>
              </a:rPr>
              <a:t>’</a:t>
            </a:r>
            <a:r>
              <a:rPr kumimoji="1" lang="en-US" altLang="zh-CN" sz="2800" dirty="0">
                <a:latin typeface="宋体" pitchFamily="2" charset="-122"/>
                <a:ea typeface="黑体" pitchFamily="49" charset="-122"/>
              </a:rPr>
              <a:t>(</a:t>
            </a:r>
            <a:r>
              <a:rPr kumimoji="1" lang="en-US" altLang="zh-CN" sz="2800" i="1" dirty="0">
                <a:latin typeface="Times New Roman" pitchFamily="18" charset="0"/>
                <a:ea typeface="黑体" pitchFamily="49" charset="-122"/>
              </a:rPr>
              <a:t>x</a:t>
            </a:r>
            <a:r>
              <a:rPr kumimoji="1" lang="en-US" altLang="zh-CN" sz="2800" dirty="0">
                <a:latin typeface="宋体" pitchFamily="2" charset="-122"/>
                <a:ea typeface="黑体" pitchFamily="49" charset="-122"/>
              </a:rPr>
              <a:t>)</a:t>
            </a:r>
            <a:r>
              <a:rPr kumimoji="1" lang="zh-CN" altLang="en-US" sz="2800" dirty="0">
                <a:latin typeface="宋体" pitchFamily="2" charset="-122"/>
                <a:ea typeface="黑体" pitchFamily="49" charset="-122"/>
              </a:rPr>
              <a:t>连续且[</a:t>
            </a:r>
            <a:r>
              <a:rPr kumimoji="1" lang="en-US" altLang="zh-CN" sz="2800" i="1" dirty="0" err="1">
                <a:latin typeface="Times New Roman" pitchFamily="18" charset="0"/>
                <a:ea typeface="黑体" pitchFamily="49" charset="-122"/>
              </a:rPr>
              <a:t>a,b</a:t>
            </a:r>
            <a:r>
              <a:rPr kumimoji="1" lang="en-US" altLang="zh-CN" sz="2800" dirty="0">
                <a:latin typeface="宋体" pitchFamily="2" charset="-122"/>
                <a:ea typeface="黑体" pitchFamily="49" charset="-122"/>
              </a:rPr>
              <a:t>]</a:t>
            </a:r>
            <a:r>
              <a:rPr kumimoji="1" lang="zh-CN" altLang="en-US" sz="2800" dirty="0">
                <a:latin typeface="宋体" pitchFamily="2" charset="-122"/>
                <a:ea typeface="黑体" pitchFamily="49" charset="-122"/>
              </a:rPr>
              <a:t>较小,</a:t>
            </a:r>
            <a:r>
              <a:rPr lang="en-US" altLang="zh-CN" sz="2800" i="1" dirty="0">
                <a:latin typeface="Times New Roman" pitchFamily="18" charset="0"/>
                <a:ea typeface="黑体" pitchFamily="49" charset="-122"/>
                <a:sym typeface="Symbol" pitchFamily="18" charset="2"/>
              </a:rPr>
              <a:t></a:t>
            </a:r>
            <a:r>
              <a:rPr lang="en-US" altLang="zh-CN" sz="2800" i="1" dirty="0">
                <a:latin typeface="Times New Roman" pitchFamily="18" charset="0"/>
                <a:ea typeface="黑体" pitchFamily="49" charset="-122"/>
              </a:rPr>
              <a:t>’</a:t>
            </a:r>
            <a:r>
              <a:rPr kumimoji="1" lang="en-US" altLang="zh-CN" sz="2800" dirty="0">
                <a:latin typeface="宋体" pitchFamily="2" charset="-122"/>
                <a:ea typeface="黑体" pitchFamily="49" charset="-122"/>
              </a:rPr>
              <a:t>(</a:t>
            </a:r>
            <a:r>
              <a:rPr kumimoji="1" lang="en-US" altLang="zh-CN" sz="2800" i="1" dirty="0">
                <a:latin typeface="Times New Roman" pitchFamily="18" charset="0"/>
                <a:ea typeface="黑体" pitchFamily="49" charset="-122"/>
              </a:rPr>
              <a:t>x</a:t>
            </a:r>
            <a:r>
              <a:rPr kumimoji="1" lang="en-US" altLang="zh-CN" sz="2800" dirty="0">
                <a:latin typeface="宋体" pitchFamily="2" charset="-122"/>
                <a:ea typeface="黑体" pitchFamily="49" charset="-122"/>
              </a:rPr>
              <a:t>)</a:t>
            </a:r>
            <a:r>
              <a:rPr kumimoji="1" lang="zh-CN" altLang="en-US" sz="2800" dirty="0">
                <a:latin typeface="宋体" pitchFamily="2" charset="-122"/>
                <a:ea typeface="黑体" pitchFamily="49" charset="-122"/>
              </a:rPr>
              <a:t>的值变化不大,</a:t>
            </a:r>
            <a:r>
              <a:rPr kumimoji="1" lang="zh-CN" altLang="en-US" sz="2800" dirty="0">
                <a:solidFill>
                  <a:srgbClr val="C00000"/>
                </a:solidFill>
                <a:latin typeface="宋体" pitchFamily="2" charset="-122"/>
                <a:ea typeface="黑体" pitchFamily="49" charset="-122"/>
              </a:rPr>
              <a:t>可用|</a:t>
            </a:r>
            <a:r>
              <a:rPr lang="en-US" altLang="zh-CN" sz="2800" i="1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sym typeface="Symbol" pitchFamily="18" charset="2"/>
              </a:rPr>
              <a:t></a:t>
            </a:r>
            <a:r>
              <a:rPr lang="en-US" altLang="zh-CN" sz="2800" i="1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</a:rPr>
              <a:t>’</a:t>
            </a:r>
            <a:r>
              <a:rPr kumimoji="1" lang="en-US" altLang="zh-CN" sz="2800" dirty="0">
                <a:solidFill>
                  <a:srgbClr val="C00000"/>
                </a:solidFill>
                <a:latin typeface="宋体" pitchFamily="2" charset="-122"/>
                <a:ea typeface="黑体" pitchFamily="49" charset="-122"/>
              </a:rPr>
              <a:t>(</a:t>
            </a:r>
            <a:r>
              <a:rPr kumimoji="1" lang="en-US" altLang="zh-CN" sz="2800" i="1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</a:rPr>
              <a:t>x</a:t>
            </a:r>
            <a:r>
              <a:rPr kumimoji="1" lang="en-US" altLang="zh-CN" sz="2800" baseline="-25000" dirty="0">
                <a:solidFill>
                  <a:srgbClr val="C00000"/>
                </a:solidFill>
                <a:latin typeface="宋体" pitchFamily="2" charset="-122"/>
                <a:ea typeface="黑体" pitchFamily="49" charset="-122"/>
              </a:rPr>
              <a:t>0</a:t>
            </a:r>
            <a:r>
              <a:rPr kumimoji="1" lang="en-US" altLang="zh-CN" sz="2800" dirty="0">
                <a:solidFill>
                  <a:srgbClr val="C00000"/>
                </a:solidFill>
                <a:latin typeface="宋体" pitchFamily="2" charset="-122"/>
                <a:ea typeface="黑体" pitchFamily="49" charset="-122"/>
              </a:rPr>
              <a:t>)|&lt;1</a:t>
            </a:r>
            <a:r>
              <a:rPr kumimoji="1" lang="zh-CN" altLang="en-US" sz="2800" dirty="0">
                <a:solidFill>
                  <a:srgbClr val="C00000"/>
                </a:solidFill>
                <a:latin typeface="宋体" pitchFamily="2" charset="-122"/>
                <a:ea typeface="黑体" pitchFamily="49" charset="-122"/>
              </a:rPr>
              <a:t>代替</a:t>
            </a:r>
          </a:p>
        </p:txBody>
      </p:sp>
    </p:spTree>
    <p:extLst>
      <p:ext uri="{BB962C8B-B14F-4D97-AF65-F5344CB8AC3E}">
        <p14:creationId xmlns:p14="http://schemas.microsoft.com/office/powerpoint/2010/main" val="597046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AFB4E0EE-FF40-4930-9507-4EA0462EB08A}" type="slidenum">
              <a:rPr lang="zh-CN" altLang="en-US"/>
              <a:pPr/>
              <a:t>41</a:t>
            </a:fld>
            <a:endParaRPr lang="en-US" altLang="zh-CN"/>
          </a:p>
        </p:txBody>
      </p:sp>
      <p:sp>
        <p:nvSpPr>
          <p:cNvPr id="9220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71D10D25-6BBF-416E-9BC0-84B5C28FBA12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254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>
                <a:latin typeface="Times New Roman" pitchFamily="18" charset="0"/>
              </a:rPr>
              <a:t>2.4  迭代法的收敛性</a:t>
            </a:r>
          </a:p>
        </p:txBody>
      </p:sp>
      <p:sp>
        <p:nvSpPr>
          <p:cNvPr id="92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285877"/>
            <a:ext cx="8142288" cy="926407"/>
          </a:xfrm>
        </p:spPr>
        <p:txBody>
          <a:bodyPr/>
          <a:lstStyle/>
          <a:p>
            <a:r>
              <a:rPr lang="zh-CN" altLang="en-US" dirty="0" smtClean="0"/>
              <a:t>设迭代序列收敛，如果存在正数</a:t>
            </a:r>
            <a:r>
              <a:rPr lang="en-US" altLang="zh-CN" i="1" dirty="0" smtClean="0"/>
              <a:t>r</a:t>
            </a:r>
            <a:r>
              <a:rPr lang="zh-CN" altLang="en-US" dirty="0" smtClean="0"/>
              <a:t>和</a:t>
            </a:r>
            <a:r>
              <a:rPr lang="en-US" altLang="zh-CN" i="1" dirty="0" smtClean="0"/>
              <a:t>c</a:t>
            </a:r>
            <a:r>
              <a:rPr lang="en-US" altLang="zh-CN" dirty="0" smtClean="0"/>
              <a:t>，</a:t>
            </a:r>
          </a:p>
          <a:p>
            <a:pPr marL="0" indent="0">
              <a:buNone/>
            </a:pPr>
            <a:r>
              <a:rPr lang="zh-CN" altLang="en-US" dirty="0" smtClean="0"/>
              <a:t>使得	</a:t>
            </a:r>
          </a:p>
        </p:txBody>
      </p:sp>
      <p:graphicFrame>
        <p:nvGraphicFramePr>
          <p:cNvPr id="9218" name="Object 4"/>
          <p:cNvGraphicFramePr>
            <a:graphicFrameLocks noChangeAspect="1"/>
          </p:cNvGraphicFramePr>
          <p:nvPr/>
        </p:nvGraphicFramePr>
        <p:xfrm>
          <a:off x="2819400" y="1514475"/>
          <a:ext cx="27559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1" name="Equation" r:id="rId5" imgW="1091880" imgH="507960" progId="Equation.3">
                  <p:embed/>
                </p:oleObj>
              </mc:Choice>
              <mc:Fallback>
                <p:oleObj name="Equation" r:id="rId5" imgW="1091880" imgH="5079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514475"/>
                        <a:ext cx="27559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3" name="Rectangle 6"/>
          <p:cNvSpPr>
            <a:spLocks noChangeArrowheads="1"/>
          </p:cNvSpPr>
          <p:nvPr/>
        </p:nvSpPr>
        <p:spPr bwMode="auto">
          <a:xfrm>
            <a:off x="533400" y="2733677"/>
            <a:ext cx="8142288" cy="380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258763" indent="-258763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</a:pPr>
            <a:r>
              <a:rPr lang="zh-CN" altLang="en-US" sz="2800">
                <a:latin typeface="Times New Roman" pitchFamily="18" charset="0"/>
              </a:rPr>
              <a:t>	成立，则称该</a:t>
            </a:r>
            <a:r>
              <a:rPr lang="zh-CN" altLang="en-US" sz="2800" u="sng">
                <a:solidFill>
                  <a:srgbClr val="FF3300"/>
                </a:solidFill>
                <a:latin typeface="Times New Roman" pitchFamily="18" charset="0"/>
              </a:rPr>
              <a:t>迭代序列是 </a:t>
            </a:r>
            <a:r>
              <a:rPr lang="en-US" altLang="zh-CN" sz="2800" i="1" u="sng">
                <a:solidFill>
                  <a:srgbClr val="FF3300"/>
                </a:solidFill>
                <a:latin typeface="Times New Roman" pitchFamily="18" charset="0"/>
              </a:rPr>
              <a:t>r </a:t>
            </a:r>
            <a:r>
              <a:rPr lang="zh-CN" altLang="en-US" sz="2800" u="sng">
                <a:solidFill>
                  <a:srgbClr val="FF3300"/>
                </a:solidFill>
                <a:latin typeface="Times New Roman" pitchFamily="18" charset="0"/>
              </a:rPr>
              <a:t>阶收敛的</a:t>
            </a:r>
            <a:r>
              <a:rPr lang="zh-CN" altLang="en-US" sz="2800">
                <a:latin typeface="Times New Roman" pitchFamily="18" charset="0"/>
              </a:rPr>
              <a:t>，或称迭代序列收敛的阶为</a:t>
            </a:r>
            <a:r>
              <a:rPr lang="en-US" altLang="zh-CN" sz="2800" i="1">
                <a:latin typeface="Times New Roman" pitchFamily="18" charset="0"/>
              </a:rPr>
              <a:t>r</a:t>
            </a:r>
            <a:r>
              <a:rPr lang="zh-CN" altLang="en-US" sz="2800">
                <a:latin typeface="Times New Roman" pitchFamily="18" charset="0"/>
              </a:rPr>
              <a:t>，</a:t>
            </a:r>
            <a:r>
              <a:rPr lang="en-US" altLang="zh-CN" sz="2800" i="1">
                <a:latin typeface="Times New Roman" pitchFamily="18" charset="0"/>
              </a:rPr>
              <a:t>c</a:t>
            </a:r>
            <a:r>
              <a:rPr lang="zh-CN" altLang="en-US" sz="2800">
                <a:latin typeface="Times New Roman" pitchFamily="18" charset="0"/>
              </a:rPr>
              <a:t>为</a:t>
            </a:r>
            <a:r>
              <a:rPr lang="zh-CN" altLang="en-US" sz="2800" u="sng">
                <a:solidFill>
                  <a:srgbClr val="FF3300"/>
                </a:solidFill>
                <a:latin typeface="Times New Roman" pitchFamily="18" charset="0"/>
              </a:rPr>
              <a:t>渐近误差常数</a:t>
            </a:r>
          </a:p>
          <a:p>
            <a:pPr marL="258763" indent="-258763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</a:pPr>
            <a:r>
              <a:rPr lang="en-US" altLang="zh-CN" sz="2800" i="1">
                <a:latin typeface="Times New Roman" pitchFamily="18" charset="0"/>
              </a:rPr>
              <a:t>r</a:t>
            </a:r>
            <a:r>
              <a:rPr lang="zh-CN" altLang="en-US" sz="2800">
                <a:latin typeface="Times New Roman" pitchFamily="18" charset="0"/>
              </a:rPr>
              <a:t>反映了迭代过程的收敛速度，</a:t>
            </a:r>
            <a:r>
              <a:rPr lang="en-US" altLang="zh-CN" sz="2800" i="1">
                <a:latin typeface="Times New Roman" pitchFamily="18" charset="0"/>
              </a:rPr>
              <a:t>r</a:t>
            </a:r>
            <a:r>
              <a:rPr lang="zh-CN" altLang="en-US" sz="2800">
                <a:latin typeface="Times New Roman" pitchFamily="18" charset="0"/>
              </a:rPr>
              <a:t>越大绝对误差缩减得越快，即方法收敛得越快，它是衡量迭代法好坏的重要标志。不同的迭代法具有不同的收敛阶数</a:t>
            </a:r>
            <a:endParaRPr lang="en-US" altLang="zh-CN" sz="2800">
              <a:latin typeface="Times New Roman" pitchFamily="18" charset="0"/>
            </a:endParaRPr>
          </a:p>
          <a:p>
            <a:pPr marL="649288" lvl="1" indent="-261938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Ø"/>
            </a:pPr>
            <a:r>
              <a:rPr lang="en-US" altLang="zh-CN" sz="2800" i="1">
                <a:latin typeface="Times New Roman" pitchFamily="18" charset="0"/>
              </a:rPr>
              <a:t>r</a:t>
            </a:r>
            <a:r>
              <a:rPr lang="en-US" altLang="zh-CN" sz="2800">
                <a:latin typeface="Times New Roman" pitchFamily="18" charset="0"/>
              </a:rPr>
              <a:t>=1	</a:t>
            </a:r>
            <a:r>
              <a:rPr lang="zh-CN" altLang="en-US" sz="2800" u="sng">
                <a:solidFill>
                  <a:srgbClr val="FF3300"/>
                </a:solidFill>
                <a:latin typeface="Times New Roman" pitchFamily="18" charset="0"/>
              </a:rPr>
              <a:t>线性收敛</a:t>
            </a:r>
            <a:endParaRPr lang="zh-CN" altLang="en-US" sz="2800">
              <a:latin typeface="Times New Roman" pitchFamily="18" charset="0"/>
            </a:endParaRPr>
          </a:p>
          <a:p>
            <a:pPr marL="649288" lvl="1" indent="-261938" algn="l" defTabSz="814388">
              <a:lnSpc>
                <a:spcPct val="90000"/>
              </a:lnSpc>
              <a:spcBef>
                <a:spcPct val="50000"/>
              </a:spcBef>
              <a:buClr>
                <a:srgbClr val="27305F"/>
              </a:buClr>
              <a:buSzPct val="60000"/>
              <a:buFont typeface="Wingdings" pitchFamily="2" charset="2"/>
              <a:buChar char="Ø"/>
            </a:pPr>
            <a:r>
              <a:rPr lang="en-US" altLang="zh-CN" sz="2800" i="1">
                <a:latin typeface="Times New Roman" pitchFamily="18" charset="0"/>
              </a:rPr>
              <a:t>r</a:t>
            </a:r>
            <a:r>
              <a:rPr lang="en-US" altLang="zh-CN" sz="2800">
                <a:latin typeface="Times New Roman" pitchFamily="18" charset="0"/>
              </a:rPr>
              <a:t>&gt;1	</a:t>
            </a:r>
            <a:r>
              <a:rPr lang="zh-CN" altLang="en-US" sz="2800" u="sng">
                <a:solidFill>
                  <a:srgbClr val="FF3300"/>
                </a:solidFill>
                <a:latin typeface="Times New Roman" pitchFamily="18" charset="0"/>
              </a:rPr>
              <a:t>超线性收敛</a:t>
            </a:r>
            <a:endParaRPr lang="zh-CN" altLang="en-US" sz="2800">
              <a:latin typeface="Times New Roman" pitchFamily="18" charset="0"/>
            </a:endParaRPr>
          </a:p>
          <a:p>
            <a:pPr marL="649288" lvl="1" indent="-261938" algn="l" defTabSz="814388">
              <a:lnSpc>
                <a:spcPct val="90000"/>
              </a:lnSpc>
              <a:spcBef>
                <a:spcPct val="50000"/>
              </a:spcBef>
              <a:buClr>
                <a:srgbClr val="27305F"/>
              </a:buClr>
              <a:buSzPct val="60000"/>
              <a:buFont typeface="Wingdings" pitchFamily="2" charset="2"/>
              <a:buChar char="Ø"/>
            </a:pPr>
            <a:r>
              <a:rPr lang="en-US" altLang="zh-CN" sz="2800" i="1">
                <a:latin typeface="Times New Roman" pitchFamily="18" charset="0"/>
              </a:rPr>
              <a:t>r</a:t>
            </a:r>
            <a:r>
              <a:rPr lang="en-US" altLang="zh-CN" sz="2800">
                <a:latin typeface="Times New Roman" pitchFamily="18" charset="0"/>
              </a:rPr>
              <a:t>=2	</a:t>
            </a:r>
            <a:r>
              <a:rPr lang="zh-CN" altLang="en-US" sz="2800" u="sng">
                <a:solidFill>
                  <a:srgbClr val="FF3300"/>
                </a:solidFill>
                <a:latin typeface="Times New Roman" pitchFamily="18" charset="0"/>
              </a:rPr>
              <a:t>平方收敛</a:t>
            </a:r>
          </a:p>
        </p:txBody>
      </p:sp>
      <p:sp>
        <p:nvSpPr>
          <p:cNvPr id="254983" name="AutoShape 7"/>
          <p:cNvSpPr>
            <a:spLocks noChangeArrowheads="1"/>
          </p:cNvSpPr>
          <p:nvPr/>
        </p:nvSpPr>
        <p:spPr bwMode="auto">
          <a:xfrm>
            <a:off x="6486649" y="25354"/>
            <a:ext cx="2615952" cy="1832914"/>
          </a:xfrm>
          <a:prstGeom prst="wedgeEllipseCallout">
            <a:avLst>
              <a:gd name="adj1" fmla="val -50635"/>
              <a:gd name="adj2" fmla="val 48737"/>
            </a:avLst>
          </a:prstGeom>
          <a:gradFill rotWithShape="0">
            <a:gsLst>
              <a:gs pos="0">
                <a:srgbClr val="B5BEE3">
                  <a:lumMod val="99000"/>
                  <a:alpha val="28000"/>
                </a:srgbClr>
              </a:gs>
              <a:gs pos="50000">
                <a:schemeClr val="bg1"/>
              </a:gs>
              <a:gs pos="100000">
                <a:srgbClr val="D3D8EF"/>
              </a:gs>
            </a:gsLst>
            <a:lin ang="5400000" scaled="1"/>
          </a:gradFill>
          <a:ln w="9525">
            <a:solidFill>
              <a:srgbClr val="B5BEE3"/>
            </a:solidFill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eaLnBrk="1" hangingPunct="1">
              <a:defRPr/>
            </a:pPr>
            <a:r>
              <a:rPr lang="zh-CN" altLang="en-US" sz="2400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新近似值的误差与旧近似值误差的</a:t>
            </a:r>
            <a:r>
              <a:rPr lang="en-US" altLang="zh-CN" sz="2400" i="1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lang="zh-CN" altLang="en-US" sz="2400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次方成正比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49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983" grpId="0" animBg="1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A0D723CC-7979-4891-94DD-476043D33CA7}" type="slidenum">
              <a:rPr lang="zh-CN" altLang="en-US"/>
              <a:pPr/>
              <a:t>42</a:t>
            </a:fld>
            <a:endParaRPr lang="en-US" altLang="zh-CN"/>
          </a:p>
        </p:txBody>
      </p:sp>
      <p:sp>
        <p:nvSpPr>
          <p:cNvPr id="10247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ED4CC9EF-65F8-478E-9A68-E429CCAF1D1D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326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>
                <a:latin typeface="Times New Roman" pitchFamily="18" charset="0"/>
              </a:rPr>
              <a:t>2.4  迭代法的收敛性</a:t>
            </a:r>
          </a:p>
        </p:txBody>
      </p:sp>
      <p:sp>
        <p:nvSpPr>
          <p:cNvPr id="1024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136650"/>
            <a:ext cx="8142288" cy="217598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mtClean="0"/>
              <a:t>定理2.4  设迭代函数</a:t>
            </a:r>
            <a:r>
              <a:rPr lang="en-US" altLang="zh-CN" i="1" smtClean="0">
                <a:sym typeface="Symbol" pitchFamily="18" charset="2"/>
              </a:rPr>
              <a:t></a:t>
            </a:r>
            <a:r>
              <a:rPr lang="en-US" altLang="zh-CN" smtClean="0"/>
              <a:t>(</a:t>
            </a:r>
            <a:r>
              <a:rPr lang="en-US" altLang="zh-CN" i="1" smtClean="0"/>
              <a:t>x</a:t>
            </a:r>
            <a:r>
              <a:rPr lang="en-US" altLang="zh-CN" smtClean="0"/>
              <a:t>)</a:t>
            </a:r>
            <a:r>
              <a:rPr lang="zh-CN" altLang="en-US" smtClean="0"/>
              <a:t>在</a:t>
            </a:r>
            <a:r>
              <a:rPr lang="en-US" altLang="zh-CN" smtClean="0">
                <a:sym typeface="Symbol" pitchFamily="18" charset="2"/>
              </a:rPr>
              <a:t></a:t>
            </a:r>
            <a:r>
              <a:rPr lang="zh-CN" altLang="en-US" smtClean="0"/>
              <a:t>临近有</a:t>
            </a:r>
            <a:r>
              <a:rPr lang="en-US" altLang="zh-CN" i="1" smtClean="0"/>
              <a:t>r</a:t>
            </a:r>
            <a:r>
              <a:rPr lang="zh-CN" altLang="en-US" smtClean="0"/>
              <a:t>阶连续导数，且满足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i="1" smtClean="0">
                <a:cs typeface="Times New Roman" pitchFamily="18" charset="0"/>
              </a:rPr>
              <a:t>                  </a:t>
            </a:r>
            <a:r>
              <a:rPr lang="en-US" altLang="zh-CN" i="1" smtClean="0">
                <a:sym typeface="Symbol" pitchFamily="18" charset="2"/>
              </a:rPr>
              <a:t></a:t>
            </a:r>
            <a:r>
              <a:rPr lang="en-US" altLang="zh-CN" i="1" smtClean="0">
                <a:cs typeface="Times New Roman" pitchFamily="18" charset="0"/>
              </a:rPr>
              <a:t>’</a:t>
            </a:r>
            <a:r>
              <a:rPr lang="en-US" altLang="zh-CN" smtClean="0"/>
              <a:t>(</a:t>
            </a:r>
            <a:r>
              <a:rPr lang="en-US" altLang="zh-CN" i="1" smtClean="0"/>
              <a:t>x</a:t>
            </a:r>
            <a:r>
              <a:rPr lang="en-US" altLang="zh-CN" smtClean="0"/>
              <a:t>)= </a:t>
            </a:r>
            <a:r>
              <a:rPr lang="en-US" altLang="zh-CN" i="1" smtClean="0">
                <a:sym typeface="Symbol" pitchFamily="18" charset="2"/>
              </a:rPr>
              <a:t></a:t>
            </a:r>
            <a:r>
              <a:rPr lang="en-US" altLang="zh-CN" i="1" smtClean="0">
                <a:cs typeface="Times New Roman" pitchFamily="18" charset="0"/>
              </a:rPr>
              <a:t>’’</a:t>
            </a:r>
            <a:r>
              <a:rPr lang="en-US" altLang="zh-CN" smtClean="0"/>
              <a:t>(</a:t>
            </a:r>
            <a:r>
              <a:rPr lang="en-US" altLang="zh-CN" i="1" smtClean="0"/>
              <a:t>x</a:t>
            </a:r>
            <a:r>
              <a:rPr lang="en-US" altLang="zh-CN" smtClean="0"/>
              <a:t>)=…= </a:t>
            </a:r>
            <a:r>
              <a:rPr lang="en-US" altLang="zh-CN" i="1" smtClean="0">
                <a:sym typeface="Symbol" pitchFamily="18" charset="2"/>
              </a:rPr>
              <a:t></a:t>
            </a:r>
            <a:r>
              <a:rPr lang="en-US" altLang="zh-CN" baseline="30000" smtClean="0">
                <a:cs typeface="Times New Roman" pitchFamily="18" charset="0"/>
              </a:rPr>
              <a:t>(</a:t>
            </a:r>
            <a:r>
              <a:rPr lang="en-US" altLang="zh-CN" i="1" baseline="30000" smtClean="0">
                <a:cs typeface="Times New Roman" pitchFamily="18" charset="0"/>
              </a:rPr>
              <a:t>r-1</a:t>
            </a:r>
            <a:r>
              <a:rPr lang="en-US" altLang="zh-CN" baseline="30000" smtClean="0">
                <a:cs typeface="Times New Roman" pitchFamily="18" charset="0"/>
              </a:rPr>
              <a:t>)</a:t>
            </a:r>
            <a:r>
              <a:rPr lang="en-US" altLang="zh-CN" smtClean="0"/>
              <a:t>(</a:t>
            </a:r>
            <a:r>
              <a:rPr lang="en-US" altLang="zh-CN" i="1" smtClean="0"/>
              <a:t>x</a:t>
            </a:r>
            <a:r>
              <a:rPr lang="en-US" altLang="zh-CN" smtClean="0"/>
              <a:t>)=0，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mtClean="0"/>
              <a:t>    及</a:t>
            </a:r>
            <a:r>
              <a:rPr lang="en-US" altLang="zh-CN" i="1" smtClean="0">
                <a:sym typeface="Symbol" pitchFamily="18" charset="2"/>
              </a:rPr>
              <a:t></a:t>
            </a:r>
            <a:r>
              <a:rPr lang="en-US" altLang="zh-CN" i="1" baseline="30000" smtClean="0">
                <a:cs typeface="Times New Roman" pitchFamily="18" charset="0"/>
              </a:rPr>
              <a:t>(r)</a:t>
            </a:r>
            <a:r>
              <a:rPr lang="en-US" altLang="zh-CN" smtClean="0"/>
              <a:t>(</a:t>
            </a:r>
            <a:r>
              <a:rPr lang="en-US" altLang="zh-CN" i="1" smtClean="0"/>
              <a:t>x</a:t>
            </a:r>
            <a:r>
              <a:rPr lang="en-US" altLang="zh-CN" smtClean="0"/>
              <a:t>)≠0</a:t>
            </a:r>
            <a:r>
              <a:rPr lang="zh-CN" altLang="en-US" smtClean="0"/>
              <a:t>，则该迭代序列是</a:t>
            </a:r>
            <a:r>
              <a:rPr lang="en-US" altLang="zh-CN" i="1" smtClean="0"/>
              <a:t>r</a:t>
            </a:r>
            <a:r>
              <a:rPr lang="zh-CN" altLang="en-US" smtClean="0"/>
              <a:t>阶收敛的。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mtClean="0"/>
              <a:t>证明： </a:t>
            </a:r>
            <a:r>
              <a:rPr lang="en-US" altLang="zh-CN" i="1" smtClean="0">
                <a:cs typeface="Times New Roman" pitchFamily="18" charset="0"/>
              </a:rPr>
              <a:t>x</a:t>
            </a:r>
            <a:r>
              <a:rPr lang="en-US" altLang="zh-CN" i="1" baseline="-25000" smtClean="0">
                <a:cs typeface="Times New Roman" pitchFamily="18" charset="0"/>
              </a:rPr>
              <a:t>n+</a:t>
            </a:r>
            <a:r>
              <a:rPr lang="en-US" altLang="zh-CN" baseline="-25000" smtClean="0">
                <a:cs typeface="Times New Roman" pitchFamily="18" charset="0"/>
              </a:rPr>
              <a:t>1</a:t>
            </a:r>
            <a:r>
              <a:rPr lang="en-US" altLang="zh-CN" i="1" smtClean="0">
                <a:cs typeface="Times New Roman" pitchFamily="18" charset="0"/>
              </a:rPr>
              <a:t>= </a:t>
            </a:r>
            <a:r>
              <a:rPr lang="en-US" altLang="zh-CN" i="1" smtClean="0">
                <a:sym typeface="Symbol" pitchFamily="18" charset="2"/>
              </a:rPr>
              <a:t></a:t>
            </a:r>
            <a:r>
              <a:rPr lang="en-US" altLang="zh-CN" smtClean="0">
                <a:cs typeface="Times New Roman" pitchFamily="18" charset="0"/>
              </a:rPr>
              <a:t>(</a:t>
            </a:r>
            <a:r>
              <a:rPr lang="en-US" altLang="zh-CN" i="1" smtClean="0">
                <a:cs typeface="Times New Roman" pitchFamily="18" charset="0"/>
              </a:rPr>
              <a:t>x</a:t>
            </a:r>
            <a:r>
              <a:rPr lang="en-US" altLang="zh-CN" i="1" baseline="-25000" smtClean="0">
                <a:cs typeface="Times New Roman" pitchFamily="18" charset="0"/>
              </a:rPr>
              <a:t>n</a:t>
            </a:r>
            <a:r>
              <a:rPr lang="en-US" altLang="zh-CN" smtClean="0">
                <a:cs typeface="Times New Roman" pitchFamily="18" charset="0"/>
              </a:rPr>
              <a:t>) </a:t>
            </a:r>
            <a:endParaRPr lang="zh-CN" altLang="en-US" smtClean="0">
              <a:cs typeface="Times New Roman" pitchFamily="18" charset="0"/>
            </a:endParaRPr>
          </a:p>
        </p:txBody>
      </p:sp>
      <p:sp>
        <p:nvSpPr>
          <p:cNvPr id="10250" name="Rectangle 5"/>
          <p:cNvSpPr>
            <a:spLocks noChangeArrowheads="1"/>
          </p:cNvSpPr>
          <p:nvPr/>
        </p:nvSpPr>
        <p:spPr bwMode="auto">
          <a:xfrm>
            <a:off x="3630613" y="2852738"/>
            <a:ext cx="23098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i="1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altLang="zh-CN" sz="2800" i="1" dirty="0">
                <a:latin typeface="Times New Roman" pitchFamily="18" charset="0"/>
                <a:ea typeface="黑体" pitchFamily="49" charset="-122"/>
                <a:cs typeface="Times New Roman" pitchFamily="18" charset="0"/>
                <a:sym typeface="Symbol" pitchFamily="18" charset="2"/>
              </a:rPr>
              <a:t>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+</a:t>
            </a:r>
            <a:r>
              <a:rPr lang="en-US" altLang="zh-CN" sz="2800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en-US" altLang="zh-CN" sz="2800" i="1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800" i="1" baseline="-25000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-</a:t>
            </a:r>
            <a:r>
              <a:rPr lang="en-US" altLang="zh-CN" sz="2800" i="1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)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)</a:t>
            </a:r>
            <a:endParaRPr lang="zh-CN" alt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26662" name="Object 6"/>
          <p:cNvGraphicFramePr>
            <a:graphicFrameLocks noChangeAspect="1"/>
          </p:cNvGraphicFramePr>
          <p:nvPr/>
        </p:nvGraphicFramePr>
        <p:xfrm>
          <a:off x="2286000" y="3335340"/>
          <a:ext cx="6553200" cy="170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0" name="Equation" r:id="rId4" imgW="2882880" imgH="863280" progId="Equation.3">
                  <p:embed/>
                </p:oleObj>
              </mc:Choice>
              <mc:Fallback>
                <p:oleObj name="Equation" r:id="rId4" imgW="2882880" imgH="8632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335340"/>
                        <a:ext cx="6553200" cy="170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64" name="Object 8"/>
          <p:cNvGraphicFramePr>
            <a:graphicFrameLocks noChangeAspect="1"/>
          </p:cNvGraphicFramePr>
          <p:nvPr/>
        </p:nvGraphicFramePr>
        <p:xfrm>
          <a:off x="2511425" y="4887915"/>
          <a:ext cx="3290888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1" name="Equation" r:id="rId6" imgW="1447560" imgH="419040" progId="Equation.3">
                  <p:embed/>
                </p:oleObj>
              </mc:Choice>
              <mc:Fallback>
                <p:oleObj name="Equation" r:id="rId6" imgW="1447560" imgH="4190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1425" y="4887915"/>
                        <a:ext cx="3290888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65" name="Object 9"/>
          <p:cNvGraphicFramePr>
            <a:graphicFrameLocks noChangeAspect="1"/>
          </p:cNvGraphicFramePr>
          <p:nvPr/>
        </p:nvGraphicFramePr>
        <p:xfrm>
          <a:off x="752477" y="5638800"/>
          <a:ext cx="2828925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2" name="Equation" r:id="rId8" imgW="1244520" imgH="457200" progId="Equation.3">
                  <p:embed/>
                </p:oleObj>
              </mc:Choice>
              <mc:Fallback>
                <p:oleObj name="Equation" r:id="rId8" imgW="1244520" imgH="4572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77" y="5638800"/>
                        <a:ext cx="2828925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6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0733970"/>
              </p:ext>
            </p:extLst>
          </p:nvPr>
        </p:nvGraphicFramePr>
        <p:xfrm>
          <a:off x="4211962" y="5661250"/>
          <a:ext cx="4602287" cy="7943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3" name="Equation" r:id="rId10" imgW="2298600" imgH="457200" progId="Equation.3">
                  <p:embed/>
                </p:oleObj>
              </mc:Choice>
              <mc:Fallback>
                <p:oleObj name="Equation" r:id="rId10" imgW="2298600" imgH="457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962" y="5661250"/>
                        <a:ext cx="4602287" cy="7943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6667" name="Text Box 11"/>
          <p:cNvSpPr txBox="1">
            <a:spLocks noChangeArrowheads="1"/>
          </p:cNvSpPr>
          <p:nvPr/>
        </p:nvSpPr>
        <p:spPr bwMode="auto">
          <a:xfrm>
            <a:off x="2971800" y="1417786"/>
            <a:ext cx="5646738" cy="427038"/>
          </a:xfrm>
          <a:prstGeom prst="rect">
            <a:avLst/>
          </a:prstGeom>
          <a:noFill/>
          <a:ln>
            <a:noFill/>
          </a:ln>
          <a:extLst/>
        </p:spPr>
        <p:txBody>
          <a:bodyPr lIns="0" tIns="0" rIns="0" bIns="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1" lang="zh-CN" altLang="en-US" sz="2800" b="0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</a:rPr>
              <a:t>该定理提供了测定收敛阶的方法!</a:t>
            </a:r>
          </a:p>
        </p:txBody>
      </p:sp>
      <p:cxnSp>
        <p:nvCxnSpPr>
          <p:cNvPr id="3" name="直接连接符 2"/>
          <p:cNvCxnSpPr/>
          <p:nvPr/>
        </p:nvCxnSpPr>
        <p:spPr bwMode="auto">
          <a:xfrm>
            <a:off x="4785521" y="3451955"/>
            <a:ext cx="935831" cy="288032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直接连接符 14"/>
          <p:cNvCxnSpPr/>
          <p:nvPr/>
        </p:nvCxnSpPr>
        <p:spPr bwMode="auto">
          <a:xfrm>
            <a:off x="7236298" y="3371850"/>
            <a:ext cx="935831" cy="288032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接连接符 15"/>
          <p:cNvCxnSpPr/>
          <p:nvPr/>
        </p:nvCxnSpPr>
        <p:spPr bwMode="auto">
          <a:xfrm>
            <a:off x="4716018" y="4221088"/>
            <a:ext cx="935831" cy="288032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" name="矩形 4"/>
          <p:cNvSpPr/>
          <p:nvPr/>
        </p:nvSpPr>
        <p:spPr>
          <a:xfrm>
            <a:off x="6011882" y="2875190"/>
            <a:ext cx="17331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</a:rPr>
              <a:t>泰勒公式展开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6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6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6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6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266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266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666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8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92A3AF6C-29EA-4E1F-BBA8-CA304E4FF864}" type="slidenum">
              <a:rPr lang="zh-CN" altLang="en-US"/>
              <a:pPr/>
              <a:t>43</a:t>
            </a:fld>
            <a:endParaRPr lang="en-US" altLang="zh-CN"/>
          </a:p>
        </p:txBody>
      </p:sp>
      <p:sp>
        <p:nvSpPr>
          <p:cNvPr id="11279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3DC20026-F3FE-434A-90FB-B6665F411CF0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533506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305002"/>
            <a:ext cx="8142288" cy="609398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泰勒公式</a:t>
            </a:r>
            <a:r>
              <a:rPr lang="en-US" altLang="zh-CN" dirty="0" smtClean="0"/>
              <a:t>(</a:t>
            </a:r>
            <a:r>
              <a:rPr lang="zh-CN" altLang="en-US" dirty="0" smtClean="0"/>
              <a:t>参考</a:t>
            </a:r>
            <a:r>
              <a:rPr lang="en-US" altLang="zh-CN" dirty="0" smtClean="0"/>
              <a:t>) </a:t>
            </a:r>
          </a:p>
        </p:txBody>
      </p:sp>
      <p:sp>
        <p:nvSpPr>
          <p:cNvPr id="1128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3715" y="1193802"/>
            <a:ext cx="8142287" cy="4886325"/>
          </a:xfrm>
        </p:spPr>
        <p:txBody>
          <a:bodyPr/>
          <a:lstStyle/>
          <a:p>
            <a:r>
              <a:rPr lang="zh-CN" altLang="en-US" dirty="0" smtClean="0"/>
              <a:t>来源实践</a:t>
            </a:r>
            <a:r>
              <a:rPr lang="en-US" altLang="zh-CN" dirty="0" smtClean="0"/>
              <a:t>,</a:t>
            </a:r>
            <a:r>
              <a:rPr lang="zh-CN" altLang="en-US" dirty="0" smtClean="0"/>
              <a:t>常用导数进行近似运算</a:t>
            </a:r>
            <a:r>
              <a:rPr lang="en-US" altLang="zh-CN" dirty="0" smtClean="0"/>
              <a:t>.</a:t>
            </a:r>
          </a:p>
          <a:p>
            <a:pPr>
              <a:buFont typeface="Wingdings" pitchFamily="2" charset="2"/>
              <a:buNone/>
            </a:pPr>
            <a:r>
              <a:rPr lang="zh-CN" altLang="en-US" dirty="0" smtClean="0"/>
              <a:t>由于           时          所以</a:t>
            </a:r>
          </a:p>
          <a:p>
            <a:pPr>
              <a:buFont typeface="Wingdings" pitchFamily="2" charset="2"/>
              <a:buNone/>
            </a:pPr>
            <a:r>
              <a:rPr lang="zh-CN" altLang="en-US" dirty="0" smtClean="0"/>
              <a:t>因此 </a:t>
            </a:r>
          </a:p>
          <a:p>
            <a:r>
              <a:rPr lang="zh-CN" altLang="en-US" dirty="0" smtClean="0"/>
              <a:t>应用范围</a:t>
            </a:r>
            <a:r>
              <a:rPr lang="en-US" altLang="zh-CN" dirty="0" smtClean="0"/>
              <a:t>: </a:t>
            </a:r>
            <a:r>
              <a:rPr lang="zh-CN" altLang="en-US" dirty="0" smtClean="0"/>
              <a:t>常用在直接求 </a:t>
            </a:r>
            <a:r>
              <a:rPr lang="en-US" altLang="zh-CN" i="1" dirty="0" smtClean="0"/>
              <a:t>f(x)</a:t>
            </a:r>
            <a:r>
              <a:rPr lang="zh-CN" altLang="en-US" dirty="0" smtClean="0"/>
              <a:t>困难</a:t>
            </a:r>
            <a:r>
              <a:rPr lang="en-US" altLang="zh-CN" dirty="0" smtClean="0"/>
              <a:t>,</a:t>
            </a:r>
            <a:r>
              <a:rPr lang="zh-CN" altLang="en-US" dirty="0" smtClean="0"/>
              <a:t>而在</a:t>
            </a:r>
            <a:r>
              <a:rPr lang="en-US" altLang="zh-CN" i="1" dirty="0" smtClean="0"/>
              <a:t>x</a:t>
            </a:r>
            <a:r>
              <a:rPr lang="zh-CN" altLang="en-US" dirty="0" smtClean="0"/>
              <a:t>附近</a:t>
            </a:r>
            <a:r>
              <a:rPr lang="en-US" altLang="zh-CN" i="1" dirty="0" smtClean="0"/>
              <a:t>x</a:t>
            </a:r>
            <a:r>
              <a:rPr lang="en-US" altLang="zh-CN" baseline="-25000" dirty="0" smtClean="0"/>
              <a:t>0</a:t>
            </a:r>
            <a:r>
              <a:rPr lang="zh-CN" altLang="en-US" dirty="0" smtClean="0"/>
              <a:t>处</a:t>
            </a:r>
            <a:r>
              <a:rPr lang="en-US" altLang="zh-CN" i="1" dirty="0" smtClean="0"/>
              <a:t>f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x</a:t>
            </a:r>
            <a:r>
              <a:rPr lang="en-US" altLang="zh-CN" baseline="-25000" dirty="0" smtClean="0"/>
              <a:t>0</a:t>
            </a:r>
            <a:r>
              <a:rPr lang="en-US" altLang="zh-CN" dirty="0" smtClean="0"/>
              <a:t>)</a:t>
            </a:r>
            <a:r>
              <a:rPr lang="zh-CN" altLang="en-US" dirty="0" smtClean="0"/>
              <a:t>与</a:t>
            </a:r>
            <a:r>
              <a:rPr lang="en-US" altLang="zh-CN" i="1" dirty="0" smtClean="0"/>
              <a:t>f’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x</a:t>
            </a:r>
            <a:r>
              <a:rPr lang="en-US" altLang="zh-CN" baseline="-25000" dirty="0" smtClean="0"/>
              <a:t>0</a:t>
            </a:r>
            <a:r>
              <a:rPr lang="en-US" altLang="zh-CN" dirty="0" smtClean="0"/>
              <a:t>)</a:t>
            </a:r>
            <a:r>
              <a:rPr lang="zh-CN" altLang="en-US" dirty="0" smtClean="0"/>
              <a:t>较易求得时应用</a:t>
            </a:r>
            <a:r>
              <a:rPr lang="en-US" altLang="zh-CN" dirty="0" smtClean="0"/>
              <a:t>.</a:t>
            </a:r>
          </a:p>
          <a:p>
            <a:pPr lvl="1"/>
            <a:r>
              <a:rPr lang="zh-CN" altLang="en-US" dirty="0" smtClean="0"/>
              <a:t>条件是</a:t>
            </a:r>
            <a:r>
              <a:rPr lang="en-US" altLang="zh-CN" i="1" dirty="0" smtClean="0"/>
              <a:t>x</a:t>
            </a:r>
            <a:r>
              <a:rPr lang="zh-CN" altLang="en-US" dirty="0" smtClean="0"/>
              <a:t>与</a:t>
            </a:r>
            <a:r>
              <a:rPr lang="en-US" altLang="zh-CN" i="1" dirty="0" smtClean="0"/>
              <a:t>x</a:t>
            </a:r>
            <a:r>
              <a:rPr lang="en-US" altLang="zh-CN" baseline="-25000" dirty="0" smtClean="0"/>
              <a:t>0</a:t>
            </a:r>
            <a:r>
              <a:rPr lang="zh-CN" altLang="en-US" dirty="0" smtClean="0"/>
              <a:t>充分接近</a:t>
            </a:r>
            <a:r>
              <a:rPr lang="en-US" altLang="zh-CN" dirty="0" smtClean="0"/>
              <a:t>,</a:t>
            </a:r>
            <a:r>
              <a:rPr lang="zh-CN" altLang="en-US" dirty="0" smtClean="0"/>
              <a:t>即可达到一定的精度 </a:t>
            </a:r>
          </a:p>
          <a:p>
            <a:r>
              <a:rPr lang="zh-CN" altLang="en-US" dirty="0" smtClean="0"/>
              <a:t>上述公式在     很小时</a:t>
            </a:r>
          </a:p>
          <a:p>
            <a:pPr>
              <a:buFont typeface="Wingdings" pitchFamily="2" charset="2"/>
              <a:buNone/>
            </a:pPr>
            <a:r>
              <a:rPr lang="zh-CN" altLang="en-US" dirty="0" smtClean="0"/>
              <a:t>于是                             即                           与      在      处函数值相等且一阶导数相等 </a:t>
            </a:r>
          </a:p>
          <a:p>
            <a:pPr>
              <a:buFont typeface="Wingdings" pitchFamily="2" charset="2"/>
              <a:buNone/>
            </a:pPr>
            <a:r>
              <a:rPr lang="zh-CN" altLang="en-US" dirty="0" smtClean="0"/>
              <a:t>为进一步提高精度</a:t>
            </a:r>
            <a:r>
              <a:rPr lang="en-US" altLang="zh-CN" dirty="0" smtClean="0"/>
              <a:t>,</a:t>
            </a:r>
            <a:r>
              <a:rPr lang="zh-CN" altLang="en-US" dirty="0" smtClean="0"/>
              <a:t>类推</a:t>
            </a:r>
            <a:r>
              <a:rPr lang="en-US" altLang="zh-CN" dirty="0" smtClean="0"/>
              <a:t>: </a:t>
            </a:r>
            <a:r>
              <a:rPr lang="zh-CN" altLang="en-US" dirty="0" smtClean="0"/>
              <a:t> </a:t>
            </a:r>
          </a:p>
        </p:txBody>
      </p:sp>
      <p:graphicFrame>
        <p:nvGraphicFramePr>
          <p:cNvPr id="11266" name="Object 26"/>
          <p:cNvGraphicFramePr>
            <a:graphicFrameLocks noChangeAspect="1"/>
          </p:cNvGraphicFramePr>
          <p:nvPr/>
        </p:nvGraphicFramePr>
        <p:xfrm>
          <a:off x="1152525" y="1746250"/>
          <a:ext cx="960438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12" name="公式" r:id="rId3" imgW="520560" imgH="177480" progId="Equation.3">
                  <p:embed/>
                </p:oleObj>
              </mc:Choice>
              <mc:Fallback>
                <p:oleObj name="公式" r:id="rId3" imgW="520560" imgH="17748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2525" y="1746250"/>
                        <a:ext cx="960438" cy="336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7" name="Object 28"/>
          <p:cNvGraphicFramePr>
            <a:graphicFrameLocks noChangeAspect="1"/>
          </p:cNvGraphicFramePr>
          <p:nvPr/>
        </p:nvGraphicFramePr>
        <p:xfrm>
          <a:off x="2473327" y="1674813"/>
          <a:ext cx="982663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13" name="公式" r:id="rId5" imgW="419040" imgH="177480" progId="Equation.3">
                  <p:embed/>
                </p:oleObj>
              </mc:Choice>
              <mc:Fallback>
                <p:oleObj name="公式" r:id="rId5" imgW="419040" imgH="17748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3327" y="1674813"/>
                        <a:ext cx="982663" cy="412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8" name="Object 30"/>
          <p:cNvGraphicFramePr>
            <a:graphicFrameLocks noChangeAspect="1"/>
          </p:cNvGraphicFramePr>
          <p:nvPr/>
        </p:nvGraphicFramePr>
        <p:xfrm>
          <a:off x="4103688" y="1674815"/>
          <a:ext cx="340995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14" name="公式" r:id="rId7" imgW="1523880" imgH="203040" progId="Equation.3">
                  <p:embed/>
                </p:oleObj>
              </mc:Choice>
              <mc:Fallback>
                <p:oleObj name="公式" r:id="rId7" imgW="1523880" imgH="20304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3688" y="1674815"/>
                        <a:ext cx="3409950" cy="447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9" name="Object 32"/>
          <p:cNvGraphicFramePr>
            <a:graphicFrameLocks noChangeAspect="1"/>
          </p:cNvGraphicFramePr>
          <p:nvPr/>
        </p:nvGraphicFramePr>
        <p:xfrm>
          <a:off x="1257300" y="2205038"/>
          <a:ext cx="5907088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15" name="公式" r:id="rId9" imgW="2730240" imgH="228600" progId="Equation.3">
                  <p:embed/>
                </p:oleObj>
              </mc:Choice>
              <mc:Fallback>
                <p:oleObj name="公式" r:id="rId9" imgW="2730240" imgH="22860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7300" y="2205038"/>
                        <a:ext cx="5907088" cy="4953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0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8649283"/>
              </p:ext>
            </p:extLst>
          </p:nvPr>
        </p:nvGraphicFramePr>
        <p:xfrm>
          <a:off x="2627786" y="4221090"/>
          <a:ext cx="312737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16" name="公式" r:id="rId11" imgW="190440" imgH="241200" progId="Equation.3">
                  <p:embed/>
                </p:oleObj>
              </mc:Choice>
              <mc:Fallback>
                <p:oleObj name="公式" r:id="rId11" imgW="190440" imgH="24120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786" y="4221090"/>
                        <a:ext cx="312737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1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3805766"/>
              </p:ext>
            </p:extLst>
          </p:nvPr>
        </p:nvGraphicFramePr>
        <p:xfrm>
          <a:off x="4211962" y="4293098"/>
          <a:ext cx="2841625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17" name="公式" r:id="rId13" imgW="1777680" imgH="215640" progId="Equation.3">
                  <p:embed/>
                </p:oleObj>
              </mc:Choice>
              <mc:Fallback>
                <p:oleObj name="公式" r:id="rId13" imgW="1777680" imgH="21564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962" y="4293098"/>
                        <a:ext cx="2841625" cy="350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2" name="Object 38"/>
          <p:cNvGraphicFramePr>
            <a:graphicFrameLocks noChangeAspect="1"/>
          </p:cNvGraphicFramePr>
          <p:nvPr/>
        </p:nvGraphicFramePr>
        <p:xfrm>
          <a:off x="1116015" y="4724402"/>
          <a:ext cx="2592387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18" name="公式" r:id="rId15" imgW="1358640" imgH="215640" progId="Equation.3">
                  <p:embed/>
                </p:oleObj>
              </mc:Choice>
              <mc:Fallback>
                <p:oleObj name="公式" r:id="rId15" imgW="1358640" imgH="21564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5" y="4724402"/>
                        <a:ext cx="2592387" cy="417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3" name="Object 40"/>
          <p:cNvGraphicFramePr>
            <a:graphicFrameLocks noChangeAspect="1"/>
          </p:cNvGraphicFramePr>
          <p:nvPr/>
        </p:nvGraphicFramePr>
        <p:xfrm>
          <a:off x="4140200" y="4724402"/>
          <a:ext cx="2376488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19" name="公式" r:id="rId17" imgW="1206360" imgH="215640" progId="Equation.3">
                  <p:embed/>
                </p:oleObj>
              </mc:Choice>
              <mc:Fallback>
                <p:oleObj name="公式" r:id="rId17" imgW="1206360" imgH="21564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4724402"/>
                        <a:ext cx="2376488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4" name="Object 42"/>
          <p:cNvGraphicFramePr>
            <a:graphicFrameLocks noChangeAspect="1"/>
          </p:cNvGraphicFramePr>
          <p:nvPr/>
        </p:nvGraphicFramePr>
        <p:xfrm>
          <a:off x="6877052" y="4797427"/>
          <a:ext cx="588963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20" name="公式" r:id="rId19" imgW="355320" imgH="215640" progId="Equation.3">
                  <p:embed/>
                </p:oleObj>
              </mc:Choice>
              <mc:Fallback>
                <p:oleObj name="公式" r:id="rId19" imgW="355320" imgH="215640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7052" y="4797427"/>
                        <a:ext cx="588963" cy="360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5" name="Object 44"/>
          <p:cNvGraphicFramePr>
            <a:graphicFrameLocks noChangeAspect="1"/>
          </p:cNvGraphicFramePr>
          <p:nvPr/>
        </p:nvGraphicFramePr>
        <p:xfrm>
          <a:off x="7812090" y="4797425"/>
          <a:ext cx="746125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21" name="公式" r:id="rId21" imgW="368280" imgH="177480" progId="Equation.3">
                  <p:embed/>
                </p:oleObj>
              </mc:Choice>
              <mc:Fallback>
                <p:oleObj name="公式" r:id="rId21" imgW="368280" imgH="177480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090" y="4797425"/>
                        <a:ext cx="746125" cy="369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6" name="Object 46"/>
          <p:cNvGraphicFramePr>
            <a:graphicFrameLocks noChangeAspect="1"/>
          </p:cNvGraphicFramePr>
          <p:nvPr/>
        </p:nvGraphicFramePr>
        <p:xfrm>
          <a:off x="946152" y="5808665"/>
          <a:ext cx="7370763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22" name="公式" r:id="rId23" imgW="3543120" imgH="419040" progId="Equation.3">
                  <p:embed/>
                </p:oleObj>
              </mc:Choice>
              <mc:Fallback>
                <p:oleObj name="公式" r:id="rId23" imgW="3543120" imgH="419040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6152" y="5808665"/>
                        <a:ext cx="7370763" cy="871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2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12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128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1F8C7242-3A8B-4DC5-A7B8-8A987E49067B}" type="slidenum">
              <a:rPr lang="zh-CN" altLang="en-US"/>
              <a:pPr/>
              <a:t>44</a:t>
            </a:fld>
            <a:endParaRPr lang="en-US" altLang="zh-CN"/>
          </a:p>
        </p:txBody>
      </p:sp>
      <p:sp>
        <p:nvSpPr>
          <p:cNvPr id="81923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DCDED43C-B448-4E4D-ADCE-EE4DAEA17454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514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>
                <a:latin typeface="Times New Roman" pitchFamily="18" charset="0"/>
              </a:rPr>
              <a:t>2.5  迭代序列的误差估计</a:t>
            </a:r>
          </a:p>
        </p:txBody>
      </p:sp>
      <p:sp>
        <p:nvSpPr>
          <p:cNvPr id="819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292225"/>
            <a:ext cx="8142288" cy="2542234"/>
          </a:xfrm>
        </p:spPr>
        <p:txBody>
          <a:bodyPr/>
          <a:lstStyle/>
          <a:p>
            <a:r>
              <a:rPr lang="zh-CN" altLang="en-US" dirty="0" smtClean="0"/>
              <a:t>1.迭代终止条件</a:t>
            </a:r>
          </a:p>
          <a:p>
            <a:pPr lvl="1"/>
            <a:r>
              <a:rPr lang="zh-CN" altLang="en-US" dirty="0" smtClean="0"/>
              <a:t>当 |</a:t>
            </a:r>
            <a:r>
              <a:rPr lang="en-US" altLang="zh-CN" i="1" dirty="0" smtClean="0"/>
              <a:t>x</a:t>
            </a:r>
            <a:r>
              <a:rPr lang="en-US" altLang="zh-CN" i="1" baseline="-25000" dirty="0" smtClean="0"/>
              <a:t>n</a:t>
            </a:r>
            <a:r>
              <a:rPr lang="en-US" altLang="zh-CN" baseline="-25000" dirty="0" smtClean="0"/>
              <a:t>+1</a:t>
            </a:r>
            <a:r>
              <a:rPr lang="en-US" altLang="zh-CN" dirty="0" smtClean="0"/>
              <a:t>- </a:t>
            </a:r>
            <a:r>
              <a:rPr lang="en-US" altLang="zh-CN" dirty="0" smtClean="0">
                <a:sym typeface="Symbol" pitchFamily="18" charset="2"/>
              </a:rPr>
              <a:t></a:t>
            </a:r>
            <a:r>
              <a:rPr lang="en-US" altLang="zh-CN" i="1" dirty="0" smtClean="0"/>
              <a:t> </a:t>
            </a:r>
            <a:r>
              <a:rPr lang="en-US" altLang="zh-CN" dirty="0" smtClean="0"/>
              <a:t>|&lt;</a:t>
            </a:r>
            <a:r>
              <a:rPr lang="en-US" altLang="zh-CN" dirty="0" smtClean="0">
                <a:latin typeface="宋体" pitchFamily="2" charset="-122"/>
              </a:rPr>
              <a:t>ε</a:t>
            </a:r>
            <a:r>
              <a:rPr lang="zh-CN" altLang="en-US" dirty="0" smtClean="0">
                <a:latin typeface="宋体" pitchFamily="2" charset="-122"/>
              </a:rPr>
              <a:t>时</a:t>
            </a:r>
            <a:r>
              <a:rPr lang="en-US" altLang="zh-CN" dirty="0" smtClean="0">
                <a:latin typeface="宋体" pitchFamily="2" charset="-122"/>
              </a:rPr>
              <a:t>, </a:t>
            </a:r>
            <a:r>
              <a:rPr lang="en-US" altLang="zh-CN" i="1" dirty="0" smtClean="0">
                <a:solidFill>
                  <a:srgbClr val="C00000"/>
                </a:solidFill>
              </a:rPr>
              <a:t>x</a:t>
            </a:r>
            <a:r>
              <a:rPr lang="en-US" altLang="zh-CN" i="1" baseline="-25000" dirty="0" smtClean="0">
                <a:solidFill>
                  <a:srgbClr val="C00000"/>
                </a:solidFill>
              </a:rPr>
              <a:t>n</a:t>
            </a:r>
            <a:r>
              <a:rPr lang="en-US" altLang="zh-CN" baseline="-25000" dirty="0" smtClean="0">
                <a:solidFill>
                  <a:srgbClr val="C00000"/>
                </a:solidFill>
              </a:rPr>
              <a:t>+1</a:t>
            </a:r>
            <a:r>
              <a:rPr lang="zh-CN" altLang="en-US" dirty="0" smtClean="0">
                <a:solidFill>
                  <a:srgbClr val="C00000"/>
                </a:solidFill>
                <a:latin typeface="华文行楷" pitchFamily="2" charset="-122"/>
                <a:ea typeface="华文行楷" pitchFamily="2" charset="-122"/>
              </a:rPr>
              <a:t>即为所求得的近似值</a:t>
            </a:r>
          </a:p>
          <a:p>
            <a:endParaRPr lang="en-US" altLang="zh-CN" dirty="0" smtClean="0">
              <a:latin typeface="宋体" pitchFamily="2" charset="-122"/>
            </a:endParaRPr>
          </a:p>
          <a:p>
            <a:r>
              <a:rPr lang="zh-CN" altLang="en-US" dirty="0" smtClean="0">
                <a:latin typeface="宋体" pitchFamily="2" charset="-122"/>
              </a:rPr>
              <a:t>2.引申迭代终止条件(上界公式)</a:t>
            </a:r>
          </a:p>
          <a:p>
            <a:pPr lvl="1"/>
            <a:r>
              <a:rPr lang="zh-CN" altLang="en-US" dirty="0" smtClean="0">
                <a:solidFill>
                  <a:srgbClr val="C00000"/>
                </a:solidFill>
              </a:rPr>
              <a:t>上界公式</a:t>
            </a:r>
            <a:r>
              <a:rPr lang="zh-CN" altLang="zh-CN" dirty="0" smtClean="0">
                <a:solidFill>
                  <a:srgbClr val="C00000"/>
                </a:solidFill>
              </a:rPr>
              <a:t>&lt; </a:t>
            </a:r>
            <a:r>
              <a:rPr lang="en-US" altLang="zh-CN" dirty="0" smtClean="0">
                <a:solidFill>
                  <a:srgbClr val="C00000"/>
                </a:solidFill>
                <a:sym typeface="Symbol" pitchFamily="18" charset="2"/>
              </a:rPr>
              <a:t>     </a:t>
            </a:r>
            <a:r>
              <a:rPr lang="zh-CN" altLang="en-US" dirty="0" smtClean="0"/>
              <a:t>称为</a:t>
            </a:r>
            <a:r>
              <a:rPr lang="zh-CN" altLang="en-US" u="sng" dirty="0" smtClean="0"/>
              <a:t>迭代终止的判断条件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8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0B73FAE8-E182-4145-8C20-78F035FE3CAE}" type="slidenum">
              <a:rPr lang="zh-CN" altLang="en-US"/>
              <a:pPr/>
              <a:t>45</a:t>
            </a:fld>
            <a:endParaRPr lang="en-US" altLang="zh-CN"/>
          </a:p>
        </p:txBody>
      </p:sp>
      <p:sp>
        <p:nvSpPr>
          <p:cNvPr id="12299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8BB6AC14-E1C1-4F95-812E-5E08A3525232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512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>
                <a:latin typeface="Times New Roman" pitchFamily="18" charset="0"/>
              </a:rPr>
              <a:t>2.5  迭代序列的误差估计</a:t>
            </a:r>
            <a:endParaRPr lang="zh-CN" altLang="en-US" smtClean="0"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graphicFrame>
        <p:nvGraphicFramePr>
          <p:cNvPr id="512004" name="Object 4"/>
          <p:cNvGraphicFramePr>
            <a:graphicFrameLocks noChangeAspect="1"/>
          </p:cNvGraphicFramePr>
          <p:nvPr/>
        </p:nvGraphicFramePr>
        <p:xfrm>
          <a:off x="806450" y="1066800"/>
          <a:ext cx="5137150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7" name="公式" r:id="rId4" imgW="1828800" imgH="419040" progId="Equation.3">
                  <p:embed/>
                </p:oleObj>
              </mc:Choice>
              <mc:Fallback>
                <p:oleObj name="公式" r:id="rId4" imgW="1828800" imgH="419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6450" y="1066800"/>
                        <a:ext cx="5137150" cy="1017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05" name="Object 5"/>
          <p:cNvGraphicFramePr>
            <a:graphicFrameLocks noChangeAspect="1"/>
          </p:cNvGraphicFramePr>
          <p:nvPr/>
        </p:nvGraphicFramePr>
        <p:xfrm>
          <a:off x="844550" y="2057400"/>
          <a:ext cx="4999038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8" name="公式" r:id="rId6" imgW="2108160" imgH="228600" progId="Equation.3">
                  <p:embed/>
                </p:oleObj>
              </mc:Choice>
              <mc:Fallback>
                <p:oleObj name="公式" r:id="rId6" imgW="210816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550" y="2057400"/>
                        <a:ext cx="4999038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06" name="Object 6"/>
          <p:cNvGraphicFramePr>
            <a:graphicFrameLocks noChangeAspect="1"/>
          </p:cNvGraphicFramePr>
          <p:nvPr/>
        </p:nvGraphicFramePr>
        <p:xfrm>
          <a:off x="2057400" y="2608265"/>
          <a:ext cx="6019800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9" name="公式" r:id="rId8" imgW="2273040" imgH="228600" progId="Equation.3">
                  <p:embed/>
                </p:oleObj>
              </mc:Choice>
              <mc:Fallback>
                <p:oleObj name="公式" r:id="rId8" imgW="227304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608265"/>
                        <a:ext cx="6019800" cy="592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07" name="Object 7"/>
          <p:cNvGraphicFramePr>
            <a:graphicFrameLocks noChangeAspect="1"/>
          </p:cNvGraphicFramePr>
          <p:nvPr/>
        </p:nvGraphicFramePr>
        <p:xfrm>
          <a:off x="2057402" y="4003677"/>
          <a:ext cx="5942013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0" name="公式" r:id="rId10" imgW="2438280" imgH="228600" progId="Equation.3">
                  <p:embed/>
                </p:oleObj>
              </mc:Choice>
              <mc:Fallback>
                <p:oleObj name="公式" r:id="rId10" imgW="243828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2" y="4003677"/>
                        <a:ext cx="5942013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08" name="Object 8"/>
          <p:cNvGraphicFramePr>
            <a:graphicFrameLocks noChangeAspect="1"/>
          </p:cNvGraphicFramePr>
          <p:nvPr/>
        </p:nvGraphicFramePr>
        <p:xfrm>
          <a:off x="1143002" y="4724400"/>
          <a:ext cx="644842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1" name="公式" r:id="rId12" imgW="2730240" imgH="228600" progId="Equation.3">
                  <p:embed/>
                </p:oleObj>
              </mc:Choice>
              <mc:Fallback>
                <p:oleObj name="公式" r:id="rId12" imgW="273024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2" y="4724400"/>
                        <a:ext cx="6448425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09" name="Object 9"/>
          <p:cNvGraphicFramePr>
            <a:graphicFrameLocks noChangeAspect="1"/>
          </p:cNvGraphicFramePr>
          <p:nvPr/>
        </p:nvGraphicFramePr>
        <p:xfrm>
          <a:off x="2057400" y="3316288"/>
          <a:ext cx="6019800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2" name="公式" r:id="rId14" imgW="2412720" imgH="228600" progId="Equation.3">
                  <p:embed/>
                </p:oleObj>
              </mc:Choice>
              <mc:Fallback>
                <p:oleObj name="公式" r:id="rId14" imgW="241272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316288"/>
                        <a:ext cx="6019800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10" name="Object 10"/>
          <p:cNvGraphicFramePr>
            <a:graphicFrameLocks noChangeAspect="1"/>
          </p:cNvGraphicFramePr>
          <p:nvPr/>
        </p:nvGraphicFramePr>
        <p:xfrm>
          <a:off x="457200" y="5200650"/>
          <a:ext cx="4724400" cy="127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3" name="公式" r:id="rId16" imgW="2197080" imgH="482400" progId="Equation.3">
                  <p:embed/>
                </p:oleObj>
              </mc:Choice>
              <mc:Fallback>
                <p:oleObj name="公式" r:id="rId16" imgW="2197080" imgH="4824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5200650"/>
                        <a:ext cx="4724400" cy="1276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11" name="Object 11"/>
          <p:cNvGraphicFramePr>
            <a:graphicFrameLocks noChangeAspect="1"/>
          </p:cNvGraphicFramePr>
          <p:nvPr/>
        </p:nvGraphicFramePr>
        <p:xfrm>
          <a:off x="5108577" y="5345115"/>
          <a:ext cx="3578225" cy="1074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4" name="Equation" r:id="rId18" imgW="1498320" imgH="419040" progId="Equation.3">
                  <p:embed/>
                </p:oleObj>
              </mc:Choice>
              <mc:Fallback>
                <p:oleObj name="Equation" r:id="rId18" imgW="1498320" imgH="4190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8577" y="5345115"/>
                        <a:ext cx="3578225" cy="1074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直接连接符 2"/>
          <p:cNvCxnSpPr/>
          <p:nvPr/>
        </p:nvCxnSpPr>
        <p:spPr bwMode="auto">
          <a:xfrm>
            <a:off x="2339752" y="3140968"/>
            <a:ext cx="1512168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直接连接符 14"/>
          <p:cNvCxnSpPr/>
          <p:nvPr/>
        </p:nvCxnSpPr>
        <p:spPr bwMode="auto">
          <a:xfrm>
            <a:off x="5292080" y="3125079"/>
            <a:ext cx="1512168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2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12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12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12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12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512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512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512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0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77B9AD8D-632D-4FFD-8B5B-0C7DD8605CB8}" type="slidenum">
              <a:rPr lang="zh-CN" altLang="en-US"/>
              <a:pPr/>
              <a:t>46</a:t>
            </a:fld>
            <a:endParaRPr lang="en-US" altLang="zh-CN"/>
          </a:p>
        </p:txBody>
      </p:sp>
      <p:sp>
        <p:nvSpPr>
          <p:cNvPr id="13321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512ADB90-8826-44DC-9E29-485A9DDF5D4D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258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>
                <a:latin typeface="Times New Roman" pitchFamily="18" charset="0"/>
              </a:rPr>
              <a:t>2.5  迭代序列的误差估计</a:t>
            </a:r>
          </a:p>
        </p:txBody>
      </p:sp>
      <p:graphicFrame>
        <p:nvGraphicFramePr>
          <p:cNvPr id="25806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4896865"/>
              </p:ext>
            </p:extLst>
          </p:nvPr>
        </p:nvGraphicFramePr>
        <p:xfrm>
          <a:off x="533402" y="908720"/>
          <a:ext cx="7845425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40" name="Equation" r:id="rId4" imgW="3288960" imgH="419040" progId="Equation.3">
                  <p:embed/>
                </p:oleObj>
              </mc:Choice>
              <mc:Fallback>
                <p:oleObj name="Equation" r:id="rId4" imgW="3288960" imgH="4190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2" y="908720"/>
                        <a:ext cx="7845425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806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5678621"/>
              </p:ext>
            </p:extLst>
          </p:nvPr>
        </p:nvGraphicFramePr>
        <p:xfrm>
          <a:off x="838200" y="1735749"/>
          <a:ext cx="5173960" cy="885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41" name="公式" r:id="rId6" imgW="2400120" imgH="419040" progId="Equation.3">
                  <p:embed/>
                </p:oleObj>
              </mc:Choice>
              <mc:Fallback>
                <p:oleObj name="公式" r:id="rId6" imgW="2400120" imgH="41904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735749"/>
                        <a:ext cx="5173960" cy="8850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806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8284740"/>
              </p:ext>
            </p:extLst>
          </p:nvPr>
        </p:nvGraphicFramePr>
        <p:xfrm>
          <a:off x="827584" y="2615868"/>
          <a:ext cx="6402288" cy="52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42" name="公式" r:id="rId8" imgW="2895480" imgH="253800" progId="Equation.3">
                  <p:embed/>
                </p:oleObj>
              </mc:Choice>
              <mc:Fallback>
                <p:oleObj name="公式" r:id="rId8" imgW="2895480" imgH="2538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2615868"/>
                        <a:ext cx="6402288" cy="525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8064" name="Object 16"/>
          <p:cNvGraphicFramePr>
            <a:graphicFrameLocks noChangeAspect="1"/>
          </p:cNvGraphicFramePr>
          <p:nvPr/>
        </p:nvGraphicFramePr>
        <p:xfrm>
          <a:off x="623890" y="3276600"/>
          <a:ext cx="7615237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43" name="Equation" r:id="rId10" imgW="3085920" imgH="660240" progId="Equation.3">
                  <p:embed/>
                </p:oleObj>
              </mc:Choice>
              <mc:Fallback>
                <p:oleObj name="Equation" r:id="rId10" imgW="3085920" imgH="66024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890" y="3276600"/>
                        <a:ext cx="7615237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8065" name="Rectangle 17"/>
          <p:cNvSpPr>
            <a:spLocks noGrp="1" noChangeArrowheads="1"/>
          </p:cNvSpPr>
          <p:nvPr>
            <p:ph type="body" idx="1"/>
          </p:nvPr>
        </p:nvSpPr>
        <p:spPr>
          <a:xfrm>
            <a:off x="457200" y="4949827"/>
            <a:ext cx="8142288" cy="384175"/>
          </a:xfrm>
          <a:noFill/>
        </p:spPr>
        <p:txBody>
          <a:bodyPr/>
          <a:lstStyle/>
          <a:p>
            <a:r>
              <a:rPr lang="zh-CN" altLang="en-US" smtClean="0"/>
              <a:t>按相对误差限来控制</a:t>
            </a:r>
          </a:p>
        </p:txBody>
      </p:sp>
      <p:graphicFrame>
        <p:nvGraphicFramePr>
          <p:cNvPr id="258066" name="Object 18"/>
          <p:cNvGraphicFramePr>
            <a:graphicFrameLocks noChangeAspect="1"/>
          </p:cNvGraphicFramePr>
          <p:nvPr/>
        </p:nvGraphicFramePr>
        <p:xfrm>
          <a:off x="2667000" y="5410200"/>
          <a:ext cx="3638550" cy="1068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44" name="公式" r:id="rId12" imgW="1638000" imgH="482400" progId="Equation.3">
                  <p:embed/>
                </p:oleObj>
              </mc:Choice>
              <mc:Fallback>
                <p:oleObj name="公式" r:id="rId12" imgW="1638000" imgH="4824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5410200"/>
                        <a:ext cx="3638550" cy="1068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1"/>
          <p:cNvGraphicFramePr>
            <a:graphicFrameLocks noChangeAspect="1"/>
          </p:cNvGraphicFramePr>
          <p:nvPr/>
        </p:nvGraphicFramePr>
        <p:xfrm>
          <a:off x="4710115" y="4162427"/>
          <a:ext cx="3070225" cy="104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45" name="Equation" r:id="rId14" imgW="1244520" imgH="431640" progId="Equation.3">
                  <p:embed/>
                </p:oleObj>
              </mc:Choice>
              <mc:Fallback>
                <p:oleObj name="Equation" r:id="rId14" imgW="1244520" imgH="4316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0115" y="4162427"/>
                        <a:ext cx="3070225" cy="1046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58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58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58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58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75"/>
                                        <p:tgtEl>
                                          <p:spTgt spid="2580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675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58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8065" grpId="0" build="p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7BC3ADD0-7848-427F-8EBC-6E8265B5C950}" type="slidenum">
              <a:rPr lang="zh-CN" altLang="en-US"/>
              <a:pPr/>
              <a:t>47</a:t>
            </a:fld>
            <a:endParaRPr lang="en-US" altLang="zh-CN"/>
          </a:p>
        </p:txBody>
      </p:sp>
      <p:sp>
        <p:nvSpPr>
          <p:cNvPr id="82947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414308B0-E061-40E1-BD6A-E5283EBBB828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260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>
                <a:latin typeface="Times New Roman" pitchFamily="18" charset="0"/>
              </a:rPr>
              <a:t>2.5  迭代序列的误差估计</a:t>
            </a:r>
          </a:p>
        </p:txBody>
      </p:sp>
      <p:sp>
        <p:nvSpPr>
          <p:cNvPr id="8294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292227"/>
            <a:ext cx="8142288" cy="384175"/>
          </a:xfrm>
        </p:spPr>
        <p:txBody>
          <a:bodyPr/>
          <a:lstStyle/>
          <a:p>
            <a:r>
              <a:rPr lang="zh-CN" altLang="en-US" smtClean="0"/>
              <a:t>当</a:t>
            </a:r>
            <a:r>
              <a:rPr lang="en-US" altLang="zh-CN" i="1" smtClean="0"/>
              <a:t>q</a:t>
            </a:r>
            <a:r>
              <a:rPr lang="en-US" altLang="zh-CN" smtClean="0"/>
              <a:t>&gt;1</a:t>
            </a:r>
            <a:r>
              <a:rPr lang="zh-CN" altLang="en-US" smtClean="0"/>
              <a:t>时有可能出现假收敛的情况</a:t>
            </a:r>
            <a:endParaRPr lang="zh-CN" altLang="en-US" b="0" smtClean="0"/>
          </a:p>
        </p:txBody>
      </p:sp>
      <p:grpSp>
        <p:nvGrpSpPr>
          <p:cNvPr id="82950" name="Group 48"/>
          <p:cNvGrpSpPr>
            <a:grpSpLocks/>
          </p:cNvGrpSpPr>
          <p:nvPr/>
        </p:nvGrpSpPr>
        <p:grpSpPr bwMode="auto">
          <a:xfrm>
            <a:off x="900115" y="1773240"/>
            <a:ext cx="7339013" cy="4435475"/>
            <a:chOff x="384" y="1152"/>
            <a:chExt cx="4623" cy="2794"/>
          </a:xfrm>
        </p:grpSpPr>
        <p:sp>
          <p:nvSpPr>
            <p:cNvPr id="82951" name="Line 4"/>
            <p:cNvSpPr>
              <a:spLocks noChangeShapeType="1"/>
            </p:cNvSpPr>
            <p:nvPr/>
          </p:nvSpPr>
          <p:spPr bwMode="auto">
            <a:xfrm flipH="1">
              <a:off x="2788" y="2096"/>
              <a:ext cx="47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52" name="Line 5"/>
            <p:cNvSpPr>
              <a:spLocks noChangeShapeType="1"/>
            </p:cNvSpPr>
            <p:nvPr/>
          </p:nvSpPr>
          <p:spPr bwMode="auto">
            <a:xfrm>
              <a:off x="2856" y="2096"/>
              <a:ext cx="0" cy="17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53" name="Line 6"/>
            <p:cNvSpPr>
              <a:spLocks noChangeShapeType="1"/>
            </p:cNvSpPr>
            <p:nvPr/>
          </p:nvSpPr>
          <p:spPr bwMode="auto">
            <a:xfrm flipH="1">
              <a:off x="2582" y="2266"/>
              <a:ext cx="27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54" name="Line 7"/>
            <p:cNvSpPr>
              <a:spLocks noChangeShapeType="1"/>
            </p:cNvSpPr>
            <p:nvPr/>
          </p:nvSpPr>
          <p:spPr bwMode="auto">
            <a:xfrm>
              <a:off x="2582" y="2266"/>
              <a:ext cx="0" cy="17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55" name="Line 8"/>
            <p:cNvSpPr>
              <a:spLocks noChangeShapeType="1"/>
            </p:cNvSpPr>
            <p:nvPr/>
          </p:nvSpPr>
          <p:spPr bwMode="auto">
            <a:xfrm flipH="1">
              <a:off x="2377" y="2436"/>
              <a:ext cx="20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56" name="Line 9"/>
            <p:cNvSpPr>
              <a:spLocks noChangeShapeType="1"/>
            </p:cNvSpPr>
            <p:nvPr/>
          </p:nvSpPr>
          <p:spPr bwMode="auto">
            <a:xfrm>
              <a:off x="2377" y="2436"/>
              <a:ext cx="0" cy="2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57" name="Line 10"/>
            <p:cNvSpPr>
              <a:spLocks noChangeShapeType="1"/>
            </p:cNvSpPr>
            <p:nvPr/>
          </p:nvSpPr>
          <p:spPr bwMode="auto">
            <a:xfrm flipH="1">
              <a:off x="2172" y="2662"/>
              <a:ext cx="20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58" name="Line 11"/>
            <p:cNvSpPr>
              <a:spLocks noChangeShapeType="1"/>
            </p:cNvSpPr>
            <p:nvPr/>
          </p:nvSpPr>
          <p:spPr bwMode="auto">
            <a:xfrm>
              <a:off x="2172" y="2606"/>
              <a:ext cx="0" cy="45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59" name="Line 12"/>
            <p:cNvSpPr>
              <a:spLocks noChangeShapeType="1"/>
            </p:cNvSpPr>
            <p:nvPr/>
          </p:nvSpPr>
          <p:spPr bwMode="auto">
            <a:xfrm flipH="1">
              <a:off x="1624" y="3058"/>
              <a:ext cx="54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60" name="Line 13"/>
            <p:cNvSpPr>
              <a:spLocks noChangeShapeType="1"/>
            </p:cNvSpPr>
            <p:nvPr/>
          </p:nvSpPr>
          <p:spPr bwMode="auto">
            <a:xfrm>
              <a:off x="1291" y="3318"/>
              <a:ext cx="0" cy="283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61" name="Line 14"/>
            <p:cNvSpPr>
              <a:spLocks noChangeShapeType="1"/>
            </p:cNvSpPr>
            <p:nvPr/>
          </p:nvSpPr>
          <p:spPr bwMode="auto">
            <a:xfrm>
              <a:off x="2856" y="2266"/>
              <a:ext cx="0" cy="130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62" name="Line 15"/>
            <p:cNvSpPr>
              <a:spLocks noChangeShapeType="1"/>
            </p:cNvSpPr>
            <p:nvPr/>
          </p:nvSpPr>
          <p:spPr bwMode="auto">
            <a:xfrm>
              <a:off x="2582" y="2436"/>
              <a:ext cx="0" cy="113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63" name="Line 17"/>
            <p:cNvSpPr>
              <a:spLocks noChangeShapeType="1"/>
            </p:cNvSpPr>
            <p:nvPr/>
          </p:nvSpPr>
          <p:spPr bwMode="auto">
            <a:xfrm flipV="1">
              <a:off x="1008" y="1531"/>
              <a:ext cx="2464" cy="203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64" name="Freeform 20"/>
            <p:cNvSpPr>
              <a:spLocks/>
            </p:cNvSpPr>
            <p:nvPr/>
          </p:nvSpPr>
          <p:spPr bwMode="auto">
            <a:xfrm>
              <a:off x="1222" y="2104"/>
              <a:ext cx="2334" cy="1315"/>
            </a:xfrm>
            <a:custGeom>
              <a:avLst/>
              <a:gdLst>
                <a:gd name="T0" fmla="*/ 0 w 1637"/>
                <a:gd name="T1" fmla="*/ 1137 h 1116"/>
                <a:gd name="T2" fmla="*/ 113 w 1637"/>
                <a:gd name="T3" fmla="*/ 1230 h 1116"/>
                <a:gd name="T4" fmla="*/ 402 w 1637"/>
                <a:gd name="T5" fmla="*/ 1297 h 1116"/>
                <a:gd name="T6" fmla="*/ 709 w 1637"/>
                <a:gd name="T7" fmla="*/ 1230 h 1116"/>
                <a:gd name="T8" fmla="*/ 1086 w 1637"/>
                <a:gd name="T9" fmla="*/ 785 h 1116"/>
                <a:gd name="T10" fmla="*/ 1175 w 1637"/>
                <a:gd name="T11" fmla="*/ 606 h 1116"/>
                <a:gd name="T12" fmla="*/ 1360 w 1637"/>
                <a:gd name="T13" fmla="*/ 332 h 1116"/>
                <a:gd name="T14" fmla="*/ 1839 w 1637"/>
                <a:gd name="T15" fmla="*/ 49 h 1116"/>
                <a:gd name="T16" fmla="*/ 2334 w 1637"/>
                <a:gd name="T17" fmla="*/ 33 h 111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637"/>
                <a:gd name="T28" fmla="*/ 0 h 1116"/>
                <a:gd name="T29" fmla="*/ 1637 w 1637"/>
                <a:gd name="T30" fmla="*/ 1116 h 111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637" h="1116">
                  <a:moveTo>
                    <a:pt x="0" y="965"/>
                  </a:moveTo>
                  <a:cubicBezTo>
                    <a:pt x="13" y="978"/>
                    <a:pt x="32" y="1021"/>
                    <a:pt x="79" y="1044"/>
                  </a:cubicBezTo>
                  <a:cubicBezTo>
                    <a:pt x="126" y="1067"/>
                    <a:pt x="212" y="1101"/>
                    <a:pt x="282" y="1101"/>
                  </a:cubicBezTo>
                  <a:cubicBezTo>
                    <a:pt x="352" y="1101"/>
                    <a:pt x="417" y="1116"/>
                    <a:pt x="497" y="1044"/>
                  </a:cubicBezTo>
                  <a:cubicBezTo>
                    <a:pt x="577" y="972"/>
                    <a:pt x="708" y="754"/>
                    <a:pt x="762" y="666"/>
                  </a:cubicBezTo>
                  <a:cubicBezTo>
                    <a:pt x="816" y="578"/>
                    <a:pt x="792" y="578"/>
                    <a:pt x="824" y="514"/>
                  </a:cubicBezTo>
                  <a:cubicBezTo>
                    <a:pt x="856" y="450"/>
                    <a:pt x="876" y="361"/>
                    <a:pt x="954" y="282"/>
                  </a:cubicBezTo>
                  <a:cubicBezTo>
                    <a:pt x="1032" y="203"/>
                    <a:pt x="1176" y="84"/>
                    <a:pt x="1290" y="42"/>
                  </a:cubicBezTo>
                  <a:cubicBezTo>
                    <a:pt x="1404" y="0"/>
                    <a:pt x="1565" y="31"/>
                    <a:pt x="1637" y="28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65" name="Line 25"/>
            <p:cNvSpPr>
              <a:spLocks noChangeShapeType="1"/>
            </p:cNvSpPr>
            <p:nvPr/>
          </p:nvSpPr>
          <p:spPr bwMode="auto">
            <a:xfrm>
              <a:off x="2552" y="3600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66" name="Line 26"/>
            <p:cNvSpPr>
              <a:spLocks noChangeShapeType="1"/>
            </p:cNvSpPr>
            <p:nvPr/>
          </p:nvSpPr>
          <p:spPr bwMode="auto">
            <a:xfrm>
              <a:off x="2888" y="3600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67" name="Line 27"/>
            <p:cNvSpPr>
              <a:spLocks noChangeShapeType="1"/>
            </p:cNvSpPr>
            <p:nvPr/>
          </p:nvSpPr>
          <p:spPr bwMode="auto">
            <a:xfrm>
              <a:off x="1448" y="3744"/>
              <a:ext cx="11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68" name="Line 28"/>
            <p:cNvSpPr>
              <a:spLocks noChangeShapeType="1"/>
            </p:cNvSpPr>
            <p:nvPr/>
          </p:nvSpPr>
          <p:spPr bwMode="auto">
            <a:xfrm>
              <a:off x="2888" y="3744"/>
              <a:ext cx="115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69" name="Line 32"/>
            <p:cNvSpPr>
              <a:spLocks noChangeShapeType="1"/>
            </p:cNvSpPr>
            <p:nvPr/>
          </p:nvSpPr>
          <p:spPr bwMode="auto">
            <a:xfrm>
              <a:off x="384" y="3567"/>
              <a:ext cx="36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70" name="Line 33"/>
            <p:cNvSpPr>
              <a:spLocks noChangeShapeType="1"/>
            </p:cNvSpPr>
            <p:nvPr/>
          </p:nvSpPr>
          <p:spPr bwMode="auto">
            <a:xfrm flipV="1">
              <a:off x="1000" y="1248"/>
              <a:ext cx="0" cy="260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71" name="Text Box 37"/>
            <p:cNvSpPr txBox="1">
              <a:spLocks noChangeArrowheads="1"/>
            </p:cNvSpPr>
            <p:nvPr/>
          </p:nvSpPr>
          <p:spPr bwMode="auto">
            <a:xfrm>
              <a:off x="1104" y="1152"/>
              <a:ext cx="223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00" i="1">
                  <a:latin typeface="Times New Roman" pitchFamily="18" charset="0"/>
                </a:rPr>
                <a:t>y</a:t>
              </a:r>
              <a:endParaRPr lang="en-US" altLang="zh-CN" sz="3000">
                <a:latin typeface="Times New Roman" pitchFamily="18" charset="0"/>
              </a:endParaRPr>
            </a:p>
          </p:txBody>
        </p:sp>
        <p:sp>
          <p:nvSpPr>
            <p:cNvPr id="82972" name="Text Box 39"/>
            <p:cNvSpPr txBox="1">
              <a:spLocks noChangeArrowheads="1"/>
            </p:cNvSpPr>
            <p:nvPr/>
          </p:nvSpPr>
          <p:spPr bwMode="auto">
            <a:xfrm>
              <a:off x="4122" y="3456"/>
              <a:ext cx="236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00" i="1">
                  <a:latin typeface="Times New Roman" pitchFamily="18" charset="0"/>
                </a:rPr>
                <a:t>x</a:t>
              </a:r>
              <a:endParaRPr lang="en-US" altLang="zh-CN" sz="3000">
                <a:latin typeface="Times New Roman" pitchFamily="18" charset="0"/>
              </a:endParaRPr>
            </a:p>
          </p:txBody>
        </p:sp>
        <p:sp>
          <p:nvSpPr>
            <p:cNvPr id="82973" name="Text Box 40"/>
            <p:cNvSpPr txBox="1">
              <a:spLocks noChangeArrowheads="1"/>
            </p:cNvSpPr>
            <p:nvPr/>
          </p:nvSpPr>
          <p:spPr bwMode="auto">
            <a:xfrm>
              <a:off x="724" y="3547"/>
              <a:ext cx="236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300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82974" name="Text Box 41"/>
            <p:cNvSpPr txBox="1">
              <a:spLocks noChangeArrowheads="1"/>
            </p:cNvSpPr>
            <p:nvPr/>
          </p:nvSpPr>
          <p:spPr bwMode="auto">
            <a:xfrm>
              <a:off x="2612" y="3600"/>
              <a:ext cx="183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00" i="1">
                  <a:latin typeface="Times New Roman" pitchFamily="18" charset="0"/>
                </a:rPr>
                <a:t>l</a:t>
              </a:r>
              <a:endParaRPr lang="en-US" altLang="zh-CN" sz="3000">
                <a:latin typeface="Times New Roman" pitchFamily="18" charset="0"/>
              </a:endParaRPr>
            </a:p>
          </p:txBody>
        </p:sp>
        <p:sp>
          <p:nvSpPr>
            <p:cNvPr id="82975" name="Text Box 42"/>
            <p:cNvSpPr txBox="1">
              <a:spLocks noChangeArrowheads="1"/>
            </p:cNvSpPr>
            <p:nvPr/>
          </p:nvSpPr>
          <p:spPr bwMode="auto">
            <a:xfrm>
              <a:off x="1188" y="3552"/>
              <a:ext cx="268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3000">
                  <a:latin typeface="Times New Roman" pitchFamily="18" charset="0"/>
                  <a:sym typeface="Symbol" pitchFamily="18" charset="2"/>
                </a:rPr>
                <a:t></a:t>
              </a:r>
              <a:endParaRPr lang="zh-CN" altLang="en-US" sz="3000">
                <a:latin typeface="Times New Roman" pitchFamily="18" charset="0"/>
              </a:endParaRPr>
            </a:p>
          </p:txBody>
        </p:sp>
        <p:sp>
          <p:nvSpPr>
            <p:cNvPr id="82976" name="Text Box 43"/>
            <p:cNvSpPr txBox="1">
              <a:spLocks noChangeArrowheads="1"/>
            </p:cNvSpPr>
            <p:nvPr/>
          </p:nvSpPr>
          <p:spPr bwMode="auto">
            <a:xfrm>
              <a:off x="2112" y="3216"/>
              <a:ext cx="496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00" i="1">
                  <a:latin typeface="Times New Roman" pitchFamily="18" charset="0"/>
                </a:rPr>
                <a:t>x</a:t>
              </a:r>
              <a:r>
                <a:rPr lang="en-US" altLang="zh-CN" sz="3000" i="1" baseline="-25000">
                  <a:latin typeface="Times New Roman" pitchFamily="18" charset="0"/>
                </a:rPr>
                <a:t>n+1</a:t>
              </a:r>
              <a:endParaRPr lang="en-US" altLang="zh-CN" sz="3000">
                <a:latin typeface="Times New Roman" pitchFamily="18" charset="0"/>
              </a:endParaRPr>
            </a:p>
          </p:txBody>
        </p:sp>
        <p:sp>
          <p:nvSpPr>
            <p:cNvPr id="82977" name="Text Box 44"/>
            <p:cNvSpPr txBox="1">
              <a:spLocks noChangeArrowheads="1"/>
            </p:cNvSpPr>
            <p:nvPr/>
          </p:nvSpPr>
          <p:spPr bwMode="auto">
            <a:xfrm>
              <a:off x="2832" y="3216"/>
              <a:ext cx="325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00" i="1">
                  <a:latin typeface="Times New Roman" pitchFamily="18" charset="0"/>
                </a:rPr>
                <a:t>x</a:t>
              </a:r>
              <a:r>
                <a:rPr lang="en-US" altLang="zh-CN" sz="3000" i="1" baseline="-25000">
                  <a:latin typeface="Times New Roman" pitchFamily="18" charset="0"/>
                </a:rPr>
                <a:t>n</a:t>
              </a:r>
              <a:endParaRPr lang="en-US" altLang="zh-CN" sz="3000">
                <a:latin typeface="Times New Roman" pitchFamily="18" charset="0"/>
              </a:endParaRPr>
            </a:p>
          </p:txBody>
        </p:sp>
        <p:sp>
          <p:nvSpPr>
            <p:cNvPr id="82978" name="Text Box 46"/>
            <p:cNvSpPr txBox="1">
              <a:spLocks noChangeArrowheads="1"/>
            </p:cNvSpPr>
            <p:nvPr/>
          </p:nvSpPr>
          <p:spPr bwMode="auto">
            <a:xfrm>
              <a:off x="3662" y="1952"/>
              <a:ext cx="1345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200" i="1">
                  <a:solidFill>
                    <a:srgbClr val="0000FF"/>
                  </a:solidFill>
                  <a:latin typeface="Times New Roman" pitchFamily="18" charset="0"/>
                </a:rPr>
                <a:t>y</a:t>
              </a:r>
              <a:r>
                <a:rPr lang="en-US" altLang="zh-CN" sz="3200" baseline="-25000">
                  <a:solidFill>
                    <a:srgbClr val="0000FF"/>
                  </a:solidFill>
                </a:rPr>
                <a:t>2</a:t>
              </a:r>
              <a:r>
                <a:rPr lang="en-US" altLang="zh-CN" sz="3200">
                  <a:solidFill>
                    <a:srgbClr val="0000FF"/>
                  </a:solidFill>
                </a:rPr>
                <a:t>(</a:t>
              </a:r>
              <a:r>
                <a:rPr lang="en-US" altLang="zh-CN" sz="3200" i="1">
                  <a:solidFill>
                    <a:srgbClr val="0000FF"/>
                  </a:solidFill>
                  <a:latin typeface="Times New Roman" pitchFamily="18" charset="0"/>
                </a:rPr>
                <a:t>x</a:t>
              </a:r>
              <a:r>
                <a:rPr lang="en-US" altLang="zh-CN" sz="3200">
                  <a:solidFill>
                    <a:srgbClr val="0000FF"/>
                  </a:solidFill>
                </a:rPr>
                <a:t>)</a:t>
              </a:r>
              <a:r>
                <a:rPr lang="en-US" altLang="zh-CN" sz="3200" i="1">
                  <a:solidFill>
                    <a:srgbClr val="0000FF"/>
                  </a:solidFill>
                </a:rPr>
                <a:t>= </a:t>
              </a:r>
              <a:r>
                <a:rPr lang="en-US" altLang="zh-CN" sz="2800" i="1">
                  <a:solidFill>
                    <a:srgbClr val="0000FF"/>
                  </a:solidFill>
                  <a:latin typeface="Times New Roman" pitchFamily="18" charset="0"/>
                  <a:ea typeface="黑体" pitchFamily="49" charset="-122"/>
                  <a:sym typeface="Symbol" pitchFamily="18" charset="2"/>
                </a:rPr>
                <a:t></a:t>
              </a:r>
              <a:r>
                <a:rPr lang="en-US" altLang="zh-CN" sz="2800">
                  <a:solidFill>
                    <a:srgbClr val="0000FF"/>
                  </a:solidFill>
                  <a:latin typeface="Times New Roman" pitchFamily="18" charset="0"/>
                  <a:ea typeface="黑体" pitchFamily="49" charset="-122"/>
                </a:rPr>
                <a:t> </a:t>
              </a:r>
              <a:r>
                <a:rPr lang="en-US" altLang="zh-CN" sz="3200">
                  <a:solidFill>
                    <a:srgbClr val="0000FF"/>
                  </a:solidFill>
                  <a:latin typeface="Times New Roman" pitchFamily="18" charset="0"/>
                </a:rPr>
                <a:t>(</a:t>
              </a:r>
              <a:r>
                <a:rPr lang="en-US" altLang="zh-CN" sz="3200" i="1">
                  <a:solidFill>
                    <a:srgbClr val="0000FF"/>
                  </a:solidFill>
                  <a:latin typeface="Times New Roman" pitchFamily="18" charset="0"/>
                </a:rPr>
                <a:t>x)</a:t>
              </a:r>
              <a:endParaRPr lang="zh-CN" altLang="en-US" sz="3200" i="1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sp>
          <p:nvSpPr>
            <p:cNvPr id="82979" name="Rectangle 47"/>
            <p:cNvSpPr>
              <a:spLocks noChangeArrowheads="1"/>
            </p:cNvSpPr>
            <p:nvPr/>
          </p:nvSpPr>
          <p:spPr bwMode="auto">
            <a:xfrm>
              <a:off x="3592" y="1296"/>
              <a:ext cx="919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3000" i="1">
                  <a:solidFill>
                    <a:srgbClr val="FF3300"/>
                  </a:solidFill>
                  <a:latin typeface="Times New Roman" pitchFamily="18" charset="0"/>
                </a:rPr>
                <a:t>y</a:t>
              </a:r>
              <a:r>
                <a:rPr lang="en-US" altLang="zh-CN" sz="3000" i="1" baseline="-25000">
                  <a:solidFill>
                    <a:srgbClr val="FF3300"/>
                  </a:solidFill>
                </a:rPr>
                <a:t>1</a:t>
              </a:r>
              <a:r>
                <a:rPr lang="en-US" altLang="zh-CN" sz="3000" i="1">
                  <a:solidFill>
                    <a:srgbClr val="FF3300"/>
                  </a:solidFill>
                </a:rPr>
                <a:t>(</a:t>
              </a:r>
              <a:r>
                <a:rPr lang="en-US" altLang="zh-CN" sz="3000" i="1">
                  <a:solidFill>
                    <a:srgbClr val="FF3300"/>
                  </a:solidFill>
                  <a:latin typeface="Times New Roman" pitchFamily="18" charset="0"/>
                </a:rPr>
                <a:t>x</a:t>
              </a:r>
              <a:r>
                <a:rPr lang="en-US" altLang="zh-CN" sz="3000" i="1">
                  <a:solidFill>
                    <a:srgbClr val="FF3300"/>
                  </a:solidFill>
                </a:rPr>
                <a:t>)= </a:t>
              </a:r>
              <a:r>
                <a:rPr lang="en-US" altLang="zh-CN" sz="3000" i="1">
                  <a:solidFill>
                    <a:srgbClr val="FF3300"/>
                  </a:solidFill>
                  <a:latin typeface="Times New Roman" pitchFamily="18" charset="0"/>
                </a:rPr>
                <a:t>x</a:t>
              </a:r>
              <a:endParaRPr lang="zh-CN" altLang="en-US" sz="3000" i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</p:grpSp>
    </p:spTree>
  </p:cSld>
  <p:clrMapOvr>
    <a:masterClrMapping/>
  </p:clrMapOvr>
  <p:transition>
    <p:cover dir="lu"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4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A4FA7C10-55E6-4F71-98B4-9B26CB27DF5A}" type="slidenum">
              <a:rPr lang="zh-CN" altLang="en-US"/>
              <a:pPr/>
              <a:t>48</a:t>
            </a:fld>
            <a:endParaRPr lang="en-US" altLang="zh-CN"/>
          </a:p>
        </p:txBody>
      </p:sp>
      <p:sp>
        <p:nvSpPr>
          <p:cNvPr id="14345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366A6D95-B386-4298-BAD4-90A5141C3238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261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>
                <a:latin typeface="Times New Roman" pitchFamily="18" charset="0"/>
              </a:rPr>
              <a:t>2.5  迭代序列的误差估计</a:t>
            </a:r>
          </a:p>
        </p:txBody>
      </p:sp>
      <p:graphicFrame>
        <p:nvGraphicFramePr>
          <p:cNvPr id="261124" name="Object 4"/>
          <p:cNvGraphicFramePr>
            <a:graphicFrameLocks noChangeAspect="1"/>
          </p:cNvGraphicFramePr>
          <p:nvPr/>
        </p:nvGraphicFramePr>
        <p:xfrm>
          <a:off x="831850" y="1162050"/>
          <a:ext cx="3594100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64" name="Equation" r:id="rId4" imgW="1638000" imgH="444240" progId="Equation.3">
                  <p:embed/>
                </p:oleObj>
              </mc:Choice>
              <mc:Fallback>
                <p:oleObj name="Equation" r:id="rId4" imgW="1638000" imgH="4442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850" y="1162050"/>
                        <a:ext cx="3594100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25" name="Object 5"/>
          <p:cNvGraphicFramePr>
            <a:graphicFrameLocks noChangeAspect="1"/>
          </p:cNvGraphicFramePr>
          <p:nvPr/>
        </p:nvGraphicFramePr>
        <p:xfrm>
          <a:off x="838202" y="2514600"/>
          <a:ext cx="4060825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65" name="Equation" r:id="rId6" imgW="1663560" imgH="419040" progId="Equation.3">
                  <p:embed/>
                </p:oleObj>
              </mc:Choice>
              <mc:Fallback>
                <p:oleObj name="Equation" r:id="rId6" imgW="1663560" imgH="4190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2" y="2514600"/>
                        <a:ext cx="4060825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26" name="Object 6"/>
          <p:cNvGraphicFramePr>
            <a:graphicFrameLocks noChangeAspect="1"/>
          </p:cNvGraphicFramePr>
          <p:nvPr/>
        </p:nvGraphicFramePr>
        <p:xfrm>
          <a:off x="965200" y="3352800"/>
          <a:ext cx="7848600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66" name="公式" r:id="rId8" imgW="3213000" imgH="419040" progId="Equation.3">
                  <p:embed/>
                </p:oleObj>
              </mc:Choice>
              <mc:Fallback>
                <p:oleObj name="公式" r:id="rId8" imgW="3213000" imgH="4190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5200" y="3352800"/>
                        <a:ext cx="7848600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27" name="Object 7"/>
          <p:cNvGraphicFramePr>
            <a:graphicFrameLocks noChangeAspect="1"/>
          </p:cNvGraphicFramePr>
          <p:nvPr/>
        </p:nvGraphicFramePr>
        <p:xfrm>
          <a:off x="965200" y="4210052"/>
          <a:ext cx="2890838" cy="112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67" name="公式" r:id="rId10" imgW="1180800" imgH="444240" progId="Equation.3">
                  <p:embed/>
                </p:oleObj>
              </mc:Choice>
              <mc:Fallback>
                <p:oleObj name="公式" r:id="rId10" imgW="1180800" imgH="4442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5200" y="4210052"/>
                        <a:ext cx="2890838" cy="1122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28" name="Object 8"/>
          <p:cNvGraphicFramePr>
            <a:graphicFrameLocks noChangeAspect="1"/>
          </p:cNvGraphicFramePr>
          <p:nvPr/>
        </p:nvGraphicFramePr>
        <p:xfrm>
          <a:off x="3808415" y="4267202"/>
          <a:ext cx="3405187" cy="112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68" name="公式" r:id="rId12" imgW="1422360" imgH="444240" progId="Equation.3">
                  <p:embed/>
                </p:oleObj>
              </mc:Choice>
              <mc:Fallback>
                <p:oleObj name="公式" r:id="rId12" imgW="1422360" imgH="4442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8415" y="4267202"/>
                        <a:ext cx="3405187" cy="1122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29" name="Object 9"/>
          <p:cNvGraphicFramePr>
            <a:graphicFrameLocks noChangeAspect="1"/>
          </p:cNvGraphicFramePr>
          <p:nvPr/>
        </p:nvGraphicFramePr>
        <p:xfrm>
          <a:off x="965202" y="5202238"/>
          <a:ext cx="3508375" cy="1122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69" name="Equation" r:id="rId14" imgW="1384200" imgH="444240" progId="Equation.3">
                  <p:embed/>
                </p:oleObj>
              </mc:Choice>
              <mc:Fallback>
                <p:oleObj name="Equation" r:id="rId14" imgW="1384200" imgH="4442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5202" y="5202238"/>
                        <a:ext cx="3508375" cy="1122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1130" name="Text Box 10"/>
          <p:cNvSpPr txBox="1">
            <a:spLocks noChangeArrowheads="1"/>
          </p:cNvSpPr>
          <p:nvPr/>
        </p:nvSpPr>
        <p:spPr bwMode="auto">
          <a:xfrm>
            <a:off x="533402" y="2087565"/>
            <a:ext cx="420052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zh-CN" sz="3000">
                <a:latin typeface="Times New Roman" pitchFamily="18" charset="0"/>
              </a:rPr>
              <a:t>证明：由（1）中公式知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1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61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61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61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61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61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61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130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6D97C780-C7D5-4255-AE98-4CB3B4C229BC}" type="slidenum">
              <a:rPr lang="zh-CN" altLang="en-US"/>
              <a:pPr/>
              <a:t>49</a:t>
            </a:fld>
            <a:endParaRPr lang="en-US" altLang="zh-CN"/>
          </a:p>
        </p:txBody>
      </p:sp>
      <p:sp>
        <p:nvSpPr>
          <p:cNvPr id="15367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914839C9-1FDF-40A2-9F5B-584D2D30C102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262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>
                <a:latin typeface="Times New Roman" pitchFamily="18" charset="0"/>
              </a:rPr>
              <a:t>2.5  迭代序列的误差估计</a:t>
            </a:r>
          </a:p>
        </p:txBody>
      </p:sp>
      <p:sp>
        <p:nvSpPr>
          <p:cNvPr id="15369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600075" y="1292227"/>
            <a:ext cx="8142288" cy="384175"/>
          </a:xfrm>
        </p:spPr>
        <p:txBody>
          <a:bodyPr/>
          <a:lstStyle/>
          <a:p>
            <a:r>
              <a:rPr lang="zh-CN" altLang="en-US" smtClean="0"/>
              <a:t>预估迭代次数</a:t>
            </a:r>
          </a:p>
        </p:txBody>
      </p:sp>
      <p:grpSp>
        <p:nvGrpSpPr>
          <p:cNvPr id="15370" name="Group 9"/>
          <p:cNvGrpSpPr>
            <a:grpSpLocks/>
          </p:cNvGrpSpPr>
          <p:nvPr/>
        </p:nvGrpSpPr>
        <p:grpSpPr bwMode="auto">
          <a:xfrm>
            <a:off x="1143000" y="1828802"/>
            <a:ext cx="7086600" cy="1154113"/>
            <a:chOff x="912" y="1152"/>
            <a:chExt cx="4464" cy="727"/>
          </a:xfrm>
        </p:grpSpPr>
        <p:grpSp>
          <p:nvGrpSpPr>
            <p:cNvPr id="15372" name="Group 10"/>
            <p:cNvGrpSpPr>
              <a:grpSpLocks/>
            </p:cNvGrpSpPr>
            <p:nvPr/>
          </p:nvGrpSpPr>
          <p:grpSpPr bwMode="auto">
            <a:xfrm>
              <a:off x="912" y="1152"/>
              <a:ext cx="2472" cy="727"/>
              <a:chOff x="912" y="1152"/>
              <a:chExt cx="2472" cy="727"/>
            </a:xfrm>
          </p:grpSpPr>
          <p:sp>
            <p:nvSpPr>
              <p:cNvPr id="15374" name="Rectangle 11"/>
              <p:cNvSpPr>
                <a:spLocks noChangeArrowheads="1"/>
              </p:cNvSpPr>
              <p:nvPr/>
            </p:nvSpPr>
            <p:spPr bwMode="auto">
              <a:xfrm>
                <a:off x="912" y="1381"/>
                <a:ext cx="224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l" eaLnBrk="1" hangingPunct="1"/>
                <a:r>
                  <a:rPr kumimoji="1" lang="zh-CN" altLang="en-US" sz="2800" b="0">
                    <a:latin typeface="Times New Roman" pitchFamily="18" charset="0"/>
                  </a:rPr>
                  <a:t>当</a:t>
                </a:r>
              </a:p>
            </p:txBody>
          </p:sp>
          <p:sp>
            <p:nvSpPr>
              <p:cNvPr id="15375" name="Rectangle 12"/>
              <p:cNvSpPr>
                <a:spLocks noChangeArrowheads="1"/>
              </p:cNvSpPr>
              <p:nvPr/>
            </p:nvSpPr>
            <p:spPr bwMode="auto">
              <a:xfrm>
                <a:off x="2880" y="1381"/>
                <a:ext cx="504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l" eaLnBrk="1" hangingPunct="1"/>
                <a:r>
                  <a:rPr kumimoji="1" lang="zh-CN" altLang="en-US" sz="2800" b="0">
                    <a:latin typeface="Times New Roman" pitchFamily="18" charset="0"/>
                  </a:rPr>
                  <a:t>成立,</a:t>
                </a:r>
              </a:p>
            </p:txBody>
          </p:sp>
          <p:graphicFrame>
            <p:nvGraphicFramePr>
              <p:cNvPr id="15365" name="Object 13"/>
              <p:cNvGraphicFramePr>
                <a:graphicFrameLocks noChangeAspect="1"/>
              </p:cNvGraphicFramePr>
              <p:nvPr/>
            </p:nvGraphicFramePr>
            <p:xfrm>
              <a:off x="1200" y="1152"/>
              <a:ext cx="1664" cy="72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524" name="Equation" r:id="rId4" imgW="1015920" imgH="444240" progId="Equation.3">
                      <p:embed/>
                    </p:oleObj>
                  </mc:Choice>
                  <mc:Fallback>
                    <p:oleObj name="Equation" r:id="rId4" imgW="1015920" imgH="444240" progId="Equation.3">
                      <p:embed/>
                      <p:pic>
                        <p:nvPicPr>
                          <p:cNvPr id="0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00" y="1152"/>
                            <a:ext cx="1664" cy="72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tx1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5364" name="Object 14"/>
            <p:cNvGraphicFramePr>
              <a:graphicFrameLocks noChangeAspect="1"/>
            </p:cNvGraphicFramePr>
            <p:nvPr/>
          </p:nvGraphicFramePr>
          <p:xfrm>
            <a:off x="3408" y="1344"/>
            <a:ext cx="1258" cy="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25" name="Equation" r:id="rId6" imgW="799920" imgH="228600" progId="Equation.3">
                    <p:embed/>
                  </p:oleObj>
                </mc:Choice>
                <mc:Fallback>
                  <p:oleObj name="Equation" r:id="rId6" imgW="799920" imgH="22860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8" y="1344"/>
                          <a:ext cx="1258" cy="3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gradFill rotWithShape="0">
                                <a:gsLst>
                                  <a:gs pos="0">
                                    <a:srgbClr val="CCFFCC"/>
                                  </a:gs>
                                  <a:gs pos="50000">
                                    <a:schemeClr val="bg1"/>
                                  </a:gs>
                                  <a:gs pos="100000">
                                    <a:srgbClr val="CCFFCC"/>
                                  </a:gs>
                                </a:gsLst>
                                <a:lin ang="5400000" scaled="1"/>
                              </a:gra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CCFF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3" name="Text Box 15"/>
            <p:cNvSpPr txBox="1">
              <a:spLocks noChangeArrowheads="1"/>
            </p:cNvSpPr>
            <p:nvPr/>
          </p:nvSpPr>
          <p:spPr bwMode="auto">
            <a:xfrm>
              <a:off x="4656" y="1344"/>
              <a:ext cx="72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zh-CN" altLang="en-US" sz="2800" b="0">
                  <a:latin typeface="Times New Roman" pitchFamily="18" charset="0"/>
                </a:rPr>
                <a:t>必成立</a:t>
              </a:r>
            </a:p>
          </p:txBody>
        </p:sp>
      </p:grpSp>
      <p:graphicFrame>
        <p:nvGraphicFramePr>
          <p:cNvPr id="26216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5249379"/>
              </p:ext>
            </p:extLst>
          </p:nvPr>
        </p:nvGraphicFramePr>
        <p:xfrm>
          <a:off x="3639344" y="2996952"/>
          <a:ext cx="2855912" cy="1173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26" name="Equation" r:id="rId8" imgW="1143000" imgH="469800" progId="Equation.DSMT4">
                  <p:embed/>
                </p:oleObj>
              </mc:Choice>
              <mc:Fallback>
                <p:oleObj name="Equation" r:id="rId8" imgW="1143000" imgH="4698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9344" y="2996952"/>
                        <a:ext cx="2855912" cy="1173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216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9523932"/>
              </p:ext>
            </p:extLst>
          </p:nvPr>
        </p:nvGraphicFramePr>
        <p:xfrm>
          <a:off x="2555776" y="4509120"/>
          <a:ext cx="2633662" cy="161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27" name="Equation" r:id="rId10" imgW="1054080" imgH="647640" progId="Equation.3">
                  <p:embed/>
                </p:oleObj>
              </mc:Choice>
              <mc:Fallback>
                <p:oleObj name="Equation" r:id="rId10" imgW="1054080" imgH="64764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4509120"/>
                        <a:ext cx="2633662" cy="161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1" name="Text Box 18"/>
          <p:cNvSpPr txBox="1">
            <a:spLocks noChangeArrowheads="1"/>
          </p:cNvSpPr>
          <p:nvPr/>
        </p:nvSpPr>
        <p:spPr bwMode="auto">
          <a:xfrm>
            <a:off x="827584" y="3284984"/>
            <a:ext cx="27432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1" lang="zh-CN" altLang="en-US" sz="2800" dirty="0">
                <a:latin typeface="黑体" pitchFamily="49" charset="-122"/>
                <a:ea typeface="黑体" pitchFamily="49" charset="-122"/>
              </a:rPr>
              <a:t>两边取对数可得: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2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62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1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7FA37FC7-8AB4-47D8-A563-446B0544DAAD}" type="slidenum">
              <a:rPr lang="zh-CN" altLang="en-US"/>
              <a:pPr/>
              <a:t>50</a:t>
            </a:fld>
            <a:endParaRPr lang="en-US" altLang="zh-CN"/>
          </a:p>
        </p:txBody>
      </p:sp>
      <p:sp>
        <p:nvSpPr>
          <p:cNvPr id="16392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7FDCBB9A-7B17-4A15-963B-20273BE43A32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263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>
                <a:latin typeface="Times New Roman" pitchFamily="18" charset="0"/>
              </a:rPr>
              <a:t>2.5  迭代序列的误差估计</a:t>
            </a:r>
          </a:p>
        </p:txBody>
      </p:sp>
      <p:sp>
        <p:nvSpPr>
          <p:cNvPr id="263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6915" y="4565650"/>
            <a:ext cx="8142287" cy="60325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zh-CN" altLang="en-US" smtClean="0"/>
              <a:t>则当</a:t>
            </a:r>
            <a:r>
              <a:rPr lang="zh-CN" altLang="en-US" i="1" smtClean="0"/>
              <a:t>|</a:t>
            </a:r>
            <a:r>
              <a:rPr lang="en-US" altLang="zh-CN" i="1" smtClean="0"/>
              <a:t>f(x</a:t>
            </a:r>
            <a:r>
              <a:rPr lang="en-US" altLang="zh-CN" i="1" baseline="-25000" smtClean="0"/>
              <a:t>n</a:t>
            </a:r>
            <a:r>
              <a:rPr lang="en-US" altLang="zh-CN" i="1" smtClean="0"/>
              <a:t>)|&lt;m </a:t>
            </a:r>
            <a:r>
              <a:rPr lang="en-US" altLang="zh-CN" smtClean="0">
                <a:sym typeface="Symbol" pitchFamily="18" charset="2"/>
              </a:rPr>
              <a:t></a:t>
            </a:r>
            <a:r>
              <a:rPr lang="zh-CN" altLang="en-US" smtClean="0">
                <a:latin typeface="宋体" pitchFamily="2" charset="-122"/>
              </a:rPr>
              <a:t>时，就有</a:t>
            </a:r>
            <a:r>
              <a:rPr lang="zh-CN" altLang="en-US" smtClean="0"/>
              <a:t>|</a:t>
            </a:r>
            <a:r>
              <a:rPr lang="en-US" altLang="zh-CN" i="1" smtClean="0"/>
              <a:t>x</a:t>
            </a:r>
            <a:r>
              <a:rPr lang="en-US" altLang="zh-CN" i="1" baseline="-25000" smtClean="0"/>
              <a:t>n</a:t>
            </a:r>
            <a:r>
              <a:rPr lang="en-US" altLang="zh-CN" smtClean="0">
                <a:sym typeface="Symbol" pitchFamily="18" charset="2"/>
              </a:rPr>
              <a:t>-</a:t>
            </a:r>
            <a:r>
              <a:rPr lang="en-US" altLang="zh-CN" smtClean="0"/>
              <a:t>|&lt; </a:t>
            </a:r>
            <a:r>
              <a:rPr lang="en-US" altLang="zh-CN" smtClean="0">
                <a:sym typeface="Symbol" pitchFamily="18" charset="2"/>
              </a:rPr>
              <a:t></a:t>
            </a:r>
            <a:r>
              <a:rPr lang="zh-CN" altLang="en-US" smtClean="0">
                <a:latin typeface="宋体" pitchFamily="2" charset="-122"/>
              </a:rPr>
              <a:t>成立</a:t>
            </a:r>
          </a:p>
        </p:txBody>
      </p:sp>
      <p:graphicFrame>
        <p:nvGraphicFramePr>
          <p:cNvPr id="263173" name="Object 5"/>
          <p:cNvGraphicFramePr>
            <a:graphicFrameLocks noChangeAspect="1"/>
          </p:cNvGraphicFramePr>
          <p:nvPr/>
        </p:nvGraphicFramePr>
        <p:xfrm>
          <a:off x="609602" y="1117600"/>
          <a:ext cx="6022975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75" name="公式" r:id="rId4" imgW="2666880" imgH="431640" progId="Equation.3">
                  <p:embed/>
                </p:oleObj>
              </mc:Choice>
              <mc:Fallback>
                <p:oleObj name="公式" r:id="rId4" imgW="2666880" imgH="431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2" y="1117600"/>
                        <a:ext cx="6022975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3174" name="Object 6"/>
          <p:cNvGraphicFramePr>
            <a:graphicFrameLocks noChangeAspect="1"/>
          </p:cNvGraphicFramePr>
          <p:nvPr/>
        </p:nvGraphicFramePr>
        <p:xfrm>
          <a:off x="614365" y="2133602"/>
          <a:ext cx="3500437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76" name="Equation" r:id="rId6" imgW="1473120" imgH="215640" progId="Equation.3">
                  <p:embed/>
                </p:oleObj>
              </mc:Choice>
              <mc:Fallback>
                <p:oleObj name="Equation" r:id="rId6" imgW="1473120" imgH="2156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365" y="2133602"/>
                        <a:ext cx="3500437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3175" name="Object 7"/>
          <p:cNvGraphicFramePr>
            <a:graphicFrameLocks noChangeAspect="1"/>
          </p:cNvGraphicFramePr>
          <p:nvPr/>
        </p:nvGraphicFramePr>
        <p:xfrm>
          <a:off x="4343402" y="2122488"/>
          <a:ext cx="2862263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77" name="公式" r:id="rId8" imgW="1396800" imgH="228600" progId="Equation.3">
                  <p:embed/>
                </p:oleObj>
              </mc:Choice>
              <mc:Fallback>
                <p:oleObj name="公式" r:id="rId8" imgW="139680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2" y="2122488"/>
                        <a:ext cx="2862263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3176" name="Object 8"/>
          <p:cNvGraphicFramePr>
            <a:graphicFrameLocks noChangeAspect="1"/>
          </p:cNvGraphicFramePr>
          <p:nvPr/>
        </p:nvGraphicFramePr>
        <p:xfrm>
          <a:off x="1557338" y="2732088"/>
          <a:ext cx="2862262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78" name="公式" r:id="rId10" imgW="1396800" imgH="228600" progId="Equation.3">
                  <p:embed/>
                </p:oleObj>
              </mc:Choice>
              <mc:Fallback>
                <p:oleObj name="公式" r:id="rId10" imgW="139680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7338" y="2732088"/>
                        <a:ext cx="2862262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3177" name="Object 9"/>
          <p:cNvGraphicFramePr>
            <a:graphicFrameLocks noChangeAspect="1"/>
          </p:cNvGraphicFramePr>
          <p:nvPr/>
        </p:nvGraphicFramePr>
        <p:xfrm>
          <a:off x="1600202" y="3371850"/>
          <a:ext cx="4614863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79" name="Equation" r:id="rId12" imgW="2171520" imgH="457200" progId="Equation.3">
                  <p:embed/>
                </p:oleObj>
              </mc:Choice>
              <mc:Fallback>
                <p:oleObj name="Equation" r:id="rId12" imgW="2171520" imgH="4572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2" y="3371850"/>
                        <a:ext cx="4614863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63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63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63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63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63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75"/>
                                        <p:tgtEl>
                                          <p:spTgt spid="263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171" grpId="0" build="p" bldLvl="2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83583B69-666C-4385-A9AD-AC7FDDBF02FD}" type="slidenum">
              <a:rPr lang="zh-CN" altLang="en-US"/>
              <a:pPr/>
              <a:t>51</a:t>
            </a:fld>
            <a:endParaRPr lang="en-US" altLang="zh-CN"/>
          </a:p>
        </p:txBody>
      </p:sp>
      <p:sp>
        <p:nvSpPr>
          <p:cNvPr id="17413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B9538188-4C59-4E9F-8B82-8AC0181B2390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264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>
                <a:latin typeface="Times New Roman" pitchFamily="18" charset="0"/>
              </a:rPr>
              <a:t>2.5  迭代序列的误差估计</a:t>
            </a:r>
          </a:p>
        </p:txBody>
      </p:sp>
      <p:sp>
        <p:nvSpPr>
          <p:cNvPr id="174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025527"/>
            <a:ext cx="8142288" cy="2498725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mtClean="0">
                <a:latin typeface="宋体" pitchFamily="2" charset="-122"/>
              </a:rPr>
              <a:t>实际中常用</a:t>
            </a:r>
            <a:r>
              <a:rPr lang="zh-CN" altLang="en-US" i="1" smtClean="0"/>
              <a:t>|</a:t>
            </a:r>
            <a:r>
              <a:rPr lang="en-US" altLang="zh-CN" i="1" smtClean="0"/>
              <a:t>f</a:t>
            </a:r>
            <a:r>
              <a:rPr lang="en-US" altLang="zh-CN" smtClean="0"/>
              <a:t>(</a:t>
            </a:r>
            <a:r>
              <a:rPr lang="en-US" altLang="zh-CN" i="1" smtClean="0"/>
              <a:t>x</a:t>
            </a:r>
            <a:r>
              <a:rPr lang="en-US" altLang="zh-CN" i="1" baseline="-25000" smtClean="0"/>
              <a:t>n</a:t>
            </a:r>
            <a:r>
              <a:rPr lang="en-US" altLang="zh-CN" smtClean="0"/>
              <a:t>)</a:t>
            </a:r>
            <a:r>
              <a:rPr lang="en-US" altLang="zh-CN" i="1" smtClean="0"/>
              <a:t>|&lt; </a:t>
            </a:r>
            <a:r>
              <a:rPr lang="en-US" altLang="zh-CN" smtClean="0">
                <a:sym typeface="Symbol" pitchFamily="18" charset="2"/>
              </a:rPr>
              <a:t></a:t>
            </a:r>
            <a:r>
              <a:rPr lang="zh-CN" altLang="en-US" smtClean="0">
                <a:latin typeface="宋体" pitchFamily="2" charset="-122"/>
              </a:rPr>
              <a:t>作为</a:t>
            </a:r>
            <a:r>
              <a:rPr lang="zh-CN" altLang="en-US" smtClean="0"/>
              <a:t>迭代终止的判据</a:t>
            </a:r>
          </a:p>
          <a:p>
            <a:pPr>
              <a:lnSpc>
                <a:spcPct val="120000"/>
              </a:lnSpc>
            </a:pPr>
            <a:r>
              <a:rPr lang="zh-CN" altLang="en-US" smtClean="0"/>
              <a:t>这种判据合理吗？</a:t>
            </a:r>
          </a:p>
          <a:p>
            <a:pPr lvl="1">
              <a:lnSpc>
                <a:spcPct val="120000"/>
              </a:lnSpc>
            </a:pPr>
            <a:r>
              <a:rPr lang="zh-CN" altLang="en-US" smtClean="0"/>
              <a:t>当</a:t>
            </a:r>
            <a:r>
              <a:rPr lang="zh-CN" altLang="en-US" i="1" smtClean="0"/>
              <a:t>|</a:t>
            </a:r>
            <a:r>
              <a:rPr lang="en-US" altLang="zh-CN" i="1" smtClean="0"/>
              <a:t>f’</a:t>
            </a:r>
            <a:r>
              <a:rPr lang="en-US" altLang="zh-CN" smtClean="0"/>
              <a:t>(</a:t>
            </a:r>
            <a:r>
              <a:rPr lang="en-US" altLang="zh-CN" i="1" smtClean="0"/>
              <a:t>x</a:t>
            </a:r>
            <a:r>
              <a:rPr lang="en-US" altLang="zh-CN" i="1" baseline="-25000" smtClean="0"/>
              <a:t>n</a:t>
            </a:r>
            <a:r>
              <a:rPr lang="en-US" altLang="zh-CN" smtClean="0"/>
              <a:t>)</a:t>
            </a:r>
            <a:r>
              <a:rPr lang="en-US" altLang="zh-CN" i="1" smtClean="0"/>
              <a:t>|</a:t>
            </a:r>
            <a:r>
              <a:rPr lang="en-US" altLang="zh-CN" smtClean="0">
                <a:sym typeface="Symbol" pitchFamily="18" charset="2"/>
              </a:rPr>
              <a:t></a:t>
            </a:r>
            <a:r>
              <a:rPr lang="en-US" altLang="zh-CN" smtClean="0"/>
              <a:t>1</a:t>
            </a:r>
            <a:r>
              <a:rPr lang="zh-CN" altLang="en-US" smtClean="0"/>
              <a:t>时, </a:t>
            </a:r>
            <a:r>
              <a:rPr lang="zh-CN" altLang="en-US" i="1" smtClean="0"/>
              <a:t>|</a:t>
            </a:r>
            <a:r>
              <a:rPr lang="en-US" altLang="zh-CN" i="1" smtClean="0"/>
              <a:t>f</a:t>
            </a:r>
            <a:r>
              <a:rPr lang="en-US" altLang="zh-CN" smtClean="0"/>
              <a:t>(</a:t>
            </a:r>
            <a:r>
              <a:rPr lang="en-US" altLang="zh-CN" i="1" smtClean="0"/>
              <a:t>x</a:t>
            </a:r>
            <a:r>
              <a:rPr lang="en-US" altLang="zh-CN" i="1" baseline="-25000" smtClean="0"/>
              <a:t>n</a:t>
            </a:r>
            <a:r>
              <a:rPr lang="en-US" altLang="zh-CN" smtClean="0"/>
              <a:t>)</a:t>
            </a:r>
            <a:r>
              <a:rPr lang="en-US" altLang="zh-CN" i="1" smtClean="0"/>
              <a:t>|&lt; </a:t>
            </a:r>
            <a:r>
              <a:rPr lang="en-US" altLang="zh-CN" smtClean="0">
                <a:sym typeface="Symbol" pitchFamily="18" charset="2"/>
              </a:rPr>
              <a:t></a:t>
            </a:r>
            <a:r>
              <a:rPr lang="zh-CN" altLang="en-US" smtClean="0"/>
              <a:t>与</a:t>
            </a:r>
            <a:r>
              <a:rPr lang="zh-CN" altLang="en-US" i="1" smtClean="0"/>
              <a:t>|</a:t>
            </a:r>
            <a:r>
              <a:rPr lang="en-US" altLang="zh-CN" i="1" smtClean="0"/>
              <a:t>f</a:t>
            </a:r>
            <a:r>
              <a:rPr lang="en-US" altLang="zh-CN" smtClean="0"/>
              <a:t>(</a:t>
            </a:r>
            <a:r>
              <a:rPr lang="en-US" altLang="zh-CN" i="1" smtClean="0"/>
              <a:t>x</a:t>
            </a:r>
            <a:r>
              <a:rPr lang="en-US" altLang="zh-CN" i="1" baseline="-25000" smtClean="0"/>
              <a:t>n</a:t>
            </a:r>
            <a:r>
              <a:rPr lang="en-US" altLang="zh-CN" smtClean="0"/>
              <a:t>)</a:t>
            </a:r>
            <a:r>
              <a:rPr lang="en-US" altLang="zh-CN" i="1" smtClean="0"/>
              <a:t>|&lt; m</a:t>
            </a:r>
            <a:r>
              <a:rPr lang="en-US" altLang="zh-CN" smtClean="0">
                <a:sym typeface="Symbol" pitchFamily="18" charset="2"/>
              </a:rPr>
              <a:t></a:t>
            </a:r>
            <a:r>
              <a:rPr lang="zh-CN" altLang="en-US" smtClean="0"/>
              <a:t>效果相同</a:t>
            </a:r>
          </a:p>
          <a:p>
            <a:pPr lvl="1">
              <a:lnSpc>
                <a:spcPct val="120000"/>
              </a:lnSpc>
            </a:pPr>
            <a:r>
              <a:rPr lang="zh-CN" altLang="en-US" smtClean="0"/>
              <a:t>当</a:t>
            </a:r>
            <a:r>
              <a:rPr lang="zh-CN" altLang="en-US" i="1" smtClean="0"/>
              <a:t>|</a:t>
            </a:r>
            <a:r>
              <a:rPr lang="en-US" altLang="zh-CN" i="1" smtClean="0"/>
              <a:t>f’</a:t>
            </a:r>
            <a:r>
              <a:rPr lang="en-US" altLang="zh-CN" smtClean="0"/>
              <a:t>(</a:t>
            </a:r>
            <a:r>
              <a:rPr lang="en-US" altLang="zh-CN" i="1" smtClean="0"/>
              <a:t>x</a:t>
            </a:r>
            <a:r>
              <a:rPr lang="en-US" altLang="zh-CN" i="1" baseline="-25000" smtClean="0"/>
              <a:t>n</a:t>
            </a:r>
            <a:r>
              <a:rPr lang="en-US" altLang="zh-CN" smtClean="0"/>
              <a:t>)</a:t>
            </a:r>
            <a:r>
              <a:rPr lang="en-US" altLang="zh-CN" i="1" smtClean="0"/>
              <a:t>|</a:t>
            </a:r>
            <a:r>
              <a:rPr lang="en-US" altLang="zh-CN" smtClean="0"/>
              <a:t>&lt;&lt;1</a:t>
            </a:r>
            <a:r>
              <a:rPr lang="zh-CN" altLang="en-US" smtClean="0"/>
              <a:t>时</a:t>
            </a:r>
          </a:p>
        </p:txBody>
      </p:sp>
      <p:graphicFrame>
        <p:nvGraphicFramePr>
          <p:cNvPr id="264196" name="Object 4"/>
          <p:cNvGraphicFramePr>
            <a:graphicFrameLocks noChangeAspect="1"/>
          </p:cNvGraphicFramePr>
          <p:nvPr/>
        </p:nvGraphicFramePr>
        <p:xfrm>
          <a:off x="2667000" y="3429000"/>
          <a:ext cx="2941638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07" name="Equation" r:id="rId4" imgW="1384200" imgH="457200" progId="Equation.3">
                  <p:embed/>
                </p:oleObj>
              </mc:Choice>
              <mc:Fallback>
                <p:oleObj name="Equation" r:id="rId4" imgW="13842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429000"/>
                        <a:ext cx="2941638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1" name="Object 15"/>
          <p:cNvGraphicFramePr>
            <a:graphicFrameLocks noChangeAspect="1"/>
          </p:cNvGraphicFramePr>
          <p:nvPr/>
        </p:nvGraphicFramePr>
        <p:xfrm>
          <a:off x="4038602" y="1447800"/>
          <a:ext cx="4645025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08" name="Equation" r:id="rId6" imgW="2057400" imgH="431640" progId="Equation.3">
                  <p:embed/>
                </p:oleObj>
              </mc:Choice>
              <mc:Fallback>
                <p:oleObj name="Equation" r:id="rId6" imgW="2057400" imgH="43164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2" y="1447800"/>
                        <a:ext cx="4645025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4209" name="AutoShape 17"/>
          <p:cNvSpPr>
            <a:spLocks noChangeArrowheads="1"/>
          </p:cNvSpPr>
          <p:nvPr/>
        </p:nvSpPr>
        <p:spPr bwMode="auto">
          <a:xfrm>
            <a:off x="6324600" y="2971800"/>
            <a:ext cx="1828800" cy="914400"/>
          </a:xfrm>
          <a:prstGeom prst="cloudCallout">
            <a:avLst>
              <a:gd name="adj1" fmla="val -81250"/>
              <a:gd name="adj2" fmla="val 49134"/>
            </a:avLst>
          </a:prstGeom>
          <a:solidFill>
            <a:srgbClr val="FFFF00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r>
              <a:rPr lang="en-US" altLang="zh-CN" sz="3200">
                <a:solidFill>
                  <a:srgbClr val="FF3300"/>
                </a:solidFill>
                <a:latin typeface="宋体" pitchFamily="2" charset="-122"/>
              </a:rPr>
              <a:t>&gt;</a:t>
            </a:r>
            <a:r>
              <a:rPr lang="en-US" altLang="zh-CN" sz="3200">
                <a:solidFill>
                  <a:srgbClr val="FF3300"/>
                </a:solidFill>
                <a:latin typeface="Times New Roman" pitchFamily="18" charset="0"/>
                <a:sym typeface="Symbol" pitchFamily="18" charset="2"/>
              </a:rPr>
              <a:t></a:t>
            </a:r>
            <a:endParaRPr lang="zh-CN" altLang="en-US" sz="3200">
              <a:solidFill>
                <a:srgbClr val="FF3300"/>
              </a:solidFill>
              <a:latin typeface="Times New Roman" pitchFamily="18" charset="0"/>
              <a:sym typeface="Symbol" pitchFamily="18" charset="2"/>
            </a:endParaRPr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1371600" y="4043363"/>
            <a:ext cx="5486400" cy="2740742"/>
            <a:chOff x="816" y="1104"/>
            <a:chExt cx="3792" cy="2378"/>
          </a:xfrm>
        </p:grpSpPr>
        <p:grpSp>
          <p:nvGrpSpPr>
            <p:cNvPr id="17418" name="Group 20"/>
            <p:cNvGrpSpPr>
              <a:grpSpLocks/>
            </p:cNvGrpSpPr>
            <p:nvPr/>
          </p:nvGrpSpPr>
          <p:grpSpPr bwMode="auto">
            <a:xfrm>
              <a:off x="816" y="1104"/>
              <a:ext cx="3792" cy="2255"/>
              <a:chOff x="528" y="1344"/>
              <a:chExt cx="3792" cy="2255"/>
            </a:xfrm>
          </p:grpSpPr>
          <p:sp>
            <p:nvSpPr>
              <p:cNvPr id="17424" name="Line 21"/>
              <p:cNvSpPr>
                <a:spLocks noChangeShapeType="1"/>
              </p:cNvSpPr>
              <p:nvPr/>
            </p:nvSpPr>
            <p:spPr bwMode="auto">
              <a:xfrm>
                <a:off x="528" y="3036"/>
                <a:ext cx="366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25" name="Line 22"/>
              <p:cNvSpPr>
                <a:spLocks noChangeShapeType="1"/>
              </p:cNvSpPr>
              <p:nvPr/>
            </p:nvSpPr>
            <p:spPr bwMode="auto">
              <a:xfrm flipV="1">
                <a:off x="973" y="1459"/>
                <a:ext cx="0" cy="21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26" name="Text Box 23"/>
              <p:cNvSpPr txBox="1">
                <a:spLocks noChangeArrowheads="1"/>
              </p:cNvSpPr>
              <p:nvPr/>
            </p:nvSpPr>
            <p:spPr bwMode="auto">
              <a:xfrm>
                <a:off x="1024" y="1344"/>
                <a:ext cx="442" cy="4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3000"/>
                  <a:t>y</a:t>
                </a:r>
              </a:p>
            </p:txBody>
          </p:sp>
          <p:sp>
            <p:nvSpPr>
              <p:cNvPr id="17427" name="Text Box 24"/>
              <p:cNvSpPr txBox="1">
                <a:spLocks noChangeArrowheads="1"/>
              </p:cNvSpPr>
              <p:nvPr/>
            </p:nvSpPr>
            <p:spPr bwMode="auto">
              <a:xfrm>
                <a:off x="3783" y="3024"/>
                <a:ext cx="442" cy="4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3000"/>
                  <a:t>x</a:t>
                </a:r>
              </a:p>
            </p:txBody>
          </p:sp>
          <p:sp>
            <p:nvSpPr>
              <p:cNvPr id="17428" name="Text Box 25"/>
              <p:cNvSpPr txBox="1">
                <a:spLocks noChangeArrowheads="1"/>
              </p:cNvSpPr>
              <p:nvPr/>
            </p:nvSpPr>
            <p:spPr bwMode="auto">
              <a:xfrm>
                <a:off x="528" y="3024"/>
                <a:ext cx="441" cy="4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zh-CN" sz="3000"/>
                  <a:t>0</a:t>
                </a:r>
              </a:p>
            </p:txBody>
          </p:sp>
          <p:sp>
            <p:nvSpPr>
              <p:cNvPr id="17429" name="Freeform 26"/>
              <p:cNvSpPr>
                <a:spLocks/>
              </p:cNvSpPr>
              <p:nvPr/>
            </p:nvSpPr>
            <p:spPr bwMode="auto">
              <a:xfrm>
                <a:off x="1488" y="2112"/>
                <a:ext cx="2640" cy="1056"/>
              </a:xfrm>
              <a:custGeom>
                <a:avLst/>
                <a:gdLst>
                  <a:gd name="T0" fmla="*/ 0 w 1762"/>
                  <a:gd name="T1" fmla="*/ 1056 h 520"/>
                  <a:gd name="T2" fmla="*/ 241 w 1762"/>
                  <a:gd name="T3" fmla="*/ 666 h 520"/>
                  <a:gd name="T4" fmla="*/ 673 w 1762"/>
                  <a:gd name="T5" fmla="*/ 471 h 520"/>
                  <a:gd name="T6" fmla="*/ 1320 w 1762"/>
                  <a:gd name="T7" fmla="*/ 471 h 520"/>
                  <a:gd name="T8" fmla="*/ 2183 w 1762"/>
                  <a:gd name="T9" fmla="*/ 276 h 520"/>
                  <a:gd name="T10" fmla="*/ 2640 w 1762"/>
                  <a:gd name="T11" fmla="*/ 0 h 5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762"/>
                  <a:gd name="T19" fmla="*/ 0 h 520"/>
                  <a:gd name="T20" fmla="*/ 1762 w 1762"/>
                  <a:gd name="T21" fmla="*/ 520 h 52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762" h="520">
                    <a:moveTo>
                      <a:pt x="0" y="520"/>
                    </a:moveTo>
                    <a:cubicBezTo>
                      <a:pt x="25" y="488"/>
                      <a:pt x="86" y="376"/>
                      <a:pt x="161" y="328"/>
                    </a:cubicBezTo>
                    <a:cubicBezTo>
                      <a:pt x="236" y="280"/>
                      <a:pt x="329" y="248"/>
                      <a:pt x="449" y="232"/>
                    </a:cubicBezTo>
                    <a:cubicBezTo>
                      <a:pt x="569" y="216"/>
                      <a:pt x="713" y="248"/>
                      <a:pt x="881" y="232"/>
                    </a:cubicBezTo>
                    <a:cubicBezTo>
                      <a:pt x="1049" y="216"/>
                      <a:pt x="1310" y="175"/>
                      <a:pt x="1457" y="136"/>
                    </a:cubicBezTo>
                    <a:cubicBezTo>
                      <a:pt x="1604" y="97"/>
                      <a:pt x="1699" y="28"/>
                      <a:pt x="1762" y="0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30" name="Text Box 27"/>
              <p:cNvSpPr txBox="1">
                <a:spLocks noChangeArrowheads="1"/>
              </p:cNvSpPr>
              <p:nvPr/>
            </p:nvSpPr>
            <p:spPr bwMode="auto">
              <a:xfrm>
                <a:off x="1392" y="3024"/>
                <a:ext cx="384" cy="4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2800">
                    <a:latin typeface="Times New Roman" pitchFamily="18" charset="0"/>
                    <a:sym typeface="Symbol" pitchFamily="18" charset="2"/>
                  </a:rPr>
                  <a:t></a:t>
                </a:r>
              </a:p>
            </p:txBody>
          </p:sp>
          <p:sp>
            <p:nvSpPr>
              <p:cNvPr id="17431" name="Line 28"/>
              <p:cNvSpPr>
                <a:spLocks noChangeShapeType="1"/>
              </p:cNvSpPr>
              <p:nvPr/>
            </p:nvSpPr>
            <p:spPr bwMode="auto">
              <a:xfrm flipH="1">
                <a:off x="3552" y="2448"/>
                <a:ext cx="0" cy="57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32" name="Text Box 29"/>
              <p:cNvSpPr txBox="1">
                <a:spLocks noChangeArrowheads="1"/>
              </p:cNvSpPr>
              <p:nvPr/>
            </p:nvSpPr>
            <p:spPr bwMode="auto">
              <a:xfrm>
                <a:off x="3408" y="3013"/>
                <a:ext cx="384" cy="4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3000" i="1"/>
                  <a:t>x</a:t>
                </a:r>
                <a:r>
                  <a:rPr lang="en-US" altLang="zh-CN" sz="3000" i="1" baseline="-25000"/>
                  <a:t>n</a:t>
                </a:r>
                <a:endParaRPr lang="en-US" altLang="zh-CN" sz="3000"/>
              </a:p>
            </p:txBody>
          </p:sp>
          <p:sp>
            <p:nvSpPr>
              <p:cNvPr id="17433" name="Line 30"/>
              <p:cNvSpPr>
                <a:spLocks noChangeShapeType="1"/>
              </p:cNvSpPr>
              <p:nvPr/>
            </p:nvSpPr>
            <p:spPr bwMode="auto">
              <a:xfrm>
                <a:off x="1008" y="2256"/>
                <a:ext cx="331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34" name="Rectangle 31"/>
              <p:cNvSpPr>
                <a:spLocks noChangeArrowheads="1"/>
              </p:cNvSpPr>
              <p:nvPr/>
            </p:nvSpPr>
            <p:spPr bwMode="auto">
              <a:xfrm>
                <a:off x="757" y="1983"/>
                <a:ext cx="235" cy="4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800">
                    <a:latin typeface="Times New Roman" pitchFamily="18" charset="0"/>
                    <a:sym typeface="Symbol" pitchFamily="18" charset="2"/>
                  </a:rPr>
                  <a:t></a:t>
                </a:r>
                <a:endParaRPr lang="zh-CN" altLang="en-US" sz="2800">
                  <a:latin typeface="Times New Roman" pitchFamily="18" charset="0"/>
                  <a:sym typeface="Symbol" pitchFamily="18" charset="2"/>
                </a:endParaRPr>
              </a:p>
            </p:txBody>
          </p:sp>
        </p:grpSp>
        <p:sp>
          <p:nvSpPr>
            <p:cNvPr id="17419" name="Line 32"/>
            <p:cNvSpPr>
              <a:spLocks noChangeShapeType="1"/>
            </p:cNvSpPr>
            <p:nvPr/>
          </p:nvSpPr>
          <p:spPr bwMode="auto">
            <a:xfrm>
              <a:off x="1872" y="3120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0" name="Line 33"/>
            <p:cNvSpPr>
              <a:spLocks noChangeShapeType="1"/>
            </p:cNvSpPr>
            <p:nvPr/>
          </p:nvSpPr>
          <p:spPr bwMode="auto">
            <a:xfrm>
              <a:off x="3840" y="3120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1" name="Line 34"/>
            <p:cNvSpPr>
              <a:spLocks noChangeShapeType="1"/>
            </p:cNvSpPr>
            <p:nvPr/>
          </p:nvSpPr>
          <p:spPr bwMode="auto">
            <a:xfrm>
              <a:off x="3456" y="3264"/>
              <a:ext cx="38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2" name="Line 35"/>
            <p:cNvSpPr>
              <a:spLocks noChangeShapeType="1"/>
            </p:cNvSpPr>
            <p:nvPr/>
          </p:nvSpPr>
          <p:spPr bwMode="auto">
            <a:xfrm flipH="1">
              <a:off x="1872" y="3264"/>
              <a:ext cx="5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3" name="Rectangle 36"/>
            <p:cNvSpPr>
              <a:spLocks noChangeArrowheads="1"/>
            </p:cNvSpPr>
            <p:nvPr/>
          </p:nvSpPr>
          <p:spPr bwMode="auto">
            <a:xfrm>
              <a:off x="2714" y="3028"/>
              <a:ext cx="331" cy="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2800">
                  <a:latin typeface="Times New Roman" pitchFamily="18" charset="0"/>
                  <a:sym typeface="Symbol" pitchFamily="18" charset="2"/>
                </a:rPr>
                <a:t></a:t>
              </a:r>
              <a:r>
                <a:rPr lang="en-US" altLang="zh-CN" sz="3200" baseline="-25000">
                  <a:latin typeface="宋体" pitchFamily="2" charset="-122"/>
                </a:rPr>
                <a:t>1</a:t>
              </a:r>
              <a:endParaRPr lang="zh-CN" altLang="en-US" sz="3200" baseline="-25000">
                <a:latin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64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642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642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64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64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209" grpId="0" animBg="1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A348D6AC-ED09-4DBD-AE49-603A6E8F53EF}" type="slidenum">
              <a:rPr lang="zh-CN" altLang="en-US"/>
              <a:pPr/>
              <a:t>52</a:t>
            </a:fld>
            <a:endParaRPr lang="en-US" altLang="zh-CN"/>
          </a:p>
        </p:txBody>
      </p:sp>
      <p:sp>
        <p:nvSpPr>
          <p:cNvPr id="18436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32BCDDA3-C936-4A3D-BDB4-F9A9E54AFE32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266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>
                <a:latin typeface="Times New Roman" pitchFamily="18" charset="0"/>
              </a:rPr>
              <a:t>2.5  迭代序列的误差估计</a:t>
            </a:r>
          </a:p>
        </p:txBody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292225"/>
            <a:ext cx="8142288" cy="469900"/>
          </a:xfrm>
        </p:spPr>
        <p:txBody>
          <a:bodyPr/>
          <a:lstStyle/>
          <a:p>
            <a:pPr lvl="1">
              <a:lnSpc>
                <a:spcPct val="110000"/>
              </a:lnSpc>
            </a:pPr>
            <a:r>
              <a:rPr lang="zh-CN" altLang="en-US" smtClean="0"/>
              <a:t>当</a:t>
            </a:r>
            <a:r>
              <a:rPr lang="zh-CN" altLang="en-US" i="1" smtClean="0"/>
              <a:t>|</a:t>
            </a:r>
            <a:r>
              <a:rPr lang="en-US" altLang="zh-CN" i="1" smtClean="0"/>
              <a:t>f’(x</a:t>
            </a:r>
            <a:r>
              <a:rPr lang="en-US" altLang="zh-CN" i="1" baseline="-25000" smtClean="0"/>
              <a:t>n</a:t>
            </a:r>
            <a:r>
              <a:rPr lang="en-US" altLang="zh-CN" i="1" smtClean="0"/>
              <a:t>)|</a:t>
            </a:r>
            <a:r>
              <a:rPr lang="en-US" altLang="zh-CN" smtClean="0"/>
              <a:t>&gt;&gt;1</a:t>
            </a:r>
            <a:r>
              <a:rPr lang="zh-CN" altLang="en-US" smtClean="0"/>
              <a:t>时</a:t>
            </a:r>
            <a:endParaRPr lang="zh-CN" altLang="en-US" smtClean="0">
              <a:latin typeface="宋体" pitchFamily="2" charset="-122"/>
            </a:endParaRPr>
          </a:p>
        </p:txBody>
      </p:sp>
      <p:graphicFrame>
        <p:nvGraphicFramePr>
          <p:cNvPr id="18434" name="Object 4"/>
          <p:cNvGraphicFramePr>
            <a:graphicFrameLocks noChangeAspect="1"/>
          </p:cNvGraphicFramePr>
          <p:nvPr/>
        </p:nvGraphicFramePr>
        <p:xfrm>
          <a:off x="2362202" y="1828802"/>
          <a:ext cx="3922713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8" name="公式" r:id="rId4" imgW="1904760" imgH="469800" progId="Equation.3">
                  <p:embed/>
                </p:oleObj>
              </mc:Choice>
              <mc:Fallback>
                <p:oleObj name="公式" r:id="rId4" imgW="1904760" imgH="469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2" y="1828802"/>
                        <a:ext cx="3922713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2843215" y="3213100"/>
            <a:ext cx="3546475" cy="2819400"/>
            <a:chOff x="786" y="2160"/>
            <a:chExt cx="2234" cy="1776"/>
          </a:xfrm>
        </p:grpSpPr>
        <p:sp>
          <p:nvSpPr>
            <p:cNvPr id="18441" name="Line 6"/>
            <p:cNvSpPr>
              <a:spLocks noChangeShapeType="1"/>
            </p:cNvSpPr>
            <p:nvPr/>
          </p:nvSpPr>
          <p:spPr bwMode="auto">
            <a:xfrm>
              <a:off x="786" y="3493"/>
              <a:ext cx="216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2" name="Line 7"/>
            <p:cNvSpPr>
              <a:spLocks noChangeShapeType="1"/>
            </p:cNvSpPr>
            <p:nvPr/>
          </p:nvSpPr>
          <p:spPr bwMode="auto">
            <a:xfrm flipV="1">
              <a:off x="1048" y="2251"/>
              <a:ext cx="0" cy="168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3" name="Text Box 8"/>
            <p:cNvSpPr txBox="1">
              <a:spLocks noChangeArrowheads="1"/>
            </p:cNvSpPr>
            <p:nvPr/>
          </p:nvSpPr>
          <p:spPr bwMode="auto">
            <a:xfrm>
              <a:off x="1079" y="2160"/>
              <a:ext cx="261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00"/>
                <a:t>y</a:t>
              </a:r>
            </a:p>
          </p:txBody>
        </p:sp>
        <p:sp>
          <p:nvSpPr>
            <p:cNvPr id="18444" name="Text Box 9"/>
            <p:cNvSpPr txBox="1">
              <a:spLocks noChangeArrowheads="1"/>
            </p:cNvSpPr>
            <p:nvPr/>
          </p:nvSpPr>
          <p:spPr bwMode="auto">
            <a:xfrm>
              <a:off x="2707" y="3483"/>
              <a:ext cx="260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00"/>
                <a:t>x</a:t>
              </a:r>
            </a:p>
          </p:txBody>
        </p:sp>
        <p:sp>
          <p:nvSpPr>
            <p:cNvPr id="18445" name="Text Box 10"/>
            <p:cNvSpPr txBox="1">
              <a:spLocks noChangeArrowheads="1"/>
            </p:cNvSpPr>
            <p:nvPr/>
          </p:nvSpPr>
          <p:spPr bwMode="auto">
            <a:xfrm>
              <a:off x="786" y="3483"/>
              <a:ext cx="260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zh-CN" sz="3000"/>
                <a:t>0</a:t>
              </a:r>
            </a:p>
          </p:txBody>
        </p:sp>
        <p:sp>
          <p:nvSpPr>
            <p:cNvPr id="18446" name="Text Box 12"/>
            <p:cNvSpPr txBox="1">
              <a:spLocks noChangeArrowheads="1"/>
            </p:cNvSpPr>
            <p:nvPr/>
          </p:nvSpPr>
          <p:spPr bwMode="auto">
            <a:xfrm>
              <a:off x="1693" y="3456"/>
              <a:ext cx="22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Times New Roman" pitchFamily="18" charset="0"/>
                  <a:sym typeface="Symbol" pitchFamily="18" charset="2"/>
                </a:rPr>
                <a:t></a:t>
              </a:r>
            </a:p>
          </p:txBody>
        </p:sp>
        <p:sp>
          <p:nvSpPr>
            <p:cNvPr id="18447" name="Line 13"/>
            <p:cNvSpPr>
              <a:spLocks noChangeShapeType="1"/>
            </p:cNvSpPr>
            <p:nvPr/>
          </p:nvSpPr>
          <p:spPr bwMode="auto">
            <a:xfrm flipH="1">
              <a:off x="1945" y="3029"/>
              <a:ext cx="0" cy="4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8" name="Text Box 14"/>
            <p:cNvSpPr txBox="1">
              <a:spLocks noChangeArrowheads="1"/>
            </p:cNvSpPr>
            <p:nvPr/>
          </p:nvSpPr>
          <p:spPr bwMode="auto">
            <a:xfrm>
              <a:off x="1812" y="3475"/>
              <a:ext cx="44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 i="1"/>
                <a:t>x</a:t>
              </a:r>
              <a:r>
                <a:rPr lang="en-US" altLang="zh-CN" sz="2800" i="1" baseline="-25000"/>
                <a:t>n</a:t>
              </a:r>
              <a:endParaRPr lang="en-US" altLang="zh-CN" sz="2800"/>
            </a:p>
          </p:txBody>
        </p:sp>
        <p:sp>
          <p:nvSpPr>
            <p:cNvPr id="18449" name="Line 15"/>
            <p:cNvSpPr>
              <a:spLocks noChangeShapeType="1"/>
            </p:cNvSpPr>
            <p:nvPr/>
          </p:nvSpPr>
          <p:spPr bwMode="auto">
            <a:xfrm>
              <a:off x="1065" y="3241"/>
              <a:ext cx="195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0" name="Rectangle 16"/>
            <p:cNvSpPr>
              <a:spLocks noChangeArrowheads="1"/>
            </p:cNvSpPr>
            <p:nvPr/>
          </p:nvSpPr>
          <p:spPr bwMode="auto">
            <a:xfrm>
              <a:off x="795" y="3061"/>
              <a:ext cx="27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2800">
                  <a:latin typeface="Times New Roman" pitchFamily="18" charset="0"/>
                  <a:sym typeface="Symbol" pitchFamily="18" charset="2"/>
                </a:rPr>
                <a:t> </a:t>
              </a:r>
              <a:endParaRPr lang="zh-CN" altLang="en-US" sz="2800">
                <a:latin typeface="Times New Roman" pitchFamily="18" charset="0"/>
                <a:sym typeface="Symbol" pitchFamily="18" charset="2"/>
              </a:endParaRPr>
            </a:p>
          </p:txBody>
        </p:sp>
        <p:sp>
          <p:nvSpPr>
            <p:cNvPr id="18451" name="Freeform 17"/>
            <p:cNvSpPr>
              <a:spLocks/>
            </p:cNvSpPr>
            <p:nvPr/>
          </p:nvSpPr>
          <p:spPr bwMode="auto">
            <a:xfrm>
              <a:off x="1418" y="2352"/>
              <a:ext cx="1002" cy="1574"/>
            </a:xfrm>
            <a:custGeom>
              <a:avLst/>
              <a:gdLst>
                <a:gd name="T0" fmla="*/ 0 w 1440"/>
                <a:gd name="T1" fmla="*/ 1528 h 1768"/>
                <a:gd name="T2" fmla="*/ 251 w 1440"/>
                <a:gd name="T3" fmla="*/ 1389 h 1768"/>
                <a:gd name="T4" fmla="*/ 626 w 1440"/>
                <a:gd name="T5" fmla="*/ 417 h 1768"/>
                <a:gd name="T6" fmla="*/ 1002 w 1440"/>
                <a:gd name="T7" fmla="*/ 0 h 176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40"/>
                <a:gd name="T13" fmla="*/ 0 h 1768"/>
                <a:gd name="T14" fmla="*/ 1440 w 1440"/>
                <a:gd name="T15" fmla="*/ 1768 h 176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40" h="1768">
                  <a:moveTo>
                    <a:pt x="0" y="1716"/>
                  </a:moveTo>
                  <a:cubicBezTo>
                    <a:pt x="105" y="1742"/>
                    <a:pt x="210" y="1768"/>
                    <a:pt x="360" y="1560"/>
                  </a:cubicBezTo>
                  <a:cubicBezTo>
                    <a:pt x="510" y="1352"/>
                    <a:pt x="720" y="728"/>
                    <a:pt x="900" y="468"/>
                  </a:cubicBezTo>
                  <a:cubicBezTo>
                    <a:pt x="1080" y="208"/>
                    <a:pt x="1260" y="104"/>
                    <a:pt x="1440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66261" name="AutoShape 21"/>
          <p:cNvSpPr>
            <a:spLocks noChangeArrowheads="1"/>
          </p:cNvSpPr>
          <p:nvPr/>
        </p:nvSpPr>
        <p:spPr bwMode="auto">
          <a:xfrm>
            <a:off x="6553200" y="2514600"/>
            <a:ext cx="1828800" cy="914400"/>
          </a:xfrm>
          <a:prstGeom prst="cloudCallout">
            <a:avLst>
              <a:gd name="adj1" fmla="val -77083"/>
              <a:gd name="adj2" fmla="val -36282"/>
            </a:avLst>
          </a:prstGeom>
          <a:solidFill>
            <a:srgbClr val="FFFF00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r>
              <a:rPr lang="en-US" altLang="zh-CN" sz="3200">
                <a:solidFill>
                  <a:srgbClr val="FF3300"/>
                </a:solidFill>
                <a:latin typeface="宋体" pitchFamily="2" charset="-122"/>
              </a:rPr>
              <a:t>&lt;</a:t>
            </a:r>
            <a:r>
              <a:rPr lang="en-US" altLang="zh-CN" sz="3200">
                <a:solidFill>
                  <a:srgbClr val="FF3300"/>
                </a:solidFill>
                <a:latin typeface="Times New Roman" pitchFamily="18" charset="0"/>
                <a:sym typeface="Symbol" pitchFamily="18" charset="2"/>
              </a:rPr>
              <a:t></a:t>
            </a:r>
            <a:endParaRPr lang="zh-CN" altLang="en-US" sz="3200">
              <a:solidFill>
                <a:srgbClr val="FF3300"/>
              </a:solidFill>
              <a:latin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662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662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66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66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1" grpId="0" animBg="1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08AE1FAD-EA26-4CF7-9334-FA691A4FAB9C}" type="slidenum">
              <a:rPr lang="zh-CN" altLang="en-US"/>
              <a:pPr/>
              <a:t>53</a:t>
            </a:fld>
            <a:endParaRPr lang="en-US" altLang="zh-CN"/>
          </a:p>
        </p:txBody>
      </p:sp>
      <p:sp>
        <p:nvSpPr>
          <p:cNvPr id="83971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D240077D-C133-4416-BE38-F29A5CAFD4B7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448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>
                <a:latin typeface="Times New Roman" pitchFamily="18" charset="0"/>
              </a:rPr>
              <a:t>迭代法小结</a:t>
            </a:r>
          </a:p>
        </p:txBody>
      </p:sp>
      <p:sp>
        <p:nvSpPr>
          <p:cNvPr id="839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2" y="1292225"/>
            <a:ext cx="8543925" cy="43116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smtClean="0"/>
              <a:t>迭代法的计算步骤归纳如下：</a:t>
            </a:r>
          </a:p>
          <a:p>
            <a:pPr lvl="1">
              <a:lnSpc>
                <a:spcPct val="100000"/>
              </a:lnSpc>
            </a:pPr>
            <a:r>
              <a:rPr lang="zh-CN" altLang="en-US" smtClean="0"/>
              <a:t>(1)选取初值</a:t>
            </a:r>
            <a:r>
              <a:rPr lang="en-US" altLang="zh-CN" i="1" smtClean="0"/>
              <a:t>x</a:t>
            </a:r>
            <a:r>
              <a:rPr lang="en-US" altLang="zh-CN" i="1" baseline="-25000" smtClean="0"/>
              <a:t>0</a:t>
            </a:r>
            <a:r>
              <a:rPr lang="zh-CN" altLang="en-US" smtClean="0"/>
              <a:t>，确定方程</a:t>
            </a:r>
            <a:r>
              <a:rPr lang="en-US" altLang="zh-CN" i="1" smtClean="0"/>
              <a:t>f(x)</a:t>
            </a:r>
            <a:r>
              <a:rPr lang="en-US" altLang="zh-CN" smtClean="0">
                <a:latin typeface="宋体" pitchFamily="2" charset="-122"/>
              </a:rPr>
              <a:t>=0</a:t>
            </a:r>
            <a:r>
              <a:rPr lang="zh-CN" altLang="en-US" smtClean="0"/>
              <a:t>的等价形式</a:t>
            </a:r>
            <a:r>
              <a:rPr lang="en-US" altLang="zh-CN" i="1" smtClean="0"/>
              <a:t>x</a:t>
            </a:r>
            <a:r>
              <a:rPr lang="en-US" altLang="zh-CN" smtClean="0">
                <a:latin typeface="宋体" pitchFamily="2" charset="-122"/>
              </a:rPr>
              <a:t>=</a:t>
            </a:r>
            <a:r>
              <a:rPr lang="en-US" altLang="zh-CN" i="1" smtClean="0">
                <a:sym typeface="Symbol" pitchFamily="18" charset="2"/>
              </a:rPr>
              <a:t></a:t>
            </a:r>
            <a:r>
              <a:rPr lang="en-US" altLang="zh-CN" i="1" smtClean="0"/>
              <a:t>(x)</a:t>
            </a:r>
            <a:endParaRPr lang="zh-CN" altLang="en-US" smtClean="0"/>
          </a:p>
          <a:p>
            <a:pPr lvl="1">
              <a:lnSpc>
                <a:spcPct val="100000"/>
              </a:lnSpc>
            </a:pPr>
            <a:r>
              <a:rPr lang="zh-CN" altLang="en-US" smtClean="0"/>
              <a:t>(2)按公式</a:t>
            </a:r>
            <a:r>
              <a:rPr lang="en-US" altLang="zh-CN" i="1" smtClean="0">
                <a:cs typeface="Times New Roman" pitchFamily="18" charset="0"/>
              </a:rPr>
              <a:t>x</a:t>
            </a:r>
            <a:r>
              <a:rPr lang="en-US" altLang="zh-CN" i="1" baseline="-25000" smtClean="0">
                <a:cs typeface="Times New Roman" pitchFamily="18" charset="0"/>
              </a:rPr>
              <a:t>n+1</a:t>
            </a:r>
            <a:r>
              <a:rPr lang="en-US" altLang="zh-CN" i="1" smtClean="0">
                <a:cs typeface="Times New Roman" pitchFamily="18" charset="0"/>
              </a:rPr>
              <a:t>= </a:t>
            </a:r>
            <a:r>
              <a:rPr lang="en-US" altLang="zh-CN" i="1" smtClean="0">
                <a:sym typeface="Symbol" pitchFamily="18" charset="2"/>
              </a:rPr>
              <a:t></a:t>
            </a:r>
            <a:r>
              <a:rPr lang="en-US" altLang="zh-CN" i="1" smtClean="0">
                <a:cs typeface="Times New Roman" pitchFamily="18" charset="0"/>
              </a:rPr>
              <a:t>(x</a:t>
            </a:r>
            <a:r>
              <a:rPr lang="en-US" altLang="zh-CN" i="1" baseline="-25000" smtClean="0">
                <a:cs typeface="Times New Roman" pitchFamily="18" charset="0"/>
              </a:rPr>
              <a:t>n</a:t>
            </a:r>
            <a:r>
              <a:rPr lang="en-US" altLang="zh-CN" i="1" smtClean="0">
                <a:cs typeface="Times New Roman" pitchFamily="18" charset="0"/>
              </a:rPr>
              <a:t>)</a:t>
            </a:r>
            <a:r>
              <a:rPr lang="zh-CN" altLang="en-US" smtClean="0"/>
              <a:t>计算</a:t>
            </a:r>
            <a:r>
              <a:rPr lang="en-US" altLang="zh-CN" i="1" smtClean="0">
                <a:cs typeface="Times New Roman" pitchFamily="18" charset="0"/>
              </a:rPr>
              <a:t>x</a:t>
            </a:r>
            <a:r>
              <a:rPr lang="en-US" altLang="zh-CN" i="1" baseline="-25000" smtClean="0">
                <a:cs typeface="Times New Roman" pitchFamily="18" charset="0"/>
              </a:rPr>
              <a:t>n</a:t>
            </a:r>
            <a:r>
              <a:rPr lang="en-US" altLang="zh-CN" baseline="-25000" smtClean="0">
                <a:cs typeface="Times New Roman" pitchFamily="18" charset="0"/>
              </a:rPr>
              <a:t>+1</a:t>
            </a:r>
            <a:r>
              <a:rPr lang="zh-CN" altLang="en-US" smtClean="0"/>
              <a:t>的值</a:t>
            </a:r>
          </a:p>
          <a:p>
            <a:pPr lvl="1">
              <a:lnSpc>
                <a:spcPct val="100000"/>
              </a:lnSpc>
            </a:pPr>
            <a:r>
              <a:rPr lang="zh-CN" altLang="en-US" smtClean="0"/>
              <a:t>(3)判别.如果| </a:t>
            </a:r>
            <a:r>
              <a:rPr lang="en-US" altLang="zh-CN" i="1" smtClean="0">
                <a:cs typeface="Times New Roman" pitchFamily="18" charset="0"/>
              </a:rPr>
              <a:t>x</a:t>
            </a:r>
            <a:r>
              <a:rPr lang="en-US" altLang="zh-CN" i="1" baseline="-25000" smtClean="0">
                <a:cs typeface="Times New Roman" pitchFamily="18" charset="0"/>
              </a:rPr>
              <a:t>n</a:t>
            </a:r>
            <a:r>
              <a:rPr lang="en-US" altLang="zh-CN" baseline="-25000" smtClean="0">
                <a:cs typeface="Times New Roman" pitchFamily="18" charset="0"/>
              </a:rPr>
              <a:t>+1</a:t>
            </a:r>
            <a:r>
              <a:rPr lang="zh-CN" altLang="en-US" smtClean="0"/>
              <a:t>-</a:t>
            </a:r>
            <a:r>
              <a:rPr lang="en-US" altLang="zh-CN" i="1" smtClean="0">
                <a:cs typeface="Times New Roman" pitchFamily="18" charset="0"/>
              </a:rPr>
              <a:t>x</a:t>
            </a:r>
            <a:r>
              <a:rPr lang="en-US" altLang="zh-CN" i="1" baseline="-25000" smtClean="0">
                <a:cs typeface="Times New Roman" pitchFamily="18" charset="0"/>
              </a:rPr>
              <a:t>n</a:t>
            </a:r>
            <a:r>
              <a:rPr lang="zh-CN" altLang="en-US" smtClean="0"/>
              <a:t>|&lt;</a:t>
            </a:r>
            <a:r>
              <a:rPr lang="zh-CN" altLang="en-US" smtClean="0">
                <a:sym typeface="Symbol" pitchFamily="18" charset="2"/>
              </a:rPr>
              <a:t>则停止计算，否则继续迭代</a:t>
            </a:r>
          </a:p>
          <a:p>
            <a:pPr>
              <a:lnSpc>
                <a:spcPct val="100000"/>
              </a:lnSpc>
            </a:pPr>
            <a:r>
              <a:rPr lang="zh-CN" altLang="en-US" smtClean="0">
                <a:sym typeface="Symbol" pitchFamily="18" charset="2"/>
              </a:rPr>
              <a:t>说明:</a:t>
            </a:r>
          </a:p>
          <a:p>
            <a:pPr lvl="1">
              <a:lnSpc>
                <a:spcPct val="100000"/>
              </a:lnSpc>
            </a:pPr>
            <a:r>
              <a:rPr lang="zh-CN" altLang="en-US" smtClean="0">
                <a:sym typeface="Symbol" pitchFamily="18" charset="2"/>
              </a:rPr>
              <a:t>(1)必须满足|</a:t>
            </a:r>
            <a:r>
              <a:rPr lang="en-US" altLang="zh-CN" i="1" smtClean="0">
                <a:sym typeface="Symbol" pitchFamily="18" charset="2"/>
              </a:rPr>
              <a:t></a:t>
            </a:r>
            <a:r>
              <a:rPr lang="en-US" altLang="zh-CN" i="1" smtClean="0"/>
              <a:t>’</a:t>
            </a:r>
            <a:r>
              <a:rPr lang="en-US" altLang="zh-CN" smtClean="0"/>
              <a:t>(</a:t>
            </a:r>
            <a:r>
              <a:rPr lang="en-US" altLang="zh-CN" i="1" smtClean="0"/>
              <a:t>x</a:t>
            </a:r>
            <a:r>
              <a:rPr lang="en-US" altLang="zh-CN" smtClean="0"/>
              <a:t>)|</a:t>
            </a:r>
            <a:r>
              <a:rPr lang="en-US" altLang="zh-CN" smtClean="0">
                <a:sym typeface="Symbol" pitchFamily="18" charset="2"/>
              </a:rPr>
              <a:t></a:t>
            </a:r>
            <a:r>
              <a:rPr lang="en-US" altLang="zh-CN" i="1" smtClean="0">
                <a:sym typeface="Symbol" pitchFamily="18" charset="2"/>
              </a:rPr>
              <a:t>q</a:t>
            </a:r>
            <a:r>
              <a:rPr lang="en-US" altLang="zh-CN" smtClean="0">
                <a:sym typeface="Symbol" pitchFamily="18" charset="2"/>
              </a:rPr>
              <a:t>&lt;1</a:t>
            </a:r>
            <a:r>
              <a:rPr lang="zh-CN" altLang="en-US" smtClean="0">
                <a:sym typeface="Symbol" pitchFamily="18" charset="2"/>
              </a:rPr>
              <a:t>;</a:t>
            </a:r>
          </a:p>
          <a:p>
            <a:pPr lvl="1">
              <a:lnSpc>
                <a:spcPct val="100000"/>
              </a:lnSpc>
            </a:pPr>
            <a:r>
              <a:rPr lang="zh-CN" altLang="en-US" smtClean="0">
                <a:latin typeface="宋体" pitchFamily="2" charset="-122"/>
                <a:sym typeface="Symbol" pitchFamily="18" charset="2"/>
              </a:rPr>
              <a:t>(2)一个方程</a:t>
            </a:r>
            <a:r>
              <a:rPr lang="en-US" altLang="zh-CN" i="1" smtClean="0"/>
              <a:t>f(x)</a:t>
            </a:r>
            <a:r>
              <a:rPr lang="en-US" altLang="zh-CN" smtClean="0">
                <a:latin typeface="宋体" pitchFamily="2" charset="-122"/>
              </a:rPr>
              <a:t>=0</a:t>
            </a:r>
            <a:r>
              <a:rPr lang="zh-CN" altLang="en-US" smtClean="0">
                <a:latin typeface="宋体" pitchFamily="2" charset="-122"/>
                <a:sym typeface="Symbol" pitchFamily="18" charset="2"/>
              </a:rPr>
              <a:t>变形为</a:t>
            </a:r>
            <a:r>
              <a:rPr lang="en-US" altLang="zh-CN" i="1" smtClean="0"/>
              <a:t>x</a:t>
            </a:r>
            <a:r>
              <a:rPr lang="en-US" altLang="zh-CN" smtClean="0">
                <a:latin typeface="宋体" pitchFamily="2" charset="-122"/>
              </a:rPr>
              <a:t>=</a:t>
            </a:r>
            <a:r>
              <a:rPr lang="en-US" altLang="zh-CN" i="1" smtClean="0">
                <a:sym typeface="Symbol" pitchFamily="18" charset="2"/>
              </a:rPr>
              <a:t></a:t>
            </a:r>
            <a:r>
              <a:rPr lang="en-US" altLang="zh-CN" i="1" smtClean="0"/>
              <a:t>(x)</a:t>
            </a:r>
            <a:r>
              <a:rPr lang="zh-CN" altLang="en-US" smtClean="0">
                <a:latin typeface="宋体" pitchFamily="2" charset="-122"/>
                <a:sym typeface="Symbol" pitchFamily="18" charset="2"/>
              </a:rPr>
              <a:t>有许多形式, </a:t>
            </a:r>
            <a:r>
              <a:rPr lang="en-US" altLang="zh-CN" i="1" smtClean="0">
                <a:sym typeface="Symbol" pitchFamily="18" charset="2"/>
              </a:rPr>
              <a:t>q</a:t>
            </a:r>
            <a:r>
              <a:rPr lang="zh-CN" altLang="en-US" smtClean="0">
                <a:latin typeface="宋体" pitchFamily="2" charset="-122"/>
                <a:sym typeface="Symbol" pitchFamily="18" charset="2"/>
              </a:rPr>
              <a:t>越小,收敛的越快。</a:t>
            </a:r>
            <a:r>
              <a:rPr lang="zh-CN" altLang="en-US" smtClean="0">
                <a:sym typeface="Symbol" pitchFamily="18" charset="2"/>
              </a:rPr>
              <a:t> </a:t>
            </a: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DA77A613-C791-42CF-B991-19B05C986A61}" type="slidenum">
              <a:rPr lang="zh-CN" altLang="en-US"/>
              <a:pPr/>
              <a:t>54</a:t>
            </a:fld>
            <a:endParaRPr lang="en-US" altLang="zh-CN"/>
          </a:p>
        </p:txBody>
      </p:sp>
      <p:sp>
        <p:nvSpPr>
          <p:cNvPr id="84995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89853E74-00AC-46C1-B763-D0BEA77AF635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519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>
                <a:latin typeface="Times New Roman" pitchFamily="18" charset="0"/>
              </a:rPr>
              <a:t>2.5  迭代序列的误差估计</a:t>
            </a:r>
          </a:p>
        </p:txBody>
      </p:sp>
      <p:sp>
        <p:nvSpPr>
          <p:cNvPr id="8499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292225"/>
            <a:ext cx="8142288" cy="768350"/>
          </a:xfrm>
        </p:spPr>
        <p:txBody>
          <a:bodyPr/>
          <a:lstStyle/>
          <a:p>
            <a:r>
              <a:rPr lang="zh-CN" altLang="en-US" smtClean="0"/>
              <a:t>例2.4　对下列方程 </a:t>
            </a:r>
            <a:r>
              <a:rPr lang="en-US" altLang="zh-CN" i="1" smtClean="0"/>
              <a:t>x</a:t>
            </a:r>
            <a:r>
              <a:rPr lang="en-US" altLang="zh-CN" smtClean="0"/>
              <a:t>-</a:t>
            </a:r>
            <a:r>
              <a:rPr lang="en-US" altLang="zh-CN" i="1" smtClean="0"/>
              <a:t>sinx</a:t>
            </a:r>
            <a:r>
              <a:rPr lang="en-US" altLang="zh-CN" smtClean="0"/>
              <a:t>=0.250,</a:t>
            </a:r>
            <a:r>
              <a:rPr lang="zh-CN" altLang="en-US" smtClean="0"/>
              <a:t>用迭代法、取三位小数计算其近似根，并估计其误差</a:t>
            </a:r>
            <a:endParaRPr lang="zh-CN" altLang="zh-CN" b="0" smtClean="0"/>
          </a:p>
        </p:txBody>
      </p:sp>
      <p:grpSp>
        <p:nvGrpSpPr>
          <p:cNvPr id="84998" name="Group 4"/>
          <p:cNvGrpSpPr>
            <a:grpSpLocks/>
          </p:cNvGrpSpPr>
          <p:nvPr/>
        </p:nvGrpSpPr>
        <p:grpSpPr bwMode="auto">
          <a:xfrm>
            <a:off x="76202" y="2336800"/>
            <a:ext cx="4741863" cy="2768600"/>
            <a:chOff x="325" y="1344"/>
            <a:chExt cx="2987" cy="1600"/>
          </a:xfrm>
        </p:grpSpPr>
        <p:sp>
          <p:nvSpPr>
            <p:cNvPr id="85001" name="Line 5"/>
            <p:cNvSpPr>
              <a:spLocks noChangeShapeType="1"/>
            </p:cNvSpPr>
            <p:nvPr/>
          </p:nvSpPr>
          <p:spPr bwMode="auto">
            <a:xfrm>
              <a:off x="624" y="2545"/>
              <a:ext cx="208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02" name="Line 6"/>
            <p:cNvSpPr>
              <a:spLocks noChangeShapeType="1"/>
            </p:cNvSpPr>
            <p:nvPr/>
          </p:nvSpPr>
          <p:spPr bwMode="auto">
            <a:xfrm flipV="1">
              <a:off x="877" y="1426"/>
              <a:ext cx="0" cy="151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03" name="Text Box 7"/>
            <p:cNvSpPr txBox="1">
              <a:spLocks noChangeArrowheads="1"/>
            </p:cNvSpPr>
            <p:nvPr/>
          </p:nvSpPr>
          <p:spPr bwMode="auto">
            <a:xfrm>
              <a:off x="907" y="1344"/>
              <a:ext cx="252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00" i="1">
                  <a:latin typeface="Times New Roman" pitchFamily="18" charset="0"/>
                </a:rPr>
                <a:t>y</a:t>
              </a:r>
            </a:p>
          </p:txBody>
        </p:sp>
        <p:sp>
          <p:nvSpPr>
            <p:cNvPr id="85004" name="Text Box 8"/>
            <p:cNvSpPr txBox="1">
              <a:spLocks noChangeArrowheads="1"/>
            </p:cNvSpPr>
            <p:nvPr/>
          </p:nvSpPr>
          <p:spPr bwMode="auto">
            <a:xfrm>
              <a:off x="2478" y="2536"/>
              <a:ext cx="251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00" i="1">
                  <a:latin typeface="Times New Roman" pitchFamily="18" charset="0"/>
                </a:rPr>
                <a:t>x</a:t>
              </a:r>
            </a:p>
          </p:txBody>
        </p:sp>
        <p:sp>
          <p:nvSpPr>
            <p:cNvPr id="85005" name="Text Box 9"/>
            <p:cNvSpPr txBox="1">
              <a:spLocks noChangeArrowheads="1"/>
            </p:cNvSpPr>
            <p:nvPr/>
          </p:nvSpPr>
          <p:spPr bwMode="auto">
            <a:xfrm>
              <a:off x="624" y="2536"/>
              <a:ext cx="251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zh-CN" sz="3000"/>
                <a:t>0</a:t>
              </a:r>
            </a:p>
          </p:txBody>
        </p:sp>
        <p:sp>
          <p:nvSpPr>
            <p:cNvPr id="85006" name="Text Box 10"/>
            <p:cNvSpPr txBox="1">
              <a:spLocks noChangeArrowheads="1"/>
            </p:cNvSpPr>
            <p:nvPr/>
          </p:nvSpPr>
          <p:spPr bwMode="auto">
            <a:xfrm>
              <a:off x="1872" y="2512"/>
              <a:ext cx="219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latin typeface="Times New Roman" pitchFamily="18" charset="0"/>
                  <a:sym typeface="Symbol" pitchFamily="18" charset="2"/>
                </a:rPr>
                <a:t></a:t>
              </a:r>
            </a:p>
          </p:txBody>
        </p:sp>
        <p:sp>
          <p:nvSpPr>
            <p:cNvPr id="85007" name="Line 11"/>
            <p:cNvSpPr>
              <a:spLocks noChangeShapeType="1"/>
            </p:cNvSpPr>
            <p:nvPr/>
          </p:nvSpPr>
          <p:spPr bwMode="auto">
            <a:xfrm flipH="1">
              <a:off x="1968" y="1680"/>
              <a:ext cx="0" cy="85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08" name="Line 12"/>
            <p:cNvSpPr>
              <a:spLocks noChangeShapeType="1"/>
            </p:cNvSpPr>
            <p:nvPr/>
          </p:nvSpPr>
          <p:spPr bwMode="auto">
            <a:xfrm flipV="1">
              <a:off x="912" y="1507"/>
              <a:ext cx="1254" cy="1037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09" name="Text Box 13"/>
            <p:cNvSpPr txBox="1">
              <a:spLocks noChangeArrowheads="1"/>
            </p:cNvSpPr>
            <p:nvPr/>
          </p:nvSpPr>
          <p:spPr bwMode="auto">
            <a:xfrm>
              <a:off x="2144" y="1399"/>
              <a:ext cx="688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i="1">
                  <a:solidFill>
                    <a:srgbClr val="FF3300"/>
                  </a:solidFill>
                  <a:latin typeface="Times New Roman" pitchFamily="18" charset="0"/>
                </a:rPr>
                <a:t>y</a:t>
              </a:r>
              <a:r>
                <a:rPr lang="en-US" altLang="zh-CN" baseline="-25000">
                  <a:solidFill>
                    <a:srgbClr val="FF3300"/>
                  </a:solidFill>
                </a:rPr>
                <a:t>1</a:t>
              </a:r>
              <a:r>
                <a:rPr lang="en-US" altLang="zh-CN">
                  <a:solidFill>
                    <a:srgbClr val="FF3300"/>
                  </a:solidFill>
                </a:rPr>
                <a:t>(</a:t>
              </a:r>
              <a:r>
                <a:rPr lang="en-US" altLang="zh-CN" i="1">
                  <a:solidFill>
                    <a:srgbClr val="FF3300"/>
                  </a:solidFill>
                  <a:latin typeface="Times New Roman" pitchFamily="18" charset="0"/>
                </a:rPr>
                <a:t>x</a:t>
              </a:r>
              <a:r>
                <a:rPr lang="en-US" altLang="zh-CN">
                  <a:solidFill>
                    <a:srgbClr val="FF3300"/>
                  </a:solidFill>
                </a:rPr>
                <a:t>)=</a:t>
              </a:r>
              <a:r>
                <a:rPr lang="en-US" altLang="zh-CN" i="1">
                  <a:solidFill>
                    <a:srgbClr val="FF3300"/>
                  </a:solidFill>
                  <a:latin typeface="Times New Roman" pitchFamily="18" charset="0"/>
                </a:rPr>
                <a:t>x</a:t>
              </a:r>
            </a:p>
          </p:txBody>
        </p:sp>
        <p:sp>
          <p:nvSpPr>
            <p:cNvPr id="85010" name="Freeform 14"/>
            <p:cNvSpPr>
              <a:spLocks/>
            </p:cNvSpPr>
            <p:nvPr/>
          </p:nvSpPr>
          <p:spPr bwMode="auto">
            <a:xfrm>
              <a:off x="864" y="1680"/>
              <a:ext cx="1440" cy="750"/>
            </a:xfrm>
            <a:custGeom>
              <a:avLst/>
              <a:gdLst>
                <a:gd name="T0" fmla="*/ 0 w 1800"/>
                <a:gd name="T1" fmla="*/ 750 h 780"/>
                <a:gd name="T2" fmla="*/ 576 w 1800"/>
                <a:gd name="T3" fmla="*/ 150 h 780"/>
                <a:gd name="T4" fmla="*/ 1152 w 1800"/>
                <a:gd name="T5" fmla="*/ 0 h 780"/>
                <a:gd name="T6" fmla="*/ 1440 w 1800"/>
                <a:gd name="T7" fmla="*/ 150 h 78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00"/>
                <a:gd name="T13" fmla="*/ 0 h 780"/>
                <a:gd name="T14" fmla="*/ 1800 w 1800"/>
                <a:gd name="T15" fmla="*/ 780 h 78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00" h="780">
                  <a:moveTo>
                    <a:pt x="0" y="780"/>
                  </a:moveTo>
                  <a:cubicBezTo>
                    <a:pt x="240" y="533"/>
                    <a:pt x="480" y="286"/>
                    <a:pt x="720" y="156"/>
                  </a:cubicBezTo>
                  <a:cubicBezTo>
                    <a:pt x="960" y="26"/>
                    <a:pt x="1260" y="0"/>
                    <a:pt x="1440" y="0"/>
                  </a:cubicBezTo>
                  <a:cubicBezTo>
                    <a:pt x="1620" y="0"/>
                    <a:pt x="1710" y="78"/>
                    <a:pt x="1800" y="156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11" name="Text Box 15"/>
            <p:cNvSpPr txBox="1">
              <a:spLocks noChangeArrowheads="1"/>
            </p:cNvSpPr>
            <p:nvPr/>
          </p:nvSpPr>
          <p:spPr bwMode="auto">
            <a:xfrm>
              <a:off x="1968" y="1814"/>
              <a:ext cx="1344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i="1">
                  <a:solidFill>
                    <a:srgbClr val="0000FF"/>
                  </a:solidFill>
                  <a:latin typeface="Times New Roman" pitchFamily="18" charset="0"/>
                </a:rPr>
                <a:t>y</a:t>
              </a:r>
              <a:r>
                <a:rPr lang="en-US" altLang="zh-CN" baseline="-25000">
                  <a:solidFill>
                    <a:srgbClr val="0000FF"/>
                  </a:solidFill>
                </a:rPr>
                <a:t>2</a:t>
              </a:r>
              <a:r>
                <a:rPr lang="en-US" altLang="zh-CN">
                  <a:solidFill>
                    <a:srgbClr val="0000FF"/>
                  </a:solidFill>
                </a:rPr>
                <a:t>(</a:t>
              </a:r>
              <a:r>
                <a:rPr lang="en-US" altLang="zh-CN" i="1">
                  <a:solidFill>
                    <a:srgbClr val="0000FF"/>
                  </a:solidFill>
                  <a:latin typeface="Times New Roman" pitchFamily="18" charset="0"/>
                </a:rPr>
                <a:t>x</a:t>
              </a:r>
              <a:r>
                <a:rPr lang="en-US" altLang="zh-CN">
                  <a:solidFill>
                    <a:srgbClr val="0000FF"/>
                  </a:solidFill>
                </a:rPr>
                <a:t>)=</a:t>
              </a:r>
              <a:r>
                <a:rPr lang="en-US" altLang="zh-CN" i="1">
                  <a:solidFill>
                    <a:srgbClr val="0000FF"/>
                  </a:solidFill>
                  <a:latin typeface="Times New Roman" pitchFamily="18" charset="0"/>
                </a:rPr>
                <a:t>sinx</a:t>
              </a:r>
              <a:r>
                <a:rPr lang="en-US" altLang="zh-CN">
                  <a:solidFill>
                    <a:srgbClr val="0000FF"/>
                  </a:solidFill>
                </a:rPr>
                <a:t>+0.25</a:t>
              </a:r>
              <a:endParaRPr lang="en-US" altLang="zh-CN" sz="3000">
                <a:solidFill>
                  <a:srgbClr val="0000FF"/>
                </a:solidFill>
              </a:endParaRPr>
            </a:p>
          </p:txBody>
        </p:sp>
        <p:sp>
          <p:nvSpPr>
            <p:cNvPr id="85012" name="Text Box 16"/>
            <p:cNvSpPr txBox="1">
              <a:spLocks noChangeArrowheads="1"/>
            </p:cNvSpPr>
            <p:nvPr/>
          </p:nvSpPr>
          <p:spPr bwMode="auto">
            <a:xfrm>
              <a:off x="1488" y="2534"/>
              <a:ext cx="443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zh-CN" sz="2400"/>
                <a:t>0.9</a:t>
              </a:r>
              <a:endParaRPr lang="zh-CN" altLang="zh-CN" sz="3000"/>
            </a:p>
          </p:txBody>
        </p:sp>
        <p:sp>
          <p:nvSpPr>
            <p:cNvPr id="85013" name="Text Box 17"/>
            <p:cNvSpPr txBox="1">
              <a:spLocks noChangeArrowheads="1"/>
            </p:cNvSpPr>
            <p:nvPr/>
          </p:nvSpPr>
          <p:spPr bwMode="auto">
            <a:xfrm>
              <a:off x="2101" y="2544"/>
              <a:ext cx="443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zh-CN" sz="2400"/>
                <a:t>1.5</a:t>
              </a:r>
              <a:endParaRPr lang="zh-CN" altLang="zh-CN" sz="3000"/>
            </a:p>
          </p:txBody>
        </p:sp>
        <p:sp>
          <p:nvSpPr>
            <p:cNvPr id="85014" name="Text Box 18"/>
            <p:cNvSpPr txBox="1">
              <a:spLocks noChangeArrowheads="1"/>
            </p:cNvSpPr>
            <p:nvPr/>
          </p:nvSpPr>
          <p:spPr bwMode="auto">
            <a:xfrm>
              <a:off x="325" y="2256"/>
              <a:ext cx="635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zh-CN" sz="2400"/>
                <a:t>0.25</a:t>
              </a:r>
              <a:endParaRPr lang="zh-CN" altLang="zh-CN" sz="3000"/>
            </a:p>
          </p:txBody>
        </p:sp>
      </p:grpSp>
      <p:sp>
        <p:nvSpPr>
          <p:cNvPr id="519187" name="Rectangle 19"/>
          <p:cNvSpPr>
            <a:spLocks noChangeArrowheads="1"/>
          </p:cNvSpPr>
          <p:nvPr/>
        </p:nvSpPr>
        <p:spPr bwMode="auto">
          <a:xfrm>
            <a:off x="4364038" y="2220915"/>
            <a:ext cx="4856162" cy="273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258763" indent="-258763" algn="l" defTabSz="814388"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</a:pP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解：方程化为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=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sinx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+0.250</a:t>
            </a:r>
          </a:p>
          <a:p>
            <a:pPr marL="258763" indent="-258763" algn="l" defTabSz="814388">
              <a:spcBef>
                <a:spcPct val="35000"/>
              </a:spcBef>
              <a:buClr>
                <a:srgbClr val="27305F"/>
              </a:buClr>
              <a:buSzPct val="60000"/>
            </a:pP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由作图法可粗略知</a:t>
            </a:r>
            <a:r>
              <a:rPr lang="en-US" altLang="zh-CN" sz="2400">
                <a:latin typeface="Times New Roman" pitchFamily="18" charset="0"/>
                <a:ea typeface="黑体" pitchFamily="49" charset="-122"/>
                <a:sym typeface="Symbol" pitchFamily="18" charset="2"/>
              </a:rPr>
              <a:t></a:t>
            </a:r>
            <a:r>
              <a:rPr lang="en-US" altLang="zh-CN" sz="2800">
                <a:latin typeface="Times New Roman" pitchFamily="18" charset="0"/>
                <a:ea typeface="黑体" pitchFamily="49" charset="-122"/>
                <a:sym typeface="Symbol" pitchFamily="18" charset="2"/>
              </a:rPr>
              <a:t>[0.9,1.5],</a:t>
            </a:r>
          </a:p>
          <a:p>
            <a:pPr marL="258763" indent="-258763" algn="l" defTabSz="814388">
              <a:spcBef>
                <a:spcPct val="35000"/>
              </a:spcBef>
              <a:buClr>
                <a:srgbClr val="27305F"/>
              </a:buClr>
              <a:buSzPct val="60000"/>
            </a:pPr>
            <a:r>
              <a:rPr lang="zh-CN" altLang="en-US" sz="2800">
                <a:latin typeface="Times New Roman" pitchFamily="18" charset="0"/>
                <a:ea typeface="黑体" pitchFamily="49" charset="-122"/>
                <a:sym typeface="Symbol" pitchFamily="18" charset="2"/>
              </a:rPr>
              <a:t>因为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  <a:sym typeface="Symbol" pitchFamily="18" charset="2"/>
              </a:rPr>
              <a:t>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(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)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=sinx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+0.250,</a:t>
            </a:r>
          </a:p>
          <a:p>
            <a:pPr marL="258763" indent="-258763" algn="l" defTabSz="814388">
              <a:spcBef>
                <a:spcPct val="35000"/>
              </a:spcBef>
              <a:buClr>
                <a:srgbClr val="27305F"/>
              </a:buClr>
              <a:buSzPct val="60000"/>
            </a:pP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 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  <a:sym typeface="Symbol" pitchFamily="18" charset="2"/>
              </a:rPr>
              <a:t>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’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(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)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=cosx,</a:t>
            </a: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当0.9&lt;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&lt;1.5</a:t>
            </a: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时</a:t>
            </a:r>
          </a:p>
          <a:p>
            <a:pPr marL="258763" indent="-258763" algn="l" defTabSz="814388">
              <a:spcBef>
                <a:spcPct val="35000"/>
              </a:spcBef>
              <a:buClr>
                <a:srgbClr val="27305F"/>
              </a:buClr>
              <a:buSzPct val="60000"/>
            </a:pPr>
            <a:r>
              <a:rPr lang="zh-CN" altLang="en-US" sz="280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有  </a:t>
            </a:r>
            <a:r>
              <a:rPr lang="zh-CN" altLang="en-US" sz="2800" i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| 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  <a:sym typeface="Symbol" pitchFamily="18" charset="2"/>
              </a:rPr>
              <a:t>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’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(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)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|</a:t>
            </a: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≤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cos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0.9≈0.62=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q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&lt;1</a:t>
            </a:r>
          </a:p>
        </p:txBody>
      </p:sp>
      <p:sp>
        <p:nvSpPr>
          <p:cNvPr id="519188" name="Rectangle 20"/>
          <p:cNvSpPr>
            <a:spLocks noChangeArrowheads="1"/>
          </p:cNvSpPr>
          <p:nvPr/>
        </p:nvSpPr>
        <p:spPr bwMode="auto">
          <a:xfrm>
            <a:off x="533400" y="5099050"/>
            <a:ext cx="8142288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258763" indent="-258763" algn="l" defTabSz="814388">
              <a:lnSpc>
                <a:spcPct val="110000"/>
              </a:lnSpc>
              <a:spcBef>
                <a:spcPct val="35000"/>
              </a:spcBef>
              <a:buClr>
                <a:srgbClr val="27305F"/>
              </a:buClr>
              <a:buSzPct val="60000"/>
            </a:pPr>
            <a:r>
              <a:rPr lang="zh-CN" altLang="en-US" sz="2800" b="0">
                <a:latin typeface="Times New Roman" pitchFamily="18" charset="0"/>
                <a:ea typeface="黑体" pitchFamily="49" charset="-122"/>
              </a:rPr>
              <a:t>	</a:t>
            </a: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所以迭代过程收敛。取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2800" baseline="-25000">
                <a:latin typeface="Times New Roman" pitchFamily="18" charset="0"/>
                <a:ea typeface="黑体" pitchFamily="49" charset="-122"/>
              </a:rPr>
              <a:t>0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=1.2、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2800" i="1" baseline="-25000">
                <a:latin typeface="Times New Roman" pitchFamily="18" charset="0"/>
                <a:ea typeface="黑体" pitchFamily="49" charset="-122"/>
              </a:rPr>
              <a:t>n+</a:t>
            </a:r>
            <a:r>
              <a:rPr lang="en-US" altLang="zh-CN" sz="2800" baseline="-25000">
                <a:latin typeface="Times New Roman" pitchFamily="18" charset="0"/>
                <a:ea typeface="黑体" pitchFamily="49" charset="-122"/>
              </a:rPr>
              <a:t>1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=sinx</a:t>
            </a:r>
            <a:r>
              <a:rPr lang="en-US" altLang="zh-CN" sz="2800" i="1" baseline="-25000">
                <a:latin typeface="Times New Roman" pitchFamily="18" charset="0"/>
                <a:ea typeface="黑体" pitchFamily="49" charset="-122"/>
              </a:rPr>
              <a:t>n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+0.250</a:t>
            </a: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计算得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2800" baseline="-25000">
                <a:latin typeface="Times New Roman" pitchFamily="18" charset="0"/>
                <a:ea typeface="黑体" pitchFamily="49" charset="-122"/>
              </a:rPr>
              <a:t>4</a:t>
            </a: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如下：</a:t>
            </a:r>
            <a:endParaRPr lang="en-US" altLang="zh-CN" sz="2800">
              <a:latin typeface="Times New Roman" pitchFamily="18" charset="0"/>
              <a:ea typeface="黑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19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519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9187" grpId="0"/>
      <p:bldP spid="519188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6433ED17-5E15-44DA-AA73-1257993542B0}" type="slidenum">
              <a:rPr lang="zh-CN" altLang="en-US"/>
              <a:pPr/>
              <a:t>55</a:t>
            </a:fld>
            <a:endParaRPr lang="en-US" altLang="zh-CN"/>
          </a:p>
        </p:txBody>
      </p:sp>
      <p:sp>
        <p:nvSpPr>
          <p:cNvPr id="19460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2569B24A-605A-4D15-AA59-90297DD706AC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520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>
                <a:latin typeface="Times New Roman" pitchFamily="18" charset="0"/>
              </a:rPr>
              <a:t>2.5  迭代序列的误差估计</a:t>
            </a:r>
          </a:p>
        </p:txBody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1715" y="1139827"/>
            <a:ext cx="8142287" cy="5184775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i="1" smtClean="0"/>
              <a:t>x</a:t>
            </a:r>
            <a:r>
              <a:rPr lang="en-US" altLang="zh-CN" baseline="-25000" smtClean="0"/>
              <a:t>1</a:t>
            </a:r>
            <a:r>
              <a:rPr lang="en-US" altLang="zh-CN" smtClean="0"/>
              <a:t>=sin1.2+0.250=0.932+0.250=1.182</a:t>
            </a:r>
          </a:p>
          <a:p>
            <a:pPr>
              <a:buFont typeface="Wingdings" pitchFamily="2" charset="2"/>
              <a:buNone/>
            </a:pPr>
            <a:r>
              <a:rPr lang="en-US" altLang="zh-CN" i="1" smtClean="0"/>
              <a:t>x</a:t>
            </a:r>
            <a:r>
              <a:rPr lang="en-US" altLang="zh-CN" baseline="-25000" smtClean="0"/>
              <a:t>2</a:t>
            </a:r>
            <a:r>
              <a:rPr lang="en-US" altLang="zh-CN" smtClean="0"/>
              <a:t>=sin1.182+0.250=0.925+0.250=1.175</a:t>
            </a:r>
          </a:p>
          <a:p>
            <a:pPr>
              <a:buFont typeface="Wingdings" pitchFamily="2" charset="2"/>
              <a:buNone/>
            </a:pPr>
            <a:r>
              <a:rPr lang="en-US" altLang="zh-CN" i="1" smtClean="0"/>
              <a:t>x</a:t>
            </a:r>
            <a:r>
              <a:rPr lang="en-US" altLang="zh-CN" baseline="-25000" smtClean="0"/>
              <a:t>3</a:t>
            </a:r>
            <a:r>
              <a:rPr lang="en-US" altLang="zh-CN" smtClean="0"/>
              <a:t>=sin1.175+0.250=0.923+0.250=1.173</a:t>
            </a:r>
          </a:p>
          <a:p>
            <a:pPr>
              <a:buFont typeface="Wingdings" pitchFamily="2" charset="2"/>
              <a:buNone/>
            </a:pPr>
            <a:r>
              <a:rPr lang="en-US" altLang="zh-CN" i="1" smtClean="0"/>
              <a:t>x</a:t>
            </a:r>
            <a:r>
              <a:rPr lang="en-US" altLang="zh-CN" baseline="-25000" smtClean="0"/>
              <a:t>4</a:t>
            </a:r>
            <a:r>
              <a:rPr lang="en-US" altLang="zh-CN" smtClean="0"/>
              <a:t>=sin1.173+0.250=0.922+0.250=1.172</a:t>
            </a:r>
          </a:p>
          <a:p>
            <a:pPr>
              <a:buFont typeface="Wingdings" pitchFamily="2" charset="2"/>
              <a:buNone/>
            </a:pPr>
            <a:r>
              <a:rPr lang="en-US" altLang="zh-CN" i="1" smtClean="0"/>
              <a:t>x</a:t>
            </a:r>
            <a:r>
              <a:rPr lang="en-US" altLang="zh-CN" baseline="-25000" smtClean="0"/>
              <a:t>5</a:t>
            </a:r>
            <a:r>
              <a:rPr lang="en-US" altLang="zh-CN" smtClean="0"/>
              <a:t>=sin1.172+0.250=     ……       =1.172</a:t>
            </a:r>
          </a:p>
          <a:p>
            <a:pPr>
              <a:buFont typeface="Wingdings" pitchFamily="2" charset="2"/>
              <a:buNone/>
            </a:pPr>
            <a:r>
              <a:rPr lang="zh-CN" altLang="en-US" smtClean="0"/>
              <a:t>则有| </a:t>
            </a:r>
            <a:r>
              <a:rPr lang="en-US" altLang="zh-CN" i="1" smtClean="0"/>
              <a:t>x</a:t>
            </a:r>
            <a:r>
              <a:rPr lang="en-US" altLang="zh-CN" baseline="-25000" smtClean="0"/>
              <a:t>4</a:t>
            </a:r>
            <a:r>
              <a:rPr lang="en-US" altLang="zh-CN" smtClean="0"/>
              <a:t>- </a:t>
            </a:r>
            <a:r>
              <a:rPr lang="en-US" altLang="zh-CN" i="1" smtClean="0"/>
              <a:t>x</a:t>
            </a:r>
            <a:r>
              <a:rPr lang="en-US" altLang="zh-CN" baseline="-25000" smtClean="0"/>
              <a:t>3</a:t>
            </a:r>
            <a:r>
              <a:rPr lang="en-US" altLang="zh-CN" smtClean="0"/>
              <a:t> </a:t>
            </a:r>
            <a:r>
              <a:rPr lang="zh-CN" altLang="en-US" smtClean="0"/>
              <a:t>|=0.001,按照上界公式(1)得</a:t>
            </a:r>
          </a:p>
          <a:p>
            <a:pPr>
              <a:buFont typeface="Wingdings" pitchFamily="2" charset="2"/>
              <a:buNone/>
            </a:pPr>
            <a:r>
              <a:rPr lang="zh-CN" altLang="en-US" smtClean="0"/>
              <a:t>        | </a:t>
            </a:r>
            <a:r>
              <a:rPr lang="en-US" altLang="zh-CN" i="1" smtClean="0"/>
              <a:t>x</a:t>
            </a:r>
            <a:r>
              <a:rPr lang="en-US" altLang="zh-CN" baseline="-25000" smtClean="0"/>
              <a:t>4</a:t>
            </a:r>
            <a:r>
              <a:rPr lang="en-US" altLang="zh-CN" smtClean="0"/>
              <a:t>- </a:t>
            </a:r>
            <a:r>
              <a:rPr lang="zh-CN" altLang="en-US" smtClean="0">
                <a:sym typeface="Symbol" pitchFamily="18" charset="2"/>
              </a:rPr>
              <a:t></a:t>
            </a:r>
            <a:r>
              <a:rPr lang="zh-CN" altLang="en-US" smtClean="0"/>
              <a:t>|≤0.62/(1-0.62)*0.001=0.0016</a:t>
            </a:r>
          </a:p>
          <a:p>
            <a:pPr>
              <a:buFont typeface="Wingdings" pitchFamily="2" charset="2"/>
              <a:buNone/>
            </a:pPr>
            <a:r>
              <a:rPr lang="zh-CN" altLang="en-US" smtClean="0"/>
              <a:t>计算</a:t>
            </a:r>
            <a:r>
              <a:rPr lang="en-US" altLang="zh-CN" i="1" smtClean="0"/>
              <a:t>x</a:t>
            </a:r>
            <a:r>
              <a:rPr lang="en-US" altLang="zh-CN" baseline="-25000" smtClean="0"/>
              <a:t>4</a:t>
            </a:r>
            <a:r>
              <a:rPr lang="zh-CN" altLang="en-US" smtClean="0"/>
              <a:t>的舍入误差小于2*(0.5*10</a:t>
            </a:r>
            <a:r>
              <a:rPr lang="zh-CN" altLang="en-US" baseline="30000" smtClean="0"/>
              <a:t>-3</a:t>
            </a:r>
            <a:r>
              <a:rPr lang="zh-CN" altLang="en-US" smtClean="0"/>
              <a:t>)=0.001</a:t>
            </a:r>
          </a:p>
          <a:p>
            <a:pPr>
              <a:buFont typeface="Wingdings" pitchFamily="2" charset="2"/>
              <a:buNone/>
            </a:pPr>
            <a:r>
              <a:rPr lang="zh-CN" altLang="en-US" smtClean="0"/>
              <a:t>得近似根</a:t>
            </a:r>
            <a:r>
              <a:rPr lang="en-US" altLang="zh-CN" i="1" smtClean="0"/>
              <a:t>x</a:t>
            </a:r>
            <a:r>
              <a:rPr lang="en-US" altLang="zh-CN" baseline="-25000" smtClean="0"/>
              <a:t>4</a:t>
            </a:r>
            <a:r>
              <a:rPr lang="zh-CN" altLang="en-US" smtClean="0"/>
              <a:t>的总误差为</a:t>
            </a:r>
            <a:r>
              <a:rPr lang="zh-CN" altLang="en-US" smtClean="0">
                <a:sym typeface="Symbol" pitchFamily="18" charset="2"/>
              </a:rPr>
              <a:t></a:t>
            </a:r>
            <a:r>
              <a:rPr lang="en-US" altLang="zh-CN" smtClean="0"/>
              <a:t>=0.0016+0.001&lt; </a:t>
            </a:r>
            <a:r>
              <a:rPr lang="zh-CN" altLang="en-US" smtClean="0"/>
              <a:t>0.5*10</a:t>
            </a:r>
            <a:r>
              <a:rPr lang="zh-CN" altLang="en-US" baseline="30000" smtClean="0"/>
              <a:t>-2</a:t>
            </a:r>
          </a:p>
          <a:p>
            <a:pPr>
              <a:buFont typeface="Wingdings" pitchFamily="2" charset="2"/>
              <a:buNone/>
            </a:pPr>
            <a:r>
              <a:rPr lang="zh-CN" altLang="en-US" smtClean="0"/>
              <a:t>所以</a:t>
            </a:r>
            <a:r>
              <a:rPr lang="zh-CN" altLang="en-US" smtClean="0">
                <a:sym typeface="Symbol" pitchFamily="18" charset="2"/>
              </a:rPr>
              <a:t></a:t>
            </a:r>
            <a:r>
              <a:rPr lang="en-US" altLang="zh-CN" smtClean="0"/>
              <a:t> =1.17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52400" y="1447800"/>
            <a:ext cx="4267200" cy="1066800"/>
            <a:chOff x="96" y="912"/>
            <a:chExt cx="2688" cy="672"/>
          </a:xfrm>
        </p:grpSpPr>
        <p:sp>
          <p:nvSpPr>
            <p:cNvPr id="19464" name="AutoShape 5"/>
            <p:cNvSpPr>
              <a:spLocks noChangeArrowheads="1"/>
            </p:cNvSpPr>
            <p:nvPr/>
          </p:nvSpPr>
          <p:spPr bwMode="auto">
            <a:xfrm>
              <a:off x="96" y="912"/>
              <a:ext cx="2688" cy="672"/>
            </a:xfrm>
            <a:prstGeom prst="wedgeRectCallout">
              <a:avLst>
                <a:gd name="adj1" fmla="val 39065"/>
                <a:gd name="adj2" fmla="val 221875"/>
              </a:avLst>
            </a:prstGeom>
            <a:solidFill>
              <a:srgbClr val="FFFF99"/>
            </a:solidFill>
            <a:ln w="38100">
              <a:solidFill>
                <a:srgbClr val="0000F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l">
                <a:buFontTx/>
                <a:buChar char="•"/>
              </a:pPr>
              <a:endParaRPr lang="zh-CN" altLang="en-US" sz="2800" baseline="-25000">
                <a:latin typeface="宋体" pitchFamily="2" charset="-122"/>
              </a:endParaRPr>
            </a:p>
          </p:txBody>
        </p:sp>
        <p:graphicFrame>
          <p:nvGraphicFramePr>
            <p:cNvPr id="19458" name="Object 6"/>
            <p:cNvGraphicFramePr>
              <a:graphicFrameLocks noChangeAspect="1"/>
            </p:cNvGraphicFramePr>
            <p:nvPr/>
          </p:nvGraphicFramePr>
          <p:xfrm>
            <a:off x="144" y="967"/>
            <a:ext cx="2592" cy="5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01" name="Equation" r:id="rId3" imgW="1650960" imgH="419040" progId="Equation.3">
                    <p:embed/>
                  </p:oleObj>
                </mc:Choice>
                <mc:Fallback>
                  <p:oleObj name="Equation" r:id="rId3" imgW="1650960" imgH="41904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" y="967"/>
                          <a:ext cx="2592" cy="5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tx1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B92619C9-61B1-419A-83B9-F97A8A52AB39}" type="slidenum">
              <a:rPr lang="zh-CN" altLang="en-US"/>
              <a:pPr/>
              <a:t>56</a:t>
            </a:fld>
            <a:endParaRPr lang="en-US" altLang="zh-CN"/>
          </a:p>
        </p:txBody>
      </p:sp>
      <p:sp>
        <p:nvSpPr>
          <p:cNvPr id="20485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03CDA39C-5C45-47FA-A69B-D95B3466DD54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535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示例</a:t>
            </a:r>
          </a:p>
        </p:txBody>
      </p:sp>
      <p:sp>
        <p:nvSpPr>
          <p:cNvPr id="204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292227"/>
            <a:ext cx="8142288" cy="917575"/>
          </a:xfrm>
        </p:spPr>
        <p:txBody>
          <a:bodyPr/>
          <a:lstStyle/>
          <a:p>
            <a:r>
              <a:rPr lang="zh-CN" altLang="en-US" smtClean="0"/>
              <a:t>构造不同的方法求                    的根</a:t>
            </a:r>
          </a:p>
          <a:p>
            <a:r>
              <a:rPr lang="zh-CN" altLang="en-US" smtClean="0"/>
              <a:t>解：</a:t>
            </a:r>
          </a:p>
        </p:txBody>
      </p:sp>
      <p:graphicFrame>
        <p:nvGraphicFramePr>
          <p:cNvPr id="20482" name="Object 4"/>
          <p:cNvGraphicFramePr>
            <a:graphicFrameLocks noChangeAspect="1"/>
          </p:cNvGraphicFramePr>
          <p:nvPr/>
        </p:nvGraphicFramePr>
        <p:xfrm>
          <a:off x="3851275" y="1268413"/>
          <a:ext cx="1358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2" name="公式" r:id="rId3" imgW="660240" imgH="203040" progId="Equation.3">
                  <p:embed/>
                </p:oleObj>
              </mc:Choice>
              <mc:Fallback>
                <p:oleObj name="公式" r:id="rId3" imgW="660240" imgH="203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1268413"/>
                        <a:ext cx="13589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3" name="Object 7"/>
          <p:cNvGraphicFramePr>
            <a:graphicFrameLocks noChangeAspect="1"/>
          </p:cNvGraphicFramePr>
          <p:nvPr/>
        </p:nvGraphicFramePr>
        <p:xfrm>
          <a:off x="179388" y="2276475"/>
          <a:ext cx="8964612" cy="413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3" name="公式" r:id="rId5" imgW="4292280" imgH="2006280" progId="Equation.3">
                  <p:embed/>
                </p:oleObj>
              </mc:Choice>
              <mc:Fallback>
                <p:oleObj name="公式" r:id="rId5" imgW="4292280" imgH="20062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2276475"/>
                        <a:ext cx="8964612" cy="4138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99899B78-FDD1-49EC-BC60-6ADDEDF93642}" type="slidenum">
              <a:rPr lang="zh-CN" altLang="en-US"/>
              <a:pPr/>
              <a:t>57</a:t>
            </a:fld>
            <a:endParaRPr lang="en-US" altLang="zh-CN"/>
          </a:p>
        </p:txBody>
      </p:sp>
      <p:sp>
        <p:nvSpPr>
          <p:cNvPr id="86019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D2B01CAD-F681-457C-8BF7-57D757B57A26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537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示例</a:t>
            </a:r>
          </a:p>
        </p:txBody>
      </p:sp>
      <p:sp>
        <p:nvSpPr>
          <p:cNvPr id="860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292227"/>
            <a:ext cx="8142288" cy="384175"/>
          </a:xfrm>
        </p:spPr>
        <p:txBody>
          <a:bodyPr/>
          <a:lstStyle/>
          <a:p>
            <a:r>
              <a:rPr lang="zh-CN" altLang="en-US" smtClean="0"/>
              <a:t>取</a:t>
            </a:r>
            <a:r>
              <a:rPr lang="en-US" altLang="zh-CN" i="1" smtClean="0"/>
              <a:t>x</a:t>
            </a:r>
            <a:r>
              <a:rPr lang="en-US" altLang="zh-CN" baseline="-25000" smtClean="0"/>
              <a:t>0</a:t>
            </a:r>
            <a:r>
              <a:rPr lang="en-US" altLang="zh-CN" smtClean="0"/>
              <a:t>=2</a:t>
            </a:r>
            <a:endParaRPr lang="zh-CN" altLang="en-US" smtClean="0"/>
          </a:p>
        </p:txBody>
      </p:sp>
      <p:pic>
        <p:nvPicPr>
          <p:cNvPr id="86022" name="Picture 4" descr="未命名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700215"/>
            <a:ext cx="8208962" cy="346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7605" name="Picture 5" descr="未命名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5157790"/>
            <a:ext cx="8280400" cy="162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7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0377306F-8DAC-4EEF-80F4-C22FEE2B9EE0}" type="slidenum">
              <a:rPr lang="zh-CN" altLang="en-US"/>
              <a:pPr/>
              <a:t>58</a:t>
            </a:fld>
            <a:endParaRPr lang="en-US" altLang="zh-CN"/>
          </a:p>
        </p:txBody>
      </p:sp>
      <p:sp>
        <p:nvSpPr>
          <p:cNvPr id="87043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AEA34159-7D76-4223-A525-BFAFB09E8C0E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269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>
                <a:latin typeface="Times New Roman" pitchFamily="18" charset="0"/>
              </a:rPr>
              <a:t>注  意：</a:t>
            </a:r>
          </a:p>
        </p:txBody>
      </p:sp>
      <p:sp>
        <p:nvSpPr>
          <p:cNvPr id="8704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100140"/>
            <a:ext cx="8142288" cy="364407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sz="3200" i="1"/>
              <a:t>f</a:t>
            </a:r>
            <a:r>
              <a:rPr lang="en-US" altLang="zh-CN" sz="3200"/>
              <a:t>(</a:t>
            </a:r>
            <a:r>
              <a:rPr lang="en-US" altLang="zh-CN" sz="3200" i="1"/>
              <a:t>x</a:t>
            </a:r>
            <a:r>
              <a:rPr lang="en-US" altLang="zh-CN" sz="3200"/>
              <a:t>)</a:t>
            </a:r>
            <a:r>
              <a:rPr lang="en-US" altLang="zh-CN" sz="3200" i="1"/>
              <a:t>=</a:t>
            </a:r>
            <a:r>
              <a:rPr lang="en-US" altLang="zh-CN" sz="3200"/>
              <a:t>0</a:t>
            </a:r>
            <a:r>
              <a:rPr lang="zh-CN" altLang="en-US" sz="3200"/>
              <a:t>、</a:t>
            </a:r>
            <a:r>
              <a:rPr lang="en-US" altLang="zh-CN" sz="3200" i="1"/>
              <a:t>x= </a:t>
            </a:r>
            <a:r>
              <a:rPr lang="en-US" altLang="zh-CN" i="1" smtClean="0">
                <a:sym typeface="Symbol" pitchFamily="18" charset="2"/>
              </a:rPr>
              <a:t></a:t>
            </a:r>
            <a:r>
              <a:rPr lang="en-US" altLang="zh-CN" sz="3200" i="1">
                <a:cs typeface="Times New Roman" pitchFamily="18" charset="0"/>
              </a:rPr>
              <a:t> </a:t>
            </a:r>
            <a:r>
              <a:rPr lang="en-US" altLang="zh-CN" sz="3200"/>
              <a:t>(</a:t>
            </a:r>
            <a:r>
              <a:rPr lang="en-US" altLang="zh-CN" sz="3200" i="1"/>
              <a:t>x</a:t>
            </a:r>
            <a:r>
              <a:rPr lang="en-US" altLang="zh-CN" sz="3200"/>
              <a:t>)</a:t>
            </a:r>
            <a:r>
              <a:rPr lang="en-US" altLang="zh-CN" sz="3200" i="1"/>
              <a:t>    </a:t>
            </a:r>
            <a:r>
              <a:rPr lang="zh-CN" altLang="en-US" sz="3200"/>
              <a:t>参数模型</a:t>
            </a:r>
          </a:p>
          <a:p>
            <a:pPr>
              <a:lnSpc>
                <a:spcPct val="100000"/>
              </a:lnSpc>
            </a:pPr>
            <a:r>
              <a:rPr lang="zh-CN" altLang="en-US" sz="3200">
                <a:sym typeface="Symbol" pitchFamily="18" charset="2"/>
              </a:rPr>
              <a:t></a:t>
            </a:r>
            <a:r>
              <a:rPr lang="en-US" altLang="zh-CN" sz="3200" i="1"/>
              <a:t>= </a:t>
            </a:r>
            <a:r>
              <a:rPr lang="en-US" altLang="zh-CN" i="1" smtClean="0">
                <a:sym typeface="Symbol" pitchFamily="18" charset="2"/>
              </a:rPr>
              <a:t></a:t>
            </a:r>
            <a:r>
              <a:rPr lang="en-US" altLang="zh-CN" sz="3200" i="1">
                <a:cs typeface="Times New Roman" pitchFamily="18" charset="0"/>
              </a:rPr>
              <a:t> </a:t>
            </a:r>
            <a:r>
              <a:rPr lang="en-US" altLang="zh-CN" sz="3200" i="1"/>
              <a:t>(</a:t>
            </a:r>
            <a:r>
              <a:rPr lang="zh-CN" altLang="en-US" sz="3200">
                <a:sym typeface="Symbol" pitchFamily="18" charset="2"/>
              </a:rPr>
              <a:t></a:t>
            </a:r>
            <a:r>
              <a:rPr lang="en-US" altLang="zh-CN" sz="3200" i="1"/>
              <a:t>)</a:t>
            </a:r>
            <a:r>
              <a:rPr lang="zh-CN" altLang="en-US" sz="3200"/>
              <a:t>                 参数模型精确解</a:t>
            </a:r>
          </a:p>
          <a:p>
            <a:pPr>
              <a:lnSpc>
                <a:spcPct val="100000"/>
              </a:lnSpc>
            </a:pPr>
            <a:r>
              <a:rPr lang="en-US" altLang="zh-CN" sz="3200" i="1">
                <a:cs typeface="Times New Roman" pitchFamily="18" charset="0"/>
              </a:rPr>
              <a:t>x</a:t>
            </a:r>
            <a:r>
              <a:rPr lang="en-US" altLang="zh-CN" sz="3200" i="1" baseline="-25000">
                <a:cs typeface="Times New Roman" pitchFamily="18" charset="0"/>
              </a:rPr>
              <a:t>n</a:t>
            </a:r>
            <a:r>
              <a:rPr lang="en-US" altLang="zh-CN" sz="3200" baseline="-25000">
                <a:cs typeface="Times New Roman" pitchFamily="18" charset="0"/>
              </a:rPr>
              <a:t>+1</a:t>
            </a:r>
            <a:r>
              <a:rPr lang="en-US" altLang="zh-CN" sz="3200" i="1">
                <a:cs typeface="Times New Roman" pitchFamily="18" charset="0"/>
              </a:rPr>
              <a:t>= </a:t>
            </a:r>
            <a:r>
              <a:rPr lang="en-US" altLang="zh-CN" i="1" smtClean="0">
                <a:sym typeface="Symbol" pitchFamily="18" charset="2"/>
              </a:rPr>
              <a:t></a:t>
            </a:r>
            <a:r>
              <a:rPr lang="en-US" altLang="zh-CN" sz="3200">
                <a:cs typeface="Times New Roman" pitchFamily="18" charset="0"/>
              </a:rPr>
              <a:t> (</a:t>
            </a:r>
            <a:r>
              <a:rPr lang="en-US" altLang="zh-CN" sz="3200" i="1">
                <a:cs typeface="Times New Roman" pitchFamily="18" charset="0"/>
              </a:rPr>
              <a:t>x</a:t>
            </a:r>
            <a:r>
              <a:rPr lang="en-US" altLang="zh-CN" sz="3200" i="1" baseline="-25000">
                <a:cs typeface="Times New Roman" pitchFamily="18" charset="0"/>
              </a:rPr>
              <a:t>n</a:t>
            </a:r>
            <a:r>
              <a:rPr lang="en-US" altLang="zh-CN" sz="3200">
                <a:cs typeface="Times New Roman" pitchFamily="18" charset="0"/>
              </a:rPr>
              <a:t>)           </a:t>
            </a:r>
            <a:r>
              <a:rPr lang="zh-CN" altLang="en-US" sz="3200"/>
              <a:t>计算模型</a:t>
            </a:r>
          </a:p>
          <a:p>
            <a:pPr>
              <a:lnSpc>
                <a:spcPct val="100000"/>
              </a:lnSpc>
            </a:pPr>
            <a:r>
              <a:rPr lang="zh-CN" altLang="en-US" sz="3200"/>
              <a:t>方法误差可应用上界公式进行估计</a:t>
            </a:r>
          </a:p>
          <a:p>
            <a:pPr>
              <a:lnSpc>
                <a:spcPct val="100000"/>
              </a:lnSpc>
            </a:pPr>
            <a:r>
              <a:rPr lang="zh-CN" altLang="en-US" sz="3200"/>
              <a:t>迭代控制中的精度要求要适当，否则可能造成迭代过程出现死循环的情况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灯片编号占位符 2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61083949-F533-4A95-A4D5-CE46686A9A06}" type="slidenum">
              <a:rPr lang="zh-CN" altLang="en-US"/>
              <a:pPr/>
              <a:t>59</a:t>
            </a:fld>
            <a:endParaRPr lang="en-US" altLang="zh-CN"/>
          </a:p>
        </p:txBody>
      </p:sp>
      <p:sp>
        <p:nvSpPr>
          <p:cNvPr id="88067" name="日期占位符 3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2882BBBE-3149-40F1-B487-C6CB6648B292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grpSp>
        <p:nvGrpSpPr>
          <p:cNvPr id="88068" name="Group 2"/>
          <p:cNvGrpSpPr>
            <a:grpSpLocks/>
          </p:cNvGrpSpPr>
          <p:nvPr/>
        </p:nvGrpSpPr>
        <p:grpSpPr bwMode="auto">
          <a:xfrm>
            <a:off x="555625" y="2036763"/>
            <a:ext cx="7945438" cy="2608262"/>
            <a:chOff x="350" y="1283"/>
            <a:chExt cx="5005" cy="1643"/>
          </a:xfrm>
        </p:grpSpPr>
        <p:sp>
          <p:nvSpPr>
            <p:cNvPr id="88070" name="Rectangle 3"/>
            <p:cNvSpPr>
              <a:spLocks noChangeArrowheads="1"/>
            </p:cNvSpPr>
            <p:nvPr/>
          </p:nvSpPr>
          <p:spPr bwMode="auto">
            <a:xfrm>
              <a:off x="483" y="1981"/>
              <a:ext cx="4780" cy="252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8071" name="Rectangle 4"/>
            <p:cNvSpPr>
              <a:spLocks noChangeArrowheads="1"/>
            </p:cNvSpPr>
            <p:nvPr/>
          </p:nvSpPr>
          <p:spPr bwMode="auto">
            <a:xfrm>
              <a:off x="362" y="1283"/>
              <a:ext cx="125" cy="1642"/>
            </a:xfrm>
            <a:prstGeom prst="rect">
              <a:avLst/>
            </a:prstGeom>
            <a:gradFill rotWithShape="0">
              <a:gsLst>
                <a:gs pos="0">
                  <a:srgbClr val="E2E2E2"/>
                </a:gs>
                <a:gs pos="100000">
                  <a:srgbClr val="83838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072" name="Rectangle 5"/>
            <p:cNvSpPr>
              <a:spLocks noChangeArrowheads="1"/>
            </p:cNvSpPr>
            <p:nvPr/>
          </p:nvSpPr>
          <p:spPr bwMode="auto">
            <a:xfrm>
              <a:off x="5218" y="1283"/>
              <a:ext cx="133" cy="1642"/>
            </a:xfrm>
            <a:prstGeom prst="rect">
              <a:avLst/>
            </a:prstGeom>
            <a:gradFill rotWithShape="0">
              <a:gsLst>
                <a:gs pos="0">
                  <a:srgbClr val="E2E2E2"/>
                </a:gs>
                <a:gs pos="100000">
                  <a:srgbClr val="83838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073" name="AutoShape 6"/>
            <p:cNvSpPr>
              <a:spLocks noChangeArrowheads="1"/>
            </p:cNvSpPr>
            <p:nvPr/>
          </p:nvSpPr>
          <p:spPr bwMode="auto">
            <a:xfrm>
              <a:off x="377" y="1283"/>
              <a:ext cx="4974" cy="98"/>
            </a:xfrm>
            <a:custGeom>
              <a:avLst/>
              <a:gdLst>
                <a:gd name="T0" fmla="*/ 1132 w 21600"/>
                <a:gd name="T1" fmla="*/ 0 h 21600"/>
                <a:gd name="T2" fmla="*/ 573 w 21600"/>
                <a:gd name="T3" fmla="*/ 0 h 21600"/>
                <a:gd name="T4" fmla="*/ 14 w 21600"/>
                <a:gd name="T5" fmla="*/ 0 h 21600"/>
                <a:gd name="T6" fmla="*/ 573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054 w 21600"/>
                <a:gd name="T13" fmla="*/ 1984 h 21600"/>
                <a:gd name="T14" fmla="*/ 19546 w 21600"/>
                <a:gd name="T15" fmla="*/ 1961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12" y="21600"/>
                  </a:lnTo>
                  <a:lnTo>
                    <a:pt x="21088" y="21600"/>
                  </a:lnTo>
                  <a:lnTo>
                    <a:pt x="21600" y="0"/>
                  </a:lnTo>
                  <a:close/>
                </a:path>
              </a:pathLst>
            </a:custGeom>
            <a:gradFill rotWithShape="0">
              <a:gsLst>
                <a:gs pos="0">
                  <a:srgbClr val="E2E2E2"/>
                </a:gs>
                <a:gs pos="100000">
                  <a:srgbClr val="969696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074" name="AutoShape 7"/>
            <p:cNvSpPr>
              <a:spLocks noChangeArrowheads="1"/>
            </p:cNvSpPr>
            <p:nvPr/>
          </p:nvSpPr>
          <p:spPr bwMode="auto">
            <a:xfrm flipV="1">
              <a:off x="350" y="2828"/>
              <a:ext cx="5005" cy="98"/>
            </a:xfrm>
            <a:custGeom>
              <a:avLst/>
              <a:gdLst>
                <a:gd name="T0" fmla="*/ 1143 w 21600"/>
                <a:gd name="T1" fmla="*/ 0 h 21600"/>
                <a:gd name="T2" fmla="*/ 580 w 21600"/>
                <a:gd name="T3" fmla="*/ 0 h 21600"/>
                <a:gd name="T4" fmla="*/ 16 w 21600"/>
                <a:gd name="T5" fmla="*/ 0 h 21600"/>
                <a:gd name="T6" fmla="*/ 58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106 w 21600"/>
                <a:gd name="T13" fmla="*/ 2204 h 21600"/>
                <a:gd name="T14" fmla="*/ 19494 w 21600"/>
                <a:gd name="T15" fmla="*/ 1939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612" y="21600"/>
                  </a:lnTo>
                  <a:lnTo>
                    <a:pt x="20988" y="21600"/>
                  </a:lnTo>
                  <a:lnTo>
                    <a:pt x="21600" y="0"/>
                  </a:lnTo>
                  <a:close/>
                </a:path>
              </a:pathLst>
            </a:custGeom>
            <a:gradFill rotWithShape="0">
              <a:gsLst>
                <a:gs pos="0">
                  <a:srgbClr val="E2E2E2"/>
                </a:gs>
                <a:gs pos="100000">
                  <a:srgbClr val="969696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075" name="Rectangle 8"/>
            <p:cNvSpPr>
              <a:spLocks noChangeArrowheads="1"/>
            </p:cNvSpPr>
            <p:nvPr/>
          </p:nvSpPr>
          <p:spPr bwMode="auto">
            <a:xfrm>
              <a:off x="480" y="1380"/>
              <a:ext cx="4738" cy="144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354281"/>
              </a:solidFill>
              <a:miter lim="800000"/>
              <a:headEnd/>
              <a:tailEnd/>
            </a:ln>
            <a:effectLst>
              <a:prstShdw prst="shdw17" dist="17961" dir="2700000">
                <a:srgbClr val="20284D"/>
              </a:prst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70345" name="Rectangle 9"/>
          <p:cNvSpPr>
            <a:spLocks noChangeArrowheads="1"/>
          </p:cNvSpPr>
          <p:nvPr/>
        </p:nvSpPr>
        <p:spPr bwMode="auto">
          <a:xfrm>
            <a:off x="609602" y="2625727"/>
            <a:ext cx="7585075" cy="9556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dist="17961" dir="2700000" algn="ctr" rotWithShape="0">
              <a:srgbClr val="354281"/>
            </a:outerShdw>
          </a:effectLst>
        </p:spPr>
        <p:txBody>
          <a:bodyPr lIns="0" tIns="0" rIns="0" bIns="0">
            <a:spAutoFit/>
          </a:bodyPr>
          <a:lstStyle/>
          <a:p>
            <a:pPr marL="290513" indent="-290513" defTabSz="915988">
              <a:lnSpc>
                <a:spcPct val="95000"/>
              </a:lnSpc>
              <a:spcBef>
                <a:spcPct val="35000"/>
              </a:spcBef>
              <a:buClr>
                <a:srgbClr val="FF0000"/>
              </a:buClr>
              <a:buSzPct val="95000"/>
              <a:defRPr/>
            </a:pPr>
            <a:r>
              <a:rPr lang="zh-CN" altLang="en-US" sz="66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§3 迭代公式的改进</a:t>
            </a:r>
            <a:endParaRPr lang="zh-CN" altLang="en-US" sz="4800" i="1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CF1C5C60-3414-413A-B4E5-ED467ADCACC2}" type="slidenum">
              <a:rPr lang="zh-CN" altLang="en-US"/>
              <a:pPr/>
              <a:t>60</a:t>
            </a:fld>
            <a:endParaRPr lang="en-US" altLang="zh-CN"/>
          </a:p>
        </p:txBody>
      </p:sp>
      <p:sp>
        <p:nvSpPr>
          <p:cNvPr id="21508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CEF3AC97-4D83-44BD-AB1F-E093930F36B2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§3</a:t>
            </a:r>
            <a:r>
              <a:rPr lang="zh-CN" altLang="en-US" smtClean="0">
                <a:latin typeface="Times New Roman" pitchFamily="18" charset="0"/>
              </a:rPr>
              <a:t> 迭代公式的改进</a:t>
            </a:r>
          </a:p>
        </p:txBody>
      </p:sp>
      <p:sp>
        <p:nvSpPr>
          <p:cNvPr id="273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292225"/>
            <a:ext cx="8142288" cy="2683812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3200"/>
              <a:t>方法</a:t>
            </a:r>
          </a:p>
          <a:p>
            <a:pPr lvl="1">
              <a:lnSpc>
                <a:spcPct val="110000"/>
              </a:lnSpc>
            </a:pPr>
            <a:r>
              <a:rPr lang="zh-CN" altLang="en-US" sz="3200"/>
              <a:t>(1) 提高初值的精度以减少迭代的次数。</a:t>
            </a:r>
          </a:p>
          <a:p>
            <a:pPr lvl="1">
              <a:lnSpc>
                <a:spcPct val="110000"/>
              </a:lnSpc>
            </a:pPr>
            <a:r>
              <a:rPr lang="zh-CN" altLang="en-US" sz="3200"/>
              <a:t>(2) 减小</a:t>
            </a:r>
            <a:r>
              <a:rPr lang="en-US" altLang="zh-CN" sz="3200" i="1"/>
              <a:t>q</a:t>
            </a:r>
            <a:r>
              <a:rPr lang="zh-CN" altLang="en-US" sz="3200"/>
              <a:t>的值。</a:t>
            </a:r>
          </a:p>
          <a:p>
            <a:pPr lvl="1">
              <a:lnSpc>
                <a:spcPct val="110000"/>
              </a:lnSpc>
            </a:pPr>
            <a:r>
              <a:rPr lang="zh-CN" altLang="en-US" sz="3200"/>
              <a:t>(3) 提高收敛的阶数</a:t>
            </a:r>
            <a:r>
              <a:rPr lang="en-US" altLang="zh-CN" sz="3200" i="1"/>
              <a:t>r</a:t>
            </a:r>
          </a:p>
        </p:txBody>
      </p:sp>
      <p:graphicFrame>
        <p:nvGraphicFramePr>
          <p:cNvPr id="273412" name="Object 4"/>
          <p:cNvGraphicFramePr>
            <a:graphicFrameLocks noChangeAspect="1"/>
          </p:cNvGraphicFramePr>
          <p:nvPr/>
        </p:nvGraphicFramePr>
        <p:xfrm>
          <a:off x="2971800" y="4038600"/>
          <a:ext cx="27559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7" name="Equation" r:id="rId4" imgW="1091880" imgH="507960" progId="Equation.3">
                  <p:embed/>
                </p:oleObj>
              </mc:Choice>
              <mc:Fallback>
                <p:oleObj name="Equation" r:id="rId4" imgW="1091880" imgH="5079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4038600"/>
                        <a:ext cx="27559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73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273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273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273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73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3411" grpId="0" build="p" bldLvl="2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3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4D3BF77A-F490-43E8-87B3-614EB3971442}" type="slidenum">
              <a:rPr lang="zh-CN" altLang="en-US"/>
              <a:pPr/>
              <a:t>61</a:t>
            </a:fld>
            <a:endParaRPr lang="en-US" altLang="zh-CN"/>
          </a:p>
        </p:txBody>
      </p:sp>
      <p:sp>
        <p:nvSpPr>
          <p:cNvPr id="22534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19A033C2-A0E3-46D7-BAD1-D413CD57060F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274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3.1</a:t>
            </a:r>
            <a:r>
              <a:rPr lang="zh-CN" altLang="en-US" smtClean="0">
                <a:latin typeface="Times New Roman" pitchFamily="18" charset="0"/>
              </a:rPr>
              <a:t> 改变方程式法一</a:t>
            </a:r>
          </a:p>
        </p:txBody>
      </p:sp>
      <p:sp>
        <p:nvSpPr>
          <p:cNvPr id="225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292227"/>
            <a:ext cx="8142288" cy="384175"/>
          </a:xfrm>
        </p:spPr>
        <p:txBody>
          <a:bodyPr/>
          <a:lstStyle/>
          <a:p>
            <a:r>
              <a:rPr lang="zh-CN" altLang="en-US" smtClean="0"/>
              <a:t>3.1.1 方法描述</a:t>
            </a:r>
          </a:p>
        </p:txBody>
      </p:sp>
      <p:graphicFrame>
        <p:nvGraphicFramePr>
          <p:cNvPr id="274436" name="Object 4"/>
          <p:cNvGraphicFramePr>
            <a:graphicFrameLocks noChangeAspect="1"/>
          </p:cNvGraphicFramePr>
          <p:nvPr/>
        </p:nvGraphicFramePr>
        <p:xfrm>
          <a:off x="2795588" y="2590802"/>
          <a:ext cx="4367212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8" name="Equation" r:id="rId4" imgW="1701720" imgH="393480" progId="Equation.3">
                  <p:embed/>
                </p:oleObj>
              </mc:Choice>
              <mc:Fallback>
                <p:oleObj name="Equation" r:id="rId4" imgW="1701720" imgH="3934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5588" y="2590802"/>
                        <a:ext cx="4367212" cy="849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437" name="Object 5"/>
          <p:cNvGraphicFramePr>
            <a:graphicFrameLocks noChangeAspect="1"/>
          </p:cNvGraphicFramePr>
          <p:nvPr/>
        </p:nvGraphicFramePr>
        <p:xfrm>
          <a:off x="1066800" y="3657600"/>
          <a:ext cx="495300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9" name="公式" r:id="rId6" imgW="1790640" imgH="634680" progId="Equation.3">
                  <p:embed/>
                </p:oleObj>
              </mc:Choice>
              <mc:Fallback>
                <p:oleObj name="公式" r:id="rId6" imgW="1790640" imgH="6346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657600"/>
                        <a:ext cx="4953000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438" name="Object 6"/>
          <p:cNvGraphicFramePr>
            <a:graphicFrameLocks noChangeAspect="1"/>
          </p:cNvGraphicFramePr>
          <p:nvPr/>
        </p:nvGraphicFramePr>
        <p:xfrm>
          <a:off x="925513" y="5410200"/>
          <a:ext cx="76819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60" name="Equation" r:id="rId8" imgW="3098520" imgH="393480" progId="Equation.3">
                  <p:embed/>
                </p:oleObj>
              </mc:Choice>
              <mc:Fallback>
                <p:oleObj name="Equation" r:id="rId8" imgW="3098520" imgH="3934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5513" y="5410200"/>
                        <a:ext cx="76819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4440" name="Rectangle 8"/>
          <p:cNvSpPr>
            <a:spLocks noChangeArrowheads="1"/>
          </p:cNvSpPr>
          <p:nvPr/>
        </p:nvSpPr>
        <p:spPr bwMode="auto">
          <a:xfrm>
            <a:off x="878281" y="1758950"/>
            <a:ext cx="119936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i="1">
                <a:latin typeface="Times New Roman" pitchFamily="18" charset="0"/>
              </a:rPr>
              <a:t>x=</a:t>
            </a:r>
            <a:r>
              <a:rPr lang="en-US" altLang="zh-CN" sz="2800" i="1"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en-US" altLang="zh-CN" sz="2800">
                <a:latin typeface="Times New Roman" pitchFamily="18" charset="0"/>
              </a:rPr>
              <a:t>(</a:t>
            </a:r>
            <a:r>
              <a:rPr lang="en-US" altLang="zh-CN" sz="2800" i="1">
                <a:latin typeface="Times New Roman" pitchFamily="18" charset="0"/>
              </a:rPr>
              <a:t>x</a:t>
            </a:r>
            <a:r>
              <a:rPr lang="en-US" altLang="zh-CN" sz="2800">
                <a:latin typeface="Times New Roman" pitchFamily="18" charset="0"/>
              </a:rPr>
              <a:t>)</a:t>
            </a:r>
            <a:endParaRPr lang="zh-CN" altLang="en-US" sz="2800">
              <a:latin typeface="Times New Roman" pitchFamily="18" charset="0"/>
            </a:endParaRPr>
          </a:p>
        </p:txBody>
      </p:sp>
      <p:sp>
        <p:nvSpPr>
          <p:cNvPr id="274441" name="AutoShape 9"/>
          <p:cNvSpPr>
            <a:spLocks noChangeArrowheads="1"/>
          </p:cNvSpPr>
          <p:nvPr/>
        </p:nvSpPr>
        <p:spPr bwMode="auto">
          <a:xfrm>
            <a:off x="2133600" y="1835150"/>
            <a:ext cx="685800" cy="457200"/>
          </a:xfrm>
          <a:prstGeom prst="rightArrow">
            <a:avLst>
              <a:gd name="adj1" fmla="val 50000"/>
              <a:gd name="adj2" fmla="val 375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4442" name="Rectangle 10"/>
          <p:cNvSpPr>
            <a:spLocks noChangeArrowheads="1"/>
          </p:cNvSpPr>
          <p:nvPr/>
        </p:nvSpPr>
        <p:spPr bwMode="auto">
          <a:xfrm>
            <a:off x="2911475" y="1711325"/>
            <a:ext cx="27066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i="1">
                <a:latin typeface="Times New Roman" pitchFamily="18" charset="0"/>
              </a:rPr>
              <a:t>x</a:t>
            </a:r>
            <a:r>
              <a:rPr lang="en-US" altLang="zh-CN" sz="2800">
                <a:solidFill>
                  <a:srgbClr val="FF3300"/>
                </a:solidFill>
                <a:latin typeface="Times New Roman" pitchFamily="18" charset="0"/>
              </a:rPr>
              <a:t>- </a:t>
            </a:r>
            <a:r>
              <a:rPr lang="zh-CN" altLang="en-US" sz="2800">
                <a:solidFill>
                  <a:srgbClr val="FF3300"/>
                </a:solidFill>
                <a:latin typeface="Times New Roman" pitchFamily="18" charset="0"/>
                <a:sym typeface="Symbol" pitchFamily="18" charset="2"/>
              </a:rPr>
              <a:t></a:t>
            </a:r>
            <a:r>
              <a:rPr lang="en-US" altLang="zh-CN" sz="2800" i="1">
                <a:solidFill>
                  <a:srgbClr val="FF3300"/>
                </a:solidFill>
                <a:latin typeface="Times New Roman" pitchFamily="18" charset="0"/>
              </a:rPr>
              <a:t>x</a:t>
            </a:r>
            <a:r>
              <a:rPr lang="en-US" altLang="zh-CN" sz="2800">
                <a:latin typeface="Times New Roman" pitchFamily="18" charset="0"/>
              </a:rPr>
              <a:t> </a:t>
            </a:r>
            <a:r>
              <a:rPr lang="en-US" altLang="zh-CN" sz="2800" i="1">
                <a:latin typeface="Times New Roman" pitchFamily="18" charset="0"/>
              </a:rPr>
              <a:t>= 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  <a:sym typeface="Symbol" pitchFamily="18" charset="2"/>
              </a:rPr>
              <a:t></a:t>
            </a:r>
            <a:r>
              <a:rPr lang="en-US" altLang="zh-CN" sz="3200" i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en-US" altLang="zh-CN" sz="2800">
                <a:latin typeface="Times New Roman" pitchFamily="18" charset="0"/>
              </a:rPr>
              <a:t>(</a:t>
            </a:r>
            <a:r>
              <a:rPr lang="en-US" altLang="zh-CN" sz="2800" i="1">
                <a:latin typeface="Times New Roman" pitchFamily="18" charset="0"/>
              </a:rPr>
              <a:t>x</a:t>
            </a:r>
            <a:r>
              <a:rPr lang="en-US" altLang="zh-CN" sz="2800">
                <a:latin typeface="Times New Roman" pitchFamily="18" charset="0"/>
              </a:rPr>
              <a:t>) </a:t>
            </a:r>
            <a:r>
              <a:rPr lang="en-US" altLang="zh-CN" sz="2800">
                <a:solidFill>
                  <a:srgbClr val="FF3300"/>
                </a:solidFill>
                <a:latin typeface="Times New Roman" pitchFamily="18" charset="0"/>
              </a:rPr>
              <a:t>- </a:t>
            </a:r>
            <a:r>
              <a:rPr lang="zh-CN" altLang="en-US" sz="2800">
                <a:solidFill>
                  <a:srgbClr val="FF3300"/>
                </a:solidFill>
                <a:latin typeface="Times New Roman" pitchFamily="18" charset="0"/>
                <a:sym typeface="Symbol" pitchFamily="18" charset="2"/>
              </a:rPr>
              <a:t></a:t>
            </a:r>
            <a:r>
              <a:rPr lang="en-US" altLang="zh-CN" sz="2800">
                <a:solidFill>
                  <a:srgbClr val="FF3300"/>
                </a:solidFill>
                <a:latin typeface="Times New Roman" pitchFamily="18" charset="0"/>
              </a:rPr>
              <a:t>x</a:t>
            </a:r>
            <a:endParaRPr lang="zh-CN" altLang="en-US" sz="2800">
              <a:solidFill>
                <a:srgbClr val="FF3300"/>
              </a:solidFill>
              <a:latin typeface="Times New Roman" pitchFamily="18" charset="0"/>
            </a:endParaRP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642940" y="2362202"/>
            <a:ext cx="1795463" cy="963613"/>
            <a:chOff x="21" y="1457"/>
            <a:chExt cx="1131" cy="607"/>
          </a:xfrm>
        </p:grpSpPr>
        <p:sp>
          <p:nvSpPr>
            <p:cNvPr id="22545" name="AutoShape 11"/>
            <p:cNvSpPr>
              <a:spLocks noChangeArrowheads="1"/>
            </p:cNvSpPr>
            <p:nvPr/>
          </p:nvSpPr>
          <p:spPr bwMode="auto">
            <a:xfrm>
              <a:off x="144" y="1776"/>
              <a:ext cx="1008" cy="288"/>
            </a:xfrm>
            <a:prstGeom prst="rightArrow">
              <a:avLst>
                <a:gd name="adj1" fmla="val 50000"/>
                <a:gd name="adj2" fmla="val 8750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46" name="Rectangle 12"/>
            <p:cNvSpPr>
              <a:spLocks noChangeArrowheads="1"/>
            </p:cNvSpPr>
            <p:nvPr/>
          </p:nvSpPr>
          <p:spPr bwMode="auto">
            <a:xfrm>
              <a:off x="21" y="1457"/>
              <a:ext cx="105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800">
                  <a:latin typeface="Times New Roman" pitchFamily="18" charset="0"/>
                  <a:sym typeface="Symbol" pitchFamily="18" charset="2"/>
                </a:rPr>
                <a:t></a:t>
              </a:r>
              <a:r>
                <a:rPr lang="en-US" altLang="zh-CN" sz="2800">
                  <a:latin typeface="Times New Roman" pitchFamily="18" charset="0"/>
                  <a:sym typeface="Symbol" pitchFamily="18" charset="2"/>
                </a:rPr>
                <a:t></a:t>
              </a:r>
              <a:r>
                <a:rPr lang="en-US" altLang="zh-CN" sz="2800">
                  <a:latin typeface="Times New Roman" pitchFamily="18" charset="0"/>
                </a:rPr>
                <a:t>0</a:t>
              </a:r>
              <a:r>
                <a:rPr lang="zh-CN" altLang="en-US" sz="2800">
                  <a:latin typeface="Times New Roman" pitchFamily="18" charset="0"/>
                </a:rPr>
                <a:t>和</a:t>
              </a:r>
              <a:r>
                <a:rPr lang="zh-CN" altLang="en-US" sz="2800">
                  <a:latin typeface="Times New Roman" pitchFamily="18" charset="0"/>
                  <a:sym typeface="Symbol" pitchFamily="18" charset="2"/>
                </a:rPr>
                <a:t></a:t>
              </a:r>
              <a:r>
                <a:rPr lang="en-US" altLang="zh-CN" sz="2800">
                  <a:latin typeface="Times New Roman" pitchFamily="18" charset="0"/>
                  <a:sym typeface="Symbol" pitchFamily="18" charset="2"/>
                </a:rPr>
                <a:t></a:t>
              </a:r>
              <a:r>
                <a:rPr lang="en-US" altLang="zh-CN" sz="2800">
                  <a:latin typeface="Times New Roman" pitchFamily="18" charset="0"/>
                </a:rPr>
                <a:t>1</a:t>
              </a:r>
              <a:endParaRPr lang="zh-CN" altLang="en-US" sz="2800">
                <a:latin typeface="Times New Roman" pitchFamily="18" charset="0"/>
              </a:endParaRPr>
            </a:p>
          </p:txBody>
        </p:sp>
      </p:grpSp>
      <p:sp>
        <p:nvSpPr>
          <p:cNvPr id="274446" name="AutoShape 14"/>
          <p:cNvSpPr>
            <a:spLocks noChangeArrowheads="1"/>
          </p:cNvSpPr>
          <p:nvPr/>
        </p:nvSpPr>
        <p:spPr bwMode="auto">
          <a:xfrm>
            <a:off x="5638800" y="1828800"/>
            <a:ext cx="685800" cy="457200"/>
          </a:xfrm>
          <a:prstGeom prst="rightArrow">
            <a:avLst>
              <a:gd name="adj1" fmla="val 50000"/>
              <a:gd name="adj2" fmla="val 375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4447" name="Rectangle 15"/>
          <p:cNvSpPr>
            <a:spLocks noChangeArrowheads="1"/>
          </p:cNvSpPr>
          <p:nvPr/>
        </p:nvSpPr>
        <p:spPr bwMode="auto">
          <a:xfrm>
            <a:off x="5867400" y="1752602"/>
            <a:ext cx="327660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lvl="1" algn="l">
              <a:lnSpc>
                <a:spcPct val="90000"/>
              </a:lnSpc>
              <a:spcBef>
                <a:spcPct val="20000"/>
              </a:spcBef>
              <a:buSzPct val="100000"/>
              <a:buFontTx/>
              <a:buChar char="-"/>
            </a:pPr>
            <a:r>
              <a:rPr lang="zh-CN" altLang="en-US" sz="2800">
                <a:latin typeface="Times New Roman" pitchFamily="18" charset="0"/>
              </a:rPr>
              <a:t>(1-</a:t>
            </a:r>
            <a:r>
              <a:rPr lang="zh-CN" altLang="en-US" sz="2800">
                <a:latin typeface="Times New Roman" pitchFamily="18" charset="0"/>
                <a:sym typeface="Symbol" pitchFamily="18" charset="2"/>
              </a:rPr>
              <a:t></a:t>
            </a:r>
            <a:r>
              <a:rPr lang="zh-CN" altLang="en-US" sz="2800">
                <a:latin typeface="Times New Roman" pitchFamily="18" charset="0"/>
              </a:rPr>
              <a:t>)</a:t>
            </a:r>
            <a:r>
              <a:rPr lang="en-US" altLang="zh-CN" sz="2800" i="1">
                <a:latin typeface="Times New Roman" pitchFamily="18" charset="0"/>
              </a:rPr>
              <a:t>x</a:t>
            </a:r>
            <a:r>
              <a:rPr lang="en-US" altLang="zh-CN" sz="2800">
                <a:latin typeface="Times New Roman" pitchFamily="18" charset="0"/>
              </a:rPr>
              <a:t>= 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  <a:sym typeface="Symbol" pitchFamily="18" charset="2"/>
              </a:rPr>
              <a:t></a:t>
            </a:r>
            <a:r>
              <a:rPr lang="en-US" altLang="zh-CN" sz="3200" i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en-US" altLang="zh-CN" sz="2800">
                <a:latin typeface="Times New Roman" pitchFamily="18" charset="0"/>
              </a:rPr>
              <a:t>(</a:t>
            </a:r>
            <a:r>
              <a:rPr lang="en-US" altLang="zh-CN" sz="2800" i="1">
                <a:latin typeface="Times New Roman" pitchFamily="18" charset="0"/>
              </a:rPr>
              <a:t>x</a:t>
            </a:r>
            <a:r>
              <a:rPr lang="en-US" altLang="zh-CN" sz="2800">
                <a:latin typeface="Times New Roman" pitchFamily="18" charset="0"/>
              </a:rPr>
              <a:t>)- </a:t>
            </a:r>
            <a:r>
              <a:rPr lang="zh-CN" altLang="en-US" sz="2800">
                <a:latin typeface="Times New Roman" pitchFamily="18" charset="0"/>
                <a:sym typeface="Symbol" pitchFamily="18" charset="2"/>
              </a:rPr>
              <a:t></a:t>
            </a:r>
            <a:r>
              <a:rPr lang="en-US" altLang="zh-CN" sz="2800" i="1">
                <a:latin typeface="Times New Roman" pitchFamily="18" charset="0"/>
              </a:rPr>
              <a:t>x</a:t>
            </a:r>
          </a:p>
        </p:txBody>
      </p:sp>
      <p:sp>
        <p:nvSpPr>
          <p:cNvPr id="22543" name="Text Box 16"/>
          <p:cNvSpPr txBox="1">
            <a:spLocks noChangeArrowheads="1"/>
          </p:cNvSpPr>
          <p:nvPr/>
        </p:nvSpPr>
        <p:spPr bwMode="auto">
          <a:xfrm>
            <a:off x="3429000" y="1066800"/>
            <a:ext cx="1295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3200" dirty="0">
                <a:solidFill>
                  <a:srgbClr val="ED5F2D"/>
                </a:solidFill>
                <a:latin typeface="Times New Roman" pitchFamily="18" charset="0"/>
                <a:ea typeface="黑体" pitchFamily="49" charset="-122"/>
              </a:rPr>
              <a:t>思路:</a:t>
            </a:r>
          </a:p>
        </p:txBody>
      </p:sp>
      <p:sp>
        <p:nvSpPr>
          <p:cNvPr id="22544" name="Text Box 17"/>
          <p:cNvSpPr txBox="1">
            <a:spLocks noChangeArrowheads="1"/>
          </p:cNvSpPr>
          <p:nvPr/>
        </p:nvSpPr>
        <p:spPr bwMode="auto">
          <a:xfrm>
            <a:off x="4610100" y="1108666"/>
            <a:ext cx="3429000" cy="492443"/>
          </a:xfrm>
          <a:prstGeom prst="rect">
            <a:avLst/>
          </a:prstGeom>
          <a:solidFill>
            <a:srgbClr val="FFFF99"/>
          </a:solidFill>
          <a:ln>
            <a:noFill/>
          </a:ln>
          <a:extLst/>
        </p:spPr>
        <p:txBody>
          <a:bodyPr lIns="0" tIns="0" rIns="0" bIns="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1" lang="zh-CN" altLang="en-US" sz="3200" b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重新构造等效方程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4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4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74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74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74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74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74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74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440" grpId="0" autoUpdateAnimBg="0"/>
      <p:bldP spid="274441" grpId="0" animBg="1"/>
      <p:bldP spid="274442" grpId="0" autoUpdateAnimBg="0"/>
      <p:bldP spid="274446" grpId="0" animBg="1"/>
      <p:bldP spid="274447" grpId="0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B7A6F705-B0C3-4DED-AE53-DEAE102F5580}" type="slidenum">
              <a:rPr lang="zh-CN" altLang="en-US"/>
              <a:pPr/>
              <a:t>62</a:t>
            </a:fld>
            <a:endParaRPr lang="en-US" altLang="zh-CN"/>
          </a:p>
        </p:txBody>
      </p:sp>
      <p:sp>
        <p:nvSpPr>
          <p:cNvPr id="23558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5D2B61DA-9556-4E4A-9097-0E39C711BD49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275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3.1.1 方法描述</a:t>
            </a:r>
          </a:p>
        </p:txBody>
      </p:sp>
      <p:sp>
        <p:nvSpPr>
          <p:cNvPr id="235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143002"/>
            <a:ext cx="8142288" cy="917575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CN" altLang="en-US" smtClean="0"/>
              <a:t>例2.5  解</a:t>
            </a:r>
            <a:r>
              <a:rPr lang="en-US" altLang="zh-CN" i="1" smtClean="0"/>
              <a:t>x=e</a:t>
            </a:r>
            <a:r>
              <a:rPr lang="en-US" altLang="zh-CN" i="1" baseline="30000" smtClean="0"/>
              <a:t>-x</a:t>
            </a:r>
            <a:r>
              <a:rPr lang="zh-CN" altLang="en-US" smtClean="0"/>
              <a:t>之根</a:t>
            </a:r>
          </a:p>
          <a:p>
            <a:pPr algn="just"/>
            <a:r>
              <a:rPr lang="zh-CN" altLang="en-US" smtClean="0"/>
              <a:t>解：因</a:t>
            </a:r>
            <a:r>
              <a:rPr lang="zh-CN" altLang="en-US" smtClean="0">
                <a:sym typeface="Symbol" pitchFamily="18" charset="2"/>
              </a:rPr>
              <a:t></a:t>
            </a:r>
            <a:r>
              <a:rPr lang="en-US" altLang="zh-CN" smtClean="0"/>
              <a:t> </a:t>
            </a:r>
            <a:r>
              <a:rPr lang="en-US" altLang="zh-CN" smtClean="0">
                <a:sym typeface="Symbol" pitchFamily="18" charset="2"/>
              </a:rPr>
              <a:t></a:t>
            </a:r>
            <a:r>
              <a:rPr lang="zh-CN" altLang="en-US" smtClean="0"/>
              <a:t>[0.5,0.6]，所以有</a:t>
            </a:r>
          </a:p>
        </p:txBody>
      </p:sp>
      <p:graphicFrame>
        <p:nvGraphicFramePr>
          <p:cNvPr id="275460" name="Object 4"/>
          <p:cNvGraphicFramePr>
            <a:graphicFrameLocks noChangeAspect="1"/>
          </p:cNvGraphicFramePr>
          <p:nvPr/>
        </p:nvGraphicFramePr>
        <p:xfrm>
          <a:off x="900115" y="2276475"/>
          <a:ext cx="6288087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1" name="公式" r:id="rId4" imgW="2361960" imgH="228600" progId="Equation.3">
                  <p:embed/>
                </p:oleObj>
              </mc:Choice>
              <mc:Fallback>
                <p:oleObj name="公式" r:id="rId4" imgW="236196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5" y="2276475"/>
                        <a:ext cx="6288087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5461" name="Rectangle 5"/>
          <p:cNvSpPr>
            <a:spLocks noChangeArrowheads="1"/>
          </p:cNvSpPr>
          <p:nvPr/>
        </p:nvSpPr>
        <p:spPr bwMode="auto">
          <a:xfrm>
            <a:off x="990600" y="3121027"/>
            <a:ext cx="61722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258763" indent="-258763" algn="l" defTabSz="814388">
              <a:lnSpc>
                <a:spcPct val="90000"/>
              </a:lnSpc>
              <a:spcBef>
                <a:spcPts val="1200"/>
              </a:spcBef>
              <a:buClr>
                <a:srgbClr val="27305F"/>
              </a:buClr>
              <a:buSzPct val="60000"/>
            </a:pP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	粗取</a:t>
            </a:r>
            <a:r>
              <a:rPr lang="zh-CN" altLang="en-US" sz="2800">
                <a:latin typeface="Times New Roman" pitchFamily="18" charset="0"/>
                <a:ea typeface="黑体" pitchFamily="49" charset="-122"/>
                <a:sym typeface="Symbol" pitchFamily="18" charset="2"/>
              </a:rPr>
              <a:t>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=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-0.6，</a:t>
            </a: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建立如下迭代公式</a:t>
            </a:r>
          </a:p>
        </p:txBody>
      </p:sp>
      <p:graphicFrame>
        <p:nvGraphicFramePr>
          <p:cNvPr id="275462" name="Object 6"/>
          <p:cNvGraphicFramePr>
            <a:graphicFrameLocks noChangeAspect="1"/>
          </p:cNvGraphicFramePr>
          <p:nvPr/>
        </p:nvGraphicFramePr>
        <p:xfrm>
          <a:off x="1066800" y="3619502"/>
          <a:ext cx="6777038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2" name="公式" r:id="rId6" imgW="3276360" imgH="419040" progId="Equation.3">
                  <p:embed/>
                </p:oleObj>
              </mc:Choice>
              <mc:Fallback>
                <p:oleObj name="公式" r:id="rId6" imgW="3276360" imgH="4190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619502"/>
                        <a:ext cx="6777038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5463" name="Rectangle 7"/>
          <p:cNvSpPr>
            <a:spLocks noChangeArrowheads="1"/>
          </p:cNvSpPr>
          <p:nvPr/>
        </p:nvSpPr>
        <p:spPr bwMode="auto">
          <a:xfrm>
            <a:off x="1001715" y="4575175"/>
            <a:ext cx="6999287" cy="1840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258763" indent="-258763" algn="l" defTabSz="814388">
              <a:lnSpc>
                <a:spcPct val="80000"/>
              </a:lnSpc>
              <a:spcBef>
                <a:spcPts val="1200"/>
              </a:spcBef>
              <a:buClr>
                <a:srgbClr val="27305F"/>
              </a:buClr>
              <a:buSzPct val="60000"/>
            </a:pP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	仍取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x</a:t>
            </a:r>
            <a:r>
              <a:rPr lang="en-US" altLang="zh-CN" sz="2800" i="1" baseline="-2500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0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=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0.5</a:t>
            </a: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，逐次计算得</a:t>
            </a:r>
          </a:p>
          <a:p>
            <a:pPr marL="258763" indent="-258763" algn="l" defTabSz="814388">
              <a:lnSpc>
                <a:spcPct val="80000"/>
              </a:lnSpc>
              <a:spcBef>
                <a:spcPts val="1200"/>
              </a:spcBef>
              <a:buClr>
                <a:srgbClr val="27305F"/>
              </a:buClr>
              <a:buSzPct val="60000"/>
            </a:pP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			 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2800" i="1" baseline="-25000">
                <a:latin typeface="Times New Roman" pitchFamily="18" charset="0"/>
                <a:ea typeface="黑体" pitchFamily="49" charset="-122"/>
              </a:rPr>
              <a:t>1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=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0.56658</a:t>
            </a:r>
          </a:p>
          <a:p>
            <a:pPr marL="258763" indent="-258763" algn="l" defTabSz="814388">
              <a:lnSpc>
                <a:spcPct val="80000"/>
              </a:lnSpc>
              <a:spcBef>
                <a:spcPts val="1200"/>
              </a:spcBef>
              <a:buClr>
                <a:srgbClr val="27305F"/>
              </a:buClr>
              <a:buSzPct val="60000"/>
            </a:pP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			 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2800" i="1" baseline="-25000">
                <a:latin typeface="Times New Roman" pitchFamily="18" charset="0"/>
                <a:ea typeface="黑体" pitchFamily="49" charset="-122"/>
              </a:rPr>
              <a:t>2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=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0.56713</a:t>
            </a:r>
          </a:p>
          <a:p>
            <a:pPr marL="258763" indent="-258763" algn="l" defTabSz="814388">
              <a:lnSpc>
                <a:spcPct val="80000"/>
              </a:lnSpc>
              <a:spcBef>
                <a:spcPts val="1200"/>
              </a:spcBef>
              <a:buClr>
                <a:srgbClr val="27305F"/>
              </a:buClr>
              <a:buSzPct val="60000"/>
            </a:pP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			 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2800" i="1" baseline="-25000">
                <a:latin typeface="Times New Roman" pitchFamily="18" charset="0"/>
                <a:ea typeface="黑体" pitchFamily="49" charset="-122"/>
              </a:rPr>
              <a:t>3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=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0.56714</a:t>
            </a:r>
            <a:endParaRPr lang="zh-CN" altLang="en-US" sz="2800">
              <a:latin typeface="Times New Roman" pitchFamily="18" charset="0"/>
              <a:ea typeface="黑体" pitchFamily="49" charset="-122"/>
            </a:endParaRPr>
          </a:p>
        </p:txBody>
      </p:sp>
      <p:graphicFrame>
        <p:nvGraphicFramePr>
          <p:cNvPr id="23556" name="Object 8"/>
          <p:cNvGraphicFramePr>
            <a:graphicFrameLocks noChangeAspect="1"/>
          </p:cNvGraphicFramePr>
          <p:nvPr/>
        </p:nvGraphicFramePr>
        <p:xfrm>
          <a:off x="5076827" y="981075"/>
          <a:ext cx="38719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3" name="Equation" r:id="rId8" imgW="1562040" imgH="393480" progId="Equation.3">
                  <p:embed/>
                </p:oleObj>
              </mc:Choice>
              <mc:Fallback>
                <p:oleObj name="Equation" r:id="rId8" imgW="1562040" imgH="3934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7" y="981075"/>
                        <a:ext cx="387191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5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75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75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754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754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754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754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461" grpId="0" autoUpdateAnimBg="0"/>
      <p:bldP spid="275463" grpId="0" build="p" autoUpdateAnimBg="0" advAuto="200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1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78559115-DFA2-4ED1-8FAC-A3940D310CDF}" type="slidenum">
              <a:rPr lang="zh-CN" altLang="en-US"/>
              <a:pPr/>
              <a:t>63</a:t>
            </a:fld>
            <a:endParaRPr lang="en-US" altLang="zh-CN"/>
          </a:p>
        </p:txBody>
      </p:sp>
      <p:sp>
        <p:nvSpPr>
          <p:cNvPr id="24582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2EEEB913-3A04-4164-83CF-69C2FFF8F172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276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3.1.2 </a:t>
            </a:r>
            <a:r>
              <a:rPr lang="zh-CN" altLang="en-US" smtClean="0">
                <a:latin typeface="宋体" pitchFamily="2" charset="-122"/>
              </a:rPr>
              <a:t>埃特肯法</a:t>
            </a:r>
          </a:p>
        </p:txBody>
      </p:sp>
      <p:sp>
        <p:nvSpPr>
          <p:cNvPr id="276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6915" y="2209800"/>
            <a:ext cx="8142287" cy="42703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smtClean="0">
                <a:latin typeface="宋体" pitchFamily="2" charset="-122"/>
              </a:rPr>
              <a:t>取以下平均变化率作为</a:t>
            </a:r>
            <a:r>
              <a:rPr lang="zh-CN" altLang="en-US" smtClean="0">
                <a:sym typeface="Symbol" pitchFamily="18" charset="2"/>
              </a:rPr>
              <a:t></a:t>
            </a:r>
            <a:r>
              <a:rPr lang="en-US" altLang="zh-CN" i="1" smtClean="0"/>
              <a:t> = </a:t>
            </a:r>
            <a:r>
              <a:rPr lang="zh-CN" altLang="en-US" smtClean="0">
                <a:sym typeface="Symbol" pitchFamily="18" charset="2"/>
              </a:rPr>
              <a:t></a:t>
            </a:r>
            <a:r>
              <a:rPr lang="en-US" altLang="zh-CN" i="1" baseline="-25000" smtClean="0"/>
              <a:t>1 </a:t>
            </a:r>
            <a:r>
              <a:rPr lang="zh-CN" altLang="en-US" smtClean="0">
                <a:latin typeface="宋体" pitchFamily="2" charset="-122"/>
              </a:rPr>
              <a:t>: </a:t>
            </a:r>
          </a:p>
        </p:txBody>
      </p:sp>
      <p:graphicFrame>
        <p:nvGraphicFramePr>
          <p:cNvPr id="276485" name="Object 5"/>
          <p:cNvGraphicFramePr>
            <a:graphicFrameLocks noChangeAspect="1"/>
          </p:cNvGraphicFramePr>
          <p:nvPr/>
        </p:nvGraphicFramePr>
        <p:xfrm>
          <a:off x="1589088" y="2819400"/>
          <a:ext cx="48006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03" name="Equation" r:id="rId4" imgW="1790640" imgH="431640" progId="Equation.3">
                  <p:embed/>
                </p:oleObj>
              </mc:Choice>
              <mc:Fallback>
                <p:oleObj name="Equation" r:id="rId4" imgW="1790640" imgH="431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9088" y="2819400"/>
                        <a:ext cx="48006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487" name="Rectangle 7"/>
          <p:cNvSpPr>
            <a:spLocks noChangeArrowheads="1"/>
          </p:cNvSpPr>
          <p:nvPr/>
        </p:nvSpPr>
        <p:spPr bwMode="auto">
          <a:xfrm>
            <a:off x="685800" y="4038602"/>
            <a:ext cx="6999288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258763" indent="-258763" algn="l" defTabSz="814388">
              <a:lnSpc>
                <a:spcPct val="90000"/>
              </a:lnSpc>
              <a:spcBef>
                <a:spcPts val="12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</a:pPr>
            <a:r>
              <a:rPr lang="zh-CN" altLang="en-US" sz="2800">
                <a:latin typeface="宋体" pitchFamily="2" charset="-122"/>
                <a:ea typeface="黑体" pitchFamily="49" charset="-122"/>
              </a:rPr>
              <a:t>将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x</a:t>
            </a:r>
            <a:r>
              <a:rPr lang="en-US" altLang="zh-CN" sz="2800" i="1" baseline="-2500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0</a:t>
            </a:r>
            <a:r>
              <a:rPr lang="zh-CN" altLang="en-US" sz="2800">
                <a:latin typeface="宋体" pitchFamily="2" charset="-122"/>
                <a:ea typeface="黑体" pitchFamily="49" charset="-122"/>
              </a:rPr>
              <a:t>和 </a:t>
            </a:r>
            <a:r>
              <a:rPr lang="zh-CN" altLang="en-US" sz="2800">
                <a:latin typeface="Times New Roman" pitchFamily="18" charset="0"/>
                <a:ea typeface="黑体" pitchFamily="49" charset="-122"/>
                <a:sym typeface="Symbol" pitchFamily="18" charset="2"/>
              </a:rPr>
              <a:t>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 = </a:t>
            </a:r>
            <a:r>
              <a:rPr lang="zh-CN" altLang="en-US" sz="2800">
                <a:latin typeface="Times New Roman" pitchFamily="18" charset="0"/>
                <a:ea typeface="黑体" pitchFamily="49" charset="-122"/>
                <a:sym typeface="Symbol" pitchFamily="18" charset="2"/>
              </a:rPr>
              <a:t></a:t>
            </a:r>
            <a:r>
              <a:rPr lang="en-US" altLang="zh-CN" sz="2800" i="1" baseline="-25000">
                <a:latin typeface="Times New Roman" pitchFamily="18" charset="0"/>
                <a:ea typeface="黑体" pitchFamily="49" charset="-122"/>
              </a:rPr>
              <a:t>1</a:t>
            </a:r>
            <a:r>
              <a:rPr lang="zh-CN" altLang="en-US" sz="2800">
                <a:latin typeface="宋体" pitchFamily="2" charset="-122"/>
                <a:ea typeface="黑体" pitchFamily="49" charset="-122"/>
              </a:rPr>
              <a:t>代入</a:t>
            </a: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			</a:t>
            </a:r>
          </a:p>
        </p:txBody>
      </p:sp>
      <p:graphicFrame>
        <p:nvGraphicFramePr>
          <p:cNvPr id="276488" name="Object 8"/>
          <p:cNvGraphicFramePr>
            <a:graphicFrameLocks noChangeAspect="1"/>
          </p:cNvGraphicFramePr>
          <p:nvPr/>
        </p:nvGraphicFramePr>
        <p:xfrm>
          <a:off x="4075115" y="3733802"/>
          <a:ext cx="4230687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04" name="Equation" r:id="rId6" imgW="1676160" imgH="393480" progId="Equation.3">
                  <p:embed/>
                </p:oleObj>
              </mc:Choice>
              <mc:Fallback>
                <p:oleObj name="Equation" r:id="rId6" imgW="1676160" imgH="3934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5115" y="3733802"/>
                        <a:ext cx="4230687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489" name="Object 9"/>
          <p:cNvGraphicFramePr>
            <a:graphicFrameLocks noChangeAspect="1"/>
          </p:cNvGraphicFramePr>
          <p:nvPr/>
        </p:nvGraphicFramePr>
        <p:xfrm>
          <a:off x="914400" y="4625975"/>
          <a:ext cx="7488238" cy="1500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05" name="Equation" r:id="rId8" imgW="3314520" imgH="660240" progId="Equation.3">
                  <p:embed/>
                </p:oleObj>
              </mc:Choice>
              <mc:Fallback>
                <p:oleObj name="Equation" r:id="rId8" imgW="3314520" imgH="6602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625975"/>
                        <a:ext cx="7488238" cy="1500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490" name="Rectangle 10"/>
          <p:cNvSpPr>
            <a:spLocks noChangeArrowheads="1"/>
          </p:cNvSpPr>
          <p:nvPr/>
        </p:nvSpPr>
        <p:spPr bwMode="auto">
          <a:xfrm>
            <a:off x="927100" y="1371602"/>
            <a:ext cx="11001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i="1">
                <a:latin typeface="Times New Roman" pitchFamily="18" charset="0"/>
              </a:rPr>
              <a:t>f</a:t>
            </a:r>
            <a:r>
              <a:rPr lang="en-US" altLang="zh-CN" sz="2800">
                <a:latin typeface="Times New Roman" pitchFamily="18" charset="0"/>
              </a:rPr>
              <a:t>(</a:t>
            </a:r>
            <a:r>
              <a:rPr lang="en-US" altLang="zh-CN" sz="2800" i="1">
                <a:latin typeface="Times New Roman" pitchFamily="18" charset="0"/>
              </a:rPr>
              <a:t>x</a:t>
            </a:r>
            <a:r>
              <a:rPr lang="en-US" altLang="zh-CN" sz="2800">
                <a:latin typeface="Times New Roman" pitchFamily="18" charset="0"/>
              </a:rPr>
              <a:t>)</a:t>
            </a:r>
            <a:r>
              <a:rPr lang="en-US" altLang="zh-CN" sz="2800" i="1">
                <a:latin typeface="Times New Roman" pitchFamily="18" charset="0"/>
              </a:rPr>
              <a:t>=</a:t>
            </a:r>
            <a:r>
              <a:rPr lang="en-US" altLang="zh-CN" sz="2800">
                <a:latin typeface="Times New Roman" pitchFamily="18" charset="0"/>
              </a:rPr>
              <a:t>0</a:t>
            </a:r>
            <a:endParaRPr lang="zh-CN" altLang="en-US" sz="2800">
              <a:latin typeface="Times New Roman" pitchFamily="18" charset="0"/>
            </a:endParaRPr>
          </a:p>
        </p:txBody>
      </p:sp>
      <p:sp>
        <p:nvSpPr>
          <p:cNvPr id="276491" name="AutoShape 11"/>
          <p:cNvSpPr>
            <a:spLocks noChangeArrowheads="1"/>
          </p:cNvSpPr>
          <p:nvPr/>
        </p:nvSpPr>
        <p:spPr bwMode="auto">
          <a:xfrm>
            <a:off x="2209800" y="1447800"/>
            <a:ext cx="685800" cy="457200"/>
          </a:xfrm>
          <a:prstGeom prst="rightArrow">
            <a:avLst>
              <a:gd name="adj1" fmla="val 50000"/>
              <a:gd name="adj2" fmla="val 375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492" name="Rectangle 12"/>
          <p:cNvSpPr>
            <a:spLocks noChangeArrowheads="1"/>
          </p:cNvSpPr>
          <p:nvPr/>
        </p:nvSpPr>
        <p:spPr bwMode="auto">
          <a:xfrm>
            <a:off x="2860675" y="1317625"/>
            <a:ext cx="13858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i="1">
                <a:latin typeface="Times New Roman" pitchFamily="18" charset="0"/>
              </a:rPr>
              <a:t>x= 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  <a:sym typeface="Symbol" pitchFamily="18" charset="2"/>
              </a:rPr>
              <a:t></a:t>
            </a:r>
            <a:r>
              <a:rPr lang="en-US" altLang="zh-CN" sz="3200" i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en-US" altLang="zh-CN" sz="2800">
                <a:latin typeface="Times New Roman" pitchFamily="18" charset="0"/>
              </a:rPr>
              <a:t>(</a:t>
            </a:r>
            <a:r>
              <a:rPr lang="en-US" altLang="zh-CN" sz="2800" i="1">
                <a:latin typeface="Times New Roman" pitchFamily="18" charset="0"/>
              </a:rPr>
              <a:t>x</a:t>
            </a:r>
            <a:r>
              <a:rPr lang="en-US" altLang="zh-CN" sz="2800">
                <a:latin typeface="Times New Roman" pitchFamily="18" charset="0"/>
              </a:rPr>
              <a:t>)</a:t>
            </a:r>
            <a:endParaRPr lang="zh-CN" altLang="en-US" sz="2800">
              <a:latin typeface="Times New Roman" pitchFamily="18" charset="0"/>
            </a:endParaRPr>
          </a:p>
        </p:txBody>
      </p:sp>
      <p:sp>
        <p:nvSpPr>
          <p:cNvPr id="276493" name="Rectangle 13"/>
          <p:cNvSpPr>
            <a:spLocks noChangeArrowheads="1"/>
          </p:cNvSpPr>
          <p:nvPr/>
        </p:nvSpPr>
        <p:spPr bwMode="auto">
          <a:xfrm>
            <a:off x="4398965" y="1338265"/>
            <a:ext cx="19145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800" i="1" baseline="-2500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800" baseline="-25000">
                <a:latin typeface="Times New Roman" pitchFamily="18" charset="0"/>
                <a:cs typeface="Times New Roman" pitchFamily="18" charset="0"/>
              </a:rPr>
              <a:t>+1</a:t>
            </a:r>
            <a:r>
              <a:rPr lang="en-US" altLang="zh-CN" sz="2800" i="1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  <a:sym typeface="Symbol" pitchFamily="18" charset="2"/>
              </a:rPr>
              <a:t></a:t>
            </a:r>
            <a:r>
              <a:rPr lang="en-US" altLang="zh-CN" sz="3200" i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en-US" altLang="zh-CN" sz="280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800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800" i="1" baseline="-2500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800">
                <a:latin typeface="Times New Roman" pitchFamily="18" charset="0"/>
                <a:cs typeface="Times New Roman" pitchFamily="18" charset="0"/>
              </a:rPr>
              <a:t>)</a:t>
            </a:r>
            <a:endParaRPr lang="zh-CN" altLang="en-US" sz="28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6494" name="AutoShape 14"/>
          <p:cNvSpPr>
            <a:spLocks noChangeArrowheads="1"/>
          </p:cNvSpPr>
          <p:nvPr/>
        </p:nvSpPr>
        <p:spPr bwMode="auto">
          <a:xfrm>
            <a:off x="6248400" y="1462088"/>
            <a:ext cx="685800" cy="457200"/>
          </a:xfrm>
          <a:prstGeom prst="rightArrow">
            <a:avLst>
              <a:gd name="adj1" fmla="val 50000"/>
              <a:gd name="adj2" fmla="val 375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495" name="Rectangle 15"/>
          <p:cNvSpPr>
            <a:spLocks noChangeArrowheads="1"/>
          </p:cNvSpPr>
          <p:nvPr/>
        </p:nvSpPr>
        <p:spPr bwMode="auto">
          <a:xfrm flipH="1">
            <a:off x="7164388" y="981077"/>
            <a:ext cx="53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800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800" baseline="-25000">
                <a:latin typeface="Times New Roman" pitchFamily="18" charset="0"/>
                <a:cs typeface="Times New Roman" pitchFamily="18" charset="0"/>
              </a:rPr>
              <a:t>0</a:t>
            </a:r>
            <a:endParaRPr lang="zh-CN" altLang="en-US" sz="2800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6496" name="Rectangle 16"/>
          <p:cNvSpPr>
            <a:spLocks noChangeArrowheads="1"/>
          </p:cNvSpPr>
          <p:nvPr/>
        </p:nvSpPr>
        <p:spPr bwMode="auto">
          <a:xfrm>
            <a:off x="7034215" y="1385890"/>
            <a:ext cx="178593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800" i="1">
                <a:latin typeface="Times New Roman" pitchFamily="18" charset="0"/>
              </a:rPr>
              <a:t>y</a:t>
            </a:r>
            <a:r>
              <a:rPr lang="en-US" altLang="zh-CN" sz="2800" baseline="-25000">
                <a:latin typeface="Times New Roman" pitchFamily="18" charset="0"/>
              </a:rPr>
              <a:t>1</a:t>
            </a:r>
            <a:r>
              <a:rPr lang="en-US" altLang="zh-CN" sz="2800" i="1">
                <a:latin typeface="Times New Roman" pitchFamily="18" charset="0"/>
              </a:rPr>
              <a:t>= 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  <a:sym typeface="Symbol" pitchFamily="18" charset="2"/>
              </a:rPr>
              <a:t></a:t>
            </a:r>
            <a:r>
              <a:rPr lang="en-US" altLang="zh-CN" sz="3200" i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en-US" altLang="zh-CN" sz="2800">
                <a:latin typeface="Times New Roman" pitchFamily="18" charset="0"/>
              </a:rPr>
              <a:t>(</a:t>
            </a:r>
            <a:r>
              <a:rPr lang="en-US" altLang="zh-CN" sz="2800" i="1">
                <a:latin typeface="Times New Roman" pitchFamily="18" charset="0"/>
              </a:rPr>
              <a:t>x</a:t>
            </a:r>
            <a:r>
              <a:rPr lang="en-US" altLang="zh-CN" sz="2800" baseline="-2500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zh-CN" sz="2800">
                <a:latin typeface="Times New Roman" pitchFamily="18" charset="0"/>
              </a:rPr>
              <a:t>)</a:t>
            </a:r>
            <a:endParaRPr lang="zh-CN" altLang="en-US" sz="2800">
              <a:latin typeface="Times New Roman" pitchFamily="18" charset="0"/>
            </a:endParaRPr>
          </a:p>
        </p:txBody>
      </p:sp>
      <p:sp>
        <p:nvSpPr>
          <p:cNvPr id="276497" name="Rectangle 17"/>
          <p:cNvSpPr>
            <a:spLocks noChangeArrowheads="1"/>
          </p:cNvSpPr>
          <p:nvPr/>
        </p:nvSpPr>
        <p:spPr bwMode="auto">
          <a:xfrm>
            <a:off x="7192963" y="1912938"/>
            <a:ext cx="15541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i="1">
                <a:latin typeface="Times New Roman" pitchFamily="18" charset="0"/>
              </a:rPr>
              <a:t>z</a:t>
            </a:r>
            <a:r>
              <a:rPr lang="en-US" altLang="zh-CN" sz="2800" i="1" baseline="-25000">
                <a:latin typeface="Times New Roman" pitchFamily="18" charset="0"/>
              </a:rPr>
              <a:t>1</a:t>
            </a:r>
            <a:r>
              <a:rPr lang="en-US" altLang="zh-CN" sz="2800" i="1">
                <a:latin typeface="Times New Roman" pitchFamily="18" charset="0"/>
              </a:rPr>
              <a:t>= 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  <a:sym typeface="Symbol" pitchFamily="18" charset="2"/>
              </a:rPr>
              <a:t></a:t>
            </a:r>
            <a:r>
              <a:rPr lang="en-US" altLang="zh-CN" sz="28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800">
                <a:latin typeface="Times New Roman" pitchFamily="18" charset="0"/>
              </a:rPr>
              <a:t>(</a:t>
            </a:r>
            <a:r>
              <a:rPr lang="en-US" altLang="zh-CN" sz="2800" i="1">
                <a:latin typeface="Times New Roman" pitchFamily="18" charset="0"/>
              </a:rPr>
              <a:t>y</a:t>
            </a:r>
            <a:r>
              <a:rPr lang="en-US" altLang="zh-CN" sz="2800" baseline="-25000">
                <a:latin typeface="Times New Roman" pitchFamily="18" charset="0"/>
              </a:rPr>
              <a:t>1</a:t>
            </a:r>
            <a:r>
              <a:rPr lang="en-US" altLang="zh-CN" sz="2800">
                <a:latin typeface="Times New Roman" pitchFamily="18" charset="0"/>
              </a:rPr>
              <a:t>)</a:t>
            </a:r>
            <a:endParaRPr lang="zh-CN" altLang="en-US" sz="2800">
              <a:latin typeface="Times New Roman" pitchFamily="18" charset="0"/>
            </a:endParaRPr>
          </a:p>
        </p:txBody>
      </p:sp>
      <p:sp>
        <p:nvSpPr>
          <p:cNvPr id="276498" name="AutoShape 18"/>
          <p:cNvSpPr>
            <a:spLocks/>
          </p:cNvSpPr>
          <p:nvPr/>
        </p:nvSpPr>
        <p:spPr bwMode="auto">
          <a:xfrm>
            <a:off x="7010400" y="1233488"/>
            <a:ext cx="228600" cy="990600"/>
          </a:xfrm>
          <a:prstGeom prst="leftBrace">
            <a:avLst>
              <a:gd name="adj1" fmla="val 36111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6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76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76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76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76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76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76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6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"/>
                                        <p:tgtEl>
                                          <p:spTgt spid="276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125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76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76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76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76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483" grpId="0" build="p" autoUpdateAnimBg="0"/>
      <p:bldP spid="276487" grpId="0" autoUpdateAnimBg="0"/>
      <p:bldP spid="276490" grpId="0" autoUpdateAnimBg="0"/>
      <p:bldP spid="276491" grpId="0" animBg="1"/>
      <p:bldP spid="276492" grpId="0" autoUpdateAnimBg="0"/>
      <p:bldP spid="276493" grpId="0" autoUpdateAnimBg="0"/>
      <p:bldP spid="276494" grpId="0" animBg="1"/>
      <p:bldP spid="276495" grpId="0" autoUpdateAnimBg="0"/>
      <p:bldP spid="276496" grpId="0" autoUpdateAnimBg="0"/>
      <p:bldP spid="276497" grpId="0" autoUpdateAnimBg="0"/>
      <p:bldP spid="276498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5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0006A126-A07C-4632-A896-E7BE61F84757}" type="slidenum">
              <a:rPr lang="zh-CN" altLang="en-US"/>
              <a:pPr/>
              <a:t>64</a:t>
            </a:fld>
            <a:endParaRPr lang="en-US" altLang="zh-CN"/>
          </a:p>
        </p:txBody>
      </p:sp>
      <p:sp>
        <p:nvSpPr>
          <p:cNvPr id="25606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017ED242-E630-4DDB-85C7-6FEB19670238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277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3.1.2 </a:t>
            </a:r>
            <a:r>
              <a:rPr lang="zh-CN" altLang="en-US" smtClean="0">
                <a:latin typeface="宋体" pitchFamily="2" charset="-122"/>
              </a:rPr>
              <a:t>埃特肯法</a:t>
            </a:r>
          </a:p>
        </p:txBody>
      </p:sp>
      <p:sp>
        <p:nvSpPr>
          <p:cNvPr id="277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292227"/>
            <a:ext cx="8142288" cy="886397"/>
          </a:xfrm>
        </p:spPr>
        <p:txBody>
          <a:bodyPr/>
          <a:lstStyle/>
          <a:p>
            <a:r>
              <a:rPr lang="zh-CN" altLang="en-US" smtClean="0">
                <a:latin typeface="宋体" pitchFamily="2" charset="-122"/>
              </a:rPr>
              <a:t>继续求取三个相邻迭代值,得到</a:t>
            </a:r>
            <a:r>
              <a:rPr lang="en-US" altLang="zh-CN" i="1" smtClean="0">
                <a:cs typeface="Times New Roman" pitchFamily="18" charset="0"/>
              </a:rPr>
              <a:t>x</a:t>
            </a:r>
            <a:r>
              <a:rPr lang="en-US" altLang="zh-CN" baseline="-25000" smtClean="0">
                <a:cs typeface="Times New Roman" pitchFamily="18" charset="0"/>
              </a:rPr>
              <a:t>1</a:t>
            </a:r>
            <a:r>
              <a:rPr lang="en-US" altLang="zh-CN" i="1" baseline="-25000" smtClean="0">
                <a:cs typeface="Times New Roman" pitchFamily="18" charset="0"/>
              </a:rPr>
              <a:t> </a:t>
            </a:r>
            <a:r>
              <a:rPr lang="zh-CN" altLang="en-US" smtClean="0">
                <a:latin typeface="宋体" pitchFamily="2" charset="-122"/>
              </a:rPr>
              <a:t>,</a:t>
            </a:r>
            <a:r>
              <a:rPr lang="en-US" altLang="zh-CN" i="1" baseline="-25000" smtClean="0">
                <a:cs typeface="Times New Roman" pitchFamily="18" charset="0"/>
              </a:rPr>
              <a:t> </a:t>
            </a:r>
            <a:r>
              <a:rPr lang="en-US" altLang="zh-CN" i="1" smtClean="0"/>
              <a:t>y</a:t>
            </a:r>
            <a:r>
              <a:rPr lang="en-US" altLang="zh-CN" baseline="-25000" smtClean="0"/>
              <a:t>2</a:t>
            </a:r>
            <a:r>
              <a:rPr lang="en-US" altLang="zh-CN" i="1" smtClean="0"/>
              <a:t>= </a:t>
            </a:r>
            <a:r>
              <a:rPr lang="en-US" altLang="zh-CN" i="1" smtClean="0">
                <a:sym typeface="Symbol" pitchFamily="18" charset="2"/>
              </a:rPr>
              <a:t></a:t>
            </a:r>
            <a:r>
              <a:rPr lang="en-US" altLang="zh-CN" sz="3200" i="1">
                <a:cs typeface="Times New Roman" pitchFamily="18" charset="0"/>
              </a:rPr>
              <a:t> </a:t>
            </a:r>
            <a:r>
              <a:rPr lang="en-US" altLang="zh-CN" smtClean="0"/>
              <a:t>(</a:t>
            </a:r>
            <a:r>
              <a:rPr lang="en-US" altLang="zh-CN" i="1" smtClean="0"/>
              <a:t>x</a:t>
            </a:r>
            <a:r>
              <a:rPr lang="en-US" altLang="zh-CN" baseline="-25000" smtClean="0">
                <a:cs typeface="Times New Roman" pitchFamily="18" charset="0"/>
              </a:rPr>
              <a:t>1</a:t>
            </a:r>
            <a:r>
              <a:rPr lang="en-US" altLang="zh-CN" smtClean="0"/>
              <a:t>)</a:t>
            </a:r>
            <a:r>
              <a:rPr lang="en-US" altLang="zh-CN" i="1" smtClean="0"/>
              <a:t> </a:t>
            </a:r>
            <a:r>
              <a:rPr lang="zh-CN" altLang="en-US" smtClean="0">
                <a:latin typeface="宋体" pitchFamily="2" charset="-122"/>
              </a:rPr>
              <a:t>,   </a:t>
            </a:r>
            <a:r>
              <a:rPr lang="en-US" altLang="zh-CN" i="1" smtClean="0"/>
              <a:t>z</a:t>
            </a:r>
            <a:r>
              <a:rPr lang="en-US" altLang="zh-CN" i="1" baseline="-25000" smtClean="0"/>
              <a:t>2</a:t>
            </a:r>
            <a:r>
              <a:rPr lang="en-US" altLang="zh-CN" i="1" smtClean="0"/>
              <a:t>= </a:t>
            </a:r>
            <a:r>
              <a:rPr lang="en-US" altLang="zh-CN" i="1" smtClean="0">
                <a:sym typeface="Symbol" pitchFamily="18" charset="2"/>
              </a:rPr>
              <a:t></a:t>
            </a:r>
            <a:r>
              <a:rPr lang="en-US" altLang="zh-CN" sz="3200" i="1">
                <a:cs typeface="Times New Roman" pitchFamily="18" charset="0"/>
              </a:rPr>
              <a:t> </a:t>
            </a:r>
            <a:r>
              <a:rPr lang="en-US" altLang="zh-CN" smtClean="0"/>
              <a:t>(</a:t>
            </a:r>
            <a:r>
              <a:rPr lang="en-US" altLang="zh-CN" i="1" smtClean="0"/>
              <a:t>y</a:t>
            </a:r>
            <a:r>
              <a:rPr lang="en-US" altLang="zh-CN" baseline="-25000" smtClean="0"/>
              <a:t>2</a:t>
            </a:r>
            <a:r>
              <a:rPr lang="en-US" altLang="zh-CN" smtClean="0"/>
              <a:t>)</a:t>
            </a:r>
            <a:r>
              <a:rPr lang="en-US" altLang="zh-CN" i="1" smtClean="0"/>
              <a:t>，</a:t>
            </a:r>
            <a:r>
              <a:rPr lang="zh-CN" altLang="en-US" smtClean="0">
                <a:latin typeface="宋体" pitchFamily="2" charset="-122"/>
              </a:rPr>
              <a:t>建立</a:t>
            </a:r>
          </a:p>
        </p:txBody>
      </p:sp>
      <p:graphicFrame>
        <p:nvGraphicFramePr>
          <p:cNvPr id="277510" name="Object 6"/>
          <p:cNvGraphicFramePr>
            <a:graphicFrameLocks noChangeAspect="1"/>
          </p:cNvGraphicFramePr>
          <p:nvPr/>
        </p:nvGraphicFramePr>
        <p:xfrm>
          <a:off x="2362202" y="2286002"/>
          <a:ext cx="4100513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8" name="Equation" r:id="rId4" imgW="1752480" imgH="431640" progId="Equation.3">
                  <p:embed/>
                </p:oleObj>
              </mc:Choice>
              <mc:Fallback>
                <p:oleObj name="Equation" r:id="rId4" imgW="1752480" imgH="4316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2" y="2286002"/>
                        <a:ext cx="4100513" cy="1020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7513" name="Rectangle 9"/>
          <p:cNvSpPr>
            <a:spLocks noChangeArrowheads="1"/>
          </p:cNvSpPr>
          <p:nvPr/>
        </p:nvSpPr>
        <p:spPr bwMode="auto">
          <a:xfrm>
            <a:off x="620715" y="3657602"/>
            <a:ext cx="6999287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258763" indent="-258763" algn="l" defTabSz="814388">
              <a:lnSpc>
                <a:spcPct val="90000"/>
              </a:lnSpc>
              <a:spcBef>
                <a:spcPts val="12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</a:pPr>
            <a:r>
              <a:rPr lang="zh-CN" altLang="en-US" sz="2800">
                <a:latin typeface="宋体" pitchFamily="2" charset="-122"/>
                <a:ea typeface="黑体" pitchFamily="49" charset="-122"/>
              </a:rPr>
              <a:t>以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x</a:t>
            </a:r>
            <a:r>
              <a:rPr lang="en-US" altLang="zh-CN" sz="2800" baseline="-2500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lang="zh-CN" altLang="en-US" sz="2800">
                <a:latin typeface="宋体" pitchFamily="2" charset="-122"/>
                <a:ea typeface="黑体" pitchFamily="49" charset="-122"/>
              </a:rPr>
              <a:t>和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θ</a:t>
            </a:r>
            <a:r>
              <a:rPr lang="en-US" altLang="zh-CN" sz="2800" baseline="-25000">
                <a:latin typeface="Times New Roman" pitchFamily="18" charset="0"/>
                <a:ea typeface="黑体" pitchFamily="49" charset="-122"/>
              </a:rPr>
              <a:t>2</a:t>
            </a:r>
            <a:r>
              <a:rPr lang="zh-CN" altLang="en-US" sz="2800">
                <a:latin typeface="宋体" pitchFamily="2" charset="-122"/>
                <a:ea typeface="黑体" pitchFamily="49" charset="-122"/>
              </a:rPr>
              <a:t>代入公式计算出</a:t>
            </a: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 		</a:t>
            </a:r>
          </a:p>
        </p:txBody>
      </p:sp>
      <p:graphicFrame>
        <p:nvGraphicFramePr>
          <p:cNvPr id="277514" name="Object 10"/>
          <p:cNvGraphicFramePr>
            <a:graphicFrameLocks noChangeAspect="1"/>
          </p:cNvGraphicFramePr>
          <p:nvPr/>
        </p:nvGraphicFramePr>
        <p:xfrm>
          <a:off x="2209800" y="4724400"/>
          <a:ext cx="3035300" cy="121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9" name="Equation" r:id="rId6" imgW="1168200" imgH="469800" progId="Equation.3">
                  <p:embed/>
                </p:oleObj>
              </mc:Choice>
              <mc:Fallback>
                <p:oleObj name="Equation" r:id="rId6" imgW="1168200" imgH="4698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724400"/>
                        <a:ext cx="3035300" cy="1212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516" name="Object 12"/>
          <p:cNvGraphicFramePr>
            <a:graphicFrameLocks noChangeAspect="1"/>
          </p:cNvGraphicFramePr>
          <p:nvPr/>
        </p:nvGraphicFramePr>
        <p:xfrm>
          <a:off x="4800600" y="3886202"/>
          <a:ext cx="4230688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20" name="Equation" r:id="rId8" imgW="1676160" imgH="393480" progId="Equation.3">
                  <p:embed/>
                </p:oleObj>
              </mc:Choice>
              <mc:Fallback>
                <p:oleObj name="Equation" r:id="rId8" imgW="1676160" imgH="3934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3886202"/>
                        <a:ext cx="4230688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7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7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775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77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77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507" grpId="0" build="p" bldLvl="2" autoUpdateAnimBg="0"/>
      <p:bldP spid="277513" grpId="0" build="p" autoUpdateAnimBg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0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19412FD4-1D6C-4300-8304-9592CF83D4B4}" type="slidenum">
              <a:rPr lang="zh-CN" altLang="en-US"/>
              <a:pPr/>
              <a:t>65</a:t>
            </a:fld>
            <a:endParaRPr lang="en-US" altLang="zh-CN"/>
          </a:p>
        </p:txBody>
      </p:sp>
      <p:sp>
        <p:nvSpPr>
          <p:cNvPr id="26631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8A1C4E4A-5A3D-4C8A-8205-792654BB61FC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3.1.2 </a:t>
            </a:r>
            <a:r>
              <a:rPr lang="zh-CN" altLang="en-US" smtClean="0">
                <a:latin typeface="宋体" pitchFamily="2" charset="-122"/>
              </a:rPr>
              <a:t>埃特肯法</a:t>
            </a:r>
          </a:p>
        </p:txBody>
      </p:sp>
      <p:sp>
        <p:nvSpPr>
          <p:cNvPr id="266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292227"/>
            <a:ext cx="8142288" cy="384175"/>
          </a:xfrm>
        </p:spPr>
        <p:txBody>
          <a:bodyPr/>
          <a:lstStyle/>
          <a:p>
            <a:r>
              <a:rPr lang="zh-CN" altLang="en-US" smtClean="0">
                <a:latin typeface="宋体" pitchFamily="2" charset="-122"/>
              </a:rPr>
              <a:t>其一般公式可归纳为</a:t>
            </a:r>
            <a:r>
              <a:rPr lang="zh-CN" altLang="en-US" smtClean="0"/>
              <a:t> </a:t>
            </a:r>
          </a:p>
        </p:txBody>
      </p:sp>
      <p:graphicFrame>
        <p:nvGraphicFramePr>
          <p:cNvPr id="278532" name="Object 4"/>
          <p:cNvGraphicFramePr>
            <a:graphicFrameLocks noChangeAspect="1"/>
          </p:cNvGraphicFramePr>
          <p:nvPr/>
        </p:nvGraphicFramePr>
        <p:xfrm>
          <a:off x="1571625" y="1795465"/>
          <a:ext cx="7069138" cy="1100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87" name="Equation" r:id="rId4" imgW="2997000" imgH="469800" progId="Equation.3">
                  <p:embed/>
                </p:oleObj>
              </mc:Choice>
              <mc:Fallback>
                <p:oleObj name="Equation" r:id="rId4" imgW="2997000" imgH="469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25" y="1795465"/>
                        <a:ext cx="7069138" cy="1100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8535" name="Rectangle 7"/>
          <p:cNvSpPr>
            <a:spLocks noChangeArrowheads="1"/>
          </p:cNvSpPr>
          <p:nvPr/>
        </p:nvSpPr>
        <p:spPr bwMode="auto">
          <a:xfrm>
            <a:off x="620715" y="3200402"/>
            <a:ext cx="6999287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258763" indent="-258763" algn="l" defTabSz="814388">
              <a:lnSpc>
                <a:spcPct val="90000"/>
              </a:lnSpc>
              <a:spcBef>
                <a:spcPts val="12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</a:pPr>
            <a:r>
              <a:rPr lang="zh-CN" altLang="en-US" sz="2800">
                <a:latin typeface="宋体" pitchFamily="2" charset="-122"/>
                <a:ea typeface="黑体" pitchFamily="49" charset="-122"/>
              </a:rPr>
              <a:t>其中</a:t>
            </a: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 		</a:t>
            </a:r>
          </a:p>
        </p:txBody>
      </p:sp>
      <p:graphicFrame>
        <p:nvGraphicFramePr>
          <p:cNvPr id="278536" name="Object 8"/>
          <p:cNvGraphicFramePr>
            <a:graphicFrameLocks noChangeAspect="1"/>
          </p:cNvGraphicFramePr>
          <p:nvPr/>
        </p:nvGraphicFramePr>
        <p:xfrm>
          <a:off x="2330450" y="3157538"/>
          <a:ext cx="203200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88" name="Equation" r:id="rId6" imgW="812520" imgH="228600" progId="Equation.3">
                  <p:embed/>
                </p:oleObj>
              </mc:Choice>
              <mc:Fallback>
                <p:oleObj name="Equation" r:id="rId6" imgW="81252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0450" y="3157538"/>
                        <a:ext cx="2032000" cy="576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38" name="Object 10"/>
          <p:cNvGraphicFramePr>
            <a:graphicFrameLocks noChangeAspect="1"/>
          </p:cNvGraphicFramePr>
          <p:nvPr/>
        </p:nvGraphicFramePr>
        <p:xfrm>
          <a:off x="2362200" y="3767138"/>
          <a:ext cx="219075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89" name="Equation" r:id="rId8" imgW="876240" imgH="228600" progId="Equation.3">
                  <p:embed/>
                </p:oleObj>
              </mc:Choice>
              <mc:Fallback>
                <p:oleObj name="Equation" r:id="rId8" imgW="876240" imgH="228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3767138"/>
                        <a:ext cx="2190750" cy="576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40" name="Object 12"/>
          <p:cNvGraphicFramePr>
            <a:graphicFrameLocks noChangeAspect="1"/>
          </p:cNvGraphicFramePr>
          <p:nvPr/>
        </p:nvGraphicFramePr>
        <p:xfrm>
          <a:off x="2328863" y="4397377"/>
          <a:ext cx="4640262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90" name="Equation" r:id="rId10" imgW="1739880" imgH="457200" progId="Equation.3">
                  <p:embed/>
                </p:oleObj>
              </mc:Choice>
              <mc:Fallback>
                <p:oleObj name="Equation" r:id="rId10" imgW="1739880" imgH="4572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8863" y="4397377"/>
                        <a:ext cx="4640262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8542" name="Rectangle 14"/>
          <p:cNvSpPr>
            <a:spLocks noChangeArrowheads="1"/>
          </p:cNvSpPr>
          <p:nvPr/>
        </p:nvSpPr>
        <p:spPr bwMode="auto">
          <a:xfrm>
            <a:off x="620713" y="5559425"/>
            <a:ext cx="81280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258763" indent="-258763" algn="l" defTabSz="814388">
              <a:lnSpc>
                <a:spcPct val="90000"/>
              </a:lnSpc>
              <a:spcBef>
                <a:spcPts val="12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</a:pPr>
            <a:r>
              <a:rPr lang="zh-CN" altLang="en-US" sz="2800" dirty="0">
                <a:latin typeface="宋体" pitchFamily="2" charset="-122"/>
                <a:ea typeface="黑体" pitchFamily="49" charset="-122"/>
              </a:rPr>
              <a:t>这个方法叫</a:t>
            </a:r>
            <a:r>
              <a:rPr lang="zh-CN" altLang="en-US" sz="2800" dirty="0">
                <a:solidFill>
                  <a:srgbClr val="FF3300"/>
                </a:solidFill>
                <a:latin typeface="宋体" pitchFamily="2" charset="-122"/>
                <a:ea typeface="黑体" pitchFamily="49" charset="-122"/>
              </a:rPr>
              <a:t>埃特肯加速收敛法</a:t>
            </a:r>
            <a:r>
              <a:rPr lang="zh-CN" altLang="en-US" sz="2800" dirty="0">
                <a:latin typeface="宋体" pitchFamily="2" charset="-122"/>
                <a:ea typeface="黑体" pitchFamily="49" charset="-122"/>
              </a:rPr>
              <a:t> </a:t>
            </a:r>
            <a:r>
              <a:rPr lang="en-US" altLang="zh-CN" sz="2800" dirty="0">
                <a:latin typeface="宋体" pitchFamily="2" charset="-122"/>
                <a:ea typeface="黑体" pitchFamily="49" charset="-122"/>
              </a:rPr>
              <a:t>, </a:t>
            </a:r>
            <a:r>
              <a:rPr lang="zh-CN" altLang="en-US" sz="2800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</a:rPr>
              <a:t>（收敛阶数为</a:t>
            </a:r>
            <a:r>
              <a:rPr lang="en-US" altLang="zh-CN" sz="2800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</a:rPr>
              <a:t>2</a:t>
            </a:r>
            <a:r>
              <a:rPr lang="zh-CN" altLang="en-US" sz="2800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</a:rPr>
              <a:t>）</a:t>
            </a:r>
            <a:r>
              <a:rPr lang="en-US" altLang="zh-CN" sz="2800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</a:rPr>
              <a:t> </a:t>
            </a:r>
            <a:r>
              <a:rPr lang="en-US" altLang="zh-CN" sz="2800" dirty="0">
                <a:latin typeface="Times New Roman" pitchFamily="18" charset="0"/>
                <a:ea typeface="黑体" pitchFamily="49" charset="-122"/>
              </a:rPr>
              <a:t>		</a:t>
            </a:r>
          </a:p>
        </p:txBody>
      </p:sp>
      <p:sp>
        <p:nvSpPr>
          <p:cNvPr id="278543" name="Rectangle 15"/>
          <p:cNvSpPr>
            <a:spLocks noChangeArrowheads="1"/>
          </p:cNvSpPr>
          <p:nvPr/>
        </p:nvSpPr>
        <p:spPr bwMode="auto">
          <a:xfrm>
            <a:off x="4876800" y="3124202"/>
            <a:ext cx="259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sz="2800">
                <a:solidFill>
                  <a:srgbClr val="FF3300"/>
                </a:solidFill>
                <a:latin typeface="宋体" pitchFamily="2" charset="-122"/>
              </a:rPr>
              <a:t>第一次校正值</a:t>
            </a:r>
            <a:r>
              <a:rPr lang="zh-CN" altLang="en-US" sz="2800">
                <a:solidFill>
                  <a:srgbClr val="FF3300"/>
                </a:solidFill>
              </a:rPr>
              <a:t> </a:t>
            </a:r>
          </a:p>
        </p:txBody>
      </p:sp>
      <p:sp>
        <p:nvSpPr>
          <p:cNvPr id="278544" name="Rectangle 16"/>
          <p:cNvSpPr>
            <a:spLocks noChangeArrowheads="1"/>
          </p:cNvSpPr>
          <p:nvPr/>
        </p:nvSpPr>
        <p:spPr bwMode="auto">
          <a:xfrm>
            <a:off x="4876800" y="3748088"/>
            <a:ext cx="2590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sz="2800">
                <a:solidFill>
                  <a:srgbClr val="FF3300"/>
                </a:solidFill>
                <a:latin typeface="宋体" pitchFamily="2" charset="-122"/>
              </a:rPr>
              <a:t>第二次校正值</a:t>
            </a:r>
            <a:r>
              <a:rPr lang="zh-CN" altLang="en-US" sz="2800">
                <a:solidFill>
                  <a:srgbClr val="FF3300"/>
                </a:solidFill>
              </a:rPr>
              <a:t> </a:t>
            </a:r>
          </a:p>
        </p:txBody>
      </p:sp>
      <p:sp>
        <p:nvSpPr>
          <p:cNvPr id="278545" name="Rectangle 17"/>
          <p:cNvSpPr>
            <a:spLocks noChangeArrowheads="1"/>
          </p:cNvSpPr>
          <p:nvPr/>
        </p:nvSpPr>
        <p:spPr bwMode="auto">
          <a:xfrm>
            <a:off x="304800" y="2133602"/>
            <a:ext cx="152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sz="2800">
                <a:solidFill>
                  <a:srgbClr val="FF3300"/>
                </a:solidFill>
                <a:latin typeface="宋体" pitchFamily="2" charset="-122"/>
              </a:rPr>
              <a:t>改正值</a:t>
            </a:r>
            <a:r>
              <a:rPr lang="zh-CN" altLang="en-US" sz="2800">
                <a:solidFill>
                  <a:srgbClr val="FF3300"/>
                </a:solidFill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8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785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78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78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78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785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785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785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785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785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785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785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535" grpId="0" build="p" autoUpdateAnimBg="0"/>
      <p:bldP spid="278542" grpId="0" build="p" autoUpdateAnimBg="0" advAuto="3000"/>
      <p:bldP spid="278543" grpId="0" autoUpdateAnimBg="0"/>
      <p:bldP spid="278544" grpId="0" autoUpdateAnimBg="0"/>
      <p:bldP spid="278545" grpId="0" autoUpdateAnimBg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552B01C7-E1E6-4451-8E56-6F3D5BB8AF3C}" type="slidenum">
              <a:rPr lang="zh-CN" altLang="en-US"/>
              <a:pPr/>
              <a:t>66</a:t>
            </a:fld>
            <a:endParaRPr lang="en-US" altLang="zh-CN"/>
          </a:p>
        </p:txBody>
      </p:sp>
      <p:sp>
        <p:nvSpPr>
          <p:cNvPr id="27653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7E911C59-11D4-41C5-A2F8-4C9023B3D4FE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279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3.1.2 </a:t>
            </a:r>
            <a:r>
              <a:rPr lang="zh-CN" altLang="en-US" smtClean="0">
                <a:latin typeface="宋体" pitchFamily="2" charset="-122"/>
              </a:rPr>
              <a:t>埃特肯法</a:t>
            </a:r>
          </a:p>
        </p:txBody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216027"/>
            <a:ext cx="8142288" cy="384175"/>
          </a:xfrm>
        </p:spPr>
        <p:txBody>
          <a:bodyPr/>
          <a:lstStyle/>
          <a:p>
            <a:r>
              <a:rPr lang="zh-CN" altLang="en-US" smtClean="0">
                <a:latin typeface="宋体" pitchFamily="2" charset="-122"/>
              </a:rPr>
              <a:t>埃特肯法的几何意义</a:t>
            </a:r>
          </a:p>
        </p:txBody>
      </p:sp>
      <p:graphicFrame>
        <p:nvGraphicFramePr>
          <p:cNvPr id="279556" name="Object 4"/>
          <p:cNvGraphicFramePr>
            <a:graphicFrameLocks noChangeAspect="1"/>
          </p:cNvGraphicFramePr>
          <p:nvPr/>
        </p:nvGraphicFramePr>
        <p:xfrm>
          <a:off x="5410200" y="1681163"/>
          <a:ext cx="27432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56" name="Equation" r:id="rId4" imgW="1117440" imgH="431640" progId="Equation.3">
                  <p:embed/>
                </p:oleObj>
              </mc:Choice>
              <mc:Fallback>
                <p:oleObj name="Equation" r:id="rId4" imgW="1117440" imgH="431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1681163"/>
                        <a:ext cx="27432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58" name="Object 6"/>
          <p:cNvGraphicFramePr>
            <a:graphicFrameLocks noChangeAspect="1"/>
          </p:cNvGraphicFramePr>
          <p:nvPr/>
        </p:nvGraphicFramePr>
        <p:xfrm>
          <a:off x="4724400" y="2971800"/>
          <a:ext cx="35052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57" name="Equation" r:id="rId6" imgW="1434960" imgH="469800" progId="Equation.3">
                  <p:embed/>
                </p:oleObj>
              </mc:Choice>
              <mc:Fallback>
                <p:oleObj name="Equation" r:id="rId6" imgW="1434960" imgH="469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2971800"/>
                        <a:ext cx="350520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4"/>
          <p:cNvGrpSpPr>
            <a:grpSpLocks/>
          </p:cNvGrpSpPr>
          <p:nvPr/>
        </p:nvGrpSpPr>
        <p:grpSpPr bwMode="auto">
          <a:xfrm>
            <a:off x="304800" y="1812927"/>
            <a:ext cx="3860800" cy="3216275"/>
            <a:chOff x="240" y="1958"/>
            <a:chExt cx="2432" cy="2026"/>
          </a:xfrm>
        </p:grpSpPr>
        <p:sp>
          <p:nvSpPr>
            <p:cNvPr id="27677" name="Line 38"/>
            <p:cNvSpPr>
              <a:spLocks noChangeShapeType="1"/>
            </p:cNvSpPr>
            <p:nvPr/>
          </p:nvSpPr>
          <p:spPr bwMode="auto">
            <a:xfrm>
              <a:off x="293" y="3685"/>
              <a:ext cx="237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8" name="Line 39"/>
            <p:cNvSpPr>
              <a:spLocks noChangeShapeType="1"/>
            </p:cNvSpPr>
            <p:nvPr/>
          </p:nvSpPr>
          <p:spPr bwMode="auto">
            <a:xfrm flipH="1" flipV="1">
              <a:off x="576" y="2016"/>
              <a:ext cx="6" cy="18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9" name="Text Box 40"/>
            <p:cNvSpPr txBox="1">
              <a:spLocks noChangeArrowheads="1"/>
            </p:cNvSpPr>
            <p:nvPr/>
          </p:nvSpPr>
          <p:spPr bwMode="auto">
            <a:xfrm>
              <a:off x="240" y="1958"/>
              <a:ext cx="288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00" i="1"/>
                <a:t>y</a:t>
              </a:r>
            </a:p>
          </p:txBody>
        </p:sp>
        <p:sp>
          <p:nvSpPr>
            <p:cNvPr id="27680" name="Text Box 41"/>
            <p:cNvSpPr txBox="1">
              <a:spLocks noChangeArrowheads="1"/>
            </p:cNvSpPr>
            <p:nvPr/>
          </p:nvSpPr>
          <p:spPr bwMode="auto">
            <a:xfrm>
              <a:off x="2352" y="3600"/>
              <a:ext cx="287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00"/>
                <a:t>x</a:t>
              </a:r>
            </a:p>
          </p:txBody>
        </p:sp>
        <p:sp>
          <p:nvSpPr>
            <p:cNvPr id="27681" name="Text Box 42"/>
            <p:cNvSpPr txBox="1">
              <a:spLocks noChangeArrowheads="1"/>
            </p:cNvSpPr>
            <p:nvPr/>
          </p:nvSpPr>
          <p:spPr bwMode="auto">
            <a:xfrm>
              <a:off x="337" y="3638"/>
              <a:ext cx="287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zh-CN" sz="3000"/>
                <a:t>0</a:t>
              </a:r>
            </a:p>
          </p:txBody>
        </p:sp>
      </p:grpSp>
      <p:sp>
        <p:nvSpPr>
          <p:cNvPr id="279595" name="Text Box 43"/>
          <p:cNvSpPr txBox="1">
            <a:spLocks noChangeArrowheads="1"/>
          </p:cNvSpPr>
          <p:nvPr/>
        </p:nvSpPr>
        <p:spPr bwMode="auto">
          <a:xfrm>
            <a:off x="2592388" y="4419602"/>
            <a:ext cx="5318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i="1"/>
              <a:t>y</a:t>
            </a:r>
            <a:r>
              <a:rPr lang="en-US" altLang="zh-CN" sz="2800" i="1" baseline="-25000"/>
              <a:t>1</a:t>
            </a:r>
          </a:p>
        </p:txBody>
      </p:sp>
      <p:sp>
        <p:nvSpPr>
          <p:cNvPr id="279596" name="Line 44"/>
          <p:cNvSpPr>
            <a:spLocks noChangeShapeType="1"/>
          </p:cNvSpPr>
          <p:nvPr/>
        </p:nvSpPr>
        <p:spPr bwMode="auto">
          <a:xfrm flipH="1">
            <a:off x="2824163" y="2701927"/>
            <a:ext cx="0" cy="1833563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" name="Group 65"/>
          <p:cNvGrpSpPr>
            <a:grpSpLocks/>
          </p:cNvGrpSpPr>
          <p:nvPr/>
        </p:nvGrpSpPr>
        <p:grpSpPr bwMode="auto">
          <a:xfrm>
            <a:off x="911227" y="2098677"/>
            <a:ext cx="3476625" cy="2454275"/>
            <a:chOff x="622" y="2138"/>
            <a:chExt cx="2190" cy="1546"/>
          </a:xfrm>
        </p:grpSpPr>
        <p:sp>
          <p:nvSpPr>
            <p:cNvPr id="27675" name="Line 45"/>
            <p:cNvSpPr>
              <a:spLocks noChangeShapeType="1"/>
            </p:cNvSpPr>
            <p:nvPr/>
          </p:nvSpPr>
          <p:spPr bwMode="auto">
            <a:xfrm flipV="1">
              <a:off x="622" y="2284"/>
              <a:ext cx="1430" cy="140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6" name="Text Box 46"/>
            <p:cNvSpPr txBox="1">
              <a:spLocks noChangeArrowheads="1"/>
            </p:cNvSpPr>
            <p:nvPr/>
          </p:nvSpPr>
          <p:spPr bwMode="auto">
            <a:xfrm>
              <a:off x="2027" y="2138"/>
              <a:ext cx="78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 i="1">
                  <a:solidFill>
                    <a:srgbClr val="FF3300"/>
                  </a:solidFill>
                  <a:latin typeface="Times New Roman" pitchFamily="18" charset="0"/>
                </a:rPr>
                <a:t>y</a:t>
              </a:r>
              <a:r>
                <a:rPr lang="en-US" altLang="zh-CN" sz="2400" i="1" baseline="-25000">
                  <a:solidFill>
                    <a:srgbClr val="FF3300"/>
                  </a:solidFill>
                </a:rPr>
                <a:t>1</a:t>
              </a:r>
              <a:r>
                <a:rPr lang="en-US" altLang="zh-CN" sz="2400" i="1">
                  <a:solidFill>
                    <a:srgbClr val="FF3300"/>
                  </a:solidFill>
                </a:rPr>
                <a:t>(</a:t>
              </a:r>
              <a:r>
                <a:rPr lang="en-US" altLang="zh-CN" sz="2400" i="1">
                  <a:solidFill>
                    <a:srgbClr val="FF3300"/>
                  </a:solidFill>
                  <a:latin typeface="Times New Roman" pitchFamily="18" charset="0"/>
                </a:rPr>
                <a:t>x</a:t>
              </a:r>
              <a:r>
                <a:rPr lang="en-US" altLang="zh-CN" sz="2400" i="1">
                  <a:solidFill>
                    <a:srgbClr val="FF3300"/>
                  </a:solidFill>
                </a:rPr>
                <a:t>)=</a:t>
              </a:r>
              <a:r>
                <a:rPr lang="en-US" altLang="zh-CN" sz="2400" i="1">
                  <a:solidFill>
                    <a:srgbClr val="FF3300"/>
                  </a:solidFill>
                  <a:latin typeface="Times New Roman" pitchFamily="18" charset="0"/>
                </a:rPr>
                <a:t>x</a:t>
              </a:r>
              <a:endParaRPr lang="en-US" altLang="zh-CN" sz="2400" i="1">
                <a:latin typeface="Times New Roman" pitchFamily="18" charset="0"/>
              </a:endParaRPr>
            </a:p>
          </p:txBody>
        </p:sp>
      </p:grpSp>
      <p:sp>
        <p:nvSpPr>
          <p:cNvPr id="279601" name="Text Box 49"/>
          <p:cNvSpPr txBox="1">
            <a:spLocks noChangeArrowheads="1"/>
          </p:cNvSpPr>
          <p:nvPr/>
        </p:nvSpPr>
        <p:spPr bwMode="auto">
          <a:xfrm>
            <a:off x="914400" y="4419602"/>
            <a:ext cx="8016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800" i="1" baseline="-25000">
                <a:latin typeface="Times New Roman" pitchFamily="18" charset="0"/>
                <a:cs typeface="Times New Roman" pitchFamily="18" charset="0"/>
              </a:rPr>
              <a:t>0</a:t>
            </a:r>
            <a:endParaRPr lang="zh-CN" altLang="zh-CN" sz="2800" i="1" baseline="-2500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4" name="Group 66"/>
          <p:cNvGrpSpPr>
            <a:grpSpLocks/>
          </p:cNvGrpSpPr>
          <p:nvPr/>
        </p:nvGrpSpPr>
        <p:grpSpPr bwMode="auto">
          <a:xfrm>
            <a:off x="533400" y="1676400"/>
            <a:ext cx="3352800" cy="2286000"/>
            <a:chOff x="384" y="1872"/>
            <a:chExt cx="2112" cy="1440"/>
          </a:xfrm>
        </p:grpSpPr>
        <p:sp>
          <p:nvSpPr>
            <p:cNvPr id="27673" name="Text Box 48"/>
            <p:cNvSpPr txBox="1">
              <a:spLocks noChangeArrowheads="1"/>
            </p:cNvSpPr>
            <p:nvPr/>
          </p:nvSpPr>
          <p:spPr bwMode="auto">
            <a:xfrm>
              <a:off x="384" y="1872"/>
              <a:ext cx="153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 i="1" dirty="0" err="1">
                  <a:solidFill>
                    <a:srgbClr val="0000FF"/>
                  </a:solidFill>
                  <a:latin typeface="Times New Roman" pitchFamily="18" charset="0"/>
                </a:rPr>
                <a:t>y</a:t>
              </a:r>
              <a:r>
                <a:rPr lang="en-US" altLang="zh-CN" sz="2400" i="1" baseline="-25000" dirty="0" err="1">
                  <a:solidFill>
                    <a:srgbClr val="0000FF"/>
                  </a:solidFill>
                </a:rPr>
                <a:t>2</a:t>
              </a:r>
              <a:r>
                <a:rPr lang="en-US" altLang="zh-CN" sz="2400" i="1" dirty="0">
                  <a:solidFill>
                    <a:srgbClr val="0000FF"/>
                  </a:solidFill>
                </a:rPr>
                <a:t>(</a:t>
              </a:r>
              <a:r>
                <a:rPr lang="en-US" altLang="zh-CN" sz="2400" i="1" dirty="0">
                  <a:solidFill>
                    <a:srgbClr val="0000FF"/>
                  </a:solidFill>
                  <a:latin typeface="Times New Roman" pitchFamily="18" charset="0"/>
                </a:rPr>
                <a:t>x</a:t>
              </a:r>
              <a:r>
                <a:rPr lang="en-US" altLang="zh-CN" sz="2400" i="1" dirty="0">
                  <a:solidFill>
                    <a:srgbClr val="0000FF"/>
                  </a:solidFill>
                </a:rPr>
                <a:t>)= </a:t>
              </a:r>
              <a:r>
                <a:rPr lang="en-US" altLang="zh-CN" sz="2800" i="1" dirty="0">
                  <a:solidFill>
                    <a:srgbClr val="0000FF"/>
                  </a:solidFill>
                  <a:latin typeface="Times New Roman" pitchFamily="18" charset="0"/>
                  <a:ea typeface="黑体" pitchFamily="49" charset="-122"/>
                  <a:sym typeface="Symbol" pitchFamily="18" charset="2"/>
                </a:rPr>
                <a:t></a:t>
              </a:r>
              <a:r>
                <a:rPr lang="en-US" altLang="zh-CN" sz="2400" i="1" dirty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altLang="zh-CN" sz="2400" i="1" dirty="0">
                  <a:solidFill>
                    <a:srgbClr val="0000FF"/>
                  </a:solidFill>
                  <a:latin typeface="Times New Roman" pitchFamily="18" charset="0"/>
                </a:rPr>
                <a:t>(x)</a:t>
              </a:r>
            </a:p>
          </p:txBody>
        </p:sp>
        <p:sp>
          <p:nvSpPr>
            <p:cNvPr id="27674" name="Freeform 52"/>
            <p:cNvSpPr>
              <a:spLocks/>
            </p:cNvSpPr>
            <p:nvPr/>
          </p:nvSpPr>
          <p:spPr bwMode="auto">
            <a:xfrm>
              <a:off x="816" y="2256"/>
              <a:ext cx="1680" cy="1056"/>
            </a:xfrm>
            <a:custGeom>
              <a:avLst/>
              <a:gdLst>
                <a:gd name="T0" fmla="*/ 0 w 1872"/>
                <a:gd name="T1" fmla="*/ 0 h 1488"/>
                <a:gd name="T2" fmla="*/ 129 w 1872"/>
                <a:gd name="T3" fmla="*/ 409 h 1488"/>
                <a:gd name="T4" fmla="*/ 646 w 1872"/>
                <a:gd name="T5" fmla="*/ 886 h 1488"/>
                <a:gd name="T6" fmla="*/ 1680 w 1872"/>
                <a:gd name="T7" fmla="*/ 1056 h 14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72"/>
                <a:gd name="T13" fmla="*/ 0 h 1488"/>
                <a:gd name="T14" fmla="*/ 1872 w 1872"/>
                <a:gd name="T15" fmla="*/ 1488 h 14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72" h="1488">
                  <a:moveTo>
                    <a:pt x="0" y="0"/>
                  </a:moveTo>
                  <a:cubicBezTo>
                    <a:pt x="12" y="184"/>
                    <a:pt x="24" y="368"/>
                    <a:pt x="144" y="576"/>
                  </a:cubicBezTo>
                  <a:cubicBezTo>
                    <a:pt x="264" y="784"/>
                    <a:pt x="432" y="1096"/>
                    <a:pt x="720" y="1248"/>
                  </a:cubicBezTo>
                  <a:cubicBezTo>
                    <a:pt x="1008" y="1400"/>
                    <a:pt x="1680" y="1448"/>
                    <a:pt x="1872" y="1488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79605" name="Line 53"/>
          <p:cNvSpPr>
            <a:spLocks noChangeShapeType="1"/>
          </p:cNvSpPr>
          <p:nvPr/>
        </p:nvSpPr>
        <p:spPr bwMode="auto">
          <a:xfrm flipH="1">
            <a:off x="1371600" y="2743202"/>
            <a:ext cx="0" cy="1833563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9606" name="Rectangle 54"/>
          <p:cNvSpPr>
            <a:spLocks noChangeArrowheads="1"/>
          </p:cNvSpPr>
          <p:nvPr/>
        </p:nvSpPr>
        <p:spPr bwMode="auto">
          <a:xfrm>
            <a:off x="1173165" y="2333627"/>
            <a:ext cx="11890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A</a:t>
            </a:r>
            <a:r>
              <a:rPr lang="en-US" altLang="zh-CN" baseline="-25000"/>
              <a:t> 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 i="1" baseline="-25000"/>
              <a:t>0</a:t>
            </a:r>
            <a:r>
              <a:rPr lang="en-US" altLang="zh-CN" i="1"/>
              <a:t>, y</a:t>
            </a:r>
            <a:r>
              <a:rPr lang="en-US" altLang="zh-CN" i="1" baseline="-25000"/>
              <a:t>1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279607" name="Line 55"/>
          <p:cNvSpPr>
            <a:spLocks noChangeShapeType="1"/>
          </p:cNvSpPr>
          <p:nvPr/>
        </p:nvSpPr>
        <p:spPr bwMode="auto">
          <a:xfrm>
            <a:off x="1371600" y="2743200"/>
            <a:ext cx="14478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9608" name="Rectangle 56"/>
          <p:cNvSpPr>
            <a:spLocks noChangeArrowheads="1"/>
          </p:cNvSpPr>
          <p:nvPr/>
        </p:nvSpPr>
        <p:spPr bwMode="auto">
          <a:xfrm>
            <a:off x="2894453" y="3489325"/>
            <a:ext cx="118974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B</a:t>
            </a:r>
            <a:r>
              <a:rPr lang="en-US" altLang="zh-CN" baseline="-25000"/>
              <a:t> </a:t>
            </a:r>
            <a:r>
              <a:rPr lang="en-US" altLang="zh-CN"/>
              <a:t>(</a:t>
            </a:r>
            <a:r>
              <a:rPr lang="en-US" altLang="zh-CN" i="1"/>
              <a:t>y</a:t>
            </a:r>
            <a:r>
              <a:rPr lang="en-US" altLang="zh-CN" i="1" baseline="-25000"/>
              <a:t>1</a:t>
            </a:r>
            <a:r>
              <a:rPr lang="en-US" altLang="zh-CN" i="1"/>
              <a:t>, z</a:t>
            </a:r>
            <a:r>
              <a:rPr lang="en-US" altLang="zh-CN" i="1" baseline="-25000"/>
              <a:t>1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279609" name="Line 57"/>
          <p:cNvSpPr>
            <a:spLocks noChangeShapeType="1"/>
          </p:cNvSpPr>
          <p:nvPr/>
        </p:nvSpPr>
        <p:spPr bwMode="auto">
          <a:xfrm>
            <a:off x="990600" y="2514600"/>
            <a:ext cx="2438400" cy="1752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9610" name="Line 58"/>
          <p:cNvSpPr>
            <a:spLocks noChangeShapeType="1"/>
          </p:cNvSpPr>
          <p:nvPr/>
        </p:nvSpPr>
        <p:spPr bwMode="auto">
          <a:xfrm flipH="1">
            <a:off x="2133600" y="3352802"/>
            <a:ext cx="0" cy="1223963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9611" name="Text Box 59"/>
          <p:cNvSpPr txBox="1">
            <a:spLocks noChangeArrowheads="1"/>
          </p:cNvSpPr>
          <p:nvPr/>
        </p:nvSpPr>
        <p:spPr bwMode="auto">
          <a:xfrm>
            <a:off x="1789115" y="4419602"/>
            <a:ext cx="8016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800" i="1" baseline="-25000">
                <a:latin typeface="Times New Roman" pitchFamily="18" charset="0"/>
                <a:cs typeface="Times New Roman" pitchFamily="18" charset="0"/>
              </a:rPr>
              <a:t>1</a:t>
            </a:r>
            <a:endParaRPr lang="zh-CN" altLang="zh-CN" sz="2800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9612" name="Rectangle 60"/>
          <p:cNvSpPr>
            <a:spLocks noChangeArrowheads="1"/>
          </p:cNvSpPr>
          <p:nvPr/>
        </p:nvSpPr>
        <p:spPr bwMode="auto">
          <a:xfrm>
            <a:off x="1659192" y="4433888"/>
            <a:ext cx="40748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i="1"/>
              <a:t>α</a:t>
            </a:r>
            <a:endParaRPr lang="zh-CN" altLang="en-US" sz="2800" i="1"/>
          </a:p>
        </p:txBody>
      </p:sp>
      <p:sp>
        <p:nvSpPr>
          <p:cNvPr id="279613" name="Line 61"/>
          <p:cNvSpPr>
            <a:spLocks noChangeShapeType="1"/>
          </p:cNvSpPr>
          <p:nvPr/>
        </p:nvSpPr>
        <p:spPr bwMode="auto">
          <a:xfrm flipH="1">
            <a:off x="1981200" y="3500438"/>
            <a:ext cx="0" cy="1071562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9619" name="Rectangle 67"/>
          <p:cNvSpPr>
            <a:spLocks noChangeArrowheads="1"/>
          </p:cNvSpPr>
          <p:nvPr/>
        </p:nvSpPr>
        <p:spPr bwMode="auto">
          <a:xfrm>
            <a:off x="762000" y="5334000"/>
            <a:ext cx="75438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258763" indent="-258763" algn="l" defTabSz="814388">
              <a:lnSpc>
                <a:spcPct val="90000"/>
              </a:lnSpc>
              <a:spcBef>
                <a:spcPts val="12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</a:pPr>
            <a:r>
              <a:rPr lang="zh-CN" altLang="en-US" sz="2800">
                <a:latin typeface="宋体" pitchFamily="2" charset="-122"/>
                <a:ea typeface="黑体" pitchFamily="49" charset="-122"/>
              </a:rPr>
              <a:t>可见埃特肯法就是用直线</a:t>
            </a:r>
            <a:r>
              <a:rPr lang="en-US" altLang="zh-CN" sz="2800">
                <a:latin typeface="宋体" pitchFamily="2" charset="-122"/>
                <a:ea typeface="黑体" pitchFamily="49" charset="-122"/>
              </a:rPr>
              <a:t>AB</a:t>
            </a:r>
            <a:r>
              <a:rPr lang="zh-CN" altLang="en-US" sz="2800">
                <a:latin typeface="宋体" pitchFamily="2" charset="-122"/>
                <a:ea typeface="黑体" pitchFamily="49" charset="-122"/>
              </a:rPr>
              <a:t>代替曲线</a:t>
            </a:r>
            <a:r>
              <a:rPr lang="en-US" altLang="zh-CN" sz="2800">
                <a:latin typeface="宋体" pitchFamily="2" charset="-122"/>
                <a:ea typeface="黑体" pitchFamily="49" charset="-122"/>
              </a:rPr>
              <a:t>AB</a:t>
            </a:r>
            <a:r>
              <a:rPr lang="zh-CN" altLang="en-US" sz="2800">
                <a:latin typeface="宋体" pitchFamily="2" charset="-122"/>
                <a:ea typeface="黑体" pitchFamily="49" charset="-122"/>
              </a:rPr>
              <a:t>求取交点的迭代方法</a:t>
            </a: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		</a:t>
            </a:r>
          </a:p>
        </p:txBody>
      </p:sp>
      <p:sp>
        <p:nvSpPr>
          <p:cNvPr id="279621" name="Rectangle 69"/>
          <p:cNvSpPr>
            <a:spLocks noChangeArrowheads="1"/>
          </p:cNvSpPr>
          <p:nvPr/>
        </p:nvSpPr>
        <p:spPr bwMode="auto">
          <a:xfrm>
            <a:off x="1976438" y="2894013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/>
              <a:t>C</a:t>
            </a:r>
            <a:endParaRPr lang="en-US" altLang="zh-CN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9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2" presetClass="entr" presetSubtype="1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4" dur="500"/>
                                        <p:tgtEl>
                                          <p:spTgt spid="279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8" dur="500"/>
                                        <p:tgtEl>
                                          <p:spTgt spid="279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30" presetID="12" presetClass="entr" presetSubtype="1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" dur="500"/>
                                        <p:tgtEl>
                                          <p:spTgt spid="279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3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6" dur="500"/>
                                        <p:tgtEl>
                                          <p:spTgt spid="279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3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0" dur="500"/>
                                        <p:tgtEl>
                                          <p:spTgt spid="279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42" presetID="12" presetClass="entr" presetSubtype="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4" dur="500"/>
                                        <p:tgtEl>
                                          <p:spTgt spid="279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3500"/>
                            </p:stCondLst>
                            <p:childTnLst>
                              <p:par>
                                <p:cTn id="46" presetID="12" presetClass="entr" presetSubtype="1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8" dur="500"/>
                                        <p:tgtEl>
                                          <p:spTgt spid="279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7000"/>
                            </p:stCondLst>
                            <p:childTnLst>
                              <p:par>
                                <p:cTn id="5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2" dur="500"/>
                                        <p:tgtEl>
                                          <p:spTgt spid="279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7500"/>
                            </p:stCondLst>
                            <p:childTnLst>
                              <p:par>
                                <p:cTn id="54" presetID="2" presetClass="entr" presetSubtype="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79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79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21000"/>
                            </p:stCondLst>
                            <p:childTnLst>
                              <p:par>
                                <p:cTn id="59" presetID="12" presetClass="entr" presetSubtype="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1" dur="500"/>
                                        <p:tgtEl>
                                          <p:spTgt spid="279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24500"/>
                            </p:stCondLst>
                            <p:childTnLst>
                              <p:par>
                                <p:cTn id="63" presetID="12" presetClass="entr" presetSubtype="1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5" dur="500"/>
                                        <p:tgtEl>
                                          <p:spTgt spid="279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28000"/>
                            </p:stCondLst>
                            <p:childTnLst>
                              <p:par>
                                <p:cTn id="6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9" dur="500"/>
                                        <p:tgtEl>
                                          <p:spTgt spid="279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28500"/>
                            </p:stCondLst>
                            <p:childTnLst>
                              <p:par>
                                <p:cTn id="71" presetID="2" presetClass="entr" presetSubtype="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9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9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279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279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279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9555" grpId="0" build="p" bldLvl="2" autoUpdateAnimBg="0"/>
      <p:bldP spid="279595" grpId="0" autoUpdateAnimBg="0"/>
      <p:bldP spid="279596" grpId="0" animBg="1"/>
      <p:bldP spid="279601" grpId="0" autoUpdateAnimBg="0"/>
      <p:bldP spid="279605" grpId="0" animBg="1"/>
      <p:bldP spid="279606" grpId="0" autoUpdateAnimBg="0"/>
      <p:bldP spid="279607" grpId="0" animBg="1"/>
      <p:bldP spid="279608" grpId="0" autoUpdateAnimBg="0"/>
      <p:bldP spid="279609" grpId="0" animBg="1"/>
      <p:bldP spid="279610" grpId="0" animBg="1"/>
      <p:bldP spid="279611" grpId="0" autoUpdateAnimBg="0"/>
      <p:bldP spid="279612" grpId="0" autoUpdateAnimBg="0"/>
      <p:bldP spid="279613" grpId="0" animBg="1"/>
      <p:bldP spid="279619" grpId="0" autoUpdateAnimBg="0"/>
      <p:bldP spid="279621" grpId="0" autoUpdateAnimBg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552B01C7-E1E6-4451-8E56-6F3D5BB8AF3C}" type="slidenum">
              <a:rPr lang="zh-CN" altLang="en-US"/>
              <a:pPr/>
              <a:t>67</a:t>
            </a:fld>
            <a:endParaRPr lang="en-US" altLang="zh-CN"/>
          </a:p>
        </p:txBody>
      </p:sp>
      <p:sp>
        <p:nvSpPr>
          <p:cNvPr id="27653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7E911C59-11D4-41C5-A2F8-4C9023B3D4FE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279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3.1.2 </a:t>
            </a:r>
            <a:r>
              <a:rPr lang="zh-CN" altLang="en-US" smtClean="0">
                <a:latin typeface="宋体" pitchFamily="2" charset="-122"/>
              </a:rPr>
              <a:t>埃特肯法</a:t>
            </a:r>
          </a:p>
        </p:txBody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6" y="1216025"/>
            <a:ext cx="8142287" cy="4074962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埃特肯法的收敛性质： </a:t>
            </a:r>
          </a:p>
          <a:p>
            <a:r>
              <a:rPr lang="zh-CN" altLang="en-US" dirty="0"/>
              <a:t>定理：设迭代</a:t>
            </a:r>
            <a:r>
              <a:rPr lang="zh-CN" altLang="en-US" dirty="0" smtClean="0"/>
              <a:t>函数</a:t>
            </a:r>
            <a:r>
              <a:rPr lang="en-US" altLang="zh-CN" sz="3200" i="1" dirty="0">
                <a:latin typeface="Times New Roman" pitchFamily="18" charset="0"/>
                <a:ea typeface="黑体" pitchFamily="49" charset="-122"/>
                <a:sym typeface="Symbol" pitchFamily="18" charset="2"/>
              </a:rPr>
              <a:t></a:t>
            </a:r>
            <a:r>
              <a:rPr lang="en-US" altLang="zh-CN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i="1" dirty="0">
                <a:latin typeface="Times New Roman" pitchFamily="18" charset="0"/>
              </a:rPr>
              <a:t>(x)</a:t>
            </a:r>
            <a:r>
              <a:rPr lang="zh-CN" altLang="en-US" dirty="0" smtClean="0"/>
              <a:t>在</a:t>
            </a:r>
            <a:r>
              <a:rPr lang="zh-CN" altLang="en-US" dirty="0"/>
              <a:t>解</a:t>
            </a:r>
            <a:r>
              <a:rPr lang="en-US" altLang="zh-CN" i="1" dirty="0"/>
              <a:t>x</a:t>
            </a:r>
            <a:r>
              <a:rPr lang="zh-CN" altLang="en-US" dirty="0"/>
              <a:t>*的邻域有</a:t>
            </a:r>
            <a:r>
              <a:rPr lang="zh-CN" altLang="en-US" dirty="0" smtClean="0"/>
              <a:t>连续</a:t>
            </a:r>
            <a:r>
              <a:rPr lang="en-US" altLang="zh-CN" i="1" dirty="0" err="1" smtClean="0"/>
              <a:t>p</a:t>
            </a:r>
            <a:r>
              <a:rPr lang="en-US" altLang="zh-CN" dirty="0" err="1" smtClean="0"/>
              <a:t>+1</a:t>
            </a:r>
            <a:r>
              <a:rPr lang="zh-CN" altLang="en-US" dirty="0"/>
              <a:t>阶导数。对</a:t>
            </a:r>
            <a:r>
              <a:rPr lang="en-US" altLang="zh-CN" i="1" dirty="0"/>
              <a:t>p</a:t>
            </a:r>
            <a:r>
              <a:rPr lang="en-US" altLang="zh-CN" dirty="0"/>
              <a:t>=1</a:t>
            </a:r>
            <a:r>
              <a:rPr lang="zh-CN" altLang="en-US" dirty="0" smtClean="0"/>
              <a:t>，</a:t>
            </a:r>
            <a:r>
              <a:rPr lang="en-US" altLang="zh-CN" i="1" dirty="0" smtClean="0">
                <a:latin typeface="Times New Roman" pitchFamily="18" charset="0"/>
                <a:ea typeface="黑体" pitchFamily="49" charset="-122"/>
                <a:sym typeface="Symbol" pitchFamily="18" charset="2"/>
              </a:rPr>
              <a:t></a:t>
            </a:r>
            <a:r>
              <a:rPr lang="en-US" altLang="zh-CN" dirty="0" smtClean="0"/>
              <a:t>(</a:t>
            </a:r>
            <a:r>
              <a:rPr lang="en-US" altLang="zh-CN" i="1" dirty="0"/>
              <a:t>x</a:t>
            </a:r>
            <a:r>
              <a:rPr lang="zh-CN" altLang="en-US" dirty="0"/>
              <a:t>*</a:t>
            </a:r>
            <a:r>
              <a:rPr lang="en-US" altLang="zh-CN" dirty="0"/>
              <a:t>)</a:t>
            </a:r>
            <a:r>
              <a:rPr lang="zh-CN" altLang="en-US" dirty="0"/>
              <a:t>≠</a:t>
            </a:r>
            <a:r>
              <a:rPr lang="en-US" altLang="zh-CN" dirty="0"/>
              <a:t>1</a:t>
            </a:r>
            <a:r>
              <a:rPr lang="en-US" altLang="zh-CN" dirty="0" smtClean="0"/>
              <a:t>, </a:t>
            </a:r>
            <a:r>
              <a:rPr lang="zh-CN" altLang="en-US" dirty="0" smtClean="0"/>
              <a:t>则埃特肯法</a:t>
            </a:r>
            <a:r>
              <a:rPr lang="zh-CN" altLang="en-US" dirty="0"/>
              <a:t>是</a:t>
            </a:r>
            <a:r>
              <a:rPr lang="en-US" altLang="zh-CN" dirty="0"/>
              <a:t>2</a:t>
            </a:r>
            <a:r>
              <a:rPr lang="zh-CN" altLang="en-US" dirty="0"/>
              <a:t>阶收敛的。若原</a:t>
            </a:r>
            <a:r>
              <a:rPr lang="zh-CN" altLang="en-US" dirty="0" smtClean="0"/>
              <a:t>迭代</a:t>
            </a:r>
            <a:r>
              <a:rPr lang="en-US" altLang="zh-CN" i="1" dirty="0">
                <a:latin typeface="Times New Roman" pitchFamily="18" charset="0"/>
                <a:ea typeface="黑体" pitchFamily="49" charset="-122"/>
                <a:sym typeface="Symbol" pitchFamily="18" charset="2"/>
              </a:rPr>
              <a:t></a:t>
            </a:r>
            <a:r>
              <a:rPr lang="en-US" altLang="zh-CN" dirty="0" smtClean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)</a:t>
            </a:r>
            <a:r>
              <a:rPr lang="zh-CN" altLang="en-US" dirty="0"/>
              <a:t>函数是</a:t>
            </a:r>
            <a:r>
              <a:rPr lang="en-US" altLang="zh-CN" i="1" dirty="0"/>
              <a:t>p</a:t>
            </a:r>
            <a:r>
              <a:rPr lang="en-US" altLang="zh-CN" dirty="0"/>
              <a:t>(</a:t>
            </a:r>
            <a:r>
              <a:rPr lang="en-US" altLang="zh-CN" i="1" dirty="0"/>
              <a:t>p</a:t>
            </a:r>
            <a:r>
              <a:rPr lang="en-US" altLang="zh-CN" dirty="0"/>
              <a:t>&gt;1) </a:t>
            </a:r>
            <a:r>
              <a:rPr lang="zh-CN" altLang="en-US" dirty="0" smtClean="0"/>
              <a:t>阶</a:t>
            </a:r>
            <a:r>
              <a:rPr lang="zh-CN" altLang="en-US" dirty="0"/>
              <a:t>收敛的</a:t>
            </a:r>
            <a:r>
              <a:rPr lang="en-US" altLang="zh-CN" dirty="0"/>
              <a:t>,</a:t>
            </a:r>
            <a:r>
              <a:rPr lang="zh-CN" altLang="en-US" dirty="0"/>
              <a:t>则埃特肯法是</a:t>
            </a:r>
            <a:r>
              <a:rPr lang="en-US" altLang="zh-CN" dirty="0" err="1"/>
              <a:t>2</a:t>
            </a:r>
            <a:r>
              <a:rPr lang="en-US" altLang="zh-CN" i="1" dirty="0" err="1"/>
              <a:t>p</a:t>
            </a:r>
            <a:r>
              <a:rPr lang="en-US" altLang="zh-CN" dirty="0"/>
              <a:t>-1</a:t>
            </a:r>
            <a:r>
              <a:rPr lang="zh-CN" altLang="en-US" dirty="0"/>
              <a:t>阶收敛的。 </a:t>
            </a:r>
          </a:p>
          <a:p>
            <a:pPr lvl="1"/>
            <a:r>
              <a:rPr lang="zh-CN" altLang="en-US" dirty="0"/>
              <a:t>如果原迭代公式的迭代序列为</a:t>
            </a:r>
            <a:r>
              <a:rPr lang="en-US" altLang="zh-CN" dirty="0"/>
              <a:t>1</a:t>
            </a:r>
            <a:r>
              <a:rPr lang="zh-CN" altLang="en-US" dirty="0"/>
              <a:t>阶收敛，则</a:t>
            </a:r>
            <a:r>
              <a:rPr lang="zh-CN" altLang="en-US" dirty="0" smtClean="0"/>
              <a:t>使用</a:t>
            </a:r>
            <a:r>
              <a:rPr lang="zh-CN" altLang="en-US" dirty="0"/>
              <a:t>埃特肯法后为</a:t>
            </a:r>
            <a:r>
              <a:rPr lang="en-US" altLang="zh-CN" dirty="0"/>
              <a:t>2</a:t>
            </a:r>
            <a:r>
              <a:rPr lang="zh-CN" altLang="en-US" dirty="0"/>
              <a:t>阶收敛。 </a:t>
            </a:r>
          </a:p>
          <a:p>
            <a:pPr lvl="1"/>
            <a:r>
              <a:rPr lang="zh-CN" altLang="en-US" dirty="0"/>
              <a:t>如果原迭代公式的迭代序列不收敛，则</a:t>
            </a:r>
            <a:r>
              <a:rPr lang="zh-CN" altLang="en-US" dirty="0" smtClean="0"/>
              <a:t>使用埃特肯法</a:t>
            </a:r>
            <a:r>
              <a:rPr lang="zh-CN" altLang="en-US" dirty="0"/>
              <a:t>后可能为</a:t>
            </a:r>
            <a:r>
              <a:rPr lang="en-US" altLang="zh-CN" dirty="0"/>
              <a:t>2</a:t>
            </a:r>
            <a:r>
              <a:rPr lang="zh-CN" altLang="en-US" dirty="0"/>
              <a:t>阶收敛。 </a:t>
            </a:r>
          </a:p>
        </p:txBody>
      </p:sp>
    </p:spTree>
    <p:extLst>
      <p:ext uri="{BB962C8B-B14F-4D97-AF65-F5344CB8AC3E}">
        <p14:creationId xmlns:p14="http://schemas.microsoft.com/office/powerpoint/2010/main" val="601039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9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79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79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79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9555" grpId="0" build="p" bldLvl="2" autoUpdateAnimBg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7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F662B23F-FB7D-461D-89A0-3C673B5EB74E}" type="slidenum">
              <a:rPr lang="zh-CN" altLang="en-US"/>
              <a:pPr/>
              <a:t>68</a:t>
            </a:fld>
            <a:endParaRPr lang="en-US" altLang="zh-CN"/>
          </a:p>
        </p:txBody>
      </p:sp>
      <p:sp>
        <p:nvSpPr>
          <p:cNvPr id="28678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83B7A905-1F0B-408B-BFFF-266C69D75549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280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3.1.2 </a:t>
            </a:r>
            <a:r>
              <a:rPr lang="zh-CN" altLang="en-US" smtClean="0">
                <a:latin typeface="宋体" pitchFamily="2" charset="-122"/>
              </a:rPr>
              <a:t>埃特肯法</a:t>
            </a:r>
          </a:p>
        </p:txBody>
      </p:sp>
      <p:sp>
        <p:nvSpPr>
          <p:cNvPr id="280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292227"/>
            <a:ext cx="8142288" cy="1984375"/>
          </a:xfrm>
        </p:spPr>
        <p:txBody>
          <a:bodyPr/>
          <a:lstStyle/>
          <a:p>
            <a:r>
              <a:rPr lang="zh-CN" altLang="en-US" smtClean="0">
                <a:latin typeface="宋体" pitchFamily="2" charset="-122"/>
              </a:rPr>
              <a:t>例</a:t>
            </a:r>
            <a:r>
              <a:rPr lang="zh-CN" altLang="en-US" smtClean="0">
                <a:cs typeface="Times New Roman" pitchFamily="18" charset="0"/>
              </a:rPr>
              <a:t> 2.6   </a:t>
            </a:r>
            <a:r>
              <a:rPr lang="zh-CN" altLang="en-US" smtClean="0">
                <a:latin typeface="宋体" pitchFamily="2" charset="-122"/>
              </a:rPr>
              <a:t>用埃特肯法解 </a:t>
            </a:r>
            <a:r>
              <a:rPr lang="en-US" altLang="zh-CN" i="1" smtClean="0"/>
              <a:t>x = e</a:t>
            </a:r>
            <a:r>
              <a:rPr lang="en-US" altLang="zh-CN" i="1" baseline="30000" smtClean="0"/>
              <a:t>-x</a:t>
            </a:r>
          </a:p>
          <a:p>
            <a:r>
              <a:rPr lang="zh-CN" altLang="en-US" smtClean="0"/>
              <a:t>解：取</a:t>
            </a:r>
            <a:r>
              <a:rPr lang="en-US" altLang="zh-CN" i="1" smtClean="0">
                <a:cs typeface="Times New Roman" pitchFamily="18" charset="0"/>
              </a:rPr>
              <a:t>x</a:t>
            </a:r>
            <a:r>
              <a:rPr lang="en-US" altLang="zh-CN" baseline="-25000" smtClean="0">
                <a:cs typeface="Times New Roman" pitchFamily="18" charset="0"/>
              </a:rPr>
              <a:t>0</a:t>
            </a:r>
            <a:r>
              <a:rPr lang="zh-CN" altLang="en-US" smtClean="0">
                <a:latin typeface="宋体" pitchFamily="2" charset="-122"/>
              </a:rPr>
              <a:t>=0.5,按照埃特肯法公式得</a:t>
            </a:r>
          </a:p>
          <a:p>
            <a:pPr lvl="1">
              <a:buFontTx/>
              <a:buNone/>
            </a:pPr>
            <a:r>
              <a:rPr lang="zh-CN" altLang="en-US" smtClean="0">
                <a:latin typeface="宋体" pitchFamily="2" charset="-122"/>
              </a:rPr>
              <a:t>		</a:t>
            </a:r>
            <a:r>
              <a:rPr lang="en-US" altLang="zh-CN" i="1" smtClean="0"/>
              <a:t>x</a:t>
            </a:r>
            <a:r>
              <a:rPr lang="en-US" altLang="zh-CN" baseline="-25000" smtClean="0"/>
              <a:t>0</a:t>
            </a:r>
            <a:r>
              <a:rPr lang="en-US" altLang="zh-CN" i="1" smtClean="0"/>
              <a:t>= </a:t>
            </a:r>
            <a:r>
              <a:rPr lang="zh-CN" altLang="en-US" smtClean="0">
                <a:latin typeface="宋体" pitchFamily="2" charset="-122"/>
              </a:rPr>
              <a:t>0.5</a:t>
            </a:r>
          </a:p>
          <a:p>
            <a:pPr lvl="1">
              <a:buFontTx/>
              <a:buNone/>
            </a:pPr>
            <a:r>
              <a:rPr lang="zh-CN" altLang="en-US" smtClean="0">
                <a:latin typeface="宋体" pitchFamily="2" charset="-122"/>
              </a:rPr>
              <a:t>		</a:t>
            </a:r>
            <a:r>
              <a:rPr lang="en-US" altLang="zh-CN" i="1" smtClean="0"/>
              <a:t>y</a:t>
            </a:r>
            <a:r>
              <a:rPr lang="en-US" altLang="zh-CN" baseline="-25000" smtClean="0"/>
              <a:t>1</a:t>
            </a:r>
            <a:r>
              <a:rPr lang="en-US" altLang="zh-CN" i="1" smtClean="0"/>
              <a:t>= e</a:t>
            </a:r>
            <a:r>
              <a:rPr lang="en-US" altLang="zh-CN" baseline="30000" smtClean="0"/>
              <a:t>-0.5 </a:t>
            </a:r>
            <a:r>
              <a:rPr lang="en-US" altLang="zh-CN" i="1" smtClean="0"/>
              <a:t>=</a:t>
            </a:r>
            <a:r>
              <a:rPr lang="en-US" altLang="zh-CN" i="1" baseline="30000" smtClean="0"/>
              <a:t> </a:t>
            </a:r>
            <a:r>
              <a:rPr lang="zh-CN" altLang="en-US" smtClean="0">
                <a:latin typeface="宋体" pitchFamily="2" charset="-122"/>
              </a:rPr>
              <a:t>0.60653, 	</a:t>
            </a:r>
            <a:r>
              <a:rPr lang="en-US" altLang="zh-CN" i="1" smtClean="0"/>
              <a:t>z</a:t>
            </a:r>
            <a:r>
              <a:rPr lang="en-US" altLang="zh-CN" baseline="-25000" smtClean="0"/>
              <a:t>1</a:t>
            </a:r>
            <a:r>
              <a:rPr lang="en-US" altLang="zh-CN" i="1" smtClean="0"/>
              <a:t>= e</a:t>
            </a:r>
            <a:r>
              <a:rPr lang="en-US" altLang="zh-CN" baseline="30000" smtClean="0"/>
              <a:t>-0.60653</a:t>
            </a:r>
            <a:r>
              <a:rPr lang="en-US" altLang="zh-CN" i="1" baseline="30000" smtClean="0"/>
              <a:t> </a:t>
            </a:r>
            <a:r>
              <a:rPr lang="en-US" altLang="zh-CN" i="1" smtClean="0"/>
              <a:t>=</a:t>
            </a:r>
            <a:r>
              <a:rPr lang="en-US" altLang="zh-CN" i="1" baseline="30000" smtClean="0"/>
              <a:t> </a:t>
            </a:r>
            <a:r>
              <a:rPr lang="zh-CN" altLang="en-US" smtClean="0">
                <a:latin typeface="宋体" pitchFamily="2" charset="-122"/>
              </a:rPr>
              <a:t>0.54524</a:t>
            </a:r>
          </a:p>
        </p:txBody>
      </p:sp>
      <p:graphicFrame>
        <p:nvGraphicFramePr>
          <p:cNvPr id="280580" name="Object 4"/>
          <p:cNvGraphicFramePr>
            <a:graphicFrameLocks noChangeAspect="1"/>
          </p:cNvGraphicFramePr>
          <p:nvPr/>
        </p:nvGraphicFramePr>
        <p:xfrm>
          <a:off x="1382715" y="3352800"/>
          <a:ext cx="6237287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91" name="Equation" r:id="rId4" imgW="2666880" imgH="419040" progId="Equation.3">
                  <p:embed/>
                </p:oleObj>
              </mc:Choice>
              <mc:Fallback>
                <p:oleObj name="Equation" r:id="rId4" imgW="2666880" imgH="419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2715" y="3352800"/>
                        <a:ext cx="6237287" cy="952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0582" name="Rectangle 6"/>
          <p:cNvSpPr>
            <a:spLocks noChangeArrowheads="1"/>
          </p:cNvSpPr>
          <p:nvPr/>
        </p:nvSpPr>
        <p:spPr bwMode="auto">
          <a:xfrm>
            <a:off x="620715" y="4495802"/>
            <a:ext cx="8142287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649288" lvl="1" indent="-261938" algn="l" defTabSz="814388">
              <a:lnSpc>
                <a:spcPct val="90000"/>
              </a:lnSpc>
              <a:spcBef>
                <a:spcPts val="1200"/>
              </a:spcBef>
              <a:buClr>
                <a:srgbClr val="27305F"/>
              </a:buClr>
            </a:pPr>
            <a:r>
              <a:rPr lang="zh-CN" altLang="en-US" sz="2800">
                <a:latin typeface="宋体" pitchFamily="2" charset="-122"/>
                <a:ea typeface="黑体" pitchFamily="49" charset="-122"/>
              </a:rPr>
              <a:t>	 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y</a:t>
            </a:r>
            <a:r>
              <a:rPr lang="en-US" altLang="zh-CN" sz="2800" i="1" baseline="-25000">
                <a:latin typeface="Times New Roman" pitchFamily="18" charset="0"/>
                <a:ea typeface="黑体" pitchFamily="49" charset="-122"/>
              </a:rPr>
              <a:t>2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= e</a:t>
            </a:r>
            <a:r>
              <a:rPr lang="en-US" altLang="zh-CN" sz="2800" baseline="30000">
                <a:latin typeface="Times New Roman" pitchFamily="18" charset="0"/>
                <a:ea typeface="黑体" pitchFamily="49" charset="-122"/>
              </a:rPr>
              <a:t>-0.56762</a:t>
            </a:r>
            <a:r>
              <a:rPr lang="en-US" altLang="zh-CN" sz="2800" i="1" baseline="30000">
                <a:latin typeface="Times New Roman" pitchFamily="18" charset="0"/>
                <a:ea typeface="黑体" pitchFamily="49" charset="-122"/>
              </a:rPr>
              <a:t> 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=</a:t>
            </a:r>
            <a:r>
              <a:rPr lang="en-US" altLang="zh-CN" sz="2800" i="1" baseline="30000">
                <a:latin typeface="Times New Roman" pitchFamily="18" charset="0"/>
                <a:ea typeface="黑体" pitchFamily="49" charset="-122"/>
              </a:rPr>
              <a:t> </a:t>
            </a:r>
            <a:r>
              <a:rPr lang="zh-CN" altLang="en-US" sz="2800">
                <a:latin typeface="宋体" pitchFamily="2" charset="-122"/>
                <a:ea typeface="黑体" pitchFamily="49" charset="-122"/>
              </a:rPr>
              <a:t>0.56687,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z</a:t>
            </a:r>
            <a:r>
              <a:rPr lang="en-US" altLang="zh-CN" sz="2800" i="1" baseline="-25000">
                <a:latin typeface="Times New Roman" pitchFamily="18" charset="0"/>
                <a:ea typeface="黑体" pitchFamily="49" charset="-122"/>
              </a:rPr>
              <a:t>2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= e</a:t>
            </a:r>
            <a:r>
              <a:rPr lang="en-US" altLang="zh-CN" sz="2800" baseline="30000">
                <a:latin typeface="Times New Roman" pitchFamily="18" charset="0"/>
                <a:ea typeface="黑体" pitchFamily="49" charset="-122"/>
              </a:rPr>
              <a:t>-0.56687</a:t>
            </a:r>
            <a:r>
              <a:rPr lang="en-US" altLang="zh-CN" sz="2800" i="1" baseline="30000">
                <a:latin typeface="Times New Roman" pitchFamily="18" charset="0"/>
                <a:ea typeface="黑体" pitchFamily="49" charset="-122"/>
              </a:rPr>
              <a:t> 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=</a:t>
            </a:r>
            <a:r>
              <a:rPr lang="en-US" altLang="zh-CN" sz="2800" i="1" baseline="30000">
                <a:latin typeface="Times New Roman" pitchFamily="18" charset="0"/>
                <a:ea typeface="黑体" pitchFamily="49" charset="-122"/>
              </a:rPr>
              <a:t> </a:t>
            </a:r>
            <a:r>
              <a:rPr lang="zh-CN" altLang="en-US" sz="2800">
                <a:latin typeface="宋体" pitchFamily="2" charset="-122"/>
                <a:ea typeface="黑体" pitchFamily="49" charset="-122"/>
              </a:rPr>
              <a:t>0.56730</a:t>
            </a:r>
            <a:endParaRPr lang="zh-CN" altLang="en-US" sz="2800">
              <a:latin typeface="Times New Roman" pitchFamily="18" charset="0"/>
              <a:ea typeface="黑体" pitchFamily="49" charset="-122"/>
            </a:endParaRPr>
          </a:p>
        </p:txBody>
      </p:sp>
      <p:graphicFrame>
        <p:nvGraphicFramePr>
          <p:cNvPr id="280583" name="Object 7"/>
          <p:cNvGraphicFramePr>
            <a:graphicFrameLocks noChangeAspect="1"/>
          </p:cNvGraphicFramePr>
          <p:nvPr/>
        </p:nvGraphicFramePr>
        <p:xfrm>
          <a:off x="1371600" y="5029202"/>
          <a:ext cx="7391400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92" name="Equation" r:id="rId6" imgW="2984400" imgH="419040" progId="Equation.3">
                  <p:embed/>
                </p:oleObj>
              </mc:Choice>
              <mc:Fallback>
                <p:oleObj name="Equation" r:id="rId6" imgW="2984400" imgH="4190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5029202"/>
                        <a:ext cx="7391400" cy="993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0586" name="Rectangle 10"/>
          <p:cNvSpPr>
            <a:spLocks noChangeArrowheads="1"/>
          </p:cNvSpPr>
          <p:nvPr/>
        </p:nvSpPr>
        <p:spPr bwMode="auto">
          <a:xfrm>
            <a:off x="620715" y="6248402"/>
            <a:ext cx="8142287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649288" lvl="1" indent="-261938" algn="l" defTabSz="814388">
              <a:lnSpc>
                <a:spcPct val="90000"/>
              </a:lnSpc>
              <a:spcBef>
                <a:spcPts val="1200"/>
              </a:spcBef>
              <a:buClr>
                <a:srgbClr val="27305F"/>
              </a:buClr>
            </a:pPr>
            <a:r>
              <a:rPr lang="zh-CN" altLang="en-US" sz="2800">
                <a:latin typeface="宋体" pitchFamily="2" charset="-122"/>
                <a:ea typeface="黑体" pitchFamily="49" charset="-122"/>
              </a:rPr>
              <a:t>	 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y</a:t>
            </a:r>
            <a:r>
              <a:rPr lang="en-US" altLang="zh-CN" sz="2800" baseline="-25000">
                <a:latin typeface="Times New Roman" pitchFamily="18" charset="0"/>
                <a:ea typeface="黑体" pitchFamily="49" charset="-122"/>
              </a:rPr>
              <a:t>3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= e</a:t>
            </a:r>
            <a:r>
              <a:rPr lang="en-US" altLang="zh-CN" sz="2800" baseline="30000">
                <a:latin typeface="Times New Roman" pitchFamily="18" charset="0"/>
                <a:ea typeface="黑体" pitchFamily="49" charset="-122"/>
              </a:rPr>
              <a:t>-0.56714</a:t>
            </a:r>
            <a:r>
              <a:rPr lang="en-US" altLang="zh-CN" sz="2800" i="1" baseline="30000">
                <a:latin typeface="Times New Roman" pitchFamily="18" charset="0"/>
                <a:ea typeface="黑体" pitchFamily="49" charset="-122"/>
              </a:rPr>
              <a:t> 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=</a:t>
            </a:r>
            <a:r>
              <a:rPr lang="en-US" altLang="zh-CN" sz="2800" i="1" baseline="30000">
                <a:latin typeface="Times New Roman" pitchFamily="18" charset="0"/>
                <a:ea typeface="黑体" pitchFamily="49" charset="-122"/>
              </a:rPr>
              <a:t> </a:t>
            </a:r>
            <a:r>
              <a:rPr lang="zh-CN" altLang="en-US" sz="2800">
                <a:latin typeface="宋体" pitchFamily="2" charset="-122"/>
                <a:ea typeface="黑体" pitchFamily="49" charset="-122"/>
              </a:rPr>
              <a:t>0.56714,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z</a:t>
            </a:r>
            <a:r>
              <a:rPr lang="en-US" altLang="zh-CN" sz="2800" i="1" baseline="-25000">
                <a:latin typeface="Times New Roman" pitchFamily="18" charset="0"/>
                <a:ea typeface="黑体" pitchFamily="49" charset="-122"/>
              </a:rPr>
              <a:t>3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= e</a:t>
            </a:r>
            <a:r>
              <a:rPr lang="en-US" altLang="zh-CN" sz="2800" baseline="30000">
                <a:latin typeface="Times New Roman" pitchFamily="18" charset="0"/>
                <a:ea typeface="黑体" pitchFamily="49" charset="-122"/>
              </a:rPr>
              <a:t>-0.56714</a:t>
            </a:r>
            <a:r>
              <a:rPr lang="en-US" altLang="zh-CN" sz="2800" i="1" baseline="30000">
                <a:latin typeface="Times New Roman" pitchFamily="18" charset="0"/>
                <a:ea typeface="黑体" pitchFamily="49" charset="-122"/>
              </a:rPr>
              <a:t> 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=</a:t>
            </a:r>
            <a:r>
              <a:rPr lang="en-US" altLang="zh-CN" sz="2800" i="1" baseline="30000">
                <a:latin typeface="Times New Roman" pitchFamily="18" charset="0"/>
                <a:ea typeface="黑体" pitchFamily="49" charset="-122"/>
              </a:rPr>
              <a:t> </a:t>
            </a:r>
            <a:r>
              <a:rPr lang="zh-CN" altLang="en-US" sz="2800">
                <a:latin typeface="宋体" pitchFamily="2" charset="-122"/>
                <a:ea typeface="黑体" pitchFamily="49" charset="-122"/>
              </a:rPr>
              <a:t>0.56714</a:t>
            </a:r>
            <a:endParaRPr lang="zh-CN" altLang="en-US" sz="2800">
              <a:latin typeface="Times New Roman" pitchFamily="18" charset="0"/>
              <a:ea typeface="黑体" pitchFamily="49" charset="-122"/>
            </a:endParaRPr>
          </a:p>
        </p:txBody>
      </p:sp>
      <p:graphicFrame>
        <p:nvGraphicFramePr>
          <p:cNvPr id="280587" name="Object 11"/>
          <p:cNvGraphicFramePr>
            <a:graphicFrameLocks noChangeAspect="1"/>
          </p:cNvGraphicFramePr>
          <p:nvPr/>
        </p:nvGraphicFramePr>
        <p:xfrm>
          <a:off x="5486402" y="881065"/>
          <a:ext cx="3503613" cy="1100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93" name="Equation" r:id="rId8" imgW="1485720" imgH="469800" progId="Equation.3">
                  <p:embed/>
                </p:oleObj>
              </mc:Choice>
              <mc:Fallback>
                <p:oleObj name="Equation" r:id="rId8" imgW="1485720" imgH="4698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2" y="881065"/>
                        <a:ext cx="3503613" cy="1100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280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280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280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"/>
                                        <p:tgtEl>
                                          <p:spTgt spid="280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80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80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80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80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80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579" grpId="0" build="p" bldLvl="2" autoUpdateAnimBg="0"/>
      <p:bldP spid="280582" grpId="0" autoUpdateAnimBg="0"/>
      <p:bldP spid="280586" grpId="0" autoUpdateAnimBg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D6D5E8E7-74A3-439B-AD14-66661E00619C}" type="slidenum">
              <a:rPr lang="zh-CN" altLang="en-US"/>
              <a:pPr/>
              <a:t>69</a:t>
            </a:fld>
            <a:endParaRPr lang="en-US" altLang="zh-CN"/>
          </a:p>
        </p:txBody>
      </p:sp>
      <p:sp>
        <p:nvSpPr>
          <p:cNvPr id="29701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745A7D20-4EBF-437E-8E03-71D67BF94293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289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3.3</a:t>
            </a:r>
            <a:r>
              <a:rPr lang="zh-CN" altLang="en-US" smtClean="0">
                <a:latin typeface="Times New Roman" pitchFamily="18" charset="0"/>
              </a:rPr>
              <a:t> 牛顿迭代法</a:t>
            </a:r>
          </a:p>
        </p:txBody>
      </p:sp>
      <p:sp>
        <p:nvSpPr>
          <p:cNvPr id="297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143000"/>
            <a:ext cx="8142288" cy="443198"/>
          </a:xfrm>
        </p:spPr>
        <p:txBody>
          <a:bodyPr/>
          <a:lstStyle/>
          <a:p>
            <a:r>
              <a:rPr lang="zh-CN" altLang="en-US" sz="3200"/>
              <a:t>3.3.1 方法描述</a:t>
            </a:r>
          </a:p>
        </p:txBody>
      </p:sp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76200" y="3367088"/>
            <a:ext cx="4572000" cy="3052762"/>
            <a:chOff x="96" y="1968"/>
            <a:chExt cx="2880" cy="1699"/>
          </a:xfrm>
        </p:grpSpPr>
        <p:grpSp>
          <p:nvGrpSpPr>
            <p:cNvPr id="29713" name="Group 4"/>
            <p:cNvGrpSpPr>
              <a:grpSpLocks/>
            </p:cNvGrpSpPr>
            <p:nvPr/>
          </p:nvGrpSpPr>
          <p:grpSpPr bwMode="auto">
            <a:xfrm>
              <a:off x="96" y="1968"/>
              <a:ext cx="2880" cy="1699"/>
              <a:chOff x="240" y="1958"/>
              <a:chExt cx="2432" cy="2049"/>
            </a:xfrm>
          </p:grpSpPr>
          <p:sp>
            <p:nvSpPr>
              <p:cNvPr id="29724" name="Line 5"/>
              <p:cNvSpPr>
                <a:spLocks noChangeShapeType="1"/>
              </p:cNvSpPr>
              <p:nvPr/>
            </p:nvSpPr>
            <p:spPr bwMode="auto">
              <a:xfrm>
                <a:off x="293" y="3685"/>
                <a:ext cx="237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25" name="Line 6"/>
              <p:cNvSpPr>
                <a:spLocks noChangeShapeType="1"/>
              </p:cNvSpPr>
              <p:nvPr/>
            </p:nvSpPr>
            <p:spPr bwMode="auto">
              <a:xfrm flipH="1" flipV="1">
                <a:off x="576" y="2016"/>
                <a:ext cx="6" cy="18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26" name="Text Box 7"/>
              <p:cNvSpPr txBox="1">
                <a:spLocks noChangeArrowheads="1"/>
              </p:cNvSpPr>
              <p:nvPr/>
            </p:nvSpPr>
            <p:spPr bwMode="auto">
              <a:xfrm>
                <a:off x="240" y="1958"/>
                <a:ext cx="288" cy="3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3000" i="1">
                    <a:latin typeface="Times New Roman" pitchFamily="18" charset="0"/>
                  </a:rPr>
                  <a:t>y</a:t>
                </a:r>
              </a:p>
            </p:txBody>
          </p:sp>
          <p:sp>
            <p:nvSpPr>
              <p:cNvPr id="29727" name="Text Box 8"/>
              <p:cNvSpPr txBox="1">
                <a:spLocks noChangeArrowheads="1"/>
              </p:cNvSpPr>
              <p:nvPr/>
            </p:nvSpPr>
            <p:spPr bwMode="auto">
              <a:xfrm>
                <a:off x="2352" y="3601"/>
                <a:ext cx="287" cy="3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3000" i="1">
                    <a:latin typeface="Times New Roman" pitchFamily="18" charset="0"/>
                  </a:rPr>
                  <a:t>x</a:t>
                </a:r>
              </a:p>
            </p:txBody>
          </p:sp>
          <p:sp>
            <p:nvSpPr>
              <p:cNvPr id="29728" name="Text Box 9"/>
              <p:cNvSpPr txBox="1">
                <a:spLocks noChangeArrowheads="1"/>
              </p:cNvSpPr>
              <p:nvPr/>
            </p:nvSpPr>
            <p:spPr bwMode="auto">
              <a:xfrm>
                <a:off x="337" y="3638"/>
                <a:ext cx="287" cy="3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zh-CN" sz="3000"/>
                  <a:t>0</a:t>
                </a:r>
              </a:p>
            </p:txBody>
          </p:sp>
        </p:grpSp>
        <p:sp>
          <p:nvSpPr>
            <p:cNvPr id="29714" name="Arc 10"/>
            <p:cNvSpPr>
              <a:spLocks/>
            </p:cNvSpPr>
            <p:nvPr/>
          </p:nvSpPr>
          <p:spPr bwMode="auto">
            <a:xfrm flipV="1">
              <a:off x="576" y="2062"/>
              <a:ext cx="1824" cy="1394"/>
            </a:xfrm>
            <a:custGeom>
              <a:avLst/>
              <a:gdLst>
                <a:gd name="T0" fmla="*/ 0 w 21074"/>
                <a:gd name="T1" fmla="*/ 0 h 21600"/>
                <a:gd name="T2" fmla="*/ 158 w 21074"/>
                <a:gd name="T3" fmla="*/ 64 h 21600"/>
                <a:gd name="T4" fmla="*/ 3 w 21074"/>
                <a:gd name="T5" fmla="*/ 90 h 21600"/>
                <a:gd name="T6" fmla="*/ 0 60000 65536"/>
                <a:gd name="T7" fmla="*/ 0 60000 65536"/>
                <a:gd name="T8" fmla="*/ 0 60000 65536"/>
                <a:gd name="T9" fmla="*/ 0 w 21074"/>
                <a:gd name="T10" fmla="*/ 0 h 21600"/>
                <a:gd name="T11" fmla="*/ 21074 w 210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074" h="21600" fill="none" extrusionOk="0">
                  <a:moveTo>
                    <a:pt x="-1" y="3"/>
                  </a:moveTo>
                  <a:cubicBezTo>
                    <a:pt x="129" y="1"/>
                    <a:pt x="259" y="-1"/>
                    <a:pt x="389" y="0"/>
                  </a:cubicBezTo>
                  <a:cubicBezTo>
                    <a:pt x="9922" y="0"/>
                    <a:pt x="18328" y="6250"/>
                    <a:pt x="21074" y="15379"/>
                  </a:cubicBezTo>
                </a:path>
                <a:path w="21074" h="21600" stroke="0" extrusionOk="0">
                  <a:moveTo>
                    <a:pt x="-1" y="3"/>
                  </a:moveTo>
                  <a:cubicBezTo>
                    <a:pt x="129" y="1"/>
                    <a:pt x="259" y="-1"/>
                    <a:pt x="389" y="0"/>
                  </a:cubicBezTo>
                  <a:cubicBezTo>
                    <a:pt x="9922" y="0"/>
                    <a:pt x="18328" y="6250"/>
                    <a:pt x="21074" y="15379"/>
                  </a:cubicBezTo>
                  <a:lnTo>
                    <a:pt x="389" y="21600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5" name="Rectangle 11"/>
            <p:cNvSpPr>
              <a:spLocks noChangeArrowheads="1"/>
            </p:cNvSpPr>
            <p:nvPr/>
          </p:nvSpPr>
          <p:spPr bwMode="auto">
            <a:xfrm>
              <a:off x="2202" y="3313"/>
              <a:ext cx="336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000" i="1">
                  <a:latin typeface="Times New Roman" pitchFamily="18" charset="0"/>
                </a:rPr>
                <a:t>x</a:t>
              </a:r>
              <a:r>
                <a:rPr lang="en-US" altLang="zh-CN" sz="3000" i="1" baseline="-25000"/>
                <a:t>n</a:t>
              </a:r>
              <a:endParaRPr lang="zh-CN" altLang="zh-CN" sz="3000" i="1" baseline="-25000"/>
            </a:p>
          </p:txBody>
        </p:sp>
        <p:sp>
          <p:nvSpPr>
            <p:cNvPr id="29716" name="Line 12"/>
            <p:cNvSpPr>
              <a:spLocks noChangeShapeType="1"/>
            </p:cNvSpPr>
            <p:nvPr/>
          </p:nvSpPr>
          <p:spPr bwMode="auto">
            <a:xfrm>
              <a:off x="2352" y="2640"/>
              <a:ext cx="0" cy="7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7" name="Line 13"/>
            <p:cNvSpPr>
              <a:spLocks noChangeShapeType="1"/>
            </p:cNvSpPr>
            <p:nvPr/>
          </p:nvSpPr>
          <p:spPr bwMode="auto">
            <a:xfrm flipH="1">
              <a:off x="1872" y="2640"/>
              <a:ext cx="432" cy="7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8" name="Rectangle 14"/>
            <p:cNvSpPr>
              <a:spLocks noChangeArrowheads="1"/>
            </p:cNvSpPr>
            <p:nvPr/>
          </p:nvSpPr>
          <p:spPr bwMode="auto">
            <a:xfrm>
              <a:off x="1728" y="2208"/>
              <a:ext cx="630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solidFill>
                    <a:srgbClr val="0000FF"/>
                  </a:solidFill>
                  <a:latin typeface="Times New Roman" pitchFamily="18" charset="0"/>
                </a:rPr>
                <a:t>y</a:t>
              </a:r>
              <a:r>
                <a:rPr lang="en-US" altLang="zh-CN" sz="2400" i="1" baseline="-25000">
                  <a:solidFill>
                    <a:srgbClr val="0000FF"/>
                  </a:solidFill>
                  <a:latin typeface="Times New Roman" pitchFamily="18" charset="0"/>
                </a:rPr>
                <a:t> </a:t>
              </a:r>
              <a:r>
                <a:rPr lang="en-US" altLang="zh-CN" sz="2400" i="1">
                  <a:solidFill>
                    <a:srgbClr val="0000FF"/>
                  </a:solidFill>
                  <a:latin typeface="Times New Roman" pitchFamily="18" charset="0"/>
                </a:rPr>
                <a:t>=f(x)</a:t>
              </a:r>
              <a:endParaRPr lang="zh-CN" altLang="en-US" sz="2400" i="1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sp>
          <p:nvSpPr>
            <p:cNvPr id="29719" name="Rectangle 15"/>
            <p:cNvSpPr>
              <a:spLocks noChangeArrowheads="1"/>
            </p:cNvSpPr>
            <p:nvPr/>
          </p:nvSpPr>
          <p:spPr bwMode="auto">
            <a:xfrm>
              <a:off x="1642" y="3313"/>
              <a:ext cx="520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000" i="1">
                  <a:latin typeface="Times New Roman" pitchFamily="18" charset="0"/>
                </a:rPr>
                <a:t>x</a:t>
              </a:r>
              <a:r>
                <a:rPr lang="en-US" altLang="zh-CN" sz="3000" i="1" baseline="-25000"/>
                <a:t>n+1</a:t>
              </a:r>
              <a:endParaRPr lang="zh-CN" altLang="zh-CN" sz="3000" i="1" baseline="-25000"/>
            </a:p>
          </p:txBody>
        </p:sp>
        <p:sp>
          <p:nvSpPr>
            <p:cNvPr id="29720" name="Line 16"/>
            <p:cNvSpPr>
              <a:spLocks noChangeShapeType="1"/>
            </p:cNvSpPr>
            <p:nvPr/>
          </p:nvSpPr>
          <p:spPr bwMode="auto">
            <a:xfrm>
              <a:off x="1872" y="3120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21" name="Line 17"/>
            <p:cNvSpPr>
              <a:spLocks noChangeShapeType="1"/>
            </p:cNvSpPr>
            <p:nvPr/>
          </p:nvSpPr>
          <p:spPr bwMode="auto">
            <a:xfrm flipH="1">
              <a:off x="1392" y="3120"/>
              <a:ext cx="48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22" name="Rectangle 18"/>
            <p:cNvSpPr>
              <a:spLocks noChangeArrowheads="1"/>
            </p:cNvSpPr>
            <p:nvPr/>
          </p:nvSpPr>
          <p:spPr bwMode="auto">
            <a:xfrm>
              <a:off x="1204" y="3313"/>
              <a:ext cx="520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000" i="1">
                  <a:latin typeface="Times New Roman" pitchFamily="18" charset="0"/>
                </a:rPr>
                <a:t>x</a:t>
              </a:r>
              <a:r>
                <a:rPr lang="en-US" altLang="zh-CN" sz="3000" i="1" baseline="-25000"/>
                <a:t>n+2</a:t>
              </a:r>
              <a:endParaRPr lang="zh-CN" altLang="zh-CN" sz="3000" i="1" baseline="-25000"/>
            </a:p>
          </p:txBody>
        </p:sp>
        <p:sp>
          <p:nvSpPr>
            <p:cNvPr id="29723" name="Rectangle 19"/>
            <p:cNvSpPr>
              <a:spLocks noChangeArrowheads="1"/>
            </p:cNvSpPr>
            <p:nvPr/>
          </p:nvSpPr>
          <p:spPr bwMode="auto">
            <a:xfrm>
              <a:off x="960" y="3309"/>
              <a:ext cx="268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000" i="1">
                  <a:sym typeface="Symbol" pitchFamily="18" charset="2"/>
                </a:rPr>
                <a:t></a:t>
              </a:r>
              <a:endParaRPr lang="zh-CN" altLang="zh-CN" sz="3000" i="1" baseline="-25000"/>
            </a:p>
          </p:txBody>
        </p:sp>
      </p:grpSp>
      <p:sp>
        <p:nvSpPr>
          <p:cNvPr id="289813" name="Rectangle 21"/>
          <p:cNvSpPr>
            <a:spLocks noChangeArrowheads="1"/>
          </p:cNvSpPr>
          <p:nvPr/>
        </p:nvSpPr>
        <p:spPr bwMode="auto">
          <a:xfrm>
            <a:off x="5003800" y="3644902"/>
            <a:ext cx="3657600" cy="286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258763" indent="-258763" algn="l" defTabSz="814388">
              <a:spcBef>
                <a:spcPts val="12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</a:pP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y</a:t>
            </a:r>
            <a:r>
              <a:rPr lang="en-US" altLang="zh-CN" sz="2800">
                <a:latin typeface="宋体" pitchFamily="2" charset="-122"/>
                <a:ea typeface="黑体" pitchFamily="49" charset="-122"/>
              </a:rPr>
              <a:t>=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f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(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2800" i="1" baseline="-25000">
                <a:latin typeface="Times New Roman" pitchFamily="18" charset="0"/>
                <a:ea typeface="黑体" pitchFamily="49" charset="-122"/>
              </a:rPr>
              <a:t>n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)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+ f’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(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2800" i="1" baseline="-25000">
                <a:latin typeface="Times New Roman" pitchFamily="18" charset="0"/>
                <a:ea typeface="黑体" pitchFamily="49" charset="-122"/>
              </a:rPr>
              <a:t>n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)(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-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 x</a:t>
            </a:r>
            <a:r>
              <a:rPr lang="en-US" altLang="zh-CN" sz="2800" i="1" baseline="-25000">
                <a:latin typeface="Times New Roman" pitchFamily="18" charset="0"/>
                <a:ea typeface="黑体" pitchFamily="49" charset="-122"/>
              </a:rPr>
              <a:t>n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)</a:t>
            </a: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是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y</a:t>
            </a:r>
            <a:r>
              <a:rPr lang="en-US" altLang="zh-CN" sz="2800">
                <a:latin typeface="宋体" pitchFamily="2" charset="-122"/>
                <a:ea typeface="黑体" pitchFamily="49" charset="-122"/>
              </a:rPr>
              <a:t>=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f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(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2800" i="1" baseline="-25000">
                <a:latin typeface="Times New Roman" pitchFamily="18" charset="0"/>
                <a:ea typeface="黑体" pitchFamily="49" charset="-122"/>
              </a:rPr>
              <a:t>n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)</a:t>
            </a: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在点(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2800" i="1" baseline="-25000">
                <a:latin typeface="Times New Roman" pitchFamily="18" charset="0"/>
                <a:ea typeface="黑体" pitchFamily="49" charset="-122"/>
              </a:rPr>
              <a:t>n </a:t>
            </a: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, 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f(x</a:t>
            </a:r>
            <a:r>
              <a:rPr lang="en-US" altLang="zh-CN" sz="2800" i="1" baseline="-25000">
                <a:latin typeface="Times New Roman" pitchFamily="18" charset="0"/>
                <a:ea typeface="黑体" pitchFamily="49" charset="-122"/>
              </a:rPr>
              <a:t>n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)</a:t>
            </a: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)的切线方程.</a:t>
            </a:r>
          </a:p>
          <a:p>
            <a:pPr marL="258763" indent="-258763" algn="l" defTabSz="814388">
              <a:spcBef>
                <a:spcPts val="12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</a:pP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与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x</a:t>
            </a: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轴交点为(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2800" i="1" baseline="-25000">
                <a:latin typeface="Times New Roman" pitchFamily="18" charset="0"/>
                <a:ea typeface="黑体" pitchFamily="49" charset="-122"/>
              </a:rPr>
              <a:t>n+</a:t>
            </a:r>
            <a:r>
              <a:rPr lang="en-US" altLang="zh-CN" sz="2800" baseline="-25000">
                <a:latin typeface="Times New Roman" pitchFamily="18" charset="0"/>
                <a:ea typeface="黑体" pitchFamily="49" charset="-122"/>
              </a:rPr>
              <a:t>1</a:t>
            </a: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, 0),代入切线方程</a:t>
            </a:r>
          </a:p>
          <a:p>
            <a:pPr marL="258763" indent="-258763" algn="l" defTabSz="814388">
              <a:spcBef>
                <a:spcPts val="12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</a:pP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2800" i="1" baseline="-25000">
                <a:latin typeface="Times New Roman" pitchFamily="18" charset="0"/>
                <a:ea typeface="黑体" pitchFamily="49" charset="-122"/>
              </a:rPr>
              <a:t>n</a:t>
            </a:r>
            <a:r>
              <a:rPr lang="en-US" altLang="zh-CN" sz="2800" baseline="-25000">
                <a:latin typeface="Times New Roman" pitchFamily="18" charset="0"/>
                <a:ea typeface="黑体" pitchFamily="49" charset="-122"/>
              </a:rPr>
              <a:t>+1</a:t>
            </a:r>
            <a:r>
              <a:rPr lang="en-US" altLang="zh-CN" sz="2800">
                <a:latin typeface="宋体" pitchFamily="2" charset="-122"/>
                <a:ea typeface="黑体" pitchFamily="49" charset="-122"/>
              </a:rPr>
              <a:t>=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2800" i="1" baseline="-25000">
                <a:latin typeface="Times New Roman" pitchFamily="18" charset="0"/>
                <a:ea typeface="黑体" pitchFamily="49" charset="-122"/>
              </a:rPr>
              <a:t>n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-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f(x</a:t>
            </a:r>
            <a:r>
              <a:rPr lang="en-US" altLang="zh-CN" sz="2800" i="1" baseline="-25000">
                <a:latin typeface="Times New Roman" pitchFamily="18" charset="0"/>
                <a:ea typeface="黑体" pitchFamily="49" charset="-122"/>
              </a:rPr>
              <a:t>n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)/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 f ’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(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2800" i="1" baseline="-25000">
                <a:latin typeface="Times New Roman" pitchFamily="18" charset="0"/>
                <a:ea typeface="黑体" pitchFamily="49" charset="-122"/>
              </a:rPr>
              <a:t>n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)</a:t>
            </a:r>
          </a:p>
        </p:txBody>
      </p:sp>
      <p:graphicFrame>
        <p:nvGraphicFramePr>
          <p:cNvPr id="289816" name="Object 24"/>
          <p:cNvGraphicFramePr>
            <a:graphicFrameLocks noChangeAspect="1"/>
          </p:cNvGraphicFramePr>
          <p:nvPr/>
        </p:nvGraphicFramePr>
        <p:xfrm>
          <a:off x="5795963" y="2420938"/>
          <a:ext cx="2819400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01" name="Equation" r:id="rId4" imgW="1257120" imgH="444240" progId="Equation.3">
                  <p:embed/>
                </p:oleObj>
              </mc:Choice>
              <mc:Fallback>
                <p:oleObj name="Equation" r:id="rId4" imgW="1257120" imgH="44424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2420938"/>
                        <a:ext cx="2819400" cy="1130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6" name="Rectangle 25"/>
          <p:cNvSpPr>
            <a:spLocks noChangeArrowheads="1"/>
          </p:cNvSpPr>
          <p:nvPr/>
        </p:nvSpPr>
        <p:spPr bwMode="auto">
          <a:xfrm>
            <a:off x="1116015" y="1625602"/>
            <a:ext cx="12271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800" i="1">
                <a:latin typeface="Times New Roman" pitchFamily="18" charset="0"/>
              </a:rPr>
              <a:t>f</a:t>
            </a:r>
            <a:r>
              <a:rPr lang="en-US" altLang="zh-CN" sz="2800">
                <a:latin typeface="Times New Roman" pitchFamily="18" charset="0"/>
              </a:rPr>
              <a:t>(</a:t>
            </a:r>
            <a:r>
              <a:rPr lang="en-US" altLang="zh-CN" sz="2800" i="1">
                <a:latin typeface="Times New Roman" pitchFamily="18" charset="0"/>
              </a:rPr>
              <a:t>x</a:t>
            </a:r>
            <a:r>
              <a:rPr lang="en-US" altLang="zh-CN" sz="2800">
                <a:latin typeface="Times New Roman" pitchFamily="18" charset="0"/>
              </a:rPr>
              <a:t>)</a:t>
            </a:r>
            <a:r>
              <a:rPr lang="en-US" altLang="zh-CN" sz="2800" i="1">
                <a:latin typeface="Times New Roman" pitchFamily="18" charset="0"/>
              </a:rPr>
              <a:t>=</a:t>
            </a:r>
            <a:r>
              <a:rPr lang="en-US" altLang="zh-CN" sz="2800">
                <a:latin typeface="Times New Roman" pitchFamily="18" charset="0"/>
                <a:sym typeface="Symbol" pitchFamily="18" charset="2"/>
              </a:rPr>
              <a:t>0</a:t>
            </a:r>
            <a:endParaRPr lang="zh-CN" altLang="en-US" sz="2800">
              <a:latin typeface="Times New Roman" pitchFamily="18" charset="0"/>
            </a:endParaRPr>
          </a:p>
        </p:txBody>
      </p:sp>
      <p:sp>
        <p:nvSpPr>
          <p:cNvPr id="29707" name="AutoShape 26"/>
          <p:cNvSpPr>
            <a:spLocks noChangeArrowheads="1"/>
          </p:cNvSpPr>
          <p:nvPr/>
        </p:nvSpPr>
        <p:spPr bwMode="auto">
          <a:xfrm>
            <a:off x="2335213" y="1778000"/>
            <a:ext cx="538162" cy="381000"/>
          </a:xfrm>
          <a:prstGeom prst="rightArrow">
            <a:avLst>
              <a:gd name="adj1" fmla="val 50000"/>
              <a:gd name="adj2" fmla="val 35312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08" name="Rectangle 27"/>
          <p:cNvSpPr>
            <a:spLocks noChangeArrowheads="1"/>
          </p:cNvSpPr>
          <p:nvPr/>
        </p:nvSpPr>
        <p:spPr bwMode="auto">
          <a:xfrm>
            <a:off x="5078413" y="1625600"/>
            <a:ext cx="19923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i="1">
                <a:solidFill>
                  <a:srgbClr val="FF3300"/>
                </a:solidFill>
                <a:latin typeface="Times New Roman" pitchFamily="18" charset="0"/>
              </a:rPr>
              <a:t>x</a:t>
            </a:r>
            <a:r>
              <a:rPr lang="en-US" altLang="zh-CN" sz="3200">
                <a:latin typeface="Times New Roman" pitchFamily="18" charset="0"/>
              </a:rPr>
              <a:t>= </a:t>
            </a:r>
            <a:r>
              <a:rPr lang="en-US" altLang="zh-CN" sz="3200" i="1">
                <a:solidFill>
                  <a:srgbClr val="FF3300"/>
                </a:solidFill>
                <a:latin typeface="Times New Roman" pitchFamily="18" charset="0"/>
                <a:sym typeface="Symbol" pitchFamily="18" charset="2"/>
              </a:rPr>
              <a:t>x</a:t>
            </a:r>
            <a:r>
              <a:rPr lang="en-US" altLang="zh-CN" sz="3200">
                <a:latin typeface="Times New Roman" pitchFamily="18" charset="0"/>
              </a:rPr>
              <a:t>- </a:t>
            </a:r>
            <a:r>
              <a:rPr lang="en-US" altLang="zh-CN" sz="3200">
                <a:latin typeface="Times New Roman" pitchFamily="18" charset="0"/>
                <a:sym typeface="Symbol" pitchFamily="18" charset="2"/>
              </a:rPr>
              <a:t></a:t>
            </a:r>
            <a:r>
              <a:rPr lang="en-US" altLang="zh-CN" sz="3200" i="1">
                <a:latin typeface="Times New Roman" pitchFamily="18" charset="0"/>
              </a:rPr>
              <a:t>f</a:t>
            </a:r>
            <a:r>
              <a:rPr lang="en-US" altLang="zh-CN" sz="3200">
                <a:latin typeface="Times New Roman" pitchFamily="18" charset="0"/>
              </a:rPr>
              <a:t>(</a:t>
            </a:r>
            <a:r>
              <a:rPr lang="en-US" altLang="zh-CN" sz="3200" i="1">
                <a:latin typeface="Times New Roman" pitchFamily="18" charset="0"/>
              </a:rPr>
              <a:t>x</a:t>
            </a:r>
            <a:r>
              <a:rPr lang="en-US" altLang="zh-CN" sz="3200">
                <a:latin typeface="Times New Roman" pitchFamily="18" charset="0"/>
              </a:rPr>
              <a:t>)</a:t>
            </a:r>
            <a:endParaRPr lang="zh-CN" altLang="en-US" sz="3200">
              <a:latin typeface="Times New Roman" pitchFamily="18" charset="0"/>
            </a:endParaRPr>
          </a:p>
        </p:txBody>
      </p:sp>
      <p:sp>
        <p:nvSpPr>
          <p:cNvPr id="29709" name="Rectangle 28"/>
          <p:cNvSpPr>
            <a:spLocks noChangeArrowheads="1"/>
          </p:cNvSpPr>
          <p:nvPr/>
        </p:nvSpPr>
        <p:spPr bwMode="auto">
          <a:xfrm>
            <a:off x="2792413" y="1655763"/>
            <a:ext cx="16811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FF3300"/>
                </a:solidFill>
                <a:latin typeface="Times New Roman" pitchFamily="18" charset="0"/>
                <a:sym typeface="Symbol" pitchFamily="18" charset="2"/>
              </a:rPr>
              <a:t></a:t>
            </a:r>
            <a:r>
              <a:rPr lang="en-US" altLang="zh-CN" sz="2800" i="1">
                <a:latin typeface="Times New Roman" pitchFamily="18" charset="0"/>
              </a:rPr>
              <a:t> f</a:t>
            </a:r>
            <a:r>
              <a:rPr lang="en-US" altLang="zh-CN" sz="2800">
                <a:latin typeface="Times New Roman" pitchFamily="18" charset="0"/>
              </a:rPr>
              <a:t>(</a:t>
            </a:r>
            <a:r>
              <a:rPr lang="en-US" altLang="zh-CN" sz="2800" i="1">
                <a:latin typeface="Times New Roman" pitchFamily="18" charset="0"/>
              </a:rPr>
              <a:t>x</a:t>
            </a:r>
            <a:r>
              <a:rPr lang="en-US" altLang="zh-CN" sz="2800">
                <a:latin typeface="Times New Roman" pitchFamily="18" charset="0"/>
              </a:rPr>
              <a:t>)</a:t>
            </a:r>
            <a:r>
              <a:rPr lang="en-US" altLang="zh-CN" sz="2800" i="1">
                <a:latin typeface="Times New Roman" pitchFamily="18" charset="0"/>
              </a:rPr>
              <a:t>=</a:t>
            </a:r>
            <a:r>
              <a:rPr lang="en-US" altLang="zh-CN" sz="2800">
                <a:latin typeface="Times New Roman" pitchFamily="18" charset="0"/>
                <a:sym typeface="Symbol" pitchFamily="18" charset="2"/>
              </a:rPr>
              <a:t>0</a:t>
            </a:r>
            <a:endParaRPr lang="zh-CN" altLang="en-US" sz="2800"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29710" name="AutoShape 29"/>
          <p:cNvSpPr>
            <a:spLocks noChangeArrowheads="1"/>
          </p:cNvSpPr>
          <p:nvPr/>
        </p:nvSpPr>
        <p:spPr bwMode="auto">
          <a:xfrm>
            <a:off x="4540252" y="1778000"/>
            <a:ext cx="538163" cy="381000"/>
          </a:xfrm>
          <a:prstGeom prst="rightArrow">
            <a:avLst>
              <a:gd name="adj1" fmla="val 50000"/>
              <a:gd name="adj2" fmla="val 35313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11" name="Text Box 30"/>
          <p:cNvSpPr txBox="1">
            <a:spLocks noChangeArrowheads="1"/>
          </p:cNvSpPr>
          <p:nvPr/>
        </p:nvSpPr>
        <p:spPr bwMode="auto">
          <a:xfrm>
            <a:off x="5535615" y="1549400"/>
            <a:ext cx="2427287" cy="604838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zh-CN" altLang="en-US" sz="2800">
                <a:solidFill>
                  <a:srgbClr val="FF3300"/>
                </a:solidFill>
                <a:latin typeface="宋体" pitchFamily="2" charset="-122"/>
                <a:sym typeface="Symbol" pitchFamily="18" charset="2"/>
              </a:rPr>
              <a:t></a:t>
            </a:r>
            <a:r>
              <a:rPr lang="zh-CN" altLang="en-US" sz="3200">
                <a:solidFill>
                  <a:srgbClr val="FF3300"/>
                </a:solidFill>
                <a:sym typeface="Symbol" pitchFamily="18" charset="2"/>
              </a:rPr>
              <a:t>(</a:t>
            </a:r>
            <a:r>
              <a:rPr lang="en-US" altLang="zh-CN" sz="3200">
                <a:solidFill>
                  <a:srgbClr val="FF3300"/>
                </a:solidFill>
                <a:sym typeface="Symbol" pitchFamily="18" charset="2"/>
              </a:rPr>
              <a:t>x)</a:t>
            </a:r>
          </a:p>
        </p:txBody>
      </p:sp>
      <p:sp>
        <p:nvSpPr>
          <p:cNvPr id="289823" name="Rectangle 31"/>
          <p:cNvSpPr>
            <a:spLocks noChangeArrowheads="1"/>
          </p:cNvSpPr>
          <p:nvPr/>
        </p:nvSpPr>
        <p:spPr bwMode="auto">
          <a:xfrm>
            <a:off x="611188" y="2276477"/>
            <a:ext cx="3994150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258763" indent="-258763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</a:pPr>
            <a:r>
              <a:rPr lang="zh-CN" altLang="en-US" sz="2800">
                <a:latin typeface="宋体" pitchFamily="2" charset="-122"/>
                <a:ea typeface="黑体" pitchFamily="49" charset="-122"/>
              </a:rPr>
              <a:t>选择</a:t>
            </a:r>
            <a:r>
              <a:rPr lang="en-US" altLang="zh-CN" sz="280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λ</a:t>
            </a:r>
            <a:r>
              <a:rPr lang="zh-CN" altLang="en-US" sz="2800">
                <a:latin typeface="宋体" pitchFamily="2" charset="-122"/>
                <a:ea typeface="黑体" pitchFamily="49" charset="-122"/>
              </a:rPr>
              <a:t>值，使|</a:t>
            </a:r>
            <a:r>
              <a:rPr lang="zh-CN" altLang="en-US" sz="2800">
                <a:latin typeface="宋体" pitchFamily="2" charset="-122"/>
                <a:ea typeface="黑体" pitchFamily="49" charset="-122"/>
                <a:sym typeface="Symbol" pitchFamily="18" charset="2"/>
              </a:rPr>
              <a:t>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’(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)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|&lt;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1</a:t>
            </a:r>
            <a:endParaRPr lang="zh-CN" altLang="en-US" sz="2800">
              <a:latin typeface="宋体" pitchFamily="2" charset="-122"/>
              <a:ea typeface="黑体" pitchFamily="49" charset="-122"/>
            </a:endParaRPr>
          </a:p>
          <a:p>
            <a:pPr marL="649288" lvl="1" indent="-261938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FontTx/>
              <a:buChar char="–"/>
            </a:pPr>
            <a:r>
              <a:rPr lang="zh-CN" altLang="en-US" sz="2800">
                <a:latin typeface="宋体" pitchFamily="2" charset="-122"/>
                <a:ea typeface="黑体" pitchFamily="49" charset="-122"/>
              </a:rPr>
              <a:t>|</a:t>
            </a:r>
            <a:r>
              <a:rPr lang="zh-CN" altLang="en-US" sz="2800">
                <a:latin typeface="宋体" pitchFamily="2" charset="-122"/>
                <a:ea typeface="黑体" pitchFamily="49" charset="-122"/>
                <a:sym typeface="Symbol" pitchFamily="18" charset="2"/>
              </a:rPr>
              <a:t>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’(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)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|=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|1-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 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  <a:sym typeface="Symbol" pitchFamily="18" charset="2"/>
              </a:rPr>
              <a:t>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f’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(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)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 |</a:t>
            </a:r>
            <a:endParaRPr lang="zh-CN" altLang="en-US" sz="2800">
              <a:latin typeface="宋体" pitchFamily="2" charset="-122"/>
              <a:ea typeface="黑体" pitchFamily="49" charset="-122"/>
            </a:endParaRPr>
          </a:p>
        </p:txBody>
      </p:sp>
      <p:graphicFrame>
        <p:nvGraphicFramePr>
          <p:cNvPr id="289824" name="Object 32"/>
          <p:cNvGraphicFramePr>
            <a:graphicFrameLocks noChangeAspect="1"/>
          </p:cNvGraphicFramePr>
          <p:nvPr/>
        </p:nvGraphicFramePr>
        <p:xfrm>
          <a:off x="4140202" y="2636838"/>
          <a:ext cx="1368425" cy="8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02" name="Equation" r:id="rId6" imgW="685800" imgH="419040" progId="Equation.3">
                  <p:embed/>
                </p:oleObj>
              </mc:Choice>
              <mc:Fallback>
                <p:oleObj name="Equation" r:id="rId6" imgW="685800" imgH="41904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2" y="2636838"/>
                        <a:ext cx="1368425" cy="836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2898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75"/>
                                        <p:tgtEl>
                                          <p:spTgt spid="2898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89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98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898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89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813" grpId="0" autoUpdateAnimBg="0"/>
      <p:bldP spid="289823" grpId="0" build="p" autoUpdateAnimBg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EEA245E3-7F80-44C9-BF16-821791F99696}" type="slidenum">
              <a:rPr lang="zh-CN" altLang="en-US"/>
              <a:pPr/>
              <a:t>70</a:t>
            </a:fld>
            <a:endParaRPr lang="en-US" altLang="zh-CN"/>
          </a:p>
        </p:txBody>
      </p:sp>
      <p:sp>
        <p:nvSpPr>
          <p:cNvPr id="30724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D5F6CAA7-485B-4704-8A1F-3CC02EF5A3EE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421890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255588"/>
            <a:ext cx="8142288" cy="658812"/>
          </a:xfrm>
        </p:spPr>
        <p:txBody>
          <a:bodyPr/>
          <a:lstStyle/>
          <a:p>
            <a:pPr>
              <a:defRPr/>
            </a:pPr>
            <a:r>
              <a:rPr lang="zh-CN" altLang="en-US" sz="4800"/>
              <a:t>3.3.1 方法描述</a:t>
            </a:r>
          </a:p>
        </p:txBody>
      </p:sp>
      <p:sp>
        <p:nvSpPr>
          <p:cNvPr id="307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292227"/>
            <a:ext cx="8142288" cy="1618905"/>
          </a:xfrm>
        </p:spPr>
        <p:txBody>
          <a:bodyPr/>
          <a:lstStyle/>
          <a:p>
            <a:r>
              <a:rPr lang="zh-CN" altLang="en-US" smtClean="0"/>
              <a:t>牛顿迭代法计算步骤：</a:t>
            </a:r>
          </a:p>
          <a:p>
            <a:pPr lvl="1"/>
            <a:r>
              <a:rPr lang="zh-CN" altLang="en-US" smtClean="0"/>
              <a:t>(1)选取初值</a:t>
            </a:r>
            <a:r>
              <a:rPr lang="en-US" altLang="zh-CN" sz="3200" i="1"/>
              <a:t>x</a:t>
            </a:r>
            <a:r>
              <a:rPr lang="en-US" altLang="zh-CN" sz="3200" baseline="-25000"/>
              <a:t>0</a:t>
            </a:r>
            <a:endParaRPr lang="zh-CN" altLang="en-US" smtClean="0"/>
          </a:p>
          <a:p>
            <a:pPr lvl="1"/>
            <a:r>
              <a:rPr lang="zh-CN" altLang="en-US" smtClean="0"/>
              <a:t>(2)对于</a:t>
            </a:r>
            <a:r>
              <a:rPr lang="en-US" altLang="zh-CN" i="1" smtClean="0"/>
              <a:t>n</a:t>
            </a:r>
            <a:r>
              <a:rPr lang="en-US" altLang="zh-CN" smtClean="0"/>
              <a:t>=0,1,2,3……</a:t>
            </a:r>
            <a:r>
              <a:rPr lang="zh-CN" altLang="en-US" smtClean="0"/>
              <a:t>计算</a:t>
            </a:r>
            <a:r>
              <a:rPr lang="en-US" altLang="zh-CN" sz="3200" i="1"/>
              <a:t>f</a:t>
            </a:r>
            <a:r>
              <a:rPr lang="en-US" altLang="zh-CN" sz="3200"/>
              <a:t>(</a:t>
            </a:r>
            <a:r>
              <a:rPr lang="en-US" altLang="zh-CN" sz="3200" i="1"/>
              <a:t>x</a:t>
            </a:r>
            <a:r>
              <a:rPr lang="en-US" altLang="zh-CN" sz="3200" i="1" baseline="-25000"/>
              <a:t>n</a:t>
            </a:r>
            <a:r>
              <a:rPr lang="en-US" altLang="zh-CN" sz="3200"/>
              <a:t>)</a:t>
            </a:r>
            <a:r>
              <a:rPr lang="zh-CN" altLang="en-US" smtClean="0"/>
              <a:t>和</a:t>
            </a:r>
            <a:r>
              <a:rPr lang="en-US" altLang="zh-CN" sz="3200" i="1"/>
              <a:t>f ’</a:t>
            </a:r>
            <a:r>
              <a:rPr lang="en-US" altLang="zh-CN" sz="3200"/>
              <a:t>(</a:t>
            </a:r>
            <a:r>
              <a:rPr lang="en-US" altLang="zh-CN" sz="3200" i="1"/>
              <a:t>x</a:t>
            </a:r>
            <a:r>
              <a:rPr lang="en-US" altLang="zh-CN" sz="3200" i="1" baseline="-25000"/>
              <a:t>n</a:t>
            </a:r>
            <a:r>
              <a:rPr lang="en-US" altLang="zh-CN" sz="3200"/>
              <a:t>)，</a:t>
            </a:r>
            <a:r>
              <a:rPr lang="zh-CN" altLang="en-US" sz="3200"/>
              <a:t>以及</a:t>
            </a:r>
            <a:endParaRPr lang="zh-CN" altLang="en-US" smtClean="0"/>
          </a:p>
        </p:txBody>
      </p:sp>
      <p:graphicFrame>
        <p:nvGraphicFramePr>
          <p:cNvPr id="421892" name="Object 4"/>
          <p:cNvGraphicFramePr>
            <a:graphicFrameLocks noChangeAspect="1"/>
          </p:cNvGraphicFramePr>
          <p:nvPr/>
        </p:nvGraphicFramePr>
        <p:xfrm>
          <a:off x="1752600" y="3048002"/>
          <a:ext cx="4059238" cy="1222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4" name="Equation" r:id="rId4" imgW="1257120" imgH="444240" progId="Equation.3">
                  <p:embed/>
                </p:oleObj>
              </mc:Choice>
              <mc:Fallback>
                <p:oleObj name="Equation" r:id="rId4" imgW="1257120" imgH="4442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048002"/>
                        <a:ext cx="4059238" cy="1222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1894" name="Rectangle 6"/>
          <p:cNvSpPr>
            <a:spLocks noChangeArrowheads="1"/>
          </p:cNvSpPr>
          <p:nvPr/>
        </p:nvSpPr>
        <p:spPr bwMode="auto">
          <a:xfrm>
            <a:off x="428627" y="4267200"/>
            <a:ext cx="8105775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lvl="1" algn="l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FontTx/>
              <a:buChar char="–"/>
            </a:pP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 (3)判断如果| </a:t>
            </a:r>
            <a:r>
              <a:rPr lang="en-US" altLang="zh-CN" sz="3200" i="1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3200" i="1" baseline="-25000">
                <a:latin typeface="Times New Roman" pitchFamily="18" charset="0"/>
                <a:ea typeface="黑体" pitchFamily="49" charset="-122"/>
              </a:rPr>
              <a:t>n</a:t>
            </a:r>
            <a:r>
              <a:rPr lang="en-US" altLang="zh-CN" sz="3200" baseline="-25000">
                <a:latin typeface="Times New Roman" pitchFamily="18" charset="0"/>
                <a:ea typeface="黑体" pitchFamily="49" charset="-122"/>
              </a:rPr>
              <a:t>+1</a:t>
            </a:r>
            <a:r>
              <a:rPr lang="en-US" altLang="zh-CN" sz="3200">
                <a:latin typeface="宋体" pitchFamily="2" charset="-122"/>
                <a:ea typeface="黑体" pitchFamily="49" charset="-122"/>
              </a:rPr>
              <a:t>-</a:t>
            </a:r>
            <a:r>
              <a:rPr lang="en-US" altLang="zh-CN" sz="3200" i="1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3200" i="1" baseline="-25000">
                <a:latin typeface="Times New Roman" pitchFamily="18" charset="0"/>
                <a:ea typeface="黑体" pitchFamily="49" charset="-122"/>
              </a:rPr>
              <a:t>n</a:t>
            </a: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 |&lt;</a:t>
            </a:r>
            <a:r>
              <a:rPr lang="zh-CN" altLang="en-US" sz="2800">
                <a:latin typeface="Times New Roman" pitchFamily="18" charset="0"/>
                <a:ea typeface="黑体" pitchFamily="49" charset="-122"/>
                <a:sym typeface="Symbol" pitchFamily="18" charset="2"/>
              </a:rPr>
              <a:t>，则迭代终止，否则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  <a:sym typeface="Symbol" pitchFamily="18" charset="2"/>
              </a:rPr>
              <a:t>n</a:t>
            </a:r>
            <a:r>
              <a:rPr lang="zh-CN" altLang="en-US" sz="2800">
                <a:latin typeface="Times New Roman" pitchFamily="18" charset="0"/>
                <a:ea typeface="黑体" pitchFamily="49" charset="-122"/>
                <a:sym typeface="Symbol" pitchFamily="18" charset="2"/>
              </a:rPr>
              <a:t>增加1，转(2)</a:t>
            </a:r>
          </a:p>
          <a:p>
            <a:pPr algn="l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FontTx/>
              <a:buChar char="–"/>
            </a:pPr>
            <a:r>
              <a:rPr lang="zh-CN" altLang="en-US" sz="2800">
                <a:solidFill>
                  <a:srgbClr val="000000"/>
                </a:solidFill>
                <a:ea typeface="黑体" pitchFamily="49" charset="-122"/>
              </a:rPr>
              <a:t>收敛阶数为</a:t>
            </a:r>
            <a:r>
              <a:rPr lang="en-US" altLang="zh-CN" sz="2800">
                <a:solidFill>
                  <a:srgbClr val="000000"/>
                </a:solidFill>
                <a:ea typeface="黑体" pitchFamily="49" charset="-122"/>
              </a:rPr>
              <a:t>2</a:t>
            </a:r>
            <a:endParaRPr lang="zh-CN" altLang="en-US" sz="2800">
              <a:solidFill>
                <a:srgbClr val="000000"/>
              </a:solidFill>
              <a:ea typeface="黑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1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1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421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894" grpId="0" autoUpdateAnimBg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53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BA08122E-324F-4FBA-B59D-6BF2F0AAF4A4}" type="slidenum">
              <a:rPr lang="zh-CN" altLang="en-US"/>
              <a:pPr/>
              <a:t>71</a:t>
            </a:fld>
            <a:endParaRPr lang="en-US" altLang="zh-CN"/>
          </a:p>
        </p:txBody>
      </p:sp>
      <p:sp>
        <p:nvSpPr>
          <p:cNvPr id="31754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0AE9399D-DB99-432B-8C1E-8C04E54F780D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290818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255588"/>
            <a:ext cx="8142288" cy="658812"/>
          </a:xfrm>
        </p:spPr>
        <p:txBody>
          <a:bodyPr/>
          <a:lstStyle/>
          <a:p>
            <a:pPr>
              <a:defRPr/>
            </a:pPr>
            <a:r>
              <a:rPr lang="zh-CN" altLang="en-US" sz="4800"/>
              <a:t>3.3.1 方法描述</a:t>
            </a:r>
          </a:p>
        </p:txBody>
      </p:sp>
      <p:sp>
        <p:nvSpPr>
          <p:cNvPr id="290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292227"/>
            <a:ext cx="8142288" cy="1984375"/>
          </a:xfrm>
        </p:spPr>
        <p:txBody>
          <a:bodyPr/>
          <a:lstStyle/>
          <a:p>
            <a:r>
              <a:rPr lang="zh-CN" altLang="en-US" smtClean="0"/>
              <a:t>例2.10 按切线法求 </a:t>
            </a:r>
            <a:r>
              <a:rPr lang="en-US" altLang="zh-CN" i="1" smtClean="0"/>
              <a:t>x = e </a:t>
            </a:r>
            <a:r>
              <a:rPr lang="en-US" altLang="zh-CN" i="1" baseline="30000" smtClean="0"/>
              <a:t>–x </a:t>
            </a:r>
            <a:r>
              <a:rPr lang="zh-CN" altLang="en-US" smtClean="0"/>
              <a:t>的根</a:t>
            </a:r>
          </a:p>
          <a:p>
            <a:r>
              <a:rPr lang="zh-CN" altLang="en-US" smtClean="0"/>
              <a:t>解：因  </a:t>
            </a:r>
            <a:r>
              <a:rPr lang="en-US" altLang="zh-CN" i="1" smtClean="0"/>
              <a:t>f </a:t>
            </a:r>
            <a:r>
              <a:rPr lang="en-US" altLang="zh-CN" smtClean="0"/>
              <a:t>( </a:t>
            </a:r>
            <a:r>
              <a:rPr lang="en-US" altLang="zh-CN" i="1" smtClean="0"/>
              <a:t>x </a:t>
            </a:r>
            <a:r>
              <a:rPr lang="en-US" altLang="zh-CN" smtClean="0"/>
              <a:t>) </a:t>
            </a:r>
            <a:r>
              <a:rPr lang="en-US" altLang="zh-CN" i="1" smtClean="0"/>
              <a:t>= xe</a:t>
            </a:r>
            <a:r>
              <a:rPr lang="en-US" altLang="zh-CN" i="1" baseline="30000" smtClean="0"/>
              <a:t>x </a:t>
            </a:r>
            <a:r>
              <a:rPr lang="en-US" altLang="zh-CN" smtClean="0"/>
              <a:t>– 1</a:t>
            </a:r>
            <a:r>
              <a:rPr lang="en-US" altLang="zh-CN" i="1" smtClean="0"/>
              <a:t>, </a:t>
            </a:r>
          </a:p>
          <a:p>
            <a:pPr>
              <a:buFont typeface="Wingdings" pitchFamily="2" charset="2"/>
              <a:buNone/>
            </a:pPr>
            <a:r>
              <a:rPr lang="en-US" altLang="zh-CN" i="1" smtClean="0"/>
              <a:t>                f ’</a:t>
            </a:r>
            <a:r>
              <a:rPr lang="en-US" altLang="zh-CN" smtClean="0"/>
              <a:t>( </a:t>
            </a:r>
            <a:r>
              <a:rPr lang="en-US" altLang="zh-CN" i="1" smtClean="0"/>
              <a:t>x</a:t>
            </a:r>
            <a:r>
              <a:rPr lang="en-US" altLang="zh-CN" i="1" baseline="-25000" smtClean="0"/>
              <a:t> </a:t>
            </a:r>
            <a:r>
              <a:rPr lang="en-US" altLang="zh-CN" smtClean="0"/>
              <a:t>) </a:t>
            </a:r>
            <a:r>
              <a:rPr lang="en-US" altLang="zh-CN" i="1" smtClean="0"/>
              <a:t>= e</a:t>
            </a:r>
            <a:r>
              <a:rPr lang="en-US" altLang="zh-CN" i="1" baseline="30000" smtClean="0"/>
              <a:t>x </a:t>
            </a:r>
            <a:r>
              <a:rPr lang="en-US" altLang="zh-CN" smtClean="0"/>
              <a:t>(1 </a:t>
            </a:r>
            <a:r>
              <a:rPr lang="en-US" altLang="zh-CN" i="1" smtClean="0"/>
              <a:t>+ x</a:t>
            </a:r>
            <a:r>
              <a:rPr lang="en-US" altLang="zh-CN" smtClean="0"/>
              <a:t>)</a:t>
            </a:r>
          </a:p>
          <a:p>
            <a:pPr>
              <a:buFont typeface="Wingdings" pitchFamily="2" charset="2"/>
              <a:buNone/>
            </a:pPr>
            <a:r>
              <a:rPr lang="zh-CN" altLang="en-US" smtClean="0"/>
              <a:t>建立迭代公式</a:t>
            </a:r>
          </a:p>
        </p:txBody>
      </p:sp>
      <p:graphicFrame>
        <p:nvGraphicFramePr>
          <p:cNvPr id="290820" name="Object 4"/>
          <p:cNvGraphicFramePr>
            <a:graphicFrameLocks noChangeAspect="1"/>
          </p:cNvGraphicFramePr>
          <p:nvPr/>
        </p:nvGraphicFramePr>
        <p:xfrm>
          <a:off x="2819400" y="2667000"/>
          <a:ext cx="60960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10" name="Equation" r:id="rId4" imgW="2476440" imgH="457200" progId="Equation.3">
                  <p:embed/>
                </p:oleObj>
              </mc:Choice>
              <mc:Fallback>
                <p:oleObj name="Equation" r:id="rId4" imgW="247644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2667000"/>
                        <a:ext cx="6096000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0821" name="Rectangle 5"/>
          <p:cNvSpPr>
            <a:spLocks noChangeArrowheads="1"/>
          </p:cNvSpPr>
          <p:nvPr/>
        </p:nvSpPr>
        <p:spPr bwMode="auto">
          <a:xfrm>
            <a:off x="-152400" y="3581402"/>
            <a:ext cx="82296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258763" indent="-258763" algn="l" defTabSz="814388">
              <a:lnSpc>
                <a:spcPct val="90000"/>
              </a:lnSpc>
              <a:spcBef>
                <a:spcPts val="1200"/>
              </a:spcBef>
              <a:buClr>
                <a:srgbClr val="27305F"/>
              </a:buClr>
              <a:buSzPct val="60000"/>
            </a:pPr>
            <a:r>
              <a:rPr lang="zh-CN" altLang="en-US" sz="2800" b="0">
                <a:latin typeface="Times New Roman" pitchFamily="18" charset="0"/>
                <a:ea typeface="黑体" pitchFamily="49" charset="-122"/>
              </a:rPr>
              <a:t>		</a:t>
            </a: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取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2800" baseline="-25000">
                <a:latin typeface="Times New Roman" pitchFamily="18" charset="0"/>
                <a:ea typeface="黑体" pitchFamily="49" charset="-122"/>
              </a:rPr>
              <a:t>0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=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0.5,</a:t>
            </a:r>
            <a:endParaRPr lang="zh-CN" altLang="en-US" sz="2800">
              <a:latin typeface="Times New Roman" pitchFamily="18" charset="0"/>
              <a:ea typeface="黑体" pitchFamily="49" charset="-122"/>
            </a:endParaRPr>
          </a:p>
        </p:txBody>
      </p:sp>
      <p:graphicFrame>
        <p:nvGraphicFramePr>
          <p:cNvPr id="290822" name="Object 6"/>
          <p:cNvGraphicFramePr>
            <a:graphicFrameLocks noChangeAspect="1"/>
          </p:cNvGraphicFramePr>
          <p:nvPr/>
        </p:nvGraphicFramePr>
        <p:xfrm>
          <a:off x="990602" y="3929063"/>
          <a:ext cx="2703513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11" name="Equation" r:id="rId6" imgW="1282680" imgH="419040" progId="Equation.3">
                  <p:embed/>
                </p:oleObj>
              </mc:Choice>
              <mc:Fallback>
                <p:oleObj name="Equation" r:id="rId6" imgW="1282680" imgH="4190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2" y="3929063"/>
                        <a:ext cx="2703513" cy="977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0823" name="Object 7"/>
          <p:cNvGraphicFramePr>
            <a:graphicFrameLocks noChangeAspect="1"/>
          </p:cNvGraphicFramePr>
          <p:nvPr/>
        </p:nvGraphicFramePr>
        <p:xfrm>
          <a:off x="3657600" y="4005265"/>
          <a:ext cx="2971800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12" name="Equation" r:id="rId8" imgW="1333440" imgH="393480" progId="Equation.3">
                  <p:embed/>
                </p:oleObj>
              </mc:Choice>
              <mc:Fallback>
                <p:oleObj name="Equation" r:id="rId8" imgW="1333440" imgH="3934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005265"/>
                        <a:ext cx="2971800" cy="917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0824" name="Object 8"/>
          <p:cNvGraphicFramePr>
            <a:graphicFrameLocks noChangeAspect="1"/>
          </p:cNvGraphicFramePr>
          <p:nvPr/>
        </p:nvGraphicFramePr>
        <p:xfrm>
          <a:off x="6602415" y="4005265"/>
          <a:ext cx="2312987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13" name="Equation" r:id="rId10" imgW="1015920" imgH="393480" progId="Equation.3">
                  <p:embed/>
                </p:oleObj>
              </mc:Choice>
              <mc:Fallback>
                <p:oleObj name="Equation" r:id="rId10" imgW="1015920" imgH="3934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2415" y="4005265"/>
                        <a:ext cx="2312987" cy="917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0825" name="Object 9"/>
          <p:cNvGraphicFramePr>
            <a:graphicFrameLocks noChangeAspect="1"/>
          </p:cNvGraphicFramePr>
          <p:nvPr/>
        </p:nvGraphicFramePr>
        <p:xfrm>
          <a:off x="1371600" y="4919665"/>
          <a:ext cx="3729038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14" name="Equation" r:id="rId12" imgW="1638000" imgH="177480" progId="Equation.3">
                  <p:embed/>
                </p:oleObj>
              </mc:Choice>
              <mc:Fallback>
                <p:oleObj name="Equation" r:id="rId12" imgW="1638000" imgH="17748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919665"/>
                        <a:ext cx="3729038" cy="414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0826" name="Object 10"/>
          <p:cNvGraphicFramePr>
            <a:graphicFrameLocks noChangeAspect="1"/>
          </p:cNvGraphicFramePr>
          <p:nvPr/>
        </p:nvGraphicFramePr>
        <p:xfrm>
          <a:off x="1042988" y="5445125"/>
          <a:ext cx="45720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15" name="Equation" r:id="rId14" imgW="2070000" imgH="419040" progId="Equation.3">
                  <p:embed/>
                </p:oleObj>
              </mc:Choice>
              <mc:Fallback>
                <p:oleObj name="Equation" r:id="rId14" imgW="2070000" imgH="4190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5445125"/>
                        <a:ext cx="4572000" cy="977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0827" name="Object 11"/>
          <p:cNvGraphicFramePr>
            <a:graphicFrameLocks noChangeAspect="1"/>
          </p:cNvGraphicFramePr>
          <p:nvPr/>
        </p:nvGraphicFramePr>
        <p:xfrm>
          <a:off x="5724527" y="5734050"/>
          <a:ext cx="1700213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16" name="Equation" r:id="rId16" imgW="660240" imgH="177480" progId="Equation.3">
                  <p:embed/>
                </p:oleObj>
              </mc:Choice>
              <mc:Fallback>
                <p:oleObj name="Equation" r:id="rId16" imgW="660240" imgH="1774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527" y="5734050"/>
                        <a:ext cx="1700213" cy="414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90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90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90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90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90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90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90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90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90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90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90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90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0819" grpId="0" build="p" bldLvl="2" autoUpdateAnimBg="0"/>
      <p:bldP spid="290821" grpId="0" autoUpdateAnimBg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CBCB0255-67FB-43BA-A4A5-5B217A4654DD}" type="slidenum">
              <a:rPr lang="zh-CN" altLang="en-US"/>
              <a:pPr/>
              <a:t>72</a:t>
            </a:fld>
            <a:endParaRPr lang="en-US" altLang="zh-CN"/>
          </a:p>
        </p:txBody>
      </p:sp>
      <p:sp>
        <p:nvSpPr>
          <p:cNvPr id="32773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1DA42408-03B8-493D-AE09-DA6E0A2A0F4D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536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3.3.2</a:t>
            </a:r>
            <a:r>
              <a:rPr lang="zh-CN" altLang="en-US" smtClean="0">
                <a:latin typeface="Times New Roman" pitchFamily="18" charset="0"/>
              </a:rPr>
              <a:t> 牛顿迭代法的收敛性</a:t>
            </a:r>
          </a:p>
        </p:txBody>
      </p:sp>
      <p:sp>
        <p:nvSpPr>
          <p:cNvPr id="327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292225"/>
            <a:ext cx="8142288" cy="1301750"/>
          </a:xfrm>
        </p:spPr>
        <p:txBody>
          <a:bodyPr/>
          <a:lstStyle/>
          <a:p>
            <a:r>
              <a:rPr lang="zh-CN" altLang="en-US" smtClean="0"/>
              <a:t>牛顿迭代法的收敛阶数</a:t>
            </a:r>
          </a:p>
          <a:p>
            <a:pPr lvl="1"/>
            <a:r>
              <a:rPr lang="zh-CN" altLang="en-US" smtClean="0"/>
              <a:t>牛顿迭代法的收敛阶数为</a:t>
            </a:r>
            <a:r>
              <a:rPr lang="en-US" altLang="zh-CN" smtClean="0"/>
              <a:t>2</a:t>
            </a:r>
            <a:r>
              <a:rPr lang="zh-CN" altLang="en-US" smtClean="0"/>
              <a:t>；在重根情况下，收敛阶数为</a:t>
            </a:r>
            <a:r>
              <a:rPr lang="en-US" altLang="zh-CN" smtClean="0"/>
              <a:t>1  </a:t>
            </a:r>
            <a:endParaRPr lang="zh-CN" altLang="en-US" smtClean="0"/>
          </a:p>
        </p:txBody>
      </p:sp>
      <p:graphicFrame>
        <p:nvGraphicFramePr>
          <p:cNvPr id="32770" name="Object 4"/>
          <p:cNvGraphicFramePr>
            <a:graphicFrameLocks noChangeAspect="1"/>
          </p:cNvGraphicFramePr>
          <p:nvPr/>
        </p:nvGraphicFramePr>
        <p:xfrm>
          <a:off x="1403350" y="2781302"/>
          <a:ext cx="6192838" cy="188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9" name="公式" r:id="rId3" imgW="2997000" imgH="914400" progId="Equation.3">
                  <p:embed/>
                </p:oleObj>
              </mc:Choice>
              <mc:Fallback>
                <p:oleObj name="公式" r:id="rId3" imgW="2997000" imgH="914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2781302"/>
                        <a:ext cx="6192838" cy="188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6" name="Rectangle 5"/>
          <p:cNvSpPr>
            <a:spLocks noChangeArrowheads="1"/>
          </p:cNvSpPr>
          <p:nvPr/>
        </p:nvSpPr>
        <p:spPr bwMode="auto">
          <a:xfrm>
            <a:off x="714375" y="4724402"/>
            <a:ext cx="19700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>
                <a:ea typeface="黑体" pitchFamily="49" charset="-122"/>
              </a:rPr>
              <a:t>收敛的条件</a:t>
            </a:r>
          </a:p>
        </p:txBody>
      </p:sp>
      <p:graphicFrame>
        <p:nvGraphicFramePr>
          <p:cNvPr id="32771" name="Object 6"/>
          <p:cNvGraphicFramePr>
            <a:graphicFrameLocks noChangeAspect="1"/>
          </p:cNvGraphicFramePr>
          <p:nvPr/>
        </p:nvGraphicFramePr>
        <p:xfrm>
          <a:off x="611188" y="5272090"/>
          <a:ext cx="8204200" cy="115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50" name="公式" r:id="rId5" imgW="3771720" imgH="533160" progId="Equation.3">
                  <p:embed/>
                </p:oleObj>
              </mc:Choice>
              <mc:Fallback>
                <p:oleObj name="公式" r:id="rId5" imgW="3771720" imgH="53316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5272090"/>
                        <a:ext cx="8204200" cy="1158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2E27238E-CE97-4D8C-AF9E-165AA741F762}" type="slidenum">
              <a:rPr lang="zh-CN" altLang="en-US"/>
              <a:pPr/>
              <a:t>73</a:t>
            </a:fld>
            <a:endParaRPr lang="en-US" altLang="zh-CN"/>
          </a:p>
        </p:txBody>
      </p:sp>
      <p:sp>
        <p:nvSpPr>
          <p:cNvPr id="89091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55CD05FE-CEF1-4F70-9E1D-B2257A7DC430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442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3.3.2</a:t>
            </a:r>
            <a:r>
              <a:rPr lang="zh-CN" altLang="en-US" smtClean="0">
                <a:latin typeface="Times New Roman" pitchFamily="18" charset="0"/>
              </a:rPr>
              <a:t> 牛顿迭代法的收敛性</a:t>
            </a:r>
          </a:p>
        </p:txBody>
      </p:sp>
      <p:sp>
        <p:nvSpPr>
          <p:cNvPr id="890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292225"/>
            <a:ext cx="8142288" cy="389029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CN" altLang="en-US" sz="3200"/>
              <a:t>定理2.5  设</a:t>
            </a:r>
            <a:r>
              <a:rPr lang="en-US" altLang="zh-CN" sz="3200" i="1"/>
              <a:t>f(x)</a:t>
            </a:r>
            <a:r>
              <a:rPr lang="zh-CN" altLang="en-US" sz="3200"/>
              <a:t>在[</a:t>
            </a:r>
            <a:r>
              <a:rPr lang="en-US" altLang="zh-CN" sz="3200"/>
              <a:t>a,b]</a:t>
            </a:r>
            <a:r>
              <a:rPr lang="zh-CN" altLang="en-US" sz="3200"/>
              <a:t>上二阶导数存在，且满足：</a:t>
            </a:r>
          </a:p>
          <a:p>
            <a:pPr lvl="1">
              <a:spcBef>
                <a:spcPts val="1200"/>
              </a:spcBef>
            </a:pPr>
            <a:r>
              <a:rPr lang="zh-CN" altLang="en-US" sz="3200"/>
              <a:t>1)  </a:t>
            </a:r>
            <a:r>
              <a:rPr lang="en-US" altLang="zh-CN" sz="3200" i="1"/>
              <a:t>f</a:t>
            </a:r>
            <a:r>
              <a:rPr lang="en-US" altLang="zh-CN" sz="3200"/>
              <a:t>(</a:t>
            </a:r>
            <a:r>
              <a:rPr lang="en-US" altLang="zh-CN" sz="3200" i="1"/>
              <a:t>a</a:t>
            </a:r>
            <a:r>
              <a:rPr lang="en-US" altLang="zh-CN" sz="3200"/>
              <a:t>) </a:t>
            </a:r>
            <a:r>
              <a:rPr lang="en-US" altLang="zh-CN" sz="3200" i="1"/>
              <a:t>f</a:t>
            </a:r>
            <a:r>
              <a:rPr lang="en-US" altLang="zh-CN" sz="3200"/>
              <a:t>(</a:t>
            </a:r>
            <a:r>
              <a:rPr lang="en-US" altLang="zh-CN" sz="3200" i="1"/>
              <a:t>b</a:t>
            </a:r>
            <a:r>
              <a:rPr lang="en-US" altLang="zh-CN" sz="3200"/>
              <a:t>)&lt;0</a:t>
            </a:r>
          </a:p>
          <a:p>
            <a:pPr lvl="1">
              <a:spcBef>
                <a:spcPts val="1200"/>
              </a:spcBef>
            </a:pPr>
            <a:r>
              <a:rPr lang="en-US" altLang="zh-CN" sz="3200"/>
              <a:t>2)  </a:t>
            </a:r>
            <a:r>
              <a:rPr lang="en-US" altLang="zh-CN" sz="3200" i="1"/>
              <a:t>f ’</a:t>
            </a:r>
            <a:r>
              <a:rPr lang="en-US" altLang="zh-CN" sz="3200"/>
              <a:t>(</a:t>
            </a:r>
            <a:r>
              <a:rPr lang="en-US" altLang="zh-CN" sz="3200" i="1"/>
              <a:t>x</a:t>
            </a:r>
            <a:r>
              <a:rPr lang="en-US" altLang="zh-CN" sz="3200"/>
              <a:t>)≠0,</a:t>
            </a:r>
            <a:r>
              <a:rPr lang="en-US" altLang="zh-CN" sz="3200" i="1"/>
              <a:t>       </a:t>
            </a:r>
          </a:p>
          <a:p>
            <a:pPr lvl="1">
              <a:spcBef>
                <a:spcPts val="1200"/>
              </a:spcBef>
            </a:pPr>
            <a:r>
              <a:rPr lang="en-US" altLang="zh-CN" sz="3200"/>
              <a:t>3</a:t>
            </a:r>
            <a:r>
              <a:rPr lang="en-US" altLang="zh-CN" sz="3200" i="1"/>
              <a:t>)  f ’’</a:t>
            </a:r>
            <a:r>
              <a:rPr lang="en-US" altLang="zh-CN" sz="3200"/>
              <a:t>(</a:t>
            </a:r>
            <a:r>
              <a:rPr lang="en-US" altLang="zh-CN" sz="3200" i="1"/>
              <a:t>x</a:t>
            </a:r>
            <a:r>
              <a:rPr lang="en-US" altLang="zh-CN" sz="3200"/>
              <a:t>)</a:t>
            </a:r>
            <a:r>
              <a:rPr lang="zh-CN" altLang="en-US" sz="3200"/>
              <a:t>不变号</a:t>
            </a:r>
          </a:p>
          <a:p>
            <a:pPr lvl="1">
              <a:spcBef>
                <a:spcPts val="1200"/>
              </a:spcBef>
            </a:pPr>
            <a:r>
              <a:rPr lang="zh-CN" altLang="en-US" sz="3200"/>
              <a:t>4) 初值</a:t>
            </a:r>
            <a:r>
              <a:rPr lang="en-US" altLang="zh-CN" sz="3200" i="1"/>
              <a:t>x</a:t>
            </a:r>
            <a:r>
              <a:rPr lang="en-US" altLang="zh-CN" sz="3200" baseline="-25000"/>
              <a:t>0</a:t>
            </a:r>
            <a:r>
              <a:rPr lang="zh-CN" altLang="en-US" sz="3200"/>
              <a:t>满足</a:t>
            </a:r>
            <a:r>
              <a:rPr lang="en-US" altLang="zh-CN" sz="3200" i="1"/>
              <a:t>f </a:t>
            </a:r>
            <a:r>
              <a:rPr lang="en-US" altLang="zh-CN" sz="3200"/>
              <a:t>(</a:t>
            </a:r>
            <a:r>
              <a:rPr lang="en-US" altLang="zh-CN" sz="3200" i="1"/>
              <a:t>x</a:t>
            </a:r>
            <a:r>
              <a:rPr lang="en-US" altLang="zh-CN" sz="3200" baseline="-25000"/>
              <a:t>0</a:t>
            </a:r>
            <a:r>
              <a:rPr lang="en-US" altLang="zh-CN" sz="3200"/>
              <a:t>)</a:t>
            </a:r>
            <a:r>
              <a:rPr lang="zh-CN" altLang="en-US" sz="3200"/>
              <a:t> </a:t>
            </a:r>
            <a:r>
              <a:rPr lang="en-US" altLang="zh-CN" sz="3200" i="1"/>
              <a:t>f ’’</a:t>
            </a:r>
            <a:r>
              <a:rPr lang="en-US" altLang="zh-CN" sz="3200"/>
              <a:t>(</a:t>
            </a:r>
            <a:r>
              <a:rPr lang="en-US" altLang="zh-CN" sz="3200" i="1"/>
              <a:t>x</a:t>
            </a:r>
            <a:r>
              <a:rPr lang="en-US" altLang="zh-CN" sz="3200" baseline="-25000"/>
              <a:t>0</a:t>
            </a:r>
            <a:r>
              <a:rPr lang="en-US" altLang="zh-CN" sz="3200"/>
              <a:t>)&gt;0</a:t>
            </a:r>
            <a:endParaRPr lang="zh-CN" altLang="en-US" sz="3200"/>
          </a:p>
          <a:p>
            <a:pPr>
              <a:buFont typeface="Wingdings" pitchFamily="2" charset="2"/>
              <a:buNone/>
            </a:pPr>
            <a:r>
              <a:rPr lang="zh-CN" altLang="en-US" sz="3200"/>
              <a:t>则迭代法收敛。</a:t>
            </a:r>
          </a:p>
        </p:txBody>
      </p:sp>
      <p:sp>
        <p:nvSpPr>
          <p:cNvPr id="442372" name="AutoShape 4"/>
          <p:cNvSpPr>
            <a:spLocks noChangeArrowheads="1"/>
          </p:cNvSpPr>
          <p:nvPr/>
        </p:nvSpPr>
        <p:spPr bwMode="auto">
          <a:xfrm>
            <a:off x="3733800" y="1219200"/>
            <a:ext cx="1371600" cy="685800"/>
          </a:xfrm>
          <a:prstGeom prst="wedgeEllipseCallout">
            <a:avLst>
              <a:gd name="adj1" fmla="val -84144"/>
              <a:gd name="adj2" fmla="val 118287"/>
            </a:avLst>
          </a:prstGeom>
          <a:gradFill rotWithShape="0">
            <a:gsLst>
              <a:gs pos="0">
                <a:schemeClr val="bg1"/>
              </a:gs>
              <a:gs pos="100000">
                <a:srgbClr val="FFFF99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kumimoji="1" lang="zh-CN" altLang="en-US" sz="2800">
                <a:latin typeface="Times New Roman" pitchFamily="18" charset="0"/>
                <a:ea typeface="黑体" pitchFamily="49" charset="-122"/>
              </a:rPr>
              <a:t>有根</a:t>
            </a:r>
          </a:p>
        </p:txBody>
      </p:sp>
      <p:sp>
        <p:nvSpPr>
          <p:cNvPr id="442373" name="AutoShape 5"/>
          <p:cNvSpPr>
            <a:spLocks noChangeArrowheads="1"/>
          </p:cNvSpPr>
          <p:nvPr/>
        </p:nvSpPr>
        <p:spPr bwMode="auto">
          <a:xfrm>
            <a:off x="4643438" y="2636838"/>
            <a:ext cx="4500562" cy="1143000"/>
          </a:xfrm>
          <a:prstGeom prst="wedgeEllipseCallout">
            <a:avLst>
              <a:gd name="adj1" fmla="val -51657"/>
              <a:gd name="adj2" fmla="val 63889"/>
            </a:avLst>
          </a:prstGeom>
          <a:gradFill rotWithShape="0">
            <a:gsLst>
              <a:gs pos="0">
                <a:schemeClr val="bg1"/>
              </a:gs>
              <a:gs pos="100000">
                <a:srgbClr val="FFFF99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kumimoji="1" lang="zh-CN" altLang="en-US" sz="2800">
                <a:latin typeface="Times New Roman" pitchFamily="18" charset="0"/>
                <a:ea typeface="黑体" pitchFamily="49" charset="-122"/>
              </a:rPr>
              <a:t>产生的序列单调有界，保证收敛。</a:t>
            </a:r>
          </a:p>
        </p:txBody>
      </p:sp>
      <p:sp>
        <p:nvSpPr>
          <p:cNvPr id="442374" name="AutoShape 6"/>
          <p:cNvSpPr>
            <a:spLocks noChangeArrowheads="1"/>
          </p:cNvSpPr>
          <p:nvPr/>
        </p:nvSpPr>
        <p:spPr bwMode="auto">
          <a:xfrm>
            <a:off x="3886200" y="4343400"/>
            <a:ext cx="1828800" cy="685800"/>
          </a:xfrm>
          <a:prstGeom prst="wedgeEllipseCallout">
            <a:avLst>
              <a:gd name="adj1" fmla="val -100870"/>
              <a:gd name="adj2" fmla="val -214120"/>
            </a:avLst>
          </a:prstGeom>
          <a:gradFill rotWithShape="0">
            <a:gsLst>
              <a:gs pos="0">
                <a:schemeClr val="bg1"/>
              </a:gs>
              <a:gs pos="100000">
                <a:srgbClr val="FFFF99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kumimoji="1" lang="zh-CN" altLang="en-US" sz="2800">
                <a:latin typeface="Times New Roman" pitchFamily="18" charset="0"/>
                <a:ea typeface="黑体" pitchFamily="49" charset="-122"/>
              </a:rPr>
              <a:t>根唯一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423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2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423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2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423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2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2372" grpId="0" animBg="1" autoUpdateAnimBg="0"/>
      <p:bldP spid="442373" grpId="0" animBg="1" autoUpdateAnimBg="0"/>
      <p:bldP spid="442374" grpId="0" animBg="1" autoUpdateAnimBg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1CD6BAB5-0065-4649-819D-62EAFE0F71A1}" type="slidenum">
              <a:rPr lang="zh-CN" altLang="en-US"/>
              <a:pPr/>
              <a:t>74</a:t>
            </a:fld>
            <a:endParaRPr lang="en-US" altLang="zh-CN"/>
          </a:p>
        </p:txBody>
      </p:sp>
      <p:sp>
        <p:nvSpPr>
          <p:cNvPr id="90115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61BCBEB9-F00F-48DE-A742-ACF150C76354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292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3.3.2</a:t>
            </a:r>
            <a:r>
              <a:rPr lang="zh-CN" altLang="en-US" smtClean="0">
                <a:latin typeface="Times New Roman" pitchFamily="18" charset="0"/>
              </a:rPr>
              <a:t> 牛顿迭代法的收敛性</a:t>
            </a:r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381000" y="3505202"/>
            <a:ext cx="3886200" cy="2760663"/>
            <a:chOff x="480" y="2064"/>
            <a:chExt cx="2880" cy="1739"/>
          </a:xfrm>
        </p:grpSpPr>
        <p:grpSp>
          <p:nvGrpSpPr>
            <p:cNvPr id="90157" name="Group 5"/>
            <p:cNvGrpSpPr>
              <a:grpSpLocks/>
            </p:cNvGrpSpPr>
            <p:nvPr/>
          </p:nvGrpSpPr>
          <p:grpSpPr bwMode="auto">
            <a:xfrm>
              <a:off x="480" y="2064"/>
              <a:ext cx="2880" cy="1739"/>
              <a:chOff x="240" y="1958"/>
              <a:chExt cx="2432" cy="2097"/>
            </a:xfrm>
          </p:grpSpPr>
          <p:sp>
            <p:nvSpPr>
              <p:cNvPr id="90168" name="Line 6"/>
              <p:cNvSpPr>
                <a:spLocks noChangeShapeType="1"/>
              </p:cNvSpPr>
              <p:nvPr/>
            </p:nvSpPr>
            <p:spPr bwMode="auto">
              <a:xfrm>
                <a:off x="293" y="3685"/>
                <a:ext cx="237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169" name="Line 7"/>
              <p:cNvSpPr>
                <a:spLocks noChangeShapeType="1"/>
              </p:cNvSpPr>
              <p:nvPr/>
            </p:nvSpPr>
            <p:spPr bwMode="auto">
              <a:xfrm flipH="1" flipV="1">
                <a:off x="576" y="2016"/>
                <a:ext cx="6" cy="18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170" name="Text Box 8"/>
              <p:cNvSpPr txBox="1">
                <a:spLocks noChangeArrowheads="1"/>
              </p:cNvSpPr>
              <p:nvPr/>
            </p:nvSpPr>
            <p:spPr bwMode="auto">
              <a:xfrm>
                <a:off x="240" y="1958"/>
                <a:ext cx="288" cy="4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3000" i="1"/>
                  <a:t>y</a:t>
                </a:r>
              </a:p>
            </p:txBody>
          </p:sp>
          <p:sp>
            <p:nvSpPr>
              <p:cNvPr id="90171" name="Text Box 9"/>
              <p:cNvSpPr txBox="1">
                <a:spLocks noChangeArrowheads="1"/>
              </p:cNvSpPr>
              <p:nvPr/>
            </p:nvSpPr>
            <p:spPr bwMode="auto">
              <a:xfrm>
                <a:off x="2352" y="3600"/>
                <a:ext cx="287" cy="4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3000"/>
                  <a:t>x</a:t>
                </a:r>
              </a:p>
            </p:txBody>
          </p:sp>
          <p:sp>
            <p:nvSpPr>
              <p:cNvPr id="90172" name="Text Box 10"/>
              <p:cNvSpPr txBox="1">
                <a:spLocks noChangeArrowheads="1"/>
              </p:cNvSpPr>
              <p:nvPr/>
            </p:nvSpPr>
            <p:spPr bwMode="auto">
              <a:xfrm>
                <a:off x="337" y="3638"/>
                <a:ext cx="287" cy="4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zh-CN" sz="3000"/>
                  <a:t>0</a:t>
                </a:r>
              </a:p>
            </p:txBody>
          </p:sp>
        </p:grpSp>
        <p:sp>
          <p:nvSpPr>
            <p:cNvPr id="90158" name="Arc 11"/>
            <p:cNvSpPr>
              <a:spLocks/>
            </p:cNvSpPr>
            <p:nvPr/>
          </p:nvSpPr>
          <p:spPr bwMode="auto">
            <a:xfrm flipV="1">
              <a:off x="993" y="2157"/>
              <a:ext cx="1790" cy="1443"/>
            </a:xfrm>
            <a:custGeom>
              <a:avLst/>
              <a:gdLst>
                <a:gd name="T0" fmla="*/ 3 w 20685"/>
                <a:gd name="T1" fmla="*/ 0 h 21597"/>
                <a:gd name="T2" fmla="*/ 155 w 20685"/>
                <a:gd name="T3" fmla="*/ 69 h 21597"/>
                <a:gd name="T4" fmla="*/ 0 w 20685"/>
                <a:gd name="T5" fmla="*/ 96 h 21597"/>
                <a:gd name="T6" fmla="*/ 0 60000 65536"/>
                <a:gd name="T7" fmla="*/ 0 60000 65536"/>
                <a:gd name="T8" fmla="*/ 0 60000 65536"/>
                <a:gd name="T9" fmla="*/ 0 w 20685"/>
                <a:gd name="T10" fmla="*/ 0 h 21597"/>
                <a:gd name="T11" fmla="*/ 20685 w 20685"/>
                <a:gd name="T12" fmla="*/ 21597 h 215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685" h="21597" fill="none" extrusionOk="0">
                  <a:moveTo>
                    <a:pt x="363" y="0"/>
                  </a:moveTo>
                  <a:cubicBezTo>
                    <a:pt x="9761" y="158"/>
                    <a:pt x="17978" y="6375"/>
                    <a:pt x="20685" y="15376"/>
                  </a:cubicBezTo>
                </a:path>
                <a:path w="20685" h="21597" stroke="0" extrusionOk="0">
                  <a:moveTo>
                    <a:pt x="363" y="0"/>
                  </a:moveTo>
                  <a:cubicBezTo>
                    <a:pt x="9761" y="158"/>
                    <a:pt x="17978" y="6375"/>
                    <a:pt x="20685" y="15376"/>
                  </a:cubicBezTo>
                  <a:lnTo>
                    <a:pt x="0" y="21597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59" name="Rectangle 12"/>
            <p:cNvSpPr>
              <a:spLocks noChangeArrowheads="1"/>
            </p:cNvSpPr>
            <p:nvPr/>
          </p:nvSpPr>
          <p:spPr bwMode="auto">
            <a:xfrm>
              <a:off x="2440" y="3456"/>
              <a:ext cx="6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/>
                <a:t>B=</a:t>
              </a:r>
              <a:r>
                <a:rPr lang="en-US" altLang="zh-CN" sz="2400" i="1">
                  <a:latin typeface="Times New Roman" pitchFamily="18" charset="0"/>
                </a:rPr>
                <a:t>x</a:t>
              </a:r>
              <a:r>
                <a:rPr lang="en-US" altLang="zh-CN" sz="2400" i="1" baseline="-25000"/>
                <a:t>0</a:t>
              </a:r>
              <a:endParaRPr lang="zh-CN" altLang="zh-CN" sz="2400" i="1" baseline="-25000"/>
            </a:p>
          </p:txBody>
        </p:sp>
        <p:sp>
          <p:nvSpPr>
            <p:cNvPr id="90160" name="Line 13"/>
            <p:cNvSpPr>
              <a:spLocks noChangeShapeType="1"/>
            </p:cNvSpPr>
            <p:nvPr/>
          </p:nvSpPr>
          <p:spPr bwMode="auto">
            <a:xfrm>
              <a:off x="2736" y="2736"/>
              <a:ext cx="0" cy="7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61" name="Line 14"/>
            <p:cNvSpPr>
              <a:spLocks noChangeShapeType="1"/>
            </p:cNvSpPr>
            <p:nvPr/>
          </p:nvSpPr>
          <p:spPr bwMode="auto">
            <a:xfrm flipH="1">
              <a:off x="2256" y="2784"/>
              <a:ext cx="432" cy="7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62" name="Rectangle 15"/>
            <p:cNvSpPr>
              <a:spLocks noChangeArrowheads="1"/>
            </p:cNvSpPr>
            <p:nvPr/>
          </p:nvSpPr>
          <p:spPr bwMode="auto">
            <a:xfrm>
              <a:off x="1996" y="2304"/>
              <a:ext cx="8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solidFill>
                    <a:srgbClr val="0000FF"/>
                  </a:solidFill>
                  <a:latin typeface="Times New Roman" pitchFamily="18" charset="0"/>
                </a:rPr>
                <a:t>f’’(x)&gt;0</a:t>
              </a:r>
              <a:endParaRPr lang="zh-CN" altLang="en-US" sz="2400" i="1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sp>
          <p:nvSpPr>
            <p:cNvPr id="90163" name="Rectangle 16"/>
            <p:cNvSpPr>
              <a:spLocks noChangeArrowheads="1"/>
            </p:cNvSpPr>
            <p:nvPr/>
          </p:nvSpPr>
          <p:spPr bwMode="auto">
            <a:xfrm>
              <a:off x="1988" y="3409"/>
              <a:ext cx="597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000" i="1">
                  <a:latin typeface="Times New Roman" pitchFamily="18" charset="0"/>
                </a:rPr>
                <a:t>x</a:t>
              </a:r>
              <a:r>
                <a:rPr lang="en-US" altLang="zh-CN" sz="3000" i="1" baseline="-25000">
                  <a:latin typeface="Times New Roman" pitchFamily="18" charset="0"/>
                </a:rPr>
                <a:t>n</a:t>
              </a:r>
              <a:r>
                <a:rPr lang="en-US" altLang="zh-CN" sz="3000" baseline="-25000"/>
                <a:t>+1</a:t>
              </a:r>
              <a:endParaRPr lang="zh-CN" altLang="zh-CN" sz="3000" baseline="-25000"/>
            </a:p>
          </p:txBody>
        </p:sp>
        <p:sp>
          <p:nvSpPr>
            <p:cNvPr id="90164" name="Line 17"/>
            <p:cNvSpPr>
              <a:spLocks noChangeShapeType="1"/>
            </p:cNvSpPr>
            <p:nvPr/>
          </p:nvSpPr>
          <p:spPr bwMode="auto">
            <a:xfrm>
              <a:off x="2256" y="3216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65" name="Rectangle 20"/>
            <p:cNvSpPr>
              <a:spLocks noChangeArrowheads="1"/>
            </p:cNvSpPr>
            <p:nvPr/>
          </p:nvSpPr>
          <p:spPr bwMode="auto">
            <a:xfrm>
              <a:off x="1580" y="3408"/>
              <a:ext cx="315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000" i="1">
                  <a:sym typeface="Symbol" pitchFamily="18" charset="2"/>
                </a:rPr>
                <a:t></a:t>
              </a:r>
              <a:endParaRPr lang="zh-CN" altLang="zh-CN" sz="3000" i="1" baseline="-25000"/>
            </a:p>
          </p:txBody>
        </p:sp>
        <p:sp>
          <p:nvSpPr>
            <p:cNvPr id="90166" name="Rectangle 21"/>
            <p:cNvSpPr>
              <a:spLocks noChangeArrowheads="1"/>
            </p:cNvSpPr>
            <p:nvPr/>
          </p:nvSpPr>
          <p:spPr bwMode="auto">
            <a:xfrm>
              <a:off x="1084" y="3171"/>
              <a:ext cx="292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000" i="1">
                  <a:sym typeface="Symbol" pitchFamily="18" charset="2"/>
                </a:rPr>
                <a:t>a</a:t>
              </a:r>
              <a:endParaRPr lang="zh-CN" altLang="zh-CN" sz="3000" i="1" baseline="-25000"/>
            </a:p>
          </p:txBody>
        </p:sp>
        <p:sp>
          <p:nvSpPr>
            <p:cNvPr id="90167" name="Line 22"/>
            <p:cNvSpPr>
              <a:spLocks noChangeShapeType="1"/>
            </p:cNvSpPr>
            <p:nvPr/>
          </p:nvSpPr>
          <p:spPr bwMode="auto">
            <a:xfrm>
              <a:off x="1200" y="3504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85"/>
          <p:cNvGrpSpPr>
            <a:grpSpLocks/>
          </p:cNvGrpSpPr>
          <p:nvPr/>
        </p:nvGrpSpPr>
        <p:grpSpPr bwMode="auto">
          <a:xfrm>
            <a:off x="381000" y="534988"/>
            <a:ext cx="3816350" cy="2741612"/>
            <a:chOff x="240" y="337"/>
            <a:chExt cx="2404" cy="1727"/>
          </a:xfrm>
        </p:grpSpPr>
        <p:sp>
          <p:nvSpPr>
            <p:cNvPr id="90145" name="Line 26"/>
            <p:cNvSpPr>
              <a:spLocks noChangeShapeType="1"/>
            </p:cNvSpPr>
            <p:nvPr/>
          </p:nvSpPr>
          <p:spPr bwMode="auto">
            <a:xfrm>
              <a:off x="303" y="1672"/>
              <a:ext cx="2193" cy="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146" name="Line 27"/>
            <p:cNvSpPr>
              <a:spLocks noChangeShapeType="1"/>
            </p:cNvSpPr>
            <p:nvPr/>
          </p:nvSpPr>
          <p:spPr bwMode="auto">
            <a:xfrm flipH="1" flipV="1">
              <a:off x="638" y="816"/>
              <a:ext cx="0" cy="12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147" name="Text Box 28"/>
            <p:cNvSpPr txBox="1">
              <a:spLocks noChangeArrowheads="1"/>
            </p:cNvSpPr>
            <p:nvPr/>
          </p:nvSpPr>
          <p:spPr bwMode="auto">
            <a:xfrm>
              <a:off x="240" y="768"/>
              <a:ext cx="341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00" i="1"/>
                <a:t>y</a:t>
              </a:r>
            </a:p>
          </p:txBody>
        </p:sp>
        <p:sp>
          <p:nvSpPr>
            <p:cNvPr id="90148" name="Text Box 29"/>
            <p:cNvSpPr txBox="1">
              <a:spLocks noChangeArrowheads="1"/>
            </p:cNvSpPr>
            <p:nvPr/>
          </p:nvSpPr>
          <p:spPr bwMode="auto">
            <a:xfrm>
              <a:off x="2304" y="1632"/>
              <a:ext cx="340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00"/>
                <a:t>x</a:t>
              </a:r>
            </a:p>
          </p:txBody>
        </p:sp>
        <p:sp>
          <p:nvSpPr>
            <p:cNvPr id="90149" name="Text Box 30"/>
            <p:cNvSpPr txBox="1">
              <a:spLocks noChangeArrowheads="1"/>
            </p:cNvSpPr>
            <p:nvPr/>
          </p:nvSpPr>
          <p:spPr bwMode="auto">
            <a:xfrm>
              <a:off x="384" y="1632"/>
              <a:ext cx="340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zh-CN" sz="3000"/>
                <a:t>0</a:t>
              </a:r>
            </a:p>
          </p:txBody>
        </p:sp>
        <p:sp>
          <p:nvSpPr>
            <p:cNvPr id="90150" name="Rectangle 32"/>
            <p:cNvSpPr>
              <a:spLocks noChangeArrowheads="1"/>
            </p:cNvSpPr>
            <p:nvPr/>
          </p:nvSpPr>
          <p:spPr bwMode="auto">
            <a:xfrm>
              <a:off x="2016" y="1392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/>
                <a:t>B</a:t>
              </a:r>
              <a:endParaRPr lang="zh-CN" altLang="zh-CN" sz="2400" i="1" baseline="-25000"/>
            </a:p>
          </p:txBody>
        </p:sp>
        <p:sp>
          <p:nvSpPr>
            <p:cNvPr id="90151" name="Rectangle 35"/>
            <p:cNvSpPr>
              <a:spLocks noChangeArrowheads="1"/>
            </p:cNvSpPr>
            <p:nvPr/>
          </p:nvSpPr>
          <p:spPr bwMode="auto">
            <a:xfrm>
              <a:off x="1005" y="720"/>
              <a:ext cx="73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solidFill>
                    <a:srgbClr val="0000FF"/>
                  </a:solidFill>
                  <a:latin typeface="Times New Roman" pitchFamily="18" charset="0"/>
                </a:rPr>
                <a:t>f’’(x)&gt;0</a:t>
              </a:r>
              <a:endParaRPr lang="zh-CN" altLang="en-US" sz="2400" i="1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sp>
          <p:nvSpPr>
            <p:cNvPr id="90152" name="Line 37"/>
            <p:cNvSpPr>
              <a:spLocks noChangeShapeType="1"/>
            </p:cNvSpPr>
            <p:nvPr/>
          </p:nvSpPr>
          <p:spPr bwMode="auto">
            <a:xfrm>
              <a:off x="2160" y="1680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53" name="Rectangle 39"/>
            <p:cNvSpPr>
              <a:spLocks noChangeArrowheads="1"/>
            </p:cNvSpPr>
            <p:nvPr/>
          </p:nvSpPr>
          <p:spPr bwMode="auto">
            <a:xfrm>
              <a:off x="776" y="1622"/>
              <a:ext cx="528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000" i="1">
                  <a:sym typeface="Symbol" pitchFamily="18" charset="2"/>
                </a:rPr>
                <a:t>a</a:t>
              </a:r>
              <a:r>
                <a:rPr lang="en-US" altLang="zh-CN" sz="2400" i="1"/>
                <a:t>=</a:t>
              </a:r>
              <a:r>
                <a:rPr lang="en-US" altLang="zh-CN" sz="2400" i="1">
                  <a:latin typeface="Times New Roman" pitchFamily="18" charset="0"/>
                </a:rPr>
                <a:t>x</a:t>
              </a:r>
              <a:r>
                <a:rPr lang="en-US" altLang="zh-CN" sz="2400" i="1" baseline="-25000"/>
                <a:t>0</a:t>
              </a:r>
              <a:endParaRPr lang="zh-CN" altLang="zh-CN" sz="2400" i="1" baseline="-25000"/>
            </a:p>
          </p:txBody>
        </p:sp>
        <p:sp>
          <p:nvSpPr>
            <p:cNvPr id="90154" name="Line 40"/>
            <p:cNvSpPr>
              <a:spLocks noChangeShapeType="1"/>
            </p:cNvSpPr>
            <p:nvPr/>
          </p:nvSpPr>
          <p:spPr bwMode="auto">
            <a:xfrm>
              <a:off x="960" y="1008"/>
              <a:ext cx="0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55" name="Arc 48"/>
            <p:cNvSpPr>
              <a:spLocks/>
            </p:cNvSpPr>
            <p:nvPr/>
          </p:nvSpPr>
          <p:spPr bwMode="auto">
            <a:xfrm rot="10800000">
              <a:off x="930" y="337"/>
              <a:ext cx="1565" cy="1679"/>
            </a:xfrm>
            <a:custGeom>
              <a:avLst/>
              <a:gdLst>
                <a:gd name="T0" fmla="*/ 17 w 20435"/>
                <a:gd name="T1" fmla="*/ 0 h 21415"/>
                <a:gd name="T2" fmla="*/ 120 w 20435"/>
                <a:gd name="T3" fmla="*/ 89 h 21415"/>
                <a:gd name="T4" fmla="*/ 0 w 20435"/>
                <a:gd name="T5" fmla="*/ 132 h 21415"/>
                <a:gd name="T6" fmla="*/ 0 60000 65536"/>
                <a:gd name="T7" fmla="*/ 0 60000 65536"/>
                <a:gd name="T8" fmla="*/ 0 60000 65536"/>
                <a:gd name="T9" fmla="*/ 0 w 20435"/>
                <a:gd name="T10" fmla="*/ 0 h 21415"/>
                <a:gd name="T11" fmla="*/ 20435 w 20435"/>
                <a:gd name="T12" fmla="*/ 21415 h 2141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35" h="21415" fill="none" extrusionOk="0">
                  <a:moveTo>
                    <a:pt x="2819" y="-1"/>
                  </a:moveTo>
                  <a:cubicBezTo>
                    <a:pt x="10952" y="1070"/>
                    <a:pt x="17776" y="6655"/>
                    <a:pt x="20434" y="14416"/>
                  </a:cubicBezTo>
                </a:path>
                <a:path w="20435" h="21415" stroke="0" extrusionOk="0">
                  <a:moveTo>
                    <a:pt x="2819" y="-1"/>
                  </a:moveTo>
                  <a:cubicBezTo>
                    <a:pt x="10952" y="1070"/>
                    <a:pt x="17776" y="6655"/>
                    <a:pt x="20434" y="14416"/>
                  </a:cubicBezTo>
                  <a:lnTo>
                    <a:pt x="0" y="21415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56" name="Line 58"/>
            <p:cNvSpPr>
              <a:spLocks noChangeShapeType="1"/>
            </p:cNvSpPr>
            <p:nvPr/>
          </p:nvSpPr>
          <p:spPr bwMode="auto">
            <a:xfrm>
              <a:off x="960" y="1008"/>
              <a:ext cx="336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86"/>
          <p:cNvGrpSpPr>
            <a:grpSpLocks/>
          </p:cNvGrpSpPr>
          <p:nvPr/>
        </p:nvGrpSpPr>
        <p:grpSpPr bwMode="auto">
          <a:xfrm>
            <a:off x="4648200" y="1066800"/>
            <a:ext cx="3968750" cy="4267200"/>
            <a:chOff x="2928" y="672"/>
            <a:chExt cx="2500" cy="2688"/>
          </a:xfrm>
        </p:grpSpPr>
        <p:sp>
          <p:nvSpPr>
            <p:cNvPr id="90133" name="Line 59"/>
            <p:cNvSpPr>
              <a:spLocks noChangeShapeType="1"/>
            </p:cNvSpPr>
            <p:nvPr/>
          </p:nvSpPr>
          <p:spPr bwMode="auto">
            <a:xfrm>
              <a:off x="3087" y="1624"/>
              <a:ext cx="2193" cy="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134" name="Line 60"/>
            <p:cNvSpPr>
              <a:spLocks noChangeShapeType="1"/>
            </p:cNvSpPr>
            <p:nvPr/>
          </p:nvSpPr>
          <p:spPr bwMode="auto">
            <a:xfrm flipV="1">
              <a:off x="3408" y="768"/>
              <a:ext cx="0" cy="14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135" name="Text Box 61"/>
            <p:cNvSpPr txBox="1">
              <a:spLocks noChangeArrowheads="1"/>
            </p:cNvSpPr>
            <p:nvPr/>
          </p:nvSpPr>
          <p:spPr bwMode="auto">
            <a:xfrm>
              <a:off x="3024" y="720"/>
              <a:ext cx="341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00" i="1"/>
                <a:t>y</a:t>
              </a:r>
            </a:p>
          </p:txBody>
        </p:sp>
        <p:sp>
          <p:nvSpPr>
            <p:cNvPr id="90136" name="Text Box 62"/>
            <p:cNvSpPr txBox="1">
              <a:spLocks noChangeArrowheads="1"/>
            </p:cNvSpPr>
            <p:nvPr/>
          </p:nvSpPr>
          <p:spPr bwMode="auto">
            <a:xfrm>
              <a:off x="5088" y="1584"/>
              <a:ext cx="340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00"/>
                <a:t>x</a:t>
              </a:r>
            </a:p>
          </p:txBody>
        </p:sp>
        <p:sp>
          <p:nvSpPr>
            <p:cNvPr id="90137" name="Text Box 63"/>
            <p:cNvSpPr txBox="1">
              <a:spLocks noChangeArrowheads="1"/>
            </p:cNvSpPr>
            <p:nvPr/>
          </p:nvSpPr>
          <p:spPr bwMode="auto">
            <a:xfrm>
              <a:off x="3168" y="1584"/>
              <a:ext cx="340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zh-CN" sz="3000"/>
                <a:t>0</a:t>
              </a:r>
            </a:p>
          </p:txBody>
        </p:sp>
        <p:sp>
          <p:nvSpPr>
            <p:cNvPr id="90138" name="Rectangle 64"/>
            <p:cNvSpPr>
              <a:spLocks noChangeArrowheads="1"/>
            </p:cNvSpPr>
            <p:nvPr/>
          </p:nvSpPr>
          <p:spPr bwMode="auto">
            <a:xfrm>
              <a:off x="4692" y="1345"/>
              <a:ext cx="53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/>
                <a:t>B=</a:t>
              </a:r>
              <a:r>
                <a:rPr lang="en-US" altLang="zh-CN" sz="2400" i="1">
                  <a:latin typeface="Times New Roman" pitchFamily="18" charset="0"/>
                </a:rPr>
                <a:t>x</a:t>
              </a:r>
              <a:r>
                <a:rPr lang="en-US" altLang="zh-CN" sz="2400" i="1" baseline="-25000"/>
                <a:t>0</a:t>
              </a:r>
              <a:endParaRPr lang="zh-CN" altLang="zh-CN" sz="2400" i="1" baseline="-25000"/>
            </a:p>
          </p:txBody>
        </p:sp>
        <p:sp>
          <p:nvSpPr>
            <p:cNvPr id="90139" name="Rectangle 65"/>
            <p:cNvSpPr>
              <a:spLocks noChangeArrowheads="1"/>
            </p:cNvSpPr>
            <p:nvPr/>
          </p:nvSpPr>
          <p:spPr bwMode="auto">
            <a:xfrm>
              <a:off x="3789" y="672"/>
              <a:ext cx="73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solidFill>
                    <a:srgbClr val="0000FF"/>
                  </a:solidFill>
                  <a:latin typeface="Times New Roman" pitchFamily="18" charset="0"/>
                </a:rPr>
                <a:t>f’’(x)&lt;0</a:t>
              </a:r>
              <a:endParaRPr lang="zh-CN" altLang="en-US" sz="2400" i="1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sp>
          <p:nvSpPr>
            <p:cNvPr id="90140" name="Line 66"/>
            <p:cNvSpPr>
              <a:spLocks noChangeShapeType="1"/>
            </p:cNvSpPr>
            <p:nvPr/>
          </p:nvSpPr>
          <p:spPr bwMode="auto">
            <a:xfrm>
              <a:off x="4944" y="1632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41" name="Rectangle 67"/>
            <p:cNvSpPr>
              <a:spLocks noChangeArrowheads="1"/>
            </p:cNvSpPr>
            <p:nvPr/>
          </p:nvSpPr>
          <p:spPr bwMode="auto">
            <a:xfrm>
              <a:off x="3648" y="1574"/>
              <a:ext cx="249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000" i="1">
                  <a:sym typeface="Symbol" pitchFamily="18" charset="2"/>
                </a:rPr>
                <a:t>a</a:t>
              </a:r>
              <a:endParaRPr lang="zh-CN" altLang="zh-CN" sz="2400" i="1" baseline="-25000"/>
            </a:p>
          </p:txBody>
        </p:sp>
        <p:sp>
          <p:nvSpPr>
            <p:cNvPr id="90142" name="Line 68"/>
            <p:cNvSpPr>
              <a:spLocks noChangeShapeType="1"/>
            </p:cNvSpPr>
            <p:nvPr/>
          </p:nvSpPr>
          <p:spPr bwMode="auto">
            <a:xfrm>
              <a:off x="3744" y="960"/>
              <a:ext cx="0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43" name="Arc 70"/>
            <p:cNvSpPr>
              <a:spLocks/>
            </p:cNvSpPr>
            <p:nvPr/>
          </p:nvSpPr>
          <p:spPr bwMode="auto">
            <a:xfrm rot="10800000" flipH="1" flipV="1">
              <a:off x="2928" y="864"/>
              <a:ext cx="2064" cy="2496"/>
            </a:xfrm>
            <a:custGeom>
              <a:avLst/>
              <a:gdLst>
                <a:gd name="T0" fmla="*/ 83 w 19506"/>
                <a:gd name="T1" fmla="*/ 0 h 20284"/>
                <a:gd name="T2" fmla="*/ 218 w 19506"/>
                <a:gd name="T3" fmla="*/ 167 h 20284"/>
                <a:gd name="T4" fmla="*/ 0 w 19506"/>
                <a:gd name="T5" fmla="*/ 307 h 20284"/>
                <a:gd name="T6" fmla="*/ 0 60000 65536"/>
                <a:gd name="T7" fmla="*/ 0 60000 65536"/>
                <a:gd name="T8" fmla="*/ 0 60000 65536"/>
                <a:gd name="T9" fmla="*/ 0 w 19506"/>
                <a:gd name="T10" fmla="*/ 0 h 20284"/>
                <a:gd name="T11" fmla="*/ 19506 w 19506"/>
                <a:gd name="T12" fmla="*/ 20284 h 202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506" h="20284" fill="none" extrusionOk="0">
                  <a:moveTo>
                    <a:pt x="7423" y="-1"/>
                  </a:moveTo>
                  <a:cubicBezTo>
                    <a:pt x="12736" y="1944"/>
                    <a:pt x="17075" y="5896"/>
                    <a:pt x="19505" y="11006"/>
                  </a:cubicBezTo>
                </a:path>
                <a:path w="19506" h="20284" stroke="0" extrusionOk="0">
                  <a:moveTo>
                    <a:pt x="7423" y="-1"/>
                  </a:moveTo>
                  <a:cubicBezTo>
                    <a:pt x="12736" y="1944"/>
                    <a:pt x="17075" y="5896"/>
                    <a:pt x="19505" y="11006"/>
                  </a:cubicBezTo>
                  <a:lnTo>
                    <a:pt x="0" y="20284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44" name="Line 71"/>
            <p:cNvSpPr>
              <a:spLocks noChangeShapeType="1"/>
            </p:cNvSpPr>
            <p:nvPr/>
          </p:nvSpPr>
          <p:spPr bwMode="auto">
            <a:xfrm flipH="1" flipV="1">
              <a:off x="4752" y="1632"/>
              <a:ext cx="192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" name="Group 87"/>
          <p:cNvGrpSpPr>
            <a:grpSpLocks/>
          </p:cNvGrpSpPr>
          <p:nvPr/>
        </p:nvGrpSpPr>
        <p:grpSpPr bwMode="auto">
          <a:xfrm>
            <a:off x="4800600" y="3673475"/>
            <a:ext cx="4572000" cy="3886200"/>
            <a:chOff x="3024" y="2314"/>
            <a:chExt cx="2880" cy="2448"/>
          </a:xfrm>
        </p:grpSpPr>
        <p:sp>
          <p:nvSpPr>
            <p:cNvPr id="90121" name="Line 72"/>
            <p:cNvSpPr>
              <a:spLocks noChangeShapeType="1"/>
            </p:cNvSpPr>
            <p:nvPr/>
          </p:nvSpPr>
          <p:spPr bwMode="auto">
            <a:xfrm>
              <a:off x="3087" y="3266"/>
              <a:ext cx="2193" cy="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122" name="Line 73"/>
            <p:cNvSpPr>
              <a:spLocks noChangeShapeType="1"/>
            </p:cNvSpPr>
            <p:nvPr/>
          </p:nvSpPr>
          <p:spPr bwMode="auto">
            <a:xfrm flipV="1">
              <a:off x="3408" y="2410"/>
              <a:ext cx="0" cy="14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123" name="Text Box 74"/>
            <p:cNvSpPr txBox="1">
              <a:spLocks noChangeArrowheads="1"/>
            </p:cNvSpPr>
            <p:nvPr/>
          </p:nvSpPr>
          <p:spPr bwMode="auto">
            <a:xfrm>
              <a:off x="3024" y="2362"/>
              <a:ext cx="341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00" i="1"/>
                <a:t>y</a:t>
              </a:r>
            </a:p>
          </p:txBody>
        </p:sp>
        <p:sp>
          <p:nvSpPr>
            <p:cNvPr id="90124" name="Text Box 75"/>
            <p:cNvSpPr txBox="1">
              <a:spLocks noChangeArrowheads="1"/>
            </p:cNvSpPr>
            <p:nvPr/>
          </p:nvSpPr>
          <p:spPr bwMode="auto">
            <a:xfrm>
              <a:off x="5088" y="3226"/>
              <a:ext cx="340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00"/>
                <a:t>x</a:t>
              </a:r>
            </a:p>
          </p:txBody>
        </p:sp>
        <p:sp>
          <p:nvSpPr>
            <p:cNvPr id="90125" name="Text Box 76"/>
            <p:cNvSpPr txBox="1">
              <a:spLocks noChangeArrowheads="1"/>
            </p:cNvSpPr>
            <p:nvPr/>
          </p:nvSpPr>
          <p:spPr bwMode="auto">
            <a:xfrm>
              <a:off x="3168" y="3226"/>
              <a:ext cx="340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zh-CN" sz="3000"/>
                <a:t>0</a:t>
              </a:r>
            </a:p>
          </p:txBody>
        </p:sp>
        <p:sp>
          <p:nvSpPr>
            <p:cNvPr id="90126" name="Rectangle 77"/>
            <p:cNvSpPr>
              <a:spLocks noChangeArrowheads="1"/>
            </p:cNvSpPr>
            <p:nvPr/>
          </p:nvSpPr>
          <p:spPr bwMode="auto">
            <a:xfrm>
              <a:off x="4800" y="3360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/>
                <a:t>B</a:t>
              </a:r>
              <a:endParaRPr lang="zh-CN" altLang="zh-CN" sz="2400" i="1" baseline="-25000"/>
            </a:p>
          </p:txBody>
        </p:sp>
        <p:sp>
          <p:nvSpPr>
            <p:cNvPr id="90127" name="Rectangle 78"/>
            <p:cNvSpPr>
              <a:spLocks noChangeArrowheads="1"/>
            </p:cNvSpPr>
            <p:nvPr/>
          </p:nvSpPr>
          <p:spPr bwMode="auto">
            <a:xfrm>
              <a:off x="3789" y="2314"/>
              <a:ext cx="73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solidFill>
                    <a:srgbClr val="0000FF"/>
                  </a:solidFill>
                  <a:latin typeface="Times New Roman" pitchFamily="18" charset="0"/>
                </a:rPr>
                <a:t>f’’(x)&lt;0</a:t>
              </a:r>
              <a:endParaRPr lang="zh-CN" altLang="en-US" sz="2400" i="1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sp>
          <p:nvSpPr>
            <p:cNvPr id="90128" name="Line 79"/>
            <p:cNvSpPr>
              <a:spLocks noChangeShapeType="1"/>
            </p:cNvSpPr>
            <p:nvPr/>
          </p:nvSpPr>
          <p:spPr bwMode="auto">
            <a:xfrm>
              <a:off x="4944" y="2688"/>
              <a:ext cx="0" cy="5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29" name="Rectangle 80"/>
            <p:cNvSpPr>
              <a:spLocks noChangeArrowheads="1"/>
            </p:cNvSpPr>
            <p:nvPr/>
          </p:nvSpPr>
          <p:spPr bwMode="auto">
            <a:xfrm>
              <a:off x="3470" y="2928"/>
              <a:ext cx="606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000" i="1">
                  <a:sym typeface="Symbol" pitchFamily="18" charset="2"/>
                </a:rPr>
                <a:t>a </a:t>
              </a:r>
              <a:r>
                <a:rPr lang="en-US" altLang="zh-CN" sz="2400" i="1"/>
                <a:t>=x</a:t>
              </a:r>
              <a:r>
                <a:rPr lang="en-US" altLang="zh-CN" sz="2400" i="1" baseline="-25000"/>
                <a:t>0</a:t>
              </a:r>
              <a:endParaRPr lang="zh-CN" altLang="zh-CN" sz="2400" i="1" baseline="-25000"/>
            </a:p>
          </p:txBody>
        </p:sp>
        <p:sp>
          <p:nvSpPr>
            <p:cNvPr id="90130" name="Line 81"/>
            <p:cNvSpPr>
              <a:spLocks noChangeShapeType="1"/>
            </p:cNvSpPr>
            <p:nvPr/>
          </p:nvSpPr>
          <p:spPr bwMode="auto">
            <a:xfrm>
              <a:off x="3744" y="3264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31" name="Arc 82"/>
            <p:cNvSpPr>
              <a:spLocks/>
            </p:cNvSpPr>
            <p:nvPr/>
          </p:nvSpPr>
          <p:spPr bwMode="auto">
            <a:xfrm rot="10800000" flipV="1">
              <a:off x="3696" y="2640"/>
              <a:ext cx="2208" cy="2122"/>
            </a:xfrm>
            <a:custGeom>
              <a:avLst/>
              <a:gdLst>
                <a:gd name="T0" fmla="*/ 95 w 19506"/>
                <a:gd name="T1" fmla="*/ 0 h 20284"/>
                <a:gd name="T2" fmla="*/ 250 w 19506"/>
                <a:gd name="T3" fmla="*/ 120 h 20284"/>
                <a:gd name="T4" fmla="*/ 0 w 19506"/>
                <a:gd name="T5" fmla="*/ 222 h 20284"/>
                <a:gd name="T6" fmla="*/ 0 60000 65536"/>
                <a:gd name="T7" fmla="*/ 0 60000 65536"/>
                <a:gd name="T8" fmla="*/ 0 60000 65536"/>
                <a:gd name="T9" fmla="*/ 0 w 19506"/>
                <a:gd name="T10" fmla="*/ 0 h 20284"/>
                <a:gd name="T11" fmla="*/ 19506 w 19506"/>
                <a:gd name="T12" fmla="*/ 20284 h 202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506" h="20284" fill="none" extrusionOk="0">
                  <a:moveTo>
                    <a:pt x="7423" y="-1"/>
                  </a:moveTo>
                  <a:cubicBezTo>
                    <a:pt x="12736" y="1944"/>
                    <a:pt x="17075" y="5896"/>
                    <a:pt x="19505" y="11006"/>
                  </a:cubicBezTo>
                </a:path>
                <a:path w="19506" h="20284" stroke="0" extrusionOk="0">
                  <a:moveTo>
                    <a:pt x="7423" y="-1"/>
                  </a:moveTo>
                  <a:cubicBezTo>
                    <a:pt x="12736" y="1944"/>
                    <a:pt x="17075" y="5896"/>
                    <a:pt x="19505" y="11006"/>
                  </a:cubicBezTo>
                  <a:lnTo>
                    <a:pt x="0" y="20284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32" name="Line 84"/>
            <p:cNvSpPr>
              <a:spLocks noChangeShapeType="1"/>
            </p:cNvSpPr>
            <p:nvPr/>
          </p:nvSpPr>
          <p:spPr bwMode="auto">
            <a:xfrm flipH="1">
              <a:off x="3696" y="3264"/>
              <a:ext cx="240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EB2D8C-C595-4C75-A410-92E615560A69}" type="slidenum">
              <a:rPr lang="zh-CN" altLang="en-US" smtClean="0"/>
              <a:pPr>
                <a:defRPr/>
              </a:pPr>
              <a:t>75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F4F2C565-DEEA-484F-99D9-2BCC1484ACAF}" type="datetime1">
              <a:rPr lang="zh-CN" altLang="en-US" smtClean="0"/>
              <a:pPr>
                <a:defRPr/>
              </a:pPr>
              <a:t>2024/9/22</a:t>
            </a:fld>
            <a:endParaRPr lang="en-US" altLang="zh-CN" sz="1000"/>
          </a:p>
        </p:txBody>
      </p:sp>
      <p:sp>
        <p:nvSpPr>
          <p:cNvPr id="6" name="AutoShape 2" descr="再生纸"/>
          <p:cNvSpPr>
            <a:spLocks noChangeArrowheads="1"/>
          </p:cNvSpPr>
          <p:nvPr/>
        </p:nvSpPr>
        <p:spPr bwMode="auto">
          <a:xfrm>
            <a:off x="468315" y="620713"/>
            <a:ext cx="8207375" cy="901700"/>
          </a:xfrm>
          <a:prstGeom prst="roundRect">
            <a:avLst>
              <a:gd name="adj" fmla="val 16667"/>
            </a:avLst>
          </a:prstGeom>
          <a:blipFill dpi="0" rotWithShape="0">
            <a:blip r:embed="rId7"/>
            <a:srcRect/>
            <a:tile tx="0" ty="0" sx="100000" sy="100000" flip="none" algn="tl"/>
          </a:blipFill>
          <a:ln>
            <a:noFill/>
          </a:ln>
          <a:effectLst>
            <a:prstShdw prst="shdw17" dist="17961" dir="2700000">
              <a:srgbClr val="FFFFFF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l" eaLnBrk="1" hangingPunct="1"/>
            <a:r>
              <a:rPr lang="zh-CN" altLang="en-US" sz="2400">
                <a:solidFill>
                  <a:srgbClr val="FF003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1" charset="-122"/>
              </a:rPr>
              <a:t>注：</a:t>
            </a:r>
            <a:r>
              <a:rPr lang="zh-CN" altLang="zh-CN" sz="2400">
                <a:solidFill>
                  <a:srgbClr val="0033CC"/>
                </a:solidFill>
                <a:latin typeface="Times New Roman" pitchFamily="18" charset="0"/>
                <a:ea typeface="楷体_GB2312" pitchFamily="1" charset="-122"/>
              </a:rPr>
              <a:t>Newton</a:t>
            </a:r>
            <a:r>
              <a:rPr lang="zh-CN" altLang="en-US" sz="2400">
                <a:solidFill>
                  <a:srgbClr val="0033CC"/>
                </a:solidFill>
                <a:latin typeface="Times New Roman" pitchFamily="18" charset="0"/>
                <a:ea typeface="楷体_GB2312" pitchFamily="1" charset="-122"/>
              </a:rPr>
              <a:t>法的收敛性依赖于</a:t>
            </a:r>
            <a:r>
              <a:rPr lang="zh-CN" altLang="zh-CN" sz="2400" i="1">
                <a:solidFill>
                  <a:srgbClr val="0033CC"/>
                </a:solidFill>
                <a:latin typeface="Times New Roman" pitchFamily="18" charset="0"/>
                <a:ea typeface="楷体_GB2312" pitchFamily="1" charset="-122"/>
              </a:rPr>
              <a:t>x</a:t>
            </a:r>
            <a:r>
              <a:rPr lang="zh-CN" altLang="zh-CN" sz="2400" baseline="-25000">
                <a:solidFill>
                  <a:srgbClr val="0033CC"/>
                </a:solidFill>
                <a:latin typeface="Times New Roman" pitchFamily="18" charset="0"/>
                <a:ea typeface="楷体_GB2312" pitchFamily="1" charset="-122"/>
              </a:rPr>
              <a:t>0</a:t>
            </a:r>
            <a:r>
              <a:rPr lang="zh-CN" altLang="zh-CN" sz="2400">
                <a:solidFill>
                  <a:srgbClr val="0033CC"/>
                </a:solidFill>
                <a:latin typeface="Times New Roman" pitchFamily="18" charset="0"/>
                <a:ea typeface="楷体_GB2312" pitchFamily="1" charset="-122"/>
              </a:rPr>
              <a:t> </a:t>
            </a:r>
            <a:r>
              <a:rPr lang="zh-CN" altLang="en-US" sz="2400">
                <a:solidFill>
                  <a:srgbClr val="0033CC"/>
                </a:solidFill>
                <a:latin typeface="Times New Roman" pitchFamily="18" charset="0"/>
                <a:ea typeface="楷体_GB2312" pitchFamily="1" charset="-122"/>
              </a:rPr>
              <a:t>的选取。</a:t>
            </a:r>
          </a:p>
        </p:txBody>
      </p:sp>
      <p:sp>
        <p:nvSpPr>
          <p:cNvPr id="7" name="Line 3"/>
          <p:cNvSpPr>
            <a:spLocks noChangeShapeType="1"/>
          </p:cNvSpPr>
          <p:nvPr/>
        </p:nvSpPr>
        <p:spPr bwMode="auto">
          <a:xfrm>
            <a:off x="762000" y="3733800"/>
            <a:ext cx="7620000" cy="0"/>
          </a:xfrm>
          <a:prstGeom prst="line">
            <a:avLst/>
          </a:prstGeom>
          <a:noFill/>
          <a:ln w="15875" cmpd="sng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 eaLnBrk="1" hangingPunct="1"/>
            <a:endParaRPr lang="zh-CN" altLang="en-US" sz="1800" b="0">
              <a:solidFill>
                <a:srgbClr val="0033CC"/>
              </a:solidFill>
              <a:latin typeface="Arial" pitchFamily="34" charset="0"/>
            </a:endParaRPr>
          </a:p>
        </p:txBody>
      </p:sp>
      <p:grpSp>
        <p:nvGrpSpPr>
          <p:cNvPr id="8" name="Group 4"/>
          <p:cNvGrpSpPr>
            <a:grpSpLocks/>
          </p:cNvGrpSpPr>
          <p:nvPr/>
        </p:nvGrpSpPr>
        <p:grpSpPr bwMode="auto">
          <a:xfrm>
            <a:off x="1143000" y="2590800"/>
            <a:ext cx="6781800" cy="2298700"/>
            <a:chOff x="0" y="0"/>
            <a:chExt cx="4272" cy="1448"/>
          </a:xfrm>
        </p:grpSpPr>
        <p:sp>
          <p:nvSpPr>
            <p:cNvPr id="9" name="未知"/>
            <p:cNvSpPr>
              <a:spLocks/>
            </p:cNvSpPr>
            <p:nvPr/>
          </p:nvSpPr>
          <p:spPr bwMode="auto">
            <a:xfrm>
              <a:off x="0" y="728"/>
              <a:ext cx="1200" cy="720"/>
            </a:xfrm>
            <a:custGeom>
              <a:avLst/>
              <a:gdLst>
                <a:gd name="T0" fmla="*/ 0 w 1200"/>
                <a:gd name="T1" fmla="*/ 720 h 720"/>
                <a:gd name="T2" fmla="*/ 384 w 1200"/>
                <a:gd name="T3" fmla="*/ 672 h 720"/>
                <a:gd name="T4" fmla="*/ 816 w 1200"/>
                <a:gd name="T5" fmla="*/ 480 h 720"/>
                <a:gd name="T6" fmla="*/ 1200 w 1200"/>
                <a:gd name="T7" fmla="*/ 0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00" h="720">
                  <a:moveTo>
                    <a:pt x="0" y="720"/>
                  </a:moveTo>
                  <a:cubicBezTo>
                    <a:pt x="124" y="716"/>
                    <a:pt x="248" y="712"/>
                    <a:pt x="384" y="672"/>
                  </a:cubicBezTo>
                  <a:cubicBezTo>
                    <a:pt x="520" y="632"/>
                    <a:pt x="680" y="592"/>
                    <a:pt x="816" y="480"/>
                  </a:cubicBezTo>
                  <a:cubicBezTo>
                    <a:pt x="952" y="368"/>
                    <a:pt x="1076" y="184"/>
                    <a:pt x="1200" y="0"/>
                  </a:cubicBezTo>
                </a:path>
              </a:pathLst>
            </a:custGeom>
            <a:noFill/>
            <a:ln w="317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l" eaLnBrk="1" hangingPunct="1"/>
              <a:endParaRPr lang="zh-CN" altLang="en-US" sz="1800" b="0">
                <a:solidFill>
                  <a:srgbClr val="0033CC"/>
                </a:solidFill>
                <a:latin typeface="Arial" pitchFamily="34" charset="0"/>
              </a:endParaRPr>
            </a:p>
          </p:txBody>
        </p:sp>
        <p:sp>
          <p:nvSpPr>
            <p:cNvPr id="10" name="未知"/>
            <p:cNvSpPr>
              <a:spLocks/>
            </p:cNvSpPr>
            <p:nvPr/>
          </p:nvSpPr>
          <p:spPr bwMode="auto">
            <a:xfrm flipH="1" flipV="1">
              <a:off x="1200" y="8"/>
              <a:ext cx="1200" cy="720"/>
            </a:xfrm>
            <a:custGeom>
              <a:avLst/>
              <a:gdLst>
                <a:gd name="T0" fmla="*/ 0 w 1200"/>
                <a:gd name="T1" fmla="*/ 720 h 720"/>
                <a:gd name="T2" fmla="*/ 384 w 1200"/>
                <a:gd name="T3" fmla="*/ 672 h 720"/>
                <a:gd name="T4" fmla="*/ 816 w 1200"/>
                <a:gd name="T5" fmla="*/ 480 h 720"/>
                <a:gd name="T6" fmla="*/ 1200 w 1200"/>
                <a:gd name="T7" fmla="*/ 0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00" h="720">
                  <a:moveTo>
                    <a:pt x="0" y="720"/>
                  </a:moveTo>
                  <a:cubicBezTo>
                    <a:pt x="124" y="716"/>
                    <a:pt x="248" y="712"/>
                    <a:pt x="384" y="672"/>
                  </a:cubicBezTo>
                  <a:cubicBezTo>
                    <a:pt x="520" y="632"/>
                    <a:pt x="680" y="592"/>
                    <a:pt x="816" y="480"/>
                  </a:cubicBezTo>
                  <a:cubicBezTo>
                    <a:pt x="952" y="368"/>
                    <a:pt x="1076" y="184"/>
                    <a:pt x="1200" y="0"/>
                  </a:cubicBezTo>
                </a:path>
              </a:pathLst>
            </a:custGeom>
            <a:noFill/>
            <a:ln w="317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l" eaLnBrk="1" hangingPunct="1"/>
              <a:endParaRPr lang="zh-CN" altLang="en-US" sz="1800" b="0">
                <a:solidFill>
                  <a:srgbClr val="0033CC"/>
                </a:solidFill>
                <a:latin typeface="Arial" pitchFamily="34" charset="0"/>
              </a:endParaRPr>
            </a:p>
          </p:txBody>
        </p:sp>
        <p:sp>
          <p:nvSpPr>
            <p:cNvPr id="11" name="未知"/>
            <p:cNvSpPr>
              <a:spLocks/>
            </p:cNvSpPr>
            <p:nvPr/>
          </p:nvSpPr>
          <p:spPr bwMode="auto">
            <a:xfrm>
              <a:off x="2400" y="0"/>
              <a:ext cx="1872" cy="680"/>
            </a:xfrm>
            <a:custGeom>
              <a:avLst/>
              <a:gdLst>
                <a:gd name="T0" fmla="*/ 0 w 1872"/>
                <a:gd name="T1" fmla="*/ 8 h 680"/>
                <a:gd name="T2" fmla="*/ 144 w 1872"/>
                <a:gd name="T3" fmla="*/ 8 h 680"/>
                <a:gd name="T4" fmla="*/ 432 w 1872"/>
                <a:gd name="T5" fmla="*/ 56 h 680"/>
                <a:gd name="T6" fmla="*/ 768 w 1872"/>
                <a:gd name="T7" fmla="*/ 296 h 680"/>
                <a:gd name="T8" fmla="*/ 1056 w 1872"/>
                <a:gd name="T9" fmla="*/ 536 h 680"/>
                <a:gd name="T10" fmla="*/ 1296 w 1872"/>
                <a:gd name="T11" fmla="*/ 632 h 680"/>
                <a:gd name="T12" fmla="*/ 1872 w 1872"/>
                <a:gd name="T13" fmla="*/ 680 h 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72" h="680">
                  <a:moveTo>
                    <a:pt x="0" y="8"/>
                  </a:moveTo>
                  <a:cubicBezTo>
                    <a:pt x="36" y="4"/>
                    <a:pt x="72" y="0"/>
                    <a:pt x="144" y="8"/>
                  </a:cubicBezTo>
                  <a:cubicBezTo>
                    <a:pt x="216" y="16"/>
                    <a:pt x="328" y="8"/>
                    <a:pt x="432" y="56"/>
                  </a:cubicBezTo>
                  <a:cubicBezTo>
                    <a:pt x="536" y="104"/>
                    <a:pt x="664" y="216"/>
                    <a:pt x="768" y="296"/>
                  </a:cubicBezTo>
                  <a:cubicBezTo>
                    <a:pt x="872" y="376"/>
                    <a:pt x="968" y="480"/>
                    <a:pt x="1056" y="536"/>
                  </a:cubicBezTo>
                  <a:cubicBezTo>
                    <a:pt x="1144" y="592"/>
                    <a:pt x="1160" y="608"/>
                    <a:pt x="1296" y="632"/>
                  </a:cubicBezTo>
                  <a:cubicBezTo>
                    <a:pt x="1432" y="656"/>
                    <a:pt x="1652" y="668"/>
                    <a:pt x="1872" y="680"/>
                  </a:cubicBezTo>
                </a:path>
              </a:pathLst>
            </a:custGeom>
            <a:noFill/>
            <a:ln w="317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l" eaLnBrk="1" hangingPunct="1"/>
              <a:endParaRPr lang="zh-CN" altLang="en-US" sz="1800" b="0">
                <a:solidFill>
                  <a:srgbClr val="0033CC"/>
                </a:solidFill>
                <a:latin typeface="Arial" pitchFamily="34" charset="0"/>
              </a:endParaRPr>
            </a:p>
          </p:txBody>
        </p:sp>
      </p:grpSp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2895600" y="36576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zh-CN" sz="2400" i="1">
                <a:solidFill>
                  <a:srgbClr val="FF3300"/>
                </a:solidFill>
                <a:latin typeface="Times New Roman" pitchFamily="18" charset="0"/>
              </a:rPr>
              <a:t>x</a:t>
            </a:r>
            <a:r>
              <a:rPr lang="zh-CN" altLang="zh-CN" sz="2400">
                <a:solidFill>
                  <a:srgbClr val="FF3300"/>
                </a:solidFill>
                <a:latin typeface="Times New Roman" pitchFamily="18" charset="0"/>
              </a:rPr>
              <a:t>*</a:t>
            </a:r>
            <a:endParaRPr lang="zh-CN" altLang="zh-CN" sz="2400" i="1">
              <a:solidFill>
                <a:srgbClr val="FF3300"/>
              </a:solidFill>
              <a:latin typeface="Times New Roman" pitchFamily="18" charset="0"/>
            </a:endParaRPr>
          </a:p>
        </p:txBody>
      </p:sp>
      <p:grpSp>
        <p:nvGrpSpPr>
          <p:cNvPr id="13" name="Group 9"/>
          <p:cNvGrpSpPr>
            <a:grpSpLocks/>
          </p:cNvGrpSpPr>
          <p:nvPr/>
        </p:nvGrpSpPr>
        <p:grpSpPr bwMode="auto">
          <a:xfrm>
            <a:off x="2133600" y="3276600"/>
            <a:ext cx="457200" cy="1335088"/>
            <a:chOff x="0" y="0"/>
            <a:chExt cx="288" cy="841"/>
          </a:xfrm>
        </p:grpSpPr>
        <p:sp>
          <p:nvSpPr>
            <p:cNvPr id="14" name="Text Box 10"/>
            <p:cNvSpPr txBox="1">
              <a:spLocks noChangeArrowheads="1"/>
            </p:cNvSpPr>
            <p:nvPr/>
          </p:nvSpPr>
          <p:spPr bwMode="auto">
            <a:xfrm>
              <a:off x="0" y="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zh-CN" sz="2400" i="1">
                  <a:solidFill>
                    <a:srgbClr val="008000"/>
                  </a:solidFill>
                  <a:latin typeface="Times New Roman" pitchFamily="18" charset="0"/>
                </a:rPr>
                <a:t>x</a:t>
              </a:r>
              <a:r>
                <a:rPr lang="zh-CN" altLang="zh-CN" sz="2400" baseline="-25000">
                  <a:solidFill>
                    <a:srgbClr val="008000"/>
                  </a:solidFill>
                  <a:latin typeface="Times New Roman" pitchFamily="18" charset="0"/>
                </a:rPr>
                <a:t>0</a:t>
              </a:r>
              <a:endParaRPr lang="zh-CN" altLang="zh-CN" sz="2400" i="1">
                <a:solidFill>
                  <a:srgbClr val="008000"/>
                </a:solidFill>
                <a:latin typeface="Times New Roman" pitchFamily="18" charset="0"/>
              </a:endParaRPr>
            </a:p>
          </p:txBody>
        </p:sp>
        <p:sp>
          <p:nvSpPr>
            <p:cNvPr id="15" name="Line 11"/>
            <p:cNvSpPr>
              <a:spLocks noChangeShapeType="1"/>
            </p:cNvSpPr>
            <p:nvPr/>
          </p:nvSpPr>
          <p:spPr bwMode="auto">
            <a:xfrm>
              <a:off x="96" y="288"/>
              <a:ext cx="0" cy="553"/>
            </a:xfrm>
            <a:prstGeom prst="line">
              <a:avLst/>
            </a:prstGeom>
            <a:noFill/>
            <a:ln w="15875" cmpd="sng">
              <a:solidFill>
                <a:srgbClr val="008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l" eaLnBrk="1" hangingPunct="1"/>
              <a:endParaRPr lang="zh-CN" altLang="en-US" sz="1800" b="0">
                <a:solidFill>
                  <a:srgbClr val="0033CC"/>
                </a:solidFill>
                <a:latin typeface="Arial" pitchFamily="34" charset="0"/>
              </a:endParaRPr>
            </a:p>
          </p:txBody>
        </p:sp>
      </p:grpSp>
      <p:sp>
        <p:nvSpPr>
          <p:cNvPr id="16" name="Line 12"/>
          <p:cNvSpPr>
            <a:spLocks noChangeShapeType="1"/>
          </p:cNvSpPr>
          <p:nvPr/>
        </p:nvSpPr>
        <p:spPr bwMode="auto">
          <a:xfrm flipV="1">
            <a:off x="2286000" y="3733800"/>
            <a:ext cx="1295400" cy="877888"/>
          </a:xfrm>
          <a:prstGeom prst="line">
            <a:avLst/>
          </a:prstGeom>
          <a:noFill/>
          <a:ln w="15875" cmpd="sng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 eaLnBrk="1" hangingPunct="1"/>
            <a:endParaRPr lang="zh-CN" altLang="en-US" sz="1800" b="0">
              <a:solidFill>
                <a:srgbClr val="0033CC"/>
              </a:solidFill>
              <a:latin typeface="Arial" pitchFamily="34" charset="0"/>
            </a:endParaRPr>
          </a:p>
        </p:txBody>
      </p:sp>
      <p:sp>
        <p:nvSpPr>
          <p:cNvPr id="17" name="Line 13"/>
          <p:cNvSpPr>
            <a:spLocks noChangeShapeType="1"/>
          </p:cNvSpPr>
          <p:nvPr/>
        </p:nvSpPr>
        <p:spPr bwMode="auto">
          <a:xfrm flipV="1">
            <a:off x="3581400" y="3048000"/>
            <a:ext cx="0" cy="685800"/>
          </a:xfrm>
          <a:prstGeom prst="line">
            <a:avLst/>
          </a:prstGeom>
          <a:noFill/>
          <a:ln w="15875" cmpd="sng">
            <a:solidFill>
              <a:srgbClr val="008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 eaLnBrk="1" hangingPunct="1"/>
            <a:endParaRPr lang="zh-CN" altLang="en-US" sz="1800" b="0">
              <a:solidFill>
                <a:srgbClr val="0033CC"/>
              </a:solidFill>
              <a:latin typeface="Arial" pitchFamily="34" charset="0"/>
            </a:endParaRPr>
          </a:p>
        </p:txBody>
      </p:sp>
      <p:sp>
        <p:nvSpPr>
          <p:cNvPr id="18" name="Line 14"/>
          <p:cNvSpPr>
            <a:spLocks noChangeShapeType="1"/>
          </p:cNvSpPr>
          <p:nvPr/>
        </p:nvSpPr>
        <p:spPr bwMode="auto">
          <a:xfrm flipH="1">
            <a:off x="2957513" y="3048000"/>
            <a:ext cx="609600" cy="685800"/>
          </a:xfrm>
          <a:prstGeom prst="line">
            <a:avLst/>
          </a:prstGeom>
          <a:noFill/>
          <a:ln w="15875" cmpd="sng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 eaLnBrk="1" hangingPunct="1"/>
            <a:endParaRPr lang="zh-CN" altLang="en-US" sz="1800" b="0">
              <a:solidFill>
                <a:srgbClr val="0033CC"/>
              </a:solidFill>
              <a:latin typeface="Arial" pitchFamily="34" charset="0"/>
            </a:endParaRPr>
          </a:p>
        </p:txBody>
      </p:sp>
      <p:sp>
        <p:nvSpPr>
          <p:cNvPr id="19" name="Text Box 15"/>
          <p:cNvSpPr txBox="1">
            <a:spLocks noChangeArrowheads="1"/>
          </p:cNvSpPr>
          <p:nvPr/>
        </p:nvSpPr>
        <p:spPr bwMode="auto">
          <a:xfrm>
            <a:off x="2209800" y="3048000"/>
            <a:ext cx="609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zh-CN" sz="3200">
                <a:solidFill>
                  <a:srgbClr val="FF3300"/>
                </a:solidFill>
                <a:latin typeface="Times New Roman" pitchFamily="18" charset="0"/>
                <a:sym typeface="Wingdings" pitchFamily="2" charset="2"/>
              </a:rPr>
              <a:t></a:t>
            </a:r>
            <a:endParaRPr lang="zh-CN" altLang="zh-CN" sz="3200">
              <a:solidFill>
                <a:srgbClr val="FF3300"/>
              </a:solidFill>
              <a:latin typeface="Times New Roman" pitchFamily="18" charset="0"/>
            </a:endParaRPr>
          </a:p>
        </p:txBody>
      </p:sp>
      <p:grpSp>
        <p:nvGrpSpPr>
          <p:cNvPr id="20" name="Group 16"/>
          <p:cNvGrpSpPr>
            <a:grpSpLocks/>
          </p:cNvGrpSpPr>
          <p:nvPr/>
        </p:nvGrpSpPr>
        <p:grpSpPr bwMode="auto">
          <a:xfrm>
            <a:off x="1219200" y="3276600"/>
            <a:ext cx="457200" cy="1600200"/>
            <a:chOff x="0" y="0"/>
            <a:chExt cx="288" cy="1008"/>
          </a:xfrm>
        </p:grpSpPr>
        <p:sp>
          <p:nvSpPr>
            <p:cNvPr id="21" name="Text Box 17"/>
            <p:cNvSpPr txBox="1">
              <a:spLocks noChangeArrowheads="1"/>
            </p:cNvSpPr>
            <p:nvPr/>
          </p:nvSpPr>
          <p:spPr bwMode="auto">
            <a:xfrm>
              <a:off x="0" y="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zh-CN" sz="2400" i="1">
                  <a:solidFill>
                    <a:srgbClr val="0033CC"/>
                  </a:solidFill>
                  <a:latin typeface="Times New Roman" pitchFamily="18" charset="0"/>
                </a:rPr>
                <a:t>x</a:t>
              </a:r>
              <a:r>
                <a:rPr lang="zh-CN" altLang="zh-CN" sz="2400" baseline="-25000">
                  <a:solidFill>
                    <a:srgbClr val="0033CC"/>
                  </a:solidFill>
                  <a:latin typeface="Times New Roman" pitchFamily="18" charset="0"/>
                </a:rPr>
                <a:t>0</a:t>
              </a:r>
              <a:endParaRPr lang="zh-CN" altLang="zh-CN" sz="2400" i="1">
                <a:solidFill>
                  <a:srgbClr val="0033CC"/>
                </a:solidFill>
                <a:latin typeface="Times New Roman" pitchFamily="18" charset="0"/>
              </a:endParaRPr>
            </a:p>
          </p:txBody>
        </p:sp>
        <p:sp>
          <p:nvSpPr>
            <p:cNvPr id="22" name="Line 18"/>
            <p:cNvSpPr>
              <a:spLocks noChangeShapeType="1"/>
            </p:cNvSpPr>
            <p:nvPr/>
          </p:nvSpPr>
          <p:spPr bwMode="auto">
            <a:xfrm>
              <a:off x="96" y="288"/>
              <a:ext cx="0" cy="720"/>
            </a:xfrm>
            <a:prstGeom prst="line">
              <a:avLst/>
            </a:prstGeom>
            <a:noFill/>
            <a:ln w="15875" cmpd="sng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l" eaLnBrk="1" hangingPunct="1"/>
              <a:endParaRPr lang="zh-CN" altLang="en-US" sz="1800" b="0">
                <a:solidFill>
                  <a:srgbClr val="0033CC"/>
                </a:solidFill>
                <a:latin typeface="Arial" pitchFamily="34" charset="0"/>
              </a:endParaRPr>
            </a:p>
          </p:txBody>
        </p:sp>
      </p:grpSp>
      <p:sp>
        <p:nvSpPr>
          <p:cNvPr id="23" name="Line 19"/>
          <p:cNvSpPr>
            <a:spLocks noChangeShapeType="1"/>
          </p:cNvSpPr>
          <p:nvPr/>
        </p:nvSpPr>
        <p:spPr bwMode="auto">
          <a:xfrm flipV="1">
            <a:off x="1371600" y="3733800"/>
            <a:ext cx="6705600" cy="1143000"/>
          </a:xfrm>
          <a:prstGeom prst="line">
            <a:avLst/>
          </a:prstGeom>
          <a:noFill/>
          <a:ln w="15875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 eaLnBrk="1" hangingPunct="1"/>
            <a:endParaRPr lang="zh-CN" altLang="en-US" sz="1800" b="0">
              <a:solidFill>
                <a:srgbClr val="0033CC"/>
              </a:solidFill>
              <a:latin typeface="Arial" pitchFamily="34" charset="0"/>
            </a:endParaRPr>
          </a:p>
        </p:txBody>
      </p:sp>
      <p:sp>
        <p:nvSpPr>
          <p:cNvPr id="24" name="Text Box 20"/>
          <p:cNvSpPr txBox="1">
            <a:spLocks noChangeArrowheads="1"/>
          </p:cNvSpPr>
          <p:nvPr/>
        </p:nvSpPr>
        <p:spPr bwMode="auto">
          <a:xfrm>
            <a:off x="914400" y="3048000"/>
            <a:ext cx="609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zh-CN" sz="3200">
                <a:solidFill>
                  <a:srgbClr val="FF3300"/>
                </a:solidFill>
                <a:latin typeface="Times New Roman" pitchFamily="18" charset="0"/>
                <a:sym typeface="Wingdings" pitchFamily="2" charset="2"/>
              </a:rPr>
              <a:t></a:t>
            </a:r>
            <a:endParaRPr lang="zh-CN" altLang="zh-CN" sz="3200">
              <a:solidFill>
                <a:srgbClr val="FF3300"/>
              </a:solidFill>
              <a:latin typeface="Times New Roman" pitchFamily="18" charset="0"/>
            </a:endParaRPr>
          </a:p>
        </p:txBody>
      </p:sp>
      <p:grpSp>
        <p:nvGrpSpPr>
          <p:cNvPr id="25" name="Group 21"/>
          <p:cNvGrpSpPr>
            <a:grpSpLocks/>
          </p:cNvGrpSpPr>
          <p:nvPr/>
        </p:nvGrpSpPr>
        <p:grpSpPr bwMode="auto">
          <a:xfrm>
            <a:off x="1752600" y="3276602"/>
            <a:ext cx="457200" cy="1482725"/>
            <a:chOff x="0" y="0"/>
            <a:chExt cx="288" cy="934"/>
          </a:xfrm>
        </p:grpSpPr>
        <p:sp>
          <p:nvSpPr>
            <p:cNvPr id="26" name="Text Box 22"/>
            <p:cNvSpPr txBox="1">
              <a:spLocks noChangeArrowheads="1"/>
            </p:cNvSpPr>
            <p:nvPr/>
          </p:nvSpPr>
          <p:spPr bwMode="auto">
            <a:xfrm>
              <a:off x="0" y="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zh-CN" sz="2400" i="1">
                  <a:solidFill>
                    <a:srgbClr val="3399FF"/>
                  </a:solidFill>
                  <a:latin typeface="Times New Roman" pitchFamily="18" charset="0"/>
                </a:rPr>
                <a:t>x</a:t>
              </a:r>
              <a:r>
                <a:rPr lang="zh-CN" altLang="zh-CN" sz="2400" baseline="-25000">
                  <a:solidFill>
                    <a:srgbClr val="3399FF"/>
                  </a:solidFill>
                  <a:latin typeface="Times New Roman" pitchFamily="18" charset="0"/>
                </a:rPr>
                <a:t>0</a:t>
              </a:r>
              <a:endParaRPr lang="zh-CN" altLang="zh-CN" sz="2400" i="1">
                <a:solidFill>
                  <a:srgbClr val="3399FF"/>
                </a:solidFill>
                <a:latin typeface="Times New Roman" pitchFamily="18" charset="0"/>
              </a:endParaRPr>
            </a:p>
          </p:txBody>
        </p:sp>
        <p:sp>
          <p:nvSpPr>
            <p:cNvPr id="27" name="Line 23"/>
            <p:cNvSpPr>
              <a:spLocks noChangeShapeType="1"/>
            </p:cNvSpPr>
            <p:nvPr/>
          </p:nvSpPr>
          <p:spPr bwMode="auto">
            <a:xfrm>
              <a:off x="96" y="288"/>
              <a:ext cx="0" cy="646"/>
            </a:xfrm>
            <a:prstGeom prst="line">
              <a:avLst/>
            </a:prstGeom>
            <a:noFill/>
            <a:ln w="15875" cmpd="sng">
              <a:solidFill>
                <a:schemeClr val="accent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l" eaLnBrk="1" hangingPunct="1"/>
              <a:endParaRPr lang="zh-CN" altLang="en-US" sz="1800" b="0">
                <a:solidFill>
                  <a:srgbClr val="0033CC"/>
                </a:solidFill>
                <a:latin typeface="Arial" pitchFamily="34" charset="0"/>
              </a:endParaRPr>
            </a:p>
          </p:txBody>
        </p:sp>
      </p:grpSp>
      <p:sp>
        <p:nvSpPr>
          <p:cNvPr id="28" name="Line 24"/>
          <p:cNvSpPr>
            <a:spLocks noChangeShapeType="1"/>
          </p:cNvSpPr>
          <p:nvPr/>
        </p:nvSpPr>
        <p:spPr bwMode="auto">
          <a:xfrm flipV="1">
            <a:off x="1905002" y="3730625"/>
            <a:ext cx="2403475" cy="1042988"/>
          </a:xfrm>
          <a:prstGeom prst="line">
            <a:avLst/>
          </a:prstGeom>
          <a:noFill/>
          <a:ln w="15875" cmpd="sng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 eaLnBrk="1" hangingPunct="1"/>
            <a:endParaRPr lang="zh-CN" altLang="en-US" sz="1800" b="0">
              <a:solidFill>
                <a:srgbClr val="0033CC"/>
              </a:solidFill>
              <a:latin typeface="Arial" pitchFamily="34" charset="0"/>
            </a:endParaRPr>
          </a:p>
        </p:txBody>
      </p:sp>
      <p:sp>
        <p:nvSpPr>
          <p:cNvPr id="29" name="Line 25"/>
          <p:cNvSpPr>
            <a:spLocks noChangeShapeType="1"/>
          </p:cNvSpPr>
          <p:nvPr/>
        </p:nvSpPr>
        <p:spPr bwMode="auto">
          <a:xfrm flipV="1">
            <a:off x="1905002" y="2651125"/>
            <a:ext cx="2403475" cy="1062038"/>
          </a:xfrm>
          <a:prstGeom prst="line">
            <a:avLst/>
          </a:prstGeom>
          <a:noFill/>
          <a:ln w="15875" cmpd="sng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 eaLnBrk="1" hangingPunct="1"/>
            <a:endParaRPr lang="zh-CN" altLang="en-US" sz="1800" b="0">
              <a:solidFill>
                <a:srgbClr val="0033CC"/>
              </a:solidFill>
              <a:latin typeface="Arial" pitchFamily="34" charset="0"/>
            </a:endParaRPr>
          </a:p>
        </p:txBody>
      </p:sp>
      <p:sp>
        <p:nvSpPr>
          <p:cNvPr id="30" name="Line 26"/>
          <p:cNvSpPr>
            <a:spLocks noChangeShapeType="1"/>
          </p:cNvSpPr>
          <p:nvPr/>
        </p:nvSpPr>
        <p:spPr bwMode="auto">
          <a:xfrm flipV="1">
            <a:off x="4295775" y="2667000"/>
            <a:ext cx="0" cy="1066800"/>
          </a:xfrm>
          <a:prstGeom prst="line">
            <a:avLst/>
          </a:prstGeom>
          <a:noFill/>
          <a:ln w="15875" cmpd="sng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 eaLnBrk="1" hangingPunct="1"/>
            <a:endParaRPr lang="zh-CN" altLang="en-US" sz="1800" b="0">
              <a:solidFill>
                <a:srgbClr val="0033CC"/>
              </a:solidFill>
              <a:latin typeface="Arial" pitchFamily="34" charset="0"/>
            </a:endParaRPr>
          </a:p>
        </p:txBody>
      </p:sp>
      <p:grpSp>
        <p:nvGrpSpPr>
          <p:cNvPr id="31" name="Group 27"/>
          <p:cNvGrpSpPr>
            <a:grpSpLocks/>
          </p:cNvGrpSpPr>
          <p:nvPr/>
        </p:nvGrpSpPr>
        <p:grpSpPr bwMode="auto">
          <a:xfrm>
            <a:off x="1371602" y="2438400"/>
            <a:ext cx="1095375" cy="946150"/>
            <a:chOff x="0" y="0"/>
            <a:chExt cx="878" cy="878"/>
          </a:xfrm>
        </p:grpSpPr>
        <p:grpSp>
          <p:nvGrpSpPr>
            <p:cNvPr id="32" name="Group 28"/>
            <p:cNvGrpSpPr>
              <a:grpSpLocks/>
            </p:cNvGrpSpPr>
            <p:nvPr/>
          </p:nvGrpSpPr>
          <p:grpSpPr bwMode="auto">
            <a:xfrm>
              <a:off x="231" y="541"/>
              <a:ext cx="417" cy="107"/>
              <a:chOff x="0" y="0"/>
              <a:chExt cx="417" cy="107"/>
            </a:xfrm>
          </p:grpSpPr>
          <p:sp>
            <p:nvSpPr>
              <p:cNvPr id="65" name="未知"/>
              <p:cNvSpPr>
                <a:spLocks/>
              </p:cNvSpPr>
              <p:nvPr/>
            </p:nvSpPr>
            <p:spPr bwMode="auto">
              <a:xfrm>
                <a:off x="380" y="0"/>
                <a:ext cx="37" cy="107"/>
              </a:xfrm>
              <a:custGeom>
                <a:avLst/>
                <a:gdLst>
                  <a:gd name="T0" fmla="*/ 1 w 37"/>
                  <a:gd name="T1" fmla="*/ 7 h 107"/>
                  <a:gd name="T2" fmla="*/ 15 w 37"/>
                  <a:gd name="T3" fmla="*/ 1 h 107"/>
                  <a:gd name="T4" fmla="*/ 22 w 37"/>
                  <a:gd name="T5" fmla="*/ 0 h 107"/>
                  <a:gd name="T6" fmla="*/ 27 w 37"/>
                  <a:gd name="T7" fmla="*/ 0 h 107"/>
                  <a:gd name="T8" fmla="*/ 30 w 37"/>
                  <a:gd name="T9" fmla="*/ 1 h 107"/>
                  <a:gd name="T10" fmla="*/ 33 w 37"/>
                  <a:gd name="T11" fmla="*/ 3 h 107"/>
                  <a:gd name="T12" fmla="*/ 36 w 37"/>
                  <a:gd name="T13" fmla="*/ 9 h 107"/>
                  <a:gd name="T14" fmla="*/ 37 w 37"/>
                  <a:gd name="T15" fmla="*/ 15 h 107"/>
                  <a:gd name="T16" fmla="*/ 36 w 37"/>
                  <a:gd name="T17" fmla="*/ 23 h 107"/>
                  <a:gd name="T18" fmla="*/ 35 w 37"/>
                  <a:gd name="T19" fmla="*/ 29 h 107"/>
                  <a:gd name="T20" fmla="*/ 31 w 37"/>
                  <a:gd name="T21" fmla="*/ 36 h 107"/>
                  <a:gd name="T22" fmla="*/ 28 w 37"/>
                  <a:gd name="T23" fmla="*/ 41 h 107"/>
                  <a:gd name="T24" fmla="*/ 24 w 37"/>
                  <a:gd name="T25" fmla="*/ 46 h 107"/>
                  <a:gd name="T26" fmla="*/ 22 w 37"/>
                  <a:gd name="T27" fmla="*/ 53 h 107"/>
                  <a:gd name="T28" fmla="*/ 22 w 37"/>
                  <a:gd name="T29" fmla="*/ 58 h 107"/>
                  <a:gd name="T30" fmla="*/ 22 w 37"/>
                  <a:gd name="T31" fmla="*/ 68 h 107"/>
                  <a:gd name="T32" fmla="*/ 22 w 37"/>
                  <a:gd name="T33" fmla="*/ 76 h 107"/>
                  <a:gd name="T34" fmla="*/ 23 w 37"/>
                  <a:gd name="T35" fmla="*/ 83 h 107"/>
                  <a:gd name="T36" fmla="*/ 22 w 37"/>
                  <a:gd name="T37" fmla="*/ 89 h 107"/>
                  <a:gd name="T38" fmla="*/ 19 w 37"/>
                  <a:gd name="T39" fmla="*/ 96 h 107"/>
                  <a:gd name="T40" fmla="*/ 15 w 37"/>
                  <a:gd name="T41" fmla="*/ 100 h 107"/>
                  <a:gd name="T42" fmla="*/ 9 w 37"/>
                  <a:gd name="T43" fmla="*/ 104 h 107"/>
                  <a:gd name="T44" fmla="*/ 0 w 37"/>
                  <a:gd name="T45" fmla="*/ 107 h 107"/>
                  <a:gd name="T46" fmla="*/ 1 w 37"/>
                  <a:gd name="T47" fmla="*/ 7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7" h="107">
                    <a:moveTo>
                      <a:pt x="1" y="7"/>
                    </a:moveTo>
                    <a:lnTo>
                      <a:pt x="15" y="1"/>
                    </a:lnTo>
                    <a:lnTo>
                      <a:pt x="22" y="0"/>
                    </a:lnTo>
                    <a:lnTo>
                      <a:pt x="27" y="0"/>
                    </a:lnTo>
                    <a:lnTo>
                      <a:pt x="30" y="1"/>
                    </a:lnTo>
                    <a:lnTo>
                      <a:pt x="33" y="3"/>
                    </a:lnTo>
                    <a:lnTo>
                      <a:pt x="36" y="9"/>
                    </a:lnTo>
                    <a:lnTo>
                      <a:pt x="37" y="15"/>
                    </a:lnTo>
                    <a:lnTo>
                      <a:pt x="36" y="23"/>
                    </a:lnTo>
                    <a:lnTo>
                      <a:pt x="35" y="29"/>
                    </a:lnTo>
                    <a:lnTo>
                      <a:pt x="31" y="36"/>
                    </a:lnTo>
                    <a:lnTo>
                      <a:pt x="28" y="41"/>
                    </a:lnTo>
                    <a:lnTo>
                      <a:pt x="24" y="46"/>
                    </a:lnTo>
                    <a:lnTo>
                      <a:pt x="22" y="53"/>
                    </a:lnTo>
                    <a:lnTo>
                      <a:pt x="22" y="58"/>
                    </a:lnTo>
                    <a:lnTo>
                      <a:pt x="22" y="68"/>
                    </a:lnTo>
                    <a:lnTo>
                      <a:pt x="22" y="76"/>
                    </a:lnTo>
                    <a:lnTo>
                      <a:pt x="23" y="83"/>
                    </a:lnTo>
                    <a:lnTo>
                      <a:pt x="22" y="89"/>
                    </a:lnTo>
                    <a:lnTo>
                      <a:pt x="19" y="96"/>
                    </a:lnTo>
                    <a:lnTo>
                      <a:pt x="15" y="100"/>
                    </a:lnTo>
                    <a:lnTo>
                      <a:pt x="9" y="104"/>
                    </a:lnTo>
                    <a:lnTo>
                      <a:pt x="0" y="107"/>
                    </a:lnTo>
                    <a:lnTo>
                      <a:pt x="1" y="7"/>
                    </a:lnTo>
                    <a:close/>
                  </a:path>
                </a:pathLst>
              </a:custGeom>
              <a:solidFill>
                <a:srgbClr val="FFC080"/>
              </a:solidFill>
              <a:ln w="12700" cmpd="sng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eaLnBrk="1" hangingPunct="1"/>
                <a:endParaRPr lang="zh-CN" altLang="en-US" sz="1800" b="0">
                  <a:solidFill>
                    <a:srgbClr val="0033CC"/>
                  </a:solidFill>
                  <a:latin typeface="Arial" pitchFamily="34" charset="0"/>
                </a:endParaRPr>
              </a:p>
            </p:txBody>
          </p:sp>
          <p:sp>
            <p:nvSpPr>
              <p:cNvPr id="66" name="未知"/>
              <p:cNvSpPr>
                <a:spLocks/>
              </p:cNvSpPr>
              <p:nvPr/>
            </p:nvSpPr>
            <p:spPr bwMode="auto">
              <a:xfrm>
                <a:off x="0" y="0"/>
                <a:ext cx="36" cy="107"/>
              </a:xfrm>
              <a:custGeom>
                <a:avLst/>
                <a:gdLst>
                  <a:gd name="T0" fmla="*/ 36 w 36"/>
                  <a:gd name="T1" fmla="*/ 7 h 107"/>
                  <a:gd name="T2" fmla="*/ 21 w 36"/>
                  <a:gd name="T3" fmla="*/ 1 h 107"/>
                  <a:gd name="T4" fmla="*/ 15 w 36"/>
                  <a:gd name="T5" fmla="*/ 0 h 107"/>
                  <a:gd name="T6" fmla="*/ 9 w 36"/>
                  <a:gd name="T7" fmla="*/ 0 h 107"/>
                  <a:gd name="T8" fmla="*/ 6 w 36"/>
                  <a:gd name="T9" fmla="*/ 1 h 107"/>
                  <a:gd name="T10" fmla="*/ 3 w 36"/>
                  <a:gd name="T11" fmla="*/ 3 h 107"/>
                  <a:gd name="T12" fmla="*/ 1 w 36"/>
                  <a:gd name="T13" fmla="*/ 9 h 107"/>
                  <a:gd name="T14" fmla="*/ 0 w 36"/>
                  <a:gd name="T15" fmla="*/ 15 h 107"/>
                  <a:gd name="T16" fmla="*/ 0 w 36"/>
                  <a:gd name="T17" fmla="*/ 23 h 107"/>
                  <a:gd name="T18" fmla="*/ 1 w 36"/>
                  <a:gd name="T19" fmla="*/ 29 h 107"/>
                  <a:gd name="T20" fmla="*/ 5 w 36"/>
                  <a:gd name="T21" fmla="*/ 36 h 107"/>
                  <a:gd name="T22" fmla="*/ 9 w 36"/>
                  <a:gd name="T23" fmla="*/ 41 h 107"/>
                  <a:gd name="T24" fmla="*/ 12 w 36"/>
                  <a:gd name="T25" fmla="*/ 46 h 107"/>
                  <a:gd name="T26" fmla="*/ 14 w 36"/>
                  <a:gd name="T27" fmla="*/ 53 h 107"/>
                  <a:gd name="T28" fmla="*/ 15 w 36"/>
                  <a:gd name="T29" fmla="*/ 58 h 107"/>
                  <a:gd name="T30" fmla="*/ 14 w 36"/>
                  <a:gd name="T31" fmla="*/ 68 h 107"/>
                  <a:gd name="T32" fmla="*/ 14 w 36"/>
                  <a:gd name="T33" fmla="*/ 76 h 107"/>
                  <a:gd name="T34" fmla="*/ 13 w 36"/>
                  <a:gd name="T35" fmla="*/ 83 h 107"/>
                  <a:gd name="T36" fmla="*/ 14 w 36"/>
                  <a:gd name="T37" fmla="*/ 89 h 107"/>
                  <a:gd name="T38" fmla="*/ 17 w 36"/>
                  <a:gd name="T39" fmla="*/ 96 h 107"/>
                  <a:gd name="T40" fmla="*/ 21 w 36"/>
                  <a:gd name="T41" fmla="*/ 100 h 107"/>
                  <a:gd name="T42" fmla="*/ 27 w 36"/>
                  <a:gd name="T43" fmla="*/ 104 h 107"/>
                  <a:gd name="T44" fmla="*/ 36 w 36"/>
                  <a:gd name="T45" fmla="*/ 107 h 107"/>
                  <a:gd name="T46" fmla="*/ 36 w 36"/>
                  <a:gd name="T47" fmla="*/ 7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6" h="107">
                    <a:moveTo>
                      <a:pt x="36" y="7"/>
                    </a:moveTo>
                    <a:lnTo>
                      <a:pt x="21" y="1"/>
                    </a:lnTo>
                    <a:lnTo>
                      <a:pt x="15" y="0"/>
                    </a:lnTo>
                    <a:lnTo>
                      <a:pt x="9" y="0"/>
                    </a:lnTo>
                    <a:lnTo>
                      <a:pt x="6" y="1"/>
                    </a:lnTo>
                    <a:lnTo>
                      <a:pt x="3" y="3"/>
                    </a:lnTo>
                    <a:lnTo>
                      <a:pt x="1" y="9"/>
                    </a:lnTo>
                    <a:lnTo>
                      <a:pt x="0" y="15"/>
                    </a:lnTo>
                    <a:lnTo>
                      <a:pt x="0" y="23"/>
                    </a:lnTo>
                    <a:lnTo>
                      <a:pt x="1" y="29"/>
                    </a:lnTo>
                    <a:lnTo>
                      <a:pt x="5" y="36"/>
                    </a:lnTo>
                    <a:lnTo>
                      <a:pt x="9" y="41"/>
                    </a:lnTo>
                    <a:lnTo>
                      <a:pt x="12" y="46"/>
                    </a:lnTo>
                    <a:lnTo>
                      <a:pt x="14" y="53"/>
                    </a:lnTo>
                    <a:lnTo>
                      <a:pt x="15" y="58"/>
                    </a:lnTo>
                    <a:lnTo>
                      <a:pt x="14" y="68"/>
                    </a:lnTo>
                    <a:lnTo>
                      <a:pt x="14" y="76"/>
                    </a:lnTo>
                    <a:lnTo>
                      <a:pt x="13" y="83"/>
                    </a:lnTo>
                    <a:lnTo>
                      <a:pt x="14" y="89"/>
                    </a:lnTo>
                    <a:lnTo>
                      <a:pt x="17" y="96"/>
                    </a:lnTo>
                    <a:lnTo>
                      <a:pt x="21" y="100"/>
                    </a:lnTo>
                    <a:lnTo>
                      <a:pt x="27" y="104"/>
                    </a:lnTo>
                    <a:lnTo>
                      <a:pt x="36" y="107"/>
                    </a:lnTo>
                    <a:lnTo>
                      <a:pt x="36" y="7"/>
                    </a:lnTo>
                    <a:close/>
                  </a:path>
                </a:pathLst>
              </a:custGeom>
              <a:solidFill>
                <a:srgbClr val="FFC080"/>
              </a:solidFill>
              <a:ln w="12700" cmpd="sng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eaLnBrk="1" hangingPunct="1"/>
                <a:endParaRPr lang="zh-CN" altLang="en-US" sz="1800" b="0">
                  <a:solidFill>
                    <a:srgbClr val="0033CC"/>
                  </a:solidFill>
                  <a:latin typeface="Arial" pitchFamily="34" charset="0"/>
                </a:endParaRPr>
              </a:p>
            </p:txBody>
          </p:sp>
        </p:grpSp>
        <p:sp>
          <p:nvSpPr>
            <p:cNvPr id="33" name="未知"/>
            <p:cNvSpPr>
              <a:spLocks/>
            </p:cNvSpPr>
            <p:nvPr/>
          </p:nvSpPr>
          <p:spPr bwMode="auto">
            <a:xfrm>
              <a:off x="260" y="343"/>
              <a:ext cx="364" cy="535"/>
            </a:xfrm>
            <a:custGeom>
              <a:avLst/>
              <a:gdLst>
                <a:gd name="T0" fmla="*/ 24 w 364"/>
                <a:gd name="T1" fmla="*/ 109 h 535"/>
                <a:gd name="T2" fmla="*/ 9 w 364"/>
                <a:gd name="T3" fmla="*/ 156 h 535"/>
                <a:gd name="T4" fmla="*/ 2 w 364"/>
                <a:gd name="T5" fmla="*/ 217 h 535"/>
                <a:gd name="T6" fmla="*/ 0 w 364"/>
                <a:gd name="T7" fmla="*/ 275 h 535"/>
                <a:gd name="T8" fmla="*/ 2 w 364"/>
                <a:gd name="T9" fmla="*/ 340 h 535"/>
                <a:gd name="T10" fmla="*/ 11 w 364"/>
                <a:gd name="T11" fmla="*/ 390 h 535"/>
                <a:gd name="T12" fmla="*/ 32 w 364"/>
                <a:gd name="T13" fmla="*/ 435 h 535"/>
                <a:gd name="T14" fmla="*/ 60 w 364"/>
                <a:gd name="T15" fmla="*/ 472 h 535"/>
                <a:gd name="T16" fmla="*/ 99 w 364"/>
                <a:gd name="T17" fmla="*/ 506 h 535"/>
                <a:gd name="T18" fmla="*/ 141 w 364"/>
                <a:gd name="T19" fmla="*/ 526 h 535"/>
                <a:gd name="T20" fmla="*/ 164 w 364"/>
                <a:gd name="T21" fmla="*/ 534 h 535"/>
                <a:gd name="T22" fmla="*/ 191 w 364"/>
                <a:gd name="T23" fmla="*/ 534 h 535"/>
                <a:gd name="T24" fmla="*/ 223 w 364"/>
                <a:gd name="T25" fmla="*/ 527 h 535"/>
                <a:gd name="T26" fmla="*/ 252 w 364"/>
                <a:gd name="T27" fmla="*/ 514 h 535"/>
                <a:gd name="T28" fmla="*/ 280 w 364"/>
                <a:gd name="T29" fmla="*/ 494 h 535"/>
                <a:gd name="T30" fmla="*/ 304 w 364"/>
                <a:gd name="T31" fmla="*/ 470 h 535"/>
                <a:gd name="T32" fmla="*/ 326 w 364"/>
                <a:gd name="T33" fmla="*/ 443 h 535"/>
                <a:gd name="T34" fmla="*/ 342 w 364"/>
                <a:gd name="T35" fmla="*/ 418 h 535"/>
                <a:gd name="T36" fmla="*/ 350 w 364"/>
                <a:gd name="T37" fmla="*/ 398 h 535"/>
                <a:gd name="T38" fmla="*/ 358 w 364"/>
                <a:gd name="T39" fmla="*/ 367 h 535"/>
                <a:gd name="T40" fmla="*/ 363 w 364"/>
                <a:gd name="T41" fmla="*/ 327 h 535"/>
                <a:gd name="T42" fmla="*/ 364 w 364"/>
                <a:gd name="T43" fmla="*/ 287 h 535"/>
                <a:gd name="T44" fmla="*/ 362 w 364"/>
                <a:gd name="T45" fmla="*/ 238 h 535"/>
                <a:gd name="T46" fmla="*/ 359 w 364"/>
                <a:gd name="T47" fmla="*/ 195 h 535"/>
                <a:gd name="T48" fmla="*/ 355 w 364"/>
                <a:gd name="T49" fmla="*/ 159 h 535"/>
                <a:gd name="T50" fmla="*/ 347 w 364"/>
                <a:gd name="T51" fmla="*/ 128 h 535"/>
                <a:gd name="T52" fmla="*/ 337 w 364"/>
                <a:gd name="T53" fmla="*/ 105 h 535"/>
                <a:gd name="T54" fmla="*/ 323 w 364"/>
                <a:gd name="T55" fmla="*/ 80 h 535"/>
                <a:gd name="T56" fmla="*/ 308 w 364"/>
                <a:gd name="T57" fmla="*/ 61 h 535"/>
                <a:gd name="T58" fmla="*/ 289 w 364"/>
                <a:gd name="T59" fmla="*/ 43 h 535"/>
                <a:gd name="T60" fmla="*/ 266 w 364"/>
                <a:gd name="T61" fmla="*/ 27 h 535"/>
                <a:gd name="T62" fmla="*/ 237 w 364"/>
                <a:gd name="T63" fmla="*/ 12 h 535"/>
                <a:gd name="T64" fmla="*/ 201 w 364"/>
                <a:gd name="T65" fmla="*/ 3 h 535"/>
                <a:gd name="T66" fmla="*/ 155 w 364"/>
                <a:gd name="T67" fmla="*/ 3 h 535"/>
                <a:gd name="T68" fmla="*/ 108 w 364"/>
                <a:gd name="T69" fmla="*/ 20 h 535"/>
                <a:gd name="T70" fmla="*/ 69 w 364"/>
                <a:gd name="T71" fmla="*/ 46 h 535"/>
                <a:gd name="T72" fmla="*/ 36 w 364"/>
                <a:gd name="T73" fmla="*/ 86 h 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64" h="535">
                  <a:moveTo>
                    <a:pt x="36" y="86"/>
                  </a:moveTo>
                  <a:lnTo>
                    <a:pt x="24" y="109"/>
                  </a:lnTo>
                  <a:lnTo>
                    <a:pt x="15" y="133"/>
                  </a:lnTo>
                  <a:lnTo>
                    <a:pt x="9" y="156"/>
                  </a:lnTo>
                  <a:lnTo>
                    <a:pt x="5" y="185"/>
                  </a:lnTo>
                  <a:lnTo>
                    <a:pt x="2" y="217"/>
                  </a:lnTo>
                  <a:lnTo>
                    <a:pt x="1" y="246"/>
                  </a:lnTo>
                  <a:lnTo>
                    <a:pt x="0" y="275"/>
                  </a:lnTo>
                  <a:lnTo>
                    <a:pt x="0" y="311"/>
                  </a:lnTo>
                  <a:lnTo>
                    <a:pt x="2" y="340"/>
                  </a:lnTo>
                  <a:lnTo>
                    <a:pt x="6" y="369"/>
                  </a:lnTo>
                  <a:lnTo>
                    <a:pt x="11" y="390"/>
                  </a:lnTo>
                  <a:lnTo>
                    <a:pt x="20" y="415"/>
                  </a:lnTo>
                  <a:lnTo>
                    <a:pt x="32" y="435"/>
                  </a:lnTo>
                  <a:lnTo>
                    <a:pt x="43" y="452"/>
                  </a:lnTo>
                  <a:lnTo>
                    <a:pt x="60" y="472"/>
                  </a:lnTo>
                  <a:lnTo>
                    <a:pt x="78" y="489"/>
                  </a:lnTo>
                  <a:lnTo>
                    <a:pt x="99" y="506"/>
                  </a:lnTo>
                  <a:lnTo>
                    <a:pt x="120" y="517"/>
                  </a:lnTo>
                  <a:lnTo>
                    <a:pt x="141" y="526"/>
                  </a:lnTo>
                  <a:lnTo>
                    <a:pt x="151" y="530"/>
                  </a:lnTo>
                  <a:lnTo>
                    <a:pt x="164" y="534"/>
                  </a:lnTo>
                  <a:lnTo>
                    <a:pt x="181" y="535"/>
                  </a:lnTo>
                  <a:lnTo>
                    <a:pt x="191" y="534"/>
                  </a:lnTo>
                  <a:lnTo>
                    <a:pt x="206" y="532"/>
                  </a:lnTo>
                  <a:lnTo>
                    <a:pt x="223" y="527"/>
                  </a:lnTo>
                  <a:lnTo>
                    <a:pt x="237" y="522"/>
                  </a:lnTo>
                  <a:lnTo>
                    <a:pt x="252" y="514"/>
                  </a:lnTo>
                  <a:lnTo>
                    <a:pt x="267" y="504"/>
                  </a:lnTo>
                  <a:lnTo>
                    <a:pt x="280" y="494"/>
                  </a:lnTo>
                  <a:lnTo>
                    <a:pt x="293" y="482"/>
                  </a:lnTo>
                  <a:lnTo>
                    <a:pt x="304" y="470"/>
                  </a:lnTo>
                  <a:lnTo>
                    <a:pt x="313" y="458"/>
                  </a:lnTo>
                  <a:lnTo>
                    <a:pt x="326" y="443"/>
                  </a:lnTo>
                  <a:lnTo>
                    <a:pt x="334" y="431"/>
                  </a:lnTo>
                  <a:lnTo>
                    <a:pt x="342" y="418"/>
                  </a:lnTo>
                  <a:lnTo>
                    <a:pt x="346" y="408"/>
                  </a:lnTo>
                  <a:lnTo>
                    <a:pt x="350" y="398"/>
                  </a:lnTo>
                  <a:lnTo>
                    <a:pt x="354" y="384"/>
                  </a:lnTo>
                  <a:lnTo>
                    <a:pt x="358" y="367"/>
                  </a:lnTo>
                  <a:lnTo>
                    <a:pt x="361" y="345"/>
                  </a:lnTo>
                  <a:lnTo>
                    <a:pt x="363" y="327"/>
                  </a:lnTo>
                  <a:lnTo>
                    <a:pt x="364" y="307"/>
                  </a:lnTo>
                  <a:lnTo>
                    <a:pt x="364" y="287"/>
                  </a:lnTo>
                  <a:lnTo>
                    <a:pt x="363" y="259"/>
                  </a:lnTo>
                  <a:lnTo>
                    <a:pt x="362" y="238"/>
                  </a:lnTo>
                  <a:lnTo>
                    <a:pt x="360" y="218"/>
                  </a:lnTo>
                  <a:lnTo>
                    <a:pt x="359" y="195"/>
                  </a:lnTo>
                  <a:lnTo>
                    <a:pt x="358" y="178"/>
                  </a:lnTo>
                  <a:lnTo>
                    <a:pt x="355" y="159"/>
                  </a:lnTo>
                  <a:lnTo>
                    <a:pt x="352" y="144"/>
                  </a:lnTo>
                  <a:lnTo>
                    <a:pt x="347" y="128"/>
                  </a:lnTo>
                  <a:lnTo>
                    <a:pt x="342" y="115"/>
                  </a:lnTo>
                  <a:lnTo>
                    <a:pt x="337" y="105"/>
                  </a:lnTo>
                  <a:lnTo>
                    <a:pt x="332" y="96"/>
                  </a:lnTo>
                  <a:lnTo>
                    <a:pt x="323" y="80"/>
                  </a:lnTo>
                  <a:lnTo>
                    <a:pt x="316" y="70"/>
                  </a:lnTo>
                  <a:lnTo>
                    <a:pt x="308" y="61"/>
                  </a:lnTo>
                  <a:lnTo>
                    <a:pt x="298" y="51"/>
                  </a:lnTo>
                  <a:lnTo>
                    <a:pt x="289" y="43"/>
                  </a:lnTo>
                  <a:lnTo>
                    <a:pt x="279" y="35"/>
                  </a:lnTo>
                  <a:lnTo>
                    <a:pt x="266" y="27"/>
                  </a:lnTo>
                  <a:lnTo>
                    <a:pt x="253" y="19"/>
                  </a:lnTo>
                  <a:lnTo>
                    <a:pt x="237" y="12"/>
                  </a:lnTo>
                  <a:lnTo>
                    <a:pt x="220" y="7"/>
                  </a:lnTo>
                  <a:lnTo>
                    <a:pt x="201" y="3"/>
                  </a:lnTo>
                  <a:lnTo>
                    <a:pt x="182" y="0"/>
                  </a:lnTo>
                  <a:lnTo>
                    <a:pt x="155" y="3"/>
                  </a:lnTo>
                  <a:lnTo>
                    <a:pt x="132" y="10"/>
                  </a:lnTo>
                  <a:lnTo>
                    <a:pt x="108" y="20"/>
                  </a:lnTo>
                  <a:lnTo>
                    <a:pt x="88" y="32"/>
                  </a:lnTo>
                  <a:lnTo>
                    <a:pt x="69" y="46"/>
                  </a:lnTo>
                  <a:lnTo>
                    <a:pt x="51" y="65"/>
                  </a:lnTo>
                  <a:lnTo>
                    <a:pt x="36" y="86"/>
                  </a:lnTo>
                  <a:close/>
                </a:path>
              </a:pathLst>
            </a:custGeom>
            <a:solidFill>
              <a:srgbClr val="FFC080"/>
            </a:solidFill>
            <a:ln w="12700" cmpd="sng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l" eaLnBrk="1" hangingPunct="1"/>
              <a:endParaRPr lang="zh-CN" altLang="en-US" sz="1800" b="0">
                <a:solidFill>
                  <a:srgbClr val="0033CC"/>
                </a:solidFill>
                <a:latin typeface="Arial" pitchFamily="34" charset="0"/>
              </a:endParaRPr>
            </a:p>
          </p:txBody>
        </p:sp>
        <p:sp>
          <p:nvSpPr>
            <p:cNvPr id="34" name="未知"/>
            <p:cNvSpPr>
              <a:spLocks/>
            </p:cNvSpPr>
            <p:nvPr/>
          </p:nvSpPr>
          <p:spPr bwMode="auto">
            <a:xfrm>
              <a:off x="368" y="747"/>
              <a:ext cx="148" cy="32"/>
            </a:xfrm>
            <a:custGeom>
              <a:avLst/>
              <a:gdLst>
                <a:gd name="T0" fmla="*/ 0 w 148"/>
                <a:gd name="T1" fmla="*/ 22 h 32"/>
                <a:gd name="T2" fmla="*/ 5 w 148"/>
                <a:gd name="T3" fmla="*/ 18 h 32"/>
                <a:gd name="T4" fmla="*/ 12 w 148"/>
                <a:gd name="T5" fmla="*/ 12 h 32"/>
                <a:gd name="T6" fmla="*/ 25 w 148"/>
                <a:gd name="T7" fmla="*/ 6 h 32"/>
                <a:gd name="T8" fmla="*/ 40 w 148"/>
                <a:gd name="T9" fmla="*/ 2 h 32"/>
                <a:gd name="T10" fmla="*/ 55 w 148"/>
                <a:gd name="T11" fmla="*/ 0 h 32"/>
                <a:gd name="T12" fmla="*/ 68 w 148"/>
                <a:gd name="T13" fmla="*/ 0 h 32"/>
                <a:gd name="T14" fmla="*/ 77 w 148"/>
                <a:gd name="T15" fmla="*/ 1 h 32"/>
                <a:gd name="T16" fmla="*/ 84 w 148"/>
                <a:gd name="T17" fmla="*/ 0 h 32"/>
                <a:gd name="T18" fmla="*/ 91 w 148"/>
                <a:gd name="T19" fmla="*/ 0 h 32"/>
                <a:gd name="T20" fmla="*/ 100 w 148"/>
                <a:gd name="T21" fmla="*/ 1 h 32"/>
                <a:gd name="T22" fmla="*/ 111 w 148"/>
                <a:gd name="T23" fmla="*/ 3 h 32"/>
                <a:gd name="T24" fmla="*/ 121 w 148"/>
                <a:gd name="T25" fmla="*/ 6 h 32"/>
                <a:gd name="T26" fmla="*/ 133 w 148"/>
                <a:gd name="T27" fmla="*/ 10 h 32"/>
                <a:gd name="T28" fmla="*/ 139 w 148"/>
                <a:gd name="T29" fmla="*/ 14 h 32"/>
                <a:gd name="T30" fmla="*/ 144 w 148"/>
                <a:gd name="T31" fmla="*/ 18 h 32"/>
                <a:gd name="T32" fmla="*/ 148 w 148"/>
                <a:gd name="T33" fmla="*/ 24 h 32"/>
                <a:gd name="T34" fmla="*/ 147 w 148"/>
                <a:gd name="T35" fmla="*/ 26 h 32"/>
                <a:gd name="T36" fmla="*/ 133 w 148"/>
                <a:gd name="T37" fmla="*/ 30 h 32"/>
                <a:gd name="T38" fmla="*/ 109 w 148"/>
                <a:gd name="T39" fmla="*/ 32 h 32"/>
                <a:gd name="T40" fmla="*/ 86 w 148"/>
                <a:gd name="T41" fmla="*/ 32 h 32"/>
                <a:gd name="T42" fmla="*/ 62 w 148"/>
                <a:gd name="T43" fmla="*/ 32 h 32"/>
                <a:gd name="T44" fmla="*/ 30 w 148"/>
                <a:gd name="T45" fmla="*/ 30 h 32"/>
                <a:gd name="T46" fmla="*/ 9 w 148"/>
                <a:gd name="T47" fmla="*/ 28 h 32"/>
                <a:gd name="T48" fmla="*/ 3 w 148"/>
                <a:gd name="T49" fmla="*/ 26 h 32"/>
                <a:gd name="T50" fmla="*/ 0 w 148"/>
                <a:gd name="T51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48" h="32">
                  <a:moveTo>
                    <a:pt x="0" y="22"/>
                  </a:moveTo>
                  <a:lnTo>
                    <a:pt x="5" y="18"/>
                  </a:lnTo>
                  <a:lnTo>
                    <a:pt x="12" y="12"/>
                  </a:lnTo>
                  <a:lnTo>
                    <a:pt x="25" y="6"/>
                  </a:lnTo>
                  <a:lnTo>
                    <a:pt x="40" y="2"/>
                  </a:lnTo>
                  <a:lnTo>
                    <a:pt x="55" y="0"/>
                  </a:lnTo>
                  <a:lnTo>
                    <a:pt x="68" y="0"/>
                  </a:lnTo>
                  <a:lnTo>
                    <a:pt x="77" y="1"/>
                  </a:lnTo>
                  <a:lnTo>
                    <a:pt x="84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11" y="3"/>
                  </a:lnTo>
                  <a:lnTo>
                    <a:pt x="121" y="6"/>
                  </a:lnTo>
                  <a:lnTo>
                    <a:pt x="133" y="10"/>
                  </a:lnTo>
                  <a:lnTo>
                    <a:pt x="139" y="14"/>
                  </a:lnTo>
                  <a:lnTo>
                    <a:pt x="144" y="18"/>
                  </a:lnTo>
                  <a:lnTo>
                    <a:pt x="148" y="24"/>
                  </a:lnTo>
                  <a:lnTo>
                    <a:pt x="147" y="26"/>
                  </a:lnTo>
                  <a:lnTo>
                    <a:pt x="133" y="30"/>
                  </a:lnTo>
                  <a:lnTo>
                    <a:pt x="109" y="32"/>
                  </a:lnTo>
                  <a:lnTo>
                    <a:pt x="86" y="32"/>
                  </a:lnTo>
                  <a:lnTo>
                    <a:pt x="62" y="32"/>
                  </a:lnTo>
                  <a:lnTo>
                    <a:pt x="30" y="30"/>
                  </a:lnTo>
                  <a:lnTo>
                    <a:pt x="9" y="28"/>
                  </a:lnTo>
                  <a:lnTo>
                    <a:pt x="3" y="26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FFE0C0"/>
            </a:solidFill>
            <a:ln w="12700" cmpd="sng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l" eaLnBrk="1" hangingPunct="1"/>
              <a:endParaRPr lang="zh-CN" altLang="en-US" sz="1800" b="0">
                <a:solidFill>
                  <a:srgbClr val="0033CC"/>
                </a:solidFill>
                <a:latin typeface="Arial" pitchFamily="34" charset="0"/>
              </a:endParaRPr>
            </a:p>
          </p:txBody>
        </p:sp>
        <p:sp>
          <p:nvSpPr>
            <p:cNvPr id="35" name="未知"/>
            <p:cNvSpPr>
              <a:spLocks/>
            </p:cNvSpPr>
            <p:nvPr/>
          </p:nvSpPr>
          <p:spPr bwMode="auto">
            <a:xfrm>
              <a:off x="237" y="293"/>
              <a:ext cx="421" cy="288"/>
            </a:xfrm>
            <a:custGeom>
              <a:avLst/>
              <a:gdLst>
                <a:gd name="T0" fmla="*/ 13 w 421"/>
                <a:gd name="T1" fmla="*/ 274 h 288"/>
                <a:gd name="T2" fmla="*/ 11 w 421"/>
                <a:gd name="T3" fmla="*/ 253 h 288"/>
                <a:gd name="T4" fmla="*/ 15 w 421"/>
                <a:gd name="T5" fmla="*/ 238 h 288"/>
                <a:gd name="T6" fmla="*/ 12 w 421"/>
                <a:gd name="T7" fmla="*/ 218 h 288"/>
                <a:gd name="T8" fmla="*/ 11 w 421"/>
                <a:gd name="T9" fmla="*/ 202 h 288"/>
                <a:gd name="T10" fmla="*/ 10 w 421"/>
                <a:gd name="T11" fmla="*/ 191 h 288"/>
                <a:gd name="T12" fmla="*/ 19 w 421"/>
                <a:gd name="T13" fmla="*/ 181 h 288"/>
                <a:gd name="T14" fmla="*/ 12 w 421"/>
                <a:gd name="T15" fmla="*/ 154 h 288"/>
                <a:gd name="T16" fmla="*/ 21 w 421"/>
                <a:gd name="T17" fmla="*/ 150 h 288"/>
                <a:gd name="T18" fmla="*/ 32 w 421"/>
                <a:gd name="T19" fmla="*/ 142 h 288"/>
                <a:gd name="T20" fmla="*/ 30 w 421"/>
                <a:gd name="T21" fmla="*/ 127 h 288"/>
                <a:gd name="T22" fmla="*/ 39 w 421"/>
                <a:gd name="T23" fmla="*/ 120 h 288"/>
                <a:gd name="T24" fmla="*/ 36 w 421"/>
                <a:gd name="T25" fmla="*/ 101 h 288"/>
                <a:gd name="T26" fmla="*/ 38 w 421"/>
                <a:gd name="T27" fmla="*/ 89 h 288"/>
                <a:gd name="T28" fmla="*/ 47 w 421"/>
                <a:gd name="T29" fmla="*/ 70 h 288"/>
                <a:gd name="T30" fmla="*/ 52 w 421"/>
                <a:gd name="T31" fmla="*/ 55 h 288"/>
                <a:gd name="T32" fmla="*/ 73 w 421"/>
                <a:gd name="T33" fmla="*/ 63 h 288"/>
                <a:gd name="T34" fmla="*/ 80 w 421"/>
                <a:gd name="T35" fmla="*/ 37 h 288"/>
                <a:gd name="T36" fmla="*/ 93 w 421"/>
                <a:gd name="T37" fmla="*/ 52 h 288"/>
                <a:gd name="T38" fmla="*/ 111 w 421"/>
                <a:gd name="T39" fmla="*/ 31 h 288"/>
                <a:gd name="T40" fmla="*/ 141 w 421"/>
                <a:gd name="T41" fmla="*/ 14 h 288"/>
                <a:gd name="T42" fmla="*/ 195 w 421"/>
                <a:gd name="T43" fmla="*/ 2 h 288"/>
                <a:gd name="T44" fmla="*/ 233 w 421"/>
                <a:gd name="T45" fmla="*/ 0 h 288"/>
                <a:gd name="T46" fmla="*/ 245 w 421"/>
                <a:gd name="T47" fmla="*/ 11 h 288"/>
                <a:gd name="T48" fmla="*/ 265 w 421"/>
                <a:gd name="T49" fmla="*/ 18 h 288"/>
                <a:gd name="T50" fmla="*/ 297 w 421"/>
                <a:gd name="T51" fmla="*/ 14 h 288"/>
                <a:gd name="T52" fmla="*/ 294 w 421"/>
                <a:gd name="T53" fmla="*/ 26 h 288"/>
                <a:gd name="T54" fmla="*/ 323 w 421"/>
                <a:gd name="T55" fmla="*/ 27 h 288"/>
                <a:gd name="T56" fmla="*/ 321 w 421"/>
                <a:gd name="T57" fmla="*/ 37 h 288"/>
                <a:gd name="T58" fmla="*/ 338 w 421"/>
                <a:gd name="T59" fmla="*/ 44 h 288"/>
                <a:gd name="T60" fmla="*/ 367 w 421"/>
                <a:gd name="T61" fmla="*/ 55 h 288"/>
                <a:gd name="T62" fmla="*/ 366 w 421"/>
                <a:gd name="T63" fmla="*/ 68 h 288"/>
                <a:gd name="T64" fmla="*/ 367 w 421"/>
                <a:gd name="T65" fmla="*/ 78 h 288"/>
                <a:gd name="T66" fmla="*/ 395 w 421"/>
                <a:gd name="T67" fmla="*/ 88 h 288"/>
                <a:gd name="T68" fmla="*/ 395 w 421"/>
                <a:gd name="T69" fmla="*/ 107 h 288"/>
                <a:gd name="T70" fmla="*/ 404 w 421"/>
                <a:gd name="T71" fmla="*/ 134 h 288"/>
                <a:gd name="T72" fmla="*/ 400 w 421"/>
                <a:gd name="T73" fmla="*/ 162 h 288"/>
                <a:gd name="T74" fmla="*/ 400 w 421"/>
                <a:gd name="T75" fmla="*/ 194 h 288"/>
                <a:gd name="T76" fmla="*/ 400 w 421"/>
                <a:gd name="T77" fmla="*/ 228 h 288"/>
                <a:gd name="T78" fmla="*/ 381 w 421"/>
                <a:gd name="T79" fmla="*/ 286 h 288"/>
                <a:gd name="T80" fmla="*/ 345 w 421"/>
                <a:gd name="T81" fmla="*/ 141 h 288"/>
                <a:gd name="T82" fmla="*/ 277 w 421"/>
                <a:gd name="T83" fmla="*/ 118 h 288"/>
                <a:gd name="T84" fmla="*/ 194 w 421"/>
                <a:gd name="T85" fmla="*/ 98 h 288"/>
                <a:gd name="T86" fmla="*/ 111 w 421"/>
                <a:gd name="T87" fmla="*/ 100 h 288"/>
                <a:gd name="T88" fmla="*/ 89 w 421"/>
                <a:gd name="T89" fmla="*/ 111 h 288"/>
                <a:gd name="T90" fmla="*/ 67 w 421"/>
                <a:gd name="T91" fmla="*/ 140 h 288"/>
                <a:gd name="T92" fmla="*/ 53 w 421"/>
                <a:gd name="T93" fmla="*/ 184 h 288"/>
                <a:gd name="T94" fmla="*/ 36 w 421"/>
                <a:gd name="T95" fmla="*/ 21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21" h="288">
                  <a:moveTo>
                    <a:pt x="25" y="288"/>
                  </a:moveTo>
                  <a:lnTo>
                    <a:pt x="21" y="283"/>
                  </a:lnTo>
                  <a:lnTo>
                    <a:pt x="13" y="274"/>
                  </a:lnTo>
                  <a:lnTo>
                    <a:pt x="21" y="270"/>
                  </a:lnTo>
                  <a:lnTo>
                    <a:pt x="16" y="262"/>
                  </a:lnTo>
                  <a:lnTo>
                    <a:pt x="11" y="253"/>
                  </a:lnTo>
                  <a:lnTo>
                    <a:pt x="7" y="247"/>
                  </a:lnTo>
                  <a:lnTo>
                    <a:pt x="18" y="247"/>
                  </a:lnTo>
                  <a:lnTo>
                    <a:pt x="15" y="238"/>
                  </a:lnTo>
                  <a:lnTo>
                    <a:pt x="9" y="228"/>
                  </a:lnTo>
                  <a:lnTo>
                    <a:pt x="0" y="219"/>
                  </a:lnTo>
                  <a:lnTo>
                    <a:pt x="12" y="218"/>
                  </a:lnTo>
                  <a:lnTo>
                    <a:pt x="9" y="210"/>
                  </a:lnTo>
                  <a:lnTo>
                    <a:pt x="4" y="200"/>
                  </a:lnTo>
                  <a:lnTo>
                    <a:pt x="11" y="202"/>
                  </a:lnTo>
                  <a:lnTo>
                    <a:pt x="17" y="204"/>
                  </a:lnTo>
                  <a:lnTo>
                    <a:pt x="15" y="198"/>
                  </a:lnTo>
                  <a:lnTo>
                    <a:pt x="10" y="191"/>
                  </a:lnTo>
                  <a:lnTo>
                    <a:pt x="16" y="191"/>
                  </a:lnTo>
                  <a:lnTo>
                    <a:pt x="13" y="180"/>
                  </a:lnTo>
                  <a:lnTo>
                    <a:pt x="19" y="181"/>
                  </a:lnTo>
                  <a:lnTo>
                    <a:pt x="19" y="173"/>
                  </a:lnTo>
                  <a:lnTo>
                    <a:pt x="17" y="166"/>
                  </a:lnTo>
                  <a:lnTo>
                    <a:pt x="12" y="154"/>
                  </a:lnTo>
                  <a:lnTo>
                    <a:pt x="19" y="156"/>
                  </a:lnTo>
                  <a:lnTo>
                    <a:pt x="26" y="158"/>
                  </a:lnTo>
                  <a:lnTo>
                    <a:pt x="21" y="150"/>
                  </a:lnTo>
                  <a:lnTo>
                    <a:pt x="31" y="151"/>
                  </a:lnTo>
                  <a:lnTo>
                    <a:pt x="39" y="152"/>
                  </a:lnTo>
                  <a:lnTo>
                    <a:pt x="32" y="142"/>
                  </a:lnTo>
                  <a:lnTo>
                    <a:pt x="28" y="136"/>
                  </a:lnTo>
                  <a:lnTo>
                    <a:pt x="22" y="128"/>
                  </a:lnTo>
                  <a:lnTo>
                    <a:pt x="30" y="127"/>
                  </a:lnTo>
                  <a:lnTo>
                    <a:pt x="38" y="127"/>
                  </a:lnTo>
                  <a:lnTo>
                    <a:pt x="45" y="126"/>
                  </a:lnTo>
                  <a:lnTo>
                    <a:pt x="39" y="120"/>
                  </a:lnTo>
                  <a:lnTo>
                    <a:pt x="32" y="114"/>
                  </a:lnTo>
                  <a:lnTo>
                    <a:pt x="40" y="111"/>
                  </a:lnTo>
                  <a:lnTo>
                    <a:pt x="36" y="101"/>
                  </a:lnTo>
                  <a:lnTo>
                    <a:pt x="32" y="94"/>
                  </a:lnTo>
                  <a:lnTo>
                    <a:pt x="29" y="88"/>
                  </a:lnTo>
                  <a:lnTo>
                    <a:pt x="38" y="89"/>
                  </a:lnTo>
                  <a:lnTo>
                    <a:pt x="46" y="91"/>
                  </a:lnTo>
                  <a:lnTo>
                    <a:pt x="48" y="81"/>
                  </a:lnTo>
                  <a:lnTo>
                    <a:pt x="47" y="70"/>
                  </a:lnTo>
                  <a:lnTo>
                    <a:pt x="45" y="60"/>
                  </a:lnTo>
                  <a:lnTo>
                    <a:pt x="38" y="48"/>
                  </a:lnTo>
                  <a:lnTo>
                    <a:pt x="52" y="55"/>
                  </a:lnTo>
                  <a:lnTo>
                    <a:pt x="58" y="58"/>
                  </a:lnTo>
                  <a:lnTo>
                    <a:pt x="65" y="63"/>
                  </a:lnTo>
                  <a:lnTo>
                    <a:pt x="73" y="63"/>
                  </a:lnTo>
                  <a:lnTo>
                    <a:pt x="73" y="55"/>
                  </a:lnTo>
                  <a:lnTo>
                    <a:pt x="75" y="47"/>
                  </a:lnTo>
                  <a:lnTo>
                    <a:pt x="80" y="37"/>
                  </a:lnTo>
                  <a:lnTo>
                    <a:pt x="84" y="44"/>
                  </a:lnTo>
                  <a:lnTo>
                    <a:pt x="87" y="48"/>
                  </a:lnTo>
                  <a:lnTo>
                    <a:pt x="93" y="52"/>
                  </a:lnTo>
                  <a:lnTo>
                    <a:pt x="97" y="45"/>
                  </a:lnTo>
                  <a:lnTo>
                    <a:pt x="102" y="38"/>
                  </a:lnTo>
                  <a:lnTo>
                    <a:pt x="111" y="31"/>
                  </a:lnTo>
                  <a:lnTo>
                    <a:pt x="119" y="23"/>
                  </a:lnTo>
                  <a:lnTo>
                    <a:pt x="129" y="17"/>
                  </a:lnTo>
                  <a:lnTo>
                    <a:pt x="141" y="14"/>
                  </a:lnTo>
                  <a:lnTo>
                    <a:pt x="157" y="11"/>
                  </a:lnTo>
                  <a:lnTo>
                    <a:pt x="180" y="5"/>
                  </a:lnTo>
                  <a:lnTo>
                    <a:pt x="195" y="2"/>
                  </a:lnTo>
                  <a:lnTo>
                    <a:pt x="208" y="1"/>
                  </a:lnTo>
                  <a:lnTo>
                    <a:pt x="218" y="0"/>
                  </a:lnTo>
                  <a:lnTo>
                    <a:pt x="233" y="0"/>
                  </a:lnTo>
                  <a:lnTo>
                    <a:pt x="261" y="1"/>
                  </a:lnTo>
                  <a:lnTo>
                    <a:pt x="251" y="5"/>
                  </a:lnTo>
                  <a:lnTo>
                    <a:pt x="245" y="11"/>
                  </a:lnTo>
                  <a:lnTo>
                    <a:pt x="243" y="14"/>
                  </a:lnTo>
                  <a:lnTo>
                    <a:pt x="253" y="17"/>
                  </a:lnTo>
                  <a:lnTo>
                    <a:pt x="265" y="18"/>
                  </a:lnTo>
                  <a:lnTo>
                    <a:pt x="277" y="17"/>
                  </a:lnTo>
                  <a:lnTo>
                    <a:pt x="288" y="16"/>
                  </a:lnTo>
                  <a:lnTo>
                    <a:pt x="297" y="14"/>
                  </a:lnTo>
                  <a:lnTo>
                    <a:pt x="314" y="15"/>
                  </a:lnTo>
                  <a:lnTo>
                    <a:pt x="303" y="19"/>
                  </a:lnTo>
                  <a:lnTo>
                    <a:pt x="294" y="26"/>
                  </a:lnTo>
                  <a:lnTo>
                    <a:pt x="303" y="27"/>
                  </a:lnTo>
                  <a:lnTo>
                    <a:pt x="311" y="26"/>
                  </a:lnTo>
                  <a:lnTo>
                    <a:pt x="323" y="27"/>
                  </a:lnTo>
                  <a:lnTo>
                    <a:pt x="342" y="33"/>
                  </a:lnTo>
                  <a:lnTo>
                    <a:pt x="331" y="35"/>
                  </a:lnTo>
                  <a:lnTo>
                    <a:pt x="321" y="37"/>
                  </a:lnTo>
                  <a:lnTo>
                    <a:pt x="315" y="40"/>
                  </a:lnTo>
                  <a:lnTo>
                    <a:pt x="328" y="42"/>
                  </a:lnTo>
                  <a:lnTo>
                    <a:pt x="338" y="44"/>
                  </a:lnTo>
                  <a:lnTo>
                    <a:pt x="345" y="45"/>
                  </a:lnTo>
                  <a:lnTo>
                    <a:pt x="355" y="49"/>
                  </a:lnTo>
                  <a:lnTo>
                    <a:pt x="367" y="55"/>
                  </a:lnTo>
                  <a:lnTo>
                    <a:pt x="385" y="61"/>
                  </a:lnTo>
                  <a:lnTo>
                    <a:pt x="374" y="64"/>
                  </a:lnTo>
                  <a:lnTo>
                    <a:pt x="366" y="68"/>
                  </a:lnTo>
                  <a:lnTo>
                    <a:pt x="360" y="72"/>
                  </a:lnTo>
                  <a:lnTo>
                    <a:pt x="359" y="77"/>
                  </a:lnTo>
                  <a:lnTo>
                    <a:pt x="367" y="78"/>
                  </a:lnTo>
                  <a:lnTo>
                    <a:pt x="375" y="81"/>
                  </a:lnTo>
                  <a:lnTo>
                    <a:pt x="383" y="85"/>
                  </a:lnTo>
                  <a:lnTo>
                    <a:pt x="395" y="88"/>
                  </a:lnTo>
                  <a:lnTo>
                    <a:pt x="404" y="87"/>
                  </a:lnTo>
                  <a:lnTo>
                    <a:pt x="397" y="95"/>
                  </a:lnTo>
                  <a:lnTo>
                    <a:pt x="395" y="107"/>
                  </a:lnTo>
                  <a:lnTo>
                    <a:pt x="399" y="117"/>
                  </a:lnTo>
                  <a:lnTo>
                    <a:pt x="402" y="126"/>
                  </a:lnTo>
                  <a:lnTo>
                    <a:pt x="404" y="134"/>
                  </a:lnTo>
                  <a:lnTo>
                    <a:pt x="397" y="149"/>
                  </a:lnTo>
                  <a:lnTo>
                    <a:pt x="421" y="148"/>
                  </a:lnTo>
                  <a:lnTo>
                    <a:pt x="400" y="162"/>
                  </a:lnTo>
                  <a:lnTo>
                    <a:pt x="393" y="171"/>
                  </a:lnTo>
                  <a:lnTo>
                    <a:pt x="390" y="187"/>
                  </a:lnTo>
                  <a:lnTo>
                    <a:pt x="400" y="194"/>
                  </a:lnTo>
                  <a:lnTo>
                    <a:pt x="396" y="204"/>
                  </a:lnTo>
                  <a:lnTo>
                    <a:pt x="393" y="217"/>
                  </a:lnTo>
                  <a:lnTo>
                    <a:pt x="400" y="228"/>
                  </a:lnTo>
                  <a:lnTo>
                    <a:pt x="390" y="244"/>
                  </a:lnTo>
                  <a:lnTo>
                    <a:pt x="386" y="254"/>
                  </a:lnTo>
                  <a:lnTo>
                    <a:pt x="381" y="286"/>
                  </a:lnTo>
                  <a:lnTo>
                    <a:pt x="373" y="211"/>
                  </a:lnTo>
                  <a:lnTo>
                    <a:pt x="364" y="183"/>
                  </a:lnTo>
                  <a:lnTo>
                    <a:pt x="345" y="141"/>
                  </a:lnTo>
                  <a:lnTo>
                    <a:pt x="329" y="127"/>
                  </a:lnTo>
                  <a:lnTo>
                    <a:pt x="304" y="120"/>
                  </a:lnTo>
                  <a:lnTo>
                    <a:pt x="277" y="118"/>
                  </a:lnTo>
                  <a:lnTo>
                    <a:pt x="248" y="111"/>
                  </a:lnTo>
                  <a:lnTo>
                    <a:pt x="223" y="105"/>
                  </a:lnTo>
                  <a:lnTo>
                    <a:pt x="194" y="98"/>
                  </a:lnTo>
                  <a:lnTo>
                    <a:pt x="167" y="96"/>
                  </a:lnTo>
                  <a:lnTo>
                    <a:pt x="117" y="94"/>
                  </a:lnTo>
                  <a:lnTo>
                    <a:pt x="111" y="100"/>
                  </a:lnTo>
                  <a:lnTo>
                    <a:pt x="103" y="106"/>
                  </a:lnTo>
                  <a:lnTo>
                    <a:pt x="95" y="111"/>
                  </a:lnTo>
                  <a:lnTo>
                    <a:pt x="89" y="111"/>
                  </a:lnTo>
                  <a:lnTo>
                    <a:pt x="82" y="114"/>
                  </a:lnTo>
                  <a:lnTo>
                    <a:pt x="75" y="127"/>
                  </a:lnTo>
                  <a:lnTo>
                    <a:pt x="67" y="140"/>
                  </a:lnTo>
                  <a:lnTo>
                    <a:pt x="65" y="158"/>
                  </a:lnTo>
                  <a:lnTo>
                    <a:pt x="59" y="170"/>
                  </a:lnTo>
                  <a:lnTo>
                    <a:pt x="53" y="184"/>
                  </a:lnTo>
                  <a:lnTo>
                    <a:pt x="46" y="194"/>
                  </a:lnTo>
                  <a:lnTo>
                    <a:pt x="40" y="205"/>
                  </a:lnTo>
                  <a:lnTo>
                    <a:pt x="36" y="218"/>
                  </a:lnTo>
                  <a:lnTo>
                    <a:pt x="33" y="233"/>
                  </a:lnTo>
                  <a:lnTo>
                    <a:pt x="25" y="288"/>
                  </a:lnTo>
                  <a:close/>
                </a:path>
              </a:pathLst>
            </a:custGeom>
            <a:solidFill>
              <a:srgbClr val="201000"/>
            </a:solidFill>
            <a:ln w="12700" cmpd="sng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l" eaLnBrk="1" hangingPunct="1"/>
              <a:endParaRPr lang="zh-CN" altLang="en-US" sz="1800" b="0">
                <a:solidFill>
                  <a:srgbClr val="0033CC"/>
                </a:solidFill>
                <a:latin typeface="Arial" pitchFamily="34" charset="0"/>
              </a:endParaRPr>
            </a:p>
          </p:txBody>
        </p:sp>
        <p:grpSp>
          <p:nvGrpSpPr>
            <p:cNvPr id="36" name="Group 34"/>
            <p:cNvGrpSpPr>
              <a:grpSpLocks/>
            </p:cNvGrpSpPr>
            <p:nvPr/>
          </p:nvGrpSpPr>
          <p:grpSpPr bwMode="auto">
            <a:xfrm>
              <a:off x="348" y="575"/>
              <a:ext cx="177" cy="29"/>
              <a:chOff x="0" y="0"/>
              <a:chExt cx="177" cy="29"/>
            </a:xfrm>
          </p:grpSpPr>
          <p:grpSp>
            <p:nvGrpSpPr>
              <p:cNvPr id="59" name="Group 35"/>
              <p:cNvGrpSpPr>
                <a:grpSpLocks/>
              </p:cNvGrpSpPr>
              <p:nvPr/>
            </p:nvGrpSpPr>
            <p:grpSpPr bwMode="auto">
              <a:xfrm>
                <a:off x="0" y="0"/>
                <a:ext cx="29" cy="29"/>
                <a:chOff x="0" y="0"/>
                <a:chExt cx="29" cy="29"/>
              </a:xfrm>
            </p:grpSpPr>
            <p:sp>
              <p:nvSpPr>
                <p:cNvPr id="63" name="Oval 36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9" cy="29"/>
                </a:xfrm>
                <a:prstGeom prst="ellipse">
                  <a:avLst/>
                </a:prstGeom>
                <a:solidFill>
                  <a:srgbClr val="4040FF"/>
                </a:solidFill>
                <a:ln w="12700" cmpd="sng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l" eaLnBrk="1" hangingPunct="1"/>
                  <a:endParaRPr lang="zh-CN" altLang="en-US" sz="1800" b="0">
                    <a:solidFill>
                      <a:srgbClr val="0033CC"/>
                    </a:solidFill>
                    <a:latin typeface="Arial" pitchFamily="34" charset="0"/>
                  </a:endParaRPr>
                </a:p>
              </p:txBody>
            </p:sp>
            <p:sp>
              <p:nvSpPr>
                <p:cNvPr id="64" name="Oval 37"/>
                <p:cNvSpPr>
                  <a:spLocks noChangeArrowheads="1"/>
                </p:cNvSpPr>
                <p:nvPr/>
              </p:nvSpPr>
              <p:spPr bwMode="auto">
                <a:xfrm>
                  <a:off x="8" y="4"/>
                  <a:ext cx="13" cy="15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eaLnBrk="1" hangingPunct="1"/>
                  <a:endParaRPr lang="zh-CN" altLang="en-US" sz="1800" b="0">
                    <a:solidFill>
                      <a:srgbClr val="0033CC"/>
                    </a:solidFill>
                    <a:latin typeface="Arial" pitchFamily="34" charset="0"/>
                  </a:endParaRPr>
                </a:p>
              </p:txBody>
            </p:sp>
          </p:grpSp>
          <p:grpSp>
            <p:nvGrpSpPr>
              <p:cNvPr id="60" name="Group 38"/>
              <p:cNvGrpSpPr>
                <a:grpSpLocks/>
              </p:cNvGrpSpPr>
              <p:nvPr/>
            </p:nvGrpSpPr>
            <p:grpSpPr bwMode="auto">
              <a:xfrm>
                <a:off x="148" y="0"/>
                <a:ext cx="29" cy="29"/>
                <a:chOff x="0" y="0"/>
                <a:chExt cx="29" cy="29"/>
              </a:xfrm>
            </p:grpSpPr>
            <p:sp>
              <p:nvSpPr>
                <p:cNvPr id="61" name="Oval 39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9" cy="29"/>
                </a:xfrm>
                <a:prstGeom prst="ellipse">
                  <a:avLst/>
                </a:prstGeom>
                <a:solidFill>
                  <a:srgbClr val="4040FF"/>
                </a:solidFill>
                <a:ln w="12700" cmpd="sng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l" eaLnBrk="1" hangingPunct="1"/>
                  <a:endParaRPr lang="zh-CN" altLang="en-US" sz="1800" b="0">
                    <a:solidFill>
                      <a:srgbClr val="0033CC"/>
                    </a:solidFill>
                    <a:latin typeface="Arial" pitchFamily="34" charset="0"/>
                  </a:endParaRPr>
                </a:p>
              </p:txBody>
            </p:sp>
            <p:sp>
              <p:nvSpPr>
                <p:cNvPr id="62" name="Oval 40"/>
                <p:cNvSpPr>
                  <a:spLocks noChangeArrowheads="1"/>
                </p:cNvSpPr>
                <p:nvPr/>
              </p:nvSpPr>
              <p:spPr bwMode="auto">
                <a:xfrm>
                  <a:off x="7" y="4"/>
                  <a:ext cx="13" cy="17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l" eaLnBrk="1" hangingPunct="1"/>
                  <a:endParaRPr lang="zh-CN" altLang="en-US" sz="1800" b="0">
                    <a:solidFill>
                      <a:srgbClr val="0033CC"/>
                    </a:solidFill>
                    <a:latin typeface="Arial" pitchFamily="34" charset="0"/>
                  </a:endParaRPr>
                </a:p>
              </p:txBody>
            </p:sp>
          </p:grpSp>
        </p:grpSp>
        <p:sp>
          <p:nvSpPr>
            <p:cNvPr id="37" name="Arc 41"/>
            <p:cNvSpPr>
              <a:spLocks/>
            </p:cNvSpPr>
            <p:nvPr/>
          </p:nvSpPr>
          <p:spPr bwMode="auto">
            <a:xfrm>
              <a:off x="399" y="672"/>
              <a:ext cx="81" cy="41"/>
            </a:xfrm>
            <a:custGeom>
              <a:avLst/>
              <a:gdLst>
                <a:gd name="G0" fmla="+- 21600 0 0"/>
                <a:gd name="G1" fmla="+- 0 0 0"/>
                <a:gd name="G2" fmla="+- 21600 0 0"/>
                <a:gd name="T0" fmla="*/ 43200 w 43200"/>
                <a:gd name="T1" fmla="*/ 0 h 21600"/>
                <a:gd name="T2" fmla="*/ 0 w 43200"/>
                <a:gd name="T3" fmla="*/ 0 h 21600"/>
                <a:gd name="T4" fmla="*/ 21600 w 432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21600" fill="none" extrusionOk="0">
                  <a:moveTo>
                    <a:pt x="43200" y="0"/>
                  </a:moveTo>
                  <a:cubicBezTo>
                    <a:pt x="43200" y="11929"/>
                    <a:pt x="33529" y="21600"/>
                    <a:pt x="21600" y="21600"/>
                  </a:cubicBezTo>
                  <a:cubicBezTo>
                    <a:pt x="9670" y="21600"/>
                    <a:pt x="0" y="11929"/>
                    <a:pt x="0" y="0"/>
                  </a:cubicBezTo>
                </a:path>
                <a:path w="43200" h="21600" stroke="0" extrusionOk="0">
                  <a:moveTo>
                    <a:pt x="43200" y="0"/>
                  </a:moveTo>
                  <a:cubicBezTo>
                    <a:pt x="43200" y="11929"/>
                    <a:pt x="33529" y="21600"/>
                    <a:pt x="21600" y="21600"/>
                  </a:cubicBez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close/>
                </a:path>
              </a:pathLst>
            </a:custGeom>
            <a:noFill/>
            <a:ln w="12700" cmpd="sng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eaLnBrk="1" hangingPunct="1"/>
              <a:endParaRPr lang="zh-CN" altLang="en-US" sz="1800" b="0">
                <a:solidFill>
                  <a:srgbClr val="0033CC"/>
                </a:solidFill>
                <a:latin typeface="Arial" pitchFamily="34" charset="0"/>
              </a:endParaRPr>
            </a:p>
          </p:txBody>
        </p:sp>
        <p:grpSp>
          <p:nvGrpSpPr>
            <p:cNvPr id="38" name="Group 42"/>
            <p:cNvGrpSpPr>
              <a:grpSpLocks/>
            </p:cNvGrpSpPr>
            <p:nvPr/>
          </p:nvGrpSpPr>
          <p:grpSpPr bwMode="auto">
            <a:xfrm>
              <a:off x="316" y="479"/>
              <a:ext cx="255" cy="71"/>
              <a:chOff x="0" y="0"/>
              <a:chExt cx="255" cy="71"/>
            </a:xfrm>
          </p:grpSpPr>
          <p:sp>
            <p:nvSpPr>
              <p:cNvPr id="57" name="未知"/>
              <p:cNvSpPr>
                <a:spLocks/>
              </p:cNvSpPr>
              <p:nvPr/>
            </p:nvSpPr>
            <p:spPr bwMode="auto">
              <a:xfrm>
                <a:off x="0" y="0"/>
                <a:ext cx="78" cy="66"/>
              </a:xfrm>
              <a:custGeom>
                <a:avLst/>
                <a:gdLst>
                  <a:gd name="T0" fmla="*/ 67 w 78"/>
                  <a:gd name="T1" fmla="*/ 5 h 66"/>
                  <a:gd name="T2" fmla="*/ 59 w 78"/>
                  <a:gd name="T3" fmla="*/ 8 h 66"/>
                  <a:gd name="T4" fmla="*/ 51 w 78"/>
                  <a:gd name="T5" fmla="*/ 12 h 66"/>
                  <a:gd name="T6" fmla="*/ 45 w 78"/>
                  <a:gd name="T7" fmla="*/ 16 h 66"/>
                  <a:gd name="T8" fmla="*/ 40 w 78"/>
                  <a:gd name="T9" fmla="*/ 20 h 66"/>
                  <a:gd name="T10" fmla="*/ 35 w 78"/>
                  <a:gd name="T11" fmla="*/ 28 h 66"/>
                  <a:gd name="T12" fmla="*/ 30 w 78"/>
                  <a:gd name="T13" fmla="*/ 37 h 66"/>
                  <a:gd name="T14" fmla="*/ 26 w 78"/>
                  <a:gd name="T15" fmla="*/ 44 h 66"/>
                  <a:gd name="T16" fmla="*/ 22 w 78"/>
                  <a:gd name="T17" fmla="*/ 49 h 66"/>
                  <a:gd name="T18" fmla="*/ 17 w 78"/>
                  <a:gd name="T19" fmla="*/ 55 h 66"/>
                  <a:gd name="T20" fmla="*/ 0 w 78"/>
                  <a:gd name="T21" fmla="*/ 66 h 66"/>
                  <a:gd name="T22" fmla="*/ 11 w 78"/>
                  <a:gd name="T23" fmla="*/ 63 h 66"/>
                  <a:gd name="T24" fmla="*/ 18 w 78"/>
                  <a:gd name="T25" fmla="*/ 61 h 66"/>
                  <a:gd name="T26" fmla="*/ 25 w 78"/>
                  <a:gd name="T27" fmla="*/ 57 h 66"/>
                  <a:gd name="T28" fmla="*/ 33 w 78"/>
                  <a:gd name="T29" fmla="*/ 50 h 66"/>
                  <a:gd name="T30" fmla="*/ 37 w 78"/>
                  <a:gd name="T31" fmla="*/ 45 h 66"/>
                  <a:gd name="T32" fmla="*/ 43 w 78"/>
                  <a:gd name="T33" fmla="*/ 37 h 66"/>
                  <a:gd name="T34" fmla="*/ 46 w 78"/>
                  <a:gd name="T35" fmla="*/ 30 h 66"/>
                  <a:gd name="T36" fmla="*/ 50 w 78"/>
                  <a:gd name="T37" fmla="*/ 24 h 66"/>
                  <a:gd name="T38" fmla="*/ 55 w 78"/>
                  <a:gd name="T39" fmla="*/ 17 h 66"/>
                  <a:gd name="T40" fmla="*/ 60 w 78"/>
                  <a:gd name="T41" fmla="*/ 14 h 66"/>
                  <a:gd name="T42" fmla="*/ 68 w 78"/>
                  <a:gd name="T43" fmla="*/ 10 h 66"/>
                  <a:gd name="T44" fmla="*/ 74 w 78"/>
                  <a:gd name="T45" fmla="*/ 7 h 66"/>
                  <a:gd name="T46" fmla="*/ 78 w 78"/>
                  <a:gd name="T47" fmla="*/ 0 h 66"/>
                  <a:gd name="T48" fmla="*/ 67 w 78"/>
                  <a:gd name="T49" fmla="*/ 5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78" h="66">
                    <a:moveTo>
                      <a:pt x="67" y="5"/>
                    </a:moveTo>
                    <a:lnTo>
                      <a:pt x="59" y="8"/>
                    </a:lnTo>
                    <a:lnTo>
                      <a:pt x="51" y="12"/>
                    </a:lnTo>
                    <a:lnTo>
                      <a:pt x="45" y="16"/>
                    </a:lnTo>
                    <a:lnTo>
                      <a:pt x="40" y="20"/>
                    </a:lnTo>
                    <a:lnTo>
                      <a:pt x="35" y="28"/>
                    </a:lnTo>
                    <a:lnTo>
                      <a:pt x="30" y="37"/>
                    </a:lnTo>
                    <a:lnTo>
                      <a:pt x="26" y="44"/>
                    </a:lnTo>
                    <a:lnTo>
                      <a:pt x="22" y="49"/>
                    </a:lnTo>
                    <a:lnTo>
                      <a:pt x="17" y="55"/>
                    </a:lnTo>
                    <a:lnTo>
                      <a:pt x="0" y="66"/>
                    </a:lnTo>
                    <a:lnTo>
                      <a:pt x="11" y="63"/>
                    </a:lnTo>
                    <a:lnTo>
                      <a:pt x="18" y="61"/>
                    </a:lnTo>
                    <a:lnTo>
                      <a:pt x="25" y="57"/>
                    </a:lnTo>
                    <a:lnTo>
                      <a:pt x="33" y="50"/>
                    </a:lnTo>
                    <a:lnTo>
                      <a:pt x="37" y="45"/>
                    </a:lnTo>
                    <a:lnTo>
                      <a:pt x="43" y="37"/>
                    </a:lnTo>
                    <a:lnTo>
                      <a:pt x="46" y="30"/>
                    </a:lnTo>
                    <a:lnTo>
                      <a:pt x="50" y="24"/>
                    </a:lnTo>
                    <a:lnTo>
                      <a:pt x="55" y="17"/>
                    </a:lnTo>
                    <a:lnTo>
                      <a:pt x="60" y="14"/>
                    </a:lnTo>
                    <a:lnTo>
                      <a:pt x="68" y="10"/>
                    </a:lnTo>
                    <a:lnTo>
                      <a:pt x="74" y="7"/>
                    </a:lnTo>
                    <a:lnTo>
                      <a:pt x="78" y="0"/>
                    </a:lnTo>
                    <a:lnTo>
                      <a:pt x="67" y="5"/>
                    </a:lnTo>
                    <a:close/>
                  </a:path>
                </a:pathLst>
              </a:custGeom>
              <a:solidFill>
                <a:srgbClr val="201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eaLnBrk="1" hangingPunct="1"/>
                <a:endParaRPr lang="zh-CN" altLang="en-US" sz="1800" b="0">
                  <a:solidFill>
                    <a:srgbClr val="0033CC"/>
                  </a:solidFill>
                  <a:latin typeface="Arial" pitchFamily="34" charset="0"/>
                </a:endParaRPr>
              </a:p>
            </p:txBody>
          </p:sp>
          <p:sp>
            <p:nvSpPr>
              <p:cNvPr id="58" name="未知"/>
              <p:cNvSpPr>
                <a:spLocks/>
              </p:cNvSpPr>
              <p:nvPr/>
            </p:nvSpPr>
            <p:spPr bwMode="auto">
              <a:xfrm>
                <a:off x="177" y="5"/>
                <a:ext cx="78" cy="66"/>
              </a:xfrm>
              <a:custGeom>
                <a:avLst/>
                <a:gdLst>
                  <a:gd name="T0" fmla="*/ 11 w 78"/>
                  <a:gd name="T1" fmla="*/ 5 h 66"/>
                  <a:gd name="T2" fmla="*/ 20 w 78"/>
                  <a:gd name="T3" fmla="*/ 8 h 66"/>
                  <a:gd name="T4" fmla="*/ 27 w 78"/>
                  <a:gd name="T5" fmla="*/ 11 h 66"/>
                  <a:gd name="T6" fmla="*/ 33 w 78"/>
                  <a:gd name="T7" fmla="*/ 15 h 66"/>
                  <a:gd name="T8" fmla="*/ 38 w 78"/>
                  <a:gd name="T9" fmla="*/ 20 h 66"/>
                  <a:gd name="T10" fmla="*/ 43 w 78"/>
                  <a:gd name="T11" fmla="*/ 28 h 66"/>
                  <a:gd name="T12" fmla="*/ 48 w 78"/>
                  <a:gd name="T13" fmla="*/ 37 h 66"/>
                  <a:gd name="T14" fmla="*/ 52 w 78"/>
                  <a:gd name="T15" fmla="*/ 44 h 66"/>
                  <a:gd name="T16" fmla="*/ 56 w 78"/>
                  <a:gd name="T17" fmla="*/ 49 h 66"/>
                  <a:gd name="T18" fmla="*/ 61 w 78"/>
                  <a:gd name="T19" fmla="*/ 55 h 66"/>
                  <a:gd name="T20" fmla="*/ 78 w 78"/>
                  <a:gd name="T21" fmla="*/ 66 h 66"/>
                  <a:gd name="T22" fmla="*/ 67 w 78"/>
                  <a:gd name="T23" fmla="*/ 63 h 66"/>
                  <a:gd name="T24" fmla="*/ 60 w 78"/>
                  <a:gd name="T25" fmla="*/ 60 h 66"/>
                  <a:gd name="T26" fmla="*/ 53 w 78"/>
                  <a:gd name="T27" fmla="*/ 56 h 66"/>
                  <a:gd name="T28" fmla="*/ 45 w 78"/>
                  <a:gd name="T29" fmla="*/ 50 h 66"/>
                  <a:gd name="T30" fmla="*/ 41 w 78"/>
                  <a:gd name="T31" fmla="*/ 45 h 66"/>
                  <a:gd name="T32" fmla="*/ 35 w 78"/>
                  <a:gd name="T33" fmla="*/ 36 h 66"/>
                  <a:gd name="T34" fmla="*/ 32 w 78"/>
                  <a:gd name="T35" fmla="*/ 30 h 66"/>
                  <a:gd name="T36" fmla="*/ 28 w 78"/>
                  <a:gd name="T37" fmla="*/ 24 h 66"/>
                  <a:gd name="T38" fmla="*/ 23 w 78"/>
                  <a:gd name="T39" fmla="*/ 17 h 66"/>
                  <a:gd name="T40" fmla="*/ 18 w 78"/>
                  <a:gd name="T41" fmla="*/ 14 h 66"/>
                  <a:gd name="T42" fmla="*/ 10 w 78"/>
                  <a:gd name="T43" fmla="*/ 10 h 66"/>
                  <a:gd name="T44" fmla="*/ 4 w 78"/>
                  <a:gd name="T45" fmla="*/ 7 h 66"/>
                  <a:gd name="T46" fmla="*/ 0 w 78"/>
                  <a:gd name="T47" fmla="*/ 0 h 66"/>
                  <a:gd name="T48" fmla="*/ 11 w 78"/>
                  <a:gd name="T49" fmla="*/ 5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78" h="66">
                    <a:moveTo>
                      <a:pt x="11" y="5"/>
                    </a:moveTo>
                    <a:lnTo>
                      <a:pt x="20" y="8"/>
                    </a:lnTo>
                    <a:lnTo>
                      <a:pt x="27" y="11"/>
                    </a:lnTo>
                    <a:lnTo>
                      <a:pt x="33" y="15"/>
                    </a:lnTo>
                    <a:lnTo>
                      <a:pt x="38" y="20"/>
                    </a:lnTo>
                    <a:lnTo>
                      <a:pt x="43" y="28"/>
                    </a:lnTo>
                    <a:lnTo>
                      <a:pt x="48" y="37"/>
                    </a:lnTo>
                    <a:lnTo>
                      <a:pt x="52" y="44"/>
                    </a:lnTo>
                    <a:lnTo>
                      <a:pt x="56" y="49"/>
                    </a:lnTo>
                    <a:lnTo>
                      <a:pt x="61" y="55"/>
                    </a:lnTo>
                    <a:lnTo>
                      <a:pt x="78" y="66"/>
                    </a:lnTo>
                    <a:lnTo>
                      <a:pt x="67" y="63"/>
                    </a:lnTo>
                    <a:lnTo>
                      <a:pt x="60" y="60"/>
                    </a:lnTo>
                    <a:lnTo>
                      <a:pt x="53" y="56"/>
                    </a:lnTo>
                    <a:lnTo>
                      <a:pt x="45" y="50"/>
                    </a:lnTo>
                    <a:lnTo>
                      <a:pt x="41" y="45"/>
                    </a:lnTo>
                    <a:lnTo>
                      <a:pt x="35" y="36"/>
                    </a:lnTo>
                    <a:lnTo>
                      <a:pt x="32" y="30"/>
                    </a:lnTo>
                    <a:lnTo>
                      <a:pt x="28" y="24"/>
                    </a:lnTo>
                    <a:lnTo>
                      <a:pt x="23" y="17"/>
                    </a:lnTo>
                    <a:lnTo>
                      <a:pt x="18" y="14"/>
                    </a:lnTo>
                    <a:lnTo>
                      <a:pt x="10" y="10"/>
                    </a:lnTo>
                    <a:lnTo>
                      <a:pt x="4" y="7"/>
                    </a:lnTo>
                    <a:lnTo>
                      <a:pt x="0" y="0"/>
                    </a:lnTo>
                    <a:lnTo>
                      <a:pt x="11" y="5"/>
                    </a:lnTo>
                    <a:close/>
                  </a:path>
                </a:pathLst>
              </a:custGeom>
              <a:solidFill>
                <a:srgbClr val="201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 eaLnBrk="1" hangingPunct="1"/>
                <a:endParaRPr lang="zh-CN" altLang="en-US" sz="1800" b="0">
                  <a:solidFill>
                    <a:srgbClr val="0033CC"/>
                  </a:solidFill>
                  <a:latin typeface="Arial" pitchFamily="34" charset="0"/>
                </a:endParaRPr>
              </a:p>
            </p:txBody>
          </p:sp>
        </p:grpSp>
        <p:grpSp>
          <p:nvGrpSpPr>
            <p:cNvPr id="39" name="Group 45"/>
            <p:cNvGrpSpPr>
              <a:grpSpLocks/>
            </p:cNvGrpSpPr>
            <p:nvPr/>
          </p:nvGrpSpPr>
          <p:grpSpPr bwMode="auto">
            <a:xfrm>
              <a:off x="261" y="539"/>
              <a:ext cx="371" cy="104"/>
              <a:chOff x="0" y="0"/>
              <a:chExt cx="371" cy="104"/>
            </a:xfrm>
          </p:grpSpPr>
          <p:grpSp>
            <p:nvGrpSpPr>
              <p:cNvPr id="51" name="Group 46"/>
              <p:cNvGrpSpPr>
                <a:grpSpLocks/>
              </p:cNvGrpSpPr>
              <p:nvPr/>
            </p:nvGrpSpPr>
            <p:grpSpPr bwMode="auto">
              <a:xfrm>
                <a:off x="50" y="0"/>
                <a:ext cx="258" cy="104"/>
                <a:chOff x="0" y="0"/>
                <a:chExt cx="258" cy="104"/>
              </a:xfrm>
            </p:grpSpPr>
            <p:sp>
              <p:nvSpPr>
                <p:cNvPr id="55" name="Oval 47"/>
                <p:cNvSpPr>
                  <a:spLocks noChangeArrowheads="1"/>
                </p:cNvSpPr>
                <p:nvPr/>
              </p:nvSpPr>
              <p:spPr bwMode="auto">
                <a:xfrm>
                  <a:off x="154" y="0"/>
                  <a:ext cx="104" cy="104"/>
                </a:xfrm>
                <a:prstGeom prst="ellipse">
                  <a:avLst/>
                </a:prstGeom>
                <a:noFill/>
                <a:ln w="12700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eaLnBrk="1" hangingPunct="1"/>
                  <a:endParaRPr lang="zh-CN" altLang="en-US" sz="1800" b="0">
                    <a:solidFill>
                      <a:srgbClr val="0033CC"/>
                    </a:solidFill>
                    <a:latin typeface="Arial" pitchFamily="34" charset="0"/>
                  </a:endParaRPr>
                </a:p>
              </p:txBody>
            </p:sp>
            <p:sp>
              <p:nvSpPr>
                <p:cNvPr id="56" name="Oval 48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04" cy="104"/>
                </a:xfrm>
                <a:prstGeom prst="ellipse">
                  <a:avLst/>
                </a:prstGeom>
                <a:noFill/>
                <a:ln w="12700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l" eaLnBrk="1" hangingPunct="1"/>
                  <a:endParaRPr lang="zh-CN" altLang="en-US" sz="1800" b="0">
                    <a:solidFill>
                      <a:srgbClr val="0033CC"/>
                    </a:solidFill>
                    <a:latin typeface="Arial" pitchFamily="34" charset="0"/>
                  </a:endParaRPr>
                </a:p>
              </p:txBody>
            </p:sp>
          </p:grpSp>
          <p:sp>
            <p:nvSpPr>
              <p:cNvPr id="52" name="Arc 49"/>
              <p:cNvSpPr>
                <a:spLocks/>
              </p:cNvSpPr>
              <p:nvPr/>
            </p:nvSpPr>
            <p:spPr bwMode="auto">
              <a:xfrm>
                <a:off x="155" y="29"/>
                <a:ext cx="46" cy="29"/>
              </a:xfrm>
              <a:custGeom>
                <a:avLst/>
                <a:gdLst>
                  <a:gd name="G0" fmla="+- 18552 0 0"/>
                  <a:gd name="G1" fmla="+- 21600 0 0"/>
                  <a:gd name="G2" fmla="+- 21600 0 0"/>
                  <a:gd name="T0" fmla="*/ 0 w 34033"/>
                  <a:gd name="T1" fmla="*/ 10537 h 21600"/>
                  <a:gd name="T2" fmla="*/ 34033 w 34033"/>
                  <a:gd name="T3" fmla="*/ 6537 h 21600"/>
                  <a:gd name="T4" fmla="*/ 18552 w 34033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4033" h="21600" fill="none" extrusionOk="0">
                    <a:moveTo>
                      <a:pt x="0" y="10537"/>
                    </a:moveTo>
                    <a:cubicBezTo>
                      <a:pt x="3896" y="4002"/>
                      <a:pt x="10943" y="-1"/>
                      <a:pt x="18552" y="0"/>
                    </a:cubicBezTo>
                    <a:cubicBezTo>
                      <a:pt x="24383" y="0"/>
                      <a:pt x="29966" y="2357"/>
                      <a:pt x="34033" y="6536"/>
                    </a:cubicBezTo>
                  </a:path>
                  <a:path w="34033" h="21600" stroke="0" extrusionOk="0">
                    <a:moveTo>
                      <a:pt x="0" y="10537"/>
                    </a:moveTo>
                    <a:cubicBezTo>
                      <a:pt x="3896" y="4002"/>
                      <a:pt x="10943" y="-1"/>
                      <a:pt x="18552" y="0"/>
                    </a:cubicBezTo>
                    <a:cubicBezTo>
                      <a:pt x="24383" y="0"/>
                      <a:pt x="29966" y="2357"/>
                      <a:pt x="34033" y="6536"/>
                    </a:cubicBezTo>
                    <a:lnTo>
                      <a:pt x="18552" y="21600"/>
                    </a:lnTo>
                    <a:close/>
                  </a:path>
                </a:pathLst>
              </a:custGeom>
              <a:noFill/>
              <a:ln w="1270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 eaLnBrk="1" hangingPunct="1"/>
                <a:endParaRPr lang="zh-CN" altLang="en-US" sz="1800" b="0">
                  <a:solidFill>
                    <a:srgbClr val="0033CC"/>
                  </a:solidFill>
                  <a:latin typeface="Arial" pitchFamily="34" charset="0"/>
                </a:endParaRPr>
              </a:p>
            </p:txBody>
          </p:sp>
          <p:sp>
            <p:nvSpPr>
              <p:cNvPr id="53" name="Line 50"/>
              <p:cNvSpPr>
                <a:spLocks noChangeShapeType="1"/>
              </p:cNvSpPr>
              <p:nvPr/>
            </p:nvSpPr>
            <p:spPr bwMode="auto">
              <a:xfrm>
                <a:off x="0" y="27"/>
                <a:ext cx="59" cy="10"/>
              </a:xfrm>
              <a:prstGeom prst="line">
                <a:avLst/>
              </a:prstGeom>
              <a:noFill/>
              <a:ln w="1270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eaLnBrk="1" hangingPunct="1"/>
                <a:endParaRPr lang="zh-CN" altLang="en-US" sz="1800" b="0">
                  <a:solidFill>
                    <a:srgbClr val="0033CC"/>
                  </a:solidFill>
                  <a:latin typeface="Arial" pitchFamily="34" charset="0"/>
                </a:endParaRPr>
              </a:p>
            </p:txBody>
          </p:sp>
          <p:sp>
            <p:nvSpPr>
              <p:cNvPr id="54" name="Line 51"/>
              <p:cNvSpPr>
                <a:spLocks noChangeShapeType="1"/>
              </p:cNvSpPr>
              <p:nvPr/>
            </p:nvSpPr>
            <p:spPr bwMode="auto">
              <a:xfrm flipV="1">
                <a:off x="308" y="11"/>
                <a:ext cx="63" cy="22"/>
              </a:xfrm>
              <a:prstGeom prst="line">
                <a:avLst/>
              </a:prstGeom>
              <a:noFill/>
              <a:ln w="1270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eaLnBrk="1" hangingPunct="1"/>
                <a:endParaRPr lang="zh-CN" altLang="en-US" sz="1800" b="0">
                  <a:solidFill>
                    <a:srgbClr val="0033CC"/>
                  </a:solidFill>
                  <a:latin typeface="Arial" pitchFamily="34" charset="0"/>
                </a:endParaRPr>
              </a:p>
            </p:txBody>
          </p:sp>
        </p:grpSp>
        <p:sp>
          <p:nvSpPr>
            <p:cNvPr id="40" name="未知"/>
            <p:cNvSpPr>
              <a:spLocks/>
            </p:cNvSpPr>
            <p:nvPr/>
          </p:nvSpPr>
          <p:spPr bwMode="auto">
            <a:xfrm>
              <a:off x="432" y="805"/>
              <a:ext cx="21" cy="3"/>
            </a:xfrm>
            <a:custGeom>
              <a:avLst/>
              <a:gdLst>
                <a:gd name="T0" fmla="*/ 0 w 21"/>
                <a:gd name="T1" fmla="*/ 2 h 3"/>
                <a:gd name="T2" fmla="*/ 8 w 21"/>
                <a:gd name="T3" fmla="*/ 0 h 3"/>
                <a:gd name="T4" fmla="*/ 15 w 21"/>
                <a:gd name="T5" fmla="*/ 2 h 3"/>
                <a:gd name="T6" fmla="*/ 21 w 21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">
                  <a:moveTo>
                    <a:pt x="0" y="2"/>
                  </a:moveTo>
                  <a:lnTo>
                    <a:pt x="8" y="0"/>
                  </a:lnTo>
                  <a:lnTo>
                    <a:pt x="15" y="2"/>
                  </a:lnTo>
                  <a:lnTo>
                    <a:pt x="21" y="3"/>
                  </a:lnTo>
                </a:path>
              </a:pathLst>
            </a:custGeom>
            <a:noFill/>
            <a:ln w="12700" cmpd="sng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 eaLnBrk="1" hangingPunct="1"/>
              <a:endParaRPr lang="zh-CN" altLang="en-US" sz="1800" b="0">
                <a:solidFill>
                  <a:srgbClr val="0033CC"/>
                </a:solidFill>
                <a:latin typeface="Arial" pitchFamily="34" charset="0"/>
              </a:endParaRPr>
            </a:p>
          </p:txBody>
        </p:sp>
        <p:grpSp>
          <p:nvGrpSpPr>
            <p:cNvPr id="41" name="Group 53"/>
            <p:cNvGrpSpPr>
              <a:grpSpLocks/>
            </p:cNvGrpSpPr>
            <p:nvPr/>
          </p:nvGrpSpPr>
          <p:grpSpPr bwMode="auto">
            <a:xfrm>
              <a:off x="0" y="0"/>
              <a:ext cx="878" cy="670"/>
              <a:chOff x="0" y="0"/>
              <a:chExt cx="878" cy="670"/>
            </a:xfrm>
          </p:grpSpPr>
          <p:sp>
            <p:nvSpPr>
              <p:cNvPr id="42" name="Line 54"/>
              <p:cNvSpPr>
                <a:spLocks noChangeShapeType="1"/>
              </p:cNvSpPr>
              <p:nvPr/>
            </p:nvSpPr>
            <p:spPr bwMode="auto">
              <a:xfrm>
                <a:off x="0" y="430"/>
                <a:ext cx="95" cy="32"/>
              </a:xfrm>
              <a:prstGeom prst="line">
                <a:avLst/>
              </a:prstGeom>
              <a:noFill/>
              <a:ln w="1270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eaLnBrk="1" hangingPunct="1"/>
                <a:endParaRPr lang="zh-CN" altLang="en-US" sz="1800" b="0">
                  <a:solidFill>
                    <a:srgbClr val="0033CC"/>
                  </a:solidFill>
                  <a:latin typeface="Arial" pitchFamily="34" charset="0"/>
                </a:endParaRPr>
              </a:p>
            </p:txBody>
          </p:sp>
          <p:sp>
            <p:nvSpPr>
              <p:cNvPr id="43" name="Line 55"/>
              <p:cNvSpPr>
                <a:spLocks noChangeShapeType="1"/>
              </p:cNvSpPr>
              <p:nvPr/>
            </p:nvSpPr>
            <p:spPr bwMode="auto">
              <a:xfrm flipV="1">
                <a:off x="789" y="474"/>
                <a:ext cx="89" cy="19"/>
              </a:xfrm>
              <a:prstGeom prst="line">
                <a:avLst/>
              </a:prstGeom>
              <a:noFill/>
              <a:ln w="1270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eaLnBrk="1" hangingPunct="1"/>
                <a:endParaRPr lang="zh-CN" altLang="en-US" sz="1800" b="0">
                  <a:solidFill>
                    <a:srgbClr val="0033CC"/>
                  </a:solidFill>
                  <a:latin typeface="Arial" pitchFamily="34" charset="0"/>
                </a:endParaRPr>
              </a:p>
            </p:txBody>
          </p:sp>
          <p:sp>
            <p:nvSpPr>
              <p:cNvPr id="44" name="Line 56"/>
              <p:cNvSpPr>
                <a:spLocks noChangeShapeType="1"/>
              </p:cNvSpPr>
              <p:nvPr/>
            </p:nvSpPr>
            <p:spPr bwMode="auto">
              <a:xfrm>
                <a:off x="170" y="66"/>
                <a:ext cx="51" cy="62"/>
              </a:xfrm>
              <a:prstGeom prst="line">
                <a:avLst/>
              </a:prstGeom>
              <a:noFill/>
              <a:ln w="1270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eaLnBrk="1" hangingPunct="1"/>
                <a:endParaRPr lang="zh-CN" altLang="en-US" sz="1800" b="0">
                  <a:solidFill>
                    <a:srgbClr val="0033CC"/>
                  </a:solidFill>
                  <a:latin typeface="Arial" pitchFamily="34" charset="0"/>
                </a:endParaRPr>
              </a:p>
            </p:txBody>
          </p:sp>
          <p:sp>
            <p:nvSpPr>
              <p:cNvPr id="45" name="Line 57"/>
              <p:cNvSpPr>
                <a:spLocks noChangeShapeType="1"/>
              </p:cNvSpPr>
              <p:nvPr/>
            </p:nvSpPr>
            <p:spPr bwMode="auto">
              <a:xfrm flipH="1">
                <a:off x="670" y="87"/>
                <a:ext cx="42" cy="51"/>
              </a:xfrm>
              <a:prstGeom prst="line">
                <a:avLst/>
              </a:prstGeom>
              <a:noFill/>
              <a:ln w="1270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eaLnBrk="1" hangingPunct="1"/>
                <a:endParaRPr lang="zh-CN" altLang="en-US" sz="1800" b="0">
                  <a:solidFill>
                    <a:srgbClr val="0033CC"/>
                  </a:solidFill>
                  <a:latin typeface="Arial" pitchFamily="34" charset="0"/>
                </a:endParaRPr>
              </a:p>
            </p:txBody>
          </p:sp>
          <p:sp>
            <p:nvSpPr>
              <p:cNvPr id="46" name="Line 58"/>
              <p:cNvSpPr>
                <a:spLocks noChangeShapeType="1"/>
              </p:cNvSpPr>
              <p:nvPr/>
            </p:nvSpPr>
            <p:spPr bwMode="auto">
              <a:xfrm>
                <a:off x="446" y="0"/>
                <a:ext cx="2" cy="86"/>
              </a:xfrm>
              <a:prstGeom prst="line">
                <a:avLst/>
              </a:prstGeom>
              <a:noFill/>
              <a:ln w="1270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eaLnBrk="1" hangingPunct="1"/>
                <a:endParaRPr lang="zh-CN" altLang="en-US" sz="1800" b="0">
                  <a:solidFill>
                    <a:srgbClr val="0033CC"/>
                  </a:solidFill>
                  <a:latin typeface="Arial" pitchFamily="34" charset="0"/>
                </a:endParaRPr>
              </a:p>
            </p:txBody>
          </p:sp>
          <p:sp>
            <p:nvSpPr>
              <p:cNvPr id="47" name="Line 59"/>
              <p:cNvSpPr>
                <a:spLocks noChangeShapeType="1"/>
              </p:cNvSpPr>
              <p:nvPr/>
            </p:nvSpPr>
            <p:spPr bwMode="auto">
              <a:xfrm>
                <a:off x="48" y="249"/>
                <a:ext cx="70" cy="23"/>
              </a:xfrm>
              <a:prstGeom prst="line">
                <a:avLst/>
              </a:prstGeom>
              <a:noFill/>
              <a:ln w="1270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eaLnBrk="1" hangingPunct="1"/>
                <a:endParaRPr lang="zh-CN" altLang="en-US" sz="1800" b="0">
                  <a:solidFill>
                    <a:srgbClr val="0033CC"/>
                  </a:solidFill>
                  <a:latin typeface="Arial" pitchFamily="34" charset="0"/>
                </a:endParaRPr>
              </a:p>
            </p:txBody>
          </p:sp>
          <p:sp>
            <p:nvSpPr>
              <p:cNvPr id="48" name="Line 60"/>
              <p:cNvSpPr>
                <a:spLocks noChangeShapeType="1"/>
              </p:cNvSpPr>
              <p:nvPr/>
            </p:nvSpPr>
            <p:spPr bwMode="auto">
              <a:xfrm flipH="1">
                <a:off x="801" y="271"/>
                <a:ext cx="68" cy="12"/>
              </a:xfrm>
              <a:prstGeom prst="line">
                <a:avLst/>
              </a:prstGeom>
              <a:noFill/>
              <a:ln w="1270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eaLnBrk="1" hangingPunct="1"/>
                <a:endParaRPr lang="zh-CN" altLang="en-US" sz="1800" b="0">
                  <a:solidFill>
                    <a:srgbClr val="0033CC"/>
                  </a:solidFill>
                  <a:latin typeface="Arial" pitchFamily="34" charset="0"/>
                </a:endParaRPr>
              </a:p>
            </p:txBody>
          </p:sp>
          <p:sp>
            <p:nvSpPr>
              <p:cNvPr id="49" name="Line 61"/>
              <p:cNvSpPr>
                <a:spLocks noChangeShapeType="1"/>
              </p:cNvSpPr>
              <p:nvPr/>
            </p:nvSpPr>
            <p:spPr bwMode="auto">
              <a:xfrm flipH="1">
                <a:off x="57" y="650"/>
                <a:ext cx="64" cy="20"/>
              </a:xfrm>
              <a:prstGeom prst="line">
                <a:avLst/>
              </a:prstGeom>
              <a:noFill/>
              <a:ln w="1270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eaLnBrk="1" hangingPunct="1"/>
                <a:endParaRPr lang="zh-CN" altLang="en-US" sz="1800" b="0">
                  <a:solidFill>
                    <a:srgbClr val="0033CC"/>
                  </a:solidFill>
                  <a:latin typeface="Arial" pitchFamily="34" charset="0"/>
                </a:endParaRPr>
              </a:p>
            </p:txBody>
          </p:sp>
          <p:sp>
            <p:nvSpPr>
              <p:cNvPr id="50" name="Line 62"/>
              <p:cNvSpPr>
                <a:spLocks noChangeShapeType="1"/>
              </p:cNvSpPr>
              <p:nvPr/>
            </p:nvSpPr>
            <p:spPr bwMode="auto">
              <a:xfrm>
                <a:off x="781" y="647"/>
                <a:ext cx="79" cy="23"/>
              </a:xfrm>
              <a:prstGeom prst="line">
                <a:avLst/>
              </a:prstGeom>
              <a:noFill/>
              <a:ln w="1270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 eaLnBrk="1" hangingPunct="1"/>
                <a:endParaRPr lang="zh-CN" altLang="en-US" sz="1800" b="0">
                  <a:solidFill>
                    <a:srgbClr val="0033CC"/>
                  </a:solidFill>
                  <a:latin typeface="Arial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80429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icoche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icoche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  <p:bldP spid="7" grpId="0" animBg="1"/>
      <p:bldP spid="12" grpId="0" autoUpdateAnimBg="0"/>
      <p:bldP spid="16" grpId="0" animBg="1"/>
      <p:bldP spid="17" grpId="0" animBg="1"/>
      <p:bldP spid="18" grpId="0" animBg="1"/>
      <p:bldP spid="19" grpId="0" autoUpdateAnimBg="0"/>
      <p:bldP spid="23" grpId="0" animBg="1"/>
      <p:bldP spid="24" grpId="0" autoUpdateAnimBg="0"/>
      <p:bldP spid="28" grpId="0" animBg="1"/>
      <p:bldP spid="29" grpId="0" animBg="1"/>
      <p:bldP spid="30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4E43462C-8BFB-4F48-A4D2-D5C7DD382793}" type="slidenum">
              <a:rPr lang="zh-CN" altLang="en-US"/>
              <a:pPr/>
              <a:t>76</a:t>
            </a:fld>
            <a:endParaRPr lang="en-US" altLang="zh-CN"/>
          </a:p>
        </p:txBody>
      </p:sp>
      <p:sp>
        <p:nvSpPr>
          <p:cNvPr id="91139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82C4B93E-F79D-4E17-A958-528D26BF5DBF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427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>
                <a:latin typeface="Times New Roman" pitchFamily="18" charset="0"/>
              </a:rPr>
              <a:t>说  明</a:t>
            </a:r>
          </a:p>
        </p:txBody>
      </p:sp>
      <p:sp>
        <p:nvSpPr>
          <p:cNvPr id="911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292227"/>
            <a:ext cx="8142288" cy="384175"/>
          </a:xfrm>
        </p:spPr>
        <p:txBody>
          <a:bodyPr/>
          <a:lstStyle/>
          <a:p>
            <a:r>
              <a:rPr lang="zh-CN" altLang="en-US" smtClean="0">
                <a:latin typeface="宋体" pitchFamily="2" charset="-122"/>
              </a:rPr>
              <a:t>用牛顿法解方程，初始值</a:t>
            </a:r>
            <a:r>
              <a:rPr lang="en-US" altLang="zh-CN" i="1" smtClean="0"/>
              <a:t>x</a:t>
            </a:r>
            <a:r>
              <a:rPr lang="en-US" altLang="zh-CN" baseline="-30000" smtClean="0"/>
              <a:t>0</a:t>
            </a:r>
            <a:r>
              <a:rPr lang="zh-CN" altLang="en-US" smtClean="0">
                <a:latin typeface="宋体" pitchFamily="2" charset="-122"/>
              </a:rPr>
              <a:t>的选取很重要</a:t>
            </a:r>
          </a:p>
        </p:txBody>
      </p:sp>
      <p:grpSp>
        <p:nvGrpSpPr>
          <p:cNvPr id="91142" name="Group 4"/>
          <p:cNvGrpSpPr>
            <a:grpSpLocks/>
          </p:cNvGrpSpPr>
          <p:nvPr/>
        </p:nvGrpSpPr>
        <p:grpSpPr bwMode="auto">
          <a:xfrm>
            <a:off x="395290" y="1773240"/>
            <a:ext cx="4587875" cy="2147887"/>
            <a:chOff x="0" y="2352"/>
            <a:chExt cx="2746" cy="1353"/>
          </a:xfrm>
        </p:grpSpPr>
        <p:sp>
          <p:nvSpPr>
            <p:cNvPr id="91155" name="Line 5"/>
            <p:cNvSpPr>
              <a:spLocks noChangeShapeType="1"/>
            </p:cNvSpPr>
            <p:nvPr/>
          </p:nvSpPr>
          <p:spPr bwMode="auto">
            <a:xfrm>
              <a:off x="53" y="3256"/>
              <a:ext cx="2693" cy="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56" name="Line 6"/>
            <p:cNvSpPr>
              <a:spLocks noChangeShapeType="1"/>
            </p:cNvSpPr>
            <p:nvPr/>
          </p:nvSpPr>
          <p:spPr bwMode="auto">
            <a:xfrm flipH="1" flipV="1">
              <a:off x="335" y="2400"/>
              <a:ext cx="0" cy="12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57" name="Text Box 7"/>
            <p:cNvSpPr txBox="1">
              <a:spLocks noChangeArrowheads="1"/>
            </p:cNvSpPr>
            <p:nvPr/>
          </p:nvSpPr>
          <p:spPr bwMode="auto">
            <a:xfrm>
              <a:off x="0" y="2352"/>
              <a:ext cx="287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00" i="1"/>
                <a:t>y</a:t>
              </a:r>
            </a:p>
          </p:txBody>
        </p:sp>
        <p:sp>
          <p:nvSpPr>
            <p:cNvPr id="91158" name="Text Box 8"/>
            <p:cNvSpPr txBox="1">
              <a:spLocks noChangeArrowheads="1"/>
            </p:cNvSpPr>
            <p:nvPr/>
          </p:nvSpPr>
          <p:spPr bwMode="auto">
            <a:xfrm>
              <a:off x="2019" y="3216"/>
              <a:ext cx="28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 i="1"/>
                <a:t>x</a:t>
              </a:r>
              <a:r>
                <a:rPr lang="en-US" altLang="zh-CN" sz="2400" i="1" baseline="-25000"/>
                <a:t>1</a:t>
              </a:r>
            </a:p>
          </p:txBody>
        </p:sp>
        <p:sp>
          <p:nvSpPr>
            <p:cNvPr id="91159" name="Text Box 9"/>
            <p:cNvSpPr txBox="1">
              <a:spLocks noChangeArrowheads="1"/>
            </p:cNvSpPr>
            <p:nvPr/>
          </p:nvSpPr>
          <p:spPr bwMode="auto">
            <a:xfrm>
              <a:off x="121" y="3216"/>
              <a:ext cx="286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zh-CN" sz="3000"/>
                <a:t>0</a:t>
              </a:r>
            </a:p>
          </p:txBody>
        </p:sp>
        <p:sp>
          <p:nvSpPr>
            <p:cNvPr id="91160" name="Rectangle 10"/>
            <p:cNvSpPr>
              <a:spLocks noChangeArrowheads="1"/>
            </p:cNvSpPr>
            <p:nvPr/>
          </p:nvSpPr>
          <p:spPr bwMode="auto">
            <a:xfrm>
              <a:off x="827" y="3253"/>
              <a:ext cx="27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/>
                <a:t>x</a:t>
              </a:r>
              <a:r>
                <a:rPr lang="en-US" altLang="zh-CN" sz="2400" i="1" baseline="-25000"/>
                <a:t>0</a:t>
              </a:r>
              <a:endParaRPr lang="zh-CN" altLang="zh-CN" sz="2400" i="1" baseline="-25000"/>
            </a:p>
          </p:txBody>
        </p:sp>
        <p:sp>
          <p:nvSpPr>
            <p:cNvPr id="91161" name="Freeform 11"/>
            <p:cNvSpPr>
              <a:spLocks/>
            </p:cNvSpPr>
            <p:nvPr/>
          </p:nvSpPr>
          <p:spPr bwMode="auto">
            <a:xfrm>
              <a:off x="404" y="2601"/>
              <a:ext cx="2180" cy="1104"/>
            </a:xfrm>
            <a:custGeom>
              <a:avLst/>
              <a:gdLst>
                <a:gd name="T0" fmla="*/ 0 w 2592"/>
                <a:gd name="T1" fmla="*/ 808 h 1104"/>
                <a:gd name="T2" fmla="*/ 242 w 2592"/>
                <a:gd name="T3" fmla="*/ 280 h 1104"/>
                <a:gd name="T4" fmla="*/ 444 w 2592"/>
                <a:gd name="T5" fmla="*/ 40 h 1104"/>
                <a:gd name="T6" fmla="*/ 525 w 2592"/>
                <a:gd name="T7" fmla="*/ 40 h 1104"/>
                <a:gd name="T8" fmla="*/ 606 w 2592"/>
                <a:gd name="T9" fmla="*/ 88 h 1104"/>
                <a:gd name="T10" fmla="*/ 727 w 2592"/>
                <a:gd name="T11" fmla="*/ 328 h 1104"/>
                <a:gd name="T12" fmla="*/ 807 w 2592"/>
                <a:gd name="T13" fmla="*/ 568 h 1104"/>
                <a:gd name="T14" fmla="*/ 969 w 2592"/>
                <a:gd name="T15" fmla="*/ 1000 h 1104"/>
                <a:gd name="T16" fmla="*/ 1171 w 2592"/>
                <a:gd name="T17" fmla="*/ 1096 h 1104"/>
                <a:gd name="T18" fmla="*/ 1292 w 2592"/>
                <a:gd name="T19" fmla="*/ 1048 h 1104"/>
                <a:gd name="T20" fmla="*/ 1373 w 2592"/>
                <a:gd name="T21" fmla="*/ 904 h 1104"/>
                <a:gd name="T22" fmla="*/ 1453 w 2592"/>
                <a:gd name="T23" fmla="*/ 664 h 1104"/>
                <a:gd name="T24" fmla="*/ 1534 w 2592"/>
                <a:gd name="T25" fmla="*/ 328 h 1104"/>
                <a:gd name="T26" fmla="*/ 1696 w 2592"/>
                <a:gd name="T27" fmla="*/ 184 h 1104"/>
                <a:gd name="T28" fmla="*/ 1736 w 2592"/>
                <a:gd name="T29" fmla="*/ 232 h 1104"/>
                <a:gd name="T30" fmla="*/ 1696 w 2592"/>
                <a:gd name="T31" fmla="*/ 184 h 1104"/>
                <a:gd name="T32" fmla="*/ 1857 w 2592"/>
                <a:gd name="T33" fmla="*/ 328 h 1104"/>
                <a:gd name="T34" fmla="*/ 1897 w 2592"/>
                <a:gd name="T35" fmla="*/ 472 h 1104"/>
                <a:gd name="T36" fmla="*/ 1938 w 2592"/>
                <a:gd name="T37" fmla="*/ 616 h 1104"/>
                <a:gd name="T38" fmla="*/ 2059 w 2592"/>
                <a:gd name="T39" fmla="*/ 904 h 1104"/>
                <a:gd name="T40" fmla="*/ 2180 w 2592"/>
                <a:gd name="T41" fmla="*/ 856 h 1104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592"/>
                <a:gd name="T64" fmla="*/ 0 h 1104"/>
                <a:gd name="T65" fmla="*/ 2592 w 2592"/>
                <a:gd name="T66" fmla="*/ 1104 h 1104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592" h="1104">
                  <a:moveTo>
                    <a:pt x="0" y="808"/>
                  </a:moveTo>
                  <a:cubicBezTo>
                    <a:pt x="100" y="608"/>
                    <a:pt x="200" y="408"/>
                    <a:pt x="288" y="280"/>
                  </a:cubicBezTo>
                  <a:cubicBezTo>
                    <a:pt x="376" y="152"/>
                    <a:pt x="472" y="80"/>
                    <a:pt x="528" y="40"/>
                  </a:cubicBezTo>
                  <a:cubicBezTo>
                    <a:pt x="584" y="0"/>
                    <a:pt x="592" y="32"/>
                    <a:pt x="624" y="40"/>
                  </a:cubicBezTo>
                  <a:cubicBezTo>
                    <a:pt x="656" y="48"/>
                    <a:pt x="680" y="40"/>
                    <a:pt x="720" y="88"/>
                  </a:cubicBezTo>
                  <a:cubicBezTo>
                    <a:pt x="760" y="136"/>
                    <a:pt x="824" y="248"/>
                    <a:pt x="864" y="328"/>
                  </a:cubicBezTo>
                  <a:cubicBezTo>
                    <a:pt x="904" y="408"/>
                    <a:pt x="912" y="456"/>
                    <a:pt x="960" y="568"/>
                  </a:cubicBezTo>
                  <a:cubicBezTo>
                    <a:pt x="1008" y="680"/>
                    <a:pt x="1080" y="912"/>
                    <a:pt x="1152" y="1000"/>
                  </a:cubicBezTo>
                  <a:cubicBezTo>
                    <a:pt x="1224" y="1088"/>
                    <a:pt x="1328" y="1088"/>
                    <a:pt x="1392" y="1096"/>
                  </a:cubicBezTo>
                  <a:cubicBezTo>
                    <a:pt x="1456" y="1104"/>
                    <a:pt x="1496" y="1080"/>
                    <a:pt x="1536" y="1048"/>
                  </a:cubicBezTo>
                  <a:cubicBezTo>
                    <a:pt x="1576" y="1016"/>
                    <a:pt x="1600" y="968"/>
                    <a:pt x="1632" y="904"/>
                  </a:cubicBezTo>
                  <a:cubicBezTo>
                    <a:pt x="1664" y="840"/>
                    <a:pt x="1696" y="760"/>
                    <a:pt x="1728" y="664"/>
                  </a:cubicBezTo>
                  <a:cubicBezTo>
                    <a:pt x="1760" y="568"/>
                    <a:pt x="1776" y="408"/>
                    <a:pt x="1824" y="328"/>
                  </a:cubicBezTo>
                  <a:cubicBezTo>
                    <a:pt x="1872" y="248"/>
                    <a:pt x="1976" y="200"/>
                    <a:pt x="2016" y="184"/>
                  </a:cubicBezTo>
                  <a:cubicBezTo>
                    <a:pt x="2056" y="168"/>
                    <a:pt x="2064" y="232"/>
                    <a:pt x="2064" y="232"/>
                  </a:cubicBezTo>
                  <a:cubicBezTo>
                    <a:pt x="2064" y="232"/>
                    <a:pt x="1992" y="168"/>
                    <a:pt x="2016" y="184"/>
                  </a:cubicBezTo>
                  <a:cubicBezTo>
                    <a:pt x="2040" y="200"/>
                    <a:pt x="2168" y="280"/>
                    <a:pt x="2208" y="328"/>
                  </a:cubicBezTo>
                  <a:cubicBezTo>
                    <a:pt x="2248" y="376"/>
                    <a:pt x="2240" y="424"/>
                    <a:pt x="2256" y="472"/>
                  </a:cubicBezTo>
                  <a:cubicBezTo>
                    <a:pt x="2272" y="520"/>
                    <a:pt x="2272" y="544"/>
                    <a:pt x="2304" y="616"/>
                  </a:cubicBezTo>
                  <a:cubicBezTo>
                    <a:pt x="2336" y="688"/>
                    <a:pt x="2400" y="864"/>
                    <a:pt x="2448" y="904"/>
                  </a:cubicBezTo>
                  <a:cubicBezTo>
                    <a:pt x="2496" y="944"/>
                    <a:pt x="2568" y="864"/>
                    <a:pt x="2592" y="856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162" name="Line 12"/>
            <p:cNvSpPr>
              <a:spLocks noChangeShapeType="1"/>
            </p:cNvSpPr>
            <p:nvPr/>
          </p:nvSpPr>
          <p:spPr bwMode="auto">
            <a:xfrm>
              <a:off x="929" y="2641"/>
              <a:ext cx="0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163" name="Line 13"/>
            <p:cNvSpPr>
              <a:spLocks noChangeShapeType="1"/>
            </p:cNvSpPr>
            <p:nvPr/>
          </p:nvSpPr>
          <p:spPr bwMode="auto">
            <a:xfrm>
              <a:off x="929" y="2641"/>
              <a:ext cx="1292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164" name="Rectangle 14"/>
            <p:cNvSpPr>
              <a:spLocks noChangeArrowheads="1"/>
            </p:cNvSpPr>
            <p:nvPr/>
          </p:nvSpPr>
          <p:spPr bwMode="auto">
            <a:xfrm>
              <a:off x="1288" y="3215"/>
              <a:ext cx="255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000" i="1">
                  <a:sym typeface="Symbol" pitchFamily="18" charset="2"/>
                </a:rPr>
                <a:t></a:t>
              </a:r>
              <a:endParaRPr lang="zh-CN" altLang="en-US" sz="3000" i="1">
                <a:sym typeface="Symbol" pitchFamily="18" charset="2"/>
              </a:endParaRPr>
            </a:p>
          </p:txBody>
        </p:sp>
      </p:grpSp>
      <p:grpSp>
        <p:nvGrpSpPr>
          <p:cNvPr id="91143" name="Group 15"/>
          <p:cNvGrpSpPr>
            <a:grpSpLocks/>
          </p:cNvGrpSpPr>
          <p:nvPr/>
        </p:nvGrpSpPr>
        <p:grpSpPr bwMode="auto">
          <a:xfrm>
            <a:off x="5148265" y="1916113"/>
            <a:ext cx="3578225" cy="2286000"/>
            <a:chOff x="2786" y="2064"/>
            <a:chExt cx="2254" cy="1440"/>
          </a:xfrm>
        </p:grpSpPr>
        <p:sp>
          <p:nvSpPr>
            <p:cNvPr id="91145" name="Line 16"/>
            <p:cNvSpPr>
              <a:spLocks noChangeShapeType="1"/>
            </p:cNvSpPr>
            <p:nvPr/>
          </p:nvSpPr>
          <p:spPr bwMode="auto">
            <a:xfrm flipH="1" flipV="1">
              <a:off x="3000" y="2064"/>
              <a:ext cx="0" cy="12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46" name="Text Box 17"/>
            <p:cNvSpPr txBox="1">
              <a:spLocks noChangeArrowheads="1"/>
            </p:cNvSpPr>
            <p:nvPr/>
          </p:nvSpPr>
          <p:spPr bwMode="auto">
            <a:xfrm>
              <a:off x="2786" y="2880"/>
              <a:ext cx="286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zh-CN" sz="3000"/>
                <a:t>0</a:t>
              </a:r>
            </a:p>
          </p:txBody>
        </p:sp>
        <p:grpSp>
          <p:nvGrpSpPr>
            <p:cNvPr id="91147" name="Group 18"/>
            <p:cNvGrpSpPr>
              <a:grpSpLocks/>
            </p:cNvGrpSpPr>
            <p:nvPr/>
          </p:nvGrpSpPr>
          <p:grpSpPr bwMode="auto">
            <a:xfrm>
              <a:off x="2832" y="2112"/>
              <a:ext cx="2208" cy="1392"/>
              <a:chOff x="3024" y="2160"/>
              <a:chExt cx="2208" cy="1392"/>
            </a:xfrm>
          </p:grpSpPr>
          <p:sp>
            <p:nvSpPr>
              <p:cNvPr id="91148" name="Line 19"/>
              <p:cNvSpPr>
                <a:spLocks noChangeShapeType="1"/>
              </p:cNvSpPr>
              <p:nvPr/>
            </p:nvSpPr>
            <p:spPr bwMode="auto">
              <a:xfrm>
                <a:off x="3024" y="2976"/>
                <a:ext cx="220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149" name="Freeform 20"/>
              <p:cNvSpPr>
                <a:spLocks/>
              </p:cNvSpPr>
              <p:nvPr/>
            </p:nvSpPr>
            <p:spPr bwMode="auto">
              <a:xfrm>
                <a:off x="3360" y="2208"/>
                <a:ext cx="1536" cy="1344"/>
              </a:xfrm>
              <a:custGeom>
                <a:avLst/>
                <a:gdLst>
                  <a:gd name="T0" fmla="*/ 0 w 1536"/>
                  <a:gd name="T1" fmla="*/ 0 h 1392"/>
                  <a:gd name="T2" fmla="*/ 240 w 1536"/>
                  <a:gd name="T3" fmla="*/ 93 h 1392"/>
                  <a:gd name="T4" fmla="*/ 528 w 1536"/>
                  <a:gd name="T5" fmla="*/ 510 h 1392"/>
                  <a:gd name="T6" fmla="*/ 672 w 1536"/>
                  <a:gd name="T7" fmla="*/ 788 h 1392"/>
                  <a:gd name="T8" fmla="*/ 912 w 1536"/>
                  <a:gd name="T9" fmla="*/ 1112 h 1392"/>
                  <a:gd name="T10" fmla="*/ 1152 w 1536"/>
                  <a:gd name="T11" fmla="*/ 1251 h 1392"/>
                  <a:gd name="T12" fmla="*/ 1536 w 1536"/>
                  <a:gd name="T13" fmla="*/ 1344 h 139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36"/>
                  <a:gd name="T22" fmla="*/ 0 h 1392"/>
                  <a:gd name="T23" fmla="*/ 1536 w 1536"/>
                  <a:gd name="T24" fmla="*/ 1392 h 139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36" h="1392">
                    <a:moveTo>
                      <a:pt x="0" y="0"/>
                    </a:moveTo>
                    <a:cubicBezTo>
                      <a:pt x="76" y="4"/>
                      <a:pt x="152" y="8"/>
                      <a:pt x="240" y="96"/>
                    </a:cubicBezTo>
                    <a:cubicBezTo>
                      <a:pt x="328" y="184"/>
                      <a:pt x="456" y="408"/>
                      <a:pt x="528" y="528"/>
                    </a:cubicBezTo>
                    <a:cubicBezTo>
                      <a:pt x="600" y="648"/>
                      <a:pt x="608" y="712"/>
                      <a:pt x="672" y="816"/>
                    </a:cubicBezTo>
                    <a:cubicBezTo>
                      <a:pt x="736" y="920"/>
                      <a:pt x="832" y="1072"/>
                      <a:pt x="912" y="1152"/>
                    </a:cubicBezTo>
                    <a:cubicBezTo>
                      <a:pt x="992" y="1232"/>
                      <a:pt x="1048" y="1256"/>
                      <a:pt x="1152" y="1296"/>
                    </a:cubicBezTo>
                    <a:cubicBezTo>
                      <a:pt x="1256" y="1336"/>
                      <a:pt x="1396" y="1364"/>
                      <a:pt x="1536" y="1392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1150" name="Line 21"/>
              <p:cNvSpPr>
                <a:spLocks noChangeShapeType="1"/>
              </p:cNvSpPr>
              <p:nvPr/>
            </p:nvSpPr>
            <p:spPr bwMode="auto">
              <a:xfrm>
                <a:off x="3360" y="2160"/>
                <a:ext cx="1344" cy="81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1151" name="Line 22"/>
              <p:cNvSpPr>
                <a:spLocks noChangeShapeType="1"/>
              </p:cNvSpPr>
              <p:nvPr/>
            </p:nvSpPr>
            <p:spPr bwMode="auto">
              <a:xfrm>
                <a:off x="4704" y="2976"/>
                <a:ext cx="0" cy="5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1152" name="Line 23"/>
              <p:cNvSpPr>
                <a:spLocks noChangeShapeType="1"/>
              </p:cNvSpPr>
              <p:nvPr/>
            </p:nvSpPr>
            <p:spPr bwMode="auto">
              <a:xfrm>
                <a:off x="3408" y="2976"/>
                <a:ext cx="1296" cy="57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1153" name="Line 24"/>
              <p:cNvSpPr>
                <a:spLocks noChangeShapeType="1"/>
              </p:cNvSpPr>
              <p:nvPr/>
            </p:nvSpPr>
            <p:spPr bwMode="auto">
              <a:xfrm>
                <a:off x="3408" y="2208"/>
                <a:ext cx="0" cy="72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1154" name="Rectangle 25"/>
              <p:cNvSpPr>
                <a:spLocks noChangeArrowheads="1"/>
              </p:cNvSpPr>
              <p:nvPr/>
            </p:nvSpPr>
            <p:spPr bwMode="auto">
              <a:xfrm>
                <a:off x="4416" y="2928"/>
                <a:ext cx="29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i="1"/>
                  <a:t>x</a:t>
                </a:r>
                <a:r>
                  <a:rPr lang="en-US" altLang="zh-CN" sz="2400" i="1" baseline="-25000"/>
                  <a:t>0</a:t>
                </a:r>
                <a:endParaRPr lang="zh-CN" altLang="zh-CN" sz="2400" i="1" baseline="-25000"/>
              </a:p>
            </p:txBody>
          </p:sp>
        </p:grpSp>
      </p:grpSp>
      <p:sp>
        <p:nvSpPr>
          <p:cNvPr id="91144" name="Rectangle 27"/>
          <p:cNvSpPr>
            <a:spLocks noChangeArrowheads="1"/>
          </p:cNvSpPr>
          <p:nvPr/>
        </p:nvSpPr>
        <p:spPr bwMode="auto">
          <a:xfrm>
            <a:off x="611190" y="4365625"/>
            <a:ext cx="8142287" cy="207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342900" indent="-342900" algn="l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</a:pPr>
            <a:r>
              <a:rPr lang="zh-CN" altLang="en-US" sz="2800">
                <a:latin typeface="宋体" pitchFamily="2" charset="-122"/>
                <a:ea typeface="黑体" pitchFamily="49" charset="-122"/>
              </a:rPr>
              <a:t>牛顿法收敛性好，稳定性好，精度高，是求解非线性方程的有效方法之一</a:t>
            </a:r>
          </a:p>
          <a:p>
            <a:pPr marL="342900" indent="-342900" algn="l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</a:pPr>
            <a:r>
              <a:rPr lang="zh-CN" altLang="en-US" sz="2800">
                <a:latin typeface="宋体" pitchFamily="2" charset="-122"/>
                <a:ea typeface="黑体" pitchFamily="49" charset="-122"/>
              </a:rPr>
              <a:t>对初值要求高，每次迭代都需要计算函数值与导数值，计算量大；当导数值提供有困难时牛顿法无法进行</a:t>
            </a:r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BA41955B-871D-4CCA-B89C-8CE7C83F8995}" type="slidenum">
              <a:rPr lang="zh-CN" altLang="en-US"/>
              <a:pPr/>
              <a:t>77</a:t>
            </a:fld>
            <a:endParaRPr lang="en-US" altLang="zh-CN"/>
          </a:p>
        </p:txBody>
      </p:sp>
      <p:sp>
        <p:nvSpPr>
          <p:cNvPr id="33797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8E54DAF5-EE79-4366-B405-0D6AFD9973C6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294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3.3.3</a:t>
            </a:r>
            <a:r>
              <a:rPr lang="zh-CN" altLang="en-US" smtClean="0">
                <a:latin typeface="Times New Roman" pitchFamily="18" charset="0"/>
              </a:rPr>
              <a:t> 切线法的变形使用</a:t>
            </a:r>
          </a:p>
        </p:txBody>
      </p:sp>
      <p:sp>
        <p:nvSpPr>
          <p:cNvPr id="337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1638" y="1355725"/>
            <a:ext cx="8437562" cy="443198"/>
          </a:xfrm>
        </p:spPr>
        <p:txBody>
          <a:bodyPr/>
          <a:lstStyle/>
          <a:p>
            <a:r>
              <a:rPr lang="zh-CN" altLang="en-US" sz="3200"/>
              <a:t>(1) 简化切线法</a:t>
            </a:r>
          </a:p>
        </p:txBody>
      </p:sp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3810000" y="2801938"/>
            <a:ext cx="4572000" cy="3751262"/>
            <a:chOff x="1008" y="1632"/>
            <a:chExt cx="2880" cy="2363"/>
          </a:xfrm>
        </p:grpSpPr>
        <p:sp>
          <p:nvSpPr>
            <p:cNvPr id="33803" name="Arc 11"/>
            <p:cNvSpPr>
              <a:spLocks/>
            </p:cNvSpPr>
            <p:nvPr/>
          </p:nvSpPr>
          <p:spPr bwMode="auto">
            <a:xfrm flipV="1">
              <a:off x="1488" y="1632"/>
              <a:ext cx="1824" cy="2112"/>
            </a:xfrm>
            <a:custGeom>
              <a:avLst/>
              <a:gdLst>
                <a:gd name="T0" fmla="*/ 0 w 21074"/>
                <a:gd name="T1" fmla="*/ 0 h 21600"/>
                <a:gd name="T2" fmla="*/ 158 w 21074"/>
                <a:gd name="T3" fmla="*/ 147 h 21600"/>
                <a:gd name="T4" fmla="*/ 3 w 21074"/>
                <a:gd name="T5" fmla="*/ 207 h 21600"/>
                <a:gd name="T6" fmla="*/ 0 60000 65536"/>
                <a:gd name="T7" fmla="*/ 0 60000 65536"/>
                <a:gd name="T8" fmla="*/ 0 60000 65536"/>
                <a:gd name="T9" fmla="*/ 0 w 21074"/>
                <a:gd name="T10" fmla="*/ 0 h 21600"/>
                <a:gd name="T11" fmla="*/ 21074 w 210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074" h="21600" fill="none" extrusionOk="0">
                  <a:moveTo>
                    <a:pt x="-1" y="3"/>
                  </a:moveTo>
                  <a:cubicBezTo>
                    <a:pt x="129" y="1"/>
                    <a:pt x="259" y="-1"/>
                    <a:pt x="389" y="0"/>
                  </a:cubicBezTo>
                  <a:cubicBezTo>
                    <a:pt x="9922" y="0"/>
                    <a:pt x="18328" y="6250"/>
                    <a:pt x="21074" y="15379"/>
                  </a:cubicBezTo>
                </a:path>
                <a:path w="21074" h="21600" stroke="0" extrusionOk="0">
                  <a:moveTo>
                    <a:pt x="-1" y="3"/>
                  </a:moveTo>
                  <a:cubicBezTo>
                    <a:pt x="129" y="1"/>
                    <a:pt x="259" y="-1"/>
                    <a:pt x="389" y="0"/>
                  </a:cubicBezTo>
                  <a:cubicBezTo>
                    <a:pt x="9922" y="0"/>
                    <a:pt x="18328" y="6250"/>
                    <a:pt x="21074" y="15379"/>
                  </a:cubicBezTo>
                  <a:lnTo>
                    <a:pt x="389" y="21600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3804" name="Group 28"/>
            <p:cNvGrpSpPr>
              <a:grpSpLocks/>
            </p:cNvGrpSpPr>
            <p:nvPr/>
          </p:nvGrpSpPr>
          <p:grpSpPr bwMode="auto">
            <a:xfrm>
              <a:off x="1008" y="2208"/>
              <a:ext cx="2880" cy="1787"/>
              <a:chOff x="1008" y="2208"/>
              <a:chExt cx="2880" cy="1787"/>
            </a:xfrm>
          </p:grpSpPr>
          <p:grpSp>
            <p:nvGrpSpPr>
              <p:cNvPr id="33805" name="Group 5"/>
              <p:cNvGrpSpPr>
                <a:grpSpLocks/>
              </p:cNvGrpSpPr>
              <p:nvPr/>
            </p:nvGrpSpPr>
            <p:grpSpPr bwMode="auto">
              <a:xfrm>
                <a:off x="1008" y="2256"/>
                <a:ext cx="2880" cy="1739"/>
                <a:chOff x="240" y="1958"/>
                <a:chExt cx="2432" cy="2097"/>
              </a:xfrm>
            </p:grpSpPr>
            <p:sp>
              <p:nvSpPr>
                <p:cNvPr id="33819" name="Line 6"/>
                <p:cNvSpPr>
                  <a:spLocks noChangeShapeType="1"/>
                </p:cNvSpPr>
                <p:nvPr/>
              </p:nvSpPr>
              <p:spPr bwMode="auto">
                <a:xfrm>
                  <a:off x="293" y="3685"/>
                  <a:ext cx="2379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820" name="Line 7"/>
                <p:cNvSpPr>
                  <a:spLocks noChangeShapeType="1"/>
                </p:cNvSpPr>
                <p:nvPr/>
              </p:nvSpPr>
              <p:spPr bwMode="auto">
                <a:xfrm flipH="1" flipV="1">
                  <a:off x="576" y="2016"/>
                  <a:ext cx="6" cy="182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821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240" y="1958"/>
                  <a:ext cx="288" cy="41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 b="1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zh-CN" sz="3000" i="1">
                      <a:latin typeface="Times New Roman" pitchFamily="18" charset="0"/>
                    </a:rPr>
                    <a:t>y</a:t>
                  </a:r>
                </a:p>
              </p:txBody>
            </p:sp>
            <p:sp>
              <p:nvSpPr>
                <p:cNvPr id="33822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2352" y="3600"/>
                  <a:ext cx="287" cy="4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 b="1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zh-CN" sz="3000" i="1">
                      <a:latin typeface="Times New Roman" pitchFamily="18" charset="0"/>
                    </a:rPr>
                    <a:t>x</a:t>
                  </a:r>
                </a:p>
              </p:txBody>
            </p:sp>
            <p:sp>
              <p:nvSpPr>
                <p:cNvPr id="33823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337" y="3638"/>
                  <a:ext cx="287" cy="41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 b="1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zh-CN" altLang="zh-CN" sz="3000"/>
                    <a:t>0</a:t>
                  </a:r>
                </a:p>
              </p:txBody>
            </p:sp>
          </p:grpSp>
          <p:sp>
            <p:nvSpPr>
              <p:cNvPr id="33806" name="Rectangle 12"/>
              <p:cNvSpPr>
                <a:spLocks noChangeArrowheads="1"/>
              </p:cNvSpPr>
              <p:nvPr/>
            </p:nvSpPr>
            <p:spPr bwMode="auto">
              <a:xfrm>
                <a:off x="3119" y="3601"/>
                <a:ext cx="325" cy="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3000" i="1">
                    <a:latin typeface="Times New Roman" pitchFamily="18" charset="0"/>
                  </a:rPr>
                  <a:t>x</a:t>
                </a:r>
                <a:r>
                  <a:rPr lang="en-US" altLang="zh-CN" sz="3000" i="1" baseline="-25000"/>
                  <a:t>0</a:t>
                </a:r>
                <a:endParaRPr lang="zh-CN" altLang="zh-CN" sz="3000" i="1" baseline="-25000"/>
              </a:p>
            </p:txBody>
          </p:sp>
          <p:sp>
            <p:nvSpPr>
              <p:cNvPr id="33807" name="Line 13"/>
              <p:cNvSpPr>
                <a:spLocks noChangeShapeType="1"/>
              </p:cNvSpPr>
              <p:nvPr/>
            </p:nvSpPr>
            <p:spPr bwMode="auto">
              <a:xfrm>
                <a:off x="3264" y="2448"/>
                <a:ext cx="0" cy="124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808" name="Line 14"/>
              <p:cNvSpPr>
                <a:spLocks noChangeShapeType="1"/>
              </p:cNvSpPr>
              <p:nvPr/>
            </p:nvSpPr>
            <p:spPr bwMode="auto">
              <a:xfrm flipH="1">
                <a:off x="2784" y="2448"/>
                <a:ext cx="480" cy="12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809" name="Rectangle 15"/>
              <p:cNvSpPr>
                <a:spLocks noChangeArrowheads="1"/>
              </p:cNvSpPr>
              <p:nvPr/>
            </p:nvSpPr>
            <p:spPr bwMode="auto">
              <a:xfrm>
                <a:off x="2586" y="2208"/>
                <a:ext cx="63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400" i="1">
                    <a:solidFill>
                      <a:srgbClr val="0000FF"/>
                    </a:solidFill>
                    <a:latin typeface="Times New Roman" pitchFamily="18" charset="0"/>
                  </a:rPr>
                  <a:t>y</a:t>
                </a:r>
                <a:r>
                  <a:rPr lang="en-US" altLang="zh-CN" sz="2400" i="1" baseline="-25000">
                    <a:solidFill>
                      <a:srgbClr val="0000FF"/>
                    </a:solidFill>
                    <a:latin typeface="Times New Roman" pitchFamily="18" charset="0"/>
                  </a:rPr>
                  <a:t> </a:t>
                </a:r>
                <a:r>
                  <a:rPr lang="en-US" altLang="zh-CN" sz="2400" i="1">
                    <a:solidFill>
                      <a:srgbClr val="0000FF"/>
                    </a:solidFill>
                    <a:latin typeface="Times New Roman" pitchFamily="18" charset="0"/>
                  </a:rPr>
                  <a:t>=f(x)</a:t>
                </a:r>
                <a:endParaRPr lang="zh-CN" altLang="en-US" sz="2400" i="1">
                  <a:solidFill>
                    <a:srgbClr val="0000FF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3810" name="Rectangle 16"/>
              <p:cNvSpPr>
                <a:spLocks noChangeArrowheads="1"/>
              </p:cNvSpPr>
              <p:nvPr/>
            </p:nvSpPr>
            <p:spPr bwMode="auto">
              <a:xfrm>
                <a:off x="2651" y="3601"/>
                <a:ext cx="325" cy="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3000" i="1">
                    <a:latin typeface="Times New Roman" pitchFamily="18" charset="0"/>
                  </a:rPr>
                  <a:t>x</a:t>
                </a:r>
                <a:r>
                  <a:rPr lang="en-US" altLang="zh-CN" sz="3000" i="1" baseline="-25000"/>
                  <a:t>1</a:t>
                </a:r>
                <a:endParaRPr lang="zh-CN" altLang="zh-CN" sz="3000" i="1" baseline="-25000"/>
              </a:p>
            </p:txBody>
          </p:sp>
          <p:sp>
            <p:nvSpPr>
              <p:cNvPr id="33811" name="Line 17"/>
              <p:cNvSpPr>
                <a:spLocks noChangeShapeType="1"/>
              </p:cNvSpPr>
              <p:nvPr/>
            </p:nvSpPr>
            <p:spPr bwMode="auto">
              <a:xfrm>
                <a:off x="2784" y="3168"/>
                <a:ext cx="0" cy="5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812" name="Rectangle 19"/>
              <p:cNvSpPr>
                <a:spLocks noChangeArrowheads="1"/>
              </p:cNvSpPr>
              <p:nvPr/>
            </p:nvSpPr>
            <p:spPr bwMode="auto">
              <a:xfrm>
                <a:off x="2452" y="3601"/>
                <a:ext cx="325" cy="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3000" i="1">
                    <a:latin typeface="Times New Roman" pitchFamily="18" charset="0"/>
                  </a:rPr>
                  <a:t>x</a:t>
                </a:r>
                <a:r>
                  <a:rPr lang="en-US" altLang="zh-CN" sz="3000" i="1" baseline="-25000"/>
                  <a:t>2</a:t>
                </a:r>
                <a:endParaRPr lang="zh-CN" altLang="zh-CN" sz="3000" i="1" baseline="-25000"/>
              </a:p>
            </p:txBody>
          </p:sp>
          <p:sp>
            <p:nvSpPr>
              <p:cNvPr id="33813" name="Rectangle 20"/>
              <p:cNvSpPr>
                <a:spLocks noChangeArrowheads="1"/>
              </p:cNvSpPr>
              <p:nvPr/>
            </p:nvSpPr>
            <p:spPr bwMode="auto">
              <a:xfrm>
                <a:off x="1872" y="3597"/>
                <a:ext cx="268" cy="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3000" i="1">
                    <a:sym typeface="Symbol" pitchFamily="18" charset="2"/>
                  </a:rPr>
                  <a:t></a:t>
                </a:r>
                <a:endParaRPr lang="zh-CN" altLang="zh-CN" sz="3000" i="1" baseline="-25000"/>
              </a:p>
            </p:txBody>
          </p:sp>
          <p:sp>
            <p:nvSpPr>
              <p:cNvPr id="33814" name="Line 22"/>
              <p:cNvSpPr>
                <a:spLocks noChangeShapeType="1"/>
              </p:cNvSpPr>
              <p:nvPr/>
            </p:nvSpPr>
            <p:spPr bwMode="auto">
              <a:xfrm flipH="1">
                <a:off x="2592" y="3168"/>
                <a:ext cx="192" cy="5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815" name="Line 23"/>
              <p:cNvSpPr>
                <a:spLocks noChangeShapeType="1"/>
              </p:cNvSpPr>
              <p:nvPr/>
            </p:nvSpPr>
            <p:spPr bwMode="auto">
              <a:xfrm>
                <a:off x="2592" y="3360"/>
                <a:ext cx="0" cy="3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816" name="Line 24"/>
              <p:cNvSpPr>
                <a:spLocks noChangeShapeType="1"/>
              </p:cNvSpPr>
              <p:nvPr/>
            </p:nvSpPr>
            <p:spPr bwMode="auto">
              <a:xfrm flipH="1">
                <a:off x="2448" y="3360"/>
                <a:ext cx="144" cy="3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817" name="Line 25"/>
              <p:cNvSpPr>
                <a:spLocks noChangeShapeType="1"/>
              </p:cNvSpPr>
              <p:nvPr/>
            </p:nvSpPr>
            <p:spPr bwMode="auto">
              <a:xfrm>
                <a:off x="2448" y="3456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818" name="Line 27"/>
              <p:cNvSpPr>
                <a:spLocks noChangeShapeType="1"/>
              </p:cNvSpPr>
              <p:nvPr/>
            </p:nvSpPr>
            <p:spPr bwMode="auto">
              <a:xfrm flipH="1">
                <a:off x="2352" y="3456"/>
                <a:ext cx="96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294942" name="Object 30"/>
          <p:cNvGraphicFramePr>
            <a:graphicFrameLocks noChangeAspect="1"/>
          </p:cNvGraphicFramePr>
          <p:nvPr/>
        </p:nvGraphicFramePr>
        <p:xfrm>
          <a:off x="990600" y="1828800"/>
          <a:ext cx="2895600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96" name="Equation" r:id="rId4" imgW="1257120" imgH="444240" progId="Equation.3">
                  <p:embed/>
                </p:oleObj>
              </mc:Choice>
              <mc:Fallback>
                <p:oleObj name="Equation" r:id="rId4" imgW="1257120" imgH="44424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828800"/>
                        <a:ext cx="2895600" cy="1130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4943" name="Rectangle 31"/>
          <p:cNvSpPr>
            <a:spLocks noChangeArrowheads="1"/>
          </p:cNvSpPr>
          <p:nvPr/>
        </p:nvSpPr>
        <p:spPr bwMode="auto">
          <a:xfrm>
            <a:off x="76200" y="2971802"/>
            <a:ext cx="8686800" cy="1224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lvl="1" algn="l">
              <a:lnSpc>
                <a:spcPct val="90000"/>
              </a:lnSpc>
              <a:spcBef>
                <a:spcPct val="50000"/>
              </a:spcBef>
              <a:buClr>
                <a:srgbClr val="27305F"/>
              </a:buClr>
              <a:buFontTx/>
              <a:buChar char="–"/>
            </a:pP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称为</a:t>
            </a:r>
            <a:r>
              <a:rPr lang="zh-CN" altLang="en-US" sz="3200" u="sng">
                <a:latin typeface="Times New Roman" pitchFamily="18" charset="0"/>
                <a:ea typeface="黑体" pitchFamily="49" charset="-122"/>
              </a:rPr>
              <a:t>简化切线法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，或</a:t>
            </a:r>
            <a:r>
              <a:rPr lang="zh-CN" altLang="en-US" sz="3200" u="sng">
                <a:latin typeface="Times New Roman" pitchFamily="18" charset="0"/>
                <a:ea typeface="黑体" pitchFamily="49" charset="-122"/>
              </a:rPr>
              <a:t>固定斜率的切线法</a:t>
            </a:r>
            <a:endParaRPr lang="zh-CN" altLang="en-US" sz="3200">
              <a:latin typeface="Times New Roman" pitchFamily="18" charset="0"/>
              <a:ea typeface="黑体" pitchFamily="49" charset="-122"/>
            </a:endParaRPr>
          </a:p>
          <a:p>
            <a:pPr lvl="1" algn="l">
              <a:lnSpc>
                <a:spcPct val="90000"/>
              </a:lnSpc>
              <a:spcBef>
                <a:spcPct val="50000"/>
              </a:spcBef>
              <a:buClr>
                <a:srgbClr val="27305F"/>
              </a:buClr>
              <a:buFontTx/>
              <a:buChar char="–"/>
            </a:pP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几何意义如下</a:t>
            </a:r>
          </a:p>
        </p:txBody>
      </p:sp>
      <p:sp>
        <p:nvSpPr>
          <p:cNvPr id="294944" name="AutoShape 32"/>
          <p:cNvSpPr>
            <a:spLocks noChangeArrowheads="1"/>
          </p:cNvSpPr>
          <p:nvPr/>
        </p:nvSpPr>
        <p:spPr bwMode="auto">
          <a:xfrm>
            <a:off x="4191000" y="2133600"/>
            <a:ext cx="685800" cy="609600"/>
          </a:xfrm>
          <a:prstGeom prst="rightArrow">
            <a:avLst>
              <a:gd name="adj1" fmla="val 50000"/>
              <a:gd name="adj2" fmla="val 28125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94945" name="Object 33"/>
          <p:cNvGraphicFramePr>
            <a:graphicFrameLocks noChangeAspect="1"/>
          </p:cNvGraphicFramePr>
          <p:nvPr/>
        </p:nvGraphicFramePr>
        <p:xfrm>
          <a:off x="5238750" y="1844675"/>
          <a:ext cx="2705100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97" name="Equation" r:id="rId6" imgW="1206360" imgH="431640" progId="Equation.3">
                  <p:embed/>
                </p:oleObj>
              </mc:Choice>
              <mc:Fallback>
                <p:oleObj name="Equation" r:id="rId6" imgW="1206360" imgH="43164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8750" y="1844675"/>
                        <a:ext cx="2705100" cy="1098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4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4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4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4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4943" grpId="0" autoUpdateAnimBg="0"/>
      <p:bldP spid="294944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2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F00C9E72-B4D5-4B98-8AE6-06E52D177463}" type="slidenum">
              <a:rPr lang="zh-CN" altLang="en-US"/>
              <a:pPr/>
              <a:t>78</a:t>
            </a:fld>
            <a:endParaRPr lang="en-US" altLang="zh-CN"/>
          </a:p>
        </p:txBody>
      </p:sp>
      <p:sp>
        <p:nvSpPr>
          <p:cNvPr id="34823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EC8E9020-AA86-420E-B5EC-2EE827E28E20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296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3.3.3</a:t>
            </a:r>
            <a:r>
              <a:rPr lang="zh-CN" altLang="en-US" smtClean="0">
                <a:latin typeface="Times New Roman" pitchFamily="18" charset="0"/>
              </a:rPr>
              <a:t> 切线法的变形使用</a:t>
            </a:r>
          </a:p>
        </p:txBody>
      </p:sp>
      <p:sp>
        <p:nvSpPr>
          <p:cNvPr id="348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2"/>
            <a:ext cx="8153400" cy="2215991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altLang="zh-CN" sz="3200"/>
              <a:t>(2)  </a:t>
            </a:r>
            <a:r>
              <a:rPr lang="zh-CN" altLang="en-US" sz="3200"/>
              <a:t>修正的切线法</a:t>
            </a:r>
          </a:p>
          <a:p>
            <a:pPr>
              <a:lnSpc>
                <a:spcPct val="160000"/>
              </a:lnSpc>
            </a:pPr>
            <a:r>
              <a:rPr lang="en-US" altLang="zh-CN" sz="3200"/>
              <a:t>(3)  </a:t>
            </a:r>
            <a:r>
              <a:rPr lang="zh-CN" altLang="en-US" sz="3200"/>
              <a:t>牛顿下山法</a:t>
            </a:r>
          </a:p>
          <a:p>
            <a:pPr lvl="1"/>
            <a:r>
              <a:rPr lang="zh-CN" altLang="en-US" sz="3200"/>
              <a:t>为扩大收敛范围，引入参数</a:t>
            </a:r>
          </a:p>
        </p:txBody>
      </p:sp>
      <p:graphicFrame>
        <p:nvGraphicFramePr>
          <p:cNvPr id="296965" name="Object 5"/>
          <p:cNvGraphicFramePr>
            <a:graphicFrameLocks noChangeAspect="1"/>
          </p:cNvGraphicFramePr>
          <p:nvPr/>
        </p:nvGraphicFramePr>
        <p:xfrm>
          <a:off x="5105400" y="3475038"/>
          <a:ext cx="2990850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72" name="Equation" r:id="rId4" imgW="1333440" imgH="431640" progId="Equation.3">
                  <p:embed/>
                </p:oleObj>
              </mc:Choice>
              <mc:Fallback>
                <p:oleObj name="Equation" r:id="rId4" imgW="1333440" imgH="431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3475038"/>
                        <a:ext cx="2990850" cy="1098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6966" name="Object 6"/>
          <p:cNvGraphicFramePr>
            <a:graphicFrameLocks noChangeAspect="1"/>
          </p:cNvGraphicFramePr>
          <p:nvPr/>
        </p:nvGraphicFramePr>
        <p:xfrm>
          <a:off x="1066800" y="3411538"/>
          <a:ext cx="2895600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73" name="Equation" r:id="rId6" imgW="1257120" imgH="444240" progId="Equation.3">
                  <p:embed/>
                </p:oleObj>
              </mc:Choice>
              <mc:Fallback>
                <p:oleObj name="Equation" r:id="rId6" imgW="1257120" imgH="4442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411538"/>
                        <a:ext cx="2895600" cy="1130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6967" name="AutoShape 7"/>
          <p:cNvSpPr>
            <a:spLocks noChangeArrowheads="1"/>
          </p:cNvSpPr>
          <p:nvPr/>
        </p:nvSpPr>
        <p:spPr bwMode="auto">
          <a:xfrm>
            <a:off x="4267200" y="3716338"/>
            <a:ext cx="685800" cy="609600"/>
          </a:xfrm>
          <a:prstGeom prst="rightArrow">
            <a:avLst>
              <a:gd name="adj1" fmla="val 50000"/>
              <a:gd name="adj2" fmla="val 28125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6968" name="Rectangle 8"/>
          <p:cNvSpPr>
            <a:spLocks noChangeArrowheads="1"/>
          </p:cNvSpPr>
          <p:nvPr/>
        </p:nvSpPr>
        <p:spPr bwMode="auto">
          <a:xfrm>
            <a:off x="533400" y="4579940"/>
            <a:ext cx="7924800" cy="2111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lvl="1" algn="l">
              <a:lnSpc>
                <a:spcPct val="120000"/>
              </a:lnSpc>
              <a:spcBef>
                <a:spcPct val="50000"/>
              </a:spcBef>
              <a:buClr>
                <a:srgbClr val="27305F"/>
              </a:buClr>
              <a:buFontTx/>
              <a:buChar char="–"/>
            </a:pP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 达到|</a:t>
            </a:r>
            <a:r>
              <a:rPr lang="en-US" altLang="zh-CN" sz="3200" i="1">
                <a:latin typeface="Times New Roman" pitchFamily="18" charset="0"/>
                <a:ea typeface="黑体" pitchFamily="49" charset="-122"/>
              </a:rPr>
              <a:t>f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(</a:t>
            </a:r>
            <a:r>
              <a:rPr lang="en-US" altLang="zh-CN" sz="3200" i="1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3200" baseline="-25000">
                <a:latin typeface="Times New Roman" pitchFamily="18" charset="0"/>
                <a:ea typeface="黑体" pitchFamily="49" charset="-122"/>
              </a:rPr>
              <a:t>0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)|&gt; 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|</a:t>
            </a:r>
            <a:r>
              <a:rPr lang="en-US" altLang="zh-CN" sz="3200" i="1">
                <a:latin typeface="Times New Roman" pitchFamily="18" charset="0"/>
                <a:ea typeface="黑体" pitchFamily="49" charset="-122"/>
              </a:rPr>
              <a:t>f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(</a:t>
            </a:r>
            <a:r>
              <a:rPr lang="en-US" altLang="zh-CN" sz="3200" i="1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3200" baseline="-25000">
                <a:latin typeface="Times New Roman" pitchFamily="18" charset="0"/>
                <a:ea typeface="黑体" pitchFamily="49" charset="-122"/>
              </a:rPr>
              <a:t>1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)</a:t>
            </a:r>
            <a:r>
              <a:rPr lang="en-US" altLang="zh-CN" sz="3200" i="1">
                <a:latin typeface="Times New Roman" pitchFamily="18" charset="0"/>
                <a:ea typeface="黑体" pitchFamily="49" charset="-122"/>
              </a:rPr>
              <a:t>|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&gt;…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单调下降的目的。</a:t>
            </a:r>
          </a:p>
          <a:p>
            <a:pPr lvl="1" algn="l">
              <a:lnSpc>
                <a:spcPct val="120000"/>
              </a:lnSpc>
              <a:spcBef>
                <a:spcPct val="50000"/>
              </a:spcBef>
              <a:buClr>
                <a:srgbClr val="27305F"/>
              </a:buClr>
              <a:buFontTx/>
              <a:buChar char="–"/>
            </a:pP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 称|</a:t>
            </a:r>
            <a:r>
              <a:rPr lang="en-US" altLang="zh-CN" sz="3200" i="1">
                <a:latin typeface="Times New Roman" pitchFamily="18" charset="0"/>
                <a:ea typeface="黑体" pitchFamily="49" charset="-122"/>
              </a:rPr>
              <a:t>f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(</a:t>
            </a:r>
            <a:r>
              <a:rPr lang="en-US" altLang="zh-CN" sz="3200" i="1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3200" i="1" baseline="-25000">
                <a:latin typeface="Times New Roman" pitchFamily="18" charset="0"/>
                <a:ea typeface="黑体" pitchFamily="49" charset="-122"/>
              </a:rPr>
              <a:t>n</a:t>
            </a:r>
            <a:r>
              <a:rPr lang="en-US" altLang="zh-CN" sz="3200" baseline="-25000">
                <a:latin typeface="Times New Roman" pitchFamily="18" charset="0"/>
                <a:ea typeface="黑体" pitchFamily="49" charset="-122"/>
              </a:rPr>
              <a:t>+1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)</a:t>
            </a:r>
            <a:r>
              <a:rPr lang="en-US" altLang="zh-CN" sz="3200" i="1">
                <a:latin typeface="Times New Roman" pitchFamily="18" charset="0"/>
                <a:ea typeface="黑体" pitchFamily="49" charset="-122"/>
              </a:rPr>
              <a:t>|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&lt; 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|</a:t>
            </a:r>
            <a:r>
              <a:rPr lang="en-US" altLang="zh-CN" sz="3200" i="1">
                <a:latin typeface="Times New Roman" pitchFamily="18" charset="0"/>
                <a:ea typeface="黑体" pitchFamily="49" charset="-122"/>
              </a:rPr>
              <a:t>f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(</a:t>
            </a:r>
            <a:r>
              <a:rPr lang="en-US" altLang="zh-CN" sz="3200" i="1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3200" i="1" baseline="-25000">
                <a:latin typeface="Times New Roman" pitchFamily="18" charset="0"/>
                <a:ea typeface="黑体" pitchFamily="49" charset="-122"/>
              </a:rPr>
              <a:t>n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)</a:t>
            </a:r>
            <a:r>
              <a:rPr lang="en-US" altLang="zh-CN" sz="3200" i="1">
                <a:latin typeface="Times New Roman" pitchFamily="18" charset="0"/>
                <a:ea typeface="黑体" pitchFamily="49" charset="-122"/>
              </a:rPr>
              <a:t>|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为</a:t>
            </a:r>
            <a:r>
              <a:rPr lang="zh-CN" altLang="en-US" sz="3200" u="sng">
                <a:latin typeface="Times New Roman" pitchFamily="18" charset="0"/>
                <a:ea typeface="黑体" pitchFamily="49" charset="-122"/>
              </a:rPr>
              <a:t>下山条件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,这种算法为</a:t>
            </a:r>
            <a:r>
              <a:rPr lang="zh-CN" altLang="en-US" sz="3200" u="sng">
                <a:latin typeface="Times New Roman" pitchFamily="18" charset="0"/>
                <a:ea typeface="黑体" pitchFamily="49" charset="-122"/>
              </a:rPr>
              <a:t>下山法</a:t>
            </a:r>
          </a:p>
        </p:txBody>
      </p:sp>
      <p:graphicFrame>
        <p:nvGraphicFramePr>
          <p:cNvPr id="34820" name="Object 9"/>
          <p:cNvGraphicFramePr>
            <a:graphicFrameLocks noChangeAspect="1"/>
          </p:cNvGraphicFramePr>
          <p:nvPr/>
        </p:nvGraphicFramePr>
        <p:xfrm>
          <a:off x="3563938" y="1412875"/>
          <a:ext cx="2705100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74" name="Equation" r:id="rId8" imgW="1206360" imgH="431640" progId="Equation.3">
                  <p:embed/>
                </p:oleObj>
              </mc:Choice>
              <mc:Fallback>
                <p:oleObj name="Equation" r:id="rId8" imgW="1206360" imgH="4316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1412875"/>
                        <a:ext cx="2705100" cy="1098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1" name="Object 10"/>
          <p:cNvGraphicFramePr>
            <a:graphicFrameLocks noChangeAspect="1"/>
          </p:cNvGraphicFramePr>
          <p:nvPr/>
        </p:nvGraphicFramePr>
        <p:xfrm>
          <a:off x="6537327" y="1476377"/>
          <a:ext cx="2506663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75" name="公式" r:id="rId10" imgW="1117440" imgH="380880" progId="Equation.3">
                  <p:embed/>
                </p:oleObj>
              </mc:Choice>
              <mc:Fallback>
                <p:oleObj name="公式" r:id="rId10" imgW="1117440" imgH="38088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7327" y="1476377"/>
                        <a:ext cx="2506663" cy="969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6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6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6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6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67" grpId="0" animBg="1"/>
      <p:bldP spid="296968" grpId="0" autoUpdateAnimBg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E2200815-731F-4744-9AF6-FC45B2025C33}" type="slidenum">
              <a:rPr lang="zh-CN" altLang="en-US"/>
              <a:pPr/>
              <a:t>79</a:t>
            </a:fld>
            <a:endParaRPr lang="en-US" altLang="zh-CN"/>
          </a:p>
        </p:txBody>
      </p:sp>
      <p:sp>
        <p:nvSpPr>
          <p:cNvPr id="92163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E02B7946-7C67-464E-A47F-8F0C3C76BD16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297986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255588"/>
            <a:ext cx="8142288" cy="658812"/>
          </a:xfrm>
        </p:spPr>
        <p:txBody>
          <a:bodyPr/>
          <a:lstStyle/>
          <a:p>
            <a:pPr>
              <a:defRPr/>
            </a:pPr>
            <a:r>
              <a:rPr lang="en-US" altLang="zh-CN" smtClean="0"/>
              <a:t>(3)  </a:t>
            </a:r>
            <a:r>
              <a:rPr lang="zh-CN" altLang="en-US" sz="4800"/>
              <a:t>牛顿下山法</a:t>
            </a:r>
          </a:p>
        </p:txBody>
      </p:sp>
      <p:sp>
        <p:nvSpPr>
          <p:cNvPr id="921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43600" y="6324600"/>
            <a:ext cx="2286000" cy="443198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zh-CN" altLang="en-US" sz="3200" u="sng">
                <a:solidFill>
                  <a:srgbClr val="FF3300"/>
                </a:solidFill>
              </a:rPr>
              <a:t>牛顿下山法</a:t>
            </a:r>
            <a:endParaRPr lang="zh-CN" altLang="en-US" sz="3200"/>
          </a:p>
        </p:txBody>
      </p:sp>
      <p:sp>
        <p:nvSpPr>
          <p:cNvPr id="297989" name="Rectangle 5"/>
          <p:cNvSpPr>
            <a:spLocks noChangeArrowheads="1"/>
          </p:cNvSpPr>
          <p:nvPr/>
        </p:nvSpPr>
        <p:spPr bwMode="auto">
          <a:xfrm>
            <a:off x="3059115" y="1066800"/>
            <a:ext cx="1671637" cy="52322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取</a:t>
            </a:r>
            <a:r>
              <a:rPr lang="en-US" altLang="zh-CN" sz="280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λ=1</a:t>
            </a:r>
            <a:endParaRPr lang="zh-CN" altLang="en-US" sz="280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grpSp>
        <p:nvGrpSpPr>
          <p:cNvPr id="2" name="Group 39"/>
          <p:cNvGrpSpPr>
            <a:grpSpLocks/>
          </p:cNvGrpSpPr>
          <p:nvPr/>
        </p:nvGrpSpPr>
        <p:grpSpPr bwMode="auto">
          <a:xfrm>
            <a:off x="1984375" y="1600201"/>
            <a:ext cx="4673600" cy="828675"/>
            <a:chOff x="1250" y="1008"/>
            <a:chExt cx="2944" cy="522"/>
          </a:xfrm>
        </p:grpSpPr>
        <p:sp>
          <p:nvSpPr>
            <p:cNvPr id="92198" name="Rectangle 6"/>
            <p:cNvSpPr>
              <a:spLocks noChangeArrowheads="1"/>
            </p:cNvSpPr>
            <p:nvPr/>
          </p:nvSpPr>
          <p:spPr bwMode="auto">
            <a:xfrm>
              <a:off x="1250" y="1200"/>
              <a:ext cx="2944" cy="33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800">
                  <a:latin typeface="Times New Roman" pitchFamily="18" charset="0"/>
                  <a:ea typeface="黑体" pitchFamily="49" charset="-122"/>
                </a:rPr>
                <a:t>在</a:t>
              </a:r>
              <a:r>
                <a:rPr lang="en-US" altLang="zh-CN" sz="2800" i="1">
                  <a:latin typeface="Times New Roman" pitchFamily="18" charset="0"/>
                  <a:ea typeface="黑体" pitchFamily="49" charset="-122"/>
                </a:rPr>
                <a:t>x</a:t>
              </a:r>
              <a:r>
                <a:rPr lang="en-US" altLang="zh-CN" sz="2800" i="1" baseline="-25000">
                  <a:latin typeface="Times New Roman" pitchFamily="18" charset="0"/>
                  <a:ea typeface="黑体" pitchFamily="49" charset="-122"/>
                </a:rPr>
                <a:t>n</a:t>
              </a:r>
              <a:r>
                <a:rPr lang="zh-CN" altLang="en-US" sz="2800">
                  <a:latin typeface="Times New Roman" pitchFamily="18" charset="0"/>
                  <a:ea typeface="黑体" pitchFamily="49" charset="-122"/>
                </a:rPr>
                <a:t>基础上用切线法计算</a:t>
              </a:r>
              <a:r>
                <a:rPr lang="en-US" altLang="zh-CN" sz="2800" i="1">
                  <a:latin typeface="Times New Roman" pitchFamily="18" charset="0"/>
                  <a:ea typeface="黑体" pitchFamily="49" charset="-122"/>
                </a:rPr>
                <a:t>x</a:t>
              </a:r>
              <a:r>
                <a:rPr lang="en-US" altLang="zh-CN" sz="2800" i="1" baseline="-25000">
                  <a:latin typeface="Times New Roman" pitchFamily="18" charset="0"/>
                  <a:ea typeface="黑体" pitchFamily="49" charset="-122"/>
                </a:rPr>
                <a:t>n+</a:t>
              </a:r>
              <a:r>
                <a:rPr lang="en-US" altLang="zh-CN" sz="2800" baseline="-25000">
                  <a:latin typeface="Times New Roman" pitchFamily="18" charset="0"/>
                  <a:ea typeface="黑体" pitchFamily="49" charset="-122"/>
                </a:rPr>
                <a:t>1</a:t>
              </a:r>
              <a:endParaRPr lang="zh-CN" altLang="en-US" sz="2800" baseline="-25000">
                <a:latin typeface="Times New Roman" pitchFamily="18" charset="0"/>
                <a:ea typeface="黑体" pitchFamily="49" charset="-122"/>
              </a:endParaRPr>
            </a:p>
          </p:txBody>
        </p:sp>
        <p:sp>
          <p:nvSpPr>
            <p:cNvPr id="92199" name="Line 7"/>
            <p:cNvSpPr>
              <a:spLocks noChangeShapeType="1"/>
            </p:cNvSpPr>
            <p:nvPr/>
          </p:nvSpPr>
          <p:spPr bwMode="auto">
            <a:xfrm>
              <a:off x="2508" y="1008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40"/>
          <p:cNvGrpSpPr>
            <a:grpSpLocks/>
          </p:cNvGrpSpPr>
          <p:nvPr/>
        </p:nvGrpSpPr>
        <p:grpSpPr bwMode="auto">
          <a:xfrm>
            <a:off x="1828800" y="2438400"/>
            <a:ext cx="4419600" cy="1143000"/>
            <a:chOff x="1152" y="1536"/>
            <a:chExt cx="2784" cy="720"/>
          </a:xfrm>
        </p:grpSpPr>
        <p:sp>
          <p:nvSpPr>
            <p:cNvPr id="92195" name="AutoShape 8"/>
            <p:cNvSpPr>
              <a:spLocks noChangeArrowheads="1"/>
            </p:cNvSpPr>
            <p:nvPr/>
          </p:nvSpPr>
          <p:spPr bwMode="auto">
            <a:xfrm>
              <a:off x="1152" y="1776"/>
              <a:ext cx="2784" cy="480"/>
            </a:xfrm>
            <a:prstGeom prst="flowChartDecision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196" name="Rectangle 9"/>
            <p:cNvSpPr>
              <a:spLocks noChangeArrowheads="1"/>
            </p:cNvSpPr>
            <p:nvPr/>
          </p:nvSpPr>
          <p:spPr bwMode="auto">
            <a:xfrm>
              <a:off x="1713" y="1824"/>
              <a:ext cx="19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800">
                  <a:latin typeface="Times New Roman" pitchFamily="18" charset="0"/>
                  <a:ea typeface="黑体" pitchFamily="49" charset="-122"/>
                </a:rPr>
                <a:t>是否满足精度要求</a:t>
              </a:r>
            </a:p>
          </p:txBody>
        </p:sp>
        <p:sp>
          <p:nvSpPr>
            <p:cNvPr id="92197" name="Line 11"/>
            <p:cNvSpPr>
              <a:spLocks noChangeShapeType="1"/>
            </p:cNvSpPr>
            <p:nvPr/>
          </p:nvSpPr>
          <p:spPr bwMode="auto">
            <a:xfrm>
              <a:off x="2544" y="1536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30"/>
          <p:cNvGrpSpPr>
            <a:grpSpLocks/>
          </p:cNvGrpSpPr>
          <p:nvPr/>
        </p:nvGrpSpPr>
        <p:grpSpPr bwMode="auto">
          <a:xfrm>
            <a:off x="533400" y="1752600"/>
            <a:ext cx="3200400" cy="2819400"/>
            <a:chOff x="336" y="1104"/>
            <a:chExt cx="2016" cy="1776"/>
          </a:xfrm>
        </p:grpSpPr>
        <p:sp>
          <p:nvSpPr>
            <p:cNvPr id="92191" name="Line 13"/>
            <p:cNvSpPr>
              <a:spLocks noChangeShapeType="1"/>
            </p:cNvSpPr>
            <p:nvPr/>
          </p:nvSpPr>
          <p:spPr bwMode="auto">
            <a:xfrm flipH="1">
              <a:off x="336" y="2880"/>
              <a:ext cx="76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192" name="Line 14"/>
            <p:cNvSpPr>
              <a:spLocks noChangeShapeType="1"/>
            </p:cNvSpPr>
            <p:nvPr/>
          </p:nvSpPr>
          <p:spPr bwMode="auto">
            <a:xfrm>
              <a:off x="336" y="1104"/>
              <a:ext cx="0" cy="17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193" name="Line 15"/>
            <p:cNvSpPr>
              <a:spLocks noChangeShapeType="1"/>
            </p:cNvSpPr>
            <p:nvPr/>
          </p:nvSpPr>
          <p:spPr bwMode="auto">
            <a:xfrm>
              <a:off x="336" y="1104"/>
              <a:ext cx="201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194" name="Rectangle 17"/>
            <p:cNvSpPr>
              <a:spLocks noChangeArrowheads="1"/>
            </p:cNvSpPr>
            <p:nvPr/>
          </p:nvSpPr>
          <p:spPr bwMode="auto">
            <a:xfrm>
              <a:off x="624" y="2544"/>
              <a:ext cx="3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800">
                  <a:latin typeface="Times New Roman" pitchFamily="18" charset="0"/>
                  <a:ea typeface="黑体" pitchFamily="49" charset="-122"/>
                </a:rPr>
                <a:t>是</a:t>
              </a:r>
            </a:p>
          </p:txBody>
        </p:sp>
      </p:grpSp>
      <p:grpSp>
        <p:nvGrpSpPr>
          <p:cNvPr id="5" name="Group 41"/>
          <p:cNvGrpSpPr>
            <a:grpSpLocks/>
          </p:cNvGrpSpPr>
          <p:nvPr/>
        </p:nvGrpSpPr>
        <p:grpSpPr bwMode="auto">
          <a:xfrm>
            <a:off x="6270627" y="2743200"/>
            <a:ext cx="2873375" cy="685800"/>
            <a:chOff x="3949" y="1728"/>
            <a:chExt cx="1667" cy="432"/>
          </a:xfrm>
        </p:grpSpPr>
        <p:sp>
          <p:nvSpPr>
            <p:cNvPr id="92186" name="AutoShape 26"/>
            <p:cNvSpPr>
              <a:spLocks noChangeArrowheads="1"/>
            </p:cNvSpPr>
            <p:nvPr/>
          </p:nvSpPr>
          <p:spPr bwMode="auto">
            <a:xfrm>
              <a:off x="4560" y="1824"/>
              <a:ext cx="1056" cy="336"/>
            </a:xfrm>
            <a:prstGeom prst="flowChartTerminator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92187" name="Group 38"/>
            <p:cNvGrpSpPr>
              <a:grpSpLocks/>
            </p:cNvGrpSpPr>
            <p:nvPr/>
          </p:nvGrpSpPr>
          <p:grpSpPr bwMode="auto">
            <a:xfrm>
              <a:off x="3949" y="1728"/>
              <a:ext cx="1627" cy="423"/>
              <a:chOff x="3949" y="1728"/>
              <a:chExt cx="1627" cy="423"/>
            </a:xfrm>
          </p:grpSpPr>
          <p:sp>
            <p:nvSpPr>
              <p:cNvPr id="92188" name="Line 24"/>
              <p:cNvSpPr>
                <a:spLocks noChangeShapeType="1"/>
              </p:cNvSpPr>
              <p:nvPr/>
            </p:nvSpPr>
            <p:spPr bwMode="auto">
              <a:xfrm>
                <a:off x="3984" y="2016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189" name="Rectangle 25"/>
              <p:cNvSpPr>
                <a:spLocks noChangeArrowheads="1"/>
              </p:cNvSpPr>
              <p:nvPr/>
            </p:nvSpPr>
            <p:spPr bwMode="auto">
              <a:xfrm>
                <a:off x="3949" y="1728"/>
                <a:ext cx="31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 sz="2800">
                    <a:latin typeface="Times New Roman" pitchFamily="18" charset="0"/>
                    <a:ea typeface="黑体" pitchFamily="49" charset="-122"/>
                  </a:rPr>
                  <a:t>是</a:t>
                </a:r>
              </a:p>
            </p:txBody>
          </p:sp>
          <p:sp>
            <p:nvSpPr>
              <p:cNvPr id="92190" name="Rectangle 27"/>
              <p:cNvSpPr>
                <a:spLocks noChangeArrowheads="1"/>
              </p:cNvSpPr>
              <p:nvPr/>
            </p:nvSpPr>
            <p:spPr bwMode="auto">
              <a:xfrm>
                <a:off x="4560" y="1824"/>
                <a:ext cx="101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zh-CN" altLang="en-US" sz="2800">
                    <a:latin typeface="Times New Roman" pitchFamily="18" charset="0"/>
                    <a:ea typeface="黑体" pitchFamily="49" charset="-122"/>
                  </a:rPr>
                  <a:t>停止迭代</a:t>
                </a:r>
              </a:p>
            </p:txBody>
          </p:sp>
        </p:grpSp>
      </p:grpSp>
      <p:grpSp>
        <p:nvGrpSpPr>
          <p:cNvPr id="7" name="Group 29"/>
          <p:cNvGrpSpPr>
            <a:grpSpLocks/>
          </p:cNvGrpSpPr>
          <p:nvPr/>
        </p:nvGrpSpPr>
        <p:grpSpPr bwMode="auto">
          <a:xfrm>
            <a:off x="1828800" y="3505200"/>
            <a:ext cx="4419600" cy="1600200"/>
            <a:chOff x="1152" y="2208"/>
            <a:chExt cx="2784" cy="1008"/>
          </a:xfrm>
        </p:grpSpPr>
        <p:grpSp>
          <p:nvGrpSpPr>
            <p:cNvPr id="92180" name="Group 19"/>
            <p:cNvGrpSpPr>
              <a:grpSpLocks/>
            </p:cNvGrpSpPr>
            <p:nvPr/>
          </p:nvGrpSpPr>
          <p:grpSpPr bwMode="auto">
            <a:xfrm>
              <a:off x="1152" y="2256"/>
              <a:ext cx="2784" cy="960"/>
              <a:chOff x="1152" y="1536"/>
              <a:chExt cx="2784" cy="960"/>
            </a:xfrm>
          </p:grpSpPr>
          <p:grpSp>
            <p:nvGrpSpPr>
              <p:cNvPr id="92182" name="Group 20"/>
              <p:cNvGrpSpPr>
                <a:grpSpLocks/>
              </p:cNvGrpSpPr>
              <p:nvPr/>
            </p:nvGrpSpPr>
            <p:grpSpPr bwMode="auto">
              <a:xfrm>
                <a:off x="1152" y="1776"/>
                <a:ext cx="2784" cy="720"/>
                <a:chOff x="1152" y="1776"/>
                <a:chExt cx="2784" cy="720"/>
              </a:xfrm>
            </p:grpSpPr>
            <p:sp>
              <p:nvSpPr>
                <p:cNvPr id="92184" name="AutoShape 21"/>
                <p:cNvSpPr>
                  <a:spLocks noChangeArrowheads="1"/>
                </p:cNvSpPr>
                <p:nvPr/>
              </p:nvSpPr>
              <p:spPr bwMode="auto">
                <a:xfrm>
                  <a:off x="1152" y="1776"/>
                  <a:ext cx="2784" cy="720"/>
                </a:xfrm>
                <a:prstGeom prst="flowChartDecision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2185" name="Rectangle 22"/>
                <p:cNvSpPr>
                  <a:spLocks noChangeArrowheads="1"/>
                </p:cNvSpPr>
                <p:nvPr/>
              </p:nvSpPr>
              <p:spPr bwMode="auto">
                <a:xfrm>
                  <a:off x="1938" y="1824"/>
                  <a:ext cx="1466" cy="59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2800">
                      <a:latin typeface="Times New Roman" pitchFamily="18" charset="0"/>
                      <a:ea typeface="黑体" pitchFamily="49" charset="-122"/>
                    </a:rPr>
                    <a:t>检查下山条件</a:t>
                  </a:r>
                </a:p>
                <a:p>
                  <a:r>
                    <a:rPr lang="zh-CN" altLang="en-US" sz="2800">
                      <a:latin typeface="Times New Roman" pitchFamily="18" charset="0"/>
                      <a:ea typeface="黑体" pitchFamily="49" charset="-122"/>
                    </a:rPr>
                    <a:t>是否满足</a:t>
                  </a:r>
                </a:p>
              </p:txBody>
            </p:sp>
          </p:grpSp>
          <p:sp>
            <p:nvSpPr>
              <p:cNvPr id="92183" name="Line 23"/>
              <p:cNvSpPr>
                <a:spLocks noChangeShapeType="1"/>
              </p:cNvSpPr>
              <p:nvPr/>
            </p:nvSpPr>
            <p:spPr bwMode="auto">
              <a:xfrm>
                <a:off x="2544" y="1536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92181" name="Rectangle 28"/>
            <p:cNvSpPr>
              <a:spLocks noChangeArrowheads="1"/>
            </p:cNvSpPr>
            <p:nvPr/>
          </p:nvSpPr>
          <p:spPr bwMode="auto">
            <a:xfrm>
              <a:off x="2640" y="2208"/>
              <a:ext cx="3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800">
                  <a:latin typeface="Times New Roman" pitchFamily="18" charset="0"/>
                  <a:ea typeface="黑体" pitchFamily="49" charset="-122"/>
                </a:rPr>
                <a:t>否</a:t>
              </a:r>
            </a:p>
          </p:txBody>
        </p:sp>
      </p:grpSp>
      <p:grpSp>
        <p:nvGrpSpPr>
          <p:cNvPr id="10" name="Group 34"/>
          <p:cNvGrpSpPr>
            <a:grpSpLocks/>
          </p:cNvGrpSpPr>
          <p:nvPr/>
        </p:nvGrpSpPr>
        <p:grpSpPr bwMode="auto">
          <a:xfrm>
            <a:off x="1925640" y="5105404"/>
            <a:ext cx="4625975" cy="1033463"/>
            <a:chOff x="1213" y="3216"/>
            <a:chExt cx="2914" cy="651"/>
          </a:xfrm>
        </p:grpSpPr>
        <p:sp>
          <p:nvSpPr>
            <p:cNvPr id="92177" name="Rectangle 31"/>
            <p:cNvSpPr>
              <a:spLocks noChangeArrowheads="1"/>
            </p:cNvSpPr>
            <p:nvPr/>
          </p:nvSpPr>
          <p:spPr bwMode="auto">
            <a:xfrm>
              <a:off x="1213" y="3537"/>
              <a:ext cx="2914" cy="33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800">
                  <a:latin typeface="Times New Roman" pitchFamily="18" charset="0"/>
                  <a:ea typeface="黑体" pitchFamily="49" charset="-122"/>
                </a:rPr>
                <a:t>修改</a:t>
              </a:r>
              <a:r>
                <a:rPr lang="en-US" altLang="zh-CN" sz="2800"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λ</a:t>
              </a:r>
              <a:r>
                <a:rPr lang="zh-CN" altLang="en-US" sz="2800">
                  <a:latin typeface="Times New Roman" pitchFamily="18" charset="0"/>
                  <a:ea typeface="黑体" pitchFamily="49" charset="-122"/>
                </a:rPr>
                <a:t>值,算出新的近似值</a:t>
              </a:r>
              <a:r>
                <a:rPr lang="en-US" altLang="zh-CN" sz="2800" i="1">
                  <a:latin typeface="Times New Roman" pitchFamily="18" charset="0"/>
                  <a:ea typeface="黑体" pitchFamily="49" charset="-122"/>
                </a:rPr>
                <a:t>x</a:t>
              </a:r>
              <a:r>
                <a:rPr lang="en-US" altLang="zh-CN" sz="2800" i="1" baseline="-25000">
                  <a:latin typeface="Times New Roman" pitchFamily="18" charset="0"/>
                  <a:ea typeface="黑体" pitchFamily="49" charset="-122"/>
                </a:rPr>
                <a:t>n+</a:t>
              </a:r>
              <a:r>
                <a:rPr lang="en-US" altLang="zh-CN" sz="2800" baseline="-25000">
                  <a:latin typeface="Times New Roman" pitchFamily="18" charset="0"/>
                  <a:ea typeface="黑体" pitchFamily="49" charset="-122"/>
                </a:rPr>
                <a:t>1</a:t>
              </a:r>
              <a:endParaRPr lang="zh-CN" altLang="en-US" sz="2800" baseline="-25000">
                <a:latin typeface="Times New Roman" pitchFamily="18" charset="0"/>
                <a:ea typeface="黑体" pitchFamily="49" charset="-122"/>
              </a:endParaRPr>
            </a:p>
          </p:txBody>
        </p:sp>
        <p:sp>
          <p:nvSpPr>
            <p:cNvPr id="92178" name="Line 32"/>
            <p:cNvSpPr>
              <a:spLocks noChangeShapeType="1"/>
            </p:cNvSpPr>
            <p:nvPr/>
          </p:nvSpPr>
          <p:spPr bwMode="auto">
            <a:xfrm>
              <a:off x="2544" y="3216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179" name="Rectangle 33"/>
            <p:cNvSpPr>
              <a:spLocks noChangeArrowheads="1"/>
            </p:cNvSpPr>
            <p:nvPr/>
          </p:nvSpPr>
          <p:spPr bwMode="auto">
            <a:xfrm>
              <a:off x="2640" y="3216"/>
              <a:ext cx="3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800">
                  <a:latin typeface="Times New Roman" pitchFamily="18" charset="0"/>
                  <a:ea typeface="黑体" pitchFamily="49" charset="-122"/>
                </a:rPr>
                <a:t>否</a:t>
              </a:r>
            </a:p>
          </p:txBody>
        </p:sp>
      </p:grpSp>
      <p:sp>
        <p:nvSpPr>
          <p:cNvPr id="298019" name="Line 35"/>
          <p:cNvSpPr>
            <a:spLocks noChangeShapeType="1"/>
          </p:cNvSpPr>
          <p:nvPr/>
        </p:nvSpPr>
        <p:spPr bwMode="auto">
          <a:xfrm>
            <a:off x="6553200" y="5943600"/>
            <a:ext cx="1447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8020" name="Line 36"/>
          <p:cNvSpPr>
            <a:spLocks noChangeShapeType="1"/>
          </p:cNvSpPr>
          <p:nvPr/>
        </p:nvSpPr>
        <p:spPr bwMode="auto">
          <a:xfrm flipV="1">
            <a:off x="8001000" y="3733800"/>
            <a:ext cx="0" cy="2209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8021" name="Line 37"/>
          <p:cNvSpPr>
            <a:spLocks noChangeShapeType="1"/>
          </p:cNvSpPr>
          <p:nvPr/>
        </p:nvSpPr>
        <p:spPr bwMode="auto">
          <a:xfrm flipH="1">
            <a:off x="4648200" y="3733800"/>
            <a:ext cx="3352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8026" name="AutoShape 42"/>
          <p:cNvSpPr>
            <a:spLocks noChangeArrowheads="1"/>
          </p:cNvSpPr>
          <p:nvPr/>
        </p:nvSpPr>
        <p:spPr bwMode="auto">
          <a:xfrm>
            <a:off x="5257800" y="228600"/>
            <a:ext cx="3886200" cy="1600200"/>
          </a:xfrm>
          <a:prstGeom prst="wedgeRectCallout">
            <a:avLst>
              <a:gd name="adj1" fmla="val -63481"/>
              <a:gd name="adj2" fmla="val 25495"/>
            </a:avLst>
          </a:prstGeom>
          <a:solidFill>
            <a:srgbClr val="FFFF99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 anchor="ctr"/>
          <a:lstStyle/>
          <a:p>
            <a:pPr algn="l">
              <a:buFontTx/>
              <a:buChar char="•"/>
            </a:pPr>
            <a:r>
              <a:rPr lang="en-US" altLang="zh-CN" sz="2800">
                <a:latin typeface="Times New Roman" pitchFamily="18" charset="0"/>
                <a:cs typeface="Times New Roman" pitchFamily="18" charset="0"/>
              </a:rPr>
              <a:t>λ</a:t>
            </a:r>
            <a:r>
              <a:rPr lang="zh-CN" altLang="en-US" sz="2800">
                <a:latin typeface="Times New Roman" pitchFamily="18" charset="0"/>
              </a:rPr>
              <a:t>为</a:t>
            </a:r>
            <a:r>
              <a:rPr lang="zh-CN" altLang="en-US" sz="2800" u="sng">
                <a:latin typeface="Times New Roman" pitchFamily="18" charset="0"/>
              </a:rPr>
              <a:t>下山因子</a:t>
            </a:r>
          </a:p>
          <a:p>
            <a:pPr algn="l">
              <a:buFontTx/>
              <a:buChar char="•"/>
            </a:pPr>
            <a:r>
              <a:rPr lang="zh-CN" altLang="en-US" sz="2800">
                <a:latin typeface="Times New Roman" pitchFamily="18" charset="0"/>
              </a:rPr>
              <a:t>在[</a:t>
            </a:r>
            <a:r>
              <a:rPr lang="zh-CN" altLang="en-US" sz="2800">
                <a:latin typeface="Times New Roman" pitchFamily="18" charset="0"/>
                <a:sym typeface="Symbol" pitchFamily="18" charset="2"/>
              </a:rPr>
              <a:t></a:t>
            </a:r>
            <a:r>
              <a:rPr lang="en-US" altLang="zh-CN" sz="2800" baseline="-25000">
                <a:latin typeface="宋体" pitchFamily="2" charset="-122"/>
              </a:rPr>
              <a:t>1</a:t>
            </a:r>
            <a:r>
              <a:rPr lang="zh-CN" altLang="en-US" sz="2800">
                <a:latin typeface="Times New Roman" pitchFamily="18" charset="0"/>
              </a:rPr>
              <a:t> ,1]内选值.可依次取1, 1/2, 1/4, 1/2</a:t>
            </a:r>
            <a:r>
              <a:rPr lang="en-US" altLang="zh-CN" sz="2800" baseline="30000">
                <a:latin typeface="Times New Roman" pitchFamily="18" charset="0"/>
              </a:rPr>
              <a:t>r</a:t>
            </a:r>
            <a:r>
              <a:rPr lang="en-US" altLang="zh-CN" sz="2800">
                <a:latin typeface="Times New Roman" pitchFamily="18" charset="0"/>
              </a:rPr>
              <a:t>&gt; </a:t>
            </a:r>
            <a:r>
              <a:rPr lang="zh-CN" altLang="en-US" sz="2800">
                <a:latin typeface="Times New Roman" pitchFamily="18" charset="0"/>
                <a:sym typeface="Symbol" pitchFamily="18" charset="2"/>
              </a:rPr>
              <a:t></a:t>
            </a:r>
            <a:r>
              <a:rPr lang="en-US" altLang="zh-CN" sz="2800" baseline="-25000">
                <a:latin typeface="宋体" pitchFamily="2" charset="-122"/>
              </a:rPr>
              <a:t>1</a:t>
            </a:r>
            <a:endParaRPr lang="zh-CN" altLang="en-US" sz="2800" baseline="-25000">
              <a:latin typeface="宋体" pitchFamily="2" charset="-122"/>
            </a:endParaRPr>
          </a:p>
        </p:txBody>
      </p:sp>
    </p:spTree>
  </p:cSld>
  <p:clrMapOvr>
    <a:masterClrMapping/>
  </p:clrMapOvr>
  <p:transition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97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98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98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298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98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98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989" grpId="0" animBg="1" autoUpdateAnimBg="0"/>
      <p:bldP spid="298019" grpId="0" animBg="1"/>
      <p:bldP spid="298020" grpId="0" animBg="1"/>
      <p:bldP spid="298021" grpId="0" animBg="1"/>
      <p:bldP spid="298026" grpId="0" animBg="1" autoUpdateAnimBg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805F7E70-A985-4979-B7B8-F7E116BC5998}" type="slidenum">
              <a:rPr lang="zh-CN" altLang="en-US"/>
              <a:pPr/>
              <a:t>80</a:t>
            </a:fld>
            <a:endParaRPr lang="en-US" altLang="zh-CN"/>
          </a:p>
        </p:txBody>
      </p:sp>
      <p:sp>
        <p:nvSpPr>
          <p:cNvPr id="35847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A98E9DFB-DE30-4368-891C-CAAA5C9927EE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300034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255588"/>
            <a:ext cx="8142288" cy="658812"/>
          </a:xfrm>
        </p:spPr>
        <p:txBody>
          <a:bodyPr/>
          <a:lstStyle/>
          <a:p>
            <a:pPr>
              <a:defRPr/>
            </a:pPr>
            <a:r>
              <a:rPr lang="en-US" altLang="zh-CN" smtClean="0"/>
              <a:t>(3)  </a:t>
            </a:r>
            <a:r>
              <a:rPr lang="zh-CN" altLang="en-US" sz="4800"/>
              <a:t>牛顿下山法</a:t>
            </a:r>
          </a:p>
        </p:txBody>
      </p:sp>
      <p:graphicFrame>
        <p:nvGraphicFramePr>
          <p:cNvPr id="300036" name="Object 4"/>
          <p:cNvGraphicFramePr>
            <a:graphicFrameLocks noChangeAspect="1"/>
          </p:cNvGraphicFramePr>
          <p:nvPr/>
        </p:nvGraphicFramePr>
        <p:xfrm>
          <a:off x="685800" y="2095500"/>
          <a:ext cx="5867400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94" name="Equation" r:id="rId4" imgW="2133360" imgH="444240" progId="Equation.3">
                  <p:embed/>
                </p:oleObj>
              </mc:Choice>
              <mc:Fallback>
                <p:oleObj name="Equation" r:id="rId4" imgW="2133360" imgH="4442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095500"/>
                        <a:ext cx="5867400" cy="1098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0038" name="Rectangle 6"/>
          <p:cNvSpPr>
            <a:spLocks noChangeArrowheads="1"/>
          </p:cNvSpPr>
          <p:nvPr/>
        </p:nvSpPr>
        <p:spPr bwMode="auto">
          <a:xfrm>
            <a:off x="457200" y="5600702"/>
            <a:ext cx="8229600" cy="886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258763" indent="-258763" algn="l" defTabSz="814388">
              <a:lnSpc>
                <a:spcPct val="90000"/>
              </a:lnSpc>
              <a:spcBef>
                <a:spcPts val="12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</a:pP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它是一次切线法中新、旧迭代值</a:t>
            </a:r>
            <a:r>
              <a:rPr lang="en-US" altLang="zh-CN" sz="3200" i="1">
                <a:latin typeface="Times New Roman" pitchFamily="18" charset="0"/>
                <a:ea typeface="黑体" pitchFamily="49" charset="-122"/>
              </a:rPr>
              <a:t>y</a:t>
            </a:r>
            <a:r>
              <a:rPr lang="en-US" altLang="zh-CN" sz="3200" i="1" baseline="-25000">
                <a:latin typeface="Times New Roman" pitchFamily="18" charset="0"/>
                <a:ea typeface="黑体" pitchFamily="49" charset="-122"/>
              </a:rPr>
              <a:t>n+</a:t>
            </a:r>
            <a:r>
              <a:rPr lang="en-US" altLang="zh-CN" sz="3200" baseline="-25000">
                <a:latin typeface="Times New Roman" pitchFamily="18" charset="0"/>
                <a:ea typeface="黑体" pitchFamily="49" charset="-122"/>
              </a:rPr>
              <a:t>1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 、</a:t>
            </a:r>
            <a:r>
              <a:rPr lang="en-US" altLang="zh-CN" sz="3200" i="1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3200" i="1" baseline="-25000">
                <a:latin typeface="Times New Roman" pitchFamily="18" charset="0"/>
                <a:ea typeface="黑体" pitchFamily="49" charset="-122"/>
              </a:rPr>
              <a:t>n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按</a:t>
            </a:r>
            <a:r>
              <a:rPr lang="en-US" altLang="zh-CN" sz="320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λ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 与(1- </a:t>
            </a:r>
            <a:r>
              <a:rPr lang="en-US" altLang="zh-CN" sz="3200">
                <a:latin typeface="Times New Roman" pitchFamily="18" charset="0"/>
                <a:ea typeface="黑体" pitchFamily="49" charset="-122"/>
              </a:rPr>
              <a:t>λ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)的线性组合公式。</a:t>
            </a:r>
          </a:p>
        </p:txBody>
      </p:sp>
      <p:graphicFrame>
        <p:nvGraphicFramePr>
          <p:cNvPr id="300040" name="Object 8"/>
          <p:cNvGraphicFramePr>
            <a:graphicFrameLocks noChangeAspect="1"/>
          </p:cNvGraphicFramePr>
          <p:nvPr/>
        </p:nvGraphicFramePr>
        <p:xfrm>
          <a:off x="1628777" y="3024190"/>
          <a:ext cx="4924425" cy="1068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95" name="Equation" r:id="rId6" imgW="1790640" imgH="431640" progId="Equation.3">
                  <p:embed/>
                </p:oleObj>
              </mc:Choice>
              <mc:Fallback>
                <p:oleObj name="Equation" r:id="rId6" imgW="1790640" imgH="4316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8777" y="3024190"/>
                        <a:ext cx="4924425" cy="1068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0041" name="Object 9"/>
          <p:cNvGraphicFramePr>
            <a:graphicFrameLocks noChangeAspect="1"/>
          </p:cNvGraphicFramePr>
          <p:nvPr/>
        </p:nvGraphicFramePr>
        <p:xfrm>
          <a:off x="711200" y="4121150"/>
          <a:ext cx="7594600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96" name="Equation" r:id="rId8" imgW="3149280" imgH="444240" progId="Equation.3">
                  <p:embed/>
                </p:oleObj>
              </mc:Choice>
              <mc:Fallback>
                <p:oleObj name="Equation" r:id="rId8" imgW="3149280" imgH="4442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200" y="4121150"/>
                        <a:ext cx="7594600" cy="1098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5" name="Object 10"/>
          <p:cNvGraphicFramePr>
            <a:graphicFrameLocks noChangeAspect="1"/>
          </p:cNvGraphicFramePr>
          <p:nvPr/>
        </p:nvGraphicFramePr>
        <p:xfrm>
          <a:off x="762000" y="1111250"/>
          <a:ext cx="2990850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97" name="Equation" r:id="rId10" imgW="1333440" imgH="431640" progId="Equation.3">
                  <p:embed/>
                </p:oleObj>
              </mc:Choice>
              <mc:Fallback>
                <p:oleObj name="Equation" r:id="rId10" imgW="1333440" imgH="4316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111250"/>
                        <a:ext cx="2990850" cy="1098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0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00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00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"/>
                                        <p:tgtEl>
                                          <p:spTgt spid="300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038" grpId="0" autoUpdateAnimBg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71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3D1A6D6D-A92D-4325-9620-9FEACCD5ACE9}" type="slidenum">
              <a:rPr lang="zh-CN" altLang="en-US"/>
              <a:pPr/>
              <a:t>81</a:t>
            </a:fld>
            <a:endParaRPr lang="en-US" altLang="zh-CN"/>
          </a:p>
        </p:txBody>
      </p:sp>
      <p:sp>
        <p:nvSpPr>
          <p:cNvPr id="36872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11D1E129-0EF7-4D7B-8415-D0683F41C73C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301058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255588"/>
            <a:ext cx="8142288" cy="658812"/>
          </a:xfrm>
        </p:spPr>
        <p:txBody>
          <a:bodyPr/>
          <a:lstStyle/>
          <a:p>
            <a:pPr>
              <a:defRPr/>
            </a:pPr>
            <a:r>
              <a:rPr lang="en-US" altLang="zh-CN" dirty="0" smtClean="0"/>
              <a:t>(3)  </a:t>
            </a:r>
            <a:r>
              <a:rPr lang="zh-CN" altLang="en-US" sz="4800" dirty="0"/>
              <a:t>牛顿下山法</a:t>
            </a:r>
          </a:p>
        </p:txBody>
      </p:sp>
      <p:sp>
        <p:nvSpPr>
          <p:cNvPr id="368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133477"/>
            <a:ext cx="8686800" cy="157956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smtClean="0"/>
              <a:t>例2.12  用牛顿下山法求 </a:t>
            </a:r>
            <a:r>
              <a:rPr lang="en-US" altLang="zh-CN" i="1" smtClean="0"/>
              <a:t>f</a:t>
            </a:r>
            <a:r>
              <a:rPr lang="en-US" altLang="zh-CN" smtClean="0"/>
              <a:t>(</a:t>
            </a:r>
            <a:r>
              <a:rPr lang="en-US" altLang="zh-CN" i="1" smtClean="0"/>
              <a:t>x</a:t>
            </a:r>
            <a:r>
              <a:rPr lang="en-US" altLang="zh-CN" smtClean="0"/>
              <a:t>) </a:t>
            </a:r>
            <a:r>
              <a:rPr lang="en-US" altLang="zh-CN" i="1" smtClean="0"/>
              <a:t>= x</a:t>
            </a:r>
            <a:r>
              <a:rPr lang="en-US" altLang="zh-CN" i="1" baseline="30000" smtClean="0"/>
              <a:t>3</a:t>
            </a:r>
            <a:r>
              <a:rPr lang="en-US" altLang="zh-CN" smtClean="0"/>
              <a:t>-</a:t>
            </a:r>
            <a:r>
              <a:rPr lang="en-US" altLang="zh-CN" i="1" smtClean="0"/>
              <a:t>x</a:t>
            </a:r>
            <a:r>
              <a:rPr lang="en-US" altLang="zh-CN" smtClean="0"/>
              <a:t>-1=0 </a:t>
            </a:r>
            <a:r>
              <a:rPr lang="zh-CN" altLang="en-US" smtClean="0"/>
              <a:t>的根</a:t>
            </a:r>
          </a:p>
          <a:p>
            <a:pPr>
              <a:lnSpc>
                <a:spcPct val="100000"/>
              </a:lnSpc>
            </a:pPr>
            <a:r>
              <a:rPr lang="zh-CN" altLang="en-US" smtClean="0"/>
              <a:t>解：方程在[0,1.5]内有根，取</a:t>
            </a:r>
            <a:r>
              <a:rPr lang="en-US" altLang="zh-CN" i="1" smtClean="0"/>
              <a:t>x</a:t>
            </a:r>
            <a:r>
              <a:rPr lang="en-US" altLang="zh-CN" baseline="-25000" smtClean="0"/>
              <a:t>0</a:t>
            </a:r>
            <a:r>
              <a:rPr lang="zh-CN" altLang="en-US" smtClean="0"/>
              <a:t>=0.6，</a:t>
            </a:r>
            <a:r>
              <a:rPr lang="en-US" altLang="zh-CN" i="1" smtClean="0"/>
              <a:t>y</a:t>
            </a:r>
            <a:r>
              <a:rPr lang="en-US" altLang="zh-CN" baseline="-25000" smtClean="0"/>
              <a:t>1</a:t>
            </a:r>
            <a:r>
              <a:rPr lang="zh-CN" altLang="en-US" smtClean="0"/>
              <a:t>=17.9</a:t>
            </a:r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zh-CN" altLang="en-US" smtClean="0"/>
              <a:t>        用下山法调, </a:t>
            </a:r>
            <a:r>
              <a:rPr lang="en-US" altLang="zh-CN" i="1" smtClean="0"/>
              <a:t>y</a:t>
            </a:r>
            <a:r>
              <a:rPr lang="en-US" altLang="zh-CN" baseline="-25000" smtClean="0"/>
              <a:t>1</a:t>
            </a:r>
            <a:r>
              <a:rPr lang="zh-CN" altLang="en-US" smtClean="0"/>
              <a:t>=17.9, </a:t>
            </a:r>
            <a:r>
              <a:rPr lang="en-US" altLang="zh-CN" i="1" smtClean="0"/>
              <a:t>x</a:t>
            </a:r>
            <a:r>
              <a:rPr lang="en-US" altLang="zh-CN" baseline="-25000" smtClean="0"/>
              <a:t>0</a:t>
            </a:r>
            <a:r>
              <a:rPr lang="zh-CN" altLang="en-US" smtClean="0"/>
              <a:t>=0.6, </a:t>
            </a:r>
            <a:r>
              <a:rPr lang="en-US" altLang="zh-CN" i="1" smtClean="0"/>
              <a:t>f</a:t>
            </a:r>
            <a:r>
              <a:rPr lang="en-US" altLang="zh-CN" smtClean="0"/>
              <a:t>(</a:t>
            </a:r>
            <a:r>
              <a:rPr lang="en-US" altLang="zh-CN" i="1" smtClean="0"/>
              <a:t>x</a:t>
            </a:r>
            <a:r>
              <a:rPr lang="en-US" altLang="zh-CN" baseline="-25000" smtClean="0"/>
              <a:t>0</a:t>
            </a:r>
            <a:r>
              <a:rPr lang="en-US" altLang="zh-CN" smtClean="0"/>
              <a:t>)</a:t>
            </a:r>
            <a:r>
              <a:rPr lang="en-US" altLang="zh-CN" i="1" smtClean="0"/>
              <a:t>=</a:t>
            </a:r>
            <a:r>
              <a:rPr lang="zh-CN" altLang="en-US" smtClean="0"/>
              <a:t> 1.384</a:t>
            </a:r>
          </a:p>
        </p:txBody>
      </p:sp>
      <p:graphicFrame>
        <p:nvGraphicFramePr>
          <p:cNvPr id="301060" name="Object 4"/>
          <p:cNvGraphicFramePr>
            <a:graphicFrameLocks noChangeAspect="1"/>
          </p:cNvGraphicFramePr>
          <p:nvPr/>
        </p:nvGraphicFramePr>
        <p:xfrm>
          <a:off x="1447802" y="2743200"/>
          <a:ext cx="334327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57" name="Equation" r:id="rId4" imgW="1307880" imgH="228600" progId="Equation.3">
                  <p:embed/>
                </p:oleObj>
              </mc:Choice>
              <mc:Fallback>
                <p:oleObj name="Equation" r:id="rId4" imgW="130788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2" y="2743200"/>
                        <a:ext cx="3343275" cy="565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1061" name="Object 5"/>
          <p:cNvGraphicFramePr>
            <a:graphicFrameLocks noChangeAspect="1"/>
          </p:cNvGraphicFramePr>
          <p:nvPr/>
        </p:nvGraphicFramePr>
        <p:xfrm>
          <a:off x="76200" y="3124200"/>
          <a:ext cx="6553200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58" name="Equation" r:id="rId6" imgW="2654280" imgH="393480" progId="Equation.3">
                  <p:embed/>
                </p:oleObj>
              </mc:Choice>
              <mc:Fallback>
                <p:oleObj name="Equation" r:id="rId6" imgW="2654280" imgH="3934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3124200"/>
                        <a:ext cx="6553200" cy="973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1062" name="Object 6"/>
          <p:cNvGraphicFramePr>
            <a:graphicFrameLocks noChangeAspect="1"/>
          </p:cNvGraphicFramePr>
          <p:nvPr/>
        </p:nvGraphicFramePr>
        <p:xfrm>
          <a:off x="141288" y="3903665"/>
          <a:ext cx="6488112" cy="973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59" name="Equation" r:id="rId8" imgW="2806560" imgH="393480" progId="Equation.3">
                  <p:embed/>
                </p:oleObj>
              </mc:Choice>
              <mc:Fallback>
                <p:oleObj name="Equation" r:id="rId8" imgW="2806560" imgH="3934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288" y="3903665"/>
                        <a:ext cx="6488112" cy="973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106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8333913"/>
              </p:ext>
            </p:extLst>
          </p:nvPr>
        </p:nvGraphicFramePr>
        <p:xfrm>
          <a:off x="90490" y="4668838"/>
          <a:ext cx="7107541" cy="11364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60" name="公式" r:id="rId10" imgW="2971800" imgH="431640" progId="Equation.3">
                  <p:embed/>
                </p:oleObj>
              </mc:Choice>
              <mc:Fallback>
                <p:oleObj name="公式" r:id="rId10" imgW="2971800" imgH="4316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90" y="4668838"/>
                        <a:ext cx="7107541" cy="1136426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1064" name="Rectangle 8"/>
          <p:cNvSpPr>
            <a:spLocks noChangeArrowheads="1"/>
          </p:cNvSpPr>
          <p:nvPr/>
        </p:nvSpPr>
        <p:spPr bwMode="auto">
          <a:xfrm>
            <a:off x="7032627" y="3290888"/>
            <a:ext cx="2111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i="1">
                <a:latin typeface="Times New Roman" pitchFamily="18" charset="0"/>
              </a:rPr>
              <a:t>f</a:t>
            </a:r>
            <a:r>
              <a:rPr lang="en-US" altLang="zh-CN" sz="2800">
                <a:latin typeface="Times New Roman" pitchFamily="18" charset="0"/>
              </a:rPr>
              <a:t>(</a:t>
            </a:r>
            <a:r>
              <a:rPr lang="zh-CN" altLang="en-US" sz="2800">
                <a:latin typeface="Times New Roman" pitchFamily="18" charset="0"/>
              </a:rPr>
              <a:t>9.25</a:t>
            </a:r>
            <a:r>
              <a:rPr lang="en-US" altLang="zh-CN" sz="2800">
                <a:latin typeface="Times New Roman" pitchFamily="18" charset="0"/>
              </a:rPr>
              <a:t>)&gt;</a:t>
            </a:r>
            <a:r>
              <a:rPr lang="en-US" altLang="zh-CN" sz="2800" i="1">
                <a:latin typeface="Times New Roman" pitchFamily="18" charset="0"/>
              </a:rPr>
              <a:t> f</a:t>
            </a:r>
            <a:r>
              <a:rPr lang="en-US" altLang="zh-CN" sz="2800">
                <a:latin typeface="Times New Roman" pitchFamily="18" charset="0"/>
              </a:rPr>
              <a:t>(</a:t>
            </a:r>
            <a:r>
              <a:rPr lang="en-US" altLang="zh-CN" sz="2800" i="1">
                <a:latin typeface="Times New Roman" pitchFamily="18" charset="0"/>
              </a:rPr>
              <a:t>x</a:t>
            </a:r>
            <a:r>
              <a:rPr lang="en-US" altLang="zh-CN" sz="2800" baseline="-25000">
                <a:latin typeface="Times New Roman" pitchFamily="18" charset="0"/>
              </a:rPr>
              <a:t>0</a:t>
            </a:r>
            <a:r>
              <a:rPr lang="en-US" altLang="zh-CN" sz="2800">
                <a:latin typeface="Times New Roman" pitchFamily="18" charset="0"/>
              </a:rPr>
              <a:t>)</a:t>
            </a:r>
            <a:endParaRPr lang="zh-CN" altLang="en-US" sz="2800">
              <a:latin typeface="Times New Roman" pitchFamily="18" charset="0"/>
            </a:endParaRPr>
          </a:p>
        </p:txBody>
      </p:sp>
      <p:sp>
        <p:nvSpPr>
          <p:cNvPr id="301065" name="Rectangle 9"/>
          <p:cNvSpPr>
            <a:spLocks noChangeArrowheads="1"/>
          </p:cNvSpPr>
          <p:nvPr/>
        </p:nvSpPr>
        <p:spPr bwMode="auto">
          <a:xfrm>
            <a:off x="6753227" y="4052888"/>
            <a:ext cx="2466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i="1">
                <a:latin typeface="Times New Roman" pitchFamily="18" charset="0"/>
              </a:rPr>
              <a:t>f</a:t>
            </a:r>
            <a:r>
              <a:rPr lang="en-US" altLang="zh-CN" sz="2800">
                <a:latin typeface="Times New Roman" pitchFamily="18" charset="0"/>
              </a:rPr>
              <a:t>(</a:t>
            </a:r>
            <a:r>
              <a:rPr lang="zh-CN" altLang="en-US" sz="2800">
                <a:latin typeface="Times New Roman" pitchFamily="18" charset="0"/>
              </a:rPr>
              <a:t>2.7625</a:t>
            </a:r>
            <a:r>
              <a:rPr lang="en-US" altLang="zh-CN" sz="2800">
                <a:latin typeface="Times New Roman" pitchFamily="18" charset="0"/>
              </a:rPr>
              <a:t>)&gt;</a:t>
            </a:r>
            <a:r>
              <a:rPr lang="en-US" altLang="zh-CN" sz="2800" i="1">
                <a:latin typeface="Times New Roman" pitchFamily="18" charset="0"/>
              </a:rPr>
              <a:t> f</a:t>
            </a:r>
            <a:r>
              <a:rPr lang="en-US" altLang="zh-CN" sz="2800">
                <a:latin typeface="Times New Roman" pitchFamily="18" charset="0"/>
              </a:rPr>
              <a:t>(</a:t>
            </a:r>
            <a:r>
              <a:rPr lang="en-US" altLang="zh-CN" sz="2800" i="1">
                <a:latin typeface="Times New Roman" pitchFamily="18" charset="0"/>
              </a:rPr>
              <a:t>x</a:t>
            </a:r>
            <a:r>
              <a:rPr lang="en-US" altLang="zh-CN" sz="2800" baseline="-25000">
                <a:latin typeface="Times New Roman" pitchFamily="18" charset="0"/>
              </a:rPr>
              <a:t>0</a:t>
            </a:r>
            <a:r>
              <a:rPr lang="en-US" altLang="zh-CN" sz="2800">
                <a:latin typeface="Times New Roman" pitchFamily="18" charset="0"/>
              </a:rPr>
              <a:t>)</a:t>
            </a:r>
            <a:endParaRPr lang="zh-CN" altLang="en-US" sz="2800">
              <a:latin typeface="Times New Roman" pitchFamily="18" charset="0"/>
            </a:endParaRPr>
          </a:p>
        </p:txBody>
      </p:sp>
      <p:sp>
        <p:nvSpPr>
          <p:cNvPr id="301066" name="Rectangle 10"/>
          <p:cNvSpPr>
            <a:spLocks noChangeArrowheads="1"/>
          </p:cNvSpPr>
          <p:nvPr/>
        </p:nvSpPr>
        <p:spPr bwMode="auto">
          <a:xfrm>
            <a:off x="6352876" y="5733256"/>
            <a:ext cx="284725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i="1" dirty="0">
                <a:latin typeface="Times New Roman" pitchFamily="18" charset="0"/>
              </a:rPr>
              <a:t>f</a:t>
            </a:r>
            <a:r>
              <a:rPr lang="en-US" altLang="zh-CN" sz="2800" dirty="0">
                <a:latin typeface="Times New Roman" pitchFamily="18" charset="0"/>
              </a:rPr>
              <a:t>(1.140625)&lt;</a:t>
            </a:r>
            <a:r>
              <a:rPr lang="en-US" altLang="zh-CN" sz="2800" i="1" dirty="0">
                <a:latin typeface="Times New Roman" pitchFamily="18" charset="0"/>
              </a:rPr>
              <a:t> f</a:t>
            </a:r>
            <a:r>
              <a:rPr lang="en-US" altLang="zh-CN" sz="2800" dirty="0">
                <a:latin typeface="Times New Roman" pitchFamily="18" charset="0"/>
              </a:rPr>
              <a:t>(</a:t>
            </a:r>
            <a:r>
              <a:rPr lang="en-US" altLang="zh-CN" sz="2800" i="1" dirty="0" err="1">
                <a:latin typeface="Times New Roman" pitchFamily="18" charset="0"/>
              </a:rPr>
              <a:t>x</a:t>
            </a:r>
            <a:r>
              <a:rPr lang="en-US" altLang="zh-CN" sz="2800" baseline="-25000" dirty="0" err="1">
                <a:latin typeface="Times New Roman" pitchFamily="18" charset="0"/>
              </a:rPr>
              <a:t>0</a:t>
            </a:r>
            <a:r>
              <a:rPr lang="en-US" altLang="zh-CN" sz="2800" dirty="0">
                <a:latin typeface="Times New Roman" pitchFamily="18" charset="0"/>
              </a:rPr>
              <a:t>)</a:t>
            </a:r>
            <a:endParaRPr lang="zh-CN" altLang="en-US" sz="2800" dirty="0">
              <a:latin typeface="Times New Roman" pitchFamily="18" charset="0"/>
            </a:endParaRPr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1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1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1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1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1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1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1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1064" grpId="0" autoUpdateAnimBg="0"/>
      <p:bldP spid="301065" grpId="0" autoUpdateAnimBg="0"/>
      <p:bldP spid="301066" grpId="0" autoUpdateAnimBg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0075" y="249605"/>
            <a:ext cx="8142288" cy="664797"/>
          </a:xfrm>
        </p:spPr>
        <p:txBody>
          <a:bodyPr/>
          <a:lstStyle/>
          <a:p>
            <a:r>
              <a:rPr lang="en-US" altLang="zh-CN" dirty="0"/>
              <a:t>(3)  </a:t>
            </a:r>
            <a:r>
              <a:rPr lang="zh-CN" altLang="en-US" sz="4800" dirty="0"/>
              <a:t>牛顿下山法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723900" y="1292226"/>
            <a:ext cx="10856384" cy="38779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EB2D8C-C595-4C75-A410-92E615560A69}" type="slidenum">
              <a:rPr lang="zh-CN" altLang="en-US" smtClean="0"/>
              <a:pPr>
                <a:defRPr/>
              </a:pPr>
              <a:t>82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F4F2C565-DEEA-484F-99D9-2BCC1484ACAF}" type="datetime1">
              <a:rPr lang="zh-CN" altLang="en-US" smtClean="0"/>
              <a:pPr>
                <a:defRPr/>
              </a:pPr>
              <a:t>2024/9/22</a:t>
            </a:fld>
            <a:endParaRPr lang="en-US" altLang="zh-CN" sz="1000"/>
          </a:p>
        </p:txBody>
      </p:sp>
      <p:pic>
        <p:nvPicPr>
          <p:cNvPr id="9318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196"/>
          <a:stretch/>
        </p:blipFill>
        <p:spPr bwMode="auto">
          <a:xfrm>
            <a:off x="251520" y="1268762"/>
            <a:ext cx="8496300" cy="4378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52305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EB2D8C-C595-4C75-A410-92E615560A69}" type="slidenum">
              <a:rPr lang="zh-CN" altLang="en-US" smtClean="0"/>
              <a:pPr>
                <a:defRPr/>
              </a:pPr>
              <a:t>83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F4F2C565-DEEA-484F-99D9-2BCC1484ACAF}" type="datetime1">
              <a:rPr lang="zh-CN" altLang="en-US" smtClean="0"/>
              <a:pPr>
                <a:defRPr/>
              </a:pPr>
              <a:t>2024/9/22</a:t>
            </a:fld>
            <a:endParaRPr lang="en-US" altLang="zh-CN" sz="1000"/>
          </a:p>
        </p:txBody>
      </p:sp>
      <p:grpSp>
        <p:nvGrpSpPr>
          <p:cNvPr id="6" name="Group 2"/>
          <p:cNvGrpSpPr>
            <a:grpSpLocks/>
          </p:cNvGrpSpPr>
          <p:nvPr/>
        </p:nvGrpSpPr>
        <p:grpSpPr bwMode="auto">
          <a:xfrm>
            <a:off x="539750" y="1196975"/>
            <a:ext cx="7613650" cy="457200"/>
            <a:chOff x="0" y="0"/>
            <a:chExt cx="4796" cy="288"/>
          </a:xfrm>
        </p:grpSpPr>
        <p:sp>
          <p:nvSpPr>
            <p:cNvPr id="7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345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zh-CN" altLang="en-US" sz="2400" dirty="0">
                  <a:ea typeface="楷体_GB2312" pitchFamily="1" charset="-122"/>
                </a:rPr>
                <a:t>牛顿迭代法每迭代一次都需计算函数值 </a:t>
              </a:r>
            </a:p>
          </p:txBody>
        </p:sp>
        <p:graphicFrame>
          <p:nvGraphicFramePr>
            <p:cNvPr id="8" name="Object 4"/>
            <p:cNvGraphicFramePr>
              <a:graphicFrameLocks noChangeAspect="1"/>
            </p:cNvGraphicFramePr>
            <p:nvPr/>
          </p:nvGraphicFramePr>
          <p:xfrm>
            <a:off x="3356" y="0"/>
            <a:ext cx="480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185" r:id="rId3" imgW="393846" imgH="228818" progId="Equation.DSMT4">
                    <p:embed/>
                  </p:oleObj>
                </mc:Choice>
                <mc:Fallback>
                  <p:oleObj r:id="rId3" imgW="393846" imgH="22881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56" y="0"/>
                          <a:ext cx="480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cmpd="sng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3855" y="0"/>
              <a:ext cx="94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zh-CN" altLang="en-US" sz="2400">
                  <a:ea typeface="楷体_GB2312" pitchFamily="1" charset="-122"/>
                </a:rPr>
                <a:t>和导数值 </a:t>
              </a:r>
            </a:p>
          </p:txBody>
        </p:sp>
      </p:grp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4479636" y="3114645"/>
            <a:ext cx="1847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Object 7"/>
          <p:cNvGraphicFramePr>
            <a:graphicFrameLocks noChangeAspect="1"/>
          </p:cNvGraphicFramePr>
          <p:nvPr/>
        </p:nvGraphicFramePr>
        <p:xfrm>
          <a:off x="8027988" y="1196975"/>
          <a:ext cx="762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86" r:id="rId5" imgW="431930" imgH="228818" progId="Equation.DSMT4">
                  <p:embed/>
                </p:oleObj>
              </mc:Choice>
              <mc:Fallback>
                <p:oleObj r:id="rId5" imgW="431930" imgH="22881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7988" y="1196975"/>
                        <a:ext cx="762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mpd="sng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144372" y="1697983"/>
            <a:ext cx="49103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>
                <a:ea typeface="楷体_GB2312" pitchFamily="1" charset="-122"/>
              </a:rPr>
              <a:t>计算量比较大；且迭代过程中计算 </a:t>
            </a:r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4479636" y="3114645"/>
            <a:ext cx="1847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14" name="Group 10"/>
          <p:cNvGrpSpPr>
            <a:grpSpLocks/>
          </p:cNvGrpSpPr>
          <p:nvPr/>
        </p:nvGrpSpPr>
        <p:grpSpPr bwMode="auto">
          <a:xfrm>
            <a:off x="4860032" y="1676226"/>
            <a:ext cx="2655888" cy="528638"/>
            <a:chOff x="0" y="0"/>
            <a:chExt cx="1673" cy="333"/>
          </a:xfrm>
        </p:grpSpPr>
        <p:graphicFrame>
          <p:nvGraphicFramePr>
            <p:cNvPr id="15" name="Object 11"/>
            <p:cNvGraphicFramePr>
              <a:graphicFrameLocks noChangeAspect="1"/>
            </p:cNvGraphicFramePr>
            <p:nvPr/>
          </p:nvGraphicFramePr>
          <p:xfrm>
            <a:off x="0" y="0"/>
            <a:ext cx="336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187" r:id="rId7" imgW="254207" imgH="228818" progId="Equation.DSMT4">
                    <p:embed/>
                  </p:oleObj>
                </mc:Choice>
                <mc:Fallback>
                  <p:oleObj r:id="rId7" imgW="254207" imgH="22881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336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cmpd="sng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Rectangle 12"/>
            <p:cNvSpPr>
              <a:spLocks noChangeArrowheads="1"/>
            </p:cNvSpPr>
            <p:nvPr/>
          </p:nvSpPr>
          <p:spPr bwMode="auto">
            <a:xfrm>
              <a:off x="272" y="45"/>
              <a:ext cx="132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zh-CN" altLang="en-US" sz="2400" dirty="0">
                  <a:ea typeface="楷体_GB2312" pitchFamily="1" charset="-122"/>
                </a:rPr>
                <a:t>时，仅利用了 </a:t>
              </a:r>
            </a:p>
          </p:txBody>
        </p:sp>
        <p:graphicFrame>
          <p:nvGraphicFramePr>
            <p:cNvPr id="17" name="Object 13"/>
            <p:cNvGraphicFramePr>
              <a:graphicFrameLocks noChangeAspect="1"/>
            </p:cNvGraphicFramePr>
            <p:nvPr/>
          </p:nvGraphicFramePr>
          <p:xfrm>
            <a:off x="1452" y="0"/>
            <a:ext cx="221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188" r:id="rId9" imgW="165345" imgH="228818" progId="Equation.DSMT4">
                    <p:embed/>
                  </p:oleObj>
                </mc:Choice>
                <mc:Fallback>
                  <p:oleObj r:id="rId9" imgW="165345" imgH="22881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2" y="0"/>
                          <a:ext cx="221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cmpd="sng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7427915" y="1747664"/>
            <a:ext cx="17160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 dirty="0">
                <a:ea typeface="楷体_GB2312" pitchFamily="1" charset="-122"/>
              </a:rPr>
              <a:t>点的信息，</a:t>
            </a:r>
          </a:p>
        </p:txBody>
      </p:sp>
      <p:sp>
        <p:nvSpPr>
          <p:cNvPr id="19" name="Rectangle 15"/>
          <p:cNvSpPr>
            <a:spLocks noChangeArrowheads="1"/>
          </p:cNvSpPr>
          <p:nvPr/>
        </p:nvSpPr>
        <p:spPr bwMode="auto">
          <a:xfrm>
            <a:off x="4479636" y="3114645"/>
            <a:ext cx="1847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20" name="Group 16"/>
          <p:cNvGrpSpPr>
            <a:grpSpLocks/>
          </p:cNvGrpSpPr>
          <p:nvPr/>
        </p:nvGrpSpPr>
        <p:grpSpPr bwMode="auto">
          <a:xfrm>
            <a:off x="295275" y="2252662"/>
            <a:ext cx="8516940" cy="487363"/>
            <a:chOff x="-18" y="-15"/>
            <a:chExt cx="5365" cy="307"/>
          </a:xfrm>
        </p:grpSpPr>
        <p:sp>
          <p:nvSpPr>
            <p:cNvPr id="21" name="Rectangle 17"/>
            <p:cNvSpPr>
              <a:spLocks noChangeArrowheads="1"/>
            </p:cNvSpPr>
            <p:nvPr/>
          </p:nvSpPr>
          <p:spPr bwMode="auto">
            <a:xfrm>
              <a:off x="-18" y="0"/>
              <a:ext cx="250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>
                  <a:ea typeface="楷体_GB2312" pitchFamily="1" charset="-122"/>
                </a:rPr>
                <a:t>而没有充分利用已经求出的 </a:t>
              </a:r>
            </a:p>
          </p:txBody>
        </p:sp>
        <p:graphicFrame>
          <p:nvGraphicFramePr>
            <p:cNvPr id="22" name="Object 18"/>
            <p:cNvGraphicFramePr>
              <a:graphicFrameLocks noChangeAspect="1"/>
            </p:cNvGraphicFramePr>
            <p:nvPr/>
          </p:nvGraphicFramePr>
          <p:xfrm>
            <a:off x="2358" y="0"/>
            <a:ext cx="960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189" r:id="rId11" imgW="749617" imgH="228917" progId="Equation.DSMT4">
                    <p:embed/>
                  </p:oleObj>
                </mc:Choice>
                <mc:Fallback>
                  <p:oleObj r:id="rId11" imgW="749617" imgH="22891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8" y="0"/>
                          <a:ext cx="960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cmpd="sng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Rectangle 19"/>
            <p:cNvSpPr>
              <a:spLocks noChangeArrowheads="1"/>
            </p:cNvSpPr>
            <p:nvPr/>
          </p:nvSpPr>
          <p:spPr bwMode="auto">
            <a:xfrm>
              <a:off x="3477" y="-15"/>
              <a:ext cx="187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zh-CN" altLang="en-US" sz="2400" dirty="0">
                  <a:ea typeface="楷体_GB2312" pitchFamily="1" charset="-122"/>
                </a:rPr>
                <a:t>；在导数</a:t>
              </a:r>
              <a:r>
                <a:rPr lang="zh-CN" altLang="en-US" sz="2400" dirty="0" smtClean="0">
                  <a:ea typeface="楷体_GB2312" pitchFamily="1" charset="-122"/>
                </a:rPr>
                <a:t>计算复杂或</a:t>
              </a:r>
              <a:endParaRPr lang="zh-CN" altLang="en-US" sz="2400" dirty="0">
                <a:ea typeface="楷体_GB2312" pitchFamily="1" charset="-122"/>
              </a:endParaRPr>
            </a:p>
          </p:txBody>
        </p:sp>
      </p:grp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395290" y="4005263"/>
            <a:ext cx="2022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  <a:ea typeface="楷体_GB2312" pitchFamily="1" charset="-122"/>
              </a:rPr>
              <a:t>迭代格式构造</a:t>
            </a:r>
          </a:p>
        </p:txBody>
      </p:sp>
      <p:sp>
        <p:nvSpPr>
          <p:cNvPr id="26" name="Rectangle 22"/>
          <p:cNvSpPr>
            <a:spLocks noChangeArrowheads="1"/>
          </p:cNvSpPr>
          <p:nvPr/>
        </p:nvSpPr>
        <p:spPr bwMode="auto">
          <a:xfrm>
            <a:off x="395288" y="5300663"/>
            <a:ext cx="8280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zh-CN" sz="2400" dirty="0">
                <a:ea typeface="楷体_GB2312" pitchFamily="1" charset="-122"/>
              </a:rPr>
              <a:t> (2)   </a:t>
            </a:r>
            <a:r>
              <a:rPr lang="zh-CN" altLang="en-US" sz="2400" dirty="0">
                <a:ea typeface="楷体_GB2312" pitchFamily="1" charset="-122"/>
              </a:rPr>
              <a:t>构造方法：将</a:t>
            </a:r>
            <a:r>
              <a:rPr lang="zh-CN" altLang="zh-CN" sz="2400" dirty="0">
                <a:ea typeface="楷体_GB2312" pitchFamily="1" charset="-122"/>
              </a:rPr>
              <a:t>Newton</a:t>
            </a:r>
            <a:r>
              <a:rPr lang="zh-CN" altLang="en-US" sz="2400" dirty="0">
                <a:ea typeface="楷体_GB2312" pitchFamily="1" charset="-122"/>
              </a:rPr>
              <a:t>迭代格式中的导数用差商代替。 </a:t>
            </a:r>
          </a:p>
        </p:txBody>
      </p:sp>
      <p:sp>
        <p:nvSpPr>
          <p:cNvPr id="27" name="Rectangle 24"/>
          <p:cNvSpPr>
            <a:spLocks noChangeArrowheads="1"/>
          </p:cNvSpPr>
          <p:nvPr/>
        </p:nvSpPr>
        <p:spPr bwMode="auto">
          <a:xfrm>
            <a:off x="468315" y="4632325"/>
            <a:ext cx="84597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zh-CN" sz="2400" dirty="0">
                <a:latin typeface="楷体_GB2312" pitchFamily="1" charset="-122"/>
                <a:ea typeface="楷体_GB2312" pitchFamily="1" charset="-122"/>
              </a:rPr>
              <a:t>(1)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构造思想：用割线的斜率代替牛顿迭代法中切线的斜率；</a:t>
            </a:r>
          </a:p>
        </p:txBody>
      </p:sp>
      <p:sp>
        <p:nvSpPr>
          <p:cNvPr id="28" name="Rectangle 25"/>
          <p:cNvSpPr>
            <a:spLocks noChangeArrowheads="1"/>
          </p:cNvSpPr>
          <p:nvPr/>
        </p:nvSpPr>
        <p:spPr bwMode="auto">
          <a:xfrm>
            <a:off x="179390" y="3357563"/>
            <a:ext cx="85693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设法避开导数值的计算，因此可以</a:t>
            </a:r>
            <a:r>
              <a:rPr lang="zh-CN" altLang="en-US" sz="2400" dirty="0" smtClean="0">
                <a:latin typeface="楷体_GB2312" pitchFamily="1" charset="-122"/>
                <a:ea typeface="楷体_GB2312" pitchFamily="1" charset="-122"/>
              </a:rPr>
              <a:t>采用弦截法（也叫割线法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） </a:t>
            </a:r>
          </a:p>
        </p:txBody>
      </p:sp>
      <p:sp>
        <p:nvSpPr>
          <p:cNvPr id="29" name="Rectangle 26"/>
          <p:cNvSpPr>
            <a:spLocks noChangeArrowheads="1"/>
          </p:cNvSpPr>
          <p:nvPr/>
        </p:nvSpPr>
        <p:spPr bwMode="auto">
          <a:xfrm>
            <a:off x="144372" y="2821260"/>
            <a:ext cx="908905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dirty="0" smtClean="0">
                <a:ea typeface="楷体_GB2312" pitchFamily="1" charset="-122"/>
              </a:rPr>
              <a:t>难以计算时，一个自然的想法就是在充分利用“旧信息”的同时，</a:t>
            </a:r>
            <a:endParaRPr lang="zh-CN" altLang="en-US" sz="2400" dirty="0">
              <a:ea typeface="楷体_GB2312" pitchFamily="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70609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  <p:bldP spid="18" grpId="0" autoUpdateAnimBg="0"/>
      <p:bldP spid="25" grpId="0" autoUpdateAnimBg="0"/>
      <p:bldP spid="26" grpId="0" autoUpdateAnimBg="0"/>
      <p:bldP spid="27" grpId="0" autoUpdateAnimBg="0"/>
      <p:bldP spid="29" grpId="0" autoUpdateAnimBg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85C3D291-1669-4AF0-BED9-183DE94DB1EF}" type="slidenum">
              <a:rPr lang="zh-CN" altLang="en-US"/>
              <a:pPr/>
              <a:t>84</a:t>
            </a:fld>
            <a:endParaRPr lang="en-US" altLang="zh-CN"/>
          </a:p>
        </p:txBody>
      </p:sp>
      <p:sp>
        <p:nvSpPr>
          <p:cNvPr id="93187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D233EC8E-3E91-48D7-8DB7-89360CD6F652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303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3.4.1  单点弦截法</a:t>
            </a:r>
          </a:p>
        </p:txBody>
      </p:sp>
      <p:sp>
        <p:nvSpPr>
          <p:cNvPr id="931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292225"/>
            <a:ext cx="8142288" cy="387798"/>
          </a:xfrm>
        </p:spPr>
        <p:txBody>
          <a:bodyPr/>
          <a:lstStyle/>
          <a:p>
            <a:r>
              <a:rPr lang="zh-CN" altLang="en-US" dirty="0" smtClean="0"/>
              <a:t>单点弦截法的几何意义</a:t>
            </a:r>
          </a:p>
        </p:txBody>
      </p:sp>
      <p:sp>
        <p:nvSpPr>
          <p:cNvPr id="46" name="Line 3"/>
          <p:cNvSpPr>
            <a:spLocks noChangeAspect="1" noChangeShapeType="1"/>
          </p:cNvSpPr>
          <p:nvPr/>
        </p:nvSpPr>
        <p:spPr bwMode="auto">
          <a:xfrm>
            <a:off x="2124077" y="3933825"/>
            <a:ext cx="5045075" cy="0"/>
          </a:xfrm>
          <a:prstGeom prst="line">
            <a:avLst/>
          </a:prstGeom>
          <a:noFill/>
          <a:ln w="15875" cmpd="sng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" name="Arc 4"/>
          <p:cNvSpPr>
            <a:spLocks noChangeAspect="1"/>
          </p:cNvSpPr>
          <p:nvPr/>
        </p:nvSpPr>
        <p:spPr bwMode="auto">
          <a:xfrm flipV="1">
            <a:off x="2352675" y="1878015"/>
            <a:ext cx="3181350" cy="2522537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595"/>
              <a:gd name="T1" fmla="*/ 0 h 21600"/>
              <a:gd name="T2" fmla="*/ 21595 w 21595"/>
              <a:gd name="T3" fmla="*/ 21114 h 21600"/>
              <a:gd name="T4" fmla="*/ 0 w 21595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595" h="21600" fill="none" extrusionOk="0">
                <a:moveTo>
                  <a:pt x="-1" y="0"/>
                </a:moveTo>
                <a:cubicBezTo>
                  <a:pt x="11739" y="0"/>
                  <a:pt x="21330" y="9376"/>
                  <a:pt x="21594" y="21114"/>
                </a:cubicBezTo>
              </a:path>
              <a:path w="21595" h="21600" stroke="0" extrusionOk="0">
                <a:moveTo>
                  <a:pt x="-1" y="0"/>
                </a:moveTo>
                <a:cubicBezTo>
                  <a:pt x="11739" y="0"/>
                  <a:pt x="21330" y="9376"/>
                  <a:pt x="21594" y="21114"/>
                </a:cubicBezTo>
                <a:lnTo>
                  <a:pt x="0" y="21600"/>
                </a:lnTo>
                <a:close/>
              </a:path>
            </a:pathLst>
          </a:custGeom>
          <a:noFill/>
          <a:ln w="2540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" name="Line 5"/>
          <p:cNvSpPr>
            <a:spLocks noChangeAspect="1" noChangeShapeType="1"/>
          </p:cNvSpPr>
          <p:nvPr/>
        </p:nvSpPr>
        <p:spPr bwMode="auto">
          <a:xfrm rot="20400000" flipH="1">
            <a:off x="4587877" y="1968502"/>
            <a:ext cx="1476375" cy="1846263"/>
          </a:xfrm>
          <a:prstGeom prst="line">
            <a:avLst/>
          </a:prstGeom>
          <a:noFill/>
          <a:ln w="19050" cmpd="sng">
            <a:solidFill>
              <a:srgbClr val="2C376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Line 6"/>
          <p:cNvSpPr>
            <a:spLocks noChangeAspect="1" noChangeShapeType="1"/>
          </p:cNvSpPr>
          <p:nvPr/>
        </p:nvSpPr>
        <p:spPr bwMode="auto">
          <a:xfrm flipH="1">
            <a:off x="4572000" y="2276475"/>
            <a:ext cx="877888" cy="2287588"/>
          </a:xfrm>
          <a:prstGeom prst="line">
            <a:avLst/>
          </a:prstGeom>
          <a:noFill/>
          <a:ln w="15875" cmpd="sng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0" name="Group 7"/>
          <p:cNvGrpSpPr>
            <a:grpSpLocks/>
          </p:cNvGrpSpPr>
          <p:nvPr/>
        </p:nvGrpSpPr>
        <p:grpSpPr bwMode="auto">
          <a:xfrm>
            <a:off x="5292725" y="2349502"/>
            <a:ext cx="457200" cy="1890713"/>
            <a:chOff x="0" y="0"/>
            <a:chExt cx="288" cy="1492"/>
          </a:xfrm>
        </p:grpSpPr>
        <p:sp>
          <p:nvSpPr>
            <p:cNvPr id="51" name="Line 8"/>
            <p:cNvSpPr>
              <a:spLocks noChangeAspect="1" noChangeShapeType="1"/>
            </p:cNvSpPr>
            <p:nvPr/>
          </p:nvSpPr>
          <p:spPr bwMode="auto">
            <a:xfrm flipV="1">
              <a:off x="126" y="0"/>
              <a:ext cx="0" cy="1244"/>
            </a:xfrm>
            <a:prstGeom prst="line">
              <a:avLst/>
            </a:prstGeom>
            <a:noFill/>
            <a:ln w="15875" cmpd="sng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Text Box 9"/>
            <p:cNvSpPr txBox="1">
              <a:spLocks noChangeArrowheads="1"/>
            </p:cNvSpPr>
            <p:nvPr/>
          </p:nvSpPr>
          <p:spPr bwMode="auto">
            <a:xfrm>
              <a:off x="0" y="1179"/>
              <a:ext cx="288" cy="3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zh-CN" i="1">
                  <a:latin typeface="Times New Roman" pitchFamily="18" charset="0"/>
                </a:rPr>
                <a:t>x</a:t>
              </a:r>
              <a:r>
                <a:rPr lang="zh-CN" altLang="zh-CN" baseline="-25000">
                  <a:latin typeface="Times New Roman" pitchFamily="18" charset="0"/>
                </a:rPr>
                <a:t>0</a:t>
              </a:r>
              <a:endParaRPr lang="zh-CN" altLang="zh-CN" i="1">
                <a:latin typeface="Times New Roman" pitchFamily="18" charset="0"/>
              </a:endParaRPr>
            </a:p>
          </p:txBody>
        </p:sp>
      </p:grpSp>
      <p:grpSp>
        <p:nvGrpSpPr>
          <p:cNvPr id="53" name="Group 10"/>
          <p:cNvGrpSpPr>
            <a:grpSpLocks/>
          </p:cNvGrpSpPr>
          <p:nvPr/>
        </p:nvGrpSpPr>
        <p:grpSpPr bwMode="auto">
          <a:xfrm>
            <a:off x="4932363" y="3141665"/>
            <a:ext cx="457200" cy="1082675"/>
            <a:chOff x="0" y="0"/>
            <a:chExt cx="288" cy="682"/>
          </a:xfrm>
        </p:grpSpPr>
        <p:sp>
          <p:nvSpPr>
            <p:cNvPr id="54" name="Line 11"/>
            <p:cNvSpPr>
              <a:spLocks noChangeAspect="1" noChangeShapeType="1"/>
            </p:cNvSpPr>
            <p:nvPr/>
          </p:nvSpPr>
          <p:spPr bwMode="auto">
            <a:xfrm>
              <a:off x="137" y="0"/>
              <a:ext cx="0" cy="497"/>
            </a:xfrm>
            <a:prstGeom prst="line">
              <a:avLst/>
            </a:prstGeom>
            <a:noFill/>
            <a:ln w="15875" cmpd="sng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Text Box 12"/>
            <p:cNvSpPr txBox="1">
              <a:spLocks noChangeArrowheads="1"/>
            </p:cNvSpPr>
            <p:nvPr/>
          </p:nvSpPr>
          <p:spPr bwMode="auto">
            <a:xfrm>
              <a:off x="0" y="432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zh-CN" i="1">
                  <a:latin typeface="Times New Roman" pitchFamily="18" charset="0"/>
                </a:rPr>
                <a:t>x</a:t>
              </a:r>
              <a:r>
                <a:rPr lang="zh-CN" altLang="zh-CN" baseline="-25000">
                  <a:latin typeface="Times New Roman" pitchFamily="18" charset="0"/>
                </a:rPr>
                <a:t>1</a:t>
              </a:r>
              <a:endParaRPr lang="zh-CN" altLang="zh-CN" i="1">
                <a:latin typeface="Times New Roman" pitchFamily="18" charset="0"/>
              </a:endParaRPr>
            </a:p>
          </p:txBody>
        </p:sp>
      </p:grpSp>
      <p:sp>
        <p:nvSpPr>
          <p:cNvPr id="56" name="AutoShape 13"/>
          <p:cNvSpPr>
            <a:spLocks noChangeArrowheads="1"/>
          </p:cNvSpPr>
          <p:nvPr/>
        </p:nvSpPr>
        <p:spPr bwMode="auto">
          <a:xfrm>
            <a:off x="6019800" y="2667000"/>
            <a:ext cx="2057400" cy="484188"/>
          </a:xfrm>
          <a:prstGeom prst="wedgeRectCallout">
            <a:avLst>
              <a:gd name="adj1" fmla="val -85569"/>
              <a:gd name="adj2" fmla="val 2787"/>
            </a:avLst>
          </a:prstGeom>
          <a:gradFill rotWithShape="0">
            <a:gsLst>
              <a:gs pos="0">
                <a:srgbClr val="B5BEE3"/>
              </a:gs>
              <a:gs pos="100000">
                <a:schemeClr val="bg1"/>
              </a:gs>
            </a:gsLst>
            <a:lin ang="5400000" scaled="1"/>
          </a:gradFill>
          <a:ln w="9525" cmpd="sng">
            <a:solidFill>
              <a:schemeClr val="accent5">
                <a:lumMod val="90000"/>
              </a:schemeClr>
            </a:solidFill>
            <a:miter lim="800000"/>
            <a:headEnd/>
            <a:tailEnd/>
          </a:ln>
          <a:effectLst/>
          <a:extLst/>
        </p:spPr>
        <p:txBody>
          <a:bodyPr/>
          <a:lstStyle/>
          <a:p>
            <a:pPr algn="ctr"/>
            <a:r>
              <a:rPr lang="zh-CN" altLang="en-US" dirty="0">
                <a:latin typeface="Times New Roman" pitchFamily="18" charset="0"/>
                <a:ea typeface="楷体_GB2312" pitchFamily="1" charset="-122"/>
              </a:rPr>
              <a:t>切线</a:t>
            </a:r>
            <a:r>
              <a:rPr lang="zh-CN" altLang="en-US" sz="2400" dirty="0">
                <a:latin typeface="Times New Roman" pitchFamily="18" charset="0"/>
              </a:rPr>
              <a:t> </a:t>
            </a:r>
          </a:p>
        </p:txBody>
      </p:sp>
      <p:sp>
        <p:nvSpPr>
          <p:cNvPr id="57" name="AutoShape 14"/>
          <p:cNvSpPr>
            <a:spLocks noChangeArrowheads="1"/>
          </p:cNvSpPr>
          <p:nvPr/>
        </p:nvSpPr>
        <p:spPr bwMode="auto">
          <a:xfrm>
            <a:off x="2484438" y="2276475"/>
            <a:ext cx="1905000" cy="457200"/>
          </a:xfrm>
          <a:prstGeom prst="wedgeRectCallout">
            <a:avLst>
              <a:gd name="adj1" fmla="val 91250"/>
              <a:gd name="adj2" fmla="val 76736"/>
            </a:avLst>
          </a:prstGeom>
          <a:gradFill rotWithShape="0">
            <a:gsLst>
              <a:gs pos="0">
                <a:srgbClr val="B5BEE3"/>
              </a:gs>
              <a:gs pos="100000">
                <a:schemeClr val="bg1"/>
              </a:gs>
            </a:gsLst>
            <a:lin ang="5400000" scaled="1"/>
          </a:gradFill>
          <a:ln w="9525" cmpd="sng">
            <a:solidFill>
              <a:schemeClr val="accent5">
                <a:lumMod val="90000"/>
              </a:schemeClr>
            </a:solidFill>
            <a:miter lim="800000"/>
            <a:headEnd/>
            <a:tailEnd/>
          </a:ln>
          <a:effectLst/>
          <a:extLst/>
        </p:spPr>
        <p:txBody>
          <a:bodyPr/>
          <a:lstStyle/>
          <a:p>
            <a:pPr algn="ctr"/>
            <a:r>
              <a:rPr lang="zh-CN" altLang="en-US" dirty="0">
                <a:solidFill>
                  <a:srgbClr val="FF3300"/>
                </a:solidFill>
                <a:latin typeface="Times New Roman" pitchFamily="18" charset="0"/>
                <a:ea typeface="楷体_GB2312" pitchFamily="1" charset="-122"/>
              </a:rPr>
              <a:t>割线</a:t>
            </a:r>
            <a:r>
              <a:rPr lang="zh-CN" altLang="en-US" sz="2400" dirty="0">
                <a:latin typeface="Times New Roman" pitchFamily="18" charset="0"/>
              </a:rPr>
              <a:t> </a:t>
            </a:r>
          </a:p>
        </p:txBody>
      </p:sp>
      <p:sp>
        <p:nvSpPr>
          <p:cNvPr id="58" name="Text Box 15"/>
          <p:cNvSpPr txBox="1">
            <a:spLocks noChangeArrowheads="1"/>
          </p:cNvSpPr>
          <p:nvPr/>
        </p:nvSpPr>
        <p:spPr bwMode="auto">
          <a:xfrm>
            <a:off x="808038" y="4797738"/>
            <a:ext cx="358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切线斜率　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  <a:sym typeface="Symbol" pitchFamily="18" charset="2"/>
              </a:rPr>
              <a:t>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　割线斜率</a:t>
            </a:r>
          </a:p>
        </p:txBody>
      </p:sp>
      <p:graphicFrame>
        <p:nvGraphicFramePr>
          <p:cNvPr id="59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0625301"/>
              </p:ext>
            </p:extLst>
          </p:nvPr>
        </p:nvGraphicFramePr>
        <p:xfrm>
          <a:off x="4427538" y="4501525"/>
          <a:ext cx="3649662" cy="93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50" r:id="rId7" imgW="1739462" imgH="431930" progId="Equation.3">
                  <p:embed/>
                </p:oleObj>
              </mc:Choice>
              <mc:Fallback>
                <p:oleObj r:id="rId7" imgW="1739462" imgH="43193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4501525"/>
                        <a:ext cx="3649662" cy="93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2738206"/>
              </p:ext>
            </p:extLst>
          </p:nvPr>
        </p:nvGraphicFramePr>
        <p:xfrm>
          <a:off x="2987675" y="5373218"/>
          <a:ext cx="5029630" cy="9482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51" r:id="rId9" imgW="2094908" imgH="431930" progId="Equation.3">
                  <p:embed/>
                </p:oleObj>
              </mc:Choice>
              <mc:Fallback>
                <p:oleObj r:id="rId9" imgW="2094908" imgH="43193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5373218"/>
                        <a:ext cx="5029630" cy="9482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1" name="Group 18"/>
          <p:cNvGrpSpPr>
            <a:grpSpLocks/>
          </p:cNvGrpSpPr>
          <p:nvPr/>
        </p:nvGrpSpPr>
        <p:grpSpPr bwMode="auto">
          <a:xfrm>
            <a:off x="4643438" y="3500438"/>
            <a:ext cx="457200" cy="774700"/>
            <a:chOff x="0" y="0"/>
            <a:chExt cx="288" cy="880"/>
          </a:xfrm>
        </p:grpSpPr>
        <p:sp>
          <p:nvSpPr>
            <p:cNvPr id="62" name="Line 19"/>
            <p:cNvSpPr>
              <a:spLocks noChangeAspect="1" noChangeShapeType="1"/>
            </p:cNvSpPr>
            <p:nvPr/>
          </p:nvSpPr>
          <p:spPr bwMode="auto">
            <a:xfrm>
              <a:off x="137" y="0"/>
              <a:ext cx="0" cy="497"/>
            </a:xfrm>
            <a:prstGeom prst="line">
              <a:avLst/>
            </a:prstGeom>
            <a:noFill/>
            <a:ln w="15875" cmpd="sng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Text Box 20"/>
            <p:cNvSpPr txBox="1">
              <a:spLocks noChangeArrowheads="1"/>
            </p:cNvSpPr>
            <p:nvPr/>
          </p:nvSpPr>
          <p:spPr bwMode="auto">
            <a:xfrm>
              <a:off x="0" y="429"/>
              <a:ext cx="288" cy="4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zh-CN" i="1">
                  <a:latin typeface="Times New Roman" pitchFamily="18" charset="0"/>
                </a:rPr>
                <a:t>x</a:t>
              </a:r>
              <a:r>
                <a:rPr lang="zh-CN" altLang="zh-CN" i="1" baseline="-25000">
                  <a:latin typeface="Times New Roman" pitchFamily="18" charset="0"/>
                </a:rPr>
                <a:t>2</a:t>
              </a:r>
            </a:p>
          </p:txBody>
        </p:sp>
      </p:grpSp>
      <p:sp>
        <p:nvSpPr>
          <p:cNvPr id="64" name="Line 21"/>
          <p:cNvSpPr>
            <a:spLocks noChangeAspect="1" noChangeShapeType="1"/>
          </p:cNvSpPr>
          <p:nvPr/>
        </p:nvSpPr>
        <p:spPr bwMode="auto">
          <a:xfrm rot="360000" flipH="1">
            <a:off x="4356102" y="2276475"/>
            <a:ext cx="963613" cy="2508250"/>
          </a:xfrm>
          <a:prstGeom prst="line">
            <a:avLst/>
          </a:prstGeom>
          <a:noFill/>
          <a:ln w="25400" cmpd="sng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" name="Text Box 22"/>
          <p:cNvSpPr txBox="1">
            <a:spLocks noChangeArrowheads="1"/>
          </p:cNvSpPr>
          <p:nvPr/>
        </p:nvSpPr>
        <p:spPr bwMode="auto">
          <a:xfrm>
            <a:off x="323850" y="5516563"/>
            <a:ext cx="2667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rgbClr val="FF0032"/>
                </a:solidFill>
                <a:latin typeface="Times New Roman" pitchFamily="18" charset="0"/>
                <a:ea typeface="楷体_GB2312" pitchFamily="1" charset="-122"/>
              </a:rPr>
              <a:t>割线法迭代格式</a:t>
            </a:r>
            <a:r>
              <a:rPr lang="zh-CN" altLang="en-US" sz="2400">
                <a:solidFill>
                  <a:srgbClr val="FF0032"/>
                </a:solidFill>
                <a:latin typeface="Times New Roman" pitchFamily="18" charset="0"/>
              </a:rPr>
              <a:t>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48" grpId="0" animBg="1"/>
      <p:bldP spid="49" grpId="0" animBg="1"/>
      <p:bldP spid="56" grpId="0" animBg="1" autoUpdateAnimBg="0"/>
      <p:bldP spid="57" grpId="0" animBg="1" autoUpdateAnimBg="0"/>
      <p:bldP spid="58" grpId="0" autoUpdateAnimBg="0"/>
      <p:bldP spid="64" grpId="0" animBg="1"/>
      <p:bldP spid="65" grpId="0" autoUpdateAnimBg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4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DDA197B8-DC58-49EB-939B-10DB6262BECB}" type="slidenum">
              <a:rPr lang="zh-CN" altLang="en-US"/>
              <a:pPr/>
              <a:t>85</a:t>
            </a:fld>
            <a:endParaRPr lang="en-US" altLang="zh-CN"/>
          </a:p>
        </p:txBody>
      </p:sp>
      <p:sp>
        <p:nvSpPr>
          <p:cNvPr id="37895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0F803428-6CED-4CA9-96CB-ACCCA6173F1F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302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3.4 弦截法</a:t>
            </a:r>
          </a:p>
        </p:txBody>
      </p:sp>
      <p:sp>
        <p:nvSpPr>
          <p:cNvPr id="3789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92225"/>
            <a:ext cx="8458200" cy="498598"/>
          </a:xfrm>
        </p:spPr>
        <p:txBody>
          <a:bodyPr/>
          <a:lstStyle/>
          <a:p>
            <a:r>
              <a:rPr lang="zh-CN" altLang="en-US" sz="3600"/>
              <a:t>3.4.1 单点弦截法</a:t>
            </a:r>
          </a:p>
        </p:txBody>
      </p:sp>
      <p:sp>
        <p:nvSpPr>
          <p:cNvPr id="302084" name="Rectangle 4"/>
          <p:cNvSpPr>
            <a:spLocks noChangeArrowheads="1"/>
          </p:cNvSpPr>
          <p:nvPr/>
        </p:nvSpPr>
        <p:spPr bwMode="auto">
          <a:xfrm>
            <a:off x="2438400" y="5638800"/>
            <a:ext cx="5943600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258763" indent="-258763" algn="l" defTabSz="814388">
              <a:lnSpc>
                <a:spcPct val="90000"/>
              </a:lnSpc>
              <a:spcBef>
                <a:spcPts val="1200"/>
              </a:spcBef>
              <a:buClr>
                <a:srgbClr val="27305F"/>
              </a:buClr>
              <a:buSzPct val="60000"/>
            </a:pPr>
            <a:r>
              <a:rPr lang="zh-CN" altLang="en-US" sz="3600" u="sng">
                <a:solidFill>
                  <a:srgbClr val="FF3300"/>
                </a:solidFill>
                <a:latin typeface="Times New Roman" pitchFamily="18" charset="0"/>
                <a:ea typeface="黑体" pitchFamily="49" charset="-122"/>
              </a:rPr>
              <a:t>单点弦截法</a:t>
            </a:r>
            <a:r>
              <a:rPr kumimoji="1" lang="zh-CN" altLang="en-US" sz="2800">
                <a:solidFill>
                  <a:srgbClr val="ED5F2D"/>
                </a:solidFill>
                <a:latin typeface="Times New Roman" pitchFamily="18" charset="0"/>
                <a:ea typeface="黑体" pitchFamily="49" charset="-122"/>
              </a:rPr>
              <a:t>收敛阶数</a:t>
            </a:r>
            <a:r>
              <a:rPr kumimoji="1" lang="en-US" altLang="zh-CN" sz="2800">
                <a:solidFill>
                  <a:srgbClr val="ED5F2D"/>
                </a:solidFill>
                <a:latin typeface="Times New Roman" pitchFamily="18" charset="0"/>
                <a:ea typeface="黑体" pitchFamily="49" charset="-122"/>
              </a:rPr>
              <a:t>:1</a:t>
            </a:r>
            <a:endParaRPr lang="zh-CN" altLang="en-US" sz="3600">
              <a:latin typeface="Times New Roman" pitchFamily="18" charset="0"/>
              <a:ea typeface="黑体" pitchFamily="49" charset="-122"/>
            </a:endParaRPr>
          </a:p>
        </p:txBody>
      </p:sp>
      <p:graphicFrame>
        <p:nvGraphicFramePr>
          <p:cNvPr id="302085" name="Object 5"/>
          <p:cNvGraphicFramePr>
            <a:graphicFrameLocks noChangeAspect="1"/>
          </p:cNvGraphicFramePr>
          <p:nvPr/>
        </p:nvGraphicFramePr>
        <p:xfrm>
          <a:off x="76200" y="2898777"/>
          <a:ext cx="3581400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44" name="Equation" r:id="rId4" imgW="1600200" imgH="444240" progId="Equation.3">
                  <p:embed/>
                </p:oleObj>
              </mc:Choice>
              <mc:Fallback>
                <p:oleObj name="Equation" r:id="rId4" imgW="1600200" imgH="4442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2898777"/>
                        <a:ext cx="3581400" cy="1139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086" name="Object 6"/>
          <p:cNvGraphicFramePr>
            <a:graphicFrameLocks noChangeAspect="1"/>
          </p:cNvGraphicFramePr>
          <p:nvPr/>
        </p:nvGraphicFramePr>
        <p:xfrm>
          <a:off x="2209800" y="4038600"/>
          <a:ext cx="4495800" cy="1189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45" name="Equation" r:id="rId6" imgW="1676160" imgH="431640" progId="Equation.3">
                  <p:embed/>
                </p:oleObj>
              </mc:Choice>
              <mc:Fallback>
                <p:oleObj name="Equation" r:id="rId6" imgW="1676160" imgH="4316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038600"/>
                        <a:ext cx="4495800" cy="1189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2" name="Object 7"/>
          <p:cNvGraphicFramePr>
            <a:graphicFrameLocks noChangeAspect="1"/>
          </p:cNvGraphicFramePr>
          <p:nvPr/>
        </p:nvGraphicFramePr>
        <p:xfrm>
          <a:off x="685800" y="1752600"/>
          <a:ext cx="2895600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46" name="Equation" r:id="rId8" imgW="1257120" imgH="444240" progId="Equation.3">
                  <p:embed/>
                </p:oleObj>
              </mc:Choice>
              <mc:Fallback>
                <p:oleObj name="Equation" r:id="rId8" imgW="1257120" imgH="4442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752600"/>
                        <a:ext cx="2895600" cy="1130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2088" name="AutoShape 8"/>
          <p:cNvSpPr>
            <a:spLocks noChangeArrowheads="1"/>
          </p:cNvSpPr>
          <p:nvPr/>
        </p:nvSpPr>
        <p:spPr bwMode="auto">
          <a:xfrm>
            <a:off x="3733800" y="2514600"/>
            <a:ext cx="685800" cy="838200"/>
          </a:xfrm>
          <a:prstGeom prst="rightArrow">
            <a:avLst>
              <a:gd name="adj1" fmla="val 50000"/>
              <a:gd name="adj2" fmla="val 25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02089" name="Object 9"/>
          <p:cNvGraphicFramePr>
            <a:graphicFrameLocks noChangeAspect="1"/>
          </p:cNvGraphicFramePr>
          <p:nvPr/>
        </p:nvGraphicFramePr>
        <p:xfrm>
          <a:off x="4572000" y="2362202"/>
          <a:ext cx="4572000" cy="1027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47" name="Equation" r:id="rId10" imgW="2247840" imgH="431640" progId="Equation.3">
                  <p:embed/>
                </p:oleObj>
              </mc:Choice>
              <mc:Fallback>
                <p:oleObj name="Equation" r:id="rId10" imgW="2247840" imgH="4316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362202"/>
                        <a:ext cx="4572000" cy="1027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2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02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02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02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02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084" grpId="0" autoUpdateAnimBg="0"/>
      <p:bldP spid="302088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7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5390EA03-2513-4335-B540-7DFF18CD411F}" type="slidenum">
              <a:rPr lang="zh-CN" altLang="en-US"/>
              <a:pPr/>
              <a:t>86</a:t>
            </a:fld>
            <a:endParaRPr lang="en-US" altLang="zh-CN"/>
          </a:p>
        </p:txBody>
      </p:sp>
      <p:sp>
        <p:nvSpPr>
          <p:cNvPr id="38918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CA0CED13-62E6-4082-9917-D5D46996A0C8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472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3.4.1  单点弦截法</a:t>
            </a:r>
          </a:p>
        </p:txBody>
      </p:sp>
      <p:sp>
        <p:nvSpPr>
          <p:cNvPr id="472068" name="Rectangle 4"/>
          <p:cNvSpPr>
            <a:spLocks noChangeArrowheads="1"/>
          </p:cNvSpPr>
          <p:nvPr/>
        </p:nvSpPr>
        <p:spPr bwMode="auto">
          <a:xfrm>
            <a:off x="685800" y="2286000"/>
            <a:ext cx="8142288" cy="443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258763" indent="-258763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</a:pP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单点弦截法的迭代函数如下</a:t>
            </a:r>
            <a:endParaRPr lang="en-US" altLang="zh-CN" sz="3200">
              <a:latin typeface="Times New Roman" pitchFamily="18" charset="0"/>
              <a:ea typeface="黑体" pitchFamily="49" charset="-122"/>
            </a:endParaRPr>
          </a:p>
        </p:txBody>
      </p:sp>
      <p:graphicFrame>
        <p:nvGraphicFramePr>
          <p:cNvPr id="472069" name="Object 5"/>
          <p:cNvGraphicFramePr>
            <a:graphicFrameLocks noChangeAspect="1"/>
          </p:cNvGraphicFramePr>
          <p:nvPr/>
        </p:nvGraphicFramePr>
        <p:xfrm>
          <a:off x="1595438" y="2789238"/>
          <a:ext cx="4591050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29" name="Equation" r:id="rId4" imgW="2095200" imgH="431640" progId="Equation.3">
                  <p:embed/>
                </p:oleObj>
              </mc:Choice>
              <mc:Fallback>
                <p:oleObj name="Equation" r:id="rId4" imgW="2095200" imgH="431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5438" y="2789238"/>
                        <a:ext cx="4591050" cy="1047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2070" name="Object 6"/>
          <p:cNvGraphicFramePr>
            <a:graphicFrameLocks noChangeAspect="1"/>
          </p:cNvGraphicFramePr>
          <p:nvPr/>
        </p:nvGraphicFramePr>
        <p:xfrm>
          <a:off x="609600" y="3733800"/>
          <a:ext cx="7970838" cy="174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30" name="Equation" r:id="rId6" imgW="3263760" imgH="660240" progId="Equation.3">
                  <p:embed/>
                </p:oleObj>
              </mc:Choice>
              <mc:Fallback>
                <p:oleObj name="Equation" r:id="rId6" imgW="3263760" imgH="6602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733800"/>
                        <a:ext cx="7970838" cy="174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6" name="Object 8"/>
          <p:cNvGraphicFramePr>
            <a:graphicFrameLocks noChangeAspect="1"/>
          </p:cNvGraphicFramePr>
          <p:nvPr/>
        </p:nvGraphicFramePr>
        <p:xfrm>
          <a:off x="838200" y="1066802"/>
          <a:ext cx="4800600" cy="107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31" name="Equation" r:id="rId8" imgW="2247840" imgH="431640" progId="Equation.3">
                  <p:embed/>
                </p:oleObj>
              </mc:Choice>
              <mc:Fallback>
                <p:oleObj name="Equation" r:id="rId8" imgW="2247840" imgH="4316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066802"/>
                        <a:ext cx="4800600" cy="1077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72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72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72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2068" grpId="0" autoUpdateAnimBg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A5C70A98-9F05-4470-9F20-3E2C0464A155}" type="slidenum">
              <a:rPr lang="zh-CN" altLang="en-US"/>
              <a:pPr/>
              <a:t>87</a:t>
            </a:fld>
            <a:endParaRPr lang="en-US" altLang="zh-CN"/>
          </a:p>
        </p:txBody>
      </p:sp>
      <p:sp>
        <p:nvSpPr>
          <p:cNvPr id="39941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36CC3AA9-3543-451C-A207-87CAD1F53A21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graphicFrame>
        <p:nvGraphicFramePr>
          <p:cNvPr id="473092" name="Object 4"/>
          <p:cNvGraphicFramePr>
            <a:graphicFrameLocks noChangeAspect="1"/>
          </p:cNvGraphicFramePr>
          <p:nvPr/>
        </p:nvGraphicFramePr>
        <p:xfrm>
          <a:off x="152400" y="1066802"/>
          <a:ext cx="8991600" cy="1084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17" name="Equation" r:id="rId3" imgW="3670200" imgH="431640" progId="Equation.3">
                  <p:embed/>
                </p:oleObj>
              </mc:Choice>
              <mc:Fallback>
                <p:oleObj name="Equation" r:id="rId3" imgW="3670200" imgH="431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066802"/>
                        <a:ext cx="8991600" cy="1084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3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3.4.1  单点弦截法</a:t>
            </a:r>
          </a:p>
        </p:txBody>
      </p:sp>
      <p:sp>
        <p:nvSpPr>
          <p:cNvPr id="473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2133600"/>
            <a:ext cx="3276600" cy="443198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sz="3200" i="1"/>
              <a:t>x</a:t>
            </a:r>
            <a:r>
              <a:rPr lang="en-US" altLang="zh-CN" sz="3200" i="1" baseline="-25000"/>
              <a:t>n</a:t>
            </a:r>
            <a:r>
              <a:rPr lang="en-US" altLang="zh-CN" sz="3200">
                <a:sym typeface="Symbol" pitchFamily="18" charset="2"/>
              </a:rPr>
              <a:t></a:t>
            </a:r>
            <a:r>
              <a:rPr lang="zh-CN" altLang="en-US" sz="3200">
                <a:sym typeface="Symbol" pitchFamily="18" charset="2"/>
              </a:rPr>
              <a:t>,</a:t>
            </a:r>
            <a:r>
              <a:rPr lang="en-US" altLang="zh-CN" sz="3200" i="1">
                <a:sym typeface="Symbol" pitchFamily="18" charset="2"/>
              </a:rPr>
              <a:t>f</a:t>
            </a:r>
            <a:r>
              <a:rPr lang="en-US" altLang="zh-CN" sz="3200">
                <a:sym typeface="Symbol" pitchFamily="18" charset="2"/>
              </a:rPr>
              <a:t>(</a:t>
            </a:r>
            <a:r>
              <a:rPr lang="en-US" altLang="zh-CN" sz="3200" i="1"/>
              <a:t>x</a:t>
            </a:r>
            <a:r>
              <a:rPr lang="en-US" altLang="zh-CN" sz="3200" i="1" baseline="-25000"/>
              <a:t>n</a:t>
            </a:r>
            <a:r>
              <a:rPr lang="en-US" altLang="zh-CN" sz="3200">
                <a:sym typeface="Symbol" pitchFamily="18" charset="2"/>
              </a:rPr>
              <a:t>)</a:t>
            </a:r>
            <a:r>
              <a:rPr lang="en-US" altLang="zh-CN" sz="3200" i="1">
                <a:sym typeface="Symbol" pitchFamily="18" charset="2"/>
              </a:rPr>
              <a:t>f</a:t>
            </a:r>
            <a:r>
              <a:rPr lang="en-US" altLang="zh-CN" sz="3200">
                <a:sym typeface="Symbol" pitchFamily="18" charset="2"/>
              </a:rPr>
              <a:t>(</a:t>
            </a:r>
            <a:r>
              <a:rPr lang="zh-CN" altLang="en-US" sz="3200">
                <a:sym typeface="Symbol" pitchFamily="18" charset="2"/>
              </a:rPr>
              <a:t>)=0</a:t>
            </a:r>
            <a:endParaRPr lang="en-US" altLang="zh-CN" sz="3200">
              <a:sym typeface="Symbol" pitchFamily="18" charset="2"/>
            </a:endParaRPr>
          </a:p>
        </p:txBody>
      </p:sp>
      <p:graphicFrame>
        <p:nvGraphicFramePr>
          <p:cNvPr id="473094" name="Object 6"/>
          <p:cNvGraphicFramePr>
            <a:graphicFrameLocks noChangeAspect="1"/>
          </p:cNvGraphicFramePr>
          <p:nvPr/>
        </p:nvGraphicFramePr>
        <p:xfrm>
          <a:off x="304800" y="3052765"/>
          <a:ext cx="8839200" cy="334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18" name="Equation" r:id="rId5" imgW="3619440" imgH="1333440" progId="Equation.3">
                  <p:embed/>
                </p:oleObj>
              </mc:Choice>
              <mc:Fallback>
                <p:oleObj name="Equation" r:id="rId5" imgW="3619440" imgH="13334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052765"/>
                        <a:ext cx="8839200" cy="3348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3095" name="AutoShape 7"/>
          <p:cNvSpPr>
            <a:spLocks noChangeArrowheads="1"/>
          </p:cNvSpPr>
          <p:nvPr/>
        </p:nvSpPr>
        <p:spPr bwMode="auto">
          <a:xfrm>
            <a:off x="533400" y="2590800"/>
            <a:ext cx="3810000" cy="457200"/>
          </a:xfrm>
          <a:prstGeom prst="rightArrow">
            <a:avLst>
              <a:gd name="adj1" fmla="val 50000"/>
              <a:gd name="adj2" fmla="val 208333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73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73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73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73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3091" grpId="0" autoUpdateAnimBg="0"/>
      <p:bldP spid="473095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14F2BB14-A20D-468A-84DA-A19E571234BF}" type="slidenum">
              <a:rPr lang="zh-CN" altLang="en-US"/>
              <a:pPr/>
              <a:t>88</a:t>
            </a:fld>
            <a:endParaRPr lang="en-US" altLang="zh-CN"/>
          </a:p>
        </p:txBody>
      </p:sp>
      <p:sp>
        <p:nvSpPr>
          <p:cNvPr id="94211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63059A28-2318-4742-A0BD-9C2975CD844F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335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3.4.1  单点弦截法</a:t>
            </a:r>
          </a:p>
        </p:txBody>
      </p:sp>
      <p:sp>
        <p:nvSpPr>
          <p:cNvPr id="94213" name="Rectangle 5"/>
          <p:cNvSpPr>
            <a:spLocks noChangeArrowheads="1"/>
          </p:cNvSpPr>
          <p:nvPr/>
        </p:nvSpPr>
        <p:spPr bwMode="auto">
          <a:xfrm>
            <a:off x="533400" y="1219200"/>
            <a:ext cx="8305800" cy="4468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258763" indent="-258763" algn="l" defTabSz="814388">
              <a:lnSpc>
                <a:spcPct val="90000"/>
              </a:lnSpc>
              <a:spcBef>
                <a:spcPts val="1200"/>
              </a:spcBef>
              <a:buClr>
                <a:srgbClr val="27305F"/>
              </a:buClr>
              <a:buSzPct val="60000"/>
            </a:pPr>
            <a:r>
              <a:rPr lang="zh-CN" altLang="en-US" sz="3200" dirty="0">
                <a:latin typeface="Times New Roman" pitchFamily="18" charset="0"/>
                <a:ea typeface="黑体" pitchFamily="49" charset="-122"/>
              </a:rPr>
              <a:t>单点弦截法收敛的充分条件：</a:t>
            </a:r>
          </a:p>
          <a:p>
            <a:pPr marL="258763" indent="-258763" algn="l" defTabSz="814388">
              <a:lnSpc>
                <a:spcPct val="90000"/>
              </a:lnSpc>
              <a:spcBef>
                <a:spcPts val="12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</a:pPr>
            <a:r>
              <a:rPr lang="zh-CN" altLang="en-US" sz="3200" dirty="0">
                <a:latin typeface="Times New Roman" pitchFamily="18" charset="0"/>
                <a:ea typeface="黑体" pitchFamily="49" charset="-122"/>
              </a:rPr>
              <a:t>定理2.6 设 </a:t>
            </a:r>
            <a:r>
              <a:rPr lang="en-US" altLang="zh-CN" sz="3200" i="1" dirty="0">
                <a:latin typeface="Times New Roman" pitchFamily="18" charset="0"/>
                <a:ea typeface="黑体" pitchFamily="49" charset="-122"/>
              </a:rPr>
              <a:t>f</a:t>
            </a:r>
            <a:r>
              <a:rPr lang="en-US" altLang="zh-CN" sz="3200" dirty="0">
                <a:latin typeface="Times New Roman" pitchFamily="18" charset="0"/>
                <a:ea typeface="黑体" pitchFamily="49" charset="-122"/>
              </a:rPr>
              <a:t>(</a:t>
            </a:r>
            <a:r>
              <a:rPr lang="en-US" altLang="zh-CN" sz="3200" i="1" dirty="0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3200" dirty="0">
                <a:latin typeface="Times New Roman" pitchFamily="18" charset="0"/>
                <a:ea typeface="黑体" pitchFamily="49" charset="-122"/>
              </a:rPr>
              <a:t>) </a:t>
            </a:r>
            <a:r>
              <a:rPr lang="zh-CN" altLang="en-US" sz="3200" dirty="0">
                <a:latin typeface="Times New Roman" pitchFamily="18" charset="0"/>
                <a:ea typeface="黑体" pitchFamily="49" charset="-122"/>
              </a:rPr>
              <a:t>在[</a:t>
            </a:r>
            <a:r>
              <a:rPr lang="en-US" altLang="zh-CN" sz="3200" dirty="0" err="1">
                <a:latin typeface="Times New Roman" pitchFamily="18" charset="0"/>
                <a:ea typeface="黑体" pitchFamily="49" charset="-122"/>
              </a:rPr>
              <a:t>a,b</a:t>
            </a:r>
            <a:r>
              <a:rPr lang="en-US" altLang="zh-CN" sz="3200" dirty="0">
                <a:latin typeface="Times New Roman" pitchFamily="18" charset="0"/>
                <a:ea typeface="黑体" pitchFamily="49" charset="-122"/>
              </a:rPr>
              <a:t>]</a:t>
            </a:r>
            <a:r>
              <a:rPr lang="zh-CN" altLang="en-US" sz="3200" dirty="0">
                <a:latin typeface="Times New Roman" pitchFamily="18" charset="0"/>
                <a:ea typeface="黑体" pitchFamily="49" charset="-122"/>
              </a:rPr>
              <a:t>上二阶导数存在,且满足</a:t>
            </a:r>
          </a:p>
          <a:p>
            <a:pPr marL="649288" lvl="1" indent="-261938" algn="l" defTabSz="814388">
              <a:lnSpc>
                <a:spcPct val="90000"/>
              </a:lnSpc>
              <a:spcBef>
                <a:spcPts val="1200"/>
              </a:spcBef>
              <a:buClr>
                <a:srgbClr val="27305F"/>
              </a:buClr>
              <a:buFontTx/>
              <a:buChar char="–"/>
            </a:pPr>
            <a:r>
              <a:rPr lang="zh-CN" altLang="en-US" sz="3200" dirty="0">
                <a:latin typeface="Times New Roman" pitchFamily="18" charset="0"/>
                <a:ea typeface="黑体" pitchFamily="49" charset="-122"/>
              </a:rPr>
              <a:t>(1) </a:t>
            </a:r>
            <a:r>
              <a:rPr lang="en-US" altLang="zh-CN" sz="3200" i="1" dirty="0">
                <a:latin typeface="Times New Roman" pitchFamily="18" charset="0"/>
                <a:ea typeface="黑体" pitchFamily="49" charset="-122"/>
              </a:rPr>
              <a:t>f</a:t>
            </a:r>
            <a:r>
              <a:rPr lang="en-US" altLang="zh-CN" sz="3200" dirty="0">
                <a:latin typeface="Times New Roman" pitchFamily="18" charset="0"/>
                <a:ea typeface="黑体" pitchFamily="49" charset="-122"/>
              </a:rPr>
              <a:t>(</a:t>
            </a:r>
            <a:r>
              <a:rPr lang="en-US" altLang="zh-CN" sz="3200" i="1" dirty="0">
                <a:latin typeface="Times New Roman" pitchFamily="18" charset="0"/>
                <a:ea typeface="黑体" pitchFamily="49" charset="-122"/>
              </a:rPr>
              <a:t>a</a:t>
            </a:r>
            <a:r>
              <a:rPr lang="en-US" altLang="zh-CN" sz="3200" dirty="0">
                <a:latin typeface="Times New Roman" pitchFamily="18" charset="0"/>
                <a:ea typeface="黑体" pitchFamily="49" charset="-122"/>
              </a:rPr>
              <a:t>)</a:t>
            </a:r>
            <a:r>
              <a:rPr lang="en-US" altLang="zh-CN" sz="3200" i="1" dirty="0">
                <a:latin typeface="Times New Roman" pitchFamily="18" charset="0"/>
                <a:ea typeface="黑体" pitchFamily="49" charset="-122"/>
              </a:rPr>
              <a:t> f</a:t>
            </a:r>
            <a:r>
              <a:rPr lang="en-US" altLang="zh-CN" sz="3200" dirty="0">
                <a:latin typeface="Times New Roman" pitchFamily="18" charset="0"/>
                <a:ea typeface="黑体" pitchFamily="49" charset="-122"/>
              </a:rPr>
              <a:t>(</a:t>
            </a:r>
            <a:r>
              <a:rPr lang="en-US" altLang="zh-CN" sz="3200" i="1" dirty="0">
                <a:latin typeface="Times New Roman" pitchFamily="18" charset="0"/>
                <a:ea typeface="黑体" pitchFamily="49" charset="-122"/>
              </a:rPr>
              <a:t>b</a:t>
            </a:r>
            <a:r>
              <a:rPr lang="en-US" altLang="zh-CN" sz="3200" dirty="0">
                <a:latin typeface="Times New Roman" pitchFamily="18" charset="0"/>
                <a:ea typeface="黑体" pitchFamily="49" charset="-122"/>
              </a:rPr>
              <a:t>)&lt;0</a:t>
            </a:r>
          </a:p>
          <a:p>
            <a:pPr marL="649288" lvl="1" indent="-261938" algn="l" defTabSz="814388">
              <a:lnSpc>
                <a:spcPct val="90000"/>
              </a:lnSpc>
              <a:spcBef>
                <a:spcPts val="1200"/>
              </a:spcBef>
              <a:buClr>
                <a:srgbClr val="27305F"/>
              </a:buClr>
              <a:buFontTx/>
              <a:buChar char="–"/>
            </a:pPr>
            <a:r>
              <a:rPr lang="zh-CN" altLang="en-US" sz="3200" dirty="0">
                <a:latin typeface="Times New Roman" pitchFamily="18" charset="0"/>
                <a:ea typeface="黑体" pitchFamily="49" charset="-122"/>
              </a:rPr>
              <a:t>(2) </a:t>
            </a:r>
            <a:r>
              <a:rPr lang="en-US" altLang="zh-CN" sz="3200" i="1" dirty="0">
                <a:latin typeface="Times New Roman" pitchFamily="18" charset="0"/>
                <a:ea typeface="黑体" pitchFamily="49" charset="-122"/>
              </a:rPr>
              <a:t>f’</a:t>
            </a:r>
            <a:r>
              <a:rPr lang="en-US" altLang="zh-CN" sz="3200" dirty="0">
                <a:latin typeface="Times New Roman" pitchFamily="18" charset="0"/>
                <a:ea typeface="黑体" pitchFamily="49" charset="-122"/>
              </a:rPr>
              <a:t>(</a:t>
            </a:r>
            <a:r>
              <a:rPr lang="en-US" altLang="zh-CN" sz="3200" i="1" dirty="0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3200" dirty="0">
                <a:latin typeface="Times New Roman" pitchFamily="18" charset="0"/>
                <a:ea typeface="黑体" pitchFamily="49" charset="-122"/>
              </a:rPr>
              <a:t>)≠0</a:t>
            </a:r>
          </a:p>
          <a:p>
            <a:pPr marL="649288" lvl="1" indent="-261938" algn="l" defTabSz="814388">
              <a:lnSpc>
                <a:spcPct val="90000"/>
              </a:lnSpc>
              <a:spcBef>
                <a:spcPts val="1200"/>
              </a:spcBef>
              <a:buClr>
                <a:srgbClr val="27305F"/>
              </a:buClr>
              <a:buFontTx/>
              <a:buChar char="–"/>
            </a:pPr>
            <a:r>
              <a:rPr lang="zh-CN" altLang="en-US" sz="3200" dirty="0">
                <a:latin typeface="Times New Roman" pitchFamily="18" charset="0"/>
                <a:ea typeface="黑体" pitchFamily="49" charset="-122"/>
              </a:rPr>
              <a:t>(3) </a:t>
            </a:r>
            <a:r>
              <a:rPr lang="en-US" altLang="zh-CN" sz="3200" i="1" dirty="0">
                <a:latin typeface="Times New Roman" pitchFamily="18" charset="0"/>
                <a:ea typeface="黑体" pitchFamily="49" charset="-122"/>
              </a:rPr>
              <a:t>f’’</a:t>
            </a:r>
            <a:r>
              <a:rPr lang="en-US" altLang="zh-CN" sz="3200" dirty="0">
                <a:latin typeface="Times New Roman" pitchFamily="18" charset="0"/>
                <a:ea typeface="黑体" pitchFamily="49" charset="-122"/>
              </a:rPr>
              <a:t>(</a:t>
            </a:r>
            <a:r>
              <a:rPr lang="en-US" altLang="zh-CN" sz="3200" i="1" dirty="0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3200" dirty="0">
                <a:latin typeface="Times New Roman" pitchFamily="18" charset="0"/>
                <a:ea typeface="黑体" pitchFamily="49" charset="-122"/>
              </a:rPr>
              <a:t>)</a:t>
            </a:r>
            <a:r>
              <a:rPr lang="zh-CN" altLang="en-US" sz="3200" dirty="0">
                <a:latin typeface="Times New Roman" pitchFamily="18" charset="0"/>
                <a:ea typeface="黑体" pitchFamily="49" charset="-122"/>
              </a:rPr>
              <a:t>不变号</a:t>
            </a:r>
          </a:p>
          <a:p>
            <a:pPr marL="649288" lvl="1" indent="-261938" algn="l" defTabSz="814388">
              <a:lnSpc>
                <a:spcPct val="90000"/>
              </a:lnSpc>
              <a:spcBef>
                <a:spcPts val="1200"/>
              </a:spcBef>
              <a:buClr>
                <a:srgbClr val="27305F"/>
              </a:buClr>
              <a:buFontTx/>
              <a:buChar char="–"/>
            </a:pPr>
            <a:r>
              <a:rPr lang="zh-CN" altLang="en-US" sz="3200" dirty="0">
                <a:latin typeface="Times New Roman" pitchFamily="18" charset="0"/>
                <a:ea typeface="黑体" pitchFamily="49" charset="-122"/>
              </a:rPr>
              <a:t>(4)不动点</a:t>
            </a:r>
            <a:r>
              <a:rPr lang="en-US" altLang="zh-CN" sz="3200" i="1" dirty="0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3200" baseline="-25000" dirty="0">
                <a:latin typeface="Times New Roman" pitchFamily="18" charset="0"/>
                <a:ea typeface="黑体" pitchFamily="49" charset="-122"/>
              </a:rPr>
              <a:t>0</a:t>
            </a:r>
            <a:r>
              <a:rPr lang="zh-CN" altLang="en-US" sz="3200" dirty="0">
                <a:latin typeface="Times New Roman" pitchFamily="18" charset="0"/>
                <a:ea typeface="黑体" pitchFamily="49" charset="-122"/>
              </a:rPr>
              <a:t>满足</a:t>
            </a:r>
            <a:r>
              <a:rPr lang="en-US" altLang="zh-CN" sz="3200" i="1" dirty="0">
                <a:latin typeface="Times New Roman" pitchFamily="18" charset="0"/>
                <a:ea typeface="黑体" pitchFamily="49" charset="-122"/>
              </a:rPr>
              <a:t>f</a:t>
            </a:r>
            <a:r>
              <a:rPr lang="en-US" altLang="zh-CN" sz="3200" dirty="0">
                <a:latin typeface="Times New Roman" pitchFamily="18" charset="0"/>
                <a:ea typeface="黑体" pitchFamily="49" charset="-122"/>
              </a:rPr>
              <a:t>(</a:t>
            </a:r>
            <a:r>
              <a:rPr lang="en-US" altLang="zh-CN" sz="3200" i="1" dirty="0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3200" baseline="-25000" dirty="0">
                <a:latin typeface="Times New Roman" pitchFamily="18" charset="0"/>
                <a:ea typeface="黑体" pitchFamily="49" charset="-122"/>
              </a:rPr>
              <a:t>0</a:t>
            </a:r>
            <a:r>
              <a:rPr lang="en-US" altLang="zh-CN" sz="3200" dirty="0">
                <a:latin typeface="Times New Roman" pitchFamily="18" charset="0"/>
                <a:ea typeface="黑体" pitchFamily="49" charset="-122"/>
              </a:rPr>
              <a:t>)</a:t>
            </a:r>
            <a:r>
              <a:rPr lang="en-US" altLang="zh-CN" sz="3200" i="1" dirty="0">
                <a:latin typeface="Times New Roman" pitchFamily="18" charset="0"/>
                <a:ea typeface="黑体" pitchFamily="49" charset="-122"/>
              </a:rPr>
              <a:t>f’’</a:t>
            </a:r>
            <a:r>
              <a:rPr lang="en-US" altLang="zh-CN" sz="3200" dirty="0">
                <a:latin typeface="Times New Roman" pitchFamily="18" charset="0"/>
                <a:ea typeface="黑体" pitchFamily="49" charset="-122"/>
              </a:rPr>
              <a:t>(</a:t>
            </a:r>
            <a:r>
              <a:rPr lang="en-US" altLang="zh-CN" sz="3200" i="1" dirty="0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3200" baseline="-25000" dirty="0">
                <a:latin typeface="Times New Roman" pitchFamily="18" charset="0"/>
                <a:ea typeface="黑体" pitchFamily="49" charset="-122"/>
              </a:rPr>
              <a:t>0</a:t>
            </a:r>
            <a:r>
              <a:rPr lang="en-US" altLang="zh-CN" sz="3200" dirty="0">
                <a:latin typeface="Times New Roman" pitchFamily="18" charset="0"/>
                <a:ea typeface="黑体" pitchFamily="49" charset="-122"/>
              </a:rPr>
              <a:t>)&gt;0,</a:t>
            </a:r>
            <a:r>
              <a:rPr lang="en-US" altLang="zh-CN" sz="3200" i="1" dirty="0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3200" baseline="-25000" dirty="0">
                <a:latin typeface="Times New Roman" pitchFamily="18" charset="0"/>
                <a:ea typeface="黑体" pitchFamily="49" charset="-122"/>
              </a:rPr>
              <a:t>1</a:t>
            </a:r>
            <a:r>
              <a:rPr lang="zh-CN" altLang="en-US" sz="3200" dirty="0">
                <a:latin typeface="Times New Roman" pitchFamily="18" charset="0"/>
                <a:ea typeface="黑体" pitchFamily="49" charset="-122"/>
              </a:rPr>
              <a:t>与</a:t>
            </a:r>
            <a:r>
              <a:rPr lang="en-US" altLang="zh-CN" sz="3200" i="1" dirty="0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3200" baseline="-25000" dirty="0">
                <a:latin typeface="Times New Roman" pitchFamily="18" charset="0"/>
                <a:ea typeface="黑体" pitchFamily="49" charset="-122"/>
              </a:rPr>
              <a:t>0</a:t>
            </a:r>
            <a:r>
              <a:rPr lang="zh-CN" altLang="en-US" sz="3200" dirty="0">
                <a:latin typeface="Times New Roman" pitchFamily="18" charset="0"/>
                <a:ea typeface="黑体" pitchFamily="49" charset="-122"/>
              </a:rPr>
              <a:t>的函数值相异</a:t>
            </a:r>
          </a:p>
          <a:p>
            <a:pPr marL="258763" indent="-258763" algn="l" defTabSz="814388">
              <a:lnSpc>
                <a:spcPct val="90000"/>
              </a:lnSpc>
              <a:spcBef>
                <a:spcPts val="1200"/>
              </a:spcBef>
              <a:buClr>
                <a:srgbClr val="27305F"/>
              </a:buClr>
              <a:buSzPct val="60000"/>
            </a:pPr>
            <a:r>
              <a:rPr lang="zh-CN" altLang="en-US" sz="3200" dirty="0">
                <a:latin typeface="Times New Roman" pitchFamily="18" charset="0"/>
                <a:ea typeface="黑体" pitchFamily="49" charset="-122"/>
              </a:rPr>
              <a:t>	则单点弦截法收敛</a:t>
            </a:r>
          </a:p>
        </p:txBody>
      </p:sp>
      <p:sp>
        <p:nvSpPr>
          <p:cNvPr id="6" name="文本框 177163"/>
          <p:cNvSpPr txBox="1"/>
          <p:nvPr/>
        </p:nvSpPr>
        <p:spPr>
          <a:xfrm>
            <a:off x="4091314" y="2430382"/>
            <a:ext cx="1371600" cy="427038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>
            <a:spAutoFit/>
          </a:bodyPr>
          <a:lstStyle>
            <a:defPPr>
              <a:defRPr lang="zh-CN"/>
            </a:defPPr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C00000"/>
                </a:solidFill>
                <a:latin typeface="+mn-ea"/>
                <a:ea typeface="+mn-ea"/>
              </a:rPr>
              <a:t>有根</a:t>
            </a:r>
          </a:p>
        </p:txBody>
      </p:sp>
      <p:sp>
        <p:nvSpPr>
          <p:cNvPr id="7" name="文本框 177165"/>
          <p:cNvSpPr txBox="1"/>
          <p:nvPr/>
        </p:nvSpPr>
        <p:spPr>
          <a:xfrm>
            <a:off x="4097129" y="3016118"/>
            <a:ext cx="1371600" cy="427038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>
            <a:spAutoFit/>
          </a:bodyPr>
          <a:lstStyle>
            <a:defPPr>
              <a:defRPr lang="en-US"/>
            </a:defPPr>
            <a:lvl1pPr marL="0" lvl="0" indent="0" algn="l" defTabSz="914400" eaLnBrk="1" latinLnBrk="0" hangingPunct="1">
              <a:lnSpc>
                <a:spcPct val="100000"/>
              </a:lnSpc>
              <a:spcBef>
                <a:spcPct val="50000"/>
              </a:spcBef>
              <a:buNone/>
              <a:defRPr sz="2800" b="0" i="0" u="none" baseline="0">
                <a:solidFill>
                  <a:srgbClr val="C00000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lvl="1" indent="0" algn="l" defTabSz="914400" eaLnBrk="1" latinLnBrk="0" hangingPunct="1">
              <a:lnSpc>
                <a:spcPct val="100000"/>
              </a:lnSpc>
              <a:buNone/>
              <a:defRPr sz="2400" b="0" i="0" u="none" baseline="0">
                <a:latin typeface="Times New Roman" panose="02020603050405020304" pitchFamily="18" charset="0"/>
              </a:defRPr>
            </a:lvl2pPr>
            <a:lvl3pPr lvl="2" indent="0" algn="l" defTabSz="914400" eaLnBrk="1" latinLnBrk="0" hangingPunct="1">
              <a:lnSpc>
                <a:spcPct val="100000"/>
              </a:lnSpc>
              <a:buNone/>
              <a:defRPr sz="2400" b="0" i="0" u="none" baseline="0">
                <a:latin typeface="Times New Roman" panose="02020603050405020304" pitchFamily="18" charset="0"/>
              </a:defRPr>
            </a:lvl3pPr>
            <a:lvl4pPr lvl="3" indent="0" algn="l" defTabSz="914400" eaLnBrk="1" latinLnBrk="0" hangingPunct="1">
              <a:lnSpc>
                <a:spcPct val="100000"/>
              </a:lnSpc>
              <a:buNone/>
              <a:defRPr sz="2400" b="0" i="0" u="none" baseline="0">
                <a:latin typeface="Times New Roman" panose="02020603050405020304" pitchFamily="18" charset="0"/>
              </a:defRPr>
            </a:lvl4pPr>
            <a:lvl5pPr lvl="4" indent="0" algn="l" defTabSz="914400" eaLnBrk="1" latinLnBrk="0" hangingPunct="1">
              <a:lnSpc>
                <a:spcPct val="100000"/>
              </a:lnSpc>
              <a:buNone/>
              <a:defRPr sz="2400" b="0" i="0" u="none" baseline="0">
                <a:latin typeface="Times New Roman" panose="02020603050405020304" pitchFamily="18" charset="0"/>
              </a:defRPr>
            </a:lvl5pPr>
            <a:lvl6pPr lvl="5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baseline="0">
                <a:latin typeface="Times New Roman" panose="02020603050405020304" pitchFamily="18" charset="0"/>
              </a:defRPr>
            </a:lvl6pPr>
            <a:lvl7pPr lvl="6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baseline="0">
                <a:latin typeface="Times New Roman" panose="02020603050405020304" pitchFamily="18" charset="0"/>
              </a:defRPr>
            </a:lvl7pPr>
            <a:lvl8pPr lvl="7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baseline="0">
                <a:latin typeface="Times New Roman" panose="02020603050405020304" pitchFamily="18" charset="0"/>
              </a:defRPr>
            </a:lvl8pPr>
            <a:lvl9pPr lvl="8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baseline="0">
                <a:latin typeface="Times New Roman" panose="02020603050405020304" pitchFamily="18" charset="0"/>
              </a:defRPr>
            </a:lvl9pPr>
          </a:lstStyle>
          <a:p>
            <a:r>
              <a:rPr lang="zh-CN" altLang="en-US" dirty="0">
                <a:latin typeface="+mn-ea"/>
                <a:ea typeface="+mn-ea"/>
              </a:rPr>
              <a:t>根唯一</a:t>
            </a:r>
          </a:p>
        </p:txBody>
      </p:sp>
      <p:sp>
        <p:nvSpPr>
          <p:cNvPr id="8" name="矩形 7"/>
          <p:cNvSpPr/>
          <p:nvPr/>
        </p:nvSpPr>
        <p:spPr>
          <a:xfrm>
            <a:off x="4091314" y="3578544"/>
            <a:ext cx="4875528" cy="430887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lIns="0" tIns="0" rIns="0" bIns="0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800" b="0" dirty="0">
                <a:solidFill>
                  <a:srgbClr val="C00000"/>
                </a:solidFill>
                <a:latin typeface="+mn-ea"/>
              </a:rPr>
              <a:t>产生的序列单调有界</a:t>
            </a:r>
            <a:r>
              <a:rPr lang="en-US" altLang="zh-CN" sz="2800" b="0" dirty="0">
                <a:solidFill>
                  <a:srgbClr val="C00000"/>
                </a:solidFill>
                <a:latin typeface="+mn-ea"/>
              </a:rPr>
              <a:t>,</a:t>
            </a:r>
            <a:r>
              <a:rPr lang="zh-CN" altLang="en-US" sz="2800" b="0" dirty="0">
                <a:solidFill>
                  <a:srgbClr val="C00000"/>
                </a:solidFill>
                <a:latin typeface="+mn-ea"/>
              </a:rPr>
              <a:t>保证收敛</a:t>
            </a:r>
          </a:p>
        </p:txBody>
      </p:sp>
      <p:sp>
        <p:nvSpPr>
          <p:cNvPr id="9" name="矩形 8"/>
          <p:cNvSpPr/>
          <p:nvPr/>
        </p:nvSpPr>
        <p:spPr>
          <a:xfrm>
            <a:off x="2082752" y="6026868"/>
            <a:ext cx="45159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+mn-ea"/>
                <a:ea typeface="+mn-ea"/>
              </a:rPr>
              <a:t>单点弦截法扩大了局部收敛范围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5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78614E00-50BD-481F-A019-EDBC73060616}" type="slidenum">
              <a:rPr lang="zh-CN" altLang="en-US"/>
              <a:pPr/>
              <a:t>89</a:t>
            </a:fld>
            <a:endParaRPr lang="en-US" altLang="zh-CN" dirty="0"/>
          </a:p>
        </p:txBody>
      </p:sp>
      <p:sp>
        <p:nvSpPr>
          <p:cNvPr id="40966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50C3C9C3-2F4D-4883-96E3-1AC8ED268936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305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3.4.1  单点弦截法</a:t>
            </a:r>
          </a:p>
        </p:txBody>
      </p:sp>
      <p:sp>
        <p:nvSpPr>
          <p:cNvPr id="305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143002"/>
            <a:ext cx="8686800" cy="2326791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dirty="0" smtClean="0"/>
              <a:t>例2.13 用单点弦截法求 </a:t>
            </a:r>
            <a:r>
              <a:rPr lang="en-US" altLang="zh-CN" i="1" dirty="0" smtClean="0"/>
              <a:t>f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x</a:t>
            </a:r>
            <a:r>
              <a:rPr lang="en-US" altLang="zh-CN" dirty="0" smtClean="0"/>
              <a:t>)</a:t>
            </a:r>
            <a:r>
              <a:rPr lang="en-US" altLang="zh-CN" i="1" dirty="0" smtClean="0"/>
              <a:t>=xe</a:t>
            </a:r>
            <a:r>
              <a:rPr lang="en-US" altLang="zh-CN" i="1" baseline="30000" dirty="0" smtClean="0"/>
              <a:t>x</a:t>
            </a:r>
            <a:r>
              <a:rPr lang="en-US" altLang="zh-CN" dirty="0" smtClean="0"/>
              <a:t>-1</a:t>
            </a:r>
            <a:r>
              <a:rPr lang="en-US" altLang="zh-CN" i="1" dirty="0" smtClean="0"/>
              <a:t>=</a:t>
            </a:r>
            <a:r>
              <a:rPr lang="en-US" altLang="zh-CN" dirty="0" smtClean="0"/>
              <a:t>0 </a:t>
            </a:r>
            <a:r>
              <a:rPr lang="zh-CN" altLang="en-US" dirty="0" smtClean="0"/>
              <a:t>的根</a:t>
            </a:r>
          </a:p>
          <a:p>
            <a:pPr>
              <a:lnSpc>
                <a:spcPct val="80000"/>
              </a:lnSpc>
            </a:pPr>
            <a:r>
              <a:rPr lang="zh-CN" altLang="en-US" dirty="0" smtClean="0"/>
              <a:t>解:因</a:t>
            </a:r>
            <a:r>
              <a:rPr lang="en-US" altLang="zh-CN" i="1" dirty="0" smtClean="0">
                <a:sym typeface="Symbol" pitchFamily="18" charset="2"/>
              </a:rPr>
              <a:t></a:t>
            </a:r>
            <a:r>
              <a:rPr lang="en-US" altLang="zh-CN" dirty="0" smtClean="0">
                <a:sym typeface="Symbol" pitchFamily="18" charset="2"/>
              </a:rPr>
              <a:t>∈</a:t>
            </a:r>
            <a:r>
              <a:rPr lang="en-US" altLang="zh-CN" dirty="0" smtClean="0">
                <a:latin typeface="宋体" pitchFamily="2" charset="-122"/>
                <a:sym typeface="Symbol" pitchFamily="18" charset="2"/>
              </a:rPr>
              <a:t>[0.5,0.6]</a:t>
            </a:r>
            <a:r>
              <a:rPr lang="en-US" altLang="zh-CN" dirty="0" smtClean="0">
                <a:sym typeface="Symbol" pitchFamily="18" charset="2"/>
              </a:rPr>
              <a:t>,</a:t>
            </a:r>
            <a:r>
              <a:rPr lang="en-US" altLang="zh-CN" i="1" dirty="0" smtClean="0"/>
              <a:t>	f ’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x</a:t>
            </a:r>
            <a:r>
              <a:rPr lang="en-US" altLang="zh-CN" dirty="0" smtClean="0"/>
              <a:t>)</a:t>
            </a:r>
            <a:r>
              <a:rPr lang="en-US" altLang="zh-CN" i="1" dirty="0" smtClean="0"/>
              <a:t>=e</a:t>
            </a:r>
            <a:r>
              <a:rPr lang="en-US" altLang="zh-CN" i="1" baseline="30000" dirty="0" smtClean="0"/>
              <a:t>x</a:t>
            </a:r>
            <a:r>
              <a:rPr lang="en-US" altLang="zh-CN" dirty="0" smtClean="0"/>
              <a:t>(1</a:t>
            </a:r>
            <a:r>
              <a:rPr lang="en-US" altLang="zh-CN" i="1" dirty="0" smtClean="0"/>
              <a:t>+x</a:t>
            </a:r>
            <a:r>
              <a:rPr lang="en-US" altLang="zh-CN" dirty="0" smtClean="0"/>
              <a:t>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dirty="0" smtClean="0"/>
              <a:t>                                            </a:t>
            </a:r>
            <a:r>
              <a:rPr lang="en-US" altLang="zh-CN" i="1" dirty="0" smtClean="0"/>
              <a:t>f ’’(x)=e</a:t>
            </a:r>
            <a:r>
              <a:rPr lang="en-US" altLang="zh-CN" i="1" baseline="30000" dirty="0" smtClean="0"/>
              <a:t>x</a:t>
            </a:r>
            <a:r>
              <a:rPr lang="en-US" altLang="zh-CN" dirty="0" smtClean="0"/>
              <a:t>(2</a:t>
            </a:r>
            <a:r>
              <a:rPr lang="en-US" altLang="zh-CN" i="1" dirty="0" smtClean="0"/>
              <a:t>+x</a:t>
            </a:r>
            <a:r>
              <a:rPr lang="en-US" altLang="zh-CN" dirty="0" smtClean="0"/>
              <a:t>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i="1" dirty="0" smtClean="0"/>
              <a:t>                                </a:t>
            </a:r>
            <a:r>
              <a:rPr lang="en-US" altLang="zh-CN" i="1" dirty="0" smtClean="0"/>
              <a:t>f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0.5</a:t>
            </a:r>
            <a:r>
              <a:rPr lang="en-US" altLang="zh-CN" dirty="0" smtClean="0"/>
              <a:t>)</a:t>
            </a:r>
            <a:r>
              <a:rPr lang="en-US" altLang="zh-CN" i="1" dirty="0" smtClean="0"/>
              <a:t>f ’’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0.5</a:t>
            </a:r>
            <a:r>
              <a:rPr lang="en-US" altLang="zh-CN" dirty="0" smtClean="0"/>
              <a:t>)</a:t>
            </a:r>
            <a:r>
              <a:rPr lang="en-US" altLang="zh-CN" i="1" dirty="0" smtClean="0"/>
              <a:t>&lt;0，</a:t>
            </a:r>
            <a:r>
              <a:rPr lang="zh-CN" altLang="en-US" dirty="0" smtClean="0"/>
              <a:t>而</a:t>
            </a:r>
            <a:r>
              <a:rPr lang="zh-CN" altLang="en-US" i="1" dirty="0" smtClean="0"/>
              <a:t> </a:t>
            </a:r>
            <a:r>
              <a:rPr lang="en-US" altLang="zh-CN" i="1" dirty="0" smtClean="0"/>
              <a:t>f</a:t>
            </a:r>
            <a:r>
              <a:rPr lang="en-US" altLang="zh-CN" dirty="0" smtClean="0"/>
              <a:t>(0.6)</a:t>
            </a:r>
            <a:r>
              <a:rPr lang="en-US" altLang="zh-CN" i="1" dirty="0" smtClean="0"/>
              <a:t>f ’’</a:t>
            </a:r>
            <a:r>
              <a:rPr lang="en-US" altLang="zh-CN" dirty="0" smtClean="0"/>
              <a:t>(0.6)</a:t>
            </a:r>
            <a:r>
              <a:rPr lang="en-US" altLang="zh-CN" i="1" dirty="0" smtClean="0"/>
              <a:t>&gt;0,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dirty="0" smtClean="0"/>
              <a:t>   取</a:t>
            </a:r>
            <a:r>
              <a:rPr lang="en-US" altLang="zh-CN" dirty="0" smtClean="0">
                <a:latin typeface="宋体" pitchFamily="2" charset="-122"/>
                <a:sym typeface="Symbol" pitchFamily="18" charset="2"/>
              </a:rPr>
              <a:t>[</a:t>
            </a:r>
            <a:r>
              <a:rPr lang="en-US" altLang="zh-CN" dirty="0" smtClean="0"/>
              <a:t>0.6</a:t>
            </a:r>
            <a:r>
              <a:rPr lang="en-US" altLang="zh-CN" dirty="0" smtClean="0">
                <a:latin typeface="宋体" pitchFamily="2" charset="-122"/>
                <a:sym typeface="Symbol" pitchFamily="18" charset="2"/>
              </a:rPr>
              <a:t>,</a:t>
            </a:r>
            <a:r>
              <a:rPr lang="en-US" altLang="zh-CN" i="1" dirty="0" smtClean="0"/>
              <a:t>f</a:t>
            </a:r>
            <a:r>
              <a:rPr lang="en-US" altLang="zh-CN" dirty="0" smtClean="0"/>
              <a:t>(0.6)</a:t>
            </a:r>
            <a:r>
              <a:rPr lang="en-US" altLang="zh-CN" dirty="0" smtClean="0">
                <a:latin typeface="宋体" pitchFamily="2" charset="-122"/>
                <a:sym typeface="Symbol" pitchFamily="18" charset="2"/>
              </a:rPr>
              <a:t>]</a:t>
            </a:r>
            <a:r>
              <a:rPr lang="zh-CN" altLang="en-US" dirty="0" smtClean="0">
                <a:latin typeface="宋体" pitchFamily="2" charset="-122"/>
                <a:sym typeface="Symbol" pitchFamily="18" charset="2"/>
              </a:rPr>
              <a:t>为不动点， 则</a:t>
            </a:r>
            <a:r>
              <a:rPr lang="en-US" altLang="zh-CN" i="1" dirty="0" smtClean="0"/>
              <a:t>x</a:t>
            </a:r>
            <a:r>
              <a:rPr lang="en-US" altLang="zh-CN" baseline="-25000" dirty="0" smtClean="0"/>
              <a:t>0</a:t>
            </a:r>
            <a:r>
              <a:rPr lang="zh-CN" altLang="en-US" dirty="0" smtClean="0">
                <a:latin typeface="宋体" pitchFamily="2" charset="-122"/>
                <a:sym typeface="Symbol" pitchFamily="18" charset="2"/>
              </a:rPr>
              <a:t>=</a:t>
            </a:r>
            <a:r>
              <a:rPr lang="en-US" altLang="zh-CN" dirty="0" smtClean="0"/>
              <a:t>0.6</a:t>
            </a:r>
            <a:r>
              <a:rPr lang="en-US" altLang="zh-CN" dirty="0" smtClean="0">
                <a:latin typeface="宋体" pitchFamily="2" charset="-122"/>
                <a:sym typeface="Symbol" pitchFamily="18" charset="2"/>
              </a:rPr>
              <a:t>,</a:t>
            </a:r>
            <a:r>
              <a:rPr lang="en-US" altLang="zh-CN" i="1" dirty="0" smtClean="0"/>
              <a:t>x</a:t>
            </a:r>
            <a:r>
              <a:rPr lang="en-US" altLang="zh-CN" baseline="-25000" dirty="0" smtClean="0"/>
              <a:t>1</a:t>
            </a:r>
            <a:r>
              <a:rPr lang="zh-CN" altLang="en-US" dirty="0" smtClean="0">
                <a:latin typeface="宋体" pitchFamily="2" charset="-122"/>
                <a:sym typeface="Symbol" pitchFamily="18" charset="2"/>
              </a:rPr>
              <a:t>=</a:t>
            </a:r>
            <a:r>
              <a:rPr lang="en-US" altLang="zh-CN" dirty="0" smtClean="0"/>
              <a:t>0.5</a:t>
            </a:r>
            <a:r>
              <a:rPr lang="en-US" altLang="zh-CN" i="1" baseline="-25000" dirty="0" smtClean="0"/>
              <a:t> </a:t>
            </a:r>
            <a:r>
              <a:rPr lang="zh-CN" altLang="en-US" dirty="0" smtClean="0">
                <a:latin typeface="宋体" pitchFamily="2" charset="-122"/>
                <a:sym typeface="Symbol" pitchFamily="18" charset="2"/>
              </a:rPr>
              <a:t>，按照公式</a:t>
            </a:r>
            <a:endParaRPr lang="en-US" altLang="zh-CN" dirty="0" smtClean="0">
              <a:latin typeface="宋体" pitchFamily="2" charset="-122"/>
              <a:sym typeface="Symbol" pitchFamily="18" charset="2"/>
            </a:endParaRPr>
          </a:p>
        </p:txBody>
      </p:sp>
      <p:graphicFrame>
        <p:nvGraphicFramePr>
          <p:cNvPr id="305156" name="Object 4"/>
          <p:cNvGraphicFramePr>
            <a:graphicFrameLocks noChangeAspect="1"/>
          </p:cNvGraphicFramePr>
          <p:nvPr/>
        </p:nvGraphicFramePr>
        <p:xfrm>
          <a:off x="250825" y="3500440"/>
          <a:ext cx="4343400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1" name="Equation" r:id="rId4" imgW="2158920" imgH="431640" progId="Equation.3">
                  <p:embed/>
                </p:oleObj>
              </mc:Choice>
              <mc:Fallback>
                <p:oleObj name="Equation" r:id="rId4" imgW="2158920" imgH="431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3500440"/>
                        <a:ext cx="4343400" cy="935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5157" name="Object 5"/>
          <p:cNvGraphicFramePr>
            <a:graphicFrameLocks noChangeAspect="1"/>
          </p:cNvGraphicFramePr>
          <p:nvPr/>
        </p:nvGraphicFramePr>
        <p:xfrm>
          <a:off x="250825" y="4365625"/>
          <a:ext cx="6172200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2" name="Equation" r:id="rId6" imgW="2603160" imgH="419040" progId="Equation.3">
                  <p:embed/>
                </p:oleObj>
              </mc:Choice>
              <mc:Fallback>
                <p:oleObj name="Equation" r:id="rId6" imgW="2603160" imgH="4190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4365625"/>
                        <a:ext cx="6172200" cy="935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5158" name="Object 6"/>
          <p:cNvGraphicFramePr>
            <a:graphicFrameLocks noChangeAspect="1"/>
          </p:cNvGraphicFramePr>
          <p:nvPr/>
        </p:nvGraphicFramePr>
        <p:xfrm>
          <a:off x="179388" y="5300665"/>
          <a:ext cx="6096000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3" name="Equation" r:id="rId8" imgW="2882880" imgH="431640" progId="Equation.3">
                  <p:embed/>
                </p:oleObj>
              </mc:Choice>
              <mc:Fallback>
                <p:oleObj name="Equation" r:id="rId8" imgW="2882880" imgH="4316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5300665"/>
                        <a:ext cx="6096000" cy="981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5159" name="Rectangle 7"/>
          <p:cNvSpPr>
            <a:spLocks noChangeArrowheads="1"/>
          </p:cNvSpPr>
          <p:nvPr/>
        </p:nvSpPr>
        <p:spPr bwMode="auto">
          <a:xfrm>
            <a:off x="6659565" y="4868865"/>
            <a:ext cx="2765425" cy="1040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258763" indent="-258763" algn="l" defTabSz="814388">
              <a:lnSpc>
                <a:spcPct val="90000"/>
              </a:lnSpc>
              <a:spcBef>
                <a:spcPts val="1200"/>
              </a:spcBef>
              <a:buClr>
                <a:srgbClr val="27305F"/>
              </a:buClr>
              <a:buSzPct val="60000"/>
            </a:pPr>
            <a:r>
              <a:rPr lang="en-US" altLang="zh-CN" sz="3200" i="1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3200" baseline="-25000">
                <a:latin typeface="Times New Roman" pitchFamily="18" charset="0"/>
                <a:ea typeface="黑体" pitchFamily="49" charset="-122"/>
              </a:rPr>
              <a:t>4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=0.56714, </a:t>
            </a:r>
          </a:p>
          <a:p>
            <a:pPr marL="258763" indent="-258763" algn="l" defTabSz="814388">
              <a:lnSpc>
                <a:spcPct val="90000"/>
              </a:lnSpc>
              <a:spcBef>
                <a:spcPts val="1200"/>
              </a:spcBef>
              <a:buClr>
                <a:srgbClr val="27305F"/>
              </a:buClr>
              <a:buSzPct val="60000"/>
            </a:pPr>
            <a:r>
              <a:rPr lang="en-US" altLang="zh-CN" sz="3200" i="1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3200" baseline="-25000">
                <a:latin typeface="Times New Roman" pitchFamily="18" charset="0"/>
                <a:ea typeface="黑体" pitchFamily="49" charset="-122"/>
              </a:rPr>
              <a:t>5</a:t>
            </a:r>
            <a:r>
              <a:rPr lang="zh-CN" altLang="en-US" sz="3200">
                <a:latin typeface="Times New Roman" pitchFamily="18" charset="0"/>
                <a:ea typeface="黑体" pitchFamily="49" charset="-122"/>
              </a:rPr>
              <a:t>=0.56714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305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305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305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"/>
                                        <p:tgtEl>
                                          <p:spTgt spid="305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"/>
                                        <p:tgtEl>
                                          <p:spTgt spid="305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05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05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05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05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5155" grpId="0" build="p" bldLvl="2" autoUpdateAnimBg="0" advAuto="8000"/>
      <p:bldP spid="305159" grpId="0" autoUpdateAnimBg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0075" y="305002"/>
            <a:ext cx="8142288" cy="609398"/>
          </a:xfrm>
        </p:spPr>
        <p:txBody>
          <a:bodyPr/>
          <a:lstStyle/>
          <a:p>
            <a:r>
              <a:rPr lang="zh-CN" altLang="en-US" dirty="0"/>
              <a:t>3.4.2 双点弦截法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EB2D8C-C595-4C75-A410-92E615560A69}" type="slidenum">
              <a:rPr lang="zh-CN" altLang="en-US" smtClean="0"/>
              <a:pPr>
                <a:defRPr/>
              </a:pPr>
              <a:t>90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F4F2C565-DEEA-484F-99D9-2BCC1484ACAF}" type="datetime1">
              <a:rPr lang="zh-CN" altLang="en-US" smtClean="0"/>
              <a:pPr>
                <a:defRPr/>
              </a:pPr>
              <a:t>2024/9/22</a:t>
            </a:fld>
            <a:endParaRPr lang="en-US" altLang="zh-CN" sz="1000"/>
          </a:p>
        </p:txBody>
      </p:sp>
      <p:sp>
        <p:nvSpPr>
          <p:cNvPr id="23" name="Text Box 3"/>
          <p:cNvSpPr txBox="1">
            <a:spLocks noChangeArrowheads="1"/>
          </p:cNvSpPr>
          <p:nvPr/>
        </p:nvSpPr>
        <p:spPr bwMode="auto">
          <a:xfrm>
            <a:off x="762000" y="4800600"/>
            <a:ext cx="358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楷体_GB2312" pitchFamily="1" charset="-122"/>
                <a:ea typeface="楷体_GB2312" pitchFamily="1" charset="-122"/>
              </a:rPr>
              <a:t>切线斜率　</a:t>
            </a:r>
            <a:r>
              <a:rPr lang="zh-CN" altLang="en-US" sz="2400" dirty="0">
                <a:solidFill>
                  <a:srgbClr val="0000FF"/>
                </a:solidFill>
                <a:latin typeface="楷体_GB2312" pitchFamily="1" charset="-122"/>
                <a:ea typeface="楷体_GB2312" pitchFamily="1" charset="-122"/>
                <a:sym typeface="Symbol" pitchFamily="18" charset="2"/>
              </a:rPr>
              <a:t></a:t>
            </a:r>
            <a:r>
              <a:rPr lang="zh-CN" altLang="en-US" sz="2400" dirty="0">
                <a:solidFill>
                  <a:srgbClr val="0000FF"/>
                </a:solidFill>
                <a:latin typeface="楷体_GB2312" pitchFamily="1" charset="-122"/>
                <a:ea typeface="楷体_GB2312" pitchFamily="1" charset="-122"/>
              </a:rPr>
              <a:t>　割线斜率</a:t>
            </a:r>
          </a:p>
        </p:txBody>
      </p:sp>
      <p:graphicFrame>
        <p:nvGraphicFramePr>
          <p:cNvPr id="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8556592"/>
              </p:ext>
            </p:extLst>
          </p:nvPr>
        </p:nvGraphicFramePr>
        <p:xfrm>
          <a:off x="4343400" y="4648200"/>
          <a:ext cx="3803562" cy="8690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72" r:id="rId8" imgW="1942574" imgH="431930" progId="Equation.3">
                  <p:embed/>
                </p:oleObj>
              </mc:Choice>
              <mc:Fallback>
                <p:oleObj r:id="rId8" imgW="1942574" imgH="43193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4648200"/>
                        <a:ext cx="3803562" cy="8690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4215314"/>
              </p:ext>
            </p:extLst>
          </p:nvPr>
        </p:nvGraphicFramePr>
        <p:xfrm>
          <a:off x="1066800" y="5486400"/>
          <a:ext cx="3733800" cy="8613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73" r:id="rId10" imgW="2132991" imgH="431930" progId="Equation.3">
                  <p:embed/>
                </p:oleObj>
              </mc:Choice>
              <mc:Fallback>
                <p:oleObj r:id="rId10" imgW="2132991" imgH="43193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5486400"/>
                        <a:ext cx="3733800" cy="8613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6"/>
          <p:cNvSpPr txBox="1">
            <a:spLocks noChangeArrowheads="1"/>
          </p:cNvSpPr>
          <p:nvPr/>
        </p:nvSpPr>
        <p:spPr bwMode="auto">
          <a:xfrm>
            <a:off x="4724400" y="5715000"/>
            <a:ext cx="3200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Times New Roman" pitchFamily="18" charset="0"/>
                <a:ea typeface="楷体_GB2312" pitchFamily="1" charset="-122"/>
              </a:rPr>
              <a:t>初值 </a:t>
            </a:r>
            <a:r>
              <a:rPr lang="zh-CN" altLang="zh-CN" sz="2400" i="1" dirty="0">
                <a:solidFill>
                  <a:srgbClr val="0000FF"/>
                </a:solidFill>
                <a:latin typeface="Times New Roman" pitchFamily="18" charset="0"/>
                <a:ea typeface="楷体_GB2312" pitchFamily="1" charset="-122"/>
              </a:rPr>
              <a:t>x</a:t>
            </a:r>
            <a:r>
              <a:rPr lang="zh-CN" altLang="zh-CN" sz="2400" baseline="-25000" dirty="0">
                <a:solidFill>
                  <a:srgbClr val="0000FF"/>
                </a:solidFill>
                <a:latin typeface="Times New Roman" pitchFamily="18" charset="0"/>
                <a:ea typeface="楷体_GB2312" pitchFamily="1" charset="-122"/>
              </a:rPr>
              <a:t>0</a:t>
            </a:r>
            <a:r>
              <a:rPr lang="zh-CN" altLang="zh-CN" sz="2400" dirty="0">
                <a:solidFill>
                  <a:srgbClr val="0000FF"/>
                </a:solidFill>
                <a:latin typeface="Times New Roman" pitchFamily="18" charset="0"/>
                <a:ea typeface="楷体_GB2312" pitchFamily="1" charset="-122"/>
              </a:rPr>
              <a:t> </a:t>
            </a:r>
            <a:r>
              <a:rPr lang="zh-CN" altLang="en-US" sz="2400" dirty="0">
                <a:solidFill>
                  <a:srgbClr val="0000FF"/>
                </a:solidFill>
                <a:latin typeface="Times New Roman" pitchFamily="18" charset="0"/>
                <a:ea typeface="楷体_GB2312" pitchFamily="1" charset="-122"/>
              </a:rPr>
              <a:t>和 </a:t>
            </a:r>
            <a:r>
              <a:rPr lang="zh-CN" altLang="zh-CN" sz="2400" i="1" dirty="0">
                <a:solidFill>
                  <a:srgbClr val="0000FF"/>
                </a:solidFill>
                <a:latin typeface="Times New Roman" pitchFamily="18" charset="0"/>
                <a:ea typeface="楷体_GB2312" pitchFamily="1" charset="-122"/>
              </a:rPr>
              <a:t>x</a:t>
            </a:r>
            <a:r>
              <a:rPr lang="zh-CN" altLang="zh-CN" sz="2400" baseline="-25000" dirty="0">
                <a:solidFill>
                  <a:srgbClr val="0000FF"/>
                </a:solidFill>
                <a:latin typeface="Times New Roman" pitchFamily="18" charset="0"/>
                <a:ea typeface="楷体_GB2312" pitchFamily="1" charset="-122"/>
              </a:rPr>
              <a:t>1</a:t>
            </a:r>
            <a:r>
              <a:rPr lang="zh-CN" altLang="en-US" sz="2400" dirty="0">
                <a:solidFill>
                  <a:srgbClr val="0000FF"/>
                </a:solidFill>
                <a:latin typeface="Times New Roman" pitchFamily="18" charset="0"/>
                <a:ea typeface="楷体_GB2312" pitchFamily="1" charset="-122"/>
              </a:rPr>
              <a:t>。</a:t>
            </a:r>
          </a:p>
        </p:txBody>
      </p:sp>
      <p:sp>
        <p:nvSpPr>
          <p:cNvPr id="27" name="Line 7"/>
          <p:cNvSpPr>
            <a:spLocks noChangeAspect="1" noChangeShapeType="1"/>
          </p:cNvSpPr>
          <p:nvPr/>
        </p:nvSpPr>
        <p:spPr bwMode="auto">
          <a:xfrm>
            <a:off x="1838327" y="3836988"/>
            <a:ext cx="5045075" cy="0"/>
          </a:xfrm>
          <a:prstGeom prst="line">
            <a:avLst/>
          </a:prstGeom>
          <a:noFill/>
          <a:ln w="15875" cmpd="sng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Arc 8"/>
          <p:cNvSpPr>
            <a:spLocks noChangeAspect="1"/>
          </p:cNvSpPr>
          <p:nvPr/>
        </p:nvSpPr>
        <p:spPr bwMode="auto">
          <a:xfrm rot="21000000" flipV="1">
            <a:off x="1676400" y="996950"/>
            <a:ext cx="4122738" cy="3322638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246"/>
              <a:gd name="T1" fmla="*/ 0 h 21600"/>
              <a:gd name="T2" fmla="*/ 21246 w 21246"/>
              <a:gd name="T3" fmla="*/ 17704 h 21600"/>
              <a:gd name="T4" fmla="*/ 0 w 21246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246" h="21600" fill="none" extrusionOk="0">
                <a:moveTo>
                  <a:pt x="-1" y="0"/>
                </a:moveTo>
                <a:cubicBezTo>
                  <a:pt x="10426" y="0"/>
                  <a:pt x="19365" y="7448"/>
                  <a:pt x="21245" y="17704"/>
                </a:cubicBezTo>
              </a:path>
              <a:path w="21246" h="21600" stroke="0" extrusionOk="0">
                <a:moveTo>
                  <a:pt x="-1" y="0"/>
                </a:moveTo>
                <a:cubicBezTo>
                  <a:pt x="10426" y="0"/>
                  <a:pt x="19365" y="7448"/>
                  <a:pt x="21245" y="17704"/>
                </a:cubicBezTo>
                <a:lnTo>
                  <a:pt x="0" y="21600"/>
                </a:lnTo>
                <a:close/>
              </a:path>
            </a:pathLst>
          </a:custGeom>
          <a:noFill/>
          <a:ln w="2540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Line 9"/>
          <p:cNvSpPr>
            <a:spLocks noChangeAspect="1" noChangeShapeType="1"/>
          </p:cNvSpPr>
          <p:nvPr/>
        </p:nvSpPr>
        <p:spPr bwMode="auto">
          <a:xfrm flipH="1">
            <a:off x="4495800" y="1524000"/>
            <a:ext cx="1049338" cy="2736850"/>
          </a:xfrm>
          <a:prstGeom prst="line">
            <a:avLst/>
          </a:prstGeom>
          <a:noFill/>
          <a:ln w="15875" cmpd="sng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0" name="Group 10"/>
          <p:cNvGrpSpPr>
            <a:grpSpLocks/>
          </p:cNvGrpSpPr>
          <p:nvPr/>
        </p:nvGrpSpPr>
        <p:grpSpPr bwMode="auto">
          <a:xfrm>
            <a:off x="5334000" y="1447800"/>
            <a:ext cx="457200" cy="2743200"/>
            <a:chOff x="0" y="0"/>
            <a:chExt cx="288" cy="1379"/>
          </a:xfrm>
        </p:grpSpPr>
        <p:sp>
          <p:nvSpPr>
            <p:cNvPr id="31" name="Line 11"/>
            <p:cNvSpPr>
              <a:spLocks noChangeAspect="1" noChangeShapeType="1"/>
            </p:cNvSpPr>
            <p:nvPr/>
          </p:nvSpPr>
          <p:spPr bwMode="auto">
            <a:xfrm flipV="1">
              <a:off x="126" y="0"/>
              <a:ext cx="0" cy="1244"/>
            </a:xfrm>
            <a:prstGeom prst="line">
              <a:avLst/>
            </a:prstGeom>
            <a:noFill/>
            <a:ln w="15875" cmpd="sng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Text Box 12"/>
            <p:cNvSpPr txBox="1">
              <a:spLocks noChangeArrowheads="1"/>
            </p:cNvSpPr>
            <p:nvPr/>
          </p:nvSpPr>
          <p:spPr bwMode="auto">
            <a:xfrm>
              <a:off x="0" y="1179"/>
              <a:ext cx="288" cy="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zh-CN" i="1">
                  <a:latin typeface="Times New Roman" pitchFamily="18" charset="0"/>
                </a:rPr>
                <a:t>x</a:t>
              </a:r>
              <a:r>
                <a:rPr lang="zh-CN" altLang="zh-CN" baseline="-25000">
                  <a:latin typeface="Times New Roman" pitchFamily="18" charset="0"/>
                </a:rPr>
                <a:t>0</a:t>
              </a:r>
              <a:endParaRPr lang="zh-CN" altLang="zh-CN" i="1">
                <a:latin typeface="Times New Roman" pitchFamily="18" charset="0"/>
              </a:endParaRPr>
            </a:p>
          </p:txBody>
        </p:sp>
      </p:grpSp>
      <p:grpSp>
        <p:nvGrpSpPr>
          <p:cNvPr id="33" name="Group 13"/>
          <p:cNvGrpSpPr>
            <a:grpSpLocks/>
          </p:cNvGrpSpPr>
          <p:nvPr/>
        </p:nvGrpSpPr>
        <p:grpSpPr bwMode="auto">
          <a:xfrm>
            <a:off x="4800600" y="2819402"/>
            <a:ext cx="457200" cy="1320297"/>
            <a:chOff x="0" y="0"/>
            <a:chExt cx="288" cy="620"/>
          </a:xfrm>
        </p:grpSpPr>
        <p:sp>
          <p:nvSpPr>
            <p:cNvPr id="34" name="Line 14"/>
            <p:cNvSpPr>
              <a:spLocks noChangeAspect="1" noChangeShapeType="1"/>
            </p:cNvSpPr>
            <p:nvPr/>
          </p:nvSpPr>
          <p:spPr bwMode="auto">
            <a:xfrm>
              <a:off x="137" y="0"/>
              <a:ext cx="0" cy="497"/>
            </a:xfrm>
            <a:prstGeom prst="line">
              <a:avLst/>
            </a:prstGeom>
            <a:noFill/>
            <a:ln w="15875" cmpd="sng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Text Box 15"/>
            <p:cNvSpPr txBox="1">
              <a:spLocks noChangeArrowheads="1"/>
            </p:cNvSpPr>
            <p:nvPr/>
          </p:nvSpPr>
          <p:spPr bwMode="auto">
            <a:xfrm>
              <a:off x="0" y="432"/>
              <a:ext cx="288" cy="1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zh-CN" i="1">
                  <a:latin typeface="Times New Roman" pitchFamily="18" charset="0"/>
                </a:rPr>
                <a:t>x</a:t>
              </a:r>
              <a:r>
                <a:rPr lang="zh-CN" altLang="zh-CN" baseline="-25000">
                  <a:latin typeface="Times New Roman" pitchFamily="18" charset="0"/>
                </a:rPr>
                <a:t>1</a:t>
              </a:r>
              <a:endParaRPr lang="zh-CN" altLang="zh-CN" i="1">
                <a:latin typeface="Times New Roman" pitchFamily="18" charset="0"/>
              </a:endParaRPr>
            </a:p>
          </p:txBody>
        </p:sp>
      </p:grpSp>
      <p:grpSp>
        <p:nvGrpSpPr>
          <p:cNvPr id="36" name="Group 16"/>
          <p:cNvGrpSpPr>
            <a:grpSpLocks/>
          </p:cNvGrpSpPr>
          <p:nvPr/>
        </p:nvGrpSpPr>
        <p:grpSpPr bwMode="auto">
          <a:xfrm>
            <a:off x="4419600" y="3276602"/>
            <a:ext cx="457200" cy="866775"/>
            <a:chOff x="0" y="0"/>
            <a:chExt cx="288" cy="785"/>
          </a:xfrm>
        </p:grpSpPr>
        <p:sp>
          <p:nvSpPr>
            <p:cNvPr id="37" name="Line 17"/>
            <p:cNvSpPr>
              <a:spLocks noChangeAspect="1" noChangeShapeType="1"/>
            </p:cNvSpPr>
            <p:nvPr/>
          </p:nvSpPr>
          <p:spPr bwMode="auto">
            <a:xfrm>
              <a:off x="137" y="0"/>
              <a:ext cx="0" cy="497"/>
            </a:xfrm>
            <a:prstGeom prst="line">
              <a:avLst/>
            </a:prstGeom>
            <a:noFill/>
            <a:ln w="15875" cmpd="sng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Text Box 18"/>
            <p:cNvSpPr txBox="1">
              <a:spLocks noChangeArrowheads="1"/>
            </p:cNvSpPr>
            <p:nvPr/>
          </p:nvSpPr>
          <p:spPr bwMode="auto">
            <a:xfrm>
              <a:off x="0" y="426"/>
              <a:ext cx="288" cy="3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zh-CN" i="1">
                  <a:latin typeface="Times New Roman" pitchFamily="18" charset="0"/>
                </a:rPr>
                <a:t>x</a:t>
              </a:r>
              <a:r>
                <a:rPr lang="zh-CN" altLang="zh-CN" i="1" baseline="-25000">
                  <a:latin typeface="Times New Roman" pitchFamily="18" charset="0"/>
                </a:rPr>
                <a:t>2</a:t>
              </a:r>
            </a:p>
          </p:txBody>
        </p:sp>
      </p:grpSp>
      <p:sp>
        <p:nvSpPr>
          <p:cNvPr id="39" name="Line 19"/>
          <p:cNvSpPr>
            <a:spLocks noChangeAspect="1" noChangeShapeType="1"/>
          </p:cNvSpPr>
          <p:nvPr/>
        </p:nvSpPr>
        <p:spPr bwMode="auto">
          <a:xfrm rot="1080000" flipH="1">
            <a:off x="4157663" y="1778002"/>
            <a:ext cx="1084262" cy="2817813"/>
          </a:xfrm>
          <a:prstGeom prst="line">
            <a:avLst/>
          </a:prstGeom>
          <a:noFill/>
          <a:ln w="25400" cmpd="sng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4382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utoUpdateAnimBg="0"/>
      <p:bldP spid="26" grpId="0" autoUpdateAnimBg="0"/>
      <p:bldP spid="27" grpId="0" animBg="1"/>
      <p:bldP spid="28" grpId="0" animBg="1"/>
      <p:bldP spid="29" grpId="0" animBg="1"/>
      <p:bldP spid="39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90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D310F424-0AC2-4CCF-AEFF-5F09A0351FEB}" type="slidenum">
              <a:rPr lang="zh-CN" altLang="en-US"/>
              <a:pPr/>
              <a:t>91</a:t>
            </a:fld>
            <a:endParaRPr lang="en-US" altLang="zh-CN"/>
          </a:p>
        </p:txBody>
      </p:sp>
      <p:sp>
        <p:nvSpPr>
          <p:cNvPr id="41991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C8AB6392-60CE-4D62-8EAE-91BCDA0A41A1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306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 smtClean="0"/>
              <a:t>3.4.2 双点弦截法</a:t>
            </a:r>
          </a:p>
        </p:txBody>
      </p:sp>
      <p:sp>
        <p:nvSpPr>
          <p:cNvPr id="419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143000"/>
            <a:ext cx="8142288" cy="49859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CN" altLang="en-US" sz="3600" u="sng">
                <a:solidFill>
                  <a:srgbClr val="FF3300"/>
                </a:solidFill>
              </a:rPr>
              <a:t>双点弦截法</a:t>
            </a:r>
            <a:r>
              <a:rPr lang="en-US" altLang="zh-CN" sz="3600" u="sng">
                <a:solidFill>
                  <a:srgbClr val="FF3300"/>
                </a:solidFill>
              </a:rPr>
              <a:t>,</a:t>
            </a:r>
            <a:r>
              <a:rPr kumimoji="1" lang="zh-CN" altLang="en-US" smtClean="0">
                <a:solidFill>
                  <a:srgbClr val="ED5F2D"/>
                </a:solidFill>
              </a:rPr>
              <a:t>收敛阶数</a:t>
            </a:r>
            <a:r>
              <a:rPr kumimoji="1" lang="en-US" altLang="zh-CN" smtClean="0">
                <a:solidFill>
                  <a:srgbClr val="ED5F2D"/>
                </a:solidFill>
              </a:rPr>
              <a:t>:2</a:t>
            </a:r>
          </a:p>
        </p:txBody>
      </p:sp>
      <p:graphicFrame>
        <p:nvGraphicFramePr>
          <p:cNvPr id="306182" name="Object 6"/>
          <p:cNvGraphicFramePr>
            <a:graphicFrameLocks noChangeAspect="1"/>
          </p:cNvGraphicFramePr>
          <p:nvPr/>
        </p:nvGraphicFramePr>
        <p:xfrm>
          <a:off x="6350" y="2990850"/>
          <a:ext cx="3722688" cy="110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39" name="Equation" r:id="rId4" imgW="1663560" imgH="431640" progId="Equation.3">
                  <p:embed/>
                </p:oleObj>
              </mc:Choice>
              <mc:Fallback>
                <p:oleObj name="Equation" r:id="rId4" imgW="1663560" imgH="4316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0" y="2990850"/>
                        <a:ext cx="3722688" cy="1106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7" name="Object 7"/>
          <p:cNvGraphicFramePr>
            <a:graphicFrameLocks noChangeAspect="1"/>
          </p:cNvGraphicFramePr>
          <p:nvPr/>
        </p:nvGraphicFramePr>
        <p:xfrm>
          <a:off x="685800" y="1828800"/>
          <a:ext cx="2895600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40" name="Equation" r:id="rId6" imgW="1257120" imgH="444240" progId="Equation.3">
                  <p:embed/>
                </p:oleObj>
              </mc:Choice>
              <mc:Fallback>
                <p:oleObj name="Equation" r:id="rId6" imgW="1257120" imgH="4442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828800"/>
                        <a:ext cx="2895600" cy="1130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6184" name="AutoShape 8"/>
          <p:cNvSpPr>
            <a:spLocks noChangeArrowheads="1"/>
          </p:cNvSpPr>
          <p:nvPr/>
        </p:nvSpPr>
        <p:spPr bwMode="auto">
          <a:xfrm>
            <a:off x="3733800" y="2590800"/>
            <a:ext cx="533400" cy="838200"/>
          </a:xfrm>
          <a:prstGeom prst="rightArrow">
            <a:avLst>
              <a:gd name="adj1" fmla="val 50000"/>
              <a:gd name="adj2" fmla="val 25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06185" name="Object 9"/>
          <p:cNvGraphicFramePr>
            <a:graphicFrameLocks noChangeAspect="1"/>
          </p:cNvGraphicFramePr>
          <p:nvPr/>
        </p:nvGraphicFramePr>
        <p:xfrm>
          <a:off x="4365627" y="2401888"/>
          <a:ext cx="4549775" cy="1027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41" name="Equation" r:id="rId8" imgW="2450880" imgH="431640" progId="Equation.3">
                  <p:embed/>
                </p:oleObj>
              </mc:Choice>
              <mc:Fallback>
                <p:oleObj name="Equation" r:id="rId8" imgW="2450880" imgH="4316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5627" y="2401888"/>
                        <a:ext cx="4549775" cy="1027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6186" name="Object 10"/>
          <p:cNvGraphicFramePr>
            <a:graphicFrameLocks noChangeAspect="1"/>
          </p:cNvGraphicFramePr>
          <p:nvPr/>
        </p:nvGraphicFramePr>
        <p:xfrm>
          <a:off x="1970088" y="4373565"/>
          <a:ext cx="5040312" cy="1189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42" name="Equation" r:id="rId10" imgW="1879560" imgH="431640" progId="Equation.3">
                  <p:embed/>
                </p:oleObj>
              </mc:Choice>
              <mc:Fallback>
                <p:oleObj name="Equation" r:id="rId10" imgW="1879560" imgH="4316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0088" y="4373565"/>
                        <a:ext cx="5040312" cy="1189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6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06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06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06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6184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41BF475B-09B1-450E-A0C9-CE4E693D7B4D}" type="slidenum">
              <a:rPr lang="zh-CN" altLang="en-US"/>
              <a:pPr/>
              <a:t>92</a:t>
            </a:fld>
            <a:endParaRPr lang="en-US" altLang="zh-CN"/>
          </a:p>
        </p:txBody>
      </p:sp>
      <p:sp>
        <p:nvSpPr>
          <p:cNvPr id="95235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32262FC2-FBA8-4785-B99D-1A020FF150A5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309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3.4.2 双点弦截法</a:t>
            </a:r>
          </a:p>
        </p:txBody>
      </p:sp>
      <p:sp>
        <p:nvSpPr>
          <p:cNvPr id="9523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127127"/>
            <a:ext cx="8142288" cy="384175"/>
          </a:xfrm>
        </p:spPr>
        <p:txBody>
          <a:bodyPr/>
          <a:lstStyle/>
          <a:p>
            <a:r>
              <a:rPr lang="zh-CN" altLang="en-US" smtClean="0"/>
              <a:t>双点弦截法的几何意义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286000" y="1587500"/>
            <a:ext cx="3962400" cy="2990850"/>
            <a:chOff x="240" y="1958"/>
            <a:chExt cx="2432" cy="2058"/>
          </a:xfrm>
        </p:grpSpPr>
        <p:sp>
          <p:nvSpPr>
            <p:cNvPr id="95252" name="Line 6"/>
            <p:cNvSpPr>
              <a:spLocks noChangeShapeType="1"/>
            </p:cNvSpPr>
            <p:nvPr/>
          </p:nvSpPr>
          <p:spPr bwMode="auto">
            <a:xfrm>
              <a:off x="293" y="3685"/>
              <a:ext cx="237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53" name="Line 7"/>
            <p:cNvSpPr>
              <a:spLocks noChangeShapeType="1"/>
            </p:cNvSpPr>
            <p:nvPr/>
          </p:nvSpPr>
          <p:spPr bwMode="auto">
            <a:xfrm flipH="1" flipV="1">
              <a:off x="576" y="2016"/>
              <a:ext cx="6" cy="18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54" name="Text Box 8"/>
            <p:cNvSpPr txBox="1">
              <a:spLocks noChangeArrowheads="1"/>
            </p:cNvSpPr>
            <p:nvPr/>
          </p:nvSpPr>
          <p:spPr bwMode="auto">
            <a:xfrm>
              <a:off x="240" y="1958"/>
              <a:ext cx="288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00" i="1"/>
                <a:t>y</a:t>
              </a:r>
            </a:p>
          </p:txBody>
        </p:sp>
        <p:sp>
          <p:nvSpPr>
            <p:cNvPr id="95255" name="Text Box 9"/>
            <p:cNvSpPr txBox="1">
              <a:spLocks noChangeArrowheads="1"/>
            </p:cNvSpPr>
            <p:nvPr/>
          </p:nvSpPr>
          <p:spPr bwMode="auto">
            <a:xfrm>
              <a:off x="2352" y="3600"/>
              <a:ext cx="287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000"/>
                <a:t>x</a:t>
              </a:r>
            </a:p>
          </p:txBody>
        </p:sp>
        <p:sp>
          <p:nvSpPr>
            <p:cNvPr id="95256" name="Text Box 10"/>
            <p:cNvSpPr txBox="1">
              <a:spLocks noChangeArrowheads="1"/>
            </p:cNvSpPr>
            <p:nvPr/>
          </p:nvSpPr>
          <p:spPr bwMode="auto">
            <a:xfrm>
              <a:off x="337" y="3638"/>
              <a:ext cx="287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zh-CN" sz="3000"/>
                <a:t>0</a:t>
              </a:r>
            </a:p>
          </p:txBody>
        </p:sp>
      </p:grpSp>
      <p:sp>
        <p:nvSpPr>
          <p:cNvPr id="309260" name="Rectangle 12"/>
          <p:cNvSpPr>
            <a:spLocks noChangeArrowheads="1"/>
          </p:cNvSpPr>
          <p:nvPr/>
        </p:nvSpPr>
        <p:spPr bwMode="auto">
          <a:xfrm>
            <a:off x="5302250" y="4025900"/>
            <a:ext cx="641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i="1">
                <a:latin typeface="Times New Roman" pitchFamily="18" charset="0"/>
              </a:rPr>
              <a:t>x</a:t>
            </a:r>
            <a:r>
              <a:rPr lang="en-US" altLang="zh-CN" sz="2400" i="1" baseline="-25000"/>
              <a:t>n-1</a:t>
            </a:r>
            <a:endParaRPr lang="zh-CN" altLang="zh-CN" sz="2400" i="1" baseline="-25000"/>
          </a:p>
        </p:txBody>
      </p:sp>
      <p:sp>
        <p:nvSpPr>
          <p:cNvPr id="309261" name="Line 13"/>
          <p:cNvSpPr>
            <a:spLocks noChangeShapeType="1"/>
          </p:cNvSpPr>
          <p:nvPr/>
        </p:nvSpPr>
        <p:spPr bwMode="auto">
          <a:xfrm>
            <a:off x="5638800" y="2730500"/>
            <a:ext cx="0" cy="13716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9263" name="Rectangle 15"/>
          <p:cNvSpPr>
            <a:spLocks noChangeArrowheads="1"/>
          </p:cNvSpPr>
          <p:nvPr/>
        </p:nvSpPr>
        <p:spPr bwMode="auto">
          <a:xfrm>
            <a:off x="4648200" y="1663700"/>
            <a:ext cx="1169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i="1">
                <a:solidFill>
                  <a:srgbClr val="0000FF"/>
                </a:solidFill>
                <a:latin typeface="Times New Roman" pitchFamily="18" charset="0"/>
              </a:rPr>
              <a:t>f’’(x)&gt;0</a:t>
            </a:r>
            <a:endParaRPr lang="zh-CN" altLang="en-US" sz="2400" i="1">
              <a:solidFill>
                <a:srgbClr val="0000FF"/>
              </a:solidFill>
              <a:latin typeface="Times New Roman" pitchFamily="18" charset="0"/>
            </a:endParaRPr>
          </a:p>
        </p:txBody>
      </p:sp>
      <p:sp>
        <p:nvSpPr>
          <p:cNvPr id="309264" name="Rectangle 16"/>
          <p:cNvSpPr>
            <a:spLocks noChangeArrowheads="1"/>
          </p:cNvSpPr>
          <p:nvPr/>
        </p:nvSpPr>
        <p:spPr bwMode="auto">
          <a:xfrm>
            <a:off x="4767265" y="3973513"/>
            <a:ext cx="4968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i="1">
                <a:latin typeface="Times New Roman" pitchFamily="18" charset="0"/>
              </a:rPr>
              <a:t>x</a:t>
            </a:r>
            <a:r>
              <a:rPr lang="en-US" altLang="zh-CN" sz="2800" i="1" baseline="-25000">
                <a:latin typeface="Times New Roman" pitchFamily="18" charset="0"/>
              </a:rPr>
              <a:t>n</a:t>
            </a:r>
            <a:endParaRPr lang="zh-CN" altLang="zh-CN" sz="2800" i="1" baseline="-25000">
              <a:latin typeface="Times New Roman" pitchFamily="18" charset="0"/>
            </a:endParaRPr>
          </a:p>
        </p:txBody>
      </p:sp>
      <p:sp>
        <p:nvSpPr>
          <p:cNvPr id="309265" name="Line 17"/>
          <p:cNvSpPr>
            <a:spLocks noChangeShapeType="1"/>
          </p:cNvSpPr>
          <p:nvPr/>
        </p:nvSpPr>
        <p:spPr bwMode="auto">
          <a:xfrm>
            <a:off x="5029200" y="3416300"/>
            <a:ext cx="0" cy="6858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2978150" y="1282702"/>
            <a:ext cx="2889250" cy="3292475"/>
            <a:chOff x="1876" y="1392"/>
            <a:chExt cx="1820" cy="2074"/>
          </a:xfrm>
        </p:grpSpPr>
        <p:sp>
          <p:nvSpPr>
            <p:cNvPr id="95250" name="Arc 11"/>
            <p:cNvSpPr>
              <a:spLocks/>
            </p:cNvSpPr>
            <p:nvPr/>
          </p:nvSpPr>
          <p:spPr bwMode="auto">
            <a:xfrm flipV="1">
              <a:off x="1876" y="1392"/>
              <a:ext cx="1820" cy="1824"/>
            </a:xfrm>
            <a:custGeom>
              <a:avLst/>
              <a:gdLst>
                <a:gd name="T0" fmla="*/ 3 w 20685"/>
                <a:gd name="T1" fmla="*/ 0 h 21597"/>
                <a:gd name="T2" fmla="*/ 160 w 20685"/>
                <a:gd name="T3" fmla="*/ 110 h 21597"/>
                <a:gd name="T4" fmla="*/ 0 w 20685"/>
                <a:gd name="T5" fmla="*/ 154 h 21597"/>
                <a:gd name="T6" fmla="*/ 0 60000 65536"/>
                <a:gd name="T7" fmla="*/ 0 60000 65536"/>
                <a:gd name="T8" fmla="*/ 0 60000 65536"/>
                <a:gd name="T9" fmla="*/ 0 w 20685"/>
                <a:gd name="T10" fmla="*/ 0 h 21597"/>
                <a:gd name="T11" fmla="*/ 20685 w 20685"/>
                <a:gd name="T12" fmla="*/ 21597 h 215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685" h="21597" fill="none" extrusionOk="0">
                  <a:moveTo>
                    <a:pt x="363" y="0"/>
                  </a:moveTo>
                  <a:cubicBezTo>
                    <a:pt x="9761" y="158"/>
                    <a:pt x="17978" y="6375"/>
                    <a:pt x="20685" y="15376"/>
                  </a:cubicBezTo>
                </a:path>
                <a:path w="20685" h="21597" stroke="0" extrusionOk="0">
                  <a:moveTo>
                    <a:pt x="363" y="0"/>
                  </a:moveTo>
                  <a:cubicBezTo>
                    <a:pt x="9761" y="158"/>
                    <a:pt x="17978" y="6375"/>
                    <a:pt x="20685" y="15376"/>
                  </a:cubicBezTo>
                  <a:lnTo>
                    <a:pt x="0" y="21597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251" name="Rectangle 18"/>
            <p:cNvSpPr>
              <a:spLocks noChangeArrowheads="1"/>
            </p:cNvSpPr>
            <p:nvPr/>
          </p:nvSpPr>
          <p:spPr bwMode="auto">
            <a:xfrm>
              <a:off x="2208" y="3120"/>
              <a:ext cx="268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000" i="1">
                  <a:sym typeface="Symbol" pitchFamily="18" charset="2"/>
                </a:rPr>
                <a:t></a:t>
              </a:r>
              <a:endParaRPr lang="zh-CN" altLang="zh-CN" sz="3000" i="1" baseline="-25000"/>
            </a:p>
          </p:txBody>
        </p:sp>
      </p:grpSp>
      <p:sp>
        <p:nvSpPr>
          <p:cNvPr id="309269" name="Line 21"/>
          <p:cNvSpPr>
            <a:spLocks noChangeShapeType="1"/>
          </p:cNvSpPr>
          <p:nvPr/>
        </p:nvSpPr>
        <p:spPr bwMode="auto">
          <a:xfrm flipH="1">
            <a:off x="4495800" y="2425700"/>
            <a:ext cx="1295400" cy="1676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9270" name="Rectangle 22"/>
          <p:cNvSpPr>
            <a:spLocks noChangeArrowheads="1"/>
          </p:cNvSpPr>
          <p:nvPr/>
        </p:nvSpPr>
        <p:spPr bwMode="auto">
          <a:xfrm>
            <a:off x="4044950" y="3949702"/>
            <a:ext cx="755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i="1">
                <a:latin typeface="Times New Roman" pitchFamily="18" charset="0"/>
              </a:rPr>
              <a:t>x</a:t>
            </a:r>
            <a:r>
              <a:rPr lang="en-US" altLang="zh-CN" sz="2800" i="1" baseline="-25000">
                <a:latin typeface="Times New Roman" pitchFamily="18" charset="0"/>
              </a:rPr>
              <a:t>n+1</a:t>
            </a:r>
            <a:endParaRPr lang="zh-CN" altLang="zh-CN" sz="2800" i="1" baseline="-25000">
              <a:latin typeface="Times New Roman" pitchFamily="18" charset="0"/>
            </a:endParaRPr>
          </a:p>
        </p:txBody>
      </p:sp>
      <p:sp>
        <p:nvSpPr>
          <p:cNvPr id="309271" name="Line 23"/>
          <p:cNvSpPr>
            <a:spLocks noChangeShapeType="1"/>
          </p:cNvSpPr>
          <p:nvPr/>
        </p:nvSpPr>
        <p:spPr bwMode="auto">
          <a:xfrm>
            <a:off x="4495800" y="37973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9272" name="Line 24"/>
          <p:cNvSpPr>
            <a:spLocks noChangeShapeType="1"/>
          </p:cNvSpPr>
          <p:nvPr/>
        </p:nvSpPr>
        <p:spPr bwMode="auto">
          <a:xfrm flipH="1">
            <a:off x="4038600" y="3035300"/>
            <a:ext cx="1447800" cy="1066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9274" name="Rectangle 26"/>
          <p:cNvSpPr>
            <a:spLocks noChangeArrowheads="1"/>
          </p:cNvSpPr>
          <p:nvPr/>
        </p:nvSpPr>
        <p:spPr bwMode="auto">
          <a:xfrm>
            <a:off x="533400" y="4559300"/>
            <a:ext cx="7772400" cy="184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258763" indent="-258763" algn="l" defTabSz="814388">
              <a:lnSpc>
                <a:spcPct val="90000"/>
              </a:lnSpc>
              <a:spcBef>
                <a:spcPts val="12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</a:pP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定理2.7  当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f(x)</a:t>
            </a: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在区间[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a,b]</a:t>
            </a: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上有直至二阶的连续导数，且满足</a:t>
            </a:r>
          </a:p>
          <a:p>
            <a:pPr marL="649288" lvl="1" indent="-261938" algn="l" defTabSz="814388">
              <a:lnSpc>
                <a:spcPct val="90000"/>
              </a:lnSpc>
              <a:spcBef>
                <a:spcPts val="1200"/>
              </a:spcBef>
              <a:buClr>
                <a:srgbClr val="27305F"/>
              </a:buClr>
              <a:buFontTx/>
              <a:buChar char="–"/>
            </a:pP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有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f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(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a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)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 f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(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b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)&lt;0</a:t>
            </a: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且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f ’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(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)≠0</a:t>
            </a: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时</a:t>
            </a:r>
          </a:p>
          <a:p>
            <a:pPr marL="649288" lvl="1" indent="-261938" algn="l" defTabSz="814388">
              <a:lnSpc>
                <a:spcPct val="90000"/>
              </a:lnSpc>
              <a:spcBef>
                <a:spcPts val="1200"/>
              </a:spcBef>
              <a:buClr>
                <a:srgbClr val="27305F"/>
              </a:buClr>
              <a:buFontTx/>
              <a:buChar char="–"/>
            </a:pP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双点弦截法对任意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2800" baseline="-25000">
                <a:latin typeface="Times New Roman" pitchFamily="18" charset="0"/>
                <a:ea typeface="黑体" pitchFamily="49" charset="-122"/>
              </a:rPr>
              <a:t>0</a:t>
            </a:r>
            <a:r>
              <a:rPr lang="en-US" altLang="zh-CN" sz="2800">
                <a:latin typeface="宋体" pitchFamily="2" charset="-122"/>
                <a:ea typeface="黑体" pitchFamily="49" charset="-122"/>
                <a:sym typeface="Symbol" pitchFamily="18" charset="2"/>
              </a:rPr>
              <a:t>,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2800" baseline="-25000">
                <a:latin typeface="Times New Roman" pitchFamily="18" charset="0"/>
                <a:ea typeface="黑体" pitchFamily="49" charset="-122"/>
              </a:rPr>
              <a:t>1</a:t>
            </a:r>
            <a:r>
              <a:rPr lang="en-US" altLang="zh-CN" sz="2800">
                <a:latin typeface="Times New Roman" pitchFamily="18" charset="0"/>
                <a:ea typeface="黑体" pitchFamily="49" charset="-122"/>
                <a:sym typeface="Symbol" pitchFamily="18" charset="2"/>
              </a:rPr>
              <a:t>∈</a:t>
            </a: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[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a,b]</a:t>
            </a: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都收敛。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3000"/>
                                        <p:tgtEl>
                                          <p:spTgt spid="309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3000"/>
                                        <p:tgtEl>
                                          <p:spTgt spid="309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15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3000"/>
                                        <p:tgtEl>
                                          <p:spTgt spid="309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4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3000"/>
                                        <p:tgtEl>
                                          <p:spTgt spid="309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25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3000"/>
                                        <p:tgtEl>
                                          <p:spTgt spid="309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5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3000"/>
                                        <p:tgtEl>
                                          <p:spTgt spid="309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335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3000"/>
                                        <p:tgtEl>
                                          <p:spTgt spid="309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415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3000"/>
                                        <p:tgtEl>
                                          <p:spTgt spid="309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95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3000"/>
                                        <p:tgtEl>
                                          <p:spTgt spid="309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75"/>
                                        <p:tgtEl>
                                          <p:spTgt spid="309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75"/>
                                        <p:tgtEl>
                                          <p:spTgt spid="3092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75"/>
                                        <p:tgtEl>
                                          <p:spTgt spid="3092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260" grpId="0" autoUpdateAnimBg="0"/>
      <p:bldP spid="309261" grpId="0" animBg="1"/>
      <p:bldP spid="309263" grpId="0" autoUpdateAnimBg="0"/>
      <p:bldP spid="309264" grpId="0" autoUpdateAnimBg="0"/>
      <p:bldP spid="309265" grpId="0" animBg="1"/>
      <p:bldP spid="309269" grpId="0" animBg="1"/>
      <p:bldP spid="309270" grpId="0" autoUpdateAnimBg="0"/>
      <p:bldP spid="309271" grpId="0" animBg="1"/>
      <p:bldP spid="309272" grpId="0" animBg="1"/>
      <p:bldP spid="309274" grpId="0" build="p" autoUpdateAnimBg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5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FEEB2CB5-AC11-4604-86B5-55D976831B4F}" type="slidenum">
              <a:rPr lang="zh-CN" altLang="en-US"/>
              <a:pPr/>
              <a:t>93</a:t>
            </a:fld>
            <a:endParaRPr lang="en-US" altLang="zh-CN"/>
          </a:p>
        </p:txBody>
      </p:sp>
      <p:sp>
        <p:nvSpPr>
          <p:cNvPr id="43016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00AA980A-15F4-4440-A8B9-CF1537B84AF0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307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3.4.2 双点弦截法</a:t>
            </a:r>
          </a:p>
        </p:txBody>
      </p:sp>
      <p:sp>
        <p:nvSpPr>
          <p:cNvPr id="307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7" y="1066802"/>
            <a:ext cx="8239125" cy="917575"/>
          </a:xfrm>
        </p:spPr>
        <p:txBody>
          <a:bodyPr/>
          <a:lstStyle/>
          <a:p>
            <a:r>
              <a:rPr lang="zh-CN" altLang="en-US" smtClean="0"/>
              <a:t>例2.1</a:t>
            </a:r>
            <a:r>
              <a:rPr lang="en-US" altLang="zh-CN" smtClean="0"/>
              <a:t>4 </a:t>
            </a:r>
            <a:r>
              <a:rPr lang="zh-CN" altLang="en-US" smtClean="0"/>
              <a:t>用双点弦截法求</a:t>
            </a:r>
            <a:r>
              <a:rPr lang="en-US" altLang="zh-CN" i="1" smtClean="0"/>
              <a:t>f(x)=xe</a:t>
            </a:r>
            <a:r>
              <a:rPr lang="en-US" altLang="zh-CN" i="1" baseline="30000" smtClean="0"/>
              <a:t>x</a:t>
            </a:r>
            <a:r>
              <a:rPr lang="en-US" altLang="zh-CN" smtClean="0"/>
              <a:t>-1=0</a:t>
            </a:r>
            <a:r>
              <a:rPr lang="zh-CN" altLang="en-US" smtClean="0"/>
              <a:t>的根</a:t>
            </a:r>
          </a:p>
          <a:p>
            <a:r>
              <a:rPr lang="zh-CN" altLang="en-US" smtClean="0"/>
              <a:t>解：取</a:t>
            </a:r>
            <a:r>
              <a:rPr lang="en-US" altLang="zh-CN" i="1" smtClean="0"/>
              <a:t>x</a:t>
            </a:r>
            <a:r>
              <a:rPr lang="en-US" altLang="zh-CN" i="1" baseline="-25000" smtClean="0"/>
              <a:t>0</a:t>
            </a:r>
            <a:r>
              <a:rPr lang="zh-CN" altLang="en-US" smtClean="0">
                <a:latin typeface="宋体" pitchFamily="2" charset="-122"/>
                <a:sym typeface="Symbol" pitchFamily="18" charset="2"/>
              </a:rPr>
              <a:t>=</a:t>
            </a:r>
            <a:r>
              <a:rPr lang="en-US" altLang="zh-CN" i="1" smtClean="0"/>
              <a:t>0.6</a:t>
            </a:r>
            <a:r>
              <a:rPr lang="en-US" altLang="zh-CN" smtClean="0">
                <a:latin typeface="宋体" pitchFamily="2" charset="-122"/>
                <a:sym typeface="Symbol" pitchFamily="18" charset="2"/>
              </a:rPr>
              <a:t>,</a:t>
            </a:r>
            <a:r>
              <a:rPr lang="en-US" altLang="zh-CN" i="1" smtClean="0"/>
              <a:t>x</a:t>
            </a:r>
            <a:r>
              <a:rPr lang="en-US" altLang="zh-CN" i="1" baseline="-25000" smtClean="0"/>
              <a:t>1</a:t>
            </a:r>
            <a:r>
              <a:rPr lang="zh-CN" altLang="en-US" smtClean="0">
                <a:latin typeface="宋体" pitchFamily="2" charset="-122"/>
                <a:sym typeface="Symbol" pitchFamily="18" charset="2"/>
              </a:rPr>
              <a:t>=</a:t>
            </a:r>
            <a:r>
              <a:rPr lang="en-US" altLang="zh-CN" i="1" smtClean="0"/>
              <a:t>0.5</a:t>
            </a:r>
            <a:r>
              <a:rPr lang="en-US" altLang="zh-CN" i="1" baseline="-25000" smtClean="0"/>
              <a:t> </a:t>
            </a:r>
            <a:r>
              <a:rPr lang="zh-CN" altLang="en-US" smtClean="0">
                <a:latin typeface="宋体" pitchFamily="2" charset="-122"/>
                <a:sym typeface="Symbol" pitchFamily="18" charset="2"/>
              </a:rPr>
              <a:t>,按公式</a:t>
            </a:r>
            <a:endParaRPr lang="en-US" altLang="zh-CN" smtClean="0">
              <a:latin typeface="宋体" pitchFamily="2" charset="-122"/>
              <a:sym typeface="Symbol" pitchFamily="18" charset="2"/>
            </a:endParaRPr>
          </a:p>
        </p:txBody>
      </p:sp>
      <p:graphicFrame>
        <p:nvGraphicFramePr>
          <p:cNvPr id="307205" name="Object 5"/>
          <p:cNvGraphicFramePr>
            <a:graphicFrameLocks noChangeAspect="1"/>
          </p:cNvGraphicFramePr>
          <p:nvPr/>
        </p:nvGraphicFramePr>
        <p:xfrm>
          <a:off x="1143000" y="3225802"/>
          <a:ext cx="7315200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00" name="Equation" r:id="rId3" imgW="3416040" imgH="431640" progId="Equation.3">
                  <p:embed/>
                </p:oleObj>
              </mc:Choice>
              <mc:Fallback>
                <p:oleObj name="Equation" r:id="rId3" imgW="3416040" imgH="431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225802"/>
                        <a:ext cx="7315200" cy="1019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07" name="Rectangle 7"/>
          <p:cNvSpPr>
            <a:spLocks noChangeArrowheads="1"/>
          </p:cNvSpPr>
          <p:nvPr/>
        </p:nvSpPr>
        <p:spPr bwMode="auto">
          <a:xfrm>
            <a:off x="762000" y="2325688"/>
            <a:ext cx="7772400" cy="757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258763" indent="-258763" algn="l" defTabSz="814388">
              <a:lnSpc>
                <a:spcPct val="70000"/>
              </a:lnSpc>
              <a:spcBef>
                <a:spcPts val="1200"/>
              </a:spcBef>
              <a:buClr>
                <a:srgbClr val="27305F"/>
              </a:buClr>
              <a:buSzPct val="60000"/>
            </a:pPr>
            <a:r>
              <a:rPr lang="en-US" altLang="zh-CN" sz="2400" i="1">
                <a:latin typeface="Times New Roman" pitchFamily="18" charset="0"/>
                <a:ea typeface="黑体" pitchFamily="49" charset="-122"/>
              </a:rPr>
              <a:t>          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2800" baseline="-25000">
                <a:latin typeface="Times New Roman" pitchFamily="18" charset="0"/>
                <a:ea typeface="黑体" pitchFamily="49" charset="-122"/>
              </a:rPr>
              <a:t>0</a:t>
            </a: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=0.5,         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f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(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2800" baseline="-25000">
                <a:latin typeface="Times New Roman" pitchFamily="18" charset="0"/>
                <a:ea typeface="黑体" pitchFamily="49" charset="-122"/>
              </a:rPr>
              <a:t>0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)=-0.17564</a:t>
            </a: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 </a:t>
            </a:r>
          </a:p>
          <a:p>
            <a:pPr marL="258763" indent="-258763" algn="l" defTabSz="814388">
              <a:lnSpc>
                <a:spcPct val="70000"/>
              </a:lnSpc>
              <a:spcBef>
                <a:spcPts val="1200"/>
              </a:spcBef>
              <a:buClr>
                <a:srgbClr val="27305F"/>
              </a:buClr>
              <a:buSzPct val="60000"/>
            </a:pP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        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2800" baseline="-25000">
                <a:latin typeface="Times New Roman" pitchFamily="18" charset="0"/>
                <a:ea typeface="黑体" pitchFamily="49" charset="-122"/>
              </a:rPr>
              <a:t>1</a:t>
            </a: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=0. 6,        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f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(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2800" baseline="-25000">
                <a:latin typeface="Times New Roman" pitchFamily="18" charset="0"/>
                <a:ea typeface="黑体" pitchFamily="49" charset="-122"/>
              </a:rPr>
              <a:t>1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)=0.09327</a:t>
            </a:r>
            <a:endParaRPr lang="zh-CN" altLang="en-US" sz="2800">
              <a:latin typeface="Times New Roman" pitchFamily="18" charset="0"/>
              <a:ea typeface="黑体" pitchFamily="49" charset="-122"/>
            </a:endParaRPr>
          </a:p>
        </p:txBody>
      </p:sp>
      <p:graphicFrame>
        <p:nvGraphicFramePr>
          <p:cNvPr id="307208" name="Object 8"/>
          <p:cNvGraphicFramePr>
            <a:graphicFrameLocks noChangeAspect="1"/>
          </p:cNvGraphicFramePr>
          <p:nvPr/>
        </p:nvGraphicFramePr>
        <p:xfrm>
          <a:off x="5334000" y="1447800"/>
          <a:ext cx="3505200" cy="1030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01" name="Equation" r:id="rId5" imgW="1879560" imgH="431640" progId="Equation.3">
                  <p:embed/>
                </p:oleObj>
              </mc:Choice>
              <mc:Fallback>
                <p:oleObj name="Equation" r:id="rId5" imgW="1879560" imgH="4316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1447800"/>
                        <a:ext cx="3505200" cy="1030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09" name="Object 9"/>
          <p:cNvGraphicFramePr>
            <a:graphicFrameLocks noChangeAspect="1"/>
          </p:cNvGraphicFramePr>
          <p:nvPr/>
        </p:nvGraphicFramePr>
        <p:xfrm>
          <a:off x="1143000" y="4132263"/>
          <a:ext cx="73152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02" name="Equation" r:id="rId7" imgW="3416040" imgH="431640" progId="Equation.3">
                  <p:embed/>
                </p:oleObj>
              </mc:Choice>
              <mc:Fallback>
                <p:oleObj name="Equation" r:id="rId7" imgW="3416040" imgH="4316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132263"/>
                        <a:ext cx="7315200" cy="977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10" name="Object 10"/>
          <p:cNvGraphicFramePr>
            <a:graphicFrameLocks noChangeAspect="1"/>
          </p:cNvGraphicFramePr>
          <p:nvPr/>
        </p:nvGraphicFramePr>
        <p:xfrm>
          <a:off x="1162050" y="4970463"/>
          <a:ext cx="7296150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03" name="Equation" r:id="rId9" imgW="3429000" imgH="431640" progId="Equation.3">
                  <p:embed/>
                </p:oleObj>
              </mc:Choice>
              <mc:Fallback>
                <p:oleObj name="Equation" r:id="rId9" imgW="3429000" imgH="4316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2050" y="4970463"/>
                        <a:ext cx="7296150" cy="971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11" name="Object 11"/>
          <p:cNvGraphicFramePr>
            <a:graphicFrameLocks noChangeAspect="1"/>
          </p:cNvGraphicFramePr>
          <p:nvPr/>
        </p:nvGraphicFramePr>
        <p:xfrm>
          <a:off x="1219200" y="5816600"/>
          <a:ext cx="4648200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04" name="Equation" r:id="rId11" imgW="2209680" imgH="431640" progId="Equation.3">
                  <p:embed/>
                </p:oleObj>
              </mc:Choice>
              <mc:Fallback>
                <p:oleObj name="Equation" r:id="rId11" imgW="2209680" imgH="4316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5816600"/>
                        <a:ext cx="4648200" cy="928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307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307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07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07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07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07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07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07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03" grpId="0" build="p" autoUpdateAnimBg="0"/>
      <p:bldP spid="307207" grpId="0" autoUpdateAnimBg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EAA8FE2A-DCAD-4E8C-80F6-ADA34E3441A1}" type="slidenum">
              <a:rPr lang="zh-CN" altLang="en-US"/>
              <a:pPr/>
              <a:t>94</a:t>
            </a:fld>
            <a:endParaRPr lang="en-US" altLang="zh-CN"/>
          </a:p>
        </p:txBody>
      </p:sp>
      <p:sp>
        <p:nvSpPr>
          <p:cNvPr id="96259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EFDEC6C7-430E-4623-BB28-4DE97A8CE51B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308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>
                <a:latin typeface="Times New Roman" pitchFamily="18" charset="0"/>
                <a:cs typeface="Times New Roman" pitchFamily="18" charset="0"/>
              </a:rPr>
              <a:t>3.5  |</a:t>
            </a:r>
            <a:r>
              <a:rPr lang="en-US" altLang="zh-CN" i="1" smtClean="0">
                <a:latin typeface="Times New Roman" pitchFamily="18" charset="0"/>
                <a:cs typeface="Times New Roman" pitchFamily="18" charset="0"/>
              </a:rPr>
              <a:t>φ’</a:t>
            </a:r>
            <a:r>
              <a:rPr lang="en-US" altLang="zh-CN" smtClean="0">
                <a:latin typeface="Times New Roman" pitchFamily="18" charset="0"/>
              </a:rPr>
              <a:t>(</a:t>
            </a:r>
            <a:r>
              <a:rPr lang="en-US" altLang="zh-CN" i="1" smtClean="0">
                <a:latin typeface="Times New Roman" pitchFamily="18" charset="0"/>
              </a:rPr>
              <a:t>x</a:t>
            </a:r>
            <a:r>
              <a:rPr lang="en-US" altLang="zh-CN" smtClean="0">
                <a:latin typeface="Times New Roman" pitchFamily="18" charset="0"/>
              </a:rPr>
              <a:t>)</a:t>
            </a:r>
            <a:r>
              <a:rPr lang="en-US" altLang="zh-CN" i="1" smtClean="0">
                <a:latin typeface="Times New Roman" pitchFamily="18" charset="0"/>
              </a:rPr>
              <a:t>|</a:t>
            </a:r>
            <a:r>
              <a:rPr lang="en-US" altLang="zh-CN" smtClean="0">
                <a:latin typeface="Times New Roman" pitchFamily="18" charset="0"/>
              </a:rPr>
              <a:t>&gt;1</a:t>
            </a:r>
            <a:r>
              <a:rPr lang="zh-CN" altLang="en-US" smtClean="0">
                <a:latin typeface="Times New Roman" pitchFamily="18" charset="0"/>
              </a:rPr>
              <a:t>的处理方法</a:t>
            </a:r>
          </a:p>
        </p:txBody>
      </p:sp>
      <p:sp>
        <p:nvSpPr>
          <p:cNvPr id="9626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292227"/>
            <a:ext cx="8142288" cy="4062651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sz="3200" i="1" dirty="0"/>
              <a:t>x</a:t>
            </a:r>
            <a:r>
              <a:rPr lang="en-US" altLang="zh-CN" sz="3200" dirty="0">
                <a:latin typeface="宋体" pitchFamily="2" charset="-122"/>
              </a:rPr>
              <a:t>=</a:t>
            </a:r>
            <a:r>
              <a:rPr lang="zh-CN" altLang="en-US" sz="3100" i="1" dirty="0">
                <a:latin typeface="宋体" pitchFamily="2" charset="-122"/>
                <a:sym typeface="Symbol" pitchFamily="18" charset="2"/>
              </a:rPr>
              <a:t></a:t>
            </a:r>
            <a:r>
              <a:rPr lang="en-US" altLang="zh-CN" sz="3200" dirty="0"/>
              <a:t>(</a:t>
            </a:r>
            <a:r>
              <a:rPr lang="en-US" altLang="zh-CN" sz="3200" i="1" dirty="0"/>
              <a:t>x</a:t>
            </a:r>
            <a:r>
              <a:rPr lang="en-US" altLang="zh-CN" sz="3200" dirty="0"/>
              <a:t>)</a:t>
            </a:r>
            <a:r>
              <a:rPr lang="zh-CN" altLang="en-US" sz="3200" dirty="0"/>
              <a:t>，分解后| </a:t>
            </a:r>
            <a:r>
              <a:rPr lang="zh-CN" altLang="en-US" sz="3100" i="1" dirty="0">
                <a:latin typeface="宋体" pitchFamily="2" charset="-122"/>
                <a:sym typeface="Symbol" pitchFamily="18" charset="2"/>
              </a:rPr>
              <a:t></a:t>
            </a:r>
            <a:r>
              <a:rPr lang="en-US" altLang="zh-CN" sz="3200" i="1" dirty="0">
                <a:cs typeface="Times New Roman" pitchFamily="18" charset="0"/>
              </a:rPr>
              <a:t>’</a:t>
            </a:r>
            <a:r>
              <a:rPr lang="en-US" altLang="zh-CN" sz="3200" dirty="0"/>
              <a:t>(</a:t>
            </a:r>
            <a:r>
              <a:rPr lang="en-US" altLang="zh-CN" sz="3200" i="1" dirty="0"/>
              <a:t>x</a:t>
            </a:r>
            <a:r>
              <a:rPr lang="en-US" altLang="zh-CN" sz="3200" dirty="0"/>
              <a:t>)</a:t>
            </a:r>
            <a:r>
              <a:rPr lang="en-US" altLang="zh-CN" sz="3200" i="1" dirty="0"/>
              <a:t>|</a:t>
            </a:r>
            <a:r>
              <a:rPr lang="en-US" altLang="zh-CN" sz="3200" dirty="0">
                <a:sym typeface="Symbol" pitchFamily="18" charset="2"/>
              </a:rPr>
              <a:t></a:t>
            </a:r>
            <a:r>
              <a:rPr lang="en-US" altLang="zh-CN" sz="3200" dirty="0"/>
              <a:t>K&gt;1</a:t>
            </a:r>
            <a:r>
              <a:rPr lang="zh-CN" altLang="en-US" sz="3200" dirty="0"/>
              <a:t>, </a:t>
            </a:r>
            <a:r>
              <a:rPr lang="en-US" altLang="zh-CN" sz="3200" i="1" dirty="0"/>
              <a:t>x</a:t>
            </a:r>
            <a:r>
              <a:rPr lang="en-US" altLang="zh-CN" sz="3200" dirty="0">
                <a:sym typeface="Symbol" pitchFamily="18" charset="2"/>
              </a:rPr>
              <a:t>∈</a:t>
            </a:r>
            <a:r>
              <a:rPr lang="zh-CN" altLang="en-US" sz="3200" dirty="0"/>
              <a:t>[</a:t>
            </a:r>
            <a:r>
              <a:rPr lang="en-US" altLang="zh-CN" sz="3200" dirty="0" err="1"/>
              <a:t>a,b</a:t>
            </a:r>
            <a:r>
              <a:rPr lang="en-US" altLang="zh-CN" sz="3200" dirty="0"/>
              <a:t>]</a:t>
            </a:r>
            <a:r>
              <a:rPr lang="zh-CN" altLang="en-US" sz="3200" dirty="0"/>
              <a:t>。</a:t>
            </a:r>
          </a:p>
          <a:p>
            <a:pPr>
              <a:lnSpc>
                <a:spcPct val="120000"/>
              </a:lnSpc>
            </a:pPr>
            <a:r>
              <a:rPr lang="zh-CN" altLang="en-US" sz="3200" dirty="0"/>
              <a:t>将方程右端</a:t>
            </a:r>
            <a:r>
              <a:rPr lang="zh-CN" altLang="en-US" sz="3100" dirty="0">
                <a:latin typeface="宋体" pitchFamily="2" charset="-122"/>
                <a:sym typeface="Symbol" pitchFamily="18" charset="2"/>
              </a:rPr>
              <a:t></a:t>
            </a:r>
            <a:r>
              <a:rPr lang="en-US" altLang="zh-CN" sz="3200" dirty="0"/>
              <a:t>(</a:t>
            </a:r>
            <a:r>
              <a:rPr lang="en-US" altLang="zh-CN" sz="3200" i="1" dirty="0"/>
              <a:t>x</a:t>
            </a:r>
            <a:r>
              <a:rPr lang="en-US" altLang="zh-CN" sz="3200" dirty="0"/>
              <a:t>)</a:t>
            </a:r>
            <a:r>
              <a:rPr lang="zh-CN" altLang="en-US" sz="3200" dirty="0"/>
              <a:t>中的</a:t>
            </a:r>
            <a:r>
              <a:rPr lang="en-US" altLang="zh-CN" sz="3200" i="1" dirty="0"/>
              <a:t>x</a:t>
            </a:r>
            <a:r>
              <a:rPr lang="zh-CN" altLang="en-US" sz="3200" dirty="0"/>
              <a:t>反解得到它的反函数</a:t>
            </a:r>
            <a:r>
              <a:rPr lang="en-US" altLang="zh-CN" sz="3200" i="1" dirty="0"/>
              <a:t>x</a:t>
            </a:r>
            <a:r>
              <a:rPr lang="en-US" altLang="zh-CN" sz="3200" dirty="0">
                <a:latin typeface="宋体" pitchFamily="2" charset="-122"/>
              </a:rPr>
              <a:t>=</a:t>
            </a:r>
            <a:r>
              <a:rPr lang="en-US" altLang="zh-CN" sz="3200" dirty="0">
                <a:latin typeface="宋体" pitchFamily="2" charset="-122"/>
                <a:cs typeface="Times New Roman" pitchFamily="18" charset="0"/>
              </a:rPr>
              <a:t>ψ</a:t>
            </a:r>
            <a:r>
              <a:rPr lang="en-US" altLang="zh-CN" sz="3200" dirty="0"/>
              <a:t>(</a:t>
            </a:r>
            <a:r>
              <a:rPr lang="en-US" altLang="zh-CN" sz="3200" i="1" dirty="0"/>
              <a:t>x</a:t>
            </a:r>
            <a:r>
              <a:rPr lang="en-US" altLang="zh-CN" sz="3200" dirty="0"/>
              <a:t>).</a:t>
            </a:r>
          </a:p>
          <a:p>
            <a:pPr>
              <a:lnSpc>
                <a:spcPct val="120000"/>
              </a:lnSpc>
            </a:pPr>
            <a:r>
              <a:rPr lang="zh-CN" altLang="en-US" sz="3200" dirty="0"/>
              <a:t>因为</a:t>
            </a:r>
            <a:r>
              <a:rPr lang="zh-CN" altLang="en-US" sz="3100" i="1" dirty="0">
                <a:latin typeface="宋体" pitchFamily="2" charset="-122"/>
                <a:sym typeface="Symbol" pitchFamily="18" charset="2"/>
              </a:rPr>
              <a:t></a:t>
            </a:r>
            <a:r>
              <a:rPr lang="en-US" altLang="zh-CN" sz="3200" i="1" dirty="0">
                <a:cs typeface="Times New Roman" pitchFamily="18" charset="0"/>
              </a:rPr>
              <a:t>’</a:t>
            </a:r>
            <a:r>
              <a:rPr lang="en-US" altLang="zh-CN" sz="3200" dirty="0"/>
              <a:t>(</a:t>
            </a:r>
            <a:r>
              <a:rPr lang="en-US" altLang="zh-CN" sz="3200" i="1" dirty="0"/>
              <a:t>x</a:t>
            </a:r>
            <a:r>
              <a:rPr lang="en-US" altLang="zh-CN" sz="3200" dirty="0"/>
              <a:t>)</a:t>
            </a:r>
            <a:r>
              <a:rPr lang="en-US" altLang="zh-CN" sz="3200" i="1" dirty="0"/>
              <a:t>=</a:t>
            </a:r>
            <a:r>
              <a:rPr lang="en-US" altLang="zh-CN" sz="3200" dirty="0"/>
              <a:t>1/</a:t>
            </a:r>
            <a:r>
              <a:rPr lang="en-US" altLang="zh-CN" sz="3200" i="1" dirty="0">
                <a:latin typeface="宋体" pitchFamily="2" charset="-122"/>
                <a:cs typeface="Times New Roman" pitchFamily="18" charset="0"/>
              </a:rPr>
              <a:t>ψ</a:t>
            </a:r>
            <a:r>
              <a:rPr lang="en-US" altLang="zh-CN" sz="3200" i="1" dirty="0">
                <a:cs typeface="Times New Roman" pitchFamily="18" charset="0"/>
              </a:rPr>
              <a:t>’</a:t>
            </a:r>
            <a:r>
              <a:rPr lang="en-US" altLang="zh-CN" sz="3200" dirty="0"/>
              <a:t>(</a:t>
            </a:r>
            <a:r>
              <a:rPr lang="en-US" altLang="zh-CN" sz="3200" i="1" dirty="0"/>
              <a:t>x</a:t>
            </a:r>
            <a:r>
              <a:rPr lang="en-US" altLang="zh-CN" sz="3200" dirty="0"/>
              <a:t>)</a:t>
            </a:r>
            <a:r>
              <a:rPr lang="zh-CN" altLang="en-US" sz="3200" dirty="0"/>
              <a:t>，所以推得           </a:t>
            </a:r>
            <a:r>
              <a:rPr lang="en-US" altLang="zh-CN" sz="3200" i="1" dirty="0">
                <a:latin typeface="宋体" pitchFamily="2" charset="-122"/>
                <a:cs typeface="Times New Roman" pitchFamily="18" charset="0"/>
              </a:rPr>
              <a:t>ψ</a:t>
            </a:r>
            <a:r>
              <a:rPr lang="en-US" altLang="zh-CN" sz="3200" i="1" dirty="0">
                <a:cs typeface="Times New Roman" pitchFamily="18" charset="0"/>
              </a:rPr>
              <a:t>’</a:t>
            </a:r>
            <a:r>
              <a:rPr lang="en-US" altLang="zh-CN" sz="3200" dirty="0"/>
              <a:t>(</a:t>
            </a:r>
            <a:r>
              <a:rPr lang="en-US" altLang="zh-CN" sz="3200" i="1" dirty="0"/>
              <a:t>x</a:t>
            </a:r>
            <a:r>
              <a:rPr lang="en-US" altLang="zh-CN" sz="3200" dirty="0"/>
              <a:t>)</a:t>
            </a:r>
            <a:r>
              <a:rPr lang="en-US" altLang="zh-CN" sz="3200" i="1" dirty="0"/>
              <a:t>=</a:t>
            </a:r>
            <a:r>
              <a:rPr lang="en-US" altLang="zh-CN" sz="3200" dirty="0"/>
              <a:t>1/</a:t>
            </a:r>
            <a:r>
              <a:rPr lang="zh-CN" altLang="en-US" sz="3100" i="1" dirty="0">
                <a:latin typeface="宋体" pitchFamily="2" charset="-122"/>
                <a:sym typeface="Symbol" pitchFamily="18" charset="2"/>
              </a:rPr>
              <a:t></a:t>
            </a:r>
            <a:r>
              <a:rPr lang="en-US" altLang="zh-CN" sz="3200" i="1" dirty="0">
                <a:cs typeface="Times New Roman" pitchFamily="18" charset="0"/>
              </a:rPr>
              <a:t>’</a:t>
            </a:r>
            <a:r>
              <a:rPr lang="en-US" altLang="zh-CN" sz="3200" dirty="0"/>
              <a:t>(</a:t>
            </a:r>
            <a:r>
              <a:rPr lang="en-US" altLang="zh-CN" sz="3200" i="1" dirty="0"/>
              <a:t>x</a:t>
            </a:r>
            <a:r>
              <a:rPr lang="en-US" altLang="zh-CN" sz="3200" dirty="0"/>
              <a:t>)</a:t>
            </a:r>
            <a:r>
              <a:rPr lang="en-US" altLang="zh-CN" sz="3200" dirty="0">
                <a:sym typeface="Symbol" pitchFamily="18" charset="2"/>
              </a:rPr>
              <a:t></a:t>
            </a:r>
            <a:r>
              <a:rPr lang="en-US" altLang="zh-CN" sz="3200" dirty="0"/>
              <a:t>1/K&lt;1</a:t>
            </a:r>
          </a:p>
          <a:p>
            <a:pPr>
              <a:lnSpc>
                <a:spcPct val="120000"/>
              </a:lnSpc>
            </a:pPr>
            <a:r>
              <a:rPr lang="zh-CN" altLang="en-US" sz="3200" dirty="0"/>
              <a:t>按照</a:t>
            </a:r>
            <a:r>
              <a:rPr lang="en-US" altLang="zh-CN" sz="3200" i="1" dirty="0"/>
              <a:t>x</a:t>
            </a:r>
            <a:r>
              <a:rPr lang="en-US" altLang="zh-CN" sz="3200" i="1" baseline="-25000" dirty="0"/>
              <a:t>n</a:t>
            </a:r>
            <a:r>
              <a:rPr lang="en-US" altLang="zh-CN" sz="3200" baseline="-25000" dirty="0"/>
              <a:t>+1</a:t>
            </a:r>
            <a:r>
              <a:rPr lang="en-US" altLang="zh-CN" sz="3200" i="1" dirty="0"/>
              <a:t>=</a:t>
            </a:r>
            <a:r>
              <a:rPr lang="en-US" altLang="zh-CN" sz="3200" i="1" dirty="0">
                <a:latin typeface="宋体" pitchFamily="2" charset="-122"/>
                <a:cs typeface="Times New Roman" pitchFamily="18" charset="0"/>
              </a:rPr>
              <a:t>ψ</a:t>
            </a:r>
            <a:r>
              <a:rPr lang="en-US" altLang="zh-CN" sz="3200" dirty="0"/>
              <a:t>(</a:t>
            </a:r>
            <a:r>
              <a:rPr lang="en-US" altLang="zh-CN" sz="3200" i="1" dirty="0" err="1"/>
              <a:t>x</a:t>
            </a:r>
            <a:r>
              <a:rPr lang="en-US" altLang="zh-CN" sz="3200" i="1" baseline="-25000" dirty="0" err="1"/>
              <a:t>n</a:t>
            </a:r>
            <a:r>
              <a:rPr lang="en-US" altLang="zh-CN" sz="3200" dirty="0"/>
              <a:t>)</a:t>
            </a:r>
            <a:r>
              <a:rPr lang="zh-CN" altLang="en-US" sz="3200" dirty="0"/>
              <a:t>进行迭代必收敛。</a:t>
            </a:r>
            <a:endParaRPr lang="en-US" altLang="zh-CN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灯片编号占位符 2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4E5E76A0-6D84-4661-98A5-9A8ED5AEF9BC}" type="slidenum">
              <a:rPr lang="zh-CN" altLang="en-US"/>
              <a:pPr/>
              <a:t>95</a:t>
            </a:fld>
            <a:endParaRPr lang="en-US" altLang="zh-CN"/>
          </a:p>
        </p:txBody>
      </p:sp>
      <p:sp>
        <p:nvSpPr>
          <p:cNvPr id="97283" name="日期占位符 3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20581C83-EA8A-4CE4-B107-50E5D30B5452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grpSp>
        <p:nvGrpSpPr>
          <p:cNvPr id="97284" name="Group 2"/>
          <p:cNvGrpSpPr>
            <a:grpSpLocks/>
          </p:cNvGrpSpPr>
          <p:nvPr/>
        </p:nvGrpSpPr>
        <p:grpSpPr bwMode="auto">
          <a:xfrm>
            <a:off x="555625" y="2036763"/>
            <a:ext cx="7945438" cy="2608262"/>
            <a:chOff x="350" y="1283"/>
            <a:chExt cx="5005" cy="1643"/>
          </a:xfrm>
        </p:grpSpPr>
        <p:sp>
          <p:nvSpPr>
            <p:cNvPr id="97286" name="Rectangle 3"/>
            <p:cNvSpPr>
              <a:spLocks noChangeArrowheads="1"/>
            </p:cNvSpPr>
            <p:nvPr/>
          </p:nvSpPr>
          <p:spPr bwMode="auto">
            <a:xfrm>
              <a:off x="483" y="1981"/>
              <a:ext cx="4780" cy="252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7287" name="Rectangle 4"/>
            <p:cNvSpPr>
              <a:spLocks noChangeArrowheads="1"/>
            </p:cNvSpPr>
            <p:nvPr/>
          </p:nvSpPr>
          <p:spPr bwMode="auto">
            <a:xfrm>
              <a:off x="362" y="1283"/>
              <a:ext cx="125" cy="1642"/>
            </a:xfrm>
            <a:prstGeom prst="rect">
              <a:avLst/>
            </a:prstGeom>
            <a:gradFill rotWithShape="0">
              <a:gsLst>
                <a:gs pos="0">
                  <a:srgbClr val="E2E2E2"/>
                </a:gs>
                <a:gs pos="100000">
                  <a:srgbClr val="83838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288" name="Rectangle 5"/>
            <p:cNvSpPr>
              <a:spLocks noChangeArrowheads="1"/>
            </p:cNvSpPr>
            <p:nvPr/>
          </p:nvSpPr>
          <p:spPr bwMode="auto">
            <a:xfrm>
              <a:off x="5218" y="1283"/>
              <a:ext cx="133" cy="1642"/>
            </a:xfrm>
            <a:prstGeom prst="rect">
              <a:avLst/>
            </a:prstGeom>
            <a:gradFill rotWithShape="0">
              <a:gsLst>
                <a:gs pos="0">
                  <a:srgbClr val="E2E2E2"/>
                </a:gs>
                <a:gs pos="100000">
                  <a:srgbClr val="83838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289" name="AutoShape 6"/>
            <p:cNvSpPr>
              <a:spLocks noChangeArrowheads="1"/>
            </p:cNvSpPr>
            <p:nvPr/>
          </p:nvSpPr>
          <p:spPr bwMode="auto">
            <a:xfrm>
              <a:off x="377" y="1283"/>
              <a:ext cx="4974" cy="98"/>
            </a:xfrm>
            <a:custGeom>
              <a:avLst/>
              <a:gdLst>
                <a:gd name="T0" fmla="*/ 1132 w 21600"/>
                <a:gd name="T1" fmla="*/ 0 h 21600"/>
                <a:gd name="T2" fmla="*/ 573 w 21600"/>
                <a:gd name="T3" fmla="*/ 0 h 21600"/>
                <a:gd name="T4" fmla="*/ 14 w 21600"/>
                <a:gd name="T5" fmla="*/ 0 h 21600"/>
                <a:gd name="T6" fmla="*/ 573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054 w 21600"/>
                <a:gd name="T13" fmla="*/ 1984 h 21600"/>
                <a:gd name="T14" fmla="*/ 19546 w 21600"/>
                <a:gd name="T15" fmla="*/ 1961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12" y="21600"/>
                  </a:lnTo>
                  <a:lnTo>
                    <a:pt x="21088" y="21600"/>
                  </a:lnTo>
                  <a:lnTo>
                    <a:pt x="21600" y="0"/>
                  </a:lnTo>
                  <a:close/>
                </a:path>
              </a:pathLst>
            </a:custGeom>
            <a:gradFill rotWithShape="0">
              <a:gsLst>
                <a:gs pos="0">
                  <a:srgbClr val="E2E2E2"/>
                </a:gs>
                <a:gs pos="100000">
                  <a:srgbClr val="969696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290" name="AutoShape 7"/>
            <p:cNvSpPr>
              <a:spLocks noChangeArrowheads="1"/>
            </p:cNvSpPr>
            <p:nvPr/>
          </p:nvSpPr>
          <p:spPr bwMode="auto">
            <a:xfrm flipV="1">
              <a:off x="350" y="2828"/>
              <a:ext cx="5005" cy="98"/>
            </a:xfrm>
            <a:custGeom>
              <a:avLst/>
              <a:gdLst>
                <a:gd name="T0" fmla="*/ 1143 w 21600"/>
                <a:gd name="T1" fmla="*/ 0 h 21600"/>
                <a:gd name="T2" fmla="*/ 580 w 21600"/>
                <a:gd name="T3" fmla="*/ 0 h 21600"/>
                <a:gd name="T4" fmla="*/ 16 w 21600"/>
                <a:gd name="T5" fmla="*/ 0 h 21600"/>
                <a:gd name="T6" fmla="*/ 58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106 w 21600"/>
                <a:gd name="T13" fmla="*/ 2204 h 21600"/>
                <a:gd name="T14" fmla="*/ 19494 w 21600"/>
                <a:gd name="T15" fmla="*/ 1939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612" y="21600"/>
                  </a:lnTo>
                  <a:lnTo>
                    <a:pt x="20988" y="21600"/>
                  </a:lnTo>
                  <a:lnTo>
                    <a:pt x="21600" y="0"/>
                  </a:lnTo>
                  <a:close/>
                </a:path>
              </a:pathLst>
            </a:custGeom>
            <a:gradFill rotWithShape="0">
              <a:gsLst>
                <a:gs pos="0">
                  <a:srgbClr val="E2E2E2"/>
                </a:gs>
                <a:gs pos="100000">
                  <a:srgbClr val="969696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291" name="Rectangle 8"/>
            <p:cNvSpPr>
              <a:spLocks noChangeArrowheads="1"/>
            </p:cNvSpPr>
            <p:nvPr/>
          </p:nvSpPr>
          <p:spPr bwMode="auto">
            <a:xfrm>
              <a:off x="480" y="1380"/>
              <a:ext cx="4738" cy="144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354281"/>
              </a:solidFill>
              <a:miter lim="800000"/>
              <a:headEnd/>
              <a:tailEnd/>
            </a:ln>
            <a:effectLst>
              <a:prstShdw prst="shdw17" dist="17961" dir="2700000">
                <a:srgbClr val="20284D"/>
              </a:prst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10281" name="Rectangle 9"/>
          <p:cNvSpPr>
            <a:spLocks noChangeArrowheads="1"/>
          </p:cNvSpPr>
          <p:nvPr/>
        </p:nvSpPr>
        <p:spPr bwMode="auto">
          <a:xfrm>
            <a:off x="609602" y="2362200"/>
            <a:ext cx="7585075" cy="2063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dist="17961" dir="2700000" algn="ctr" rotWithShape="0">
              <a:srgbClr val="354281"/>
            </a:outerShdw>
          </a:effectLst>
        </p:spPr>
        <p:txBody>
          <a:bodyPr lIns="0" tIns="0" rIns="0" bIns="0">
            <a:spAutoFit/>
          </a:bodyPr>
          <a:lstStyle/>
          <a:p>
            <a:pPr marL="290513" indent="-290513" defTabSz="915988">
              <a:lnSpc>
                <a:spcPct val="85000"/>
              </a:lnSpc>
              <a:spcBef>
                <a:spcPct val="35000"/>
              </a:spcBef>
              <a:buClr>
                <a:srgbClr val="FF0000"/>
              </a:buClr>
              <a:buSzPct val="95000"/>
              <a:defRPr/>
            </a:pPr>
            <a:r>
              <a:rPr lang="zh-CN" altLang="en-US" sz="66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§4 联立方程组的</a:t>
            </a:r>
          </a:p>
          <a:p>
            <a:pPr marL="290513" indent="-290513" defTabSz="915988">
              <a:lnSpc>
                <a:spcPct val="85000"/>
              </a:lnSpc>
              <a:spcBef>
                <a:spcPct val="35000"/>
              </a:spcBef>
              <a:buClr>
                <a:srgbClr val="FF0000"/>
              </a:buClr>
              <a:buSzPct val="95000"/>
              <a:defRPr/>
            </a:pPr>
            <a:r>
              <a:rPr lang="zh-CN" altLang="en-US" sz="66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  迭代解法</a:t>
            </a:r>
            <a:endParaRPr lang="zh-CN" altLang="en-US" sz="4800" i="1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02738991-722A-4A3C-923C-175E4B35CF7A}" type="slidenum">
              <a:rPr lang="zh-CN" altLang="en-US"/>
              <a:pPr/>
              <a:t>96</a:t>
            </a:fld>
            <a:endParaRPr lang="en-US" altLang="zh-CN"/>
          </a:p>
        </p:txBody>
      </p:sp>
      <p:sp>
        <p:nvSpPr>
          <p:cNvPr id="44037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268A7D8D-BF7B-448A-ACB7-960AA72F34B7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476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§4</a:t>
            </a:r>
            <a:r>
              <a:rPr lang="zh-CN" altLang="en-US" smtClean="0">
                <a:latin typeface="Times New Roman" pitchFamily="18" charset="0"/>
              </a:rPr>
              <a:t> 联立方程组的迭代解法</a:t>
            </a:r>
          </a:p>
        </p:txBody>
      </p:sp>
      <p:sp>
        <p:nvSpPr>
          <p:cNvPr id="440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368425"/>
            <a:ext cx="8142288" cy="498598"/>
          </a:xfrm>
        </p:spPr>
        <p:txBody>
          <a:bodyPr/>
          <a:lstStyle/>
          <a:p>
            <a:r>
              <a:rPr lang="zh-CN" altLang="en-US" sz="3600"/>
              <a:t>对于联立方程组</a:t>
            </a:r>
          </a:p>
        </p:txBody>
      </p:sp>
      <p:graphicFrame>
        <p:nvGraphicFramePr>
          <p:cNvPr id="476164" name="Object 4"/>
          <p:cNvGraphicFramePr>
            <a:graphicFrameLocks noChangeAspect="1"/>
          </p:cNvGraphicFramePr>
          <p:nvPr/>
        </p:nvGraphicFramePr>
        <p:xfrm>
          <a:off x="457200" y="2057400"/>
          <a:ext cx="3429000" cy="274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15" name="Equation" r:id="rId3" imgW="1346040" imgH="939600" progId="Equation.3">
                  <p:embed/>
                </p:oleObj>
              </mc:Choice>
              <mc:Fallback>
                <p:oleObj name="Equation" r:id="rId3" imgW="1346040" imgH="939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057400"/>
                        <a:ext cx="3429000" cy="274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6165" name="Object 5"/>
          <p:cNvGraphicFramePr>
            <a:graphicFrameLocks noChangeAspect="1"/>
          </p:cNvGraphicFramePr>
          <p:nvPr/>
        </p:nvGraphicFramePr>
        <p:xfrm>
          <a:off x="5410200" y="2133600"/>
          <a:ext cx="3505200" cy="274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16" name="Equation" r:id="rId5" imgW="1434960" imgH="939600" progId="Equation.3">
                  <p:embed/>
                </p:oleObj>
              </mc:Choice>
              <mc:Fallback>
                <p:oleObj name="Equation" r:id="rId5" imgW="1434960" imgH="939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2133600"/>
                        <a:ext cx="3505200" cy="274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3352800" y="2819400"/>
            <a:ext cx="2438400" cy="914400"/>
            <a:chOff x="2112" y="1776"/>
            <a:chExt cx="1536" cy="576"/>
          </a:xfrm>
        </p:grpSpPr>
        <p:sp>
          <p:nvSpPr>
            <p:cNvPr id="44041" name="Rectangle 7"/>
            <p:cNvSpPr>
              <a:spLocks noChangeArrowheads="1"/>
            </p:cNvSpPr>
            <p:nvPr/>
          </p:nvSpPr>
          <p:spPr bwMode="auto">
            <a:xfrm>
              <a:off x="2112" y="1776"/>
              <a:ext cx="1536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marL="649288" lvl="1" indent="-261938" algn="l" defTabSz="814388">
                <a:lnSpc>
                  <a:spcPct val="90000"/>
                </a:lnSpc>
                <a:spcBef>
                  <a:spcPts val="1200"/>
                </a:spcBef>
                <a:buClr>
                  <a:srgbClr val="27305F"/>
                </a:buClr>
              </a:pPr>
              <a:r>
                <a:rPr lang="zh-CN" altLang="en-US" sz="2800">
                  <a:latin typeface="Times New Roman" pitchFamily="18" charset="0"/>
                  <a:ea typeface="黑体" pitchFamily="49" charset="-122"/>
                </a:rPr>
                <a:t>	可改写为</a:t>
              </a:r>
            </a:p>
          </p:txBody>
        </p:sp>
        <p:sp>
          <p:nvSpPr>
            <p:cNvPr id="44042" name="AutoShape 8"/>
            <p:cNvSpPr>
              <a:spLocks noChangeArrowheads="1"/>
            </p:cNvSpPr>
            <p:nvPr/>
          </p:nvSpPr>
          <p:spPr bwMode="auto">
            <a:xfrm>
              <a:off x="2592" y="2016"/>
              <a:ext cx="768" cy="336"/>
            </a:xfrm>
            <a:prstGeom prst="rightArrow">
              <a:avLst>
                <a:gd name="adj1" fmla="val 50000"/>
                <a:gd name="adj2" fmla="val 57143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76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76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AA82E328-4E32-4480-8A15-AF950873DA23}" type="slidenum">
              <a:rPr lang="zh-CN" altLang="en-US"/>
              <a:pPr/>
              <a:t>97</a:t>
            </a:fld>
            <a:endParaRPr lang="en-US" altLang="zh-CN"/>
          </a:p>
        </p:txBody>
      </p:sp>
      <p:sp>
        <p:nvSpPr>
          <p:cNvPr id="45060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2383FE3B-8D8F-4D3C-9556-94A33E4DC966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477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§4</a:t>
            </a:r>
            <a:r>
              <a:rPr lang="zh-CN" altLang="en-US" smtClean="0">
                <a:latin typeface="Times New Roman" pitchFamily="18" charset="0"/>
              </a:rPr>
              <a:t> 联立方程组的迭代解法</a:t>
            </a:r>
          </a:p>
        </p:txBody>
      </p:sp>
      <p:sp>
        <p:nvSpPr>
          <p:cNvPr id="450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219200"/>
            <a:ext cx="8142288" cy="99719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CN" altLang="en-US" sz="3600"/>
              <a:t>设</a:t>
            </a:r>
            <a:r>
              <a:rPr lang="en-US" altLang="zh-CN" sz="3600" i="1"/>
              <a:t>x</a:t>
            </a:r>
            <a:r>
              <a:rPr lang="en-US" altLang="zh-CN" sz="3600" i="1" baseline="30000"/>
              <a:t>(0)</a:t>
            </a:r>
            <a:r>
              <a:rPr lang="zh-CN" altLang="en-US" sz="3600"/>
              <a:t>=(</a:t>
            </a:r>
            <a:r>
              <a:rPr lang="en-US" altLang="zh-CN" sz="3600" i="1"/>
              <a:t>x</a:t>
            </a:r>
            <a:r>
              <a:rPr lang="en-US" altLang="zh-CN" sz="3600" i="1" baseline="-25000"/>
              <a:t>1</a:t>
            </a:r>
            <a:r>
              <a:rPr lang="en-US" altLang="zh-CN" sz="3600" i="1" baseline="30000"/>
              <a:t>(0)</a:t>
            </a:r>
            <a:r>
              <a:rPr lang="zh-CN" altLang="en-US" sz="3600"/>
              <a:t>, </a:t>
            </a:r>
            <a:r>
              <a:rPr lang="en-US" altLang="zh-CN" sz="3600" i="1"/>
              <a:t>x</a:t>
            </a:r>
            <a:r>
              <a:rPr lang="en-US" altLang="zh-CN" sz="3600" i="1" baseline="-25000"/>
              <a:t>2</a:t>
            </a:r>
            <a:r>
              <a:rPr lang="en-US" altLang="zh-CN" sz="3600" i="1" baseline="30000"/>
              <a:t>(0)</a:t>
            </a:r>
            <a:r>
              <a:rPr lang="zh-CN" altLang="en-US" sz="3600"/>
              <a:t>,…, </a:t>
            </a:r>
            <a:r>
              <a:rPr lang="en-US" altLang="zh-CN" sz="3600" i="1"/>
              <a:t>x</a:t>
            </a:r>
            <a:r>
              <a:rPr lang="en-US" altLang="zh-CN" sz="3600" i="1" baseline="-25000"/>
              <a:t>n</a:t>
            </a:r>
            <a:r>
              <a:rPr lang="en-US" altLang="zh-CN" sz="3600" i="1" baseline="30000"/>
              <a:t>(0)</a:t>
            </a:r>
            <a:r>
              <a:rPr lang="zh-CN" altLang="en-US" sz="3600"/>
              <a:t>)为根</a:t>
            </a:r>
            <a:r>
              <a:rPr lang="en-US" altLang="zh-CN" sz="3600" i="1"/>
              <a:t>x</a:t>
            </a:r>
            <a:r>
              <a:rPr lang="en-US" altLang="zh-CN" sz="3600" i="1" baseline="30000"/>
              <a:t>*</a:t>
            </a:r>
            <a:r>
              <a:rPr lang="zh-CN" altLang="en-US" sz="3600"/>
              <a:t>的零次近似</a:t>
            </a:r>
          </a:p>
        </p:txBody>
      </p:sp>
      <p:graphicFrame>
        <p:nvGraphicFramePr>
          <p:cNvPr id="477188" name="Object 4"/>
          <p:cNvGraphicFramePr>
            <a:graphicFrameLocks noChangeAspect="1"/>
          </p:cNvGraphicFramePr>
          <p:nvPr/>
        </p:nvGraphicFramePr>
        <p:xfrm>
          <a:off x="1447800" y="2243140"/>
          <a:ext cx="6400800" cy="296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00" name="Equation" r:id="rId4" imgW="2247840" imgH="1041120" progId="Equation.3">
                  <p:embed/>
                </p:oleObj>
              </mc:Choice>
              <mc:Fallback>
                <p:oleObj name="Equation" r:id="rId4" imgW="2247840" imgH="104112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243140"/>
                        <a:ext cx="6400800" cy="296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7189" name="Rectangle 5"/>
          <p:cNvSpPr>
            <a:spLocks noChangeArrowheads="1"/>
          </p:cNvSpPr>
          <p:nvPr/>
        </p:nvSpPr>
        <p:spPr bwMode="auto">
          <a:xfrm>
            <a:off x="609600" y="5410200"/>
            <a:ext cx="8142288" cy="997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258763" indent="-258763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</a:pPr>
            <a:r>
              <a:rPr lang="zh-CN" altLang="en-US" sz="3600">
                <a:latin typeface="Times New Roman" pitchFamily="18" charset="0"/>
              </a:rPr>
              <a:t>当</a:t>
            </a:r>
            <a:r>
              <a:rPr lang="en-US" altLang="zh-CN" sz="3600">
                <a:latin typeface="Times New Roman" pitchFamily="18" charset="0"/>
              </a:rPr>
              <a:t>n</a:t>
            </a:r>
            <a:r>
              <a:rPr lang="en-US" altLang="zh-CN" sz="3600">
                <a:latin typeface="Times New Roman" pitchFamily="18" charset="0"/>
                <a:sym typeface="Symbol" pitchFamily="18" charset="2"/>
              </a:rPr>
              <a:t>∞</a:t>
            </a:r>
            <a:r>
              <a:rPr lang="zh-CN" altLang="en-US" sz="3600">
                <a:latin typeface="Times New Roman" pitchFamily="18" charset="0"/>
                <a:sym typeface="Symbol" pitchFamily="18" charset="2"/>
              </a:rPr>
              <a:t>时， </a:t>
            </a:r>
            <a:r>
              <a:rPr lang="en-US" altLang="zh-CN" sz="3600" i="1">
                <a:latin typeface="Times New Roman" pitchFamily="18" charset="0"/>
              </a:rPr>
              <a:t>x</a:t>
            </a:r>
            <a:r>
              <a:rPr lang="en-US" altLang="zh-CN" sz="3600" i="1" baseline="-25000">
                <a:latin typeface="Times New Roman" pitchFamily="18" charset="0"/>
              </a:rPr>
              <a:t>i</a:t>
            </a:r>
            <a:r>
              <a:rPr lang="en-US" altLang="zh-CN" sz="3600" i="1" baseline="30000">
                <a:latin typeface="Times New Roman" pitchFamily="18" charset="0"/>
              </a:rPr>
              <a:t>(k)</a:t>
            </a:r>
            <a:r>
              <a:rPr lang="zh-CN" altLang="en-US" sz="3600">
                <a:latin typeface="Times New Roman" pitchFamily="18" charset="0"/>
              </a:rPr>
              <a:t>有极限</a:t>
            </a:r>
            <a:r>
              <a:rPr lang="en-US" altLang="zh-CN" sz="3600" i="1">
                <a:latin typeface="Times New Roman" pitchFamily="18" charset="0"/>
              </a:rPr>
              <a:t>x</a:t>
            </a:r>
            <a:r>
              <a:rPr lang="en-US" altLang="zh-CN" sz="3600" i="1" baseline="-25000">
                <a:latin typeface="Times New Roman" pitchFamily="18" charset="0"/>
              </a:rPr>
              <a:t>i</a:t>
            </a:r>
            <a:r>
              <a:rPr lang="en-US" altLang="zh-CN" sz="3600" i="1" baseline="30000">
                <a:latin typeface="Times New Roman" pitchFamily="18" charset="0"/>
              </a:rPr>
              <a:t>*</a:t>
            </a:r>
            <a:r>
              <a:rPr lang="zh-CN" altLang="en-US" sz="3600">
                <a:latin typeface="Times New Roman" pitchFamily="18" charset="0"/>
              </a:rPr>
              <a:t>存在，则</a:t>
            </a:r>
            <a:r>
              <a:rPr lang="en-US" altLang="zh-CN" sz="3600" i="1">
                <a:latin typeface="Times New Roman" pitchFamily="18" charset="0"/>
              </a:rPr>
              <a:t>x</a:t>
            </a:r>
            <a:r>
              <a:rPr lang="en-US" altLang="zh-CN" sz="3600" i="1" baseline="-25000">
                <a:latin typeface="Times New Roman" pitchFamily="18" charset="0"/>
              </a:rPr>
              <a:t>i</a:t>
            </a:r>
            <a:r>
              <a:rPr lang="en-US" altLang="zh-CN" sz="3600" i="1" baseline="30000">
                <a:latin typeface="Times New Roman" pitchFamily="18" charset="0"/>
              </a:rPr>
              <a:t>*</a:t>
            </a:r>
            <a:r>
              <a:rPr lang="zh-CN" altLang="en-US" sz="3600">
                <a:latin typeface="Times New Roman" pitchFamily="18" charset="0"/>
              </a:rPr>
              <a:t> 为所求根。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77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477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7189" grpId="0" autoUpdateAnimBg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D423FE95-43EC-4C0D-ADE2-D22A88002922}" type="slidenum">
              <a:rPr lang="zh-CN" altLang="en-US"/>
              <a:pPr/>
              <a:t>98</a:t>
            </a:fld>
            <a:endParaRPr lang="en-US" altLang="zh-CN"/>
          </a:p>
        </p:txBody>
      </p:sp>
      <p:sp>
        <p:nvSpPr>
          <p:cNvPr id="46085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55C1AF6E-34B3-4604-AC5C-508F0CCDF295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479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§4</a:t>
            </a:r>
            <a:r>
              <a:rPr lang="zh-CN" altLang="en-US" smtClean="0">
                <a:latin typeface="Times New Roman" pitchFamily="18" charset="0"/>
              </a:rPr>
              <a:t> 联立方程组的迭代解法</a:t>
            </a:r>
          </a:p>
        </p:txBody>
      </p:sp>
      <p:sp>
        <p:nvSpPr>
          <p:cNvPr id="460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5" y="1143000"/>
            <a:ext cx="8142287" cy="443198"/>
          </a:xfrm>
        </p:spPr>
        <p:txBody>
          <a:bodyPr/>
          <a:lstStyle/>
          <a:p>
            <a:r>
              <a:rPr lang="zh-CN" altLang="en-US" sz="3200"/>
              <a:t>设</a:t>
            </a:r>
            <a:r>
              <a:rPr lang="en-US" altLang="zh-CN" sz="3200"/>
              <a:t>R</a:t>
            </a:r>
            <a:r>
              <a:rPr lang="zh-CN" altLang="en-US" sz="3200"/>
              <a:t>为含根</a:t>
            </a:r>
            <a:r>
              <a:rPr lang="en-US" altLang="zh-CN" sz="3200" i="1"/>
              <a:t>x</a:t>
            </a:r>
            <a:r>
              <a:rPr lang="en-US" altLang="zh-CN" sz="3200" i="1" baseline="30000"/>
              <a:t>* </a:t>
            </a:r>
            <a:r>
              <a:rPr lang="zh-CN" altLang="en-US" sz="3200"/>
              <a:t>=(</a:t>
            </a:r>
            <a:r>
              <a:rPr lang="en-US" altLang="zh-CN" sz="3200" i="1"/>
              <a:t>x</a:t>
            </a:r>
            <a:r>
              <a:rPr lang="en-US" altLang="zh-CN" sz="3200" i="1" baseline="-25000"/>
              <a:t>1</a:t>
            </a:r>
            <a:r>
              <a:rPr lang="en-US" altLang="zh-CN" sz="3200" i="1" baseline="30000"/>
              <a:t>*</a:t>
            </a:r>
            <a:r>
              <a:rPr lang="zh-CN" altLang="en-US" sz="3200"/>
              <a:t>, </a:t>
            </a:r>
            <a:r>
              <a:rPr lang="en-US" altLang="zh-CN" sz="3200" i="1"/>
              <a:t>x</a:t>
            </a:r>
            <a:r>
              <a:rPr lang="en-US" altLang="zh-CN" sz="3200" i="1" baseline="-25000"/>
              <a:t>2</a:t>
            </a:r>
            <a:r>
              <a:rPr lang="en-US" altLang="zh-CN" sz="3200" i="1" baseline="30000"/>
              <a:t>*…, </a:t>
            </a:r>
            <a:r>
              <a:rPr lang="en-US" altLang="zh-CN" sz="3200" i="1"/>
              <a:t>x</a:t>
            </a:r>
            <a:r>
              <a:rPr lang="en-US" altLang="zh-CN" sz="3200" i="1" baseline="-25000"/>
              <a:t>n</a:t>
            </a:r>
            <a:r>
              <a:rPr lang="en-US" altLang="zh-CN" sz="3200" i="1" baseline="30000"/>
              <a:t>* </a:t>
            </a:r>
            <a:r>
              <a:rPr lang="zh-CN" altLang="en-US" sz="3200"/>
              <a:t>)的闭域，记</a:t>
            </a:r>
          </a:p>
        </p:txBody>
      </p:sp>
      <p:graphicFrame>
        <p:nvGraphicFramePr>
          <p:cNvPr id="479236" name="Object 4"/>
          <p:cNvGraphicFramePr>
            <a:graphicFrameLocks noChangeAspect="1"/>
          </p:cNvGraphicFramePr>
          <p:nvPr/>
        </p:nvGraphicFramePr>
        <p:xfrm>
          <a:off x="1835150" y="1628775"/>
          <a:ext cx="4724400" cy="169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61" name="Equation" r:id="rId4" imgW="1981080" imgH="711000" progId="Equation.3">
                  <p:embed/>
                </p:oleObj>
              </mc:Choice>
              <mc:Fallback>
                <p:oleObj name="Equation" r:id="rId4" imgW="1981080" imgH="711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1628775"/>
                        <a:ext cx="4724400" cy="169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9237" name="Object 5"/>
          <p:cNvGraphicFramePr>
            <a:graphicFrameLocks noChangeAspect="1"/>
          </p:cNvGraphicFramePr>
          <p:nvPr/>
        </p:nvGraphicFramePr>
        <p:xfrm>
          <a:off x="323852" y="3716338"/>
          <a:ext cx="8512175" cy="223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62" name="Equation" r:id="rId6" imgW="3314520" imgH="914400" progId="Equation.3">
                  <p:embed/>
                </p:oleObj>
              </mc:Choice>
              <mc:Fallback>
                <p:oleObj name="Equation" r:id="rId6" imgW="3314520" imgH="914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2" y="3716338"/>
                        <a:ext cx="8512175" cy="223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9238" name="Rectangle 6"/>
          <p:cNvSpPr>
            <a:spLocks noChangeArrowheads="1"/>
          </p:cNvSpPr>
          <p:nvPr/>
        </p:nvSpPr>
        <p:spPr bwMode="auto">
          <a:xfrm>
            <a:off x="228600" y="3284538"/>
            <a:ext cx="8915400" cy="443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258763" indent="-258763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</a:pPr>
            <a:r>
              <a:rPr lang="en-US" altLang="zh-CN" sz="3200">
                <a:latin typeface="黑体" pitchFamily="49" charset="-122"/>
                <a:ea typeface="黑体" pitchFamily="49" charset="-122"/>
              </a:rPr>
              <a:t>	</a:t>
            </a:r>
            <a:r>
              <a:rPr lang="zh-CN" altLang="en-US" sz="3200">
                <a:latin typeface="黑体" pitchFamily="49" charset="-122"/>
                <a:ea typeface="黑体" pitchFamily="49" charset="-122"/>
              </a:rPr>
              <a:t>有以下收敛的充分条件及相应的误差估计公式：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79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479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79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9238" grpId="0" autoUpdateAnimBg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02CCFF1F-CDDB-426C-98E1-D7ED945574BA}" type="slidenum">
              <a:rPr lang="zh-CN" altLang="en-US"/>
              <a:pPr/>
              <a:t>99</a:t>
            </a:fld>
            <a:endParaRPr lang="en-US" altLang="zh-CN"/>
          </a:p>
        </p:txBody>
      </p:sp>
      <p:sp>
        <p:nvSpPr>
          <p:cNvPr id="47109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170DE006-2CB6-40E3-A353-3F645CD5F856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481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§4</a:t>
            </a:r>
            <a:r>
              <a:rPr lang="zh-CN" altLang="en-US" smtClean="0">
                <a:latin typeface="Times New Roman" pitchFamily="18" charset="0"/>
              </a:rPr>
              <a:t> 联立方程组的迭代解法</a:t>
            </a:r>
          </a:p>
        </p:txBody>
      </p:sp>
      <p:sp>
        <p:nvSpPr>
          <p:cNvPr id="471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292225"/>
            <a:ext cx="8142288" cy="443198"/>
          </a:xfrm>
        </p:spPr>
        <p:txBody>
          <a:bodyPr/>
          <a:lstStyle/>
          <a:p>
            <a:r>
              <a:rPr lang="zh-CN" altLang="en-US" sz="3200"/>
              <a:t>充分条件1</a:t>
            </a:r>
          </a:p>
        </p:txBody>
      </p:sp>
      <p:graphicFrame>
        <p:nvGraphicFramePr>
          <p:cNvPr id="47106" name="Object 4"/>
          <p:cNvGraphicFramePr>
            <a:graphicFrameLocks noChangeAspect="1"/>
          </p:cNvGraphicFramePr>
          <p:nvPr/>
        </p:nvGraphicFramePr>
        <p:xfrm>
          <a:off x="1138240" y="1600200"/>
          <a:ext cx="4352925" cy="344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92" name="Equation" r:id="rId3" imgW="1168200" imgH="914400" progId="Equation.3">
                  <p:embed/>
                </p:oleObj>
              </mc:Choice>
              <mc:Fallback>
                <p:oleObj name="Equation" r:id="rId3" imgW="1168200" imgH="914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8240" y="1600200"/>
                        <a:ext cx="4352925" cy="344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285" name="AutoShape 5"/>
          <p:cNvSpPr>
            <a:spLocks noChangeArrowheads="1"/>
          </p:cNvSpPr>
          <p:nvPr/>
        </p:nvSpPr>
        <p:spPr bwMode="auto">
          <a:xfrm>
            <a:off x="1066800" y="1828800"/>
            <a:ext cx="4953000" cy="533400"/>
          </a:xfrm>
          <a:prstGeom prst="rightArrow">
            <a:avLst>
              <a:gd name="adj1" fmla="val 60713"/>
              <a:gd name="adj2" fmla="val 108333"/>
            </a:avLst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286" name="Rectangle 6"/>
          <p:cNvSpPr>
            <a:spLocks noChangeArrowheads="1"/>
          </p:cNvSpPr>
          <p:nvPr/>
        </p:nvSpPr>
        <p:spPr bwMode="auto">
          <a:xfrm>
            <a:off x="6076952" y="1676400"/>
            <a:ext cx="6000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i="1">
                <a:latin typeface="Times New Roman" pitchFamily="18" charset="0"/>
                <a:sym typeface="Symbol" pitchFamily="18" charset="2"/>
              </a:rPr>
              <a:t></a:t>
            </a:r>
            <a:r>
              <a:rPr lang="en-US" altLang="zh-CN" sz="3600" i="1" baseline="-25000">
                <a:latin typeface="Times New Roman" pitchFamily="18" charset="0"/>
                <a:sym typeface="Symbol" pitchFamily="18" charset="2"/>
              </a:rPr>
              <a:t>1</a:t>
            </a:r>
            <a:endParaRPr lang="zh-CN" altLang="en-US" sz="3600" i="1" baseline="-25000">
              <a:latin typeface="Times New Roman" pitchFamily="18" charset="0"/>
            </a:endParaRPr>
          </a:p>
        </p:txBody>
      </p:sp>
      <p:sp>
        <p:nvSpPr>
          <p:cNvPr id="481287" name="AutoShape 7"/>
          <p:cNvSpPr>
            <a:spLocks noChangeArrowheads="1"/>
          </p:cNvSpPr>
          <p:nvPr/>
        </p:nvSpPr>
        <p:spPr bwMode="auto">
          <a:xfrm>
            <a:off x="1066800" y="2667000"/>
            <a:ext cx="4953000" cy="533400"/>
          </a:xfrm>
          <a:prstGeom prst="rightArrow">
            <a:avLst>
              <a:gd name="adj1" fmla="val 60713"/>
              <a:gd name="adj2" fmla="val 108333"/>
            </a:avLst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288" name="Rectangle 8"/>
          <p:cNvSpPr>
            <a:spLocks noChangeArrowheads="1"/>
          </p:cNvSpPr>
          <p:nvPr/>
        </p:nvSpPr>
        <p:spPr bwMode="auto">
          <a:xfrm>
            <a:off x="6076952" y="2514600"/>
            <a:ext cx="6000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i="1">
                <a:latin typeface="Times New Roman" pitchFamily="18" charset="0"/>
                <a:sym typeface="Symbol" pitchFamily="18" charset="2"/>
              </a:rPr>
              <a:t></a:t>
            </a:r>
            <a:r>
              <a:rPr lang="en-US" altLang="zh-CN" sz="3600" i="1" baseline="-25000">
                <a:latin typeface="Times New Roman" pitchFamily="18" charset="0"/>
                <a:sym typeface="Symbol" pitchFamily="18" charset="2"/>
              </a:rPr>
              <a:t>2</a:t>
            </a:r>
            <a:endParaRPr lang="zh-CN" altLang="en-US" sz="3600" i="1" baseline="-25000">
              <a:latin typeface="Times New Roman" pitchFamily="18" charset="0"/>
            </a:endParaRPr>
          </a:p>
        </p:txBody>
      </p:sp>
      <p:sp>
        <p:nvSpPr>
          <p:cNvPr id="481289" name="AutoShape 9"/>
          <p:cNvSpPr>
            <a:spLocks noChangeArrowheads="1"/>
          </p:cNvSpPr>
          <p:nvPr/>
        </p:nvSpPr>
        <p:spPr bwMode="auto">
          <a:xfrm>
            <a:off x="1143000" y="4343400"/>
            <a:ext cx="4953000" cy="533400"/>
          </a:xfrm>
          <a:prstGeom prst="rightArrow">
            <a:avLst>
              <a:gd name="adj1" fmla="val 60713"/>
              <a:gd name="adj2" fmla="val 108333"/>
            </a:avLst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290" name="Rectangle 10"/>
          <p:cNvSpPr>
            <a:spLocks noChangeArrowheads="1"/>
          </p:cNvSpPr>
          <p:nvPr/>
        </p:nvSpPr>
        <p:spPr bwMode="auto">
          <a:xfrm>
            <a:off x="6145215" y="4191000"/>
            <a:ext cx="6175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i="1">
                <a:latin typeface="Times New Roman" pitchFamily="18" charset="0"/>
                <a:sym typeface="Symbol" pitchFamily="18" charset="2"/>
              </a:rPr>
              <a:t></a:t>
            </a:r>
            <a:r>
              <a:rPr lang="en-US" altLang="zh-CN" sz="3600" i="1" baseline="-25000">
                <a:latin typeface="Times New Roman" pitchFamily="18" charset="0"/>
                <a:sym typeface="Symbol" pitchFamily="18" charset="2"/>
              </a:rPr>
              <a:t>n</a:t>
            </a:r>
            <a:endParaRPr lang="zh-CN" altLang="en-US" sz="3600" i="1" baseline="-25000">
              <a:latin typeface="Times New Roman" pitchFamily="18" charset="0"/>
            </a:endParaRPr>
          </a:p>
        </p:txBody>
      </p:sp>
      <p:sp>
        <p:nvSpPr>
          <p:cNvPr id="481291" name="Rectangle 11"/>
          <p:cNvSpPr>
            <a:spLocks noChangeArrowheads="1"/>
          </p:cNvSpPr>
          <p:nvPr/>
        </p:nvSpPr>
        <p:spPr bwMode="auto">
          <a:xfrm>
            <a:off x="1079500" y="5257800"/>
            <a:ext cx="25019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3600" i="1">
                <a:latin typeface="Times New Roman" pitchFamily="18" charset="0"/>
                <a:sym typeface="Symbol" pitchFamily="18" charset="2"/>
              </a:rPr>
              <a:t>max</a:t>
            </a:r>
            <a:r>
              <a:rPr lang="en-US" altLang="zh-CN" sz="3600">
                <a:latin typeface="Times New Roman" pitchFamily="18" charset="0"/>
                <a:sym typeface="Symbol" pitchFamily="18" charset="2"/>
              </a:rPr>
              <a:t>{</a:t>
            </a:r>
            <a:r>
              <a:rPr lang="en-US" altLang="zh-CN" sz="3600" i="1">
                <a:latin typeface="Times New Roman" pitchFamily="18" charset="0"/>
                <a:sym typeface="Symbol" pitchFamily="18" charset="2"/>
              </a:rPr>
              <a:t></a:t>
            </a:r>
            <a:r>
              <a:rPr lang="en-US" altLang="zh-CN" sz="3600" i="1" baseline="-25000">
                <a:latin typeface="Times New Roman" pitchFamily="18" charset="0"/>
                <a:sym typeface="Symbol" pitchFamily="18" charset="2"/>
              </a:rPr>
              <a:t>i</a:t>
            </a:r>
            <a:r>
              <a:rPr lang="en-US" altLang="zh-CN" sz="3600">
                <a:latin typeface="Times New Roman" pitchFamily="18" charset="0"/>
                <a:sym typeface="Symbol" pitchFamily="18" charset="2"/>
              </a:rPr>
              <a:t>}&lt;1</a:t>
            </a:r>
            <a:endParaRPr lang="zh-CN" altLang="en-US" sz="3600">
              <a:latin typeface="Times New Roman" pitchFamily="18" charset="0"/>
            </a:endParaRPr>
          </a:p>
        </p:txBody>
      </p:sp>
      <p:graphicFrame>
        <p:nvGraphicFramePr>
          <p:cNvPr id="481292" name="Object 12"/>
          <p:cNvGraphicFramePr>
            <a:graphicFrameLocks noChangeAspect="1"/>
          </p:cNvGraphicFramePr>
          <p:nvPr/>
        </p:nvGraphicFramePr>
        <p:xfrm>
          <a:off x="4191002" y="5060950"/>
          <a:ext cx="4779963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93" name="Equation" r:id="rId5" imgW="1942920" imgH="444240" progId="Equation.3">
                  <p:embed/>
                </p:oleObj>
              </mc:Choice>
              <mc:Fallback>
                <p:oleObj name="Equation" r:id="rId5" imgW="1942920" imgH="4442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2" y="5060950"/>
                        <a:ext cx="4779963" cy="103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293" name="Rectangle 13"/>
          <p:cNvSpPr>
            <a:spLocks noChangeArrowheads="1"/>
          </p:cNvSpPr>
          <p:nvPr/>
        </p:nvSpPr>
        <p:spPr bwMode="auto">
          <a:xfrm>
            <a:off x="4900615" y="1295400"/>
            <a:ext cx="50958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>
                <a:latin typeface="Times New Roman" pitchFamily="18" charset="0"/>
                <a:sym typeface="Symbol" pitchFamily="18" charset="2"/>
              </a:rPr>
              <a:t></a:t>
            </a:r>
            <a:endParaRPr lang="zh-CN" altLang="en-US" sz="3600" baseline="-25000">
              <a:latin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1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81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81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81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81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81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81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81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81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81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81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81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285" grpId="0" animBg="1"/>
      <p:bldP spid="481286" grpId="0" autoUpdateAnimBg="0"/>
      <p:bldP spid="481287" grpId="0" animBg="1"/>
      <p:bldP spid="481288" grpId="0" autoUpdateAnimBg="0"/>
      <p:bldP spid="481289" grpId="0" animBg="1"/>
      <p:bldP spid="481290" grpId="0" autoUpdateAnimBg="0"/>
      <p:bldP spid="481291" grpId="0" autoUpdateAnimBg="0"/>
      <p:bldP spid="481293" grpId="0" autoUpdateAnimBg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3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8A416E2E-0EB7-4A8C-BE48-27D6CBC020A6}" type="slidenum">
              <a:rPr lang="zh-CN" altLang="en-US"/>
              <a:pPr/>
              <a:t>100</a:t>
            </a:fld>
            <a:endParaRPr lang="en-US" altLang="zh-CN"/>
          </a:p>
        </p:txBody>
      </p:sp>
      <p:sp>
        <p:nvSpPr>
          <p:cNvPr id="48134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B8AA1AE9-67CA-4DC9-9F4F-102E809A71EA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482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§4</a:t>
            </a:r>
            <a:r>
              <a:rPr lang="zh-CN" altLang="en-US" smtClean="0">
                <a:latin typeface="Times New Roman" pitchFamily="18" charset="0"/>
              </a:rPr>
              <a:t> 联立方程组的迭代解法</a:t>
            </a:r>
          </a:p>
        </p:txBody>
      </p:sp>
      <p:graphicFrame>
        <p:nvGraphicFramePr>
          <p:cNvPr id="48130" name="Object 3"/>
          <p:cNvGraphicFramePr>
            <a:graphicFrameLocks noChangeAspect="1"/>
          </p:cNvGraphicFramePr>
          <p:nvPr/>
        </p:nvGraphicFramePr>
        <p:xfrm>
          <a:off x="609602" y="914402"/>
          <a:ext cx="7800975" cy="147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51" name="Equation" r:id="rId3" imgW="3327120" imgH="660240" progId="Equation.3">
                  <p:embed/>
                </p:oleObj>
              </mc:Choice>
              <mc:Fallback>
                <p:oleObj name="Equation" r:id="rId3" imgW="3327120" imgH="6602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2" y="914402"/>
                        <a:ext cx="7800975" cy="1471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1" name="Object 4"/>
          <p:cNvGraphicFramePr>
            <a:graphicFrameLocks noChangeAspect="1"/>
          </p:cNvGraphicFramePr>
          <p:nvPr/>
        </p:nvGraphicFramePr>
        <p:xfrm>
          <a:off x="1803400" y="1651000"/>
          <a:ext cx="65786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52" name="Equation" r:id="rId5" imgW="2806560" imgH="444240" progId="Equation.3">
                  <p:embed/>
                </p:oleObj>
              </mc:Choice>
              <mc:Fallback>
                <p:oleObj name="Equation" r:id="rId5" imgW="2806560" imgH="4442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3400" y="1651000"/>
                        <a:ext cx="65786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2" name="Object 5"/>
          <p:cNvGraphicFramePr>
            <a:graphicFrameLocks noChangeAspect="1"/>
          </p:cNvGraphicFramePr>
          <p:nvPr/>
        </p:nvGraphicFramePr>
        <p:xfrm>
          <a:off x="2052640" y="2430463"/>
          <a:ext cx="4352925" cy="344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53" name="Equation" r:id="rId7" imgW="1168200" imgH="914400" progId="Equation.3">
                  <p:embed/>
                </p:oleObj>
              </mc:Choice>
              <mc:Fallback>
                <p:oleObj name="Equation" r:id="rId7" imgW="1168200" imgH="914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2640" y="2430463"/>
                        <a:ext cx="4352925" cy="344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2310" name="AutoShape 6"/>
          <p:cNvSpPr>
            <a:spLocks noChangeArrowheads="1"/>
          </p:cNvSpPr>
          <p:nvPr/>
        </p:nvSpPr>
        <p:spPr bwMode="auto">
          <a:xfrm rot="5400000">
            <a:off x="533400" y="4259263"/>
            <a:ext cx="3733800" cy="533400"/>
          </a:xfrm>
          <a:prstGeom prst="rightArrow">
            <a:avLst>
              <a:gd name="adj1" fmla="val 60713"/>
              <a:gd name="adj2" fmla="val 81667"/>
            </a:avLst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2311" name="Rectangle 7"/>
          <p:cNvSpPr>
            <a:spLocks noChangeArrowheads="1"/>
          </p:cNvSpPr>
          <p:nvPr/>
        </p:nvSpPr>
        <p:spPr bwMode="auto">
          <a:xfrm>
            <a:off x="2203450" y="6208713"/>
            <a:ext cx="539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i="1">
                <a:latin typeface="Times New Roman" pitchFamily="18" charset="0"/>
                <a:sym typeface="Symbol" pitchFamily="18" charset="2"/>
              </a:rPr>
              <a:t>v</a:t>
            </a:r>
            <a:r>
              <a:rPr lang="en-US" altLang="zh-CN" sz="3600" i="1" baseline="-25000">
                <a:latin typeface="Times New Roman" pitchFamily="18" charset="0"/>
                <a:sym typeface="Symbol" pitchFamily="18" charset="2"/>
              </a:rPr>
              <a:t>1</a:t>
            </a:r>
            <a:endParaRPr lang="zh-CN" altLang="en-US" sz="3600" i="1" baseline="-25000">
              <a:latin typeface="Times New Roman" pitchFamily="18" charset="0"/>
            </a:endParaRPr>
          </a:p>
        </p:txBody>
      </p:sp>
      <p:sp>
        <p:nvSpPr>
          <p:cNvPr id="482312" name="Rectangle 8"/>
          <p:cNvSpPr>
            <a:spLocks noChangeArrowheads="1"/>
          </p:cNvSpPr>
          <p:nvPr/>
        </p:nvSpPr>
        <p:spPr bwMode="auto">
          <a:xfrm>
            <a:off x="1447800" y="5249863"/>
            <a:ext cx="5095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>
                <a:latin typeface="Times New Roman" pitchFamily="18" charset="0"/>
                <a:sym typeface="Symbol" pitchFamily="18" charset="2"/>
              </a:rPr>
              <a:t></a:t>
            </a:r>
            <a:endParaRPr lang="zh-CN" altLang="en-US" sz="3600" baseline="-25000"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482313" name="AutoShape 9"/>
          <p:cNvSpPr>
            <a:spLocks noChangeArrowheads="1"/>
          </p:cNvSpPr>
          <p:nvPr/>
        </p:nvSpPr>
        <p:spPr bwMode="auto">
          <a:xfrm rot="5400000">
            <a:off x="1828800" y="4259263"/>
            <a:ext cx="3733800" cy="533400"/>
          </a:xfrm>
          <a:prstGeom prst="rightArrow">
            <a:avLst>
              <a:gd name="adj1" fmla="val 60713"/>
              <a:gd name="adj2" fmla="val 81667"/>
            </a:avLst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2314" name="Rectangle 10"/>
          <p:cNvSpPr>
            <a:spLocks noChangeArrowheads="1"/>
          </p:cNvSpPr>
          <p:nvPr/>
        </p:nvSpPr>
        <p:spPr bwMode="auto">
          <a:xfrm>
            <a:off x="3459163" y="6172200"/>
            <a:ext cx="539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i="1">
                <a:latin typeface="Times New Roman" pitchFamily="18" charset="0"/>
                <a:sym typeface="Symbol" pitchFamily="18" charset="2"/>
              </a:rPr>
              <a:t>v</a:t>
            </a:r>
            <a:r>
              <a:rPr lang="en-US" altLang="zh-CN" sz="3600" i="1" baseline="-25000">
                <a:latin typeface="Times New Roman" pitchFamily="18" charset="0"/>
                <a:sym typeface="Symbol" pitchFamily="18" charset="2"/>
              </a:rPr>
              <a:t>2</a:t>
            </a:r>
            <a:endParaRPr lang="zh-CN" altLang="en-US" sz="3600" i="1" baseline="-25000">
              <a:latin typeface="Times New Roman" pitchFamily="18" charset="0"/>
            </a:endParaRPr>
          </a:p>
        </p:txBody>
      </p:sp>
      <p:sp>
        <p:nvSpPr>
          <p:cNvPr id="482315" name="AutoShape 11"/>
          <p:cNvSpPr>
            <a:spLocks noChangeArrowheads="1"/>
          </p:cNvSpPr>
          <p:nvPr/>
        </p:nvSpPr>
        <p:spPr bwMode="auto">
          <a:xfrm rot="5400000">
            <a:off x="4038600" y="4259263"/>
            <a:ext cx="3733800" cy="533400"/>
          </a:xfrm>
          <a:prstGeom prst="rightArrow">
            <a:avLst>
              <a:gd name="adj1" fmla="val 60713"/>
              <a:gd name="adj2" fmla="val 81667"/>
            </a:avLst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2316" name="Rectangle 12"/>
          <p:cNvSpPr>
            <a:spLocks noChangeArrowheads="1"/>
          </p:cNvSpPr>
          <p:nvPr/>
        </p:nvSpPr>
        <p:spPr bwMode="auto">
          <a:xfrm>
            <a:off x="5668963" y="6216650"/>
            <a:ext cx="55721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i="1">
                <a:latin typeface="Times New Roman" pitchFamily="18" charset="0"/>
                <a:sym typeface="Symbol" pitchFamily="18" charset="2"/>
              </a:rPr>
              <a:t>v</a:t>
            </a:r>
            <a:r>
              <a:rPr lang="en-US" altLang="zh-CN" sz="3600" i="1" baseline="-25000">
                <a:latin typeface="Times New Roman" pitchFamily="18" charset="0"/>
                <a:sym typeface="Symbol" pitchFamily="18" charset="2"/>
              </a:rPr>
              <a:t>n</a:t>
            </a:r>
            <a:endParaRPr lang="zh-CN" altLang="en-US" sz="3600" i="1" baseline="-2500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2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82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82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82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82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82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82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2310" grpId="0" animBg="1"/>
      <p:bldP spid="482311" grpId="0" autoUpdateAnimBg="0"/>
      <p:bldP spid="482312" grpId="0" autoUpdateAnimBg="0"/>
      <p:bldP spid="482313" grpId="0" animBg="1"/>
      <p:bldP spid="482314" grpId="0" autoUpdateAnimBg="0"/>
      <p:bldP spid="482315" grpId="0" animBg="1"/>
      <p:bldP spid="482316" grpId="0" autoUpdateAnimBg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9F2AE59A-FF78-48EA-8C59-046A22DFD646}" type="slidenum">
              <a:rPr lang="zh-CN" altLang="en-US"/>
              <a:pPr/>
              <a:t>101</a:t>
            </a:fld>
            <a:endParaRPr lang="en-US" altLang="zh-CN"/>
          </a:p>
        </p:txBody>
      </p:sp>
      <p:sp>
        <p:nvSpPr>
          <p:cNvPr id="49156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5E7AACC9-B85F-4B0C-8FAA-B2A281E2CCC8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483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§4</a:t>
            </a:r>
            <a:r>
              <a:rPr lang="zh-CN" altLang="en-US" smtClean="0">
                <a:latin typeface="Times New Roman" pitchFamily="18" charset="0"/>
              </a:rPr>
              <a:t> 联立方程组的迭代解法</a:t>
            </a:r>
          </a:p>
        </p:txBody>
      </p:sp>
      <p:graphicFrame>
        <p:nvGraphicFramePr>
          <p:cNvPr id="49154" name="Object 3"/>
          <p:cNvGraphicFramePr>
            <a:graphicFrameLocks noChangeAspect="1"/>
          </p:cNvGraphicFramePr>
          <p:nvPr/>
        </p:nvGraphicFramePr>
        <p:xfrm>
          <a:off x="304800" y="1219200"/>
          <a:ext cx="8458200" cy="259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94" name="Equation" r:id="rId3" imgW="3187440" imgH="990360" progId="Equation.3">
                  <p:embed/>
                </p:oleObj>
              </mc:Choice>
              <mc:Fallback>
                <p:oleObj name="Equation" r:id="rId3" imgW="3187440" imgH="99036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219200"/>
                        <a:ext cx="8458200" cy="259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2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3AE27CF8-F6E3-4FC9-9002-7A8BE263B2F1}" type="slidenum">
              <a:rPr lang="zh-CN" altLang="en-US"/>
              <a:pPr/>
              <a:t>102</a:t>
            </a:fld>
            <a:endParaRPr lang="en-US" altLang="zh-CN"/>
          </a:p>
        </p:txBody>
      </p:sp>
      <p:sp>
        <p:nvSpPr>
          <p:cNvPr id="50183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D476A5BB-069E-4AC5-823D-9557B974CFDB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pic>
        <p:nvPicPr>
          <p:cNvPr id="50184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325" y="908052"/>
            <a:ext cx="2520950" cy="237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4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§4</a:t>
            </a:r>
            <a:r>
              <a:rPr lang="zh-CN" altLang="en-US" smtClean="0">
                <a:latin typeface="Times New Roman" pitchFamily="18" charset="0"/>
              </a:rPr>
              <a:t> 联立方程组的迭代解法</a:t>
            </a:r>
          </a:p>
        </p:txBody>
      </p:sp>
      <p:sp>
        <p:nvSpPr>
          <p:cNvPr id="501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143002"/>
            <a:ext cx="8142288" cy="384175"/>
          </a:xfrm>
        </p:spPr>
        <p:txBody>
          <a:bodyPr/>
          <a:lstStyle/>
          <a:p>
            <a:r>
              <a:rPr lang="zh-CN" altLang="en-US" smtClean="0"/>
              <a:t>例2.15</a:t>
            </a:r>
            <a:r>
              <a:rPr lang="en-US" altLang="zh-CN" smtClean="0"/>
              <a:t> </a:t>
            </a:r>
            <a:r>
              <a:rPr lang="zh-CN" altLang="en-US" smtClean="0"/>
              <a:t>求下列方程组的根</a:t>
            </a:r>
            <a:endParaRPr lang="en-US" altLang="zh-CN" smtClean="0"/>
          </a:p>
        </p:txBody>
      </p:sp>
      <p:graphicFrame>
        <p:nvGraphicFramePr>
          <p:cNvPr id="50178" name="Object 4"/>
          <p:cNvGraphicFramePr>
            <a:graphicFrameLocks noChangeAspect="1"/>
          </p:cNvGraphicFramePr>
          <p:nvPr/>
        </p:nvGraphicFramePr>
        <p:xfrm>
          <a:off x="684213" y="1412875"/>
          <a:ext cx="5334000" cy="131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32" name="Equation" r:id="rId5" imgW="2057400" imgH="507960" progId="Equation.3">
                  <p:embed/>
                </p:oleObj>
              </mc:Choice>
              <mc:Fallback>
                <p:oleObj name="Equation" r:id="rId5" imgW="2057400" imgH="5079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412875"/>
                        <a:ext cx="5334000" cy="131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7" name="Rectangle 5"/>
          <p:cNvSpPr>
            <a:spLocks noChangeArrowheads="1"/>
          </p:cNvSpPr>
          <p:nvPr/>
        </p:nvSpPr>
        <p:spPr bwMode="auto">
          <a:xfrm>
            <a:off x="468313" y="2997200"/>
            <a:ext cx="8305800" cy="92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258763" indent="-258763" algn="l" defTabSz="814388">
              <a:lnSpc>
                <a:spcPct val="90000"/>
              </a:lnSpc>
              <a:spcBef>
                <a:spcPts val="12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</a:pP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解：用画图法确定其中一根初值 (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x</a:t>
            </a:r>
            <a:r>
              <a:rPr lang="en-US" altLang="zh-CN" sz="2800" baseline="-25000">
                <a:latin typeface="Times New Roman" pitchFamily="18" charset="0"/>
                <a:ea typeface="黑体" pitchFamily="49" charset="-122"/>
              </a:rPr>
              <a:t>0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,</a:t>
            </a:r>
            <a:r>
              <a:rPr lang="en-US" altLang="zh-CN" sz="2800" i="1">
                <a:latin typeface="Times New Roman" pitchFamily="18" charset="0"/>
                <a:ea typeface="黑体" pitchFamily="49" charset="-122"/>
              </a:rPr>
              <a:t>y</a:t>
            </a:r>
            <a:r>
              <a:rPr lang="en-US" altLang="zh-CN" sz="2800" baseline="-25000">
                <a:latin typeface="Times New Roman" pitchFamily="18" charset="0"/>
                <a:ea typeface="黑体" pitchFamily="49" charset="-122"/>
              </a:rPr>
              <a:t>0</a:t>
            </a:r>
            <a:r>
              <a:rPr lang="en-US" altLang="zh-CN" sz="2800">
                <a:latin typeface="Times New Roman" pitchFamily="18" charset="0"/>
                <a:ea typeface="黑体" pitchFamily="49" charset="-122"/>
              </a:rPr>
              <a:t>)=(3.4,  2.2)</a:t>
            </a:r>
          </a:p>
          <a:p>
            <a:pPr marL="258763" indent="-258763" algn="l" defTabSz="814388">
              <a:lnSpc>
                <a:spcPct val="90000"/>
              </a:lnSpc>
              <a:spcBef>
                <a:spcPts val="1200"/>
              </a:spcBef>
              <a:buClr>
                <a:srgbClr val="27305F"/>
              </a:buClr>
              <a:buSzPct val="60000"/>
            </a:pPr>
            <a:r>
              <a:rPr lang="zh-CN" altLang="en-US" sz="2800">
                <a:latin typeface="Times New Roman" pitchFamily="18" charset="0"/>
                <a:ea typeface="黑体" pitchFamily="49" charset="-122"/>
              </a:rPr>
              <a:t>      方程组可以改写为</a:t>
            </a:r>
          </a:p>
        </p:txBody>
      </p:sp>
      <p:graphicFrame>
        <p:nvGraphicFramePr>
          <p:cNvPr id="484358" name="Object 6"/>
          <p:cNvGraphicFramePr>
            <a:graphicFrameLocks noChangeAspect="1"/>
          </p:cNvGraphicFramePr>
          <p:nvPr/>
        </p:nvGraphicFramePr>
        <p:xfrm>
          <a:off x="3851275" y="3284540"/>
          <a:ext cx="4495800" cy="168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33" name="Equation" r:id="rId7" imgW="1676160" imgH="685800" progId="Equation.3">
                  <p:embed/>
                </p:oleObj>
              </mc:Choice>
              <mc:Fallback>
                <p:oleObj name="Equation" r:id="rId7" imgW="1676160" imgH="685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3284540"/>
                        <a:ext cx="4495800" cy="168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4359" name="Object 7"/>
          <p:cNvGraphicFramePr>
            <a:graphicFrameLocks noChangeAspect="1"/>
          </p:cNvGraphicFramePr>
          <p:nvPr/>
        </p:nvGraphicFramePr>
        <p:xfrm>
          <a:off x="1258888" y="4756152"/>
          <a:ext cx="5257800" cy="109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34" name="Equation" r:id="rId9" imgW="1739880" imgH="419040" progId="Equation.3">
                  <p:embed/>
                </p:oleObj>
              </mc:Choice>
              <mc:Fallback>
                <p:oleObj name="Equation" r:id="rId9" imgW="1739880" imgH="4190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4756152"/>
                        <a:ext cx="5257800" cy="1090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4360" name="Object 8"/>
          <p:cNvGraphicFramePr>
            <a:graphicFrameLocks noChangeAspect="1"/>
          </p:cNvGraphicFramePr>
          <p:nvPr/>
        </p:nvGraphicFramePr>
        <p:xfrm>
          <a:off x="1763713" y="5778500"/>
          <a:ext cx="4392612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35" name="Equation" r:id="rId11" imgW="1523880" imgH="419040" progId="Equation.3">
                  <p:embed/>
                </p:oleObj>
              </mc:Choice>
              <mc:Fallback>
                <p:oleObj name="Equation" r:id="rId11" imgW="1523880" imgH="4190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5778500"/>
                        <a:ext cx="4392612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4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4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4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7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4CD1A062-0EA5-446D-ACE9-9D3138C9F962}" type="slidenum">
              <a:rPr lang="zh-CN" altLang="en-US"/>
              <a:pPr/>
              <a:t>103</a:t>
            </a:fld>
            <a:endParaRPr lang="en-US" altLang="zh-CN"/>
          </a:p>
        </p:txBody>
      </p:sp>
      <p:sp>
        <p:nvSpPr>
          <p:cNvPr id="51208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48416424-1B3C-4124-A250-234DAD4BEC62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§4</a:t>
            </a:r>
            <a:r>
              <a:rPr lang="zh-CN" altLang="en-US" smtClean="0">
                <a:latin typeface="Times New Roman" pitchFamily="18" charset="0"/>
              </a:rPr>
              <a:t> 联立方程组的迭代解法</a:t>
            </a:r>
          </a:p>
        </p:txBody>
      </p:sp>
      <p:graphicFrame>
        <p:nvGraphicFramePr>
          <p:cNvPr id="486403" name="Object 3"/>
          <p:cNvGraphicFramePr>
            <a:graphicFrameLocks noChangeAspect="1"/>
          </p:cNvGraphicFramePr>
          <p:nvPr/>
        </p:nvGraphicFramePr>
        <p:xfrm>
          <a:off x="457200" y="1905002"/>
          <a:ext cx="3792538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91" name="Equation" r:id="rId3" imgW="1371600" imgH="393480" progId="Equation.3">
                  <p:embed/>
                </p:oleObj>
              </mc:Choice>
              <mc:Fallback>
                <p:oleObj name="Equation" r:id="rId3" imgW="1371600" imgH="3934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905002"/>
                        <a:ext cx="3792538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3" name="Object 4"/>
          <p:cNvGraphicFramePr>
            <a:graphicFrameLocks noChangeAspect="1"/>
          </p:cNvGraphicFramePr>
          <p:nvPr/>
        </p:nvGraphicFramePr>
        <p:xfrm>
          <a:off x="228600" y="990600"/>
          <a:ext cx="8534400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92" name="Equation" r:id="rId5" imgW="3238200" imgH="419040" progId="Equation.3">
                  <p:embed/>
                </p:oleObj>
              </mc:Choice>
              <mc:Fallback>
                <p:oleObj name="Equation" r:id="rId5" imgW="3238200" imgH="419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990600"/>
                        <a:ext cx="8534400" cy="1123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6405" name="Object 5"/>
          <p:cNvGraphicFramePr>
            <a:graphicFrameLocks noChangeAspect="1"/>
          </p:cNvGraphicFramePr>
          <p:nvPr/>
        </p:nvGraphicFramePr>
        <p:xfrm>
          <a:off x="4648202" y="1981200"/>
          <a:ext cx="3827463" cy="114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93" name="Equation" r:id="rId7" imgW="1384200" imgH="419040" progId="Equation.3">
                  <p:embed/>
                </p:oleObj>
              </mc:Choice>
              <mc:Fallback>
                <p:oleObj name="Equation" r:id="rId7" imgW="1384200" imgH="4190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2" y="1981200"/>
                        <a:ext cx="3827463" cy="1144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6406" name="Object 6"/>
          <p:cNvGraphicFramePr>
            <a:graphicFrameLocks noChangeAspect="1"/>
          </p:cNvGraphicFramePr>
          <p:nvPr/>
        </p:nvGraphicFramePr>
        <p:xfrm>
          <a:off x="457202" y="2971802"/>
          <a:ext cx="3827463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94" name="Equation" r:id="rId9" imgW="1384200" imgH="393480" progId="Equation.3">
                  <p:embed/>
                </p:oleObj>
              </mc:Choice>
              <mc:Fallback>
                <p:oleObj name="Equation" r:id="rId9" imgW="1384200" imgH="3934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2" y="2971802"/>
                        <a:ext cx="3827463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6407" name="Object 7"/>
          <p:cNvGraphicFramePr>
            <a:graphicFrameLocks noChangeAspect="1"/>
          </p:cNvGraphicFramePr>
          <p:nvPr/>
        </p:nvGraphicFramePr>
        <p:xfrm>
          <a:off x="4724402" y="2971800"/>
          <a:ext cx="3440113" cy="114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95" name="Equation" r:id="rId11" imgW="1244520" imgH="419040" progId="Equation.3">
                  <p:embed/>
                </p:oleObj>
              </mc:Choice>
              <mc:Fallback>
                <p:oleObj name="Equation" r:id="rId11" imgW="1244520" imgH="4190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2" y="2971800"/>
                        <a:ext cx="3440113" cy="1144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6408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1908175" y="4149725"/>
            <a:ext cx="6618288" cy="2412968"/>
          </a:xfrm>
          <a:noFill/>
        </p:spPr>
        <p:txBody>
          <a:bodyPr/>
          <a:lstStyle/>
          <a:p>
            <a:pPr>
              <a:lnSpc>
                <a:spcPct val="70000"/>
              </a:lnSpc>
              <a:buFont typeface="Wingdings" pitchFamily="2" charset="2"/>
              <a:buNone/>
            </a:pPr>
            <a:r>
              <a:rPr lang="zh-CN" altLang="en-US" sz="3200"/>
              <a:t>按照充分条件2判断：</a:t>
            </a:r>
          </a:p>
          <a:p>
            <a:pPr>
              <a:lnSpc>
                <a:spcPct val="70000"/>
              </a:lnSpc>
              <a:buFont typeface="Wingdings" pitchFamily="2" charset="2"/>
              <a:buNone/>
            </a:pPr>
            <a:r>
              <a:rPr lang="zh-CN" altLang="en-US" smtClean="0"/>
              <a:t>		</a:t>
            </a:r>
            <a:r>
              <a:rPr lang="en-US" altLang="zh-CN" sz="3200"/>
              <a:t>v</a:t>
            </a:r>
            <a:r>
              <a:rPr lang="en-US" altLang="zh-CN" sz="3200" baseline="-25000"/>
              <a:t>1</a:t>
            </a:r>
            <a:r>
              <a:rPr lang="en-US" altLang="zh-CN" sz="3200"/>
              <a:t>=a</a:t>
            </a:r>
            <a:r>
              <a:rPr lang="en-US" altLang="zh-CN" sz="3200" baseline="-25000"/>
              <a:t>11</a:t>
            </a:r>
            <a:r>
              <a:rPr lang="en-US" altLang="zh-CN" sz="3200"/>
              <a:t>+a</a:t>
            </a:r>
            <a:r>
              <a:rPr lang="en-US" altLang="zh-CN" sz="3200" baseline="-25000"/>
              <a:t>21</a:t>
            </a:r>
            <a:r>
              <a:rPr lang="en-US" altLang="zh-CN" sz="3200">
                <a:sym typeface="Symbol" pitchFamily="18" charset="2"/>
              </a:rPr>
              <a:t>2.3</a:t>
            </a:r>
          </a:p>
          <a:p>
            <a:pPr>
              <a:lnSpc>
                <a:spcPct val="70000"/>
              </a:lnSpc>
              <a:buFont typeface="Wingdings" pitchFamily="2" charset="2"/>
              <a:buNone/>
            </a:pPr>
            <a:r>
              <a:rPr lang="zh-CN" altLang="en-US" sz="3200"/>
              <a:t>		</a:t>
            </a:r>
            <a:r>
              <a:rPr lang="en-US" altLang="zh-CN" sz="3200"/>
              <a:t>v</a:t>
            </a:r>
            <a:r>
              <a:rPr lang="en-US" altLang="zh-CN" sz="3200" baseline="-25000"/>
              <a:t>2</a:t>
            </a:r>
            <a:r>
              <a:rPr lang="en-US" altLang="zh-CN" sz="3200"/>
              <a:t>=a</a:t>
            </a:r>
            <a:r>
              <a:rPr lang="en-US" altLang="zh-CN" sz="3200" baseline="-25000"/>
              <a:t>12</a:t>
            </a:r>
            <a:r>
              <a:rPr lang="en-US" altLang="zh-CN" sz="3200"/>
              <a:t>+a</a:t>
            </a:r>
            <a:r>
              <a:rPr lang="en-US" altLang="zh-CN" sz="3200" baseline="-25000"/>
              <a:t>22</a:t>
            </a:r>
            <a:r>
              <a:rPr lang="en-US" altLang="zh-CN" sz="3200">
                <a:sym typeface="Symbol" pitchFamily="18" charset="2"/>
              </a:rPr>
              <a:t>4.4</a:t>
            </a:r>
          </a:p>
          <a:p>
            <a:pPr>
              <a:lnSpc>
                <a:spcPct val="70000"/>
              </a:lnSpc>
              <a:buFont typeface="Wingdings" pitchFamily="2" charset="2"/>
              <a:buNone/>
            </a:pPr>
            <a:r>
              <a:rPr lang="en-US" altLang="zh-CN" sz="3200">
                <a:sym typeface="Symbol" pitchFamily="18" charset="2"/>
              </a:rPr>
              <a:t>        v=max(</a:t>
            </a:r>
            <a:r>
              <a:rPr lang="en-US" altLang="zh-CN" sz="3200"/>
              <a:t>v</a:t>
            </a:r>
            <a:r>
              <a:rPr lang="en-US" altLang="zh-CN" sz="3200" baseline="-25000"/>
              <a:t>1</a:t>
            </a:r>
            <a:r>
              <a:rPr lang="en-US" altLang="zh-CN" sz="3200">
                <a:sym typeface="Symbol" pitchFamily="18" charset="2"/>
              </a:rPr>
              <a:t>, </a:t>
            </a:r>
            <a:r>
              <a:rPr lang="en-US" altLang="zh-CN" sz="3200"/>
              <a:t>v</a:t>
            </a:r>
            <a:r>
              <a:rPr lang="en-US" altLang="zh-CN" sz="3200" baseline="-25000"/>
              <a:t>2</a:t>
            </a:r>
            <a:r>
              <a:rPr lang="en-US" altLang="zh-CN" sz="3200">
                <a:sym typeface="Symbol" pitchFamily="18" charset="2"/>
              </a:rPr>
              <a:t>) 4.4&gt;1</a:t>
            </a:r>
          </a:p>
          <a:p>
            <a:pPr>
              <a:lnSpc>
                <a:spcPct val="70000"/>
              </a:lnSpc>
              <a:buFont typeface="Wingdings" pitchFamily="2" charset="2"/>
              <a:buNone/>
            </a:pPr>
            <a:r>
              <a:rPr lang="zh-CN" altLang="en-US" sz="3200">
                <a:sym typeface="Symbol" pitchFamily="18" charset="2"/>
              </a:rPr>
              <a:t>因为</a:t>
            </a:r>
            <a:r>
              <a:rPr lang="en-US" altLang="zh-CN" sz="3200">
                <a:sym typeface="Symbol" pitchFamily="18" charset="2"/>
              </a:rPr>
              <a:t>v &gt;1，</a:t>
            </a:r>
            <a:r>
              <a:rPr lang="zh-CN" altLang="en-US" sz="3200">
                <a:sym typeface="Symbol" pitchFamily="18" charset="2"/>
              </a:rPr>
              <a:t>可能不收敛。</a:t>
            </a:r>
            <a:endParaRPr lang="zh-CN" altLang="en-US" sz="3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86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86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86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86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75"/>
                                        <p:tgtEl>
                                          <p:spTgt spid="4864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75"/>
                                        <p:tgtEl>
                                          <p:spTgt spid="4864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75"/>
                                        <p:tgtEl>
                                          <p:spTgt spid="4864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75"/>
                                        <p:tgtEl>
                                          <p:spTgt spid="4864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75"/>
                                        <p:tgtEl>
                                          <p:spTgt spid="4864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6408" grpId="0" build="p" bldLvl="2" autoUpdateAnimBg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35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E7F9F5C6-D86B-47CA-8A5E-AB6424819212}" type="slidenum">
              <a:rPr lang="zh-CN" altLang="en-US"/>
              <a:pPr/>
              <a:t>104</a:t>
            </a:fld>
            <a:endParaRPr lang="en-US" altLang="zh-CN"/>
          </a:p>
        </p:txBody>
      </p:sp>
      <p:sp>
        <p:nvSpPr>
          <p:cNvPr id="52236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21916BF4-AA22-4242-A297-01FCE7033A4B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487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§4</a:t>
            </a:r>
            <a:r>
              <a:rPr lang="zh-CN" altLang="en-US" smtClean="0">
                <a:latin typeface="Times New Roman" pitchFamily="18" charset="0"/>
              </a:rPr>
              <a:t> 联立方程组的迭代解法</a:t>
            </a:r>
          </a:p>
        </p:txBody>
      </p:sp>
      <p:sp>
        <p:nvSpPr>
          <p:cNvPr id="522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19200"/>
            <a:ext cx="8142288" cy="443198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zh-CN" altLang="en-US" sz="3200"/>
              <a:t>方程组重新改写为</a:t>
            </a:r>
          </a:p>
        </p:txBody>
      </p:sp>
      <p:graphicFrame>
        <p:nvGraphicFramePr>
          <p:cNvPr id="52226" name="Object 4"/>
          <p:cNvGraphicFramePr>
            <a:graphicFrameLocks noChangeAspect="1"/>
          </p:cNvGraphicFramePr>
          <p:nvPr/>
        </p:nvGraphicFramePr>
        <p:xfrm>
          <a:off x="3962400" y="990602"/>
          <a:ext cx="4876800" cy="178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63" name="Equation" r:id="rId3" imgW="1892160" imgH="736560" progId="Equation.3">
                  <p:embed/>
                </p:oleObj>
              </mc:Choice>
              <mc:Fallback>
                <p:oleObj name="Equation" r:id="rId3" imgW="1892160" imgH="7365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990602"/>
                        <a:ext cx="4876800" cy="178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7429" name="Object 5"/>
          <p:cNvGraphicFramePr>
            <a:graphicFrameLocks noChangeAspect="1"/>
          </p:cNvGraphicFramePr>
          <p:nvPr/>
        </p:nvGraphicFramePr>
        <p:xfrm>
          <a:off x="533402" y="2514600"/>
          <a:ext cx="3535363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64" name="Equation" r:id="rId5" imgW="1600200" imgH="482400" progId="Equation.3">
                  <p:embed/>
                </p:oleObj>
              </mc:Choice>
              <mc:Fallback>
                <p:oleObj name="Equation" r:id="rId5" imgW="1600200" imgH="482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2" y="2514600"/>
                        <a:ext cx="3535363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7430" name="Object 6"/>
          <p:cNvGraphicFramePr>
            <a:graphicFrameLocks noChangeAspect="1"/>
          </p:cNvGraphicFramePr>
          <p:nvPr/>
        </p:nvGraphicFramePr>
        <p:xfrm>
          <a:off x="4267200" y="2667000"/>
          <a:ext cx="3170238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65" name="Equation" r:id="rId7" imgW="1434960" imgH="482400" progId="Equation.3">
                  <p:embed/>
                </p:oleObj>
              </mc:Choice>
              <mc:Fallback>
                <p:oleObj name="Equation" r:id="rId7" imgW="1434960" imgH="482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2667000"/>
                        <a:ext cx="3170238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7431" name="Object 7"/>
          <p:cNvGraphicFramePr>
            <a:graphicFrameLocks noChangeAspect="1"/>
          </p:cNvGraphicFramePr>
          <p:nvPr/>
        </p:nvGraphicFramePr>
        <p:xfrm>
          <a:off x="1066800" y="3429002"/>
          <a:ext cx="2890838" cy="1376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66" name="Equation" r:id="rId9" imgW="1307880" imgH="622080" progId="Equation.3">
                  <p:embed/>
                </p:oleObj>
              </mc:Choice>
              <mc:Fallback>
                <p:oleObj name="Equation" r:id="rId9" imgW="1307880" imgH="6220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429002"/>
                        <a:ext cx="2890838" cy="1376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7432" name="Object 8"/>
          <p:cNvGraphicFramePr>
            <a:graphicFrameLocks noChangeAspect="1"/>
          </p:cNvGraphicFramePr>
          <p:nvPr/>
        </p:nvGraphicFramePr>
        <p:xfrm>
          <a:off x="4343400" y="3733802"/>
          <a:ext cx="1206500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67" name="Equation" r:id="rId11" imgW="545760" imgH="419040" progId="Equation.3">
                  <p:embed/>
                </p:oleObj>
              </mc:Choice>
              <mc:Fallback>
                <p:oleObj name="Equation" r:id="rId11" imgW="545760" imgH="4190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3733802"/>
                        <a:ext cx="1206500" cy="92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7433" name="Object 9"/>
          <p:cNvGraphicFramePr>
            <a:graphicFrameLocks noChangeAspect="1"/>
          </p:cNvGraphicFramePr>
          <p:nvPr/>
        </p:nvGraphicFramePr>
        <p:xfrm>
          <a:off x="742950" y="4725988"/>
          <a:ext cx="3829050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68" name="Equation" r:id="rId13" imgW="1523880" imgH="393480" progId="Equation.3">
                  <p:embed/>
                </p:oleObj>
              </mc:Choice>
              <mc:Fallback>
                <p:oleObj name="Equation" r:id="rId13" imgW="1523880" imgH="39348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950" y="4725988"/>
                        <a:ext cx="3829050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7434" name="Object 10"/>
          <p:cNvGraphicFramePr>
            <a:graphicFrameLocks noChangeAspect="1"/>
          </p:cNvGraphicFramePr>
          <p:nvPr/>
        </p:nvGraphicFramePr>
        <p:xfrm>
          <a:off x="4749800" y="4740277"/>
          <a:ext cx="3860800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69" name="Equation" r:id="rId15" imgW="1536480" imgH="419040" progId="Equation.3">
                  <p:embed/>
                </p:oleObj>
              </mc:Choice>
              <mc:Fallback>
                <p:oleObj name="Equation" r:id="rId15" imgW="1536480" imgH="4190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9800" y="4740277"/>
                        <a:ext cx="3860800" cy="1020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7435" name="Object 11"/>
          <p:cNvGraphicFramePr>
            <a:graphicFrameLocks noChangeAspect="1"/>
          </p:cNvGraphicFramePr>
          <p:nvPr/>
        </p:nvGraphicFramePr>
        <p:xfrm>
          <a:off x="838200" y="5564188"/>
          <a:ext cx="3860800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70" name="Equation" r:id="rId17" imgW="1536480" imgH="393480" progId="Equation.3">
                  <p:embed/>
                </p:oleObj>
              </mc:Choice>
              <mc:Fallback>
                <p:oleObj name="Equation" r:id="rId17" imgW="1536480" imgH="3934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5564188"/>
                        <a:ext cx="3860800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7436" name="Object 12"/>
          <p:cNvGraphicFramePr>
            <a:graphicFrameLocks noChangeAspect="1"/>
          </p:cNvGraphicFramePr>
          <p:nvPr/>
        </p:nvGraphicFramePr>
        <p:xfrm>
          <a:off x="4797427" y="5532438"/>
          <a:ext cx="3127375" cy="102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71" name="Equation" r:id="rId19" imgW="1244520" imgH="419040" progId="Equation.3">
                  <p:embed/>
                </p:oleObj>
              </mc:Choice>
              <mc:Fallback>
                <p:oleObj name="Equation" r:id="rId19" imgW="1244520" imgH="4190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7427" y="5532438"/>
                        <a:ext cx="3127375" cy="1020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7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7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7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87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7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87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87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87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1C191D2A-7C92-41B3-9067-B0B7317371D1}" type="slidenum">
              <a:rPr lang="zh-CN" altLang="en-US"/>
              <a:pPr/>
              <a:t>105</a:t>
            </a:fld>
            <a:endParaRPr lang="en-US" altLang="zh-CN"/>
          </a:p>
        </p:txBody>
      </p:sp>
      <p:sp>
        <p:nvSpPr>
          <p:cNvPr id="53252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D3EA3EB3-EBF3-4D7C-8E75-649EB1021E98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488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§4</a:t>
            </a:r>
            <a:r>
              <a:rPr lang="zh-CN" altLang="en-US" smtClean="0">
                <a:latin typeface="Times New Roman" pitchFamily="18" charset="0"/>
              </a:rPr>
              <a:t> 联立方程组的迭代解法</a:t>
            </a:r>
          </a:p>
        </p:txBody>
      </p:sp>
      <p:graphicFrame>
        <p:nvGraphicFramePr>
          <p:cNvPr id="488451" name="Object 3"/>
          <p:cNvGraphicFramePr>
            <a:graphicFrameLocks noChangeAspect="1"/>
          </p:cNvGraphicFramePr>
          <p:nvPr/>
        </p:nvGraphicFramePr>
        <p:xfrm>
          <a:off x="1752602" y="3657602"/>
          <a:ext cx="4568825" cy="185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92" name="Equation" r:id="rId3" imgW="1879560" imgH="761760" progId="Equation.3">
                  <p:embed/>
                </p:oleObj>
              </mc:Choice>
              <mc:Fallback>
                <p:oleObj name="Equation" r:id="rId3" imgW="1879560" imgH="76176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2" y="3657602"/>
                        <a:ext cx="4568825" cy="185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8452" name="Rectangle 4"/>
          <p:cNvSpPr>
            <a:spLocks noChangeArrowheads="1"/>
          </p:cNvSpPr>
          <p:nvPr/>
        </p:nvSpPr>
        <p:spPr bwMode="auto">
          <a:xfrm>
            <a:off x="620715" y="5788025"/>
            <a:ext cx="8142287" cy="443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258763" indent="-258763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</a:pPr>
            <a:r>
              <a:rPr lang="zh-CN" altLang="en-US" sz="3200">
                <a:latin typeface="Times New Roman" pitchFamily="18" charset="0"/>
              </a:rPr>
              <a:t>计算结果为</a:t>
            </a:r>
            <a:r>
              <a:rPr lang="en-US" altLang="zh-CN" sz="3200" i="1">
                <a:latin typeface="Times New Roman" pitchFamily="18" charset="0"/>
              </a:rPr>
              <a:t>x</a:t>
            </a:r>
            <a:r>
              <a:rPr lang="en-US" altLang="zh-CN" sz="3200">
                <a:latin typeface="Times New Roman" pitchFamily="18" charset="0"/>
              </a:rPr>
              <a:t>*=3.487,  </a:t>
            </a:r>
            <a:r>
              <a:rPr lang="en-US" altLang="zh-CN" sz="3200" i="1">
                <a:latin typeface="Times New Roman" pitchFamily="18" charset="0"/>
              </a:rPr>
              <a:t>y</a:t>
            </a:r>
            <a:r>
              <a:rPr lang="en-US" altLang="zh-CN" sz="3200">
                <a:latin typeface="Times New Roman" pitchFamily="18" charset="0"/>
              </a:rPr>
              <a:t>*=2.262。</a:t>
            </a:r>
          </a:p>
        </p:txBody>
      </p:sp>
      <p:sp>
        <p:nvSpPr>
          <p:cNvPr id="5325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00075" y="1143000"/>
            <a:ext cx="8142288" cy="2289858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sz="3200"/>
              <a:t> </a:t>
            </a:r>
            <a:r>
              <a:rPr lang="zh-CN" altLang="en-US" sz="3200"/>
              <a:t>则  </a:t>
            </a:r>
            <a:r>
              <a:rPr lang="en-US" altLang="zh-CN" sz="3200"/>
              <a:t>v</a:t>
            </a:r>
            <a:r>
              <a:rPr lang="en-US" altLang="zh-CN" sz="3200" baseline="-25000"/>
              <a:t>1</a:t>
            </a:r>
            <a:r>
              <a:rPr lang="en-US" altLang="zh-CN" sz="3200"/>
              <a:t>=a</a:t>
            </a:r>
            <a:r>
              <a:rPr lang="en-US" altLang="zh-CN" sz="3200" baseline="-25000"/>
              <a:t>11</a:t>
            </a:r>
            <a:r>
              <a:rPr lang="en-US" altLang="zh-CN" sz="3200"/>
              <a:t>+a</a:t>
            </a:r>
            <a:r>
              <a:rPr lang="en-US" altLang="zh-CN" sz="3200" baseline="-25000"/>
              <a:t>21</a:t>
            </a:r>
            <a:r>
              <a:rPr lang="en-US" altLang="zh-CN" sz="3200">
                <a:sym typeface="Symbol" pitchFamily="18" charset="2"/>
              </a:rPr>
              <a:t>0.834</a:t>
            </a:r>
          </a:p>
          <a:p>
            <a:pPr>
              <a:buFont typeface="Wingdings" pitchFamily="2" charset="2"/>
              <a:buNone/>
            </a:pPr>
            <a:r>
              <a:rPr lang="zh-CN" altLang="en-US" sz="3200"/>
              <a:t>		</a:t>
            </a:r>
            <a:r>
              <a:rPr lang="en-US" altLang="zh-CN" sz="3200"/>
              <a:t>v</a:t>
            </a:r>
            <a:r>
              <a:rPr lang="en-US" altLang="zh-CN" sz="3200" baseline="-25000"/>
              <a:t>2</a:t>
            </a:r>
            <a:r>
              <a:rPr lang="en-US" altLang="zh-CN" sz="3200"/>
              <a:t>=a</a:t>
            </a:r>
            <a:r>
              <a:rPr lang="en-US" altLang="zh-CN" sz="3200" baseline="-25000"/>
              <a:t>12</a:t>
            </a:r>
            <a:r>
              <a:rPr lang="en-US" altLang="zh-CN" sz="3200"/>
              <a:t>+a</a:t>
            </a:r>
            <a:r>
              <a:rPr lang="en-US" altLang="zh-CN" sz="3200" baseline="-25000"/>
              <a:t>22</a:t>
            </a:r>
            <a:r>
              <a:rPr lang="en-US" altLang="zh-CN" sz="3200">
                <a:sym typeface="Symbol" pitchFamily="18" charset="2"/>
              </a:rPr>
              <a:t>0.248</a:t>
            </a:r>
          </a:p>
          <a:p>
            <a:pPr>
              <a:buFont typeface="Wingdings" pitchFamily="2" charset="2"/>
              <a:buNone/>
            </a:pPr>
            <a:r>
              <a:rPr lang="en-US" altLang="zh-CN" sz="3200">
                <a:sym typeface="Symbol" pitchFamily="18" charset="2"/>
              </a:rPr>
              <a:t>        v=max(</a:t>
            </a:r>
            <a:r>
              <a:rPr lang="en-US" altLang="zh-CN" sz="3200"/>
              <a:t>v</a:t>
            </a:r>
            <a:r>
              <a:rPr lang="en-US" altLang="zh-CN" sz="3200" baseline="-25000"/>
              <a:t>1</a:t>
            </a:r>
            <a:r>
              <a:rPr lang="en-US" altLang="zh-CN" sz="3200">
                <a:sym typeface="Symbol" pitchFamily="18" charset="2"/>
              </a:rPr>
              <a:t>, </a:t>
            </a:r>
            <a:r>
              <a:rPr lang="en-US" altLang="zh-CN" sz="3200"/>
              <a:t>v</a:t>
            </a:r>
            <a:r>
              <a:rPr lang="en-US" altLang="zh-CN" sz="3200" baseline="-25000"/>
              <a:t>2</a:t>
            </a:r>
            <a:r>
              <a:rPr lang="en-US" altLang="zh-CN" sz="3200">
                <a:sym typeface="Symbol" pitchFamily="18" charset="2"/>
              </a:rPr>
              <a:t>) 0.834&lt;1</a:t>
            </a:r>
          </a:p>
          <a:p>
            <a:pPr>
              <a:buFont typeface="Wingdings" pitchFamily="2" charset="2"/>
              <a:buNone/>
            </a:pPr>
            <a:r>
              <a:rPr lang="zh-CN" altLang="en-US" sz="3200"/>
              <a:t>符合充分条件2，按照下式一定收敛。</a:t>
            </a:r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88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8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8452" grpId="0" autoUpdateAnimBg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灯片编号占位符 2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DEFE2B53-544F-4A9C-B9F0-9610D54027E5}" type="slidenum">
              <a:rPr lang="zh-CN" altLang="en-US"/>
              <a:pPr/>
              <a:t>106</a:t>
            </a:fld>
            <a:endParaRPr lang="en-US" altLang="zh-CN"/>
          </a:p>
        </p:txBody>
      </p:sp>
      <p:sp>
        <p:nvSpPr>
          <p:cNvPr id="98307" name="日期占位符 3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C9DBF9D2-CD50-4E9F-9E96-5460EA2FF19A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grpSp>
        <p:nvGrpSpPr>
          <p:cNvPr id="98308" name="Group 2"/>
          <p:cNvGrpSpPr>
            <a:grpSpLocks/>
          </p:cNvGrpSpPr>
          <p:nvPr/>
        </p:nvGrpSpPr>
        <p:grpSpPr bwMode="auto">
          <a:xfrm>
            <a:off x="555625" y="2036763"/>
            <a:ext cx="7945438" cy="2608262"/>
            <a:chOff x="350" y="1283"/>
            <a:chExt cx="5005" cy="1643"/>
          </a:xfrm>
        </p:grpSpPr>
        <p:sp>
          <p:nvSpPr>
            <p:cNvPr id="98310" name="Rectangle 3"/>
            <p:cNvSpPr>
              <a:spLocks noChangeArrowheads="1"/>
            </p:cNvSpPr>
            <p:nvPr/>
          </p:nvSpPr>
          <p:spPr bwMode="auto">
            <a:xfrm>
              <a:off x="483" y="1981"/>
              <a:ext cx="4780" cy="252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8311" name="Rectangle 4"/>
            <p:cNvSpPr>
              <a:spLocks noChangeArrowheads="1"/>
            </p:cNvSpPr>
            <p:nvPr/>
          </p:nvSpPr>
          <p:spPr bwMode="auto">
            <a:xfrm>
              <a:off x="362" y="1283"/>
              <a:ext cx="125" cy="1642"/>
            </a:xfrm>
            <a:prstGeom prst="rect">
              <a:avLst/>
            </a:prstGeom>
            <a:gradFill rotWithShape="0">
              <a:gsLst>
                <a:gs pos="0">
                  <a:srgbClr val="E2E2E2"/>
                </a:gs>
                <a:gs pos="100000">
                  <a:srgbClr val="83838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312" name="Rectangle 5"/>
            <p:cNvSpPr>
              <a:spLocks noChangeArrowheads="1"/>
            </p:cNvSpPr>
            <p:nvPr/>
          </p:nvSpPr>
          <p:spPr bwMode="auto">
            <a:xfrm>
              <a:off x="5218" y="1283"/>
              <a:ext cx="133" cy="1642"/>
            </a:xfrm>
            <a:prstGeom prst="rect">
              <a:avLst/>
            </a:prstGeom>
            <a:gradFill rotWithShape="0">
              <a:gsLst>
                <a:gs pos="0">
                  <a:srgbClr val="E2E2E2"/>
                </a:gs>
                <a:gs pos="100000">
                  <a:srgbClr val="83838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313" name="AutoShape 6"/>
            <p:cNvSpPr>
              <a:spLocks noChangeArrowheads="1"/>
            </p:cNvSpPr>
            <p:nvPr/>
          </p:nvSpPr>
          <p:spPr bwMode="auto">
            <a:xfrm>
              <a:off x="377" y="1283"/>
              <a:ext cx="4974" cy="98"/>
            </a:xfrm>
            <a:custGeom>
              <a:avLst/>
              <a:gdLst>
                <a:gd name="T0" fmla="*/ 1132 w 21600"/>
                <a:gd name="T1" fmla="*/ 0 h 21600"/>
                <a:gd name="T2" fmla="*/ 573 w 21600"/>
                <a:gd name="T3" fmla="*/ 0 h 21600"/>
                <a:gd name="T4" fmla="*/ 14 w 21600"/>
                <a:gd name="T5" fmla="*/ 0 h 21600"/>
                <a:gd name="T6" fmla="*/ 573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054 w 21600"/>
                <a:gd name="T13" fmla="*/ 1984 h 21600"/>
                <a:gd name="T14" fmla="*/ 19546 w 21600"/>
                <a:gd name="T15" fmla="*/ 1961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12" y="21600"/>
                  </a:lnTo>
                  <a:lnTo>
                    <a:pt x="21088" y="21600"/>
                  </a:lnTo>
                  <a:lnTo>
                    <a:pt x="21600" y="0"/>
                  </a:lnTo>
                  <a:close/>
                </a:path>
              </a:pathLst>
            </a:custGeom>
            <a:gradFill rotWithShape="0">
              <a:gsLst>
                <a:gs pos="0">
                  <a:srgbClr val="E2E2E2"/>
                </a:gs>
                <a:gs pos="100000">
                  <a:srgbClr val="969696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314" name="AutoShape 7"/>
            <p:cNvSpPr>
              <a:spLocks noChangeArrowheads="1"/>
            </p:cNvSpPr>
            <p:nvPr/>
          </p:nvSpPr>
          <p:spPr bwMode="auto">
            <a:xfrm flipV="1">
              <a:off x="350" y="2828"/>
              <a:ext cx="5005" cy="98"/>
            </a:xfrm>
            <a:custGeom>
              <a:avLst/>
              <a:gdLst>
                <a:gd name="T0" fmla="*/ 1143 w 21600"/>
                <a:gd name="T1" fmla="*/ 0 h 21600"/>
                <a:gd name="T2" fmla="*/ 580 w 21600"/>
                <a:gd name="T3" fmla="*/ 0 h 21600"/>
                <a:gd name="T4" fmla="*/ 16 w 21600"/>
                <a:gd name="T5" fmla="*/ 0 h 21600"/>
                <a:gd name="T6" fmla="*/ 58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106 w 21600"/>
                <a:gd name="T13" fmla="*/ 2204 h 21600"/>
                <a:gd name="T14" fmla="*/ 19494 w 21600"/>
                <a:gd name="T15" fmla="*/ 1939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612" y="21600"/>
                  </a:lnTo>
                  <a:lnTo>
                    <a:pt x="20988" y="21600"/>
                  </a:lnTo>
                  <a:lnTo>
                    <a:pt x="21600" y="0"/>
                  </a:lnTo>
                  <a:close/>
                </a:path>
              </a:pathLst>
            </a:custGeom>
            <a:gradFill rotWithShape="0">
              <a:gsLst>
                <a:gs pos="0">
                  <a:srgbClr val="E2E2E2"/>
                </a:gs>
                <a:gs pos="100000">
                  <a:srgbClr val="969696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315" name="Rectangle 8"/>
            <p:cNvSpPr>
              <a:spLocks noChangeArrowheads="1"/>
            </p:cNvSpPr>
            <p:nvPr/>
          </p:nvSpPr>
          <p:spPr bwMode="auto">
            <a:xfrm>
              <a:off x="480" y="1380"/>
              <a:ext cx="4738" cy="144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354281"/>
              </a:solidFill>
              <a:miter lim="800000"/>
              <a:headEnd/>
              <a:tailEnd/>
            </a:ln>
            <a:effectLst>
              <a:prstShdw prst="shdw17" dist="17961" dir="2700000">
                <a:srgbClr val="20284D"/>
              </a:prst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89481" name="Rectangle 9"/>
          <p:cNvSpPr>
            <a:spLocks noChangeArrowheads="1"/>
          </p:cNvSpPr>
          <p:nvPr/>
        </p:nvSpPr>
        <p:spPr bwMode="auto">
          <a:xfrm>
            <a:off x="609602" y="2362200"/>
            <a:ext cx="7585075" cy="2063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dist="17961" dir="2700000" algn="ctr" rotWithShape="0">
              <a:srgbClr val="354281"/>
            </a:outerShdw>
          </a:effectLst>
        </p:spPr>
        <p:txBody>
          <a:bodyPr lIns="0" tIns="0" rIns="0" bIns="0">
            <a:spAutoFit/>
          </a:bodyPr>
          <a:lstStyle/>
          <a:p>
            <a:pPr marL="290513" indent="-290513" defTabSz="915988">
              <a:lnSpc>
                <a:spcPct val="85000"/>
              </a:lnSpc>
              <a:spcBef>
                <a:spcPct val="35000"/>
              </a:spcBef>
              <a:buClr>
                <a:srgbClr val="FF0000"/>
              </a:buClr>
              <a:buSzPct val="95000"/>
              <a:defRPr/>
            </a:pPr>
            <a:r>
              <a:rPr lang="zh-CN" altLang="en-US" sz="66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§</a:t>
            </a:r>
            <a:r>
              <a:rPr lang="en-US" altLang="zh-CN" sz="66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6 </a:t>
            </a:r>
            <a:r>
              <a:rPr lang="zh-CN" altLang="en-US" sz="66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联立方程组的</a:t>
            </a:r>
          </a:p>
          <a:p>
            <a:pPr marL="290513" indent="-290513" defTabSz="915988">
              <a:lnSpc>
                <a:spcPct val="85000"/>
              </a:lnSpc>
              <a:spcBef>
                <a:spcPct val="35000"/>
              </a:spcBef>
              <a:buClr>
                <a:srgbClr val="FF0000"/>
              </a:buClr>
              <a:buSzPct val="95000"/>
              <a:defRPr/>
            </a:pPr>
            <a:r>
              <a:rPr lang="zh-CN" altLang="en-US" sz="66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  延拓解法</a:t>
            </a:r>
            <a:endParaRPr lang="zh-CN" altLang="en-US" sz="4800" i="1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C91C4C16-4956-495E-966C-4CF0FFC51D67}" type="slidenum">
              <a:rPr lang="zh-CN" altLang="en-US"/>
              <a:pPr/>
              <a:t>107</a:t>
            </a:fld>
            <a:endParaRPr lang="en-US" altLang="zh-CN"/>
          </a:p>
        </p:txBody>
      </p:sp>
      <p:sp>
        <p:nvSpPr>
          <p:cNvPr id="99331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FA24D93E-DD47-41BC-9BE4-DFD269A3EEB3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491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§</a:t>
            </a:r>
            <a:r>
              <a:rPr lang="en-US" altLang="zh-CN" smtClean="0"/>
              <a:t>6</a:t>
            </a:r>
            <a:r>
              <a:rPr lang="en-US" altLang="zh-CN" smtClean="0">
                <a:latin typeface="Times New Roman" pitchFamily="18" charset="0"/>
              </a:rPr>
              <a:t>.1</a:t>
            </a:r>
            <a:r>
              <a:rPr lang="zh-CN" altLang="en-US" smtClean="0">
                <a:latin typeface="Times New Roman" pitchFamily="18" charset="0"/>
              </a:rPr>
              <a:t>同伦方程组及其建立方法</a:t>
            </a:r>
          </a:p>
        </p:txBody>
      </p:sp>
      <p:sp>
        <p:nvSpPr>
          <p:cNvPr id="993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305800" cy="4696670"/>
          </a:xfrm>
        </p:spPr>
        <p:txBody>
          <a:bodyPr/>
          <a:lstStyle/>
          <a:p>
            <a:r>
              <a:rPr lang="zh-CN" altLang="en-US" dirty="0" smtClean="0"/>
              <a:t>建立同伦方程组</a:t>
            </a:r>
            <a:r>
              <a:rPr lang="en-US" altLang="zh-CN" dirty="0" smtClean="0"/>
              <a:t>H(X, </a:t>
            </a:r>
            <a:r>
              <a:rPr lang="en-US" altLang="zh-CN" i="1" dirty="0" smtClean="0"/>
              <a:t>t</a:t>
            </a:r>
            <a:r>
              <a:rPr lang="en-US" altLang="zh-CN" dirty="0" smtClean="0"/>
              <a:t>)=0，</a:t>
            </a:r>
          </a:p>
          <a:p>
            <a:pPr lvl="1"/>
            <a:r>
              <a:rPr lang="zh-CN" altLang="en-US" dirty="0" smtClean="0"/>
              <a:t>这里</a:t>
            </a:r>
            <a:r>
              <a:rPr lang="en-US" altLang="zh-CN" dirty="0" smtClean="0"/>
              <a:t>X=(</a:t>
            </a:r>
            <a:r>
              <a:rPr lang="en-US" altLang="zh-CN" i="1" dirty="0" err="1" smtClean="0"/>
              <a:t>x</a:t>
            </a:r>
            <a:r>
              <a:rPr lang="en-US" altLang="zh-CN" baseline="-25000" dirty="0" err="1" smtClean="0"/>
              <a:t>1</a:t>
            </a:r>
            <a:r>
              <a:rPr lang="en-US" altLang="zh-CN" dirty="0" smtClean="0"/>
              <a:t>, </a:t>
            </a:r>
            <a:r>
              <a:rPr lang="en-US" altLang="zh-CN" i="1" dirty="0" err="1" smtClean="0"/>
              <a:t>x</a:t>
            </a:r>
            <a:r>
              <a:rPr lang="en-US" altLang="zh-CN" baseline="-25000" dirty="0" err="1" smtClean="0"/>
              <a:t>2</a:t>
            </a:r>
            <a:r>
              <a:rPr lang="en-US" altLang="zh-CN" dirty="0" smtClean="0"/>
              <a:t>,…,</a:t>
            </a:r>
            <a:r>
              <a:rPr lang="en-US" altLang="zh-CN" i="1" dirty="0" err="1" smtClean="0"/>
              <a:t>x</a:t>
            </a:r>
            <a:r>
              <a:rPr lang="en-US" altLang="zh-CN" baseline="-25000" dirty="0" err="1" smtClean="0"/>
              <a:t>n</a:t>
            </a:r>
            <a:r>
              <a:rPr lang="en-US" altLang="zh-CN" dirty="0" smtClean="0"/>
              <a:t>)，</a:t>
            </a:r>
            <a:r>
              <a:rPr lang="en-US" altLang="zh-CN" i="1" dirty="0" smtClean="0"/>
              <a:t>t</a:t>
            </a:r>
            <a:r>
              <a:rPr lang="zh-CN" altLang="en-US" dirty="0" smtClean="0"/>
              <a:t>为引入的参数。</a:t>
            </a:r>
          </a:p>
          <a:p>
            <a:r>
              <a:rPr lang="zh-CN" altLang="en-US" u="sng" dirty="0" smtClean="0">
                <a:solidFill>
                  <a:srgbClr val="FF3300"/>
                </a:solidFill>
              </a:rPr>
              <a:t>同伦方程组</a:t>
            </a:r>
            <a:r>
              <a:rPr lang="zh-CN" altLang="en-US" dirty="0" smtClean="0"/>
              <a:t>是满足以下条件的联立方程组：</a:t>
            </a:r>
          </a:p>
          <a:p>
            <a:pPr>
              <a:buFont typeface="Wingdings" pitchFamily="2" charset="2"/>
              <a:buNone/>
            </a:pPr>
            <a:r>
              <a:rPr lang="zh-CN" altLang="en-US" dirty="0" smtClean="0"/>
              <a:t>（1）</a:t>
            </a:r>
            <a:r>
              <a:rPr lang="en-US" altLang="zh-CN" dirty="0" smtClean="0"/>
              <a:t>H(X</a:t>
            </a:r>
            <a:r>
              <a:rPr lang="en-US" altLang="zh-CN" baseline="30000" dirty="0" smtClean="0"/>
              <a:t>(0)</a:t>
            </a:r>
            <a:r>
              <a:rPr lang="en-US" altLang="zh-CN" dirty="0" smtClean="0"/>
              <a:t>,</a:t>
            </a:r>
            <a:r>
              <a:rPr lang="en-US" altLang="zh-CN" i="1" dirty="0" smtClean="0"/>
              <a:t>t</a:t>
            </a:r>
            <a:r>
              <a:rPr lang="en-US" altLang="zh-CN" dirty="0" smtClean="0"/>
              <a:t>)=0，</a:t>
            </a:r>
          </a:p>
          <a:p>
            <a:pPr>
              <a:buFont typeface="Wingdings" pitchFamily="2" charset="2"/>
              <a:buNone/>
            </a:pPr>
            <a:r>
              <a:rPr lang="zh-CN" altLang="en-US" dirty="0" smtClean="0"/>
              <a:t>		</a:t>
            </a:r>
            <a:r>
              <a:rPr lang="en-US" altLang="zh-CN" dirty="0" smtClean="0"/>
              <a:t>X</a:t>
            </a:r>
            <a:r>
              <a:rPr lang="en-US" altLang="zh-CN" baseline="30000" dirty="0" smtClean="0"/>
              <a:t>(0)</a:t>
            </a:r>
            <a:r>
              <a:rPr lang="en-US" altLang="zh-CN" dirty="0" smtClean="0"/>
              <a:t>=(</a:t>
            </a:r>
            <a:r>
              <a:rPr lang="en-US" altLang="zh-CN" i="1" dirty="0" err="1" smtClean="0"/>
              <a:t>x</a:t>
            </a:r>
            <a:r>
              <a:rPr lang="en-US" altLang="zh-CN" baseline="-25000" dirty="0" err="1" smtClean="0"/>
              <a:t>1</a:t>
            </a:r>
            <a:r>
              <a:rPr lang="en-US" altLang="zh-CN" baseline="30000" dirty="0" smtClean="0"/>
              <a:t>(0)</a:t>
            </a:r>
            <a:r>
              <a:rPr lang="en-US" altLang="zh-CN" dirty="0" smtClean="0"/>
              <a:t>, </a:t>
            </a:r>
            <a:r>
              <a:rPr lang="en-US" altLang="zh-CN" i="1" dirty="0" err="1" smtClean="0"/>
              <a:t>x</a:t>
            </a:r>
            <a:r>
              <a:rPr lang="en-US" altLang="zh-CN" baseline="-25000" dirty="0" err="1" smtClean="0"/>
              <a:t>2</a:t>
            </a:r>
            <a:r>
              <a:rPr lang="en-US" altLang="zh-CN" baseline="30000" dirty="0" smtClean="0"/>
              <a:t>(0)</a:t>
            </a:r>
            <a:r>
              <a:rPr lang="en-US" altLang="zh-CN" dirty="0" smtClean="0"/>
              <a:t>, …,</a:t>
            </a:r>
            <a:r>
              <a:rPr lang="en-US" altLang="zh-CN" i="1" dirty="0" err="1" smtClean="0"/>
              <a:t>x</a:t>
            </a:r>
            <a:r>
              <a:rPr lang="en-US" altLang="zh-CN" baseline="-25000" dirty="0" err="1" smtClean="0"/>
              <a:t>n</a:t>
            </a:r>
            <a:r>
              <a:rPr lang="en-US" altLang="zh-CN" baseline="30000" dirty="0" smtClean="0"/>
              <a:t>(0)</a:t>
            </a:r>
            <a:r>
              <a:rPr lang="en-US" altLang="zh-CN" dirty="0" smtClean="0"/>
              <a:t>)</a:t>
            </a:r>
            <a:r>
              <a:rPr lang="zh-CN" altLang="en-US" dirty="0" smtClean="0"/>
              <a:t>是任意取定的一组初值</a:t>
            </a:r>
          </a:p>
          <a:p>
            <a:pPr>
              <a:buFont typeface="Wingdings" pitchFamily="2" charset="2"/>
              <a:buNone/>
            </a:pPr>
            <a:r>
              <a:rPr lang="zh-CN" altLang="en-US" dirty="0" smtClean="0"/>
              <a:t>  	即当</a:t>
            </a:r>
            <a:r>
              <a:rPr lang="en-US" altLang="zh-CN" i="1" dirty="0" smtClean="0"/>
              <a:t>t</a:t>
            </a:r>
            <a:r>
              <a:rPr lang="en-US" altLang="zh-CN" dirty="0" smtClean="0"/>
              <a:t>=0</a:t>
            </a:r>
            <a:r>
              <a:rPr lang="zh-CN" altLang="en-US" dirty="0" smtClean="0"/>
              <a:t>时,</a:t>
            </a:r>
            <a:r>
              <a:rPr lang="en-US" altLang="zh-CN" dirty="0" smtClean="0"/>
              <a:t>H(</a:t>
            </a:r>
            <a:r>
              <a:rPr lang="en-US" altLang="zh-CN" dirty="0" err="1" smtClean="0"/>
              <a:t>X,0</a:t>
            </a:r>
            <a:r>
              <a:rPr lang="en-US" altLang="zh-CN" dirty="0" smtClean="0"/>
              <a:t>)</a:t>
            </a:r>
            <a:r>
              <a:rPr lang="zh-CN" altLang="en-US" dirty="0" smtClean="0"/>
              <a:t>是具有已知解</a:t>
            </a:r>
            <a:r>
              <a:rPr lang="en-US" altLang="zh-CN" dirty="0" smtClean="0"/>
              <a:t>X</a:t>
            </a:r>
            <a:r>
              <a:rPr lang="en-US" altLang="zh-CN" baseline="30000" dirty="0" smtClean="0"/>
              <a:t>(0)</a:t>
            </a:r>
            <a:r>
              <a:rPr lang="zh-CN" altLang="en-US" dirty="0" smtClean="0"/>
              <a:t>的联立方程组</a:t>
            </a:r>
          </a:p>
          <a:p>
            <a:pPr>
              <a:buFont typeface="Wingdings" pitchFamily="2" charset="2"/>
              <a:buNone/>
            </a:pPr>
            <a:r>
              <a:rPr lang="zh-CN" altLang="en-US" dirty="0" smtClean="0"/>
              <a:t>（2） </a:t>
            </a:r>
            <a:r>
              <a:rPr lang="en-US" altLang="zh-CN" dirty="0" smtClean="0"/>
              <a:t>H(</a:t>
            </a:r>
            <a:r>
              <a:rPr lang="en-US" altLang="zh-CN" dirty="0" err="1" smtClean="0"/>
              <a:t>X,1</a:t>
            </a:r>
            <a:r>
              <a:rPr lang="en-US" altLang="zh-CN" dirty="0" smtClean="0"/>
              <a:t>)= F(X)=0，</a:t>
            </a:r>
          </a:p>
          <a:p>
            <a:pPr>
              <a:buFont typeface="Wingdings" pitchFamily="2" charset="2"/>
              <a:buNone/>
            </a:pPr>
            <a:r>
              <a:rPr lang="zh-CN" altLang="en-US" dirty="0" smtClean="0"/>
              <a:t>		即当</a:t>
            </a:r>
            <a:r>
              <a:rPr lang="en-US" altLang="zh-CN" i="1" dirty="0" smtClean="0"/>
              <a:t>t</a:t>
            </a:r>
            <a:r>
              <a:rPr lang="en-US" altLang="zh-CN" dirty="0" smtClean="0"/>
              <a:t>=1</a:t>
            </a:r>
            <a:r>
              <a:rPr lang="zh-CN" altLang="en-US" dirty="0" smtClean="0"/>
              <a:t>时,</a:t>
            </a:r>
            <a:r>
              <a:rPr lang="en-US" altLang="zh-CN" dirty="0" smtClean="0"/>
              <a:t>H(</a:t>
            </a:r>
            <a:r>
              <a:rPr lang="en-US" altLang="zh-CN" dirty="0" err="1" smtClean="0"/>
              <a:t>X,1</a:t>
            </a:r>
            <a:r>
              <a:rPr lang="en-US" altLang="zh-CN" dirty="0" smtClean="0"/>
              <a:t>)=0</a:t>
            </a:r>
            <a:r>
              <a:rPr lang="zh-CN" altLang="en-US" dirty="0" smtClean="0"/>
              <a:t>与原联立方程组</a:t>
            </a:r>
            <a:r>
              <a:rPr lang="en-US" altLang="zh-CN" dirty="0" smtClean="0"/>
              <a:t>F(X)</a:t>
            </a:r>
            <a:r>
              <a:rPr lang="zh-CN" altLang="en-US" dirty="0" smtClean="0"/>
              <a:t>相同。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或</a:t>
            </a:r>
            <a:r>
              <a:rPr lang="en-US" altLang="zh-CN" dirty="0"/>
              <a:t>(2)’ </a:t>
            </a:r>
            <a:r>
              <a:rPr lang="zh-CN" altLang="en-US" dirty="0"/>
              <a:t>当</a:t>
            </a:r>
            <a:r>
              <a:rPr lang="en-US" altLang="zh-CN" i="1" dirty="0"/>
              <a:t>t</a:t>
            </a:r>
            <a:r>
              <a:rPr lang="en-US" altLang="zh-CN" dirty="0"/>
              <a:t>→∞</a:t>
            </a:r>
            <a:r>
              <a:rPr lang="zh-CN" altLang="en-US" dirty="0"/>
              <a:t>时</a:t>
            </a:r>
            <a:r>
              <a:rPr lang="en-US" altLang="zh-CN" dirty="0"/>
              <a:t>,</a:t>
            </a:r>
            <a:r>
              <a:rPr lang="en-US" altLang="zh-CN" i="1" dirty="0"/>
              <a:t>H</a:t>
            </a:r>
            <a:r>
              <a:rPr lang="en-US" altLang="zh-CN" dirty="0"/>
              <a:t>(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t</a:t>
            </a:r>
            <a:r>
              <a:rPr lang="en-US" altLang="zh-CN" dirty="0"/>
              <a:t>) →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) </a:t>
            </a:r>
            <a:r>
              <a:rPr lang="zh-CN" altLang="en-US" dirty="0"/>
              <a:t>。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8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A208B921-9737-4F7E-88FC-30C6DC5484D9}" type="slidenum">
              <a:rPr lang="zh-CN" altLang="en-US"/>
              <a:pPr/>
              <a:t>108</a:t>
            </a:fld>
            <a:endParaRPr lang="en-US" altLang="zh-CN"/>
          </a:p>
        </p:txBody>
      </p:sp>
      <p:sp>
        <p:nvSpPr>
          <p:cNvPr id="54279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B588BAB4-90AE-479C-A376-2E547228F10B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493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§</a:t>
            </a:r>
            <a:r>
              <a:rPr lang="en-US" altLang="zh-CN" smtClean="0"/>
              <a:t>6</a:t>
            </a:r>
            <a:r>
              <a:rPr lang="en-US" altLang="zh-CN" smtClean="0">
                <a:latin typeface="Times New Roman" pitchFamily="18" charset="0"/>
              </a:rPr>
              <a:t>.1</a:t>
            </a:r>
            <a:r>
              <a:rPr lang="zh-CN" altLang="en-US" smtClean="0">
                <a:latin typeface="Times New Roman" pitchFamily="18" charset="0"/>
              </a:rPr>
              <a:t>同伦方程组及其建立方法</a:t>
            </a:r>
          </a:p>
        </p:txBody>
      </p:sp>
      <p:sp>
        <p:nvSpPr>
          <p:cNvPr id="5428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143000"/>
            <a:ext cx="8142288" cy="443198"/>
          </a:xfrm>
        </p:spPr>
        <p:txBody>
          <a:bodyPr/>
          <a:lstStyle/>
          <a:p>
            <a:r>
              <a:rPr lang="zh-CN" altLang="en-US" sz="3200"/>
              <a:t>同伦方程组的构造方法</a:t>
            </a:r>
          </a:p>
        </p:txBody>
      </p:sp>
      <p:graphicFrame>
        <p:nvGraphicFramePr>
          <p:cNvPr id="493572" name="Object 4"/>
          <p:cNvGraphicFramePr>
            <a:graphicFrameLocks noChangeAspect="1"/>
          </p:cNvGraphicFramePr>
          <p:nvPr/>
        </p:nvGraphicFramePr>
        <p:xfrm>
          <a:off x="1262063" y="1676400"/>
          <a:ext cx="5402262" cy="1347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28" name="Equation" r:id="rId4" imgW="2044440" imgH="482400" progId="Equation.3">
                  <p:embed/>
                </p:oleObj>
              </mc:Choice>
              <mc:Fallback>
                <p:oleObj name="Equation" r:id="rId4" imgW="2044440" imgH="482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2063" y="1676400"/>
                        <a:ext cx="5402262" cy="1347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573" name="Object 5"/>
          <p:cNvGraphicFramePr>
            <a:graphicFrameLocks noChangeAspect="1"/>
          </p:cNvGraphicFramePr>
          <p:nvPr/>
        </p:nvGraphicFramePr>
        <p:xfrm>
          <a:off x="1184275" y="2971802"/>
          <a:ext cx="5480050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29" name="Equation" r:id="rId6" imgW="1993680" imgH="228600" progId="Equation.3">
                  <p:embed/>
                </p:oleObj>
              </mc:Choice>
              <mc:Fallback>
                <p:oleObj name="Equation" r:id="rId6" imgW="199368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4275" y="2971802"/>
                        <a:ext cx="5480050" cy="63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574" name="Object 6"/>
          <p:cNvGraphicFramePr>
            <a:graphicFrameLocks noChangeAspect="1"/>
          </p:cNvGraphicFramePr>
          <p:nvPr/>
        </p:nvGraphicFramePr>
        <p:xfrm>
          <a:off x="3005138" y="3581402"/>
          <a:ext cx="3471862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30" name="Equation" r:id="rId8" imgW="1536480" imgH="228600" progId="Equation.3">
                  <p:embed/>
                </p:oleObj>
              </mc:Choice>
              <mc:Fallback>
                <p:oleObj name="Equation" r:id="rId8" imgW="153648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5138" y="3581402"/>
                        <a:ext cx="3471862" cy="63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960438" y="4090988"/>
            <a:ext cx="7878762" cy="2538412"/>
            <a:chOff x="384" y="1104"/>
            <a:chExt cx="4963" cy="1599"/>
          </a:xfrm>
        </p:grpSpPr>
        <p:graphicFrame>
          <p:nvGraphicFramePr>
            <p:cNvPr id="54277" name="Object 8"/>
            <p:cNvGraphicFramePr>
              <a:graphicFrameLocks noChangeAspect="1"/>
            </p:cNvGraphicFramePr>
            <p:nvPr/>
          </p:nvGraphicFramePr>
          <p:xfrm>
            <a:off x="432" y="1104"/>
            <a:ext cx="4915" cy="15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431" name="Equation" r:id="rId10" imgW="2958840" imgH="965160" progId="Equation.3">
                    <p:embed/>
                  </p:oleObj>
                </mc:Choice>
                <mc:Fallback>
                  <p:oleObj name="Equation" r:id="rId10" imgW="2958840" imgH="96516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" y="1104"/>
                          <a:ext cx="4915" cy="15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283" name="Rectangle 9"/>
            <p:cNvSpPr>
              <a:spLocks noChangeArrowheads="1"/>
            </p:cNvSpPr>
            <p:nvPr/>
          </p:nvSpPr>
          <p:spPr bwMode="auto">
            <a:xfrm>
              <a:off x="384" y="2112"/>
              <a:ext cx="3360" cy="480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93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93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935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935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93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93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935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935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935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935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935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935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FD4EA0AB-8248-406D-9B20-EBE172C50707}" type="slidenum">
              <a:rPr lang="zh-CN" altLang="en-US"/>
              <a:pPr/>
              <a:t>109</a:t>
            </a:fld>
            <a:endParaRPr lang="en-US" altLang="zh-CN"/>
          </a:p>
        </p:txBody>
      </p:sp>
      <p:sp>
        <p:nvSpPr>
          <p:cNvPr id="100355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EDAD6DCF-F60D-4214-94BE-57A60D5B5048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495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§</a:t>
            </a:r>
            <a:r>
              <a:rPr lang="en-US" altLang="zh-CN" smtClean="0"/>
              <a:t>6</a:t>
            </a:r>
            <a:r>
              <a:rPr lang="en-US" altLang="zh-CN" smtClean="0">
                <a:latin typeface="Times New Roman" pitchFamily="18" charset="0"/>
              </a:rPr>
              <a:t>.2  </a:t>
            </a:r>
            <a:r>
              <a:rPr lang="zh-CN" altLang="en-US" smtClean="0">
                <a:latin typeface="Times New Roman" pitchFamily="18" charset="0"/>
              </a:rPr>
              <a:t>求解方法</a:t>
            </a:r>
          </a:p>
        </p:txBody>
      </p:sp>
      <p:sp>
        <p:nvSpPr>
          <p:cNvPr id="10035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30300"/>
            <a:ext cx="8458200" cy="5270500"/>
          </a:xfrm>
        </p:spPr>
        <p:txBody>
          <a:bodyPr/>
          <a:lstStyle/>
          <a:p>
            <a:r>
              <a:rPr lang="zh-CN" altLang="en-US" smtClean="0"/>
              <a:t>思想 ：（2） </a:t>
            </a:r>
            <a:r>
              <a:rPr lang="en-US" altLang="zh-CN" smtClean="0"/>
              <a:t>H(X,1)= F(X)=0</a:t>
            </a:r>
            <a:endParaRPr lang="zh-CN" altLang="en-US" smtClean="0"/>
          </a:p>
          <a:p>
            <a:pPr lvl="1"/>
            <a:r>
              <a:rPr lang="zh-CN" altLang="en-US" smtClean="0"/>
              <a:t>从已知解</a:t>
            </a:r>
            <a:r>
              <a:rPr lang="en-US" altLang="zh-CN" smtClean="0"/>
              <a:t>X</a:t>
            </a:r>
            <a:r>
              <a:rPr lang="en-US" altLang="zh-CN" baseline="30000" smtClean="0"/>
              <a:t>(0)</a:t>
            </a:r>
            <a:r>
              <a:rPr lang="zh-CN" altLang="en-US" smtClean="0"/>
              <a:t>逐步引渡到</a:t>
            </a:r>
            <a:r>
              <a:rPr lang="en-US" altLang="zh-CN" smtClean="0"/>
              <a:t>F(X)=0</a:t>
            </a:r>
            <a:r>
              <a:rPr lang="zh-CN" altLang="en-US" smtClean="0"/>
              <a:t>的未知解</a:t>
            </a:r>
          </a:p>
          <a:p>
            <a:r>
              <a:rPr lang="zh-CN" altLang="en-US" smtClean="0"/>
              <a:t>具体方法</a:t>
            </a:r>
          </a:p>
          <a:p>
            <a:pPr lvl="1"/>
            <a:r>
              <a:rPr lang="zh-CN" altLang="en-US" smtClean="0"/>
              <a:t>将</a:t>
            </a:r>
            <a:r>
              <a:rPr lang="en-US" altLang="zh-CN" i="1" smtClean="0"/>
              <a:t>t</a:t>
            </a:r>
            <a:r>
              <a:rPr lang="zh-CN" altLang="en-US" smtClean="0"/>
              <a:t>划分为 0&lt;</a:t>
            </a:r>
            <a:r>
              <a:rPr lang="en-US" altLang="zh-CN" i="1" smtClean="0"/>
              <a:t>t</a:t>
            </a:r>
            <a:r>
              <a:rPr lang="en-US" altLang="zh-CN" baseline="-25000" smtClean="0"/>
              <a:t>0</a:t>
            </a:r>
            <a:r>
              <a:rPr lang="en-US" altLang="zh-CN" smtClean="0"/>
              <a:t>&lt; </a:t>
            </a:r>
            <a:r>
              <a:rPr lang="en-US" altLang="zh-CN" i="1" smtClean="0"/>
              <a:t>t</a:t>
            </a:r>
            <a:r>
              <a:rPr lang="en-US" altLang="zh-CN" baseline="-25000" smtClean="0"/>
              <a:t>1</a:t>
            </a:r>
            <a:r>
              <a:rPr lang="en-US" altLang="zh-CN" smtClean="0"/>
              <a:t>&lt;…</a:t>
            </a:r>
            <a:r>
              <a:rPr lang="en-US" altLang="zh-CN" i="1" smtClean="0"/>
              <a:t>t</a:t>
            </a:r>
            <a:r>
              <a:rPr lang="en-US" altLang="zh-CN" baseline="-25000" smtClean="0"/>
              <a:t>N-1</a:t>
            </a:r>
            <a:r>
              <a:rPr lang="en-US" altLang="zh-CN" smtClean="0"/>
              <a:t>&lt; </a:t>
            </a:r>
            <a:r>
              <a:rPr lang="en-US" altLang="zh-CN" i="1" smtClean="0"/>
              <a:t>t</a:t>
            </a:r>
            <a:r>
              <a:rPr lang="en-US" altLang="zh-CN" baseline="-25000" smtClean="0"/>
              <a:t>N</a:t>
            </a:r>
            <a:r>
              <a:rPr lang="en-US" altLang="zh-CN" smtClean="0"/>
              <a:t>=1，</a:t>
            </a:r>
            <a:r>
              <a:rPr lang="zh-CN" altLang="en-US" smtClean="0"/>
              <a:t>代入同伦方程组得    </a:t>
            </a:r>
            <a:r>
              <a:rPr lang="en-US" altLang="zh-CN" smtClean="0"/>
              <a:t>H</a:t>
            </a:r>
            <a:r>
              <a:rPr lang="en-US" altLang="zh-CN" baseline="-25000" smtClean="0"/>
              <a:t>i</a:t>
            </a:r>
            <a:r>
              <a:rPr lang="en-US" altLang="zh-CN" smtClean="0"/>
              <a:t>=H(X, </a:t>
            </a:r>
            <a:r>
              <a:rPr lang="en-US" altLang="zh-CN" i="1" smtClean="0"/>
              <a:t>t</a:t>
            </a:r>
            <a:r>
              <a:rPr lang="en-US" altLang="zh-CN" i="1" baseline="-25000" smtClean="0"/>
              <a:t>i</a:t>
            </a:r>
            <a:r>
              <a:rPr lang="en-US" altLang="zh-CN" smtClean="0"/>
              <a:t>)=0   (i=1,2,…,N)</a:t>
            </a:r>
          </a:p>
          <a:p>
            <a:pPr lvl="1"/>
            <a:r>
              <a:rPr lang="zh-CN" altLang="en-US" smtClean="0"/>
              <a:t>取</a:t>
            </a:r>
            <a:r>
              <a:rPr lang="en-US" altLang="zh-CN" smtClean="0"/>
              <a:t>X</a:t>
            </a:r>
            <a:r>
              <a:rPr lang="en-US" altLang="zh-CN" baseline="30000" smtClean="0"/>
              <a:t>(0)</a:t>
            </a:r>
            <a:r>
              <a:rPr lang="zh-CN" altLang="en-US" smtClean="0"/>
              <a:t>作为</a:t>
            </a:r>
            <a:r>
              <a:rPr lang="en-US" altLang="zh-CN" smtClean="0"/>
              <a:t>H</a:t>
            </a:r>
            <a:r>
              <a:rPr lang="en-US" altLang="zh-CN" baseline="-25000" smtClean="0"/>
              <a:t>1</a:t>
            </a:r>
            <a:r>
              <a:rPr lang="en-US" altLang="zh-CN" smtClean="0"/>
              <a:t>=0</a:t>
            </a:r>
            <a:r>
              <a:rPr lang="zh-CN" altLang="en-US" smtClean="0"/>
              <a:t>的初值，用某种迭代法求解出</a:t>
            </a:r>
            <a:r>
              <a:rPr lang="en-US" altLang="zh-CN" smtClean="0"/>
              <a:t>H</a:t>
            </a:r>
            <a:r>
              <a:rPr lang="en-US" altLang="zh-CN" baseline="-25000" smtClean="0"/>
              <a:t>1</a:t>
            </a:r>
            <a:r>
              <a:rPr lang="en-US" altLang="zh-CN" smtClean="0"/>
              <a:t>=0</a:t>
            </a:r>
            <a:r>
              <a:rPr lang="zh-CN" altLang="en-US" smtClean="0"/>
              <a:t>的解</a:t>
            </a:r>
            <a:r>
              <a:rPr lang="en-US" altLang="zh-CN" smtClean="0"/>
              <a:t>X</a:t>
            </a:r>
            <a:r>
              <a:rPr lang="en-US" altLang="zh-CN" baseline="30000" smtClean="0"/>
              <a:t>(1)</a:t>
            </a:r>
            <a:r>
              <a:rPr lang="zh-CN" altLang="en-US" smtClean="0"/>
              <a:t>。</a:t>
            </a:r>
          </a:p>
          <a:p>
            <a:pPr lvl="1"/>
            <a:r>
              <a:rPr lang="zh-CN" altLang="en-US" smtClean="0"/>
              <a:t>再以</a:t>
            </a:r>
            <a:r>
              <a:rPr lang="en-US" altLang="zh-CN" smtClean="0"/>
              <a:t>X</a:t>
            </a:r>
            <a:r>
              <a:rPr lang="en-US" altLang="zh-CN" baseline="30000" smtClean="0"/>
              <a:t>(1)</a:t>
            </a:r>
            <a:r>
              <a:rPr lang="zh-CN" altLang="en-US" smtClean="0"/>
              <a:t>作为</a:t>
            </a:r>
            <a:r>
              <a:rPr lang="en-US" altLang="zh-CN" smtClean="0"/>
              <a:t>H</a:t>
            </a:r>
            <a:r>
              <a:rPr lang="en-US" altLang="zh-CN" baseline="-25000" smtClean="0"/>
              <a:t>2</a:t>
            </a:r>
            <a:r>
              <a:rPr lang="en-US" altLang="zh-CN" smtClean="0"/>
              <a:t>=0</a:t>
            </a:r>
            <a:r>
              <a:rPr lang="zh-CN" altLang="en-US" smtClean="0"/>
              <a:t>的初值，求解出</a:t>
            </a:r>
            <a:r>
              <a:rPr lang="en-US" altLang="zh-CN" smtClean="0"/>
              <a:t>H</a:t>
            </a:r>
            <a:r>
              <a:rPr lang="en-US" altLang="zh-CN" baseline="-25000" smtClean="0"/>
              <a:t>2</a:t>
            </a:r>
            <a:r>
              <a:rPr lang="en-US" altLang="zh-CN" smtClean="0"/>
              <a:t>=0</a:t>
            </a:r>
            <a:r>
              <a:rPr lang="zh-CN" altLang="en-US" smtClean="0"/>
              <a:t>的解</a:t>
            </a:r>
            <a:r>
              <a:rPr lang="en-US" altLang="zh-CN" smtClean="0"/>
              <a:t>X</a:t>
            </a:r>
            <a:r>
              <a:rPr lang="en-US" altLang="zh-CN" baseline="30000" smtClean="0"/>
              <a:t>(2)</a:t>
            </a:r>
          </a:p>
          <a:p>
            <a:pPr lvl="1"/>
            <a:r>
              <a:rPr lang="zh-CN" altLang="en-US" smtClean="0"/>
              <a:t>继续下去，直到求出</a:t>
            </a:r>
            <a:r>
              <a:rPr lang="en-US" altLang="zh-CN" smtClean="0"/>
              <a:t>H</a:t>
            </a:r>
            <a:r>
              <a:rPr lang="en-US" altLang="zh-CN" baseline="-25000" smtClean="0"/>
              <a:t>N</a:t>
            </a:r>
            <a:r>
              <a:rPr lang="en-US" altLang="zh-CN" smtClean="0"/>
              <a:t>=0</a:t>
            </a:r>
            <a:r>
              <a:rPr lang="zh-CN" altLang="en-US" smtClean="0"/>
              <a:t>的解</a:t>
            </a:r>
            <a:r>
              <a:rPr lang="en-US" altLang="zh-CN" smtClean="0"/>
              <a:t>X</a:t>
            </a:r>
            <a:r>
              <a:rPr lang="en-US" altLang="zh-CN" baseline="30000" smtClean="0"/>
              <a:t>(N)</a:t>
            </a:r>
            <a:r>
              <a:rPr lang="zh-CN" altLang="en-US" smtClean="0"/>
              <a:t>为止。</a:t>
            </a:r>
          </a:p>
          <a:p>
            <a:pPr lvl="1"/>
            <a:r>
              <a:rPr lang="zh-CN" altLang="en-US" smtClean="0"/>
              <a:t>当上述同伦方程组的解为</a:t>
            </a:r>
            <a:r>
              <a:rPr lang="en-US" altLang="zh-CN" smtClean="0"/>
              <a:t>t</a:t>
            </a:r>
            <a:r>
              <a:rPr lang="zh-CN" altLang="en-US" smtClean="0"/>
              <a:t>的连续时，则</a:t>
            </a:r>
            <a:r>
              <a:rPr lang="en-US" altLang="zh-CN" smtClean="0"/>
              <a:t>X</a:t>
            </a:r>
            <a:r>
              <a:rPr lang="en-US" altLang="zh-CN" baseline="30000" smtClean="0"/>
              <a:t>(N)</a:t>
            </a:r>
            <a:r>
              <a:rPr lang="zh-CN" altLang="en-US" smtClean="0"/>
              <a:t>就是原方程</a:t>
            </a:r>
            <a:r>
              <a:rPr lang="en-US" altLang="zh-CN" smtClean="0"/>
              <a:t>F(X)=0</a:t>
            </a:r>
            <a:r>
              <a:rPr lang="zh-CN" altLang="en-US" smtClean="0"/>
              <a:t>的解。</a:t>
            </a:r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8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127366C8-A7CB-4399-9ACC-A47D379A2AC4}" type="slidenum">
              <a:rPr lang="zh-CN" altLang="en-US"/>
              <a:pPr/>
              <a:t>110</a:t>
            </a:fld>
            <a:endParaRPr lang="en-US" altLang="zh-CN"/>
          </a:p>
        </p:txBody>
      </p:sp>
      <p:sp>
        <p:nvSpPr>
          <p:cNvPr id="55309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0C175971-3DE1-4E94-BB18-5CB1BF8E40AC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497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§</a:t>
            </a:r>
            <a:r>
              <a:rPr lang="en-US" altLang="zh-CN" smtClean="0"/>
              <a:t>6</a:t>
            </a:r>
            <a:r>
              <a:rPr lang="en-US" altLang="zh-CN" smtClean="0">
                <a:latin typeface="Times New Roman" pitchFamily="18" charset="0"/>
              </a:rPr>
              <a:t>.2  </a:t>
            </a:r>
            <a:r>
              <a:rPr lang="zh-CN" altLang="en-US" smtClean="0">
                <a:latin typeface="Times New Roman" pitchFamily="18" charset="0"/>
              </a:rPr>
              <a:t>求解方法</a:t>
            </a:r>
          </a:p>
        </p:txBody>
      </p:sp>
      <p:sp>
        <p:nvSpPr>
          <p:cNvPr id="553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292227"/>
            <a:ext cx="8142288" cy="384175"/>
          </a:xfrm>
        </p:spPr>
        <p:txBody>
          <a:bodyPr/>
          <a:lstStyle/>
          <a:p>
            <a:r>
              <a:rPr lang="zh-CN" altLang="en-US" smtClean="0"/>
              <a:t>例2.1</a:t>
            </a:r>
            <a:r>
              <a:rPr lang="en-US" altLang="zh-CN" smtClean="0"/>
              <a:t>8  </a:t>
            </a:r>
            <a:r>
              <a:rPr lang="zh-CN" altLang="en-US" smtClean="0"/>
              <a:t>用延拓法求</a:t>
            </a:r>
          </a:p>
        </p:txBody>
      </p:sp>
      <p:graphicFrame>
        <p:nvGraphicFramePr>
          <p:cNvPr id="55298" name="Object 4"/>
          <p:cNvGraphicFramePr>
            <a:graphicFrameLocks noChangeAspect="1"/>
          </p:cNvGraphicFramePr>
          <p:nvPr/>
        </p:nvGraphicFramePr>
        <p:xfrm>
          <a:off x="4038600" y="1066800"/>
          <a:ext cx="47244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676" name="Equation" r:id="rId3" imgW="2057400" imgH="507960" progId="Equation.3">
                  <p:embed/>
                </p:oleObj>
              </mc:Choice>
              <mc:Fallback>
                <p:oleObj name="Equation" r:id="rId3" imgW="2057400" imgH="5079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1066800"/>
                        <a:ext cx="47244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12" name="Rectangle 5"/>
          <p:cNvSpPr>
            <a:spLocks noChangeArrowheads="1"/>
          </p:cNvSpPr>
          <p:nvPr/>
        </p:nvSpPr>
        <p:spPr bwMode="auto">
          <a:xfrm>
            <a:off x="1219202" y="1676402"/>
            <a:ext cx="25066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>
                <a:solidFill>
                  <a:srgbClr val="FF3300"/>
                </a:solidFill>
                <a:latin typeface="Times New Roman" pitchFamily="18" charset="0"/>
              </a:rPr>
              <a:t>(</a:t>
            </a:r>
            <a:r>
              <a:rPr lang="en-US" altLang="zh-CN" sz="2800" i="1">
                <a:solidFill>
                  <a:srgbClr val="FF3300"/>
                </a:solidFill>
                <a:latin typeface="Times New Roman" pitchFamily="18" charset="0"/>
              </a:rPr>
              <a:t>x</a:t>
            </a:r>
            <a:r>
              <a:rPr lang="en-US" altLang="zh-CN" sz="2800" baseline="-25000">
                <a:solidFill>
                  <a:srgbClr val="FF3300"/>
                </a:solidFill>
                <a:latin typeface="Times New Roman" pitchFamily="18" charset="0"/>
              </a:rPr>
              <a:t>0</a:t>
            </a:r>
            <a:r>
              <a:rPr lang="en-US" altLang="zh-CN" sz="2800">
                <a:solidFill>
                  <a:srgbClr val="FF3300"/>
                </a:solidFill>
                <a:latin typeface="Times New Roman" pitchFamily="18" charset="0"/>
              </a:rPr>
              <a:t>,</a:t>
            </a:r>
            <a:r>
              <a:rPr lang="en-US" altLang="zh-CN" sz="2800" i="1">
                <a:solidFill>
                  <a:srgbClr val="FF3300"/>
                </a:solidFill>
                <a:latin typeface="Times New Roman" pitchFamily="18" charset="0"/>
              </a:rPr>
              <a:t>y</a:t>
            </a:r>
            <a:r>
              <a:rPr lang="en-US" altLang="zh-CN" sz="2800" baseline="-25000">
                <a:solidFill>
                  <a:srgbClr val="FF3300"/>
                </a:solidFill>
                <a:latin typeface="Times New Roman" pitchFamily="18" charset="0"/>
              </a:rPr>
              <a:t>0</a:t>
            </a:r>
            <a:r>
              <a:rPr lang="en-US" altLang="zh-CN" sz="2800">
                <a:solidFill>
                  <a:srgbClr val="FF3300"/>
                </a:solidFill>
                <a:latin typeface="Times New Roman" pitchFamily="18" charset="0"/>
              </a:rPr>
              <a:t>)=(3.4,2.2)</a:t>
            </a:r>
            <a:endParaRPr lang="zh-CN" altLang="en-US" sz="2800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55313" name="Rectangle 6"/>
          <p:cNvSpPr>
            <a:spLocks noChangeArrowheads="1"/>
          </p:cNvSpPr>
          <p:nvPr/>
        </p:nvSpPr>
        <p:spPr bwMode="auto">
          <a:xfrm>
            <a:off x="620715" y="2438402"/>
            <a:ext cx="8142287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258763" indent="-258763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</a:pPr>
            <a:r>
              <a:rPr lang="zh-CN" altLang="en-US" sz="2800">
                <a:latin typeface="Times New Roman" pitchFamily="18" charset="0"/>
              </a:rPr>
              <a:t>解:取初值 (</a:t>
            </a:r>
            <a:r>
              <a:rPr lang="en-US" altLang="zh-CN" sz="2800" i="1">
                <a:latin typeface="Times New Roman" pitchFamily="18" charset="0"/>
              </a:rPr>
              <a:t>x</a:t>
            </a:r>
            <a:r>
              <a:rPr lang="en-US" altLang="zh-CN" sz="2800" baseline="-25000">
                <a:latin typeface="Times New Roman" pitchFamily="18" charset="0"/>
              </a:rPr>
              <a:t>0</a:t>
            </a:r>
            <a:r>
              <a:rPr lang="en-US" altLang="zh-CN" sz="2800">
                <a:latin typeface="Times New Roman" pitchFamily="18" charset="0"/>
              </a:rPr>
              <a:t>,</a:t>
            </a:r>
            <a:r>
              <a:rPr lang="en-US" altLang="zh-CN" sz="2800" i="1">
                <a:latin typeface="Times New Roman" pitchFamily="18" charset="0"/>
              </a:rPr>
              <a:t>y</a:t>
            </a:r>
            <a:r>
              <a:rPr lang="en-US" altLang="zh-CN" sz="2800" baseline="-25000">
                <a:latin typeface="Times New Roman" pitchFamily="18" charset="0"/>
              </a:rPr>
              <a:t>0</a:t>
            </a:r>
            <a:r>
              <a:rPr lang="en-US" altLang="zh-CN" sz="2800">
                <a:latin typeface="Times New Roman" pitchFamily="18" charset="0"/>
              </a:rPr>
              <a:t>)=(10,10)</a:t>
            </a:r>
            <a:endParaRPr lang="zh-CN" altLang="en-US" sz="2800">
              <a:latin typeface="Times New Roman" pitchFamily="18" charset="0"/>
            </a:endParaRPr>
          </a:p>
        </p:txBody>
      </p:sp>
      <p:graphicFrame>
        <p:nvGraphicFramePr>
          <p:cNvPr id="497671" name="Object 7"/>
          <p:cNvGraphicFramePr>
            <a:graphicFrameLocks noChangeAspect="1"/>
          </p:cNvGraphicFramePr>
          <p:nvPr/>
        </p:nvGraphicFramePr>
        <p:xfrm>
          <a:off x="4773615" y="2209800"/>
          <a:ext cx="4397375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677" name="Equation" r:id="rId5" imgW="2044440" imgH="482400" progId="Equation.3">
                  <p:embed/>
                </p:oleObj>
              </mc:Choice>
              <mc:Fallback>
                <p:oleObj name="Equation" r:id="rId5" imgW="2044440" imgH="4824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3615" y="2209800"/>
                        <a:ext cx="4397375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7672" name="Object 8"/>
          <p:cNvGraphicFramePr>
            <a:graphicFrameLocks noChangeAspect="1"/>
          </p:cNvGraphicFramePr>
          <p:nvPr/>
        </p:nvGraphicFramePr>
        <p:xfrm>
          <a:off x="2" y="3124200"/>
          <a:ext cx="5616575" cy="1163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678" name="Equation" r:id="rId7" imgW="2463480" imgH="482400" progId="Equation.3">
                  <p:embed/>
                </p:oleObj>
              </mc:Choice>
              <mc:Fallback>
                <p:oleObj name="Equation" r:id="rId7" imgW="2463480" imgH="4824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" y="3124200"/>
                        <a:ext cx="5616575" cy="1163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7673" name="Object 9"/>
          <p:cNvGraphicFramePr>
            <a:graphicFrameLocks noChangeAspect="1"/>
          </p:cNvGraphicFramePr>
          <p:nvPr/>
        </p:nvGraphicFramePr>
        <p:xfrm>
          <a:off x="5562602" y="3124202"/>
          <a:ext cx="218757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679" name="Equation" r:id="rId9" imgW="952200" imgH="215640" progId="Equation.3">
                  <p:embed/>
                </p:oleObj>
              </mc:Choice>
              <mc:Fallback>
                <p:oleObj name="Equation" r:id="rId9" imgW="952200" imgH="2156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2" y="3124202"/>
                        <a:ext cx="2187575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7674" name="AutoShape 10"/>
          <p:cNvSpPr>
            <a:spLocks noChangeArrowheads="1"/>
          </p:cNvSpPr>
          <p:nvPr/>
        </p:nvSpPr>
        <p:spPr bwMode="auto">
          <a:xfrm>
            <a:off x="4648200" y="1828800"/>
            <a:ext cx="2743200" cy="762000"/>
          </a:xfrm>
          <a:prstGeom prst="wedgeRectCallout">
            <a:avLst>
              <a:gd name="adj1" fmla="val 46181"/>
              <a:gd name="adj2" fmla="val 136042"/>
            </a:avLst>
          </a:prstGeom>
          <a:solidFill>
            <a:srgbClr val="FFFF99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 anchor="ctr"/>
          <a:lstStyle/>
          <a:p>
            <a:pPr algn="l"/>
            <a:r>
              <a:rPr lang="en-US" altLang="zh-CN" sz="2800">
                <a:latin typeface="Times New Roman" pitchFamily="18" charset="0"/>
                <a:cs typeface="Times New Roman" pitchFamily="18" charset="0"/>
              </a:rPr>
              <a:t>-(10+3-100</a:t>
            </a:r>
            <a:r>
              <a:rPr lang="en-US" altLang="zh-CN" sz="2800">
                <a:latin typeface="Times New Roman" pitchFamily="18" charset="0"/>
              </a:rPr>
              <a:t>)=+87</a:t>
            </a:r>
            <a:endParaRPr lang="zh-CN" altLang="en-US" sz="2800" baseline="-25000">
              <a:latin typeface="宋体" pitchFamily="2" charset="-122"/>
            </a:endParaRPr>
          </a:p>
        </p:txBody>
      </p:sp>
      <p:graphicFrame>
        <p:nvGraphicFramePr>
          <p:cNvPr id="497675" name="Object 11"/>
          <p:cNvGraphicFramePr>
            <a:graphicFrameLocks noChangeAspect="1"/>
          </p:cNvGraphicFramePr>
          <p:nvPr/>
        </p:nvGraphicFramePr>
        <p:xfrm>
          <a:off x="5584825" y="3673477"/>
          <a:ext cx="2185988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680" name="Equation" r:id="rId11" imgW="952200" imgH="215640" progId="Equation.3">
                  <p:embed/>
                </p:oleObj>
              </mc:Choice>
              <mc:Fallback>
                <p:oleObj name="Equation" r:id="rId11" imgW="952200" imgH="2156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4825" y="3673477"/>
                        <a:ext cx="2185988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7676" name="AutoShape 12"/>
          <p:cNvSpPr>
            <a:spLocks noChangeArrowheads="1"/>
          </p:cNvSpPr>
          <p:nvPr/>
        </p:nvSpPr>
        <p:spPr bwMode="auto">
          <a:xfrm>
            <a:off x="3886200" y="2514600"/>
            <a:ext cx="3505200" cy="685800"/>
          </a:xfrm>
          <a:prstGeom prst="wedgeRectCallout">
            <a:avLst>
              <a:gd name="adj1" fmla="val 47009"/>
              <a:gd name="adj2" fmla="val 145602"/>
            </a:avLst>
          </a:prstGeom>
          <a:solidFill>
            <a:srgbClr val="FFFF99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 anchor="ctr"/>
          <a:lstStyle/>
          <a:p>
            <a:pPr algn="l"/>
            <a:r>
              <a:rPr lang="en-US" altLang="zh-CN" sz="2800">
                <a:latin typeface="Times New Roman" pitchFamily="18" charset="0"/>
                <a:cs typeface="Times New Roman" pitchFamily="18" charset="0"/>
              </a:rPr>
              <a:t>-(200-100-50+1</a:t>
            </a:r>
            <a:r>
              <a:rPr lang="en-US" altLang="zh-CN" sz="2800">
                <a:latin typeface="Times New Roman" pitchFamily="18" charset="0"/>
              </a:rPr>
              <a:t>)=-51</a:t>
            </a:r>
            <a:endParaRPr lang="zh-CN" altLang="en-US" sz="2800" baseline="-25000">
              <a:latin typeface="宋体" pitchFamily="2" charset="-122"/>
            </a:endParaRPr>
          </a:p>
        </p:txBody>
      </p:sp>
      <p:graphicFrame>
        <p:nvGraphicFramePr>
          <p:cNvPr id="497677" name="Object 13"/>
          <p:cNvGraphicFramePr>
            <a:graphicFrameLocks noChangeAspect="1"/>
          </p:cNvGraphicFramePr>
          <p:nvPr/>
        </p:nvGraphicFramePr>
        <p:xfrm>
          <a:off x="-76199" y="4191000"/>
          <a:ext cx="5719763" cy="1163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681" name="Equation" r:id="rId13" imgW="2590560" imgH="482400" progId="Equation.3">
                  <p:embed/>
                </p:oleObj>
              </mc:Choice>
              <mc:Fallback>
                <p:oleObj name="Equation" r:id="rId13" imgW="2590560" imgH="4824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76199" y="4191000"/>
                        <a:ext cx="5719763" cy="1163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7678" name="Object 14"/>
          <p:cNvGraphicFramePr>
            <a:graphicFrameLocks noChangeAspect="1"/>
          </p:cNvGraphicFramePr>
          <p:nvPr/>
        </p:nvGraphicFramePr>
        <p:xfrm>
          <a:off x="5421315" y="4206877"/>
          <a:ext cx="3722687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682" name="Equation" r:id="rId15" imgW="1739880" imgH="215640" progId="Equation.3">
                  <p:embed/>
                </p:oleObj>
              </mc:Choice>
              <mc:Fallback>
                <p:oleObj name="Equation" r:id="rId15" imgW="1739880" imgH="21564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1315" y="4206877"/>
                        <a:ext cx="3722687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7679" name="Object 15"/>
          <p:cNvGraphicFramePr>
            <a:graphicFrameLocks noChangeAspect="1"/>
          </p:cNvGraphicFramePr>
          <p:nvPr/>
        </p:nvGraphicFramePr>
        <p:xfrm>
          <a:off x="5499100" y="4724402"/>
          <a:ext cx="36449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683" name="Equation" r:id="rId17" imgW="1739880" imgH="215640" progId="Equation.3">
                  <p:embed/>
                </p:oleObj>
              </mc:Choice>
              <mc:Fallback>
                <p:oleObj name="Equation" r:id="rId17" imgW="1739880" imgH="21564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9100" y="4724402"/>
                        <a:ext cx="3644900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7680" name="Object 16"/>
          <p:cNvGraphicFramePr>
            <a:graphicFrameLocks noChangeAspect="1"/>
          </p:cNvGraphicFramePr>
          <p:nvPr/>
        </p:nvGraphicFramePr>
        <p:xfrm>
          <a:off x="2060577" y="5410202"/>
          <a:ext cx="502602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684" name="Equation" r:id="rId19" imgW="2234880" imgH="215640" progId="Equation.3">
                  <p:embed/>
                </p:oleObj>
              </mc:Choice>
              <mc:Fallback>
                <p:oleObj name="Equation" r:id="rId19" imgW="2234880" imgH="21564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0577" y="5410202"/>
                        <a:ext cx="5026025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7681" name="Object 17"/>
          <p:cNvGraphicFramePr>
            <a:graphicFrameLocks noChangeAspect="1"/>
          </p:cNvGraphicFramePr>
          <p:nvPr/>
        </p:nvGraphicFramePr>
        <p:xfrm>
          <a:off x="2057400" y="5883277"/>
          <a:ext cx="50292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685" name="Equation" r:id="rId21" imgW="2222280" imgH="215640" progId="Equation.3">
                  <p:embed/>
                </p:oleObj>
              </mc:Choice>
              <mc:Fallback>
                <p:oleObj name="Equation" r:id="rId21" imgW="2222280" imgH="21564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5883277"/>
                        <a:ext cx="5029200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976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976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976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976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976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976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976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976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97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976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976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97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976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976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976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976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976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976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97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497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497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497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7674" grpId="0" animBg="1" autoUpdateAnimBg="0"/>
      <p:bldP spid="497676" grpId="0" animBg="1" autoUpdateAnimBg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5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AFE132A2-4C7F-4D84-801B-951D808D8F82}" type="slidenum">
              <a:rPr lang="zh-CN" altLang="en-US"/>
              <a:pPr/>
              <a:t>111</a:t>
            </a:fld>
            <a:endParaRPr lang="en-US" altLang="zh-CN"/>
          </a:p>
        </p:txBody>
      </p:sp>
      <p:sp>
        <p:nvSpPr>
          <p:cNvPr id="56326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772291AD-D331-4972-9EB1-FD223AD22C88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498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§</a:t>
            </a:r>
            <a:r>
              <a:rPr lang="en-US" altLang="zh-CN" smtClean="0"/>
              <a:t>6</a:t>
            </a:r>
            <a:r>
              <a:rPr lang="en-US" altLang="zh-CN" smtClean="0">
                <a:latin typeface="Times New Roman" pitchFamily="18" charset="0"/>
              </a:rPr>
              <a:t>.2  </a:t>
            </a:r>
            <a:r>
              <a:rPr lang="zh-CN" altLang="en-US" smtClean="0">
                <a:latin typeface="Times New Roman" pitchFamily="18" charset="0"/>
              </a:rPr>
              <a:t>求解方法</a:t>
            </a:r>
          </a:p>
        </p:txBody>
      </p:sp>
      <p:graphicFrame>
        <p:nvGraphicFramePr>
          <p:cNvPr id="498691" name="Object 3"/>
          <p:cNvGraphicFramePr>
            <a:graphicFrameLocks noChangeAspect="1"/>
          </p:cNvGraphicFramePr>
          <p:nvPr/>
        </p:nvGraphicFramePr>
        <p:xfrm>
          <a:off x="838202" y="1143000"/>
          <a:ext cx="4860925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39" name="Equation" r:id="rId3" imgW="2044440" imgH="507960" progId="Equation.3">
                  <p:embed/>
                </p:oleObj>
              </mc:Choice>
              <mc:Fallback>
                <p:oleObj name="Equation" r:id="rId3" imgW="2044440" imgH="50796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2" y="1143000"/>
                        <a:ext cx="4860925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8692" name="Object 4"/>
          <p:cNvGraphicFramePr>
            <a:graphicFrameLocks noChangeAspect="1"/>
          </p:cNvGraphicFramePr>
          <p:nvPr/>
        </p:nvGraphicFramePr>
        <p:xfrm>
          <a:off x="825502" y="2316165"/>
          <a:ext cx="5343525" cy="176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40" name="Equation" r:id="rId5" imgW="2247840" imgH="736560" progId="Equation.3">
                  <p:embed/>
                </p:oleObj>
              </mc:Choice>
              <mc:Fallback>
                <p:oleObj name="Equation" r:id="rId5" imgW="2247840" imgH="7365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502" y="2316165"/>
                        <a:ext cx="5343525" cy="176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8693" name="Rectangle 5"/>
          <p:cNvSpPr>
            <a:spLocks noChangeArrowheads="1"/>
          </p:cNvSpPr>
          <p:nvPr/>
        </p:nvSpPr>
        <p:spPr bwMode="auto">
          <a:xfrm>
            <a:off x="990602" y="4038602"/>
            <a:ext cx="52435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>
                <a:latin typeface="Times New Roman" pitchFamily="18" charset="0"/>
              </a:rPr>
              <a:t>t</a:t>
            </a:r>
            <a:r>
              <a:rPr lang="en-US" altLang="zh-CN" sz="2800" baseline="-25000">
                <a:latin typeface="Times New Roman" pitchFamily="18" charset="0"/>
              </a:rPr>
              <a:t>0</a:t>
            </a:r>
            <a:r>
              <a:rPr lang="en-US" altLang="zh-CN" sz="2800">
                <a:latin typeface="Times New Roman" pitchFamily="18" charset="0"/>
              </a:rPr>
              <a:t>=0, t</a:t>
            </a:r>
            <a:r>
              <a:rPr lang="en-US" altLang="zh-CN" sz="2800" baseline="-25000">
                <a:latin typeface="Times New Roman" pitchFamily="18" charset="0"/>
              </a:rPr>
              <a:t>1</a:t>
            </a:r>
            <a:r>
              <a:rPr lang="en-US" altLang="zh-CN" sz="2800">
                <a:latin typeface="Times New Roman" pitchFamily="18" charset="0"/>
              </a:rPr>
              <a:t>=0.25, t</a:t>
            </a:r>
            <a:r>
              <a:rPr lang="en-US" altLang="zh-CN" sz="2800" baseline="-25000">
                <a:latin typeface="Times New Roman" pitchFamily="18" charset="0"/>
              </a:rPr>
              <a:t>2</a:t>
            </a:r>
            <a:r>
              <a:rPr lang="en-US" altLang="zh-CN" sz="2800">
                <a:latin typeface="Times New Roman" pitchFamily="18" charset="0"/>
              </a:rPr>
              <a:t>=0. 5, t</a:t>
            </a:r>
            <a:r>
              <a:rPr lang="en-US" altLang="zh-CN" sz="2800" baseline="-25000">
                <a:latin typeface="Times New Roman" pitchFamily="18" charset="0"/>
              </a:rPr>
              <a:t>3</a:t>
            </a:r>
            <a:r>
              <a:rPr lang="en-US" altLang="zh-CN" sz="2800">
                <a:latin typeface="Times New Roman" pitchFamily="18" charset="0"/>
              </a:rPr>
              <a:t>=0.75, t</a:t>
            </a:r>
            <a:r>
              <a:rPr lang="en-US" altLang="zh-CN" sz="2800" baseline="-25000">
                <a:latin typeface="Times New Roman" pitchFamily="18" charset="0"/>
              </a:rPr>
              <a:t>4</a:t>
            </a:r>
            <a:r>
              <a:rPr lang="en-US" altLang="zh-CN" sz="2800">
                <a:latin typeface="Times New Roman" pitchFamily="18" charset="0"/>
              </a:rPr>
              <a:t>=1</a:t>
            </a:r>
            <a:endParaRPr lang="zh-CN" altLang="en-US" sz="2800">
              <a:latin typeface="Times New Roman" pitchFamily="18" charset="0"/>
            </a:endParaRPr>
          </a:p>
        </p:txBody>
      </p:sp>
      <p:graphicFrame>
        <p:nvGraphicFramePr>
          <p:cNvPr id="498694" name="Object 6"/>
          <p:cNvGraphicFramePr>
            <a:graphicFrameLocks noChangeAspect="1"/>
          </p:cNvGraphicFramePr>
          <p:nvPr/>
        </p:nvGraphicFramePr>
        <p:xfrm>
          <a:off x="14288" y="4724400"/>
          <a:ext cx="6996112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41" name="Equation" r:id="rId7" imgW="2997000" imgH="736560" progId="Equation.3">
                  <p:embed/>
                </p:oleObj>
              </mc:Choice>
              <mc:Fallback>
                <p:oleObj name="Equation" r:id="rId7" imgW="2997000" imgH="73656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8" y="4724400"/>
                        <a:ext cx="6996112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8695" name="Rectangle 7"/>
          <p:cNvSpPr>
            <a:spLocks noChangeArrowheads="1"/>
          </p:cNvSpPr>
          <p:nvPr/>
        </p:nvSpPr>
        <p:spPr bwMode="auto">
          <a:xfrm>
            <a:off x="7254877" y="4876802"/>
            <a:ext cx="1965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>
                <a:latin typeface="Times New Roman" pitchFamily="18" charset="0"/>
              </a:rPr>
              <a:t>X</a:t>
            </a:r>
            <a:r>
              <a:rPr lang="en-US" altLang="zh-CN" sz="2800" baseline="30000">
                <a:latin typeface="Times New Roman" pitchFamily="18" charset="0"/>
              </a:rPr>
              <a:t>(0)</a:t>
            </a:r>
            <a:r>
              <a:rPr lang="en-US" altLang="zh-CN" sz="2800">
                <a:latin typeface="Times New Roman" pitchFamily="18" charset="0"/>
              </a:rPr>
              <a:t>=(10,10)</a:t>
            </a:r>
            <a:endParaRPr lang="zh-CN" altLang="en-US" sz="2800">
              <a:latin typeface="Times New Roman" pitchFamily="18" charset="0"/>
            </a:endParaRPr>
          </a:p>
        </p:txBody>
      </p:sp>
      <p:sp>
        <p:nvSpPr>
          <p:cNvPr id="498696" name="Rectangle 8"/>
          <p:cNvSpPr>
            <a:spLocks noChangeArrowheads="1"/>
          </p:cNvSpPr>
          <p:nvPr/>
        </p:nvSpPr>
        <p:spPr bwMode="auto">
          <a:xfrm>
            <a:off x="7213602" y="5424488"/>
            <a:ext cx="1609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>
                <a:latin typeface="Times New Roman" pitchFamily="18" charset="0"/>
              </a:rPr>
              <a:t>X</a:t>
            </a:r>
            <a:r>
              <a:rPr lang="en-US" altLang="zh-CN" sz="2800" baseline="30000">
                <a:latin typeface="Times New Roman" pitchFamily="18" charset="0"/>
              </a:rPr>
              <a:t>(1)</a:t>
            </a:r>
            <a:r>
              <a:rPr lang="en-US" altLang="zh-CN" sz="2800">
                <a:latin typeface="Times New Roman" pitchFamily="18" charset="0"/>
              </a:rPr>
              <a:t>=(9,9)</a:t>
            </a:r>
            <a:endParaRPr lang="zh-CN" altLang="en-US" sz="280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8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8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8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8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8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98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8693" grpId="0" autoUpdateAnimBg="0"/>
      <p:bldP spid="498695" grpId="0" autoUpdateAnimBg="0"/>
      <p:bldP spid="498696" grpId="0" autoUpdateAnimBg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9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F582906B-D241-46B7-B847-554DCBC33A05}" type="slidenum">
              <a:rPr lang="zh-CN" altLang="en-US"/>
              <a:pPr/>
              <a:t>112</a:t>
            </a:fld>
            <a:endParaRPr lang="en-US" altLang="zh-CN"/>
          </a:p>
        </p:txBody>
      </p:sp>
      <p:sp>
        <p:nvSpPr>
          <p:cNvPr id="57350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C2E82670-DC52-4B5E-BF6B-92F7020B3D06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499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 smtClean="0"/>
              <a:t>§</a:t>
            </a:r>
            <a:r>
              <a:rPr lang="en-US" altLang="zh-CN" dirty="0" smtClean="0"/>
              <a:t>6</a:t>
            </a:r>
            <a:r>
              <a:rPr lang="en-US" altLang="zh-CN" dirty="0" smtClean="0">
                <a:latin typeface="Times New Roman" pitchFamily="18" charset="0"/>
              </a:rPr>
              <a:t>.2  </a:t>
            </a:r>
            <a:r>
              <a:rPr lang="zh-CN" altLang="en-US" dirty="0" smtClean="0">
                <a:latin typeface="Times New Roman" pitchFamily="18" charset="0"/>
              </a:rPr>
              <a:t>求解方法</a:t>
            </a:r>
          </a:p>
        </p:txBody>
      </p:sp>
      <p:graphicFrame>
        <p:nvGraphicFramePr>
          <p:cNvPr id="499715" name="Object 3"/>
          <p:cNvGraphicFramePr>
            <a:graphicFrameLocks noChangeAspect="1"/>
          </p:cNvGraphicFramePr>
          <p:nvPr/>
        </p:nvGraphicFramePr>
        <p:xfrm>
          <a:off x="242890" y="1143000"/>
          <a:ext cx="7058025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69" name="Equation" r:id="rId3" imgW="2997000" imgH="736560" progId="Equation.3">
                  <p:embed/>
                </p:oleObj>
              </mc:Choice>
              <mc:Fallback>
                <p:oleObj name="Equation" r:id="rId3" imgW="2997000" imgH="73656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890" y="1143000"/>
                        <a:ext cx="7058025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9716" name="Rectangle 4"/>
          <p:cNvSpPr>
            <a:spLocks noChangeArrowheads="1"/>
          </p:cNvSpPr>
          <p:nvPr/>
        </p:nvSpPr>
        <p:spPr bwMode="auto">
          <a:xfrm>
            <a:off x="7458077" y="1371602"/>
            <a:ext cx="16097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>
                <a:latin typeface="Times New Roman" pitchFamily="18" charset="0"/>
              </a:rPr>
              <a:t>X</a:t>
            </a:r>
            <a:r>
              <a:rPr lang="en-US" altLang="zh-CN" sz="2800" baseline="30000">
                <a:latin typeface="Times New Roman" pitchFamily="18" charset="0"/>
              </a:rPr>
              <a:t>(1)</a:t>
            </a:r>
            <a:r>
              <a:rPr lang="en-US" altLang="zh-CN" sz="2800">
                <a:latin typeface="Times New Roman" pitchFamily="18" charset="0"/>
              </a:rPr>
              <a:t>=(9,9)</a:t>
            </a:r>
            <a:endParaRPr lang="zh-CN" altLang="en-US" sz="2800">
              <a:latin typeface="Times New Roman" pitchFamily="18" charset="0"/>
            </a:endParaRPr>
          </a:p>
        </p:txBody>
      </p:sp>
      <p:sp>
        <p:nvSpPr>
          <p:cNvPr id="499717" name="Rectangle 5"/>
          <p:cNvSpPr>
            <a:spLocks noChangeArrowheads="1"/>
          </p:cNvSpPr>
          <p:nvPr/>
        </p:nvSpPr>
        <p:spPr bwMode="auto">
          <a:xfrm>
            <a:off x="7458077" y="1919288"/>
            <a:ext cx="1609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>
                <a:latin typeface="Times New Roman" pitchFamily="18" charset="0"/>
              </a:rPr>
              <a:t>X</a:t>
            </a:r>
            <a:r>
              <a:rPr lang="en-US" altLang="zh-CN" sz="2800" baseline="30000">
                <a:latin typeface="Times New Roman" pitchFamily="18" charset="0"/>
              </a:rPr>
              <a:t>(2)</a:t>
            </a:r>
            <a:r>
              <a:rPr lang="en-US" altLang="zh-CN" sz="2800">
                <a:latin typeface="Times New Roman" pitchFamily="18" charset="0"/>
              </a:rPr>
              <a:t>=(8,7)</a:t>
            </a:r>
            <a:endParaRPr lang="zh-CN" altLang="en-US" sz="2800">
              <a:latin typeface="Times New Roman" pitchFamily="18" charset="0"/>
            </a:endParaRPr>
          </a:p>
        </p:txBody>
      </p:sp>
      <p:graphicFrame>
        <p:nvGraphicFramePr>
          <p:cNvPr id="499718" name="Object 6"/>
          <p:cNvGraphicFramePr>
            <a:graphicFrameLocks noChangeAspect="1"/>
          </p:cNvGraphicFramePr>
          <p:nvPr/>
        </p:nvGraphicFramePr>
        <p:xfrm>
          <a:off x="242890" y="2847977"/>
          <a:ext cx="7058025" cy="180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70" name="Equation" r:id="rId5" imgW="2997000" imgH="736560" progId="Equation.3">
                  <p:embed/>
                </p:oleObj>
              </mc:Choice>
              <mc:Fallback>
                <p:oleObj name="Equation" r:id="rId5" imgW="2997000" imgH="73656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890" y="2847977"/>
                        <a:ext cx="7058025" cy="180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9719" name="Rectangle 7"/>
          <p:cNvSpPr>
            <a:spLocks noChangeArrowheads="1"/>
          </p:cNvSpPr>
          <p:nvPr/>
        </p:nvSpPr>
        <p:spPr bwMode="auto">
          <a:xfrm>
            <a:off x="7458077" y="3076577"/>
            <a:ext cx="16097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>
                <a:latin typeface="Times New Roman" pitchFamily="18" charset="0"/>
              </a:rPr>
              <a:t>X</a:t>
            </a:r>
            <a:r>
              <a:rPr lang="en-US" altLang="zh-CN" sz="2800" baseline="30000">
                <a:latin typeface="Times New Roman" pitchFamily="18" charset="0"/>
              </a:rPr>
              <a:t>(2)</a:t>
            </a:r>
            <a:r>
              <a:rPr lang="en-US" altLang="zh-CN" sz="2800">
                <a:latin typeface="Times New Roman" pitchFamily="18" charset="0"/>
              </a:rPr>
              <a:t>=(8,7)</a:t>
            </a:r>
            <a:endParaRPr lang="zh-CN" altLang="en-US" sz="2800">
              <a:latin typeface="Times New Roman" pitchFamily="18" charset="0"/>
            </a:endParaRPr>
          </a:p>
        </p:txBody>
      </p:sp>
      <p:sp>
        <p:nvSpPr>
          <p:cNvPr id="499720" name="Rectangle 8"/>
          <p:cNvSpPr>
            <a:spLocks noChangeArrowheads="1"/>
          </p:cNvSpPr>
          <p:nvPr/>
        </p:nvSpPr>
        <p:spPr bwMode="auto">
          <a:xfrm>
            <a:off x="7458077" y="3624263"/>
            <a:ext cx="1609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>
                <a:latin typeface="Times New Roman" pitchFamily="18" charset="0"/>
              </a:rPr>
              <a:t>X</a:t>
            </a:r>
            <a:r>
              <a:rPr lang="en-US" altLang="zh-CN" sz="2800" baseline="30000">
                <a:latin typeface="Times New Roman" pitchFamily="18" charset="0"/>
              </a:rPr>
              <a:t>(3)</a:t>
            </a:r>
            <a:r>
              <a:rPr lang="en-US" altLang="zh-CN" sz="2800">
                <a:latin typeface="Times New Roman" pitchFamily="18" charset="0"/>
              </a:rPr>
              <a:t>=(7,6)</a:t>
            </a:r>
            <a:endParaRPr lang="zh-CN" altLang="en-US" sz="2800">
              <a:latin typeface="Times New Roman" pitchFamily="18" charset="0"/>
            </a:endParaRPr>
          </a:p>
        </p:txBody>
      </p:sp>
      <p:graphicFrame>
        <p:nvGraphicFramePr>
          <p:cNvPr id="499721" name="Object 9"/>
          <p:cNvGraphicFramePr>
            <a:graphicFrameLocks noChangeAspect="1"/>
          </p:cNvGraphicFramePr>
          <p:nvPr/>
        </p:nvGraphicFramePr>
        <p:xfrm>
          <a:off x="481013" y="4524377"/>
          <a:ext cx="6578600" cy="172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71" name="Equation" r:id="rId7" imgW="2793960" imgH="736560" progId="Equation.3">
                  <p:embed/>
                </p:oleObj>
              </mc:Choice>
              <mc:Fallback>
                <p:oleObj name="Equation" r:id="rId7" imgW="2793960" imgH="73656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013" y="4524377"/>
                        <a:ext cx="6578600" cy="172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9722" name="Rectangle 10"/>
          <p:cNvSpPr>
            <a:spLocks noChangeArrowheads="1"/>
          </p:cNvSpPr>
          <p:nvPr/>
        </p:nvSpPr>
        <p:spPr bwMode="auto">
          <a:xfrm>
            <a:off x="2209802" y="6096002"/>
            <a:ext cx="16097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>
                <a:latin typeface="Times New Roman" pitchFamily="18" charset="0"/>
              </a:rPr>
              <a:t>X</a:t>
            </a:r>
            <a:r>
              <a:rPr lang="en-US" altLang="zh-CN" sz="2800" baseline="30000">
                <a:latin typeface="Times New Roman" pitchFamily="18" charset="0"/>
              </a:rPr>
              <a:t>(4)</a:t>
            </a:r>
            <a:r>
              <a:rPr lang="en-US" altLang="zh-CN" sz="2800">
                <a:latin typeface="Times New Roman" pitchFamily="18" charset="0"/>
              </a:rPr>
              <a:t>=(7,6)</a:t>
            </a:r>
            <a:endParaRPr lang="zh-CN" altLang="en-US" sz="2800">
              <a:latin typeface="Times New Roman" pitchFamily="18" charset="0"/>
            </a:endParaRPr>
          </a:p>
        </p:txBody>
      </p:sp>
      <p:sp>
        <p:nvSpPr>
          <p:cNvPr id="499723" name="Rectangle 11"/>
          <p:cNvSpPr>
            <a:spLocks noChangeArrowheads="1"/>
          </p:cNvSpPr>
          <p:nvPr/>
        </p:nvSpPr>
        <p:spPr bwMode="auto">
          <a:xfrm>
            <a:off x="4038600" y="6096002"/>
            <a:ext cx="3505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800">
                <a:latin typeface="Times New Roman" pitchFamily="18" charset="0"/>
              </a:rPr>
              <a:t>X</a:t>
            </a:r>
            <a:r>
              <a:rPr lang="en-US" altLang="zh-CN" sz="2800" baseline="30000">
                <a:latin typeface="Times New Roman" pitchFamily="18" charset="0"/>
              </a:rPr>
              <a:t>(5)</a:t>
            </a:r>
            <a:r>
              <a:rPr lang="en-US" altLang="zh-CN" sz="2800">
                <a:latin typeface="Times New Roman" pitchFamily="18" charset="0"/>
              </a:rPr>
              <a:t>=(3.487,2.262)</a:t>
            </a:r>
            <a:endParaRPr lang="zh-CN" altLang="en-US" sz="280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9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9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9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9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9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9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99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99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99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9716" grpId="0" autoUpdateAnimBg="0"/>
      <p:bldP spid="499717" grpId="0" autoUpdateAnimBg="0"/>
      <p:bldP spid="499719" grpId="0" autoUpdateAnimBg="0"/>
      <p:bldP spid="499720" grpId="0" autoUpdateAnimBg="0"/>
      <p:bldP spid="499722" grpId="0" autoUpdateAnimBg="0"/>
      <p:bldP spid="499723" grpId="0" autoUpdateAnimBg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0075" y="305002"/>
            <a:ext cx="8142288" cy="609398"/>
          </a:xfrm>
        </p:spPr>
        <p:txBody>
          <a:bodyPr/>
          <a:lstStyle/>
          <a:p>
            <a:r>
              <a:rPr lang="zh-CN" altLang="en-US" dirty="0"/>
              <a:t>全球定位系统（</a:t>
            </a:r>
            <a:r>
              <a:rPr lang="en-US" altLang="zh-CN" dirty="0"/>
              <a:t>GPS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124744"/>
            <a:ext cx="8395470" cy="2123658"/>
          </a:xfrm>
        </p:spPr>
        <p:txBody>
          <a:bodyPr/>
          <a:lstStyle/>
          <a:p>
            <a:r>
              <a:rPr lang="zh-CN" altLang="en-US" sz="2400" dirty="0"/>
              <a:t>人类对导航和定位的需求是伴随着人类整个文明历史的进步而发展</a:t>
            </a:r>
            <a:r>
              <a:rPr lang="zh-CN" altLang="en-US" sz="2400" dirty="0" smtClean="0"/>
              <a:t>的，指南针</a:t>
            </a:r>
            <a:r>
              <a:rPr lang="zh-CN" altLang="en-US" sz="2400" dirty="0"/>
              <a:t>是最早的定位仪器和系统，其后还有经纬仪以及近代的雷达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pPr lvl="1"/>
            <a:r>
              <a:rPr lang="zh-CN" altLang="en-US" sz="2400" dirty="0"/>
              <a:t>全球定位系统（</a:t>
            </a:r>
            <a:r>
              <a:rPr lang="en-US" altLang="zh-CN" sz="2400" dirty="0"/>
              <a:t>GPS</a:t>
            </a:r>
            <a:r>
              <a:rPr lang="zh-CN" altLang="en-US" sz="2400" dirty="0"/>
              <a:t>）是基于卫星的导航系统，最早由美国和前苏联分别</a:t>
            </a:r>
            <a:r>
              <a:rPr lang="zh-CN" altLang="en-US" sz="2400" dirty="0" smtClean="0"/>
              <a:t>在</a:t>
            </a:r>
            <a:r>
              <a:rPr lang="en-US" altLang="zh-CN" sz="2400" dirty="0" smtClean="0"/>
              <a:t>80</a:t>
            </a:r>
            <a:r>
              <a:rPr lang="zh-CN" altLang="en-US" sz="2400" dirty="0"/>
              <a:t>年代研制，并于</a:t>
            </a:r>
            <a:r>
              <a:rPr lang="en-US" altLang="zh-CN" sz="2400" dirty="0"/>
              <a:t>1993</a:t>
            </a:r>
            <a:r>
              <a:rPr lang="zh-CN" altLang="en-US" sz="2400" dirty="0"/>
              <a:t>年正式投入</a:t>
            </a:r>
            <a:r>
              <a:rPr lang="zh-CN" altLang="en-US" sz="2400" dirty="0" smtClean="0"/>
              <a:t>使用。现代</a:t>
            </a:r>
            <a:r>
              <a:rPr lang="zh-CN" altLang="en-US" sz="2400" dirty="0"/>
              <a:t>社会</a:t>
            </a:r>
            <a:r>
              <a:rPr lang="zh-CN" altLang="en-US" sz="2400" dirty="0" smtClean="0"/>
              <a:t>中</a:t>
            </a:r>
            <a:r>
              <a:rPr lang="en-US" altLang="zh-CN" sz="2400" dirty="0"/>
              <a:t>GPS</a:t>
            </a:r>
            <a:r>
              <a:rPr lang="zh-CN" altLang="en-US" sz="2400" dirty="0" smtClean="0"/>
              <a:t>深入</a:t>
            </a:r>
            <a:r>
              <a:rPr lang="zh-CN" altLang="en-US" sz="2400" dirty="0"/>
              <a:t>到人们生活的方方面面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EB2D8C-C595-4C75-A410-92E615560A69}" type="slidenum">
              <a:rPr lang="zh-CN" altLang="en-US" smtClean="0"/>
              <a:pPr>
                <a:defRPr/>
              </a:pPr>
              <a:t>113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F4F2C565-DEEA-484F-99D9-2BCC1484ACAF}" type="datetime1">
              <a:rPr lang="zh-CN" altLang="en-US" smtClean="0"/>
              <a:pPr>
                <a:defRPr/>
              </a:pPr>
              <a:t>2024/9/22</a:t>
            </a:fld>
            <a:endParaRPr lang="en-US" altLang="zh-CN" sz="1000"/>
          </a:p>
        </p:txBody>
      </p:sp>
      <p:grpSp>
        <p:nvGrpSpPr>
          <p:cNvPr id="6" name="Group 2"/>
          <p:cNvGrpSpPr>
            <a:grpSpLocks noChangeAspect="1"/>
          </p:cNvGrpSpPr>
          <p:nvPr/>
        </p:nvGrpSpPr>
        <p:grpSpPr bwMode="auto">
          <a:xfrm>
            <a:off x="2267744" y="3511550"/>
            <a:ext cx="5795963" cy="2819400"/>
            <a:chOff x="0" y="0"/>
            <a:chExt cx="3651" cy="1776"/>
          </a:xfrm>
        </p:grpSpPr>
        <p:pic>
          <p:nvPicPr>
            <p:cNvPr id="7" name="Picture 3" descr="showimg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186"/>
            <a:stretch>
              <a:fillRect/>
            </a:stretch>
          </p:blipFill>
          <p:spPr bwMode="auto">
            <a:xfrm>
              <a:off x="0" y="0"/>
              <a:ext cx="1443" cy="1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4" descr="showimg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736"/>
            <a:stretch>
              <a:fillRect/>
            </a:stretch>
          </p:blipFill>
          <p:spPr bwMode="auto">
            <a:xfrm>
              <a:off x="1663" y="0"/>
              <a:ext cx="1988" cy="1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2140496" y="6297279"/>
            <a:ext cx="2952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zh-CN" altLang="en-US" dirty="0" smtClean="0">
                <a:latin typeface="Arial" pitchFamily="34" charset="0"/>
                <a:ea typeface="楷体_GB2312" pitchFamily="1" charset="-122"/>
              </a:rPr>
              <a:t>卫星定位</a:t>
            </a:r>
            <a:r>
              <a:rPr lang="zh-CN" altLang="en-US" dirty="0">
                <a:latin typeface="Arial" pitchFamily="34" charset="0"/>
                <a:ea typeface="楷体_GB2312" pitchFamily="1" charset="-122"/>
              </a:rPr>
              <a:t>示意图</a:t>
            </a:r>
          </a:p>
        </p:txBody>
      </p:sp>
    </p:spTree>
    <p:extLst>
      <p:ext uri="{BB962C8B-B14F-4D97-AF65-F5344CB8AC3E}">
        <p14:creationId xmlns:p14="http://schemas.microsoft.com/office/powerpoint/2010/main" val="3449541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0075" y="305002"/>
            <a:ext cx="8142288" cy="609398"/>
          </a:xfrm>
        </p:spPr>
        <p:txBody>
          <a:bodyPr/>
          <a:lstStyle/>
          <a:p>
            <a:r>
              <a:rPr lang="zh-CN" altLang="en-US" dirty="0"/>
              <a:t>全球定位系统（</a:t>
            </a:r>
            <a:r>
              <a:rPr lang="en-US" altLang="zh-CN" dirty="0"/>
              <a:t>GPS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124744"/>
            <a:ext cx="8395470" cy="664797"/>
          </a:xfrm>
        </p:spPr>
        <p:txBody>
          <a:bodyPr/>
          <a:lstStyle/>
          <a:p>
            <a:r>
              <a:rPr lang="en-US" altLang="zh-CN" sz="2400" dirty="0" smtClean="0"/>
              <a:t>GPS</a:t>
            </a:r>
            <a:r>
              <a:rPr lang="zh-CN" altLang="en-US" sz="2400" dirty="0" smtClean="0"/>
              <a:t>基本原理</a:t>
            </a:r>
            <a:r>
              <a:rPr lang="zh-CN" altLang="en-US" sz="2400" dirty="0"/>
              <a:t>是：在地球的任何一个位置，</a:t>
            </a:r>
            <a:r>
              <a:rPr lang="zh-CN" altLang="en-US" sz="2400" dirty="0" smtClean="0"/>
              <a:t>至少同时</a:t>
            </a:r>
            <a:r>
              <a:rPr lang="zh-CN" altLang="en-US" sz="2400" dirty="0"/>
              <a:t>收到</a:t>
            </a:r>
            <a:r>
              <a:rPr lang="en-US" altLang="zh-CN" sz="2400" dirty="0"/>
              <a:t>4</a:t>
            </a:r>
            <a:r>
              <a:rPr lang="zh-CN" altLang="en-US" sz="2400" dirty="0"/>
              <a:t>颗以上卫星发射的信号。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EB2D8C-C595-4C75-A410-92E615560A69}" type="slidenum">
              <a:rPr lang="zh-CN" altLang="en-US" smtClean="0"/>
              <a:pPr>
                <a:defRPr/>
              </a:pPr>
              <a:t>114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F4F2C565-DEEA-484F-99D9-2BCC1484ACAF}" type="datetime1">
              <a:rPr lang="zh-CN" altLang="en-US" smtClean="0"/>
              <a:pPr>
                <a:defRPr/>
              </a:pPr>
              <a:t>2024/9/22</a:t>
            </a:fld>
            <a:endParaRPr lang="en-US" altLang="zh-CN" sz="1000"/>
          </a:p>
        </p:txBody>
      </p:sp>
      <p:graphicFrame>
        <p:nvGraphicFramePr>
          <p:cNvPr id="1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7895988"/>
              </p:ext>
            </p:extLst>
          </p:nvPr>
        </p:nvGraphicFramePr>
        <p:xfrm>
          <a:off x="5190985" y="1860979"/>
          <a:ext cx="1371600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36" r:id="rId4" imgW="761986" imgH="228818" progId="Equation.DSMT4">
                  <p:embed/>
                </p:oleObj>
              </mc:Choice>
              <mc:Fallback>
                <p:oleObj r:id="rId4" imgW="761986" imgH="22881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0985" y="1860979"/>
                        <a:ext cx="1371600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mpd="sng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6632437" y="1789541"/>
            <a:ext cx="2106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zh-CN" altLang="en-US" sz="2400">
                <a:latin typeface="Arial" pitchFamily="34" charset="0"/>
                <a:ea typeface="楷体_GB2312" pitchFamily="1" charset="-122"/>
              </a:rPr>
              <a:t>发射的信号， </a:t>
            </a: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366573" y="1789541"/>
            <a:ext cx="49323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1" hangingPunct="1"/>
            <a:r>
              <a:rPr lang="zh-CN" altLang="zh-CN" sz="2400" b="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设地球上一个点</a:t>
            </a:r>
            <a:r>
              <a:rPr lang="zh-CN" altLang="zh-CN" sz="2400" dirty="0">
                <a:latin typeface="楷体_GB2312" pitchFamily="1" charset="-122"/>
                <a:ea typeface="楷体_GB2312" pitchFamily="1" charset="-122"/>
              </a:rPr>
              <a:t>R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，同时收到卫星</a:t>
            </a:r>
            <a:r>
              <a:rPr lang="zh-CN" altLang="en-US" sz="2400" b="0" dirty="0">
                <a:latin typeface="楷体_GB2312" pitchFamily="1" charset="-122"/>
                <a:ea typeface="楷体_GB2312" pitchFamily="1" charset="-122"/>
              </a:rPr>
              <a:t> </a:t>
            </a:r>
          </a:p>
        </p:txBody>
      </p: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579182" y="2311159"/>
            <a:ext cx="72907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zh-CN" altLang="en-US" sz="2400" dirty="0">
                <a:solidFill>
                  <a:srgbClr val="0033CC"/>
                </a:solidFill>
                <a:latin typeface="Times New Roman" pitchFamily="18" charset="0"/>
                <a:ea typeface="楷体_GB2312" pitchFamily="1" charset="-122"/>
              </a:rPr>
              <a:t>假设接收的信息如</a:t>
            </a:r>
            <a:r>
              <a:rPr lang="zh-CN" altLang="en-US" sz="2400" dirty="0" smtClean="0">
                <a:solidFill>
                  <a:srgbClr val="0033CC"/>
                </a:solidFill>
                <a:latin typeface="Times New Roman" pitchFamily="18" charset="0"/>
                <a:ea typeface="楷体_GB2312" pitchFamily="1" charset="-122"/>
              </a:rPr>
              <a:t>表所</a:t>
            </a:r>
            <a:r>
              <a:rPr lang="zh-CN" altLang="en-US" sz="2400" dirty="0">
                <a:solidFill>
                  <a:srgbClr val="0033CC"/>
                </a:solidFill>
                <a:latin typeface="Times New Roman" pitchFamily="18" charset="0"/>
                <a:ea typeface="楷体_GB2312" pitchFamily="1" charset="-122"/>
              </a:rPr>
              <a:t>示。请设法确定</a:t>
            </a:r>
            <a:r>
              <a:rPr lang="zh-CN" altLang="zh-CN" sz="2400" dirty="0">
                <a:solidFill>
                  <a:srgbClr val="0033CC"/>
                </a:solidFill>
                <a:latin typeface="Times New Roman" pitchFamily="18" charset="0"/>
                <a:ea typeface="楷体_GB2312" pitchFamily="1" charset="-122"/>
              </a:rPr>
              <a:t>R</a:t>
            </a:r>
            <a:r>
              <a:rPr lang="zh-CN" altLang="en-US" sz="2400" dirty="0">
                <a:solidFill>
                  <a:srgbClr val="0033CC"/>
                </a:solidFill>
                <a:latin typeface="Times New Roman" pitchFamily="18" charset="0"/>
                <a:ea typeface="楷体_GB2312" pitchFamily="1" charset="-122"/>
              </a:rPr>
              <a:t>点的位置。 </a:t>
            </a:r>
          </a:p>
        </p:txBody>
      </p:sp>
      <p:pic>
        <p:nvPicPr>
          <p:cNvPr id="20" name="Picture 3" descr="GPS_flash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569" y="2819780"/>
            <a:ext cx="2785688" cy="2576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4"/>
          <p:cNvSpPr>
            <a:spLocks noChangeArrowheads="1"/>
          </p:cNvSpPr>
          <p:nvPr/>
        </p:nvSpPr>
        <p:spPr bwMode="auto">
          <a:xfrm>
            <a:off x="715967" y="5524850"/>
            <a:ext cx="178286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indent="304800" eaLnBrk="1" hangingPunct="1"/>
            <a:r>
              <a:rPr lang="zh-CN" altLang="en-US" dirty="0">
                <a:solidFill>
                  <a:srgbClr val="0033CC"/>
                </a:solidFill>
                <a:latin typeface="Arial" pitchFamily="34" charset="0"/>
                <a:ea typeface="楷体_GB2312" pitchFamily="1" charset="-122"/>
              </a:rPr>
              <a:t>卫星分布图</a:t>
            </a:r>
          </a:p>
        </p:txBody>
      </p:sp>
      <p:sp>
        <p:nvSpPr>
          <p:cNvPr id="22" name="Rectangle 5"/>
          <p:cNvSpPr>
            <a:spLocks noChangeArrowheads="1"/>
          </p:cNvSpPr>
          <p:nvPr/>
        </p:nvSpPr>
        <p:spPr bwMode="auto">
          <a:xfrm>
            <a:off x="4907018" y="2451480"/>
            <a:ext cx="1847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1" hangingPunct="1"/>
            <a:endParaRPr lang="zh-CN" altLang="zh-CN" dirty="0">
              <a:solidFill>
                <a:srgbClr val="0033CC"/>
              </a:solidFill>
              <a:latin typeface="Arial" pitchFamily="34" charset="0"/>
              <a:ea typeface="楷体_GB2312" pitchFamily="1" charset="-122"/>
            </a:endParaRPr>
          </a:p>
        </p:txBody>
      </p:sp>
      <p:pic>
        <p:nvPicPr>
          <p:cNvPr id="23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344" y="2793759"/>
            <a:ext cx="5486400" cy="258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896991" y="6040817"/>
            <a:ext cx="6673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zh-CN" altLang="zh-CN" sz="2400" dirty="0">
                <a:solidFill>
                  <a:srgbClr val="0033CC"/>
                </a:solidFill>
                <a:latin typeface="Times New Roman" pitchFamily="18" charset="0"/>
                <a:ea typeface="楷体_GB2312" pitchFamily="1" charset="-122"/>
              </a:rPr>
              <a:t>GPS</a:t>
            </a:r>
            <a:r>
              <a:rPr lang="zh-CN" altLang="en-US" sz="2400" dirty="0">
                <a:solidFill>
                  <a:srgbClr val="0033CC"/>
                </a:solidFill>
                <a:latin typeface="Times New Roman" pitchFamily="18" charset="0"/>
                <a:ea typeface="楷体_GB2312" pitchFamily="1" charset="-122"/>
              </a:rPr>
              <a:t>导航问题可归结为求解非线性</a:t>
            </a:r>
            <a:r>
              <a:rPr lang="zh-CN" altLang="en-US" sz="2400" dirty="0" smtClean="0">
                <a:solidFill>
                  <a:srgbClr val="0033CC"/>
                </a:solidFill>
                <a:latin typeface="Times New Roman" pitchFamily="18" charset="0"/>
                <a:ea typeface="楷体_GB2312" pitchFamily="1" charset="-122"/>
              </a:rPr>
              <a:t>代数方程</a:t>
            </a:r>
            <a:r>
              <a:rPr lang="zh-CN" altLang="en-US" sz="2400" dirty="0">
                <a:solidFill>
                  <a:srgbClr val="0033CC"/>
                </a:solidFill>
                <a:latin typeface="Times New Roman" pitchFamily="18" charset="0"/>
                <a:ea typeface="楷体_GB2312" pitchFamily="1" charset="-122"/>
              </a:rPr>
              <a:t>组 </a:t>
            </a:r>
          </a:p>
        </p:txBody>
      </p:sp>
    </p:spTree>
    <p:extLst>
      <p:ext uri="{BB962C8B-B14F-4D97-AF65-F5344CB8AC3E}">
        <p14:creationId xmlns:p14="http://schemas.microsoft.com/office/powerpoint/2010/main" val="3886376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utoUpdateAnimBg="0"/>
      <p:bldP spid="12" grpId="0" autoUpdateAnimBg="0"/>
      <p:bldP spid="19" grpId="0" autoUpdateAnimBg="0"/>
      <p:bldP spid="21" grpId="0" autoUpdateAnimBg="0"/>
      <p:bldP spid="22" grpId="0" autoUpdateAnimBg="0"/>
      <p:bldP spid="24" grpId="0" autoUpdateAnimBg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19"/>
          <a:stretch>
            <a:fillRect/>
          </a:stretch>
        </p:blipFill>
        <p:spPr bwMode="auto">
          <a:xfrm>
            <a:off x="1088879" y="1610962"/>
            <a:ext cx="5519079" cy="4813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656420" y="999774"/>
            <a:ext cx="7627938" cy="842963"/>
            <a:chOff x="-48" y="-1"/>
            <a:chExt cx="4805" cy="531"/>
          </a:xfrm>
        </p:grpSpPr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-48" y="0"/>
              <a:ext cx="94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l" eaLnBrk="1" hangingPunct="1"/>
              <a:r>
                <a:rPr lang="zh-CN" altLang="en-US" sz="2400" dirty="0">
                  <a:latin typeface="Arial" pitchFamily="34" charset="0"/>
                  <a:ea typeface="楷体_GB2312" pitchFamily="1" charset="-122"/>
                </a:rPr>
                <a:t>解：卫星 </a:t>
              </a:r>
            </a:p>
          </p:txBody>
        </p:sp>
        <p:graphicFrame>
          <p:nvGraphicFramePr>
            <p:cNvPr id="6" name="Object 6"/>
            <p:cNvGraphicFramePr>
              <a:graphicFrameLocks noChangeAspect="1"/>
            </p:cNvGraphicFramePr>
            <p:nvPr/>
          </p:nvGraphicFramePr>
          <p:xfrm>
            <a:off x="768" y="0"/>
            <a:ext cx="96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262" r:id="rId4" imgW="761986" imgH="228818" progId="Equation.DSMT4">
                    <p:embed/>
                  </p:oleObj>
                </mc:Choice>
                <mc:Fallback>
                  <p:oleObj r:id="rId4" imgW="761986" imgH="22881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" y="0"/>
                          <a:ext cx="960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cmpd="sng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1660" y="-1"/>
              <a:ext cx="211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l" eaLnBrk="1" hangingPunct="1"/>
              <a:r>
                <a:rPr lang="zh-CN" altLang="en-US" sz="2400" dirty="0">
                  <a:latin typeface="Arial" pitchFamily="34" charset="0"/>
                  <a:ea typeface="楷体_GB2312" pitchFamily="1" charset="-122"/>
                </a:rPr>
                <a:t>的位置如图所示，假设 </a:t>
              </a:r>
            </a:p>
          </p:txBody>
        </p:sp>
        <p:graphicFrame>
          <p:nvGraphicFramePr>
            <p:cNvPr id="8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77776023"/>
                </p:ext>
              </p:extLst>
            </p:nvPr>
          </p:nvGraphicFramePr>
          <p:xfrm>
            <a:off x="3701" y="30"/>
            <a:ext cx="1056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263" r:id="rId6" imgW="838153" imgH="203429" progId="Equation.DSMT4">
                    <p:embed/>
                  </p:oleObj>
                </mc:Choice>
                <mc:Fallback>
                  <p:oleObj r:id="rId6" imgW="838153" imgH="20342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01" y="30"/>
                          <a:ext cx="1056" cy="2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cmpd="sng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0" y="239"/>
              <a:ext cx="181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l" eaLnBrk="1" hangingPunct="1"/>
              <a:r>
                <a:rPr lang="zh-CN" altLang="en-US" sz="2400" dirty="0">
                  <a:latin typeface="Arial" pitchFamily="34" charset="0"/>
                  <a:ea typeface="楷体_GB2312" pitchFamily="1" charset="-122"/>
                </a:rPr>
                <a:t>表示</a:t>
              </a:r>
              <a:r>
                <a:rPr lang="zh-CN" altLang="zh-CN" sz="2400" dirty="0">
                  <a:latin typeface="Arial" pitchFamily="34" charset="0"/>
                  <a:ea typeface="楷体_GB2312" pitchFamily="1" charset="-122"/>
                </a:rPr>
                <a:t>R</a:t>
              </a:r>
              <a:r>
                <a:rPr lang="zh-CN" altLang="en-US" sz="2400" dirty="0">
                  <a:latin typeface="Arial" pitchFamily="34" charset="0"/>
                  <a:ea typeface="楷体_GB2312" pitchFamily="1" charset="-122"/>
                </a:rPr>
                <a:t>的当前位置</a:t>
              </a:r>
              <a:r>
                <a:rPr lang="zh-CN" altLang="en-US" sz="2400" dirty="0" smtClean="0">
                  <a:latin typeface="Arial" pitchFamily="34" charset="0"/>
                  <a:ea typeface="楷体_GB2312" pitchFamily="1" charset="-122"/>
                </a:rPr>
                <a:t>，</a:t>
              </a:r>
              <a:endParaRPr lang="zh-CN" altLang="en-US" sz="2400" dirty="0">
                <a:latin typeface="Arial" pitchFamily="34" charset="0"/>
                <a:ea typeface="楷体_GB2312" pitchFamily="1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9984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ChangeArrowheads="1"/>
          </p:cNvSpPr>
          <p:nvPr/>
        </p:nvSpPr>
        <p:spPr bwMode="auto">
          <a:xfrm>
            <a:off x="2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endParaRPr lang="zh-CN" altLang="en-US" sz="1800" b="0">
              <a:solidFill>
                <a:srgbClr val="0033CC"/>
              </a:solidFill>
              <a:latin typeface="Arial" pitchFamily="34" charset="0"/>
            </a:endParaRPr>
          </a:p>
        </p:txBody>
      </p:sp>
      <p:sp>
        <p:nvSpPr>
          <p:cNvPr id="69635" name="Rectangle 3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endParaRPr lang="zh-CN" altLang="en-US" sz="1800" b="0">
              <a:solidFill>
                <a:srgbClr val="0033CC"/>
              </a:solidFill>
              <a:latin typeface="Arial" pitchFamily="34" charset="0"/>
            </a:endParaRPr>
          </a:p>
        </p:txBody>
      </p:sp>
      <p:sp>
        <p:nvSpPr>
          <p:cNvPr id="69642" name="Rectangle 10"/>
          <p:cNvSpPr>
            <a:spLocks noChangeArrowheads="1"/>
          </p:cNvSpPr>
          <p:nvPr/>
        </p:nvSpPr>
        <p:spPr bwMode="auto">
          <a:xfrm>
            <a:off x="2" y="25442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endParaRPr lang="zh-CN" altLang="en-US" sz="1800" b="0">
              <a:solidFill>
                <a:srgbClr val="0033CC"/>
              </a:solidFill>
              <a:latin typeface="Arial" pitchFamily="34" charset="0"/>
            </a:endParaRPr>
          </a:p>
        </p:txBody>
      </p:sp>
      <p:graphicFrame>
        <p:nvGraphicFramePr>
          <p:cNvPr id="6964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0183865"/>
              </p:ext>
            </p:extLst>
          </p:nvPr>
        </p:nvGraphicFramePr>
        <p:xfrm>
          <a:off x="1403350" y="1844677"/>
          <a:ext cx="7030300" cy="266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90" r:id="rId3" imgW="3696017" imgH="1397317" progId="Equation.DSMT4">
                  <p:embed/>
                </p:oleObj>
              </mc:Choice>
              <mc:Fallback>
                <p:oleObj r:id="rId3" imgW="3696017" imgH="139731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1844677"/>
                        <a:ext cx="7030300" cy="2663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44" name="Rectangle 12"/>
          <p:cNvSpPr>
            <a:spLocks noChangeArrowheads="1"/>
          </p:cNvSpPr>
          <p:nvPr/>
        </p:nvSpPr>
        <p:spPr bwMode="auto">
          <a:xfrm>
            <a:off x="428052" y="4580756"/>
            <a:ext cx="188705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其中，光速 </a:t>
            </a:r>
          </a:p>
        </p:txBody>
      </p:sp>
      <p:sp>
        <p:nvSpPr>
          <p:cNvPr id="69645" name="Rectangle 13"/>
          <p:cNvSpPr>
            <a:spLocks noChangeArrowheads="1"/>
          </p:cNvSpPr>
          <p:nvPr/>
        </p:nvSpPr>
        <p:spPr bwMode="auto">
          <a:xfrm>
            <a:off x="2" y="3134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endParaRPr lang="zh-CN" altLang="en-US" sz="1800" b="0">
              <a:solidFill>
                <a:srgbClr val="0033CC"/>
              </a:solidFill>
              <a:latin typeface="Arial" pitchFamily="34" charset="0"/>
            </a:endParaRPr>
          </a:p>
        </p:txBody>
      </p:sp>
      <p:graphicFrame>
        <p:nvGraphicFramePr>
          <p:cNvPr id="6964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9753079"/>
              </p:ext>
            </p:extLst>
          </p:nvPr>
        </p:nvGraphicFramePr>
        <p:xfrm>
          <a:off x="2137866" y="4682185"/>
          <a:ext cx="2438400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91" r:id="rId5" imgW="1485572" imgH="216123" progId="Equation.DSMT4">
                  <p:embed/>
                </p:oleObj>
              </mc:Choice>
              <mc:Fallback>
                <p:oleObj r:id="rId5" imgW="1485572" imgH="21612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7866" y="4682185"/>
                        <a:ext cx="2438400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mpd="sng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47" name="Rectangle 15"/>
          <p:cNvSpPr>
            <a:spLocks noChangeArrowheads="1"/>
          </p:cNvSpPr>
          <p:nvPr/>
        </p:nvSpPr>
        <p:spPr bwMode="auto">
          <a:xfrm>
            <a:off x="4420661" y="4579295"/>
            <a:ext cx="45159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，上述方程组无疑是非线性的</a:t>
            </a: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9648" name="Rectangle 16"/>
          <p:cNvSpPr>
            <a:spLocks noChangeArrowheads="1"/>
          </p:cNvSpPr>
          <p:nvPr/>
        </p:nvSpPr>
        <p:spPr bwMode="auto">
          <a:xfrm>
            <a:off x="585261" y="5102227"/>
            <a:ext cx="46714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1" hangingPunct="1"/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将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所有二次项都消去，从而得到 </a:t>
            </a:r>
          </a:p>
        </p:txBody>
      </p:sp>
      <p:sp>
        <p:nvSpPr>
          <p:cNvPr id="2" name="矩形 1"/>
          <p:cNvSpPr/>
          <p:nvPr/>
        </p:nvSpPr>
        <p:spPr>
          <a:xfrm>
            <a:off x="304802" y="1125869"/>
            <a:ext cx="28905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+mn-ea"/>
                <a:ea typeface="+mn-ea"/>
              </a:rPr>
              <a:t>则它满足方程组 </a:t>
            </a:r>
          </a:p>
        </p:txBody>
      </p:sp>
    </p:spTree>
    <p:extLst>
      <p:ext uri="{BB962C8B-B14F-4D97-AF65-F5344CB8AC3E}">
        <p14:creationId xmlns:p14="http://schemas.microsoft.com/office/powerpoint/2010/main" val="1868815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ChangeArrowheads="1"/>
          </p:cNvSpPr>
          <p:nvPr/>
        </p:nvSpPr>
        <p:spPr bwMode="auto">
          <a:xfrm>
            <a:off x="15754" y="295173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endParaRPr lang="zh-CN" altLang="en-US" sz="1800" b="0">
              <a:solidFill>
                <a:srgbClr val="0033CC"/>
              </a:solidFill>
              <a:latin typeface="Arial" pitchFamily="34" charset="0"/>
            </a:endParaRPr>
          </a:p>
        </p:txBody>
      </p:sp>
      <p:graphicFrame>
        <p:nvGraphicFramePr>
          <p:cNvPr id="7065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5143604"/>
              </p:ext>
            </p:extLst>
          </p:nvPr>
        </p:nvGraphicFramePr>
        <p:xfrm>
          <a:off x="2407196" y="1025822"/>
          <a:ext cx="4038600" cy="170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93" r:id="rId3" imgW="2705417" imgH="1143317" progId="Equation.DSMT4">
                  <p:embed/>
                </p:oleObj>
              </mc:Choice>
              <mc:Fallback>
                <p:oleObj r:id="rId3" imgW="2705417" imgH="114331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7196" y="1025822"/>
                        <a:ext cx="4038600" cy="170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mpd="sng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0" name="Rectangle 4"/>
          <p:cNvSpPr>
            <a:spLocks noChangeArrowheads="1"/>
          </p:cNvSpPr>
          <p:nvPr/>
        </p:nvSpPr>
        <p:spPr bwMode="auto">
          <a:xfrm>
            <a:off x="244352" y="2708920"/>
            <a:ext cx="7105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zh-CN" altLang="en-US" sz="2400">
                <a:solidFill>
                  <a:srgbClr val="0033CC"/>
                </a:solidFill>
                <a:latin typeface="Arial" pitchFamily="34" charset="0"/>
                <a:ea typeface="楷体_GB2312" pitchFamily="1" charset="-122"/>
              </a:rPr>
              <a:t>由求解非线性方程组的</a:t>
            </a:r>
            <a:r>
              <a:rPr lang="zh-CN" altLang="zh-CN" sz="2400">
                <a:solidFill>
                  <a:srgbClr val="0033CC"/>
                </a:solidFill>
                <a:latin typeface="Arial" pitchFamily="34" charset="0"/>
                <a:ea typeface="楷体_GB2312" pitchFamily="1" charset="-122"/>
              </a:rPr>
              <a:t>Newton</a:t>
            </a:r>
            <a:r>
              <a:rPr lang="zh-CN" altLang="en-US" sz="2400">
                <a:solidFill>
                  <a:srgbClr val="0033CC"/>
                </a:solidFill>
                <a:latin typeface="Arial" pitchFamily="34" charset="0"/>
                <a:ea typeface="楷体_GB2312" pitchFamily="1" charset="-122"/>
              </a:rPr>
              <a:t>迭代法知迭代格式为</a:t>
            </a:r>
          </a:p>
        </p:txBody>
      </p:sp>
      <p:graphicFrame>
        <p:nvGraphicFramePr>
          <p:cNvPr id="7066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2047763"/>
              </p:ext>
            </p:extLst>
          </p:nvPr>
        </p:nvGraphicFramePr>
        <p:xfrm>
          <a:off x="2284290" y="3131197"/>
          <a:ext cx="3581400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94" r:id="rId5" imgW="2387917" imgH="444817" progId="Equation.DSMT4">
                  <p:embed/>
                </p:oleObj>
              </mc:Choice>
              <mc:Fallback>
                <p:oleObj r:id="rId5" imgW="2387917" imgH="44481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4290" y="3131197"/>
                        <a:ext cx="3581400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mpd="sng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3932806"/>
              </p:ext>
            </p:extLst>
          </p:nvPr>
        </p:nvGraphicFramePr>
        <p:xfrm>
          <a:off x="1835696" y="3780064"/>
          <a:ext cx="5181600" cy="306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95" r:id="rId7" imgW="3734117" imgH="2210117" progId="Equation.DSMT4">
                  <p:embed/>
                </p:oleObj>
              </mc:Choice>
              <mc:Fallback>
                <p:oleObj r:id="rId7" imgW="3734117" imgH="221011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3780064"/>
                        <a:ext cx="5181600" cy="306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mpd="sng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3" name="Rectangle 7"/>
          <p:cNvSpPr>
            <a:spLocks noChangeArrowheads="1"/>
          </p:cNvSpPr>
          <p:nvPr/>
        </p:nvSpPr>
        <p:spPr bwMode="auto">
          <a:xfrm>
            <a:off x="320554" y="3707904"/>
            <a:ext cx="11858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zh-CN" altLang="en-US" sz="2400">
                <a:solidFill>
                  <a:srgbClr val="0033CC"/>
                </a:solidFill>
                <a:latin typeface="Arial" pitchFamily="34" charset="0"/>
                <a:ea typeface="楷体_GB2312" pitchFamily="1" charset="-122"/>
              </a:rPr>
              <a:t>其中</a:t>
            </a:r>
            <a:r>
              <a:rPr lang="zh-CN" altLang="en-US" sz="2400" b="0">
                <a:solidFill>
                  <a:srgbClr val="0033CC"/>
                </a:solidFill>
                <a:latin typeface="Arial" pitchFamily="34" charset="0"/>
                <a:ea typeface="楷体_GB2312" pitchFamily="1" charset="-122"/>
              </a:rPr>
              <a:t>， </a:t>
            </a:r>
          </a:p>
        </p:txBody>
      </p:sp>
    </p:spTree>
    <p:extLst>
      <p:ext uri="{BB962C8B-B14F-4D97-AF65-F5344CB8AC3E}">
        <p14:creationId xmlns:p14="http://schemas.microsoft.com/office/powerpoint/2010/main" val="2609793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ChangeArrowheads="1"/>
          </p:cNvSpPr>
          <p:nvPr/>
        </p:nvSpPr>
        <p:spPr bwMode="auto">
          <a:xfrm>
            <a:off x="397724" y="1124744"/>
            <a:ext cx="7837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zh-CN" altLang="en-US" sz="2400" dirty="0">
                <a:solidFill>
                  <a:srgbClr val="0033CC"/>
                </a:solidFill>
                <a:latin typeface="Arial" pitchFamily="34" charset="0"/>
                <a:ea typeface="楷体_GB2312" pitchFamily="1" charset="-122"/>
              </a:rPr>
              <a:t>使用</a:t>
            </a:r>
            <a:r>
              <a:rPr lang="zh-CN" altLang="zh-CN" sz="2400" dirty="0">
                <a:solidFill>
                  <a:srgbClr val="0033CC"/>
                </a:solidFill>
                <a:latin typeface="Arial" pitchFamily="34" charset="0"/>
                <a:ea typeface="楷体_GB2312" pitchFamily="1" charset="-122"/>
              </a:rPr>
              <a:t>Matlab</a:t>
            </a:r>
            <a:r>
              <a:rPr lang="zh-CN" altLang="en-US" sz="2400" dirty="0">
                <a:solidFill>
                  <a:srgbClr val="0033CC"/>
                </a:solidFill>
                <a:latin typeface="Arial" pitchFamily="34" charset="0"/>
                <a:ea typeface="楷体_GB2312" pitchFamily="1" charset="-122"/>
              </a:rPr>
              <a:t>求解得迭代</a:t>
            </a:r>
            <a:r>
              <a:rPr lang="zh-CN" altLang="zh-CN" sz="2400" dirty="0">
                <a:solidFill>
                  <a:srgbClr val="0033CC"/>
                </a:solidFill>
                <a:latin typeface="Arial" pitchFamily="34" charset="0"/>
                <a:ea typeface="楷体_GB2312" pitchFamily="1" charset="-122"/>
              </a:rPr>
              <a:t>4</a:t>
            </a:r>
            <a:r>
              <a:rPr lang="zh-CN" altLang="en-US" sz="2400" dirty="0">
                <a:solidFill>
                  <a:srgbClr val="0033CC"/>
                </a:solidFill>
                <a:latin typeface="Arial" pitchFamily="34" charset="0"/>
                <a:ea typeface="楷体_GB2312" pitchFamily="1" charset="-122"/>
              </a:rPr>
              <a:t>次就可以得到相当精确的结果。 </a:t>
            </a:r>
          </a:p>
        </p:txBody>
      </p:sp>
      <p:graphicFrame>
        <p:nvGraphicFramePr>
          <p:cNvPr id="71683" name="Group 3"/>
          <p:cNvGraphicFramePr>
            <a:graphicFrameLocks noGrp="1"/>
          </p:cNvGraphicFramePr>
          <p:nvPr/>
        </p:nvGraphicFramePr>
        <p:xfrm>
          <a:off x="900115" y="1628775"/>
          <a:ext cx="6821487" cy="2559050"/>
        </p:xfrm>
        <a:graphic>
          <a:graphicData uri="http://schemas.openxmlformats.org/drawingml/2006/table">
            <a:tbl>
              <a:tblPr/>
              <a:tblGrid>
                <a:gridCol w="1363662"/>
                <a:gridCol w="1365250"/>
                <a:gridCol w="1363663"/>
                <a:gridCol w="1365250"/>
                <a:gridCol w="1363662"/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n</a:t>
                      </a: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x</a:t>
                      </a: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y</a:t>
                      </a: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z</a:t>
                      </a: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t</a:t>
                      </a: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0.0</a:t>
                      </a: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0.0</a:t>
                      </a: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0.0</a:t>
                      </a: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10010.007</a:t>
                      </a: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6.368727</a:t>
                      </a: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0.374601</a:t>
                      </a: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-2.403971</a:t>
                      </a: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9.985218</a:t>
                      </a: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4.984063</a:t>
                      </a: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3.018241</a:t>
                      </a: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1.046303</a:t>
                      </a: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10000.266</a:t>
                      </a: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5.000160</a:t>
                      </a: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2.999808</a:t>
                      </a: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0.999585</a:t>
                      </a: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9999.998</a:t>
                      </a: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5.000000</a:t>
                      </a: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3.000000</a:t>
                      </a: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1.000000</a:t>
                      </a: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10000.000</a:t>
                      </a: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1727" name="Rectangle 47"/>
          <p:cNvSpPr>
            <a:spLocks noChangeArrowheads="1"/>
          </p:cNvSpPr>
          <p:nvPr/>
        </p:nvSpPr>
        <p:spPr bwMode="auto">
          <a:xfrm>
            <a:off x="395290" y="4508500"/>
            <a:ext cx="17160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zh-CN" altLang="en-US" sz="2400">
                <a:solidFill>
                  <a:srgbClr val="0033CC"/>
                </a:solidFill>
                <a:latin typeface="Arial" pitchFamily="34" charset="0"/>
                <a:ea typeface="楷体_GB2312" pitchFamily="1" charset="-122"/>
              </a:rPr>
              <a:t>它的解是：</a:t>
            </a:r>
          </a:p>
        </p:txBody>
      </p:sp>
      <p:sp>
        <p:nvSpPr>
          <p:cNvPr id="71728" name="Rectangle 48"/>
          <p:cNvSpPr>
            <a:spLocks noChangeArrowheads="1"/>
          </p:cNvSpPr>
          <p:nvPr/>
        </p:nvSpPr>
        <p:spPr bwMode="auto">
          <a:xfrm>
            <a:off x="2" y="31443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endParaRPr lang="zh-CN" altLang="en-US" sz="1800" b="0">
              <a:solidFill>
                <a:srgbClr val="0033CC"/>
              </a:solidFill>
              <a:latin typeface="Arial" pitchFamily="34" charset="0"/>
            </a:endParaRPr>
          </a:p>
        </p:txBody>
      </p:sp>
      <p:graphicFrame>
        <p:nvGraphicFramePr>
          <p:cNvPr id="71729" name="Object 49"/>
          <p:cNvGraphicFramePr>
            <a:graphicFrameLocks noChangeAspect="1"/>
          </p:cNvGraphicFramePr>
          <p:nvPr/>
        </p:nvGraphicFramePr>
        <p:xfrm>
          <a:off x="1187450" y="5300663"/>
          <a:ext cx="655320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66" r:id="rId3" imgW="3378517" imgH="203517" progId="Equation.DSMT4">
                  <p:embed/>
                </p:oleObj>
              </mc:Choice>
              <mc:Fallback>
                <p:oleObj r:id="rId3" imgW="3378517" imgH="20351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5300663"/>
                        <a:ext cx="6553200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mpd="sng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21081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7CA14D8E-86E3-4D02-B018-CB52FCE37E60}" type="slidenum">
              <a:rPr lang="zh-CN" altLang="en-US"/>
              <a:pPr/>
              <a:t>119</a:t>
            </a:fld>
            <a:endParaRPr lang="en-US" altLang="zh-CN"/>
          </a:p>
        </p:txBody>
      </p:sp>
      <p:sp>
        <p:nvSpPr>
          <p:cNvPr id="58372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189443D0-F613-4474-81B2-985F23ED6792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539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总结</a:t>
            </a:r>
          </a:p>
        </p:txBody>
      </p:sp>
      <p:sp>
        <p:nvSpPr>
          <p:cNvPr id="583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125540"/>
            <a:ext cx="8534400" cy="381952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smtClean="0"/>
              <a:t>迭代法求解非线性方程或非线性方程组较为有效的方法，它是递归的应用某一计算公式来决定未知量，并使之逐步逼近真解的一种方法</a:t>
            </a:r>
          </a:p>
          <a:p>
            <a:pPr>
              <a:lnSpc>
                <a:spcPct val="100000"/>
              </a:lnSpc>
            </a:pPr>
            <a:r>
              <a:rPr lang="zh-CN" altLang="en-US" smtClean="0"/>
              <a:t>步骤</a:t>
            </a:r>
          </a:p>
          <a:p>
            <a:pPr lvl="1">
              <a:lnSpc>
                <a:spcPct val="80000"/>
              </a:lnSpc>
            </a:pPr>
            <a:r>
              <a:rPr lang="zh-CN" altLang="en-US" smtClean="0"/>
              <a:t>(1)选取初值</a:t>
            </a:r>
            <a:r>
              <a:rPr lang="en-US" altLang="zh-CN" i="1" smtClean="0"/>
              <a:t>x</a:t>
            </a:r>
            <a:r>
              <a:rPr lang="en-US" altLang="zh-CN" i="1" baseline="-25000" smtClean="0"/>
              <a:t>0</a:t>
            </a:r>
            <a:r>
              <a:rPr lang="zh-CN" altLang="en-US" smtClean="0"/>
              <a:t>，</a:t>
            </a:r>
          </a:p>
          <a:p>
            <a:pPr lvl="1">
              <a:lnSpc>
                <a:spcPct val="80000"/>
              </a:lnSpc>
            </a:pPr>
            <a:r>
              <a:rPr lang="zh-CN" altLang="en-US" smtClean="0"/>
              <a:t>(2)确定方程</a:t>
            </a:r>
            <a:r>
              <a:rPr lang="en-US" altLang="zh-CN" i="1" smtClean="0"/>
              <a:t>f</a:t>
            </a:r>
            <a:r>
              <a:rPr lang="en-US" altLang="zh-CN" smtClean="0"/>
              <a:t>(</a:t>
            </a:r>
            <a:r>
              <a:rPr lang="en-US" altLang="zh-CN" i="1" smtClean="0"/>
              <a:t>x</a:t>
            </a:r>
            <a:r>
              <a:rPr lang="en-US" altLang="zh-CN" smtClean="0"/>
              <a:t>)</a:t>
            </a:r>
            <a:r>
              <a:rPr lang="en-US" altLang="zh-CN" smtClean="0">
                <a:latin typeface="宋体" pitchFamily="2" charset="-122"/>
              </a:rPr>
              <a:t>=0</a:t>
            </a:r>
            <a:r>
              <a:rPr lang="zh-CN" altLang="en-US" smtClean="0"/>
              <a:t>的等价形式</a:t>
            </a:r>
            <a:r>
              <a:rPr lang="en-US" altLang="zh-CN" i="1" smtClean="0"/>
              <a:t>x</a:t>
            </a:r>
            <a:r>
              <a:rPr lang="en-US" altLang="zh-CN" smtClean="0">
                <a:latin typeface="宋体" pitchFamily="2" charset="-122"/>
              </a:rPr>
              <a:t>=</a:t>
            </a:r>
            <a:r>
              <a:rPr lang="zh-CN" altLang="en-US" smtClean="0">
                <a:latin typeface="宋体" pitchFamily="2" charset="-122"/>
                <a:sym typeface="Symbol" pitchFamily="18" charset="2"/>
              </a:rPr>
              <a:t></a:t>
            </a:r>
            <a:r>
              <a:rPr lang="en-US" altLang="zh-CN" i="1" smtClean="0"/>
              <a:t>(x),</a:t>
            </a:r>
            <a:r>
              <a:rPr lang="zh-CN" altLang="en-US" smtClean="0"/>
              <a:t> 判断收敛性</a:t>
            </a:r>
          </a:p>
          <a:p>
            <a:pPr lvl="1">
              <a:lnSpc>
                <a:spcPct val="80000"/>
              </a:lnSpc>
            </a:pPr>
            <a:r>
              <a:rPr lang="zh-CN" altLang="en-US" smtClean="0"/>
              <a:t>(</a:t>
            </a:r>
            <a:r>
              <a:rPr lang="en-US" altLang="zh-CN" smtClean="0"/>
              <a:t>3)</a:t>
            </a:r>
            <a:r>
              <a:rPr lang="zh-CN" altLang="en-US" smtClean="0"/>
              <a:t>按公式</a:t>
            </a:r>
            <a:r>
              <a:rPr lang="en-US" altLang="zh-CN" i="1" smtClean="0">
                <a:cs typeface="Times New Roman" pitchFamily="18" charset="0"/>
              </a:rPr>
              <a:t>x</a:t>
            </a:r>
            <a:r>
              <a:rPr lang="en-US" altLang="zh-CN" i="1" baseline="-25000" smtClean="0">
                <a:cs typeface="Times New Roman" pitchFamily="18" charset="0"/>
              </a:rPr>
              <a:t>n+</a:t>
            </a:r>
            <a:r>
              <a:rPr lang="en-US" altLang="zh-CN" baseline="-25000" smtClean="0">
                <a:cs typeface="Times New Roman" pitchFamily="18" charset="0"/>
              </a:rPr>
              <a:t>1</a:t>
            </a:r>
            <a:r>
              <a:rPr lang="en-US" altLang="zh-CN" i="1" smtClean="0">
                <a:cs typeface="Times New Roman" pitchFamily="18" charset="0"/>
              </a:rPr>
              <a:t>= </a:t>
            </a:r>
            <a:r>
              <a:rPr lang="zh-CN" altLang="en-US" smtClean="0">
                <a:latin typeface="宋体" pitchFamily="2" charset="-122"/>
                <a:sym typeface="Symbol" pitchFamily="18" charset="2"/>
              </a:rPr>
              <a:t></a:t>
            </a:r>
            <a:r>
              <a:rPr lang="en-US" altLang="zh-CN" i="1" smtClean="0">
                <a:cs typeface="Times New Roman" pitchFamily="18" charset="0"/>
              </a:rPr>
              <a:t>(x</a:t>
            </a:r>
            <a:r>
              <a:rPr lang="en-US" altLang="zh-CN" i="1" baseline="-25000" smtClean="0">
                <a:cs typeface="Times New Roman" pitchFamily="18" charset="0"/>
              </a:rPr>
              <a:t>n</a:t>
            </a:r>
            <a:r>
              <a:rPr lang="en-US" altLang="zh-CN" i="1" smtClean="0">
                <a:cs typeface="Times New Roman" pitchFamily="18" charset="0"/>
              </a:rPr>
              <a:t>)</a:t>
            </a:r>
            <a:r>
              <a:rPr lang="zh-CN" altLang="en-US" smtClean="0"/>
              <a:t>计算</a:t>
            </a:r>
            <a:r>
              <a:rPr lang="en-US" altLang="zh-CN" i="1" smtClean="0">
                <a:cs typeface="Times New Roman" pitchFamily="18" charset="0"/>
              </a:rPr>
              <a:t>x</a:t>
            </a:r>
            <a:r>
              <a:rPr lang="en-US" altLang="zh-CN" i="1" baseline="-25000" smtClean="0">
                <a:cs typeface="Times New Roman" pitchFamily="18" charset="0"/>
              </a:rPr>
              <a:t>n+</a:t>
            </a:r>
            <a:r>
              <a:rPr lang="en-US" altLang="zh-CN" baseline="-25000" smtClean="0">
                <a:cs typeface="Times New Roman" pitchFamily="18" charset="0"/>
              </a:rPr>
              <a:t>1</a:t>
            </a:r>
            <a:r>
              <a:rPr lang="zh-CN" altLang="en-US" smtClean="0"/>
              <a:t>的值</a:t>
            </a:r>
          </a:p>
          <a:p>
            <a:pPr lvl="1">
              <a:lnSpc>
                <a:spcPct val="80000"/>
              </a:lnSpc>
            </a:pPr>
            <a:r>
              <a:rPr lang="zh-CN" altLang="en-US" smtClean="0"/>
              <a:t>(</a:t>
            </a:r>
            <a:r>
              <a:rPr lang="en-US" altLang="zh-CN" smtClean="0"/>
              <a:t>4)</a:t>
            </a:r>
            <a:r>
              <a:rPr lang="zh-CN" altLang="en-US" smtClean="0"/>
              <a:t>判别.如果| </a:t>
            </a:r>
            <a:r>
              <a:rPr lang="en-US" altLang="zh-CN" i="1" smtClean="0">
                <a:cs typeface="Times New Roman" pitchFamily="18" charset="0"/>
              </a:rPr>
              <a:t>x</a:t>
            </a:r>
            <a:r>
              <a:rPr lang="en-US" altLang="zh-CN" i="1" baseline="-25000" smtClean="0">
                <a:cs typeface="Times New Roman" pitchFamily="18" charset="0"/>
              </a:rPr>
              <a:t>n+</a:t>
            </a:r>
            <a:r>
              <a:rPr lang="en-US" altLang="zh-CN" baseline="-25000" smtClean="0">
                <a:cs typeface="Times New Roman" pitchFamily="18" charset="0"/>
              </a:rPr>
              <a:t>1</a:t>
            </a:r>
            <a:r>
              <a:rPr lang="zh-CN" altLang="en-US" smtClean="0"/>
              <a:t>-</a:t>
            </a:r>
            <a:r>
              <a:rPr lang="en-US" altLang="zh-CN" i="1" smtClean="0">
                <a:cs typeface="Times New Roman" pitchFamily="18" charset="0"/>
              </a:rPr>
              <a:t>x</a:t>
            </a:r>
            <a:r>
              <a:rPr lang="en-US" altLang="zh-CN" i="1" baseline="-25000" smtClean="0">
                <a:cs typeface="Times New Roman" pitchFamily="18" charset="0"/>
              </a:rPr>
              <a:t>n</a:t>
            </a:r>
            <a:r>
              <a:rPr lang="zh-CN" altLang="en-US" smtClean="0"/>
              <a:t>|&lt;</a:t>
            </a:r>
            <a:r>
              <a:rPr lang="zh-CN" altLang="en-US" smtClean="0">
                <a:sym typeface="Symbol" pitchFamily="18" charset="2"/>
              </a:rPr>
              <a:t>则停止计算，否则继续迭代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F7799DD4-30DF-4F6A-8CEA-D3D89042EB9D}" type="slidenum">
              <a:rPr lang="zh-CN" altLang="en-US"/>
              <a:pPr/>
              <a:t>120</a:t>
            </a:fld>
            <a:endParaRPr lang="en-US" altLang="zh-CN"/>
          </a:p>
        </p:txBody>
      </p:sp>
      <p:sp>
        <p:nvSpPr>
          <p:cNvPr id="59396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A64F5600-5CC8-4C20-A660-9330CC125754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544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总结</a:t>
            </a:r>
          </a:p>
        </p:txBody>
      </p:sp>
      <p:sp>
        <p:nvSpPr>
          <p:cNvPr id="593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95402"/>
            <a:ext cx="8534400" cy="917575"/>
          </a:xfrm>
        </p:spPr>
        <p:txBody>
          <a:bodyPr/>
          <a:lstStyle/>
          <a:p>
            <a:r>
              <a:rPr lang="zh-CN" altLang="en-US" smtClean="0"/>
              <a:t>根的初值确定方法</a:t>
            </a:r>
          </a:p>
          <a:p>
            <a:r>
              <a:rPr lang="zh-CN" altLang="en-US" smtClean="0"/>
              <a:t>迭代序列收敛的充分条件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95290" y="2276477"/>
            <a:ext cx="8086725" cy="4321175"/>
            <a:chOff x="480" y="2994"/>
            <a:chExt cx="5094" cy="2722"/>
          </a:xfrm>
        </p:grpSpPr>
        <p:sp>
          <p:nvSpPr>
            <p:cNvPr id="59400" name="Rectangle 5"/>
            <p:cNvSpPr>
              <a:spLocks noChangeArrowheads="1"/>
            </p:cNvSpPr>
            <p:nvPr/>
          </p:nvSpPr>
          <p:spPr bwMode="auto">
            <a:xfrm>
              <a:off x="480" y="3054"/>
              <a:ext cx="5094" cy="2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marL="649288" lvl="1" indent="-261938" algn="l" defTabSz="814388">
                <a:lnSpc>
                  <a:spcPct val="90000"/>
                </a:lnSpc>
                <a:spcBef>
                  <a:spcPct val="35000"/>
                </a:spcBef>
                <a:buClr>
                  <a:srgbClr val="27305F"/>
                </a:buClr>
                <a:buFontTx/>
                <a:buChar char="–"/>
              </a:pPr>
              <a:r>
                <a:rPr lang="zh-CN" altLang="en-US" sz="2800">
                  <a:latin typeface="Times New Roman" pitchFamily="18" charset="0"/>
                  <a:ea typeface="黑体" pitchFamily="49" charset="-122"/>
                </a:rPr>
                <a:t>条件                         是迭代序列收敛的充分条件</a:t>
              </a:r>
            </a:p>
            <a:p>
              <a:pPr marL="649288" lvl="1" indent="-261938" algn="l" defTabSz="814388">
                <a:lnSpc>
                  <a:spcPct val="110000"/>
                </a:lnSpc>
                <a:spcBef>
                  <a:spcPct val="35000"/>
                </a:spcBef>
                <a:buClr>
                  <a:srgbClr val="27305F"/>
                </a:buClr>
                <a:buFontTx/>
                <a:buChar char="–"/>
              </a:pPr>
              <a:r>
                <a:rPr lang="zh-CN" altLang="en-US" sz="2800">
                  <a:latin typeface="Times New Roman" pitchFamily="18" charset="0"/>
                  <a:ea typeface="黑体" pitchFamily="49" charset="-122"/>
                </a:rPr>
                <a:t>在实际应用时，可用| </a:t>
              </a:r>
              <a:r>
                <a:rPr lang="zh-CN" altLang="en-US" sz="2800">
                  <a:latin typeface="宋体" pitchFamily="2" charset="-122"/>
                  <a:ea typeface="黑体" pitchFamily="49" charset="-122"/>
                  <a:sym typeface="Symbol" pitchFamily="18" charset="2"/>
                </a:rPr>
                <a:t></a:t>
              </a:r>
              <a:r>
                <a:rPr lang="en-US" altLang="zh-CN" sz="2800">
                  <a:latin typeface="Times New Roman" pitchFamily="18" charset="0"/>
                  <a:ea typeface="黑体" pitchFamily="49" charset="-122"/>
                </a:rPr>
                <a:t>’(</a:t>
              </a:r>
              <a:r>
                <a:rPr lang="en-US" altLang="zh-CN" sz="2800" i="1">
                  <a:latin typeface="Times New Roman" pitchFamily="18" charset="0"/>
                  <a:ea typeface="黑体" pitchFamily="49" charset="-122"/>
                </a:rPr>
                <a:t>x</a:t>
              </a:r>
              <a:r>
                <a:rPr lang="en-US" altLang="zh-CN" sz="2800" baseline="-25000">
                  <a:latin typeface="Times New Roman" pitchFamily="18" charset="0"/>
                  <a:ea typeface="黑体" pitchFamily="49" charset="-122"/>
                </a:rPr>
                <a:t>0</a:t>
              </a:r>
              <a:r>
                <a:rPr lang="en-US" altLang="zh-CN" sz="2800">
                  <a:latin typeface="Times New Roman" pitchFamily="18" charset="0"/>
                  <a:ea typeface="黑体" pitchFamily="49" charset="-122"/>
                </a:rPr>
                <a:t>)|</a:t>
              </a:r>
              <a:r>
                <a:rPr lang="en-US" altLang="zh-CN" sz="2800">
                  <a:latin typeface="Times New Roman" pitchFamily="18" charset="0"/>
                  <a:ea typeface="黑体" pitchFamily="49" charset="-122"/>
                  <a:sym typeface="Symbol" pitchFamily="18" charset="2"/>
                </a:rPr>
                <a:t> </a:t>
              </a:r>
              <a:r>
                <a:rPr lang="en-US" altLang="zh-CN" sz="2800" i="1">
                  <a:latin typeface="Times New Roman" pitchFamily="18" charset="0"/>
                  <a:ea typeface="黑体" pitchFamily="49" charset="-122"/>
                </a:rPr>
                <a:t>q</a:t>
              </a:r>
              <a:r>
                <a:rPr lang="en-US" altLang="zh-CN" sz="2800">
                  <a:latin typeface="Times New Roman" pitchFamily="18" charset="0"/>
                  <a:ea typeface="黑体" pitchFamily="49" charset="-122"/>
                  <a:sym typeface="Symbol" pitchFamily="18" charset="2"/>
                </a:rPr>
                <a:t> </a:t>
              </a:r>
              <a:r>
                <a:rPr lang="en-US" altLang="zh-CN" sz="2800">
                  <a:latin typeface="Times New Roman" pitchFamily="18" charset="0"/>
                  <a:ea typeface="黑体" pitchFamily="49" charset="-122"/>
                </a:rPr>
                <a:t>&lt;1</a:t>
              </a:r>
            </a:p>
            <a:p>
              <a:pPr marL="258763" indent="-258763" algn="l" defTabSz="814388">
                <a:lnSpc>
                  <a:spcPct val="110000"/>
                </a:lnSpc>
                <a:spcBef>
                  <a:spcPct val="35000"/>
                </a:spcBef>
                <a:buClr>
                  <a:srgbClr val="27305F"/>
                </a:buClr>
                <a:buSzPct val="60000"/>
                <a:buFont typeface="Wingdings" pitchFamily="2" charset="2"/>
                <a:buChar char="n"/>
              </a:pPr>
              <a:r>
                <a:rPr lang="zh-CN" altLang="en-US" sz="2800">
                  <a:latin typeface="Times New Roman" pitchFamily="18" charset="0"/>
                  <a:ea typeface="黑体" pitchFamily="49" charset="-122"/>
                </a:rPr>
                <a:t>收敛阶数的概念</a:t>
              </a:r>
              <a:endParaRPr lang="en-US" altLang="zh-CN" sz="2800">
                <a:latin typeface="Times New Roman" pitchFamily="18" charset="0"/>
                <a:ea typeface="黑体" pitchFamily="49" charset="-122"/>
              </a:endParaRPr>
            </a:p>
            <a:p>
              <a:pPr marL="258763" indent="-258763" algn="l" defTabSz="814388">
                <a:lnSpc>
                  <a:spcPct val="110000"/>
                </a:lnSpc>
                <a:spcBef>
                  <a:spcPct val="35000"/>
                </a:spcBef>
                <a:buClr>
                  <a:srgbClr val="27305F"/>
                </a:buClr>
                <a:buSzPct val="60000"/>
                <a:buFont typeface="Wingdings" pitchFamily="2" charset="2"/>
                <a:buChar char="n"/>
              </a:pPr>
              <a:r>
                <a:rPr lang="zh-CN" altLang="en-US" sz="2800">
                  <a:latin typeface="Times New Roman" pitchFamily="18" charset="0"/>
                  <a:ea typeface="黑体" pitchFamily="49" charset="-122"/>
                </a:rPr>
                <a:t>迭代过程终止的条件</a:t>
              </a:r>
              <a:r>
                <a:rPr lang="en-US" altLang="zh-CN" sz="2800">
                  <a:latin typeface="Times New Roman" pitchFamily="18" charset="0"/>
                  <a:ea typeface="黑体" pitchFamily="49" charset="-122"/>
                </a:rPr>
                <a:t>(</a:t>
              </a:r>
              <a:r>
                <a:rPr lang="zh-CN" altLang="en-US" sz="2800">
                  <a:latin typeface="Times New Roman" pitchFamily="18" charset="0"/>
                  <a:ea typeface="黑体" pitchFamily="49" charset="-122"/>
                </a:rPr>
                <a:t>迭代法的误差估计</a:t>
              </a:r>
              <a:r>
                <a:rPr lang="en-US" altLang="zh-CN" sz="2800">
                  <a:latin typeface="Times New Roman" pitchFamily="18" charset="0"/>
                  <a:ea typeface="黑体" pitchFamily="49" charset="-122"/>
                </a:rPr>
                <a:t>)</a:t>
              </a:r>
            </a:p>
            <a:p>
              <a:pPr marL="649288" lvl="1" indent="-261938" algn="l" defTabSz="814388">
                <a:lnSpc>
                  <a:spcPct val="90000"/>
                </a:lnSpc>
                <a:spcBef>
                  <a:spcPct val="35000"/>
                </a:spcBef>
                <a:buClr>
                  <a:srgbClr val="27305F"/>
                </a:buClr>
                <a:buFontTx/>
                <a:buChar char="–"/>
              </a:pPr>
              <a:r>
                <a:rPr lang="zh-CN" altLang="en-US" sz="2800">
                  <a:latin typeface="Times New Roman" pitchFamily="18" charset="0"/>
                  <a:ea typeface="黑体" pitchFamily="49" charset="-122"/>
                </a:rPr>
                <a:t>当|</a:t>
              </a:r>
              <a:r>
                <a:rPr lang="en-US" altLang="zh-CN" sz="2800" i="1">
                  <a:latin typeface="Times New Roman" pitchFamily="18" charset="0"/>
                  <a:ea typeface="黑体" pitchFamily="49" charset="-122"/>
                </a:rPr>
                <a:t>x</a:t>
              </a:r>
              <a:r>
                <a:rPr lang="en-US" altLang="zh-CN" sz="2800" i="1" baseline="-25000">
                  <a:latin typeface="Times New Roman" pitchFamily="18" charset="0"/>
                  <a:ea typeface="黑体" pitchFamily="49" charset="-122"/>
                </a:rPr>
                <a:t>n</a:t>
              </a:r>
              <a:r>
                <a:rPr lang="en-US" altLang="zh-CN" sz="2800" baseline="-25000">
                  <a:latin typeface="Times New Roman" pitchFamily="18" charset="0"/>
                  <a:ea typeface="黑体" pitchFamily="49" charset="-122"/>
                </a:rPr>
                <a:t>+1</a:t>
              </a:r>
              <a:r>
                <a:rPr lang="en-US" altLang="zh-CN" sz="2800">
                  <a:latin typeface="Times New Roman" pitchFamily="18" charset="0"/>
                  <a:ea typeface="黑体" pitchFamily="49" charset="-122"/>
                </a:rPr>
                <a:t>- </a:t>
              </a:r>
              <a:r>
                <a:rPr lang="en-US" altLang="zh-CN" sz="2800">
                  <a:latin typeface="Times New Roman" pitchFamily="18" charset="0"/>
                  <a:ea typeface="黑体" pitchFamily="49" charset="-122"/>
                  <a:sym typeface="Symbol" pitchFamily="18" charset="2"/>
                </a:rPr>
                <a:t></a:t>
              </a:r>
              <a:r>
                <a:rPr lang="en-US" altLang="zh-CN" sz="2800">
                  <a:latin typeface="Times New Roman" pitchFamily="18" charset="0"/>
                  <a:ea typeface="黑体" pitchFamily="49" charset="-122"/>
                </a:rPr>
                <a:t>|&lt;</a:t>
              </a:r>
              <a:r>
                <a:rPr lang="en-US" altLang="zh-CN" sz="2800">
                  <a:latin typeface="Times New Roman" pitchFamily="18" charset="0"/>
                  <a:ea typeface="黑体" pitchFamily="49" charset="-122"/>
                  <a:sym typeface="Symbol" pitchFamily="18" charset="2"/>
                </a:rPr>
                <a:t></a:t>
              </a:r>
              <a:r>
                <a:rPr lang="en-US" altLang="zh-CN" sz="2800">
                  <a:latin typeface="Times New Roman" pitchFamily="18" charset="0"/>
                  <a:ea typeface="黑体" pitchFamily="49" charset="-122"/>
                </a:rPr>
                <a:t>(</a:t>
              </a:r>
              <a:r>
                <a:rPr lang="zh-CN" altLang="en-US" sz="2800">
                  <a:latin typeface="Times New Roman" pitchFamily="18" charset="0"/>
                  <a:ea typeface="黑体" pitchFamily="49" charset="-122"/>
                </a:rPr>
                <a:t>精度要求)满足时,取</a:t>
              </a:r>
              <a:r>
                <a:rPr lang="en-US" altLang="zh-CN" sz="2800" i="1">
                  <a:latin typeface="Times New Roman" pitchFamily="18" charset="0"/>
                  <a:ea typeface="黑体" pitchFamily="49" charset="-122"/>
                </a:rPr>
                <a:t>x</a:t>
              </a:r>
              <a:r>
                <a:rPr lang="en-US" altLang="zh-CN" sz="2800" i="1" baseline="-25000">
                  <a:latin typeface="Times New Roman" pitchFamily="18" charset="0"/>
                  <a:ea typeface="黑体" pitchFamily="49" charset="-122"/>
                </a:rPr>
                <a:t>n</a:t>
              </a:r>
              <a:r>
                <a:rPr lang="en-US" altLang="zh-CN" sz="2800" baseline="-25000">
                  <a:latin typeface="Times New Roman" pitchFamily="18" charset="0"/>
                  <a:ea typeface="黑体" pitchFamily="49" charset="-122"/>
                </a:rPr>
                <a:t>+1</a:t>
              </a:r>
              <a:r>
                <a:rPr lang="zh-CN" altLang="en-US" sz="2800">
                  <a:latin typeface="Times New Roman" pitchFamily="18" charset="0"/>
                  <a:ea typeface="黑体" pitchFamily="49" charset="-122"/>
                </a:rPr>
                <a:t>作为所求的根</a:t>
              </a:r>
            </a:p>
            <a:p>
              <a:pPr marL="649288" lvl="1" indent="-261938" algn="l" defTabSz="814388">
                <a:lnSpc>
                  <a:spcPct val="90000"/>
                </a:lnSpc>
                <a:spcBef>
                  <a:spcPct val="35000"/>
                </a:spcBef>
                <a:buClr>
                  <a:srgbClr val="27305F"/>
                </a:buClr>
                <a:buFontTx/>
                <a:buChar char="–"/>
              </a:pPr>
              <a:r>
                <a:rPr lang="zh-CN" altLang="en-US" sz="2800">
                  <a:latin typeface="Times New Roman" pitchFamily="18" charset="0"/>
                  <a:ea typeface="黑体" pitchFamily="49" charset="-122"/>
                </a:rPr>
                <a:t>上界公式</a:t>
              </a:r>
              <a:r>
                <a:rPr lang="zh-CN" altLang="zh-CN" sz="2800">
                  <a:latin typeface="Times New Roman" pitchFamily="18" charset="0"/>
                  <a:ea typeface="黑体" pitchFamily="49" charset="-122"/>
                </a:rPr>
                <a:t>&lt; </a:t>
              </a:r>
              <a:r>
                <a:rPr lang="en-US" altLang="zh-CN" sz="2800">
                  <a:latin typeface="Times New Roman" pitchFamily="18" charset="0"/>
                  <a:ea typeface="黑体" pitchFamily="49" charset="-122"/>
                  <a:sym typeface="Symbol" pitchFamily="18" charset="2"/>
                </a:rPr>
                <a:t></a:t>
              </a:r>
              <a:r>
                <a:rPr lang="zh-CN" altLang="en-US" sz="2800">
                  <a:latin typeface="Times New Roman" pitchFamily="18" charset="0"/>
                  <a:ea typeface="黑体" pitchFamily="49" charset="-122"/>
                </a:rPr>
                <a:t>亦称为</a:t>
              </a:r>
              <a:r>
                <a:rPr lang="zh-CN" altLang="en-US" sz="2800" u="sng">
                  <a:latin typeface="Times New Roman" pitchFamily="18" charset="0"/>
                  <a:ea typeface="黑体" pitchFamily="49" charset="-122"/>
                </a:rPr>
                <a:t>迭代终止的判断条件</a:t>
              </a:r>
              <a:endParaRPr lang="zh-CN" altLang="en-US" sz="2800">
                <a:latin typeface="Times New Roman" pitchFamily="18" charset="0"/>
                <a:ea typeface="黑体" pitchFamily="49" charset="-122"/>
              </a:endParaRPr>
            </a:p>
            <a:p>
              <a:pPr marL="649288" lvl="1" indent="-261938" algn="l" defTabSz="814388">
                <a:lnSpc>
                  <a:spcPct val="90000"/>
                </a:lnSpc>
                <a:spcBef>
                  <a:spcPct val="35000"/>
                </a:spcBef>
                <a:buClr>
                  <a:srgbClr val="27305F"/>
                </a:buClr>
                <a:buFontTx/>
                <a:buChar char="–"/>
              </a:pPr>
              <a:r>
                <a:rPr lang="zh-CN" altLang="en-US" sz="2800">
                  <a:latin typeface="Times New Roman" pitchFamily="18" charset="0"/>
                  <a:ea typeface="黑体" pitchFamily="49" charset="-122"/>
                </a:rPr>
                <a:t>三个上界公式</a:t>
              </a:r>
            </a:p>
          </p:txBody>
        </p:sp>
        <p:graphicFrame>
          <p:nvGraphicFramePr>
            <p:cNvPr id="59394" name="Object 6"/>
            <p:cNvGraphicFramePr>
              <a:graphicFrameLocks noChangeAspect="1"/>
            </p:cNvGraphicFramePr>
            <p:nvPr/>
          </p:nvGraphicFramePr>
          <p:xfrm>
            <a:off x="1368" y="2994"/>
            <a:ext cx="1272" cy="3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437" name="公式" r:id="rId4" imgW="876240" imgH="253800" progId="Equation.3">
                    <p:embed/>
                  </p:oleObj>
                </mc:Choice>
                <mc:Fallback>
                  <p:oleObj name="公式" r:id="rId4" imgW="876240" imgH="2538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8" y="2994"/>
                          <a:ext cx="1272" cy="3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tx1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570F7897-B832-4890-A934-68B34BA068B7}" type="slidenum">
              <a:rPr lang="zh-CN" altLang="en-US"/>
              <a:pPr/>
              <a:t>121</a:t>
            </a:fld>
            <a:endParaRPr lang="en-US" altLang="zh-CN"/>
          </a:p>
        </p:txBody>
      </p:sp>
      <p:sp>
        <p:nvSpPr>
          <p:cNvPr id="101379" name="日期占位符 4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ABE382AF-01AE-41A8-B1B6-1BEAB8E6AE2F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sp>
        <p:nvSpPr>
          <p:cNvPr id="543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总结</a:t>
            </a:r>
          </a:p>
        </p:txBody>
      </p:sp>
      <p:sp>
        <p:nvSpPr>
          <p:cNvPr id="10138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292227"/>
            <a:ext cx="8142288" cy="3584575"/>
          </a:xfrm>
        </p:spPr>
        <p:txBody>
          <a:bodyPr/>
          <a:lstStyle/>
          <a:p>
            <a:r>
              <a:rPr lang="zh-CN" altLang="en-US" smtClean="0"/>
              <a:t>迭代公式的改进</a:t>
            </a:r>
          </a:p>
          <a:p>
            <a:pPr lvl="1"/>
            <a:r>
              <a:rPr lang="en-US" altLang="zh-CN" smtClean="0"/>
              <a:t>(1) </a:t>
            </a:r>
            <a:r>
              <a:rPr lang="zh-CN" altLang="en-US" smtClean="0"/>
              <a:t>埃特肯法</a:t>
            </a:r>
          </a:p>
          <a:p>
            <a:pPr lvl="1"/>
            <a:r>
              <a:rPr lang="en-US" altLang="zh-CN" smtClean="0"/>
              <a:t>(2) </a:t>
            </a:r>
            <a:r>
              <a:rPr lang="zh-CN" altLang="en-US" smtClean="0"/>
              <a:t>牛顿迭代法</a:t>
            </a:r>
          </a:p>
          <a:p>
            <a:pPr lvl="1"/>
            <a:r>
              <a:rPr lang="en-US" altLang="zh-CN" smtClean="0"/>
              <a:t>(3) </a:t>
            </a:r>
            <a:r>
              <a:rPr lang="zh-CN" altLang="en-US" smtClean="0"/>
              <a:t>牛顿下山法</a:t>
            </a:r>
          </a:p>
          <a:p>
            <a:pPr lvl="1"/>
            <a:r>
              <a:rPr lang="en-US" altLang="zh-CN" smtClean="0"/>
              <a:t>(4) </a:t>
            </a:r>
            <a:r>
              <a:rPr lang="zh-CN" altLang="en-US" smtClean="0"/>
              <a:t>弦截法</a:t>
            </a:r>
          </a:p>
          <a:p>
            <a:r>
              <a:rPr lang="zh-CN" altLang="en-US" smtClean="0"/>
              <a:t>联立方程组的迭代解法</a:t>
            </a:r>
          </a:p>
          <a:p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灯片编号占位符 2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4A737D92-4A27-4825-A077-60B6451AF154}" type="slidenum">
              <a:rPr lang="zh-CN" altLang="en-US"/>
              <a:pPr/>
              <a:t>122</a:t>
            </a:fld>
            <a:endParaRPr lang="en-US" altLang="zh-CN"/>
          </a:p>
        </p:txBody>
      </p:sp>
      <p:sp>
        <p:nvSpPr>
          <p:cNvPr id="102403" name="日期占位符 3"/>
          <p:cNvSpPr>
            <a:spLocks noGrp="1"/>
          </p:cNvSpPr>
          <p:nvPr>
            <p:ph type="dt" sz="quarter" idx="1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157288"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defTabSz="11572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5B3A2EFB-90A5-4008-9702-DFB0FCA8D24B}" type="datetime1">
              <a:rPr lang="zh-CN" altLang="en-US" sz="1800"/>
              <a:pPr/>
              <a:t>2024/9/22</a:t>
            </a:fld>
            <a:endParaRPr lang="en-US" altLang="zh-CN" sz="1000"/>
          </a:p>
        </p:txBody>
      </p:sp>
      <p:grpSp>
        <p:nvGrpSpPr>
          <p:cNvPr id="102404" name="Group 2"/>
          <p:cNvGrpSpPr>
            <a:grpSpLocks/>
          </p:cNvGrpSpPr>
          <p:nvPr/>
        </p:nvGrpSpPr>
        <p:grpSpPr bwMode="auto">
          <a:xfrm>
            <a:off x="555625" y="2036763"/>
            <a:ext cx="7945438" cy="2608262"/>
            <a:chOff x="350" y="1283"/>
            <a:chExt cx="5005" cy="1643"/>
          </a:xfrm>
        </p:grpSpPr>
        <p:sp>
          <p:nvSpPr>
            <p:cNvPr id="102406" name="Rectangle 3"/>
            <p:cNvSpPr>
              <a:spLocks noChangeArrowheads="1"/>
            </p:cNvSpPr>
            <p:nvPr/>
          </p:nvSpPr>
          <p:spPr bwMode="auto">
            <a:xfrm>
              <a:off x="483" y="1981"/>
              <a:ext cx="4780" cy="252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2407" name="Rectangle 4"/>
            <p:cNvSpPr>
              <a:spLocks noChangeArrowheads="1"/>
            </p:cNvSpPr>
            <p:nvPr/>
          </p:nvSpPr>
          <p:spPr bwMode="auto">
            <a:xfrm>
              <a:off x="362" y="1283"/>
              <a:ext cx="125" cy="1642"/>
            </a:xfrm>
            <a:prstGeom prst="rect">
              <a:avLst/>
            </a:prstGeom>
            <a:gradFill rotWithShape="0">
              <a:gsLst>
                <a:gs pos="0">
                  <a:srgbClr val="E2E2E2"/>
                </a:gs>
                <a:gs pos="100000">
                  <a:srgbClr val="83838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408" name="Rectangle 5"/>
            <p:cNvSpPr>
              <a:spLocks noChangeArrowheads="1"/>
            </p:cNvSpPr>
            <p:nvPr/>
          </p:nvSpPr>
          <p:spPr bwMode="auto">
            <a:xfrm>
              <a:off x="5218" y="1283"/>
              <a:ext cx="133" cy="1642"/>
            </a:xfrm>
            <a:prstGeom prst="rect">
              <a:avLst/>
            </a:prstGeom>
            <a:gradFill rotWithShape="0">
              <a:gsLst>
                <a:gs pos="0">
                  <a:srgbClr val="E2E2E2"/>
                </a:gs>
                <a:gs pos="100000">
                  <a:srgbClr val="83838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409" name="AutoShape 6"/>
            <p:cNvSpPr>
              <a:spLocks noChangeArrowheads="1"/>
            </p:cNvSpPr>
            <p:nvPr/>
          </p:nvSpPr>
          <p:spPr bwMode="auto">
            <a:xfrm>
              <a:off x="377" y="1283"/>
              <a:ext cx="4974" cy="98"/>
            </a:xfrm>
            <a:custGeom>
              <a:avLst/>
              <a:gdLst>
                <a:gd name="T0" fmla="*/ 1132 w 21600"/>
                <a:gd name="T1" fmla="*/ 0 h 21600"/>
                <a:gd name="T2" fmla="*/ 573 w 21600"/>
                <a:gd name="T3" fmla="*/ 0 h 21600"/>
                <a:gd name="T4" fmla="*/ 14 w 21600"/>
                <a:gd name="T5" fmla="*/ 0 h 21600"/>
                <a:gd name="T6" fmla="*/ 573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054 w 21600"/>
                <a:gd name="T13" fmla="*/ 1984 h 21600"/>
                <a:gd name="T14" fmla="*/ 19546 w 21600"/>
                <a:gd name="T15" fmla="*/ 1961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12" y="21600"/>
                  </a:lnTo>
                  <a:lnTo>
                    <a:pt x="21088" y="21600"/>
                  </a:lnTo>
                  <a:lnTo>
                    <a:pt x="21600" y="0"/>
                  </a:lnTo>
                  <a:close/>
                </a:path>
              </a:pathLst>
            </a:custGeom>
            <a:gradFill rotWithShape="0">
              <a:gsLst>
                <a:gs pos="0">
                  <a:srgbClr val="E2E2E2"/>
                </a:gs>
                <a:gs pos="100000">
                  <a:srgbClr val="969696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410" name="AutoShape 7"/>
            <p:cNvSpPr>
              <a:spLocks noChangeArrowheads="1"/>
            </p:cNvSpPr>
            <p:nvPr/>
          </p:nvSpPr>
          <p:spPr bwMode="auto">
            <a:xfrm flipV="1">
              <a:off x="350" y="2828"/>
              <a:ext cx="5005" cy="98"/>
            </a:xfrm>
            <a:custGeom>
              <a:avLst/>
              <a:gdLst>
                <a:gd name="T0" fmla="*/ 1143 w 21600"/>
                <a:gd name="T1" fmla="*/ 0 h 21600"/>
                <a:gd name="T2" fmla="*/ 580 w 21600"/>
                <a:gd name="T3" fmla="*/ 0 h 21600"/>
                <a:gd name="T4" fmla="*/ 16 w 21600"/>
                <a:gd name="T5" fmla="*/ 0 h 21600"/>
                <a:gd name="T6" fmla="*/ 58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106 w 21600"/>
                <a:gd name="T13" fmla="*/ 2204 h 21600"/>
                <a:gd name="T14" fmla="*/ 19494 w 21600"/>
                <a:gd name="T15" fmla="*/ 1939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612" y="21600"/>
                  </a:lnTo>
                  <a:lnTo>
                    <a:pt x="20988" y="21600"/>
                  </a:lnTo>
                  <a:lnTo>
                    <a:pt x="21600" y="0"/>
                  </a:lnTo>
                  <a:close/>
                </a:path>
              </a:pathLst>
            </a:custGeom>
            <a:gradFill rotWithShape="0">
              <a:gsLst>
                <a:gs pos="0">
                  <a:srgbClr val="E2E2E2"/>
                </a:gs>
                <a:gs pos="100000">
                  <a:srgbClr val="969696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411" name="Rectangle 8"/>
            <p:cNvSpPr>
              <a:spLocks noChangeArrowheads="1"/>
            </p:cNvSpPr>
            <p:nvPr/>
          </p:nvSpPr>
          <p:spPr bwMode="auto">
            <a:xfrm>
              <a:off x="480" y="1380"/>
              <a:ext cx="4738" cy="144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354281"/>
              </a:solidFill>
              <a:miter lim="800000"/>
              <a:headEnd/>
              <a:tailEnd/>
            </a:ln>
            <a:effectLst>
              <a:prstShdw prst="shdw17" dist="17961" dir="2700000">
                <a:srgbClr val="20284D"/>
              </a:prst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00745" name="Rectangle 9"/>
          <p:cNvSpPr>
            <a:spLocks noChangeArrowheads="1"/>
          </p:cNvSpPr>
          <p:nvPr/>
        </p:nvSpPr>
        <p:spPr bwMode="auto">
          <a:xfrm>
            <a:off x="609602" y="2362200"/>
            <a:ext cx="7585075" cy="2063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dist="17961" dir="2700000" algn="ctr" rotWithShape="0">
              <a:srgbClr val="354281"/>
            </a:outerShdw>
          </a:effectLst>
        </p:spPr>
        <p:txBody>
          <a:bodyPr lIns="0" tIns="0" rIns="0" bIns="0">
            <a:spAutoFit/>
          </a:bodyPr>
          <a:lstStyle/>
          <a:p>
            <a:pPr marL="290513" indent="-290513" defTabSz="915988">
              <a:lnSpc>
                <a:spcPct val="85000"/>
              </a:lnSpc>
              <a:spcBef>
                <a:spcPct val="35000"/>
              </a:spcBef>
              <a:buClr>
                <a:srgbClr val="FF0000"/>
              </a:buClr>
              <a:buSzPct val="95000"/>
              <a:defRPr/>
            </a:pPr>
            <a:r>
              <a:rPr lang="zh-CN" altLang="en-US" sz="66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本章作业</a:t>
            </a:r>
          </a:p>
          <a:p>
            <a:pPr marL="290513" indent="-290513" defTabSz="915988">
              <a:lnSpc>
                <a:spcPct val="85000"/>
              </a:lnSpc>
              <a:spcBef>
                <a:spcPct val="35000"/>
              </a:spcBef>
              <a:buClr>
                <a:srgbClr val="FF0000"/>
              </a:buClr>
              <a:buSzPct val="95000"/>
              <a:defRPr/>
            </a:pPr>
            <a:r>
              <a:rPr lang="zh-CN" altLang="en-US" sz="66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  2.2,   2.3,  2.5</a:t>
            </a:r>
            <a:endParaRPr lang="zh-CN" altLang="en-US" sz="4800" i="1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orland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7283CA"/>
      </a:accent1>
      <a:accent2>
        <a:srgbClr val="F3E685"/>
      </a:accent2>
      <a:accent3>
        <a:srgbClr val="FFFFFF"/>
      </a:accent3>
      <a:accent4>
        <a:srgbClr val="000000"/>
      </a:accent4>
      <a:accent5>
        <a:srgbClr val="BCC1E1"/>
      </a:accent5>
      <a:accent6>
        <a:srgbClr val="DCD078"/>
      </a:accent6>
      <a:hlink>
        <a:srgbClr val="499FBD"/>
      </a:hlink>
      <a:folHlink>
        <a:srgbClr val="B9555A"/>
      </a:folHlink>
    </a:clrScheme>
    <a:fontScheme name="Borland">
      <a:majorFont>
        <a:latin typeface="Arial"/>
        <a:ea typeface="宋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Borland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land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land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land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land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land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land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8721</TotalTime>
  <Pages>26</Pages>
  <Words>7016</Words>
  <Application>Microsoft Office PowerPoint</Application>
  <PresentationFormat>信纸(8.5x11 英寸)</PresentationFormat>
  <Paragraphs>1319</Paragraphs>
  <Slides>122</Slides>
  <Notes>77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122</vt:i4>
      </vt:variant>
    </vt:vector>
  </HeadingPairs>
  <TitlesOfParts>
    <vt:vector size="138" baseType="lpstr">
      <vt:lpstr>黑体</vt:lpstr>
      <vt:lpstr>华文行楷</vt:lpstr>
      <vt:lpstr>华文细黑</vt:lpstr>
      <vt:lpstr>华文新魏</vt:lpstr>
      <vt:lpstr>楷体_GB2312</vt:lpstr>
      <vt:lpstr>宋体</vt:lpstr>
      <vt:lpstr>Arial</vt:lpstr>
      <vt:lpstr>Symbol</vt:lpstr>
      <vt:lpstr>Times New Roman</vt:lpstr>
      <vt:lpstr>Webdings</vt:lpstr>
      <vt:lpstr>Wingdings</vt:lpstr>
      <vt:lpstr>Borland</vt:lpstr>
      <vt:lpstr>Equation</vt:lpstr>
      <vt:lpstr>公式</vt:lpstr>
      <vt:lpstr>Microsoft 公式 3.0</vt:lpstr>
      <vt:lpstr>MathType 6.0 Equation</vt:lpstr>
      <vt:lpstr>第二章  方程(组)的迭代解法</vt:lpstr>
      <vt:lpstr>1  引言</vt:lpstr>
      <vt:lpstr>1  引言</vt:lpstr>
      <vt:lpstr>PowerPoint 演示文稿</vt:lpstr>
      <vt:lpstr>1  引言</vt:lpstr>
      <vt:lpstr>PowerPoint 演示文稿</vt:lpstr>
      <vt:lpstr>2.1  根的初值确定方法</vt:lpstr>
      <vt:lpstr>2.1  根的初值确定方法</vt:lpstr>
      <vt:lpstr>2.1  根的初值确定方法</vt:lpstr>
      <vt:lpstr>2.1.1  画图法</vt:lpstr>
      <vt:lpstr>PowerPoint 演示文稿</vt:lpstr>
      <vt:lpstr>2.1.2   扫描法</vt:lpstr>
      <vt:lpstr>PowerPoint 演示文稿</vt:lpstr>
      <vt:lpstr>PowerPoint 演示文稿</vt:lpstr>
      <vt:lpstr>2.1.2   扫描法</vt:lpstr>
      <vt:lpstr>2.1.3   对分法</vt:lpstr>
      <vt:lpstr>2.1.3   对分法</vt:lpstr>
      <vt:lpstr>2.1.3   对分法</vt:lpstr>
      <vt:lpstr>2.1.3   对分法</vt:lpstr>
      <vt:lpstr>2.2  迭代法求解过程</vt:lpstr>
      <vt:lpstr>2.2  迭代法求解过程</vt:lpstr>
      <vt:lpstr>2.2  迭代法求解过程</vt:lpstr>
      <vt:lpstr>2.3  迭代解法的几何意义</vt:lpstr>
      <vt:lpstr>PowerPoint 演示文稿</vt:lpstr>
      <vt:lpstr>2.2  迭代法求解过程</vt:lpstr>
      <vt:lpstr>2.2  迭代法求解过程</vt:lpstr>
      <vt:lpstr>2.3  迭代解法的几何意义</vt:lpstr>
      <vt:lpstr>2.4  迭代法的收敛性</vt:lpstr>
      <vt:lpstr>2.4  迭代法的收敛性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2.4  迭代法的收敛性</vt:lpstr>
      <vt:lpstr>2.4  迭代法的收敛性</vt:lpstr>
      <vt:lpstr>2.4  迭代法的收敛性</vt:lpstr>
      <vt:lpstr>2.4  迭代法的收敛性</vt:lpstr>
      <vt:lpstr>2.4  迭代法的收敛性</vt:lpstr>
      <vt:lpstr>2.4  迭代法的收敛性</vt:lpstr>
      <vt:lpstr>泰勒公式(参考) </vt:lpstr>
      <vt:lpstr>2.5  迭代序列的误差估计</vt:lpstr>
      <vt:lpstr>2.5  迭代序列的误差估计</vt:lpstr>
      <vt:lpstr>2.5  迭代序列的误差估计</vt:lpstr>
      <vt:lpstr>2.5  迭代序列的误差估计</vt:lpstr>
      <vt:lpstr>2.5  迭代序列的误差估计</vt:lpstr>
      <vt:lpstr>2.5  迭代序列的误差估计</vt:lpstr>
      <vt:lpstr>2.5  迭代序列的误差估计</vt:lpstr>
      <vt:lpstr>2.5  迭代序列的误差估计</vt:lpstr>
      <vt:lpstr>2.5  迭代序列的误差估计</vt:lpstr>
      <vt:lpstr>迭代法小结</vt:lpstr>
      <vt:lpstr>2.5  迭代序列的误差估计</vt:lpstr>
      <vt:lpstr>2.5  迭代序列的误差估计</vt:lpstr>
      <vt:lpstr>示例</vt:lpstr>
      <vt:lpstr>示例</vt:lpstr>
      <vt:lpstr>注  意：</vt:lpstr>
      <vt:lpstr>PowerPoint 演示文稿</vt:lpstr>
      <vt:lpstr>§3 迭代公式的改进</vt:lpstr>
      <vt:lpstr>3.1 改变方程式法一</vt:lpstr>
      <vt:lpstr>3.1.1 方法描述</vt:lpstr>
      <vt:lpstr>3.1.2 埃特肯法</vt:lpstr>
      <vt:lpstr>3.1.2 埃特肯法</vt:lpstr>
      <vt:lpstr>3.1.2 埃特肯法</vt:lpstr>
      <vt:lpstr>3.1.2 埃特肯法</vt:lpstr>
      <vt:lpstr>3.1.2 埃特肯法</vt:lpstr>
      <vt:lpstr>3.1.2 埃特肯法</vt:lpstr>
      <vt:lpstr>3.3 牛顿迭代法</vt:lpstr>
      <vt:lpstr>3.3.1 方法描述</vt:lpstr>
      <vt:lpstr>3.3.1 方法描述</vt:lpstr>
      <vt:lpstr>3.3.2 牛顿迭代法的收敛性</vt:lpstr>
      <vt:lpstr>3.3.2 牛顿迭代法的收敛性</vt:lpstr>
      <vt:lpstr>3.3.2 牛顿迭代法的收敛性</vt:lpstr>
      <vt:lpstr>PowerPoint 演示文稿</vt:lpstr>
      <vt:lpstr>说  明</vt:lpstr>
      <vt:lpstr>3.3.3 切线法的变形使用</vt:lpstr>
      <vt:lpstr>3.3.3 切线法的变形使用</vt:lpstr>
      <vt:lpstr>(3)  牛顿下山法</vt:lpstr>
      <vt:lpstr>(3)  牛顿下山法</vt:lpstr>
      <vt:lpstr>(3)  牛顿下山法</vt:lpstr>
      <vt:lpstr>(3)  牛顿下山法</vt:lpstr>
      <vt:lpstr>PowerPoint 演示文稿</vt:lpstr>
      <vt:lpstr>3.4.1  单点弦截法</vt:lpstr>
      <vt:lpstr>3.4 弦截法</vt:lpstr>
      <vt:lpstr>3.4.1  单点弦截法</vt:lpstr>
      <vt:lpstr>3.4.1  单点弦截法</vt:lpstr>
      <vt:lpstr>3.4.1  单点弦截法</vt:lpstr>
      <vt:lpstr>3.4.1  单点弦截法</vt:lpstr>
      <vt:lpstr>3.4.2 双点弦截法</vt:lpstr>
      <vt:lpstr>3.4.2 双点弦截法</vt:lpstr>
      <vt:lpstr>3.4.2 双点弦截法</vt:lpstr>
      <vt:lpstr>3.4.2 双点弦截法</vt:lpstr>
      <vt:lpstr>3.5  |φ’(x)|&gt;1的处理方法</vt:lpstr>
      <vt:lpstr>PowerPoint 演示文稿</vt:lpstr>
      <vt:lpstr>§4 联立方程组的迭代解法</vt:lpstr>
      <vt:lpstr>§4 联立方程组的迭代解法</vt:lpstr>
      <vt:lpstr>§4 联立方程组的迭代解法</vt:lpstr>
      <vt:lpstr>§4 联立方程组的迭代解法</vt:lpstr>
      <vt:lpstr>§4 联立方程组的迭代解法</vt:lpstr>
      <vt:lpstr>§4 联立方程组的迭代解法</vt:lpstr>
      <vt:lpstr>§4 联立方程组的迭代解法</vt:lpstr>
      <vt:lpstr>§4 联立方程组的迭代解法</vt:lpstr>
      <vt:lpstr>§4 联立方程组的迭代解法</vt:lpstr>
      <vt:lpstr>§4 联立方程组的迭代解法</vt:lpstr>
      <vt:lpstr>PowerPoint 演示文稿</vt:lpstr>
      <vt:lpstr>§6.1同伦方程组及其建立方法</vt:lpstr>
      <vt:lpstr>§6.1同伦方程组及其建立方法</vt:lpstr>
      <vt:lpstr>§6.2  求解方法</vt:lpstr>
      <vt:lpstr>§6.2  求解方法</vt:lpstr>
      <vt:lpstr>§6.2  求解方法</vt:lpstr>
      <vt:lpstr>§6.2  求解方法</vt:lpstr>
      <vt:lpstr>全球定位系统（GPS）</vt:lpstr>
      <vt:lpstr>全球定位系统（GPS）</vt:lpstr>
      <vt:lpstr>PowerPoint 演示文稿</vt:lpstr>
      <vt:lpstr>PowerPoint 演示文稿</vt:lpstr>
      <vt:lpstr>PowerPoint 演示文稿</vt:lpstr>
      <vt:lpstr>PowerPoint 演示文稿</vt:lpstr>
      <vt:lpstr>总结</vt:lpstr>
      <vt:lpstr>总结</vt:lpstr>
      <vt:lpstr>总结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第二章  方程(组)的迭代解法</dc:title>
  <dc:creator>sunxin</dc:creator>
  <cp:lastModifiedBy>apple</cp:lastModifiedBy>
  <cp:revision>1387</cp:revision>
  <cp:lastPrinted>1998-03-12T04:44:47Z</cp:lastPrinted>
  <dcterms:created xsi:type="dcterms:W3CDTF">2001-07-02T15:09:48Z</dcterms:created>
  <dcterms:modified xsi:type="dcterms:W3CDTF">2024-09-22T15:08:02Z</dcterms:modified>
</cp:coreProperties>
</file>