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7"/>
  </p:notesMasterIdLst>
  <p:handoutMasterIdLst>
    <p:handoutMasterId r:id="rId8"/>
  </p:handoutMasterIdLst>
  <p:sldIdLst>
    <p:sldId id="257" r:id="rId2"/>
    <p:sldId id="259" r:id="rId3"/>
    <p:sldId id="260" r:id="rId4"/>
    <p:sldId id="256" r:id="rId5"/>
    <p:sldId id="258" r:id="rId6"/>
  </p:sldIdLst>
  <p:sldSz cx="9144000" cy="6858000" type="letter"/>
  <p:notesSz cx="9923463" cy="68564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312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DD2ED"/>
    <a:srgbClr val="FFCCFF"/>
    <a:srgbClr val="2C376C"/>
    <a:srgbClr val="D3D8EF"/>
    <a:srgbClr val="B5BEE3"/>
    <a:srgbClr val="D5DAEF"/>
    <a:srgbClr val="040000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88571" autoAdjust="0"/>
  </p:normalViewPr>
  <p:slideViewPr>
    <p:cSldViewPr>
      <p:cViewPr varScale="1">
        <p:scale>
          <a:sx n="89" d="100"/>
          <a:sy n="89" d="100"/>
        </p:scale>
        <p:origin x="40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24" y="-90"/>
      </p:cViewPr>
      <p:guideLst>
        <p:guide orient="horz" pos="2160"/>
        <p:guide pos="31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xmlns="" id="{06EA54C4-BC39-46B4-A567-F9B4B3998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6511925"/>
            <a:ext cx="4300538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en-US" altLang="en-US" sz="1200"/>
              <a:t>Borland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xmlns="" id="{2195E4DC-36DA-4CEB-B3E4-0AEF9695A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088" y="6429375"/>
            <a:ext cx="4300537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 anchor="b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defRPr/>
            </a:pPr>
            <a:fld id="{288C045C-B960-456D-BC51-FFC7A2945802}" type="slidenum">
              <a:rPr lang="zh-CN" altLang="en-US" sz="1200" smtClean="0"/>
              <a:pPr algn="r">
                <a:defRPr/>
              </a:pPr>
              <a:t>‹#›</a:t>
            </a:fld>
            <a:endParaRPr lang="en-US" altLang="zh-CN" sz="1200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xmlns="" id="{D8F3EBC7-9541-4DEB-BC97-4EFE48525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6429375"/>
            <a:ext cx="429895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 anchor="b"/>
          <a:lstStyle>
            <a:lvl1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z="1200"/>
              <a:t>9/8/98</a:t>
            </a:r>
          </a:p>
        </p:txBody>
      </p:sp>
    </p:spTree>
    <p:extLst>
      <p:ext uri="{BB962C8B-B14F-4D97-AF65-F5344CB8AC3E}">
        <p14:creationId xmlns:p14="http://schemas.microsoft.com/office/powerpoint/2010/main" val="41947917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8">
            <a:extLst>
              <a:ext uri="{FF2B5EF4-FFF2-40B4-BE49-F238E27FC236}">
                <a16:creationId xmlns:a16="http://schemas.microsoft.com/office/drawing/2014/main" xmlns="" id="{8B32E0A6-C0B7-47D1-92AD-88CE7A7703B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46438" y="514350"/>
            <a:ext cx="3429000" cy="2571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8549" name="Rectangle 1029">
            <a:extLst>
              <a:ext uri="{FF2B5EF4-FFF2-40B4-BE49-F238E27FC236}">
                <a16:creationId xmlns:a16="http://schemas.microsoft.com/office/drawing/2014/main" xmlns="" id="{AE14E5CC-FBBD-4537-AD3C-D53CF265E48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2388" y="3257550"/>
            <a:ext cx="7278687" cy="3084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08550" name="Rectangle 1030">
            <a:extLst>
              <a:ext uri="{FF2B5EF4-FFF2-40B4-BE49-F238E27FC236}">
                <a16:creationId xmlns:a16="http://schemas.microsoft.com/office/drawing/2014/main" xmlns="" id="{463BA682-8D46-477F-9EC1-57AF034D652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4300538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1">
                <a:latin typeface="Arial" charset="0"/>
              </a:defRPr>
            </a:lvl1pPr>
          </a:lstStyle>
          <a:p>
            <a:pPr>
              <a:defRPr/>
            </a:pPr>
            <a:r>
              <a:rPr lang="zh-CN" altLang="en-US"/>
              <a:t>Confidential, for review only</a:t>
            </a:r>
            <a:r>
              <a:rPr lang="en-US" altLang="en-US"/>
              <a:t>Borland</a:t>
            </a:r>
          </a:p>
        </p:txBody>
      </p:sp>
      <p:sp>
        <p:nvSpPr>
          <p:cNvPr id="108551" name="Rectangle 1031">
            <a:extLst>
              <a:ext uri="{FF2B5EF4-FFF2-40B4-BE49-F238E27FC236}">
                <a16:creationId xmlns:a16="http://schemas.microsoft.com/office/drawing/2014/main" xmlns="" id="{AA45CE17-9DD7-4B9F-85CF-CC688A27BD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513513"/>
            <a:ext cx="4300538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fld id="{5C9979A1-D2A1-47CC-887D-1A6F30E9CA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76300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222250" indent="-222250" algn="l" rtl="0" eaLnBrk="0" fontAlgn="base" hangingPunct="0">
      <a:lnSpc>
        <a:spcPct val="90000"/>
      </a:lnSpc>
      <a:spcBef>
        <a:spcPct val="20000"/>
      </a:spcBef>
      <a:spcAft>
        <a:spcPct val="0"/>
      </a:spcAft>
      <a:buSzPct val="100000"/>
      <a:buChar char="•"/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520700" indent="-184150" algn="l" rtl="0" eaLnBrk="0" fontAlgn="base" hangingPunct="0">
      <a:lnSpc>
        <a:spcPct val="90000"/>
      </a:lnSpc>
      <a:spcBef>
        <a:spcPct val="20000"/>
      </a:spcBef>
      <a:spcAft>
        <a:spcPct val="0"/>
      </a:spcAft>
      <a:buSzPct val="100000"/>
      <a:buChar char="-"/>
      <a:defRPr sz="16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lnSpc>
        <a:spcPct val="89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lnSpc>
        <a:spcPct val="89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lnSpc>
        <a:spcPct val="89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orlandTitle2">
            <a:extLst>
              <a:ext uri="{FF2B5EF4-FFF2-40B4-BE49-F238E27FC236}">
                <a16:creationId xmlns:a16="http://schemas.microsoft.com/office/drawing/2014/main" xmlns="" id="{0F0D3600-D787-40EB-BE63-BCF279DB14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1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981200" y="3505200"/>
            <a:ext cx="5303838" cy="976313"/>
          </a:xfrm>
        </p:spPr>
        <p:txBody>
          <a:bodyPr/>
          <a:lstStyle>
            <a:lvl1pPr marL="0" indent="0" algn="ctr">
              <a:lnSpc>
                <a:spcPct val="95000"/>
              </a:lnSpc>
              <a:spcBef>
                <a:spcPct val="10000"/>
              </a:spcBef>
              <a:buFont typeface="Wingdings" pitchFamily="2" charset="2"/>
              <a:buNone/>
              <a:defRPr sz="3200">
                <a:solidFill>
                  <a:srgbClr val="C1C4DD"/>
                </a:solidFill>
              </a:defRPr>
            </a:lvl1pPr>
          </a:lstStyle>
          <a:p>
            <a:pPr lvl="0"/>
            <a:r>
              <a:rPr lang="en-US" altLang="en-US" noProof="0"/>
              <a:t>Speaker’s Name,</a:t>
            </a:r>
          </a:p>
          <a:p>
            <a:pPr lvl="0"/>
            <a:r>
              <a:rPr lang="en-US" altLang="en-US" noProof="0"/>
              <a:t>Speaker’s Title</a:t>
            </a:r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1012825" y="2136775"/>
            <a:ext cx="7023100" cy="1793875"/>
          </a:xfrm>
          <a:effectLst/>
        </p:spPr>
        <p:txBody>
          <a:bodyPr anchor="t"/>
          <a:lstStyle>
            <a:lvl1pPr algn="ctr">
              <a:lnSpc>
                <a:spcPct val="95000"/>
              </a:lnSpc>
              <a:buClr>
                <a:schemeClr val="folHlink"/>
              </a:buClr>
              <a:buSzPct val="95000"/>
              <a:defRPr sz="62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28687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xmlns="" id="{8E5BD67C-BB83-407F-9665-5BF801E4D2C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27178-4A38-4ABC-879B-9979642698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BB9BC331-3BCC-4268-8DC6-4EE44AE43A03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B2C32-8723-42A9-BC48-A23D80CD51B5}" type="datetime1">
              <a:rPr lang="zh-CN" altLang="en-US"/>
              <a:pPr>
                <a:defRPr/>
              </a:pPr>
              <a:t>2024/11/17</a:t>
            </a:fld>
            <a:endParaRPr lang="en-US" altLang="zh-CN" sz="100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290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xmlns="" id="{1E4D24B3-C718-44A6-AAEA-AA04E184857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313EE5-2309-466A-82D3-4AFC0D6DA9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0BFD8472-3299-4727-A73B-4E2EE47F5B1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67967-AA47-4D6F-A633-A51FAD884F9C}" type="datetime1">
              <a:rPr lang="zh-CN" altLang="en-US"/>
              <a:pPr>
                <a:defRPr/>
              </a:pPr>
              <a:t>2024/11/17</a:t>
            </a:fld>
            <a:endParaRPr lang="en-US" altLang="zh-CN" sz="100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67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0075" y="1143000"/>
            <a:ext cx="3994150" cy="2289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46625" y="1143000"/>
            <a:ext cx="3995738" cy="2289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xmlns="" id="{7F59244F-101A-4733-BA89-836C778CA57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519E6-7505-4D9C-A727-AC1AA10F716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3780FC03-BB0A-49DF-93E0-F373F216D25C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4B5314-B648-4E6B-816E-A38C3481441F}" type="datetime1">
              <a:rPr lang="zh-CN" altLang="en-US"/>
              <a:pPr>
                <a:defRPr/>
              </a:pPr>
              <a:t>2024/11/17</a:t>
            </a:fld>
            <a:endParaRPr lang="en-US" altLang="zh-CN" sz="100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7789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xmlns="" id="{BE3BA75D-A1B0-4DBF-8048-2B52E3C734E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4396C-AF14-4ABB-9AB8-43A50F07F6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2E44BFF-6BCC-4CF4-96E5-CB97BE8D517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2434A-AD3D-415F-9C3C-D64716BFA21C}" type="datetime1">
              <a:rPr lang="zh-CN" altLang="en-US"/>
              <a:pPr>
                <a:defRPr/>
              </a:pPr>
              <a:t>2024/11/17</a:t>
            </a:fld>
            <a:endParaRPr lang="en-US" altLang="zh-CN" sz="100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3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xmlns="" id="{F4B13E36-71E0-42B9-865D-5A2F164AC1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73D18-0B83-4119-9A5F-34758965620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8218F4D3-309F-4555-B6B8-F696EDCD55F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76224A-9045-4B1B-BFA6-37FF127C130D}" type="datetime1">
              <a:rPr lang="zh-CN" altLang="en-US"/>
              <a:pPr>
                <a:defRPr/>
              </a:pPr>
              <a:t>2024/11/17</a:t>
            </a:fld>
            <a:endParaRPr lang="en-US" altLang="zh-CN" sz="100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572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xmlns="" id="{24D08BF4-8832-4158-AF4D-0911776912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8CC73-4D14-46D0-8453-CE4564B48F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xmlns="" id="{306B1E05-485C-4318-94C3-6AD3EDFA8EB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2E29C3-163D-4E8A-B780-0F4C14301C4A}" type="datetime1">
              <a:rPr lang="zh-CN" altLang="en-US"/>
              <a:pPr>
                <a:defRPr/>
              </a:pPr>
              <a:t>2024/11/17</a:t>
            </a:fld>
            <a:endParaRPr lang="en-US" altLang="zh-CN" sz="100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8016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xmlns="" id="{CF07A823-644B-4E41-B78A-ED54939042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C4DCE-89CD-4ADB-BDD5-ACD632654E9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98C9C0E3-6D8B-4981-8135-9DB4A571DAE5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AF4BE5-F27C-4433-BEFC-E5DC44C00D30}" type="datetime1">
              <a:rPr lang="zh-CN" altLang="en-US"/>
              <a:pPr>
                <a:defRPr/>
              </a:pPr>
              <a:t>2024/11/17</a:t>
            </a:fld>
            <a:endParaRPr lang="en-US" altLang="zh-CN" sz="100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5051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xmlns="" id="{1439C325-8B51-45B1-9544-FC47BA1B135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3C72B-E514-4781-B932-0D7819B4C7A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A5E1CA81-8E44-486B-97F3-4E7B97274B7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8CD27-EF45-41EF-B8A4-68ACF8A9ED5E}" type="datetime1">
              <a:rPr lang="zh-CN" altLang="en-US"/>
              <a:pPr>
                <a:defRPr/>
              </a:pPr>
              <a:t>2024/11/17</a:t>
            </a:fld>
            <a:endParaRPr lang="en-US" altLang="zh-CN" sz="100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545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xmlns="" id="{818A65E3-FC8E-4977-A4DC-AAE4C8DB4D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342F32-3CA7-47BD-826D-586BDEC193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D402522E-06F1-4CA8-A8DB-DB219301A817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400D5E-A5FF-4F5A-837E-069D0466ECAA}" type="datetime1">
              <a:rPr lang="zh-CN" altLang="en-US"/>
              <a:pPr>
                <a:defRPr/>
              </a:pPr>
              <a:t>2024/11/17</a:t>
            </a:fld>
            <a:endParaRPr lang="en-US" altLang="zh-CN" sz="100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96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11150"/>
            <a:ext cx="2035175" cy="3121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0075" y="311150"/>
            <a:ext cx="5954713" cy="3121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xmlns="" id="{EAB6EF12-32E2-4C55-8A40-12CFD0F6141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337E5-6FF3-422F-BF19-2D7E883690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DC9C771E-9389-44DC-B199-495C31D6835E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8B1E1D-5F86-4451-B04D-D4AD900F736E}" type="datetime1">
              <a:rPr lang="zh-CN" altLang="en-US"/>
              <a:pPr>
                <a:defRPr/>
              </a:pPr>
              <a:t>2024/11/17</a:t>
            </a:fld>
            <a:endParaRPr lang="en-US" altLang="zh-CN" sz="100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589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xmlns="" id="{FE1930BE-61C0-4D98-9598-60E7F1E8D0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0075" y="1143000"/>
            <a:ext cx="8142288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 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F48CE88A-82CB-4FDC-976B-68D8B1613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2967038"/>
            <a:ext cx="180975" cy="650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104452" name="Rectangle 4">
            <a:extLst>
              <a:ext uri="{FF2B5EF4-FFF2-40B4-BE49-F238E27FC236}">
                <a16:creationId xmlns:a16="http://schemas.microsoft.com/office/drawing/2014/main" xmlns="" id="{B246568B-91D6-4E3F-BBFA-4247E3B2F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311150"/>
            <a:ext cx="8142288" cy="6032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Slide Title</a:t>
            </a:r>
          </a:p>
        </p:txBody>
      </p:sp>
      <p:sp>
        <p:nvSpPr>
          <p:cNvPr id="104456" name="Rectangle 8">
            <a:extLst>
              <a:ext uri="{FF2B5EF4-FFF2-40B4-BE49-F238E27FC236}">
                <a16:creationId xmlns:a16="http://schemas.microsoft.com/office/drawing/2014/main" xmlns="" id="{962875CA-6DD1-4C1D-B71E-25EFE94CE5F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7988" y="6324600"/>
            <a:ext cx="2309812" cy="527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5646" tIns="57824" rIns="115646" bIns="57824" numCol="1" anchor="t" anchorCtr="0" compatLnSpc="1">
            <a:prstTxWarp prst="textNoShape">
              <a:avLst/>
            </a:prstTxWarp>
          </a:bodyPr>
          <a:lstStyle>
            <a:lvl1pPr algn="r" defTabSz="1157288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98C6513-9641-4A38-876B-AC15A58D8A4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4455" name="Rectangle 7">
            <a:extLst>
              <a:ext uri="{FF2B5EF4-FFF2-40B4-BE49-F238E27FC236}">
                <a16:creationId xmlns:a16="http://schemas.microsoft.com/office/drawing/2014/main" xmlns="" id="{FB29AB83-4BD3-4133-9EF2-28483AA4FDC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700" y="6350000"/>
            <a:ext cx="2120900" cy="577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5646" tIns="57824" rIns="115646" bIns="57824" numCol="1" anchor="t" anchorCtr="0" compatLnSpc="1">
            <a:prstTxWarp prst="textNoShape">
              <a:avLst/>
            </a:prstTxWarp>
          </a:bodyPr>
          <a:lstStyle>
            <a:lvl1pPr algn="l" defTabSz="1157288">
              <a:defRPr sz="18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72F5F7F0-D9A5-4B51-95C1-7603767099F9}" type="datetime1">
              <a:rPr lang="zh-CN" altLang="en-US" smtClean="0"/>
              <a:pPr>
                <a:defRPr/>
              </a:pPr>
              <a:t>2024/11/17</a:t>
            </a:fld>
            <a:endParaRPr lang="en-US" altLang="zh-CN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 build="p" bldLvl="2" autoUpdateAnimBg="0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iterate type="lt">
                    <p:tmPct val="10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4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75"/>
                        <p:tgtEl>
                          <p:spTgt spid="10445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iterate type="lt">
                    <p:tmPct val="10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4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75"/>
                        <p:tgtEl>
                          <p:spTgt spid="10445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iterate type="lt">
                    <p:tmPct val="10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4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75"/>
                        <p:tgtEl>
                          <p:spTgt spid="10445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iterate type="lt">
                    <p:tmPct val="10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4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75"/>
                        <p:tgtEl>
                          <p:spTgt spid="10445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iterate type="lt">
                    <p:tmPct val="10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4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75"/>
                        <p:tgtEl>
                          <p:spTgt spid="10445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/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5pPr>
      <a:lvl6pPr marL="457200"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6pPr>
      <a:lvl7pPr marL="914400"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7pPr>
      <a:lvl8pPr marL="1371600"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8pPr>
      <a:lvl9pPr marL="1828800"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9pPr>
    </p:titleStyle>
    <p:bodyStyle>
      <a:lvl1pPr marL="258763" indent="-258763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SzPct val="6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49288" indent="-261938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027113" indent="-249238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-"/>
        <a:defRPr sz="2400" b="1">
          <a:solidFill>
            <a:schemeClr val="tx1"/>
          </a:solidFill>
          <a:latin typeface="+mn-lt"/>
          <a:ea typeface="+mn-ea"/>
        </a:defRPr>
      </a:lvl3pPr>
      <a:lvl4pPr marL="1416050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4pPr>
      <a:lvl5pPr marL="18049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5pPr>
      <a:lvl6pPr marL="22621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6pPr>
      <a:lvl7pPr marL="27193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7pPr>
      <a:lvl8pPr marL="31765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8pPr>
      <a:lvl9pPr marL="36337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6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 bwMode="auto">
          <a:xfrm>
            <a:off x="-28841" y="5987065"/>
            <a:ext cx="9180512" cy="5223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-9406" y="5521081"/>
            <a:ext cx="9180512" cy="473357"/>
          </a:xfrm>
          <a:prstGeom prst="rect">
            <a:avLst/>
          </a:prstGeom>
          <a:solidFill>
            <a:srgbClr val="FFCCF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-36512" y="5013175"/>
            <a:ext cx="9180512" cy="5223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-36512" y="4680494"/>
            <a:ext cx="9180512" cy="332681"/>
          </a:xfrm>
          <a:prstGeom prst="rect">
            <a:avLst/>
          </a:prstGeom>
          <a:solidFill>
            <a:srgbClr val="CDD2ED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-22642" y="4207138"/>
            <a:ext cx="9180512" cy="473357"/>
          </a:xfrm>
          <a:prstGeom prst="rect">
            <a:avLst/>
          </a:prstGeom>
          <a:solidFill>
            <a:srgbClr val="FFCCF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-22642" y="3771936"/>
            <a:ext cx="9180512" cy="460519"/>
          </a:xfrm>
          <a:prstGeom prst="rect">
            <a:avLst/>
          </a:prstGeom>
          <a:solidFill>
            <a:srgbClr val="CDD2ED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464" y="2924944"/>
            <a:ext cx="9180512" cy="834156"/>
          </a:xfrm>
          <a:prstGeom prst="rect">
            <a:avLst/>
          </a:prstGeom>
          <a:solidFill>
            <a:srgbClr val="FFCCF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xmlns="" id="{80050E33-002C-4860-84DC-687C7C645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304800"/>
            <a:ext cx="8142288" cy="6096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习题六</a:t>
            </a:r>
          </a:p>
        </p:txBody>
      </p:sp>
      <p:sp>
        <p:nvSpPr>
          <p:cNvPr id="5123" name="内容占位符 4">
            <a:extLst>
              <a:ext uri="{FF2B5EF4-FFF2-40B4-BE49-F238E27FC236}">
                <a16:creationId xmlns:a16="http://schemas.microsoft.com/office/drawing/2014/main" xmlns="" id="{9FC5772F-132A-4B8C-8CBA-E26D75F66E4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00075" y="1143000"/>
            <a:ext cx="8142288" cy="1466107"/>
          </a:xfrm>
          <a:blipFill>
            <a:blip r:embed="rId3">
              <a:alphaModFix amt="98000"/>
            </a:blip>
            <a:stretch>
              <a:fillRect l="-2246" t="-5417" b="-10833"/>
            </a:stretch>
          </a:blipFill>
        </p:spPr>
        <p:txBody>
          <a:bodyPr/>
          <a:lstStyle/>
          <a:p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5124" name="文本框 4">
            <a:extLst>
              <a:ext uri="{FF2B5EF4-FFF2-40B4-BE49-F238E27FC236}">
                <a16:creationId xmlns:a16="http://schemas.microsoft.com/office/drawing/2014/main" xmlns="" id="{CF829429-9D8E-4E51-A28F-FC012ED3E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4" y="2446085"/>
            <a:ext cx="9401933" cy="400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解</a:t>
            </a:r>
            <a:r>
              <a:rPr lang="zh-CN" altLang="en-US" sz="2400" dirty="0" smtClean="0"/>
              <a:t>：</a:t>
            </a:r>
            <a:r>
              <a:rPr lang="en-US" altLang="zh-CN" dirty="0" smtClean="0"/>
              <a:t>(</a:t>
            </a:r>
            <a:r>
              <a:rPr lang="en-US" altLang="zh-CN" dirty="0"/>
              <a:t>1</a:t>
            </a:r>
            <a:r>
              <a:rPr lang="en-US" altLang="zh-CN" dirty="0" smtClean="0"/>
              <a:t>)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     f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) = 1/</a:t>
            </a:r>
            <a:r>
              <a:rPr lang="en-US" altLang="zh-CN" sz="2400" i="1" dirty="0">
                <a:latin typeface="Times New Roman" panose="02020603050405020304" pitchFamily="18" charset="0"/>
              </a:rPr>
              <a:t>x 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</a:rPr>
              <a:t>∈</a:t>
            </a:r>
            <a:r>
              <a:rPr lang="en-US" altLang="zh-CN" sz="2400" dirty="0">
                <a:latin typeface="Times New Roman" panose="02020603050405020304" pitchFamily="18" charset="0"/>
              </a:rPr>
              <a:t>[1,3]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	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</a:rPr>
              <a:t>(1) + </a:t>
            </a:r>
            <a:r>
              <a:rPr lang="en-US" altLang="zh-CN" sz="2400" i="1" dirty="0"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</a:rPr>
              <a:t>(3) = 1.33333 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	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 = 0.5*T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 + 1*</a:t>
            </a:r>
            <a:r>
              <a:rPr lang="en-US" altLang="zh-CN" sz="2400" i="1" dirty="0"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</a:rPr>
              <a:t>(2) = 1.16667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	S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 = (4*T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 - 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)/3 = 1.11112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	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</a:rPr>
              <a:t> =0.5*T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 + 0.5*( </a:t>
            </a:r>
            <a:r>
              <a:rPr lang="en-US" altLang="zh-CN" sz="2400" i="1" dirty="0"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</a:rPr>
              <a:t>(1.5) + </a:t>
            </a:r>
            <a:r>
              <a:rPr lang="en-US" altLang="zh-CN" sz="2400" i="1" dirty="0"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</a:rPr>
              <a:t>(2.5) ) = 1.11668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	S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 = (4*T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</a:rPr>
              <a:t> – 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)/3 = 1.10001 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	C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 = (16*S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 – S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)/15 = 1.09927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	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400" dirty="0">
                <a:latin typeface="Times New Roman" panose="02020603050405020304" pitchFamily="18" charset="0"/>
              </a:rPr>
              <a:t> = 0.5*T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</a:rPr>
              <a:t> + 0.25*(</a:t>
            </a:r>
            <a:r>
              <a:rPr lang="en-US" altLang="zh-CN" sz="2400" i="1" dirty="0"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</a:rPr>
              <a:t>(1.25) + </a:t>
            </a:r>
            <a:r>
              <a:rPr lang="en-US" altLang="zh-CN" sz="2400" i="1" dirty="0"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</a:rPr>
              <a:t>(1.75) + </a:t>
            </a:r>
            <a:r>
              <a:rPr lang="en-US" altLang="zh-CN" sz="2400" i="1" dirty="0"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</a:rPr>
              <a:t>(2.25) + </a:t>
            </a:r>
            <a:r>
              <a:rPr lang="en-US" altLang="zh-CN" sz="2400" i="1" dirty="0"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</a:rPr>
              <a:t>(4.75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))=1.10322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	S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</a:rPr>
              <a:t> = (4*T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400" dirty="0">
                <a:latin typeface="Times New Roman" panose="02020603050405020304" pitchFamily="18" charset="0"/>
              </a:rPr>
              <a:t> –T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</a:rPr>
              <a:t>)/3 = 1.09873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427668"/>
              </p:ext>
            </p:extLst>
          </p:nvPr>
        </p:nvGraphicFramePr>
        <p:xfrm>
          <a:off x="4355976" y="128278"/>
          <a:ext cx="4656410" cy="876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4" imgW="2450880" imgH="457200" progId="Equation.3">
                  <p:embed/>
                </p:oleObj>
              </mc:Choice>
              <mc:Fallback>
                <p:oleObj name="Equation" r:id="rId4" imgW="2450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128278"/>
                        <a:ext cx="4656410" cy="87647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432129"/>
              </p:ext>
            </p:extLst>
          </p:nvPr>
        </p:nvGraphicFramePr>
        <p:xfrm>
          <a:off x="5890715" y="1233350"/>
          <a:ext cx="3096344" cy="762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6" imgW="1688760" imgH="393480" progId="Equation.3">
                  <p:embed/>
                </p:oleObj>
              </mc:Choice>
              <mc:Fallback>
                <p:oleObj name="Equation" r:id="rId6" imgW="1688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0715" y="1233350"/>
                        <a:ext cx="3096344" cy="762322"/>
                      </a:xfrm>
                      <a:prstGeom prst="rect">
                        <a:avLst/>
                      </a:prstGeom>
                      <a:solidFill>
                        <a:srgbClr val="CDD2ED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120270"/>
              </p:ext>
            </p:extLst>
          </p:nvPr>
        </p:nvGraphicFramePr>
        <p:xfrm>
          <a:off x="5580976" y="2055947"/>
          <a:ext cx="3437228" cy="803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8" imgW="1892160" imgH="419040" progId="Equation.3">
                  <p:embed/>
                </p:oleObj>
              </mc:Choice>
              <mc:Fallback>
                <p:oleObj name="Equation" r:id="rId8" imgW="18921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976" y="2055947"/>
                        <a:ext cx="3437228" cy="80304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  <p:bldP spid="12" grpId="0" animBg="1"/>
      <p:bldP spid="10" grpId="0" animBg="1"/>
      <p:bldP spid="9" grpId="0" animBg="1"/>
      <p:bldP spid="8" grpId="0" animBg="1"/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E140700-990D-4E0E-8099-946EE51A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304800"/>
            <a:ext cx="8142288" cy="6096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习题六</a:t>
            </a:r>
          </a:p>
        </p:txBody>
      </p:sp>
      <p:sp>
        <p:nvSpPr>
          <p:cNvPr id="6147" name="灯片编号占位符 3">
            <a:extLst>
              <a:ext uri="{FF2B5EF4-FFF2-40B4-BE49-F238E27FC236}">
                <a16:creationId xmlns:a16="http://schemas.microsoft.com/office/drawing/2014/main" xmlns="" id="{779DE334-C2F4-4D10-A6FA-F5A3244B157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1947999-AB60-413D-B18A-62F0A60F1CA4}" type="slidenum">
              <a:rPr lang="zh-CN" altLang="en-US" smtClean="0">
                <a:solidFill>
                  <a:schemeClr val="bg1"/>
                </a:solidFill>
              </a:rPr>
              <a:pPr/>
              <a:t>2</a:t>
            </a:fld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6148" name="日期占位符 4">
            <a:extLst>
              <a:ext uri="{FF2B5EF4-FFF2-40B4-BE49-F238E27FC236}">
                <a16:creationId xmlns:a16="http://schemas.microsoft.com/office/drawing/2014/main" xmlns="" id="{F0A93F16-0F05-4EDF-B01D-494F9854123C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63384D2-98FA-41C9-AF7A-6D69B8459B1B}" type="datetime1">
              <a:rPr lang="zh-CN" altLang="en-US" sz="1800" smtClean="0">
                <a:solidFill>
                  <a:schemeClr val="bg1"/>
                </a:solidFill>
              </a:rPr>
              <a:pPr/>
              <a:t>2024/11/17</a:t>
            </a:fld>
            <a:endParaRPr lang="en-US" altLang="zh-CN" sz="1000">
              <a:solidFill>
                <a:srgbClr val="5F5F5F"/>
              </a:solidFill>
            </a:endParaRPr>
          </a:p>
        </p:txBody>
      </p:sp>
      <p:sp>
        <p:nvSpPr>
          <p:cNvPr id="6149" name="文本框 5">
            <a:extLst>
              <a:ext uri="{FF2B5EF4-FFF2-40B4-BE49-F238E27FC236}">
                <a16:creationId xmlns:a16="http://schemas.microsoft.com/office/drawing/2014/main" xmlns="" id="{D09026B4-208C-4B10-A3BF-C0A12B492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1341438"/>
            <a:ext cx="8178842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/>
              <a:t>	C2 = (16*S4 – S2)/15 = 1.09864</a:t>
            </a:r>
          </a:p>
          <a:p>
            <a:r>
              <a:rPr lang="en-US" altLang="zh-CN" dirty="0"/>
              <a:t>	R1 = (64*C2 – C1)/63 = 1.09863</a:t>
            </a:r>
          </a:p>
          <a:p>
            <a:r>
              <a:rPr lang="en-US" altLang="zh-CN" dirty="0"/>
              <a:t>	T16 = 0.5*T8 + 0.125*(f(1.125) + f(1.375) + f(1.625) + f(1.875) </a:t>
            </a:r>
          </a:p>
          <a:p>
            <a:r>
              <a:rPr lang="en-US" altLang="zh-CN" dirty="0"/>
              <a:t>+ f(2.125) + f(2.375) + f(2.625) + f(2.875)) = 1.09977</a:t>
            </a:r>
          </a:p>
          <a:p>
            <a:r>
              <a:rPr lang="en-US" altLang="zh-CN" dirty="0"/>
              <a:t>	S8 = (4*T16 – T8)/3 = 1.09862</a:t>
            </a:r>
          </a:p>
          <a:p>
            <a:r>
              <a:rPr lang="en-US" altLang="zh-CN" dirty="0"/>
              <a:t>	C4 = (16*S8 – S4)/15 = 1.09861</a:t>
            </a:r>
          </a:p>
          <a:p>
            <a:r>
              <a:rPr lang="en-US" altLang="zh-CN" dirty="0"/>
              <a:t>	R2 = (64*C4 – C2)/63 = 1.09861</a:t>
            </a:r>
          </a:p>
          <a:p>
            <a:r>
              <a:rPr lang="zh-CN" altLang="en-US" dirty="0"/>
              <a:t>因此可取 </a:t>
            </a:r>
            <a:r>
              <a:rPr lang="en-US" altLang="zh-CN" dirty="0"/>
              <a:t>I = 1.09861 </a:t>
            </a:r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1BF4B84-7C31-4321-82F6-75C1A391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304800"/>
            <a:ext cx="8142288" cy="6096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习题六</a:t>
            </a:r>
          </a:p>
        </p:txBody>
      </p:sp>
      <p:sp>
        <p:nvSpPr>
          <p:cNvPr id="7171" name="灯片编号占位符 3">
            <a:extLst>
              <a:ext uri="{FF2B5EF4-FFF2-40B4-BE49-F238E27FC236}">
                <a16:creationId xmlns:a16="http://schemas.microsoft.com/office/drawing/2014/main" xmlns="" id="{4995BAC6-27C0-4324-BBD5-F784238681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B0C0CF4-EFD6-4311-85B9-E40D863CD51D}" type="slidenum">
              <a:rPr lang="zh-CN" altLang="en-US" smtClean="0">
                <a:solidFill>
                  <a:schemeClr val="bg1"/>
                </a:solidFill>
              </a:rPr>
              <a:pPr/>
              <a:t>3</a:t>
            </a:fld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7172" name="日期占位符 4">
            <a:extLst>
              <a:ext uri="{FF2B5EF4-FFF2-40B4-BE49-F238E27FC236}">
                <a16:creationId xmlns:a16="http://schemas.microsoft.com/office/drawing/2014/main" xmlns="" id="{D703F9A1-D3CE-45D0-9121-39920DAB0F00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157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157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F7EA9DC-AB2F-4CB8-8216-AE2D47803744}" type="datetime1">
              <a:rPr lang="zh-CN" altLang="en-US" sz="1800" smtClean="0">
                <a:solidFill>
                  <a:schemeClr val="bg1"/>
                </a:solidFill>
              </a:rPr>
              <a:pPr/>
              <a:t>2024/11/17</a:t>
            </a:fld>
            <a:endParaRPr lang="en-US" altLang="zh-CN" sz="1000">
              <a:solidFill>
                <a:srgbClr val="5F5F5F"/>
              </a:solidFill>
            </a:endParaRPr>
          </a:p>
        </p:txBody>
      </p:sp>
      <p:sp>
        <p:nvSpPr>
          <p:cNvPr id="7173" name="文本框 6">
            <a:extLst>
              <a:ext uri="{FF2B5EF4-FFF2-40B4-BE49-F238E27FC236}">
                <a16:creationId xmlns:a16="http://schemas.microsoft.com/office/drawing/2014/main" xmlns="" id="{AA13B584-C0C9-4128-8D90-9C8C042B0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4" y="2607151"/>
            <a:ext cx="8076381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dirty="0">
                <a:latin typeface="Times New Roman" panose="02020603050405020304" pitchFamily="18" charset="0"/>
              </a:rPr>
              <a:t>(2) </a:t>
            </a:r>
            <a:r>
              <a:rPr lang="zh-CN" altLang="en-US" i="1" dirty="0">
                <a:latin typeface="Times New Roman" panose="02020603050405020304" pitchFamily="18" charset="0"/>
              </a:rPr>
              <a:t>当</a:t>
            </a:r>
            <a:r>
              <a:rPr lang="en-US" altLang="zh-CN" i="1" dirty="0">
                <a:latin typeface="Times New Roman" panose="02020603050405020304" pitchFamily="18" charset="0"/>
              </a:rPr>
              <a:t>n = 3 </a:t>
            </a:r>
            <a:r>
              <a:rPr lang="zh-CN" altLang="en-US" i="1" dirty="0" smtClean="0">
                <a:latin typeface="Times New Roman" panose="02020603050405020304" pitchFamily="18" charset="0"/>
              </a:rPr>
              <a:t>时  使用</a:t>
            </a:r>
            <a:r>
              <a:rPr lang="zh-CN" altLang="en-US" i="1" dirty="0">
                <a:latin typeface="Times New Roman" panose="02020603050405020304" pitchFamily="18" charset="0"/>
              </a:rPr>
              <a:t>公式</a:t>
            </a:r>
            <a:r>
              <a:rPr lang="en-US" altLang="zh-CN" i="1" dirty="0">
                <a:latin typeface="Times New Roman" panose="02020603050405020304" pitchFamily="18" charset="0"/>
              </a:rPr>
              <a:t>xi = 0.5*(a + b) + 0.5*(b - a)*ti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x1 = 2 + t1 = 1.2254	f(x1) = 0.81606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x2 = 2 + t2 = 2		f(x2) = 0.5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x3 = 2 + t3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=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2.7746	f(x3) = 0.36041</a:t>
            </a:r>
          </a:p>
          <a:p>
            <a:r>
              <a:rPr lang="zh-CN" altLang="en-US" i="1" dirty="0">
                <a:latin typeface="Times New Roman" panose="02020603050405020304" pitchFamily="18" charset="0"/>
              </a:rPr>
              <a:t>综上，</a:t>
            </a:r>
            <a:r>
              <a:rPr lang="en-US" altLang="zh-CN" i="1" dirty="0">
                <a:latin typeface="Times New Roman" panose="02020603050405020304" pitchFamily="18" charset="0"/>
              </a:rPr>
              <a:t>I </a:t>
            </a:r>
            <a:r>
              <a:rPr lang="zh-CN" altLang="en-US" i="1" dirty="0">
                <a:latin typeface="Times New Roman" panose="02020603050405020304" pitchFamily="18" charset="0"/>
              </a:rPr>
              <a:t>≈ </a:t>
            </a:r>
            <a:r>
              <a:rPr lang="en-US" altLang="zh-CN" i="1" dirty="0" smtClean="0">
                <a:latin typeface="Times New Roman" panose="02020603050405020304" pitchFamily="18" charset="0"/>
              </a:rPr>
              <a:t>1.09805</a:t>
            </a:r>
          </a:p>
          <a:p>
            <a:r>
              <a:rPr lang="zh-CN" altLang="en-US" i="1" dirty="0" smtClean="0">
                <a:latin typeface="Times New Roman" panose="02020603050405020304" pitchFamily="18" charset="0"/>
              </a:rPr>
              <a:t>当 </a:t>
            </a:r>
            <a:r>
              <a:rPr lang="en-US" altLang="zh-CN" i="1" dirty="0">
                <a:latin typeface="Times New Roman" panose="02020603050405020304" pitchFamily="18" charset="0"/>
              </a:rPr>
              <a:t>n = 5 </a:t>
            </a:r>
            <a:r>
              <a:rPr lang="zh-CN" altLang="en-US" i="1" dirty="0" smtClean="0">
                <a:latin typeface="Times New Roman" panose="02020603050405020304" pitchFamily="18" charset="0"/>
              </a:rPr>
              <a:t>时 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x1 = 2 + t1 = 1.09382	f(x1) = 0.91423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x2 = 2 + t2 = 1.46153	f(x2) = 0.68421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x3 = 2 + t3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=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2		f(x3) = 0.5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x4 = 2 + t4 = 2.53847	f(x4) = 0.39394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x5 = 2 + t5 = 2.90618	f(x5) = 0.34409</a:t>
            </a:r>
          </a:p>
          <a:p>
            <a:r>
              <a:rPr lang="zh-CN" altLang="en-US" i="1" dirty="0">
                <a:latin typeface="Times New Roman" panose="02020603050405020304" pitchFamily="18" charset="0"/>
              </a:rPr>
              <a:t>综上，</a:t>
            </a:r>
            <a:r>
              <a:rPr lang="en-US" altLang="zh-CN" i="1" dirty="0">
                <a:latin typeface="Times New Roman" panose="02020603050405020304" pitchFamily="18" charset="0"/>
              </a:rPr>
              <a:t>I </a:t>
            </a:r>
            <a:r>
              <a:rPr lang="zh-CN" altLang="en-US" i="1" dirty="0">
                <a:latin typeface="Times New Roman" panose="02020603050405020304" pitchFamily="18" charset="0"/>
              </a:rPr>
              <a:t>≈ </a:t>
            </a:r>
            <a:r>
              <a:rPr lang="en-US" altLang="zh-CN" i="1" dirty="0">
                <a:latin typeface="Times New Roman" panose="02020603050405020304" pitchFamily="18" charset="0"/>
              </a:rPr>
              <a:t>1.09862  </a:t>
            </a: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xmlns="" id="{9FC5772F-132A-4B8C-8CBA-E26D75F66E4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00075" y="1143000"/>
            <a:ext cx="8142288" cy="1466107"/>
          </a:xfrm>
          <a:blipFill>
            <a:blip r:embed="rId2">
              <a:alphaModFix amt="98000"/>
            </a:blip>
            <a:stretch>
              <a:fillRect l="-2246" t="-5417" b="-10833"/>
            </a:stretch>
          </a:blipFill>
        </p:spPr>
        <p:txBody>
          <a:bodyPr/>
          <a:lstStyle/>
          <a:p>
            <a:r>
              <a:rPr lang="zh-CN" altLang="en-US" dirty="0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xmlns="" id="{EB53D3F1-D1A6-4C77-94D4-2BFE3E4D4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304800"/>
            <a:ext cx="8142288" cy="6096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习题六</a:t>
            </a:r>
          </a:p>
        </p:txBody>
      </p:sp>
      <p:sp>
        <p:nvSpPr>
          <p:cNvPr id="8195" name="内容占位符 4">
            <a:extLst>
              <a:ext uri="{FF2B5EF4-FFF2-40B4-BE49-F238E27FC236}">
                <a16:creationId xmlns:a16="http://schemas.microsoft.com/office/drawing/2014/main" xmlns="" id="{7099D109-7892-422D-875A-4BAF1707C8E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00075" y="1143000"/>
            <a:ext cx="8142288" cy="1272849"/>
          </a:xfrm>
          <a:blipFill>
            <a:blip r:embed="rId2"/>
            <a:stretch>
              <a:fillRect l="-2246" t="-5769" r="-150" b="-12981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xmlns="" id="{5B6C46F8-4450-49F4-80AB-0D06A39D4143}"/>
                  </a:ext>
                </a:extLst>
              </p:cNvPr>
              <p:cNvSpPr txBox="1"/>
              <p:nvPr/>
            </p:nvSpPr>
            <p:spPr>
              <a:xfrm>
                <a:off x="600074" y="2436799"/>
                <a:ext cx="8436422" cy="3699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解：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且</m:t>
                    </m:r>
                  </m:oMath>
                </a14:m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altLang="zh-CN" sz="2400" dirty="0"/>
              </a:p>
              <a:p>
                <a:r>
                  <a:rPr lang="zh-CN" altLang="en-US" sz="2400" dirty="0"/>
                  <a:t>在本题中  </a:t>
                </a:r>
                <a:r>
                  <a:rPr lang="en-US" altLang="zh-CN" sz="2400" dirty="0"/>
                  <a:t>a=0,b=1</a:t>
                </a:r>
              </a:p>
              <a:p>
                <a:r>
                  <a:rPr lang="zh-CN" altLang="en-US" sz="2400" dirty="0"/>
                  <a:t>则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→     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lang="en-US" altLang="zh-CN" sz="2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altLang="zh-CN" sz="2400" dirty="0"/>
              </a:p>
              <a:p>
                <a:r>
                  <a:rPr lang="zh-CN" altLang="en-US" sz="2400" dirty="0"/>
                  <a:t>∴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ra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≥212.85</m:t>
                    </m:r>
                  </m:oMath>
                </a14:m>
                <a:endParaRPr lang="en-US" altLang="zh-CN" sz="2400" dirty="0"/>
              </a:p>
              <a:p>
                <a:r>
                  <a:rPr lang="zh-CN" altLang="en-US" sz="2400" dirty="0"/>
                  <a:t>∴要</a:t>
                </a:r>
                <a:r>
                  <a:rPr lang="en-US" altLang="zh-CN" sz="2400" dirty="0"/>
                  <a:t>213</a:t>
                </a:r>
                <a:r>
                  <a:rPr lang="zh-CN" altLang="en-US" sz="2400" dirty="0"/>
                  <a:t>等分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B6C46F8-4450-49F4-80AB-0D06A39D4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4" y="2436799"/>
                <a:ext cx="8436422" cy="3699987"/>
              </a:xfrm>
              <a:prstGeom prst="rect">
                <a:avLst/>
              </a:prstGeom>
              <a:blipFill rotWithShape="0">
                <a:blip r:embed="rId3"/>
                <a:stretch>
                  <a:fillRect l="-1084" t="-1812" b="-2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xmlns="" id="{1E489A9A-9DE8-44B1-8E80-B726562C9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304800"/>
            <a:ext cx="8142288" cy="6096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习题六</a:t>
            </a:r>
          </a:p>
        </p:txBody>
      </p:sp>
      <p:sp>
        <p:nvSpPr>
          <p:cNvPr id="9219" name="内容占位符 4">
            <a:extLst>
              <a:ext uri="{FF2B5EF4-FFF2-40B4-BE49-F238E27FC236}">
                <a16:creationId xmlns:a16="http://schemas.microsoft.com/office/drawing/2014/main" xmlns="" id="{488F6D8D-A772-402D-AD53-EB55F6D9CA3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00075" y="1143000"/>
            <a:ext cx="8142288" cy="926407"/>
          </a:xfrm>
          <a:blipFill>
            <a:blip r:embed="rId2"/>
            <a:stretch>
              <a:fillRect l="-2246" t="-7947" b="-19205"/>
            </a:stretch>
          </a:blipFill>
        </p:spPr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noFill/>
              </a:rPr>
              <a:t> </a:t>
            </a:r>
            <a:endParaRPr lang="en-US" altLang="zh-CN" dirty="0" smtClean="0">
              <a:noFill/>
            </a:endParaRPr>
          </a:p>
          <a:p>
            <a:pPr marL="0" indent="0">
              <a:buNone/>
            </a:pPr>
            <a:endParaRPr lang="zh-CN" altLang="en-US" dirty="0">
              <a:noFill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xmlns="" id="{087B2979-7301-4899-9425-EC2501019BE2}"/>
                  </a:ext>
                </a:extLst>
              </p:cNvPr>
              <p:cNvSpPr txBox="1"/>
              <p:nvPr/>
            </p:nvSpPr>
            <p:spPr>
              <a:xfrm>
                <a:off x="600074" y="2064086"/>
                <a:ext cx="8364413" cy="4098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解</a:t>
                </a:r>
                <a:r>
                  <a:rPr lang="zh-CN" altLang="en-US" dirty="0" smtClean="0"/>
                  <a:t>：由</a:t>
                </a:r>
                <a:r>
                  <a:rPr lang="zh-CN" altLang="en-US" dirty="0"/>
                  <a:t>题意可得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=4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得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=−4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i="1">
                          <a:latin typeface="Cambria Math" panose="02040503050406030204" pitchFamily="18" charset="0"/>
                        </a:rPr>
                        <m:t>时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=−2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|≥2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得出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den>
                                </m:f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90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≥48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即 </a:t>
                </a:r>
                <a:r>
                  <a:rPr lang="en-US" altLang="zh-CN" dirty="0"/>
                  <a:t>m=24      </a:t>
                </a:r>
                <a:r>
                  <a:rPr lang="en-US" altLang="zh-CN" dirty="0" smtClean="0"/>
                  <a:t>h=1/24=0.4167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87B2979-7301-4899-9425-EC2501019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4" y="2064086"/>
                <a:ext cx="8364413" cy="4098558"/>
              </a:xfrm>
              <a:prstGeom prst="rect">
                <a:avLst/>
              </a:prstGeom>
              <a:blipFill rotWithShape="0">
                <a:blip r:embed="rId3"/>
                <a:stretch>
                  <a:fillRect l="-728" t="-446" b="-1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orlan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7283CA"/>
      </a:accent1>
      <a:accent2>
        <a:srgbClr val="F3E685"/>
      </a:accent2>
      <a:accent3>
        <a:srgbClr val="FFFFFF"/>
      </a:accent3>
      <a:accent4>
        <a:srgbClr val="000000"/>
      </a:accent4>
      <a:accent5>
        <a:srgbClr val="BCC1E1"/>
      </a:accent5>
      <a:accent6>
        <a:srgbClr val="DCD078"/>
      </a:accent6>
      <a:hlink>
        <a:srgbClr val="499FBD"/>
      </a:hlink>
      <a:folHlink>
        <a:srgbClr val="B9555A"/>
      </a:folHlink>
    </a:clrScheme>
    <a:fontScheme name="Borland">
      <a:majorFont>
        <a:latin typeface="Arial"/>
        <a:ea typeface="宋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tx1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tx1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Borlan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land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Office\Templates\Borland.pot</Template>
  <TotalTime>6602</TotalTime>
  <Pages>26</Pages>
  <Words>70</Words>
  <Application>Microsoft Office PowerPoint</Application>
  <PresentationFormat>信纸(8.5x11 英寸)</PresentationFormat>
  <Paragraphs>57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黑体</vt:lpstr>
      <vt:lpstr>宋体</vt:lpstr>
      <vt:lpstr>Arial</vt:lpstr>
      <vt:lpstr>Cambria Math</vt:lpstr>
      <vt:lpstr>Times New Roman</vt:lpstr>
      <vt:lpstr>Wingdings</vt:lpstr>
      <vt:lpstr>Borland</vt:lpstr>
      <vt:lpstr>Equation</vt:lpstr>
      <vt:lpstr>习题六</vt:lpstr>
      <vt:lpstr>习题六</vt:lpstr>
      <vt:lpstr>习题六</vt:lpstr>
      <vt:lpstr>习题六</vt:lpstr>
      <vt:lpstr>习题六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方程(组)的迭代解法</dc:title>
  <dc:subject/>
  <dc:creator>sunxin</dc:creator>
  <cp:keywords/>
  <dc:description/>
  <cp:lastModifiedBy>apple</cp:lastModifiedBy>
  <cp:revision>1291</cp:revision>
  <cp:lastPrinted>1998-03-12T04:44:47Z</cp:lastPrinted>
  <dcterms:created xsi:type="dcterms:W3CDTF">2001-07-02T15:09:48Z</dcterms:created>
  <dcterms:modified xsi:type="dcterms:W3CDTF">2024-11-17T12:18:04Z</dcterms:modified>
</cp:coreProperties>
</file>